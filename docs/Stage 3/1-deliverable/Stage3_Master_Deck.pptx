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Lst>
  <p:notesMasterIdLst>
    <p:notesMasterId r:id="rId1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notesMaster" Target="notesMasters/notesMaster1.xml"/><Relationship Id="rId120" Type="http://schemas.openxmlformats.org/officeDocument/2006/relationships/presProps" Target="presProps.xml"/><Relationship Id="rId121" Type="http://schemas.openxmlformats.org/officeDocument/2006/relationships/viewProps" Target="viewProps.xml"/><Relationship Id="rId122" Type="http://schemas.openxmlformats.org/officeDocument/2006/relationships/theme" Target="theme/theme1.xml"/><Relationship Id="rId1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 on the thesis, not on the agenda. One sentence: this deck is not ten paper summaries, it is one argument about where the image prior lives and who writes it. Everything that follows is evidence for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Say this out loud in the defence: the honesty convention is itself a graded artefact. The TA can pick any slide and ask 'where is this from' and the slide answers before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slide to memorise. If you can deliver these four cards from memory with no slide behind you, the condensed 30-minute presentation is already half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Point at the third column. The TA wrote that column. Showing that the deck is indexed against their own structure removes an entire class of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Thirty seconds. Say only: we cannot discuss eighteen years of solutions until the problem is stated precisely enough that the solutions are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asked why so many methods are comparable at all: because they all target this exact equation on this exact benchmark. That is unusual in vision and it is why denoising is such a clean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Flag the trap early: every one of these four words is a lie about a real camera. Part VII quantifies exactly how expensive that lie is — DnCNN scores 23.66 dB on real sensor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conceptual hinge of the whole presentation. If the TA only remembers one framing from your defence,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Expect to be asked to derive the ½‖y−x‖² term from the Gaussian likelihood on a whiteboard. Practise it: −log of exp(−‖y−x‖²/2σ²) is ‖y−x‖²/2σ². The 1/σ² is absorbed into 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09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 ready for: 'why is 0.6 dB a big deal?' Answer with the 0.3 dB literature bound and the 0.7 dB estimated ceiling, both of which the DnCNN paper quotes explicitly. Do not answer with 'because the paper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IoU paragraph is deliberate. Raising it before the TA does converts a potential 'you ignored a requirement' into a demonstration of judgement. Deliver it as one calm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asked 'why does everyone use BSD68?' — because DnCNN used it, and comparability is worth more than perfection. That path-dependence is itself worth noting.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12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Lead the condensed presentation with reason 2 or 4. They are the ones that make a TA sit up — the claim that denoising is a template for inverse problems rather than a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Frame this part as the era whose failure modes define everything after it. Do not present it as history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earns its place because it makes the rest of Part II inevitable rather than arbitrary. Every subsequent classical method is visibly an answer to 'which pixels belong in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15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heat-equation remark is a good one to have loaded. It makes TNRD feel like a continuation rather than a swerve.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K-SVD is the slide to point at when asked 'when did learning first appear?'. The answer is 2006, and it learned the dictionary, not the prior.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classical method we actually opened the source code of in Stage 2. Have the while-loop screenshot ready — it appears on slide 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you have time for only one classical concept in the condensed presentation, make it this one — it is load-bearing three more times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Do not paraphrase this loosely in the defence — the two-step, two-estimate structure is the single most-asked BM3D question and the paper's own wording is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random-transform ablation is a genuinely surprising result and makes an excellent answer to 'why is BM3D so good?'. It is not the transform — it is the grouping.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21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'still in use' point is the one that impresses. It reframes BM3D from historical curiosity to live competitor in the zero-shot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Expect: 'what is the difference between NNM and WNNM in one sentence?' — NNM soft-thresholds all singular values by the same amount; WNNM thresholds each by an amount inversely proportional to its own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773 seconds is the single most useful classical number you have. It is the entire commercial argument for the deep era, and it comes from the DnCNN paper's own table rather than from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Do not add DnCNN to this table. It belongs on slide 58, after the mechanism has been explained. Showing the answer before the argument wastes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a transition slide. Deliver it fast and move. Its function is to make Part III feel forced rather than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centre of the deck and the part you are anchored on. Budget the most rehearsal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Useful framing: MLP is the moment the field learned the destination without learning the route. Everything from 2012 to 2017 is route-finding.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the TA asks 'was the move to deep learning a clean break?' — no, and this slide is the evidence. CSF and TNRD are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Expect 'what exactly is an influence function?' — it is the derivative of the penalty applied to each filter response; classical diffusion calls it the flux function. TNRD learns its shape instead of assuming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30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Recheck the citation count the morning of the defence and say the date you checked. A stale number is a small error that reads as carelessness.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'one block repeated fifteen times' observation is the bridge to Part V: DnCNN's power came from depth and training strategy, not architectural cleverness, which is precisely why successors attacked the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32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'why identity is hard' explanation is not in the paper — it is labelled reading. Say so if pressed. It is the answer that satisfies a TA who asks why the ResNet argument applies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Likely question: 'would this hold where the residual is not Gaussian?' The paper guards its own claim in a footnote — this does not mean DnCNN cannot handle other tasks well — and DnCNN-3 proves it on SR and JPEG, where the residual is clearly not AWGN.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killer line: DnCNN wins with a receptive field one tenth the linear extent of WNNM's. It is not seeing more; it is understanding better. That sets up the Barbara slide two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Flag MatConvNet out loud. Essentially nothing in modern denoising is MATLAB, and tracing that migration is a direct answer to the brief's question about how pre-trained weights are used today versus before. It returns on slide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blind row is the more impressive one and presenters usually skip it. DnCNN-B beats every noise-level-specific competitor while not knowing the noise level. Say that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most important slide in Part III for the narrative. Barbara's scarf is bottleneck 3, visible in 2017, three years before anyone could fix it. Point at −0.71 and say: this number is why Part V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Reproducing the paper's own caveat is what separates a rigorous presentation from a marketing one. A sharp TA will check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Fig. 12 of the paper shows one input image with six differently-degraded regions restored by one model, described as looking natural without obvious artefacts. Mention it; it is the visual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hinge of the whole deck. Slow down here. The fork is the structural claim that distinguishes your narrative from a chronological list, and the TA will notice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 by naming the branch: this is the half of the modern field that answers bottleneck 2. The architecture half is Part V. They are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Guaranteed question: 'how can training on noisy targets possibly work?' Answer with the mean property in one line — L2 regression learns the conditional mean, and the conditional mean of a zero-mean corrupted target is the clean target. Do not start with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0.02 dB figure is the number to quote. It converts an abstract theorem into an engineering fact: paired clean data was never actually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44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Emphasise the two assumptions. They are the entire method, and they are also exactly what breaks when noise is spatially correlated — which is the case for every JPEG, every demosaiced photograph, and anything that has been resized.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45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Volunteering the 'worse than BM3D' number is a rigour move. It also pre-empts the obvious attack and lets you land the availability argument on your own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reappearance of residual learning here is worth pointing out aloud: DnCNN's 2017 design choice is still the default in a 2023 zero-shot paper with a 20K-parameter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47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supervision-versus-loss distinction was an error we corrected during Stage 2 and it is exactly the kind of precision a TA probes. Be able to state the three differences — inputs, pass count, compared pair — without reading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48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closing slide of Part IV and the one to deliver from memory. If time is short in the 30-minute version, this single slide can stand in for the entire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Name the branch difference immediately: Part IV changed what the network is shown. Part V changed what the network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Computing the 1.98-vs-0.39 comparison from Restormer's Table 4 is your own analysis of published numbers, not a claim from either paper. Say 'computed from Table 4'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Have the token-count arithmetic ready. '65 536 tokens versus 196' explains in five seconds why vision Transformers and restoration Transformers are different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52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predictable challenge: 'is channel attention really global?' Honest answer — it is global in the sense that every channel is computed from every pixel, so channel statistics carry image-wide information. It is not pairwise pixel attention, and the paper never claims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progressive-learning schedule is a strong Stage-2-flavoured detail: it is a training-loop property invisible from the abstract, and it is in the YAML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a TA asks you to justify any single architectural choice in this deck, this is the table that does it. Every row is a controlled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0.39-versus-1.98 contrast is the single most defensible sentence in Part V. It shows you understand why the gain exists rather than just that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Deliver the GELU-as-GLU step slowly. It is a genuinely surprising piece of reasoning and it is the thing a TA is most likely to ask you to reproduce on a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57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LayerNorm row is the honest lesson of the whole architecture branch and worth saying out loud: a large share of reported architectural progress in restoration is optimisation progress wearing a costume.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SCUNet is the bridge between Part V and Part VII. It is the paper that says the benchmark itself is the problem, which is the argument slide 83 then proves with the SIDD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59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Nobody expects you to derive the ZOH discretisation. Do expect: 'why is an RNN suddenly fast again?' — because the CNN form makes training parallel, and the recurrence is only used at the level of the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60 (page 2 of 2);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import failure is a real Stage 2 result and a good one to volunteer. It shows you ran the code rather than reading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intellectual high point of the deck. The willingness to end on an open question is what separates a literature review from a synthesis, and the brief grades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State the framing before any code appears. Without it this part degenerates into a tour of repositories, which is precisely the failure mode the brief warns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you deliver one sentence from Part VI in the condensed presentation, deliver the foot note. It is the whole of Stage 2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asked why DnCNN's own repo is not the main exhibit: because it is MATLAB, and the brief scopes the deep-dive to modern approaches. KAIR is the PyTorch reference the field actually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classical exhibit precisely because it is so small. One screen of NumPy against one screen of PyTorch is a sharper argument than any prose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Best single slide for the 'do you understand the code' question. Put the TV while-loop and this side by side mentally: the prior moved from line 11 of one file into a binary file that is not in the repository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correlated-noise caveat is a genuine rigour point and was a correction we made during Stage 2. It shows the code and the paper being read against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'Show me where the attention is actually linear' is the most likely code question in the whole defence. Be able to point at the rearrange pattern and say which axis the pixels are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beta/gamma skip-init detail is a good one to have: it is in the code, mentioned only briefly in the paper, and shows you read past the block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pushed on MambaIR specifically: the selective‑scan kernel is the mechanism and it is a compiled dependency, but reading the repository still shows how MambaIR uses it — this slide is that read. SCUNet’s code that matters is the dataloader on slide 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71 (page 2 of 3);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slide 71 (page 3 of 3); speaker notes are on the first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is the direct answer to the brief's framework question. Have the BasicSR registry point ready; it is the strongest single observation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 2017 the pipeline was infrastructure; by 2023 it is the method' is a line worth memorising. It connects Part VI back to Parts IV and V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perceptual-loss absence is a strong observation and an obvious question hook. Do not overclaim it — say 'we observed' and name the five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slide that directly answers a question the brief asks in so many words. Expect it to be asked and answer with the two-artefact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 favourite because it is concrete, verifiable, and invisible from the literature. Good answer to 'what did you learn from the code that you could not learn from the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Declaring the random-tensor caveat unprompted is important. The obvious attack is 'did you verify the PSNRs yourself?' — the answer is no, and saying so first is much stronger than conceding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Reading (a) is the one to lead with. It is a clean, falsifiable, counterintuitive claim backed by a number you produced, which is exactly what the brief's Practical Integration criterion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 with the rules slide, not with a table. Numbers assembled without a stated methodology are the easiest thing in a deck to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Rule 2 is the one a careful TA will care about most, and rule 5 is the one that demonstrates you actually read the tables rather than copied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saturation reading is the intellectually honest one and it sets up slide 82 and 83. Do not present this table as 'and progress continued'. Present it as 'and here is where the benchmark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analytical high point of Part VII. It is your own analysis of published numbers, which is exactly what 'synthesis' means in the grading criteria. Say 'computed from Table 4' so the provenance is unambiguous.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Lead the condensed 30-minute presentation's comparative section with this slide, not with BSD68. 23.66 against 40.02 is the number that makes the whole evolutionary argument land in one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three-incompatible-rankings observation is a good closing line for the efficiency discussion and a genuinely useful thing for the TA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Note the two BM3D figures, 28.57 and 31.59, from two different papers on the same dataset and noise level. Mentioning that discrepancy unprompted is a small, cheap demonstration of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closing sentence is the single strongest line in the deck. Deliver it, pause, and move on. Do not elaborate.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Keep this part fast. Its function is to prove the field is alive, not to survey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observation that Noise2Noise names the blur mechanism while proposing an L2 method is a nice piece of close reading. It is in §2 of the paper, in the super-resolution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 problem 6 is the one to offer if asked 'what would you research?'. It falls directly out of your own two-branch framing and is a genuine, specific, testable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Strongest possible answer to 'which one would you use?'. Never answer that question with a single model name — answer it with the constraint that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single most useful slide for a SOTA question. Walk the 'Leads on' column and then deliver the foot. Windows are ours, inferred from publication dates and from which method holds each table — say so if 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Expect this question verbatim. Four reasons, each with a number. If time is short, give reason 1 and reason 4 — they are the structural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brief asks for contribution → algorithmic change → implementation change → improvement as one chain. This table is that chain, five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LayerNorm footnote is the most intellectually honest line in Part VII. Volunteer it — it demonstrates you read the ablation rather than the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Answers 'can you identify a research direction'. Commit to the first row and have a reason ready. The negative-result clause matters — a proposal that cannot fail is not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Put this slide where the TA will see it early if they browse. It shows the presentation strategy was designed, not improvised.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Deliver this from memory with the slide behind you. Roughly fifty seconds. It is the last substantive thing the TAs hear before questions begin, which makes it the part most worth rehearsing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Recheck the counts the morning of the defence, and update the date. If a TA asks why P2N has no count, say it was not verified and you do not report unverified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Category B item has a 'role in the narrative' clause. That is what converts a compliance list into evidence of curation, which is what the Rigor of Research criterion actually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Volunteer the MambaIR exclusion and the P2N 404 if the conversation allows. Both are small, specific, and demonstrate that you read the primary material rather than aggregated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Print this slide. It is the single most useful page to have in front of you while the TAs are asking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2191695" cy="75164"/>
          </a:xfrm>
          <a:prstGeom prst="rect">
            <a:avLst/>
          </a:prstGeom>
          <a:solidFill>
            <a:srgbClr val="14120F"/>
          </a:solidFill>
          <a:ln/>
        </p:spPr>
      </p:sp>
      <p:sp>
        <p:nvSpPr>
          <p:cNvPr id="3" name="Shape 1"/>
          <p:cNvSpPr/>
          <p:nvPr/>
        </p:nvSpPr>
        <p:spPr>
          <a:xfrm>
            <a:off x="601218" y="893460"/>
            <a:ext cx="217079" cy="25055"/>
          </a:xfrm>
          <a:prstGeom prst="rect">
            <a:avLst/>
          </a:prstGeom>
          <a:solidFill>
            <a:srgbClr val="C0451A"/>
          </a:solidFill>
          <a:ln/>
        </p:spPr>
      </p:sp>
      <p:sp>
        <p:nvSpPr>
          <p:cNvPr id="4" name="Text 2"/>
          <p:cNvSpPr txBox="1"/>
          <p:nvPr/>
        </p:nvSpPr>
        <p:spPr>
          <a:xfrm>
            <a:off x="918515" y="837225"/>
            <a:ext cx="3616726"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DIGITAL IMAGE PROCESSING · FINAL PROJECT · STAGE 3</a:t>
            </a:r>
            <a:endParaRPr lang="en-US" sz="888" dirty="0"/>
          </a:p>
        </p:txBody>
      </p:sp>
      <p:sp>
        <p:nvSpPr>
          <p:cNvPr id="5" name="Text 3"/>
          <p:cNvSpPr txBox="1"/>
          <p:nvPr/>
        </p:nvSpPr>
        <p:spPr>
          <a:xfrm>
            <a:off x="601218" y="1088045"/>
            <a:ext cx="11049884" cy="1042050"/>
          </a:xfrm>
          <a:prstGeom prst="rect">
            <a:avLst/>
          </a:prstGeom>
          <a:noFill/>
          <a:ln/>
        </p:spPr>
        <p:txBody>
          <a:bodyPr wrap="square" lIns="0" tIns="0" rIns="0" bIns="0" rtlCol="0" anchor="t"/>
          <a:lstStyle/>
          <a:p>
            <a:pPr algn="l" indent="0" marL="0">
              <a:lnSpc>
                <a:spcPts val="4103"/>
              </a:lnSpc>
              <a:buNone/>
            </a:pPr>
            <a:r>
              <a:rPr lang="en-US" sz="3945" b="1" spc="-105" kern="0" dirty="0">
                <a:solidFill>
                  <a:srgbClr val="14120F"/>
                </a:solidFill>
                <a:latin typeface="Cambria" pitchFamily="34" charset="0"/>
                <a:ea typeface="Cambria" pitchFamily="34" charset="-122"/>
                <a:cs typeface="Cambria" pitchFamily="34" charset="-120"/>
              </a:rPr>
              <a:t>Image Denoising:</a:t>
            </a:r>
            <a:endParaRPr lang="en-US" sz="3945" dirty="0"/>
          </a:p>
          <a:p>
            <a:pPr algn="l" indent="0" marL="0">
              <a:lnSpc>
                <a:spcPts val="4103"/>
              </a:lnSpc>
              <a:buNone/>
            </a:pPr>
            <a:r>
              <a:rPr lang="en-US" sz="3945" b="1" spc="-105" kern="0" dirty="0">
                <a:solidFill>
                  <a:srgbClr val="14120F"/>
                </a:solidFill>
                <a:latin typeface="Cambria" pitchFamily="34" charset="0"/>
                <a:ea typeface="Cambria" pitchFamily="34" charset="-122"/>
                <a:cs typeface="Cambria" pitchFamily="34" charset="-120"/>
              </a:rPr>
              <a:t>From Foundations to State-of-the-Art</a:t>
            </a:r>
            <a:endParaRPr lang="en-US" sz="3945" dirty="0"/>
          </a:p>
        </p:txBody>
      </p:sp>
      <p:sp>
        <p:nvSpPr>
          <p:cNvPr id="6" name="Text 4"/>
          <p:cNvSpPr txBox="1"/>
          <p:nvPr/>
        </p:nvSpPr>
        <p:spPr>
          <a:xfrm>
            <a:off x="601218" y="2284537"/>
            <a:ext cx="5285689" cy="761421"/>
          </a:xfrm>
          <a:prstGeom prst="rect">
            <a:avLst/>
          </a:prstGeom>
          <a:noFill/>
          <a:ln/>
        </p:spPr>
        <p:txBody>
          <a:bodyPr wrap="square" lIns="0" tIns="0" rIns="0" bIns="0" rtlCol="0" anchor="t"/>
          <a:lstStyle/>
          <a:p>
            <a:pPr algn="l" indent="0" marL="0">
              <a:lnSpc>
                <a:spcPts val="1999"/>
              </a:lnSpc>
              <a:buNone/>
            </a:pPr>
            <a:r>
              <a:rPr kern="0" lang="en-US" sz="1315" dirty="0">
                <a:solidFill>
                  <a:srgbClr val="5A554D"/>
                </a:solidFill>
                <a:latin typeface="Calibri" pitchFamily="34" charset="0"/>
                <a:ea typeface="Calibri" pitchFamily="34" charset="-122"/>
                <a:cs typeface="Calibri" pitchFamily="34" charset="-120"/>
              </a:rPr>
              <a:t>Eighteen years in which the image prior moved out of human hands — from a hand-written penalty term, into a file of learned weights, and then into a per-image optimisation that needs no clean data at all.</a:t>
            </a:r>
            <a:endParaRPr lang="en-US" sz="1315" dirty="0"/>
          </a:p>
        </p:txBody>
      </p:sp>
      <p:sp>
        <p:nvSpPr>
          <p:cNvPr id="7" name="Shape 5"/>
          <p:cNvSpPr/>
          <p:nvPr/>
        </p:nvSpPr>
        <p:spPr>
          <a:xfrm>
            <a:off x="601218" y="3348167"/>
            <a:ext cx="10989259" cy="16734"/>
          </a:xfrm>
          <a:prstGeom prst="rect">
            <a:avLst/>
          </a:prstGeom>
          <a:solidFill>
            <a:srgbClr val="14120F"/>
          </a:solidFill>
          <a:ln/>
        </p:spPr>
      </p:sp>
      <p:sp>
        <p:nvSpPr>
          <p:cNvPr id="8" name="Text 6"/>
          <p:cNvSpPr txBox="1"/>
          <p:nvPr/>
        </p:nvSpPr>
        <p:spPr>
          <a:xfrm>
            <a:off x="601218" y="3527572"/>
            <a:ext cx="685160" cy="142098"/>
          </a:xfrm>
          <a:prstGeom prst="rect">
            <a:avLst/>
          </a:prstGeom>
          <a:noFill/>
          <a:ln/>
        </p:spPr>
        <p:txBody>
          <a:bodyPr wrap="none" lIns="0" tIns="0" rIns="0" bIns="0" rtlCol="0" anchor="t"/>
          <a:lstStyle/>
          <a:p>
            <a:pPr algn="l" indent="0" marL="0">
              <a:lnSpc>
                <a:spcPts val="1119"/>
              </a:lnSpc>
              <a:buNone/>
            </a:pPr>
            <a:r>
              <a:rPr lang="en-US" sz="756" b="1" spc="105" kern="0" dirty="0">
                <a:solidFill>
                  <a:srgbClr val="C0451A"/>
                </a:solidFill>
                <a:latin typeface="Calibri" pitchFamily="34" charset="0"/>
                <a:ea typeface="Calibri" pitchFamily="34" charset="-122"/>
                <a:cs typeface="Calibri" pitchFamily="34" charset="-120"/>
              </a:rPr>
              <a:t>PRESENTERS</a:t>
            </a:r>
            <a:endParaRPr lang="en-US" sz="756" dirty="0"/>
          </a:p>
        </p:txBody>
      </p:sp>
      <p:sp>
        <p:nvSpPr>
          <p:cNvPr id="9" name="Text 7"/>
          <p:cNvSpPr txBox="1"/>
          <p:nvPr/>
        </p:nvSpPr>
        <p:spPr>
          <a:xfrm>
            <a:off x="601218" y="3754618"/>
            <a:ext cx="2005279" cy="395387"/>
          </a:xfrm>
          <a:prstGeom prst="rect">
            <a:avLst/>
          </a:prstGeom>
          <a:noFill/>
          <a:ln/>
        </p:spPr>
        <p:txBody>
          <a:bodyPr wrap="square" lIns="0" tIns="0" rIns="0" bIns="0" rtlCol="0" anchor="t"/>
          <a:lstStyle/>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Navid Zare · Ali Ahmadi</a:t>
            </a:r>
            <a:endParaRPr lang="en-US" sz="1052" dirty="0"/>
          </a:p>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Komeil Khodayar</a:t>
            </a:r>
            <a:endParaRPr lang="en-US" sz="1052" dirty="0"/>
          </a:p>
        </p:txBody>
      </p:sp>
      <p:sp>
        <p:nvSpPr>
          <p:cNvPr id="10" name="Shape 8"/>
          <p:cNvSpPr/>
          <p:nvPr/>
        </p:nvSpPr>
        <p:spPr>
          <a:xfrm>
            <a:off x="2798978" y="3531870"/>
            <a:ext cx="8321" cy="818571"/>
          </a:xfrm>
          <a:prstGeom prst="rect">
            <a:avLst/>
          </a:prstGeom>
          <a:solidFill>
            <a:srgbClr val="C9C4B9"/>
          </a:solidFill>
          <a:ln/>
        </p:spPr>
      </p:sp>
      <p:sp>
        <p:nvSpPr>
          <p:cNvPr id="11" name="Text 9"/>
          <p:cNvSpPr txBox="1"/>
          <p:nvPr/>
        </p:nvSpPr>
        <p:spPr>
          <a:xfrm>
            <a:off x="3024469" y="3527572"/>
            <a:ext cx="845363" cy="142098"/>
          </a:xfrm>
          <a:prstGeom prst="rect">
            <a:avLst/>
          </a:prstGeom>
          <a:noFill/>
          <a:ln/>
        </p:spPr>
        <p:txBody>
          <a:bodyPr wrap="none" lIns="0" tIns="0" rIns="0" bIns="0" rtlCol="0" anchor="t"/>
          <a:lstStyle/>
          <a:p>
            <a:pPr algn="l" indent="0" marL="0">
              <a:lnSpc>
                <a:spcPts val="1119"/>
              </a:lnSpc>
              <a:buNone/>
            </a:pPr>
            <a:r>
              <a:rPr lang="en-US" sz="756" b="1" spc="105" kern="0" dirty="0">
                <a:solidFill>
                  <a:srgbClr val="C0451A"/>
                </a:solidFill>
                <a:latin typeface="Calibri" pitchFamily="34" charset="0"/>
                <a:ea typeface="Calibri" pitchFamily="34" charset="-122"/>
                <a:cs typeface="Calibri" pitchFamily="34" charset="-120"/>
              </a:rPr>
              <a:t>ANCHOR PAPER</a:t>
            </a:r>
            <a:endParaRPr lang="en-US" sz="756" dirty="0"/>
          </a:p>
        </p:txBody>
      </p:sp>
      <p:sp>
        <p:nvSpPr>
          <p:cNvPr id="12" name="Text 10"/>
          <p:cNvSpPr txBox="1"/>
          <p:nvPr/>
        </p:nvSpPr>
        <p:spPr>
          <a:xfrm>
            <a:off x="3024469" y="3754618"/>
            <a:ext cx="1779057" cy="593080"/>
          </a:xfrm>
          <a:prstGeom prst="rect">
            <a:avLst/>
          </a:prstGeom>
          <a:noFill/>
          <a:ln/>
        </p:spPr>
        <p:txBody>
          <a:bodyPr wrap="square" lIns="0" tIns="0" rIns="0" bIns="0" rtlCol="0" anchor="t"/>
          <a:lstStyle/>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DnCNN — Zhang, Zuo, Chen, Meng &amp; Zhang</a:t>
            </a:r>
            <a:endParaRPr lang="en-US" sz="1052" dirty="0"/>
          </a:p>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IEEE TIP 26(7), 2017</a:t>
            </a:r>
            <a:endParaRPr lang="en-US" sz="1052" dirty="0"/>
          </a:p>
        </p:txBody>
      </p:sp>
      <p:sp>
        <p:nvSpPr>
          <p:cNvPr id="13" name="Shape 11"/>
          <p:cNvSpPr/>
          <p:nvPr/>
        </p:nvSpPr>
        <p:spPr>
          <a:xfrm>
            <a:off x="4996830" y="3531870"/>
            <a:ext cx="8321" cy="818571"/>
          </a:xfrm>
          <a:prstGeom prst="rect">
            <a:avLst/>
          </a:prstGeom>
          <a:solidFill>
            <a:srgbClr val="C9C4B9"/>
          </a:solidFill>
          <a:ln/>
        </p:spPr>
      </p:sp>
      <p:sp>
        <p:nvSpPr>
          <p:cNvPr id="14" name="Text 12"/>
          <p:cNvSpPr txBox="1"/>
          <p:nvPr/>
        </p:nvSpPr>
        <p:spPr>
          <a:xfrm>
            <a:off x="5222321" y="3527572"/>
            <a:ext cx="513801" cy="142098"/>
          </a:xfrm>
          <a:prstGeom prst="rect">
            <a:avLst/>
          </a:prstGeom>
          <a:noFill/>
          <a:ln/>
        </p:spPr>
        <p:txBody>
          <a:bodyPr wrap="none" lIns="0" tIns="0" rIns="0" bIns="0" rtlCol="0" anchor="t"/>
          <a:lstStyle/>
          <a:p>
            <a:pPr algn="l" indent="0" marL="0">
              <a:lnSpc>
                <a:spcPts val="1119"/>
              </a:lnSpc>
              <a:buNone/>
            </a:pPr>
            <a:r>
              <a:rPr lang="en-US" sz="756" b="1" spc="105" kern="0" dirty="0">
                <a:solidFill>
                  <a:srgbClr val="C0451A"/>
                </a:solidFill>
                <a:latin typeface="Calibri" pitchFamily="34" charset="0"/>
                <a:ea typeface="Calibri" pitchFamily="34" charset="-122"/>
                <a:cs typeface="Calibri" pitchFamily="34" charset="-120"/>
              </a:rPr>
              <a:t>SOURCES</a:t>
            </a:r>
            <a:endParaRPr lang="en-US" sz="756" dirty="0"/>
          </a:p>
        </p:txBody>
      </p:sp>
      <p:sp>
        <p:nvSpPr>
          <p:cNvPr id="15" name="Text 13"/>
          <p:cNvSpPr txBox="1"/>
          <p:nvPr/>
        </p:nvSpPr>
        <p:spPr>
          <a:xfrm>
            <a:off x="5222321" y="3754618"/>
            <a:ext cx="1779057" cy="593080"/>
          </a:xfrm>
          <a:prstGeom prst="rect">
            <a:avLst/>
          </a:prstGeom>
          <a:noFill/>
          <a:ln/>
        </p:spPr>
        <p:txBody>
          <a:bodyPr wrap="square" lIns="0" tIns="0" rIns="0" bIns="0" rtlCol="0" anchor="t"/>
          <a:lstStyle/>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15 total · 12 Category A (80.0%)</a:t>
            </a:r>
            <a:endParaRPr lang="en-US" sz="1052" dirty="0"/>
          </a:p>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3 Category B (20.0%) · 2007 → 2025</a:t>
            </a:r>
            <a:endParaRPr lang="en-US" sz="1052" dirty="0"/>
          </a:p>
        </p:txBody>
      </p:sp>
      <p:sp>
        <p:nvSpPr>
          <p:cNvPr id="16" name="Shape 14"/>
          <p:cNvSpPr/>
          <p:nvPr/>
        </p:nvSpPr>
        <p:spPr>
          <a:xfrm>
            <a:off x="7194682" y="3531870"/>
            <a:ext cx="8321" cy="818571"/>
          </a:xfrm>
          <a:prstGeom prst="rect">
            <a:avLst/>
          </a:prstGeom>
          <a:solidFill>
            <a:srgbClr val="C9C4B9"/>
          </a:solidFill>
          <a:ln/>
        </p:spPr>
      </p:sp>
      <p:sp>
        <p:nvSpPr>
          <p:cNvPr id="17" name="Text 15"/>
          <p:cNvSpPr txBox="1"/>
          <p:nvPr/>
        </p:nvSpPr>
        <p:spPr>
          <a:xfrm>
            <a:off x="7420173" y="3527572"/>
            <a:ext cx="642092" cy="142098"/>
          </a:xfrm>
          <a:prstGeom prst="rect">
            <a:avLst/>
          </a:prstGeom>
          <a:noFill/>
          <a:ln/>
        </p:spPr>
        <p:txBody>
          <a:bodyPr wrap="none" lIns="0" tIns="0" rIns="0" bIns="0" rtlCol="0" anchor="t"/>
          <a:lstStyle/>
          <a:p>
            <a:pPr algn="l" indent="0" marL="0">
              <a:lnSpc>
                <a:spcPts val="1119"/>
              </a:lnSpc>
              <a:buNone/>
            </a:pPr>
            <a:r>
              <a:rPr lang="en-US" sz="756" b="1" spc="105" kern="0" dirty="0">
                <a:solidFill>
                  <a:srgbClr val="C0451A"/>
                </a:solidFill>
                <a:latin typeface="Calibri" pitchFamily="34" charset="0"/>
                <a:ea typeface="Calibri" pitchFamily="34" charset="-122"/>
                <a:cs typeface="Calibri" pitchFamily="34" charset="-120"/>
              </a:rPr>
              <a:t>STRUCTURE</a:t>
            </a:r>
            <a:endParaRPr lang="en-US" sz="756" dirty="0"/>
          </a:p>
        </p:txBody>
      </p:sp>
      <p:sp>
        <p:nvSpPr>
          <p:cNvPr id="18" name="Text 16"/>
          <p:cNvSpPr txBox="1"/>
          <p:nvPr/>
        </p:nvSpPr>
        <p:spPr>
          <a:xfrm>
            <a:off x="7420173" y="3754618"/>
            <a:ext cx="1779057" cy="395387"/>
          </a:xfrm>
          <a:prstGeom prst="rect">
            <a:avLst/>
          </a:prstGeom>
          <a:noFill/>
          <a:ln/>
        </p:spPr>
        <p:txBody>
          <a:bodyPr wrap="square" lIns="0" tIns="0" rIns="0" bIns="0" rtlCol="0" anchor="t"/>
          <a:lstStyle/>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Four eras · three bottlenecks</a:t>
            </a:r>
            <a:endParaRPr lang="en-US" sz="1052" dirty="0"/>
          </a:p>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One fork, in 2018</a:t>
            </a:r>
            <a:endParaRPr lang="en-US" sz="1052" dirty="0"/>
          </a:p>
        </p:txBody>
      </p:sp>
      <p:sp>
        <p:nvSpPr>
          <p:cNvPr id="19" name="Shape 17"/>
          <p:cNvSpPr/>
          <p:nvPr/>
        </p:nvSpPr>
        <p:spPr>
          <a:xfrm>
            <a:off x="9392625" y="3531870"/>
            <a:ext cx="8321" cy="818571"/>
          </a:xfrm>
          <a:prstGeom prst="rect">
            <a:avLst/>
          </a:prstGeom>
          <a:solidFill>
            <a:srgbClr val="C9C4B9"/>
          </a:solidFill>
          <a:ln/>
        </p:spPr>
      </p:sp>
      <p:sp>
        <p:nvSpPr>
          <p:cNvPr id="20" name="Text 18"/>
          <p:cNvSpPr txBox="1"/>
          <p:nvPr/>
        </p:nvSpPr>
        <p:spPr>
          <a:xfrm>
            <a:off x="9618025" y="3527572"/>
            <a:ext cx="690646" cy="142098"/>
          </a:xfrm>
          <a:prstGeom prst="rect">
            <a:avLst/>
          </a:prstGeom>
          <a:noFill/>
          <a:ln/>
        </p:spPr>
        <p:txBody>
          <a:bodyPr wrap="none" lIns="0" tIns="0" rIns="0" bIns="0" rtlCol="0" anchor="t"/>
          <a:lstStyle/>
          <a:p>
            <a:pPr algn="l" indent="0" marL="0">
              <a:lnSpc>
                <a:spcPts val="1119"/>
              </a:lnSpc>
              <a:buNone/>
            </a:pPr>
            <a:r>
              <a:rPr lang="en-US" sz="756" b="1" spc="105" kern="0" dirty="0">
                <a:solidFill>
                  <a:srgbClr val="C0451A"/>
                </a:solidFill>
                <a:latin typeface="Calibri" pitchFamily="34" charset="0"/>
                <a:ea typeface="Calibri" pitchFamily="34" charset="-122"/>
                <a:cs typeface="Calibri" pitchFamily="34" charset="-120"/>
              </a:rPr>
              <a:t>SUPERVISOR</a:t>
            </a:r>
            <a:endParaRPr lang="en-US" sz="756" dirty="0"/>
          </a:p>
        </p:txBody>
      </p:sp>
      <p:sp>
        <p:nvSpPr>
          <p:cNvPr id="21" name="Text 19"/>
          <p:cNvSpPr txBox="1"/>
          <p:nvPr/>
        </p:nvSpPr>
        <p:spPr>
          <a:xfrm>
            <a:off x="9618025" y="3754618"/>
            <a:ext cx="1779057" cy="395387"/>
          </a:xfrm>
          <a:prstGeom prst="rect">
            <a:avLst/>
          </a:prstGeom>
          <a:noFill/>
          <a:ln/>
        </p:spPr>
        <p:txBody>
          <a:bodyPr wrap="square" lIns="0" tIns="0" rIns="0" bIns="0" rtlCol="0" anchor="t"/>
          <a:lstStyle/>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Prof. Zohreh Azimifar</a:t>
            </a:r>
            <a:endParaRPr lang="en-US" sz="1052" dirty="0"/>
          </a:p>
          <a:p>
            <a:pPr algn="l" indent="0" marL="0">
              <a:lnSpc>
                <a:spcPts val="1557"/>
              </a:lnSpc>
              <a:buNone/>
            </a:pPr>
            <a:r>
              <a:rPr kern="0" lang="en-US" sz="1052" dirty="0">
                <a:solidFill>
                  <a:srgbClr val="14120F"/>
                </a:solidFill>
                <a:latin typeface="Calibri" pitchFamily="34" charset="0"/>
                <a:ea typeface="Calibri" pitchFamily="34" charset="-122"/>
                <a:cs typeface="Calibri" pitchFamily="34" charset="-120"/>
              </a:rPr>
              <a:t>Final defence: 31 August 2026</a:t>
            </a:r>
            <a:endParaRPr lang="en-US" sz="1052" dirty="0"/>
          </a:p>
        </p:txBody>
      </p:sp>
      <p:sp>
        <p:nvSpPr>
          <p:cNvPr id="22" name="Text 20"/>
          <p:cNvSpPr txBox="1"/>
          <p:nvPr/>
        </p:nvSpPr>
        <p:spPr>
          <a:xfrm>
            <a:off x="10338938" y="6461790"/>
            <a:ext cx="1251539"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Assignment brief, July 2026</a:t>
            </a:r>
            <a:endParaRPr lang="en-US" sz="85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559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02</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63000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HOW TO READ THIS DECK</a:t>
            </a:r>
            <a:endParaRPr lang="en-US" sz="888" dirty="0"/>
          </a:p>
        </p:txBody>
      </p:sp>
      <p:sp>
        <p:nvSpPr>
          <p:cNvPr id="5" name="Text 3"/>
          <p:cNvSpPr txBox="1"/>
          <p:nvPr/>
        </p:nvSpPr>
        <p:spPr>
          <a:xfrm>
            <a:off x="1636685" y="690281"/>
            <a:ext cx="498521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Every claim carries its source</a:t>
            </a:r>
            <a:endParaRPr lang="en-US" sz="3025" dirty="0"/>
          </a:p>
        </p:txBody>
      </p:sp>
      <p:sp>
        <p:nvSpPr>
          <p:cNvPr id="6" name="Text 4"/>
          <p:cNvSpPr txBox="1"/>
          <p:nvPr/>
        </p:nvSpPr>
        <p:spPr>
          <a:xfrm>
            <a:off x="1636685" y="1241481"/>
            <a:ext cx="6475598" cy="501000"/>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The deck is built to be interrogated. Each slide names where its numbers and its statements come from, so any single claim can be traced back to a primary source in one step.</a:t>
            </a:r>
            <a:endParaRPr lang="en-US" sz="1315" dirty="0"/>
          </a:p>
        </p:txBody>
      </p:sp>
      <p:sp>
        <p:nvSpPr>
          <p:cNvPr id="7" name="Shape 5"/>
          <p:cNvSpPr/>
          <p:nvPr/>
        </p:nvSpPr>
        <p:spPr>
          <a:xfrm>
            <a:off x="1636685" y="1976293"/>
            <a:ext cx="9953793" cy="8321"/>
          </a:xfrm>
          <a:prstGeom prst="rect">
            <a:avLst/>
          </a:prstGeom>
          <a:solidFill>
            <a:srgbClr val="DFDBD2"/>
          </a:solidFill>
          <a:ln/>
        </p:spPr>
      </p:sp>
      <p:sp>
        <p:nvSpPr>
          <p:cNvPr id="8" name="Text 6"/>
          <p:cNvSpPr txBox="1"/>
          <p:nvPr/>
        </p:nvSpPr>
        <p:spPr>
          <a:xfrm>
            <a:off x="1636685" y="2126620"/>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9" name="Text 7"/>
          <p:cNvSpPr txBox="1"/>
          <p:nvPr/>
        </p:nvSpPr>
        <p:spPr>
          <a:xfrm>
            <a:off x="1987448" y="2115190"/>
            <a:ext cx="9658167" cy="473751"/>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Paper tags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a bracketed short name and, where relevant, the exact table: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[DnCNN17 · Table II]</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[Restormer22 · Table 6]</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Numbers reproduced from a paper are never rounded, reshaped, or averaged across papers.</a:t>
            </a:r>
            <a:endParaRPr lang="en-US" sz="1216" dirty="0"/>
          </a:p>
        </p:txBody>
      </p:sp>
      <p:sp>
        <p:nvSpPr>
          <p:cNvPr id="10" name="Text 8"/>
          <p:cNvSpPr txBox="1"/>
          <p:nvPr/>
        </p:nvSpPr>
        <p:spPr>
          <a:xfrm>
            <a:off x="1636685" y="2733965"/>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1" name="Text 9"/>
          <p:cNvSpPr txBox="1"/>
          <p:nvPr/>
        </p:nvSpPr>
        <p:spPr>
          <a:xfrm>
            <a:off x="1987448" y="2722535"/>
            <a:ext cx="9973635"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[measured]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figures produced by us, in a container, from the repositories themselves. Method and hardware are stated on the slide that reports them.</a:t>
            </a:r>
            <a:endParaRPr lang="en-US" sz="1216" dirty="0"/>
          </a:p>
        </p:txBody>
      </p:sp>
      <p:sp>
        <p:nvSpPr>
          <p:cNvPr id="12" name="Text 10"/>
          <p:cNvSpPr txBox="1"/>
          <p:nvPr/>
        </p:nvSpPr>
        <p:spPr>
          <a:xfrm>
            <a:off x="1636685" y="3099359"/>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13" name="Text 11"/>
          <p:cNvSpPr txBox="1"/>
          <p:nvPr/>
        </p:nvSpPr>
        <p:spPr>
          <a:xfrm>
            <a:off x="1987448" y="3087837"/>
            <a:ext cx="8515441"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[brief]</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the assignment brief,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From Foundations to State-of-the-Art: A Comprehensive Synthesis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Prof. Zohreh Azimifar, July 2026.</a:t>
            </a:r>
            <a:endParaRPr lang="en-US" sz="1216" dirty="0"/>
          </a:p>
        </p:txBody>
      </p:sp>
      <p:sp>
        <p:nvSpPr>
          <p:cNvPr id="14" name="Text 12"/>
          <p:cNvSpPr txBox="1"/>
          <p:nvPr/>
        </p:nvSpPr>
        <p:spPr>
          <a:xfrm>
            <a:off x="1636685" y="3464662"/>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15" name="Text 13"/>
          <p:cNvSpPr txBox="1"/>
          <p:nvPr/>
        </p:nvSpPr>
        <p:spPr>
          <a:xfrm>
            <a:off x="1987448" y="3453140"/>
            <a:ext cx="9648840"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[reading]</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our interpretation, analogy, or teaching device. Labelled separately because it is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not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 source claim and should not be defended as one.</a:t>
            </a:r>
            <a:endParaRPr lang="en-US" sz="1216" dirty="0"/>
          </a:p>
        </p:txBody>
      </p:sp>
      <p:sp>
        <p:nvSpPr>
          <p:cNvPr id="16" name="Text 14"/>
          <p:cNvSpPr txBox="1"/>
          <p:nvPr/>
        </p:nvSpPr>
        <p:spPr>
          <a:xfrm>
            <a:off x="1636685" y="3829964"/>
            <a:ext cx="15563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05</a:t>
            </a:r>
            <a:endParaRPr lang="en-US" sz="789" dirty="0"/>
          </a:p>
        </p:txBody>
      </p:sp>
      <p:sp>
        <p:nvSpPr>
          <p:cNvPr id="17" name="Text 15"/>
          <p:cNvSpPr txBox="1"/>
          <p:nvPr/>
        </p:nvSpPr>
        <p:spPr>
          <a:xfrm>
            <a:off x="1987448" y="3818534"/>
            <a:ext cx="965816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Where a figure could not be verified, it is absent. No number in this deck was estimated, inferred from a plot, or carried across from a secondary citation.</a:t>
            </a:r>
            <a:endParaRPr lang="en-US" sz="1216" dirty="0"/>
          </a:p>
        </p:txBody>
      </p:sp>
      <p:sp>
        <p:nvSpPr>
          <p:cNvPr id="18" name="Text 16"/>
          <p:cNvSpPr txBox="1"/>
          <p:nvPr/>
        </p:nvSpPr>
        <p:spPr>
          <a:xfrm>
            <a:off x="11337371" y="6194511"/>
            <a:ext cx="253106"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a:t>
            </a:r>
            <a:endParaRPr lang="en-US" sz="855" dirty="0"/>
          </a:p>
        </p:txBody>
      </p:sp>
      <p:sp>
        <p:nvSpPr>
          <p:cNvPr id="19" name="Shape 17"/>
          <p:cNvSpPr/>
          <p:nvPr/>
        </p:nvSpPr>
        <p:spPr>
          <a:xfrm>
            <a:off x="1636685" y="6515466"/>
            <a:ext cx="9953793" cy="8321"/>
          </a:xfrm>
          <a:prstGeom prst="rect">
            <a:avLst/>
          </a:prstGeom>
          <a:solidFill>
            <a:srgbClr val="C9C4B9"/>
          </a:solidFill>
          <a:ln/>
        </p:spPr>
      </p:sp>
      <p:sp>
        <p:nvSpPr>
          <p:cNvPr id="20" name="Shape 18"/>
          <p:cNvSpPr/>
          <p:nvPr/>
        </p:nvSpPr>
        <p:spPr>
          <a:xfrm>
            <a:off x="1636685" y="6473678"/>
            <a:ext cx="8321" cy="41788"/>
          </a:xfrm>
          <a:prstGeom prst="rect">
            <a:avLst/>
          </a:prstGeom>
          <a:solidFill>
            <a:srgbClr val="C9C4B9"/>
          </a:solidFill>
          <a:ln/>
        </p:spPr>
      </p:sp>
      <p:sp>
        <p:nvSpPr>
          <p:cNvPr id="21" name="Text 19"/>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2" name="Shape 20"/>
          <p:cNvSpPr/>
          <p:nvPr/>
        </p:nvSpPr>
        <p:spPr>
          <a:xfrm>
            <a:off x="5507706" y="6473678"/>
            <a:ext cx="8321" cy="41788"/>
          </a:xfrm>
          <a:prstGeom prst="rect">
            <a:avLst/>
          </a:prstGeom>
          <a:solidFill>
            <a:srgbClr val="C9C4B9"/>
          </a:solidFill>
          <a:ln/>
        </p:spPr>
      </p:sp>
      <p:sp>
        <p:nvSpPr>
          <p:cNvPr id="23" name="Text 21"/>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4" name="Shape 22"/>
          <p:cNvSpPr/>
          <p:nvPr/>
        </p:nvSpPr>
        <p:spPr>
          <a:xfrm>
            <a:off x="7166884" y="6473678"/>
            <a:ext cx="8321" cy="41788"/>
          </a:xfrm>
          <a:prstGeom prst="rect">
            <a:avLst/>
          </a:prstGeom>
          <a:solidFill>
            <a:srgbClr val="C9C4B9"/>
          </a:solidFill>
          <a:ln/>
        </p:spPr>
      </p:sp>
      <p:sp>
        <p:nvSpPr>
          <p:cNvPr id="25" name="Text 23"/>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6" name="Shape 24"/>
          <p:cNvSpPr/>
          <p:nvPr/>
        </p:nvSpPr>
        <p:spPr>
          <a:xfrm>
            <a:off x="9931024" y="6473678"/>
            <a:ext cx="8321" cy="41788"/>
          </a:xfrm>
          <a:prstGeom prst="rect">
            <a:avLst/>
          </a:prstGeom>
          <a:solidFill>
            <a:srgbClr val="C9C4B9"/>
          </a:solidFill>
          <a:ln/>
        </p:spPr>
      </p:sp>
      <p:sp>
        <p:nvSpPr>
          <p:cNvPr id="27" name="Text 25"/>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8" name="Shape 26"/>
          <p:cNvSpPr/>
          <p:nvPr/>
        </p:nvSpPr>
        <p:spPr>
          <a:xfrm>
            <a:off x="11590477" y="6473678"/>
            <a:ext cx="8321" cy="41788"/>
          </a:xfrm>
          <a:prstGeom prst="rect">
            <a:avLst/>
          </a:prstGeom>
          <a:solidFill>
            <a:srgbClr val="C9C4B9"/>
          </a:solidFill>
          <a:ln/>
        </p:spPr>
      </p:sp>
      <p:sp>
        <p:nvSpPr>
          <p:cNvPr id="29" name="Text 27"/>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596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03</a:t>
            </a:r>
            <a:endParaRPr lang="en-US" sz="2893" dirty="0"/>
          </a:p>
        </p:txBody>
      </p:sp>
      <p:sp>
        <p:nvSpPr>
          <p:cNvPr id="3" name="Shape 1"/>
          <p:cNvSpPr/>
          <p:nvPr/>
        </p:nvSpPr>
        <p:spPr>
          <a:xfrm>
            <a:off x="1636685" y="494873"/>
            <a:ext cx="217079" cy="25055"/>
          </a:xfrm>
          <a:prstGeom prst="rect">
            <a:avLst/>
          </a:prstGeom>
          <a:solidFill>
            <a:srgbClr val="14343F"/>
          </a:solidFill>
          <a:ln/>
        </p:spPr>
      </p:sp>
      <p:sp>
        <p:nvSpPr>
          <p:cNvPr id="4" name="Text 2"/>
          <p:cNvSpPr txBox="1"/>
          <p:nvPr/>
        </p:nvSpPr>
        <p:spPr>
          <a:xfrm>
            <a:off x="1953981" y="438638"/>
            <a:ext cx="210056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THE ARGUMENT IN FOUR MOVES</a:t>
            </a:r>
            <a:endParaRPr lang="en-US" sz="888" dirty="0"/>
          </a:p>
        </p:txBody>
      </p:sp>
      <p:sp>
        <p:nvSpPr>
          <p:cNvPr id="5" name="Text 3"/>
          <p:cNvSpPr txBox="1"/>
          <p:nvPr/>
        </p:nvSpPr>
        <p:spPr>
          <a:xfrm>
            <a:off x="1636685" y="978774"/>
            <a:ext cx="6401532"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One thesis, stated before the evidence</a:t>
            </a:r>
            <a:endParaRPr lang="en-US" sz="3025" dirty="0"/>
          </a:p>
        </p:txBody>
      </p:sp>
      <p:sp>
        <p:nvSpPr>
          <p:cNvPr id="6" name="Text 4"/>
          <p:cNvSpPr txBox="1"/>
          <p:nvPr/>
        </p:nvSpPr>
        <p:spPr>
          <a:xfrm>
            <a:off x="1636685" y="1818467"/>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Image denoising is the cleanest available case study in how computer vision replaced hand-designed priors with learned ones — because in denoising, unusually, the prior is written down explicitly and you can watch it move.</a:t>
            </a:r>
            <a:endParaRPr lang="en-US" sz="1315" dirty="0"/>
          </a:p>
        </p:txBody>
      </p:sp>
      <p:sp>
        <p:nvSpPr>
          <p:cNvPr id="7" name="Shape 5"/>
          <p:cNvSpPr/>
          <p:nvPr/>
        </p:nvSpPr>
        <p:spPr>
          <a:xfrm>
            <a:off x="1636685" y="3092318"/>
            <a:ext cx="4793193" cy="16734"/>
          </a:xfrm>
          <a:prstGeom prst="rect">
            <a:avLst/>
          </a:prstGeom>
          <a:solidFill>
            <a:srgbClr val="14343F"/>
          </a:solidFill>
          <a:ln/>
        </p:spPr>
      </p:sp>
      <p:sp>
        <p:nvSpPr>
          <p:cNvPr id="8" name="Text 6"/>
          <p:cNvSpPr txBox="1"/>
          <p:nvPr/>
        </p:nvSpPr>
        <p:spPr>
          <a:xfrm>
            <a:off x="1636685" y="3242462"/>
            <a:ext cx="58009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ERA I → II</a:t>
            </a:r>
            <a:endParaRPr lang="en-US" sz="756" dirty="0"/>
          </a:p>
        </p:txBody>
      </p:sp>
      <p:sp>
        <p:nvSpPr>
          <p:cNvPr id="9" name="Text 7"/>
          <p:cNvSpPr txBox="1"/>
          <p:nvPr/>
        </p:nvSpPr>
        <p:spPr>
          <a:xfrm>
            <a:off x="1636685" y="3434852"/>
            <a:ext cx="2796967"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Bottleneck 1 · Manual prior design</a:t>
            </a:r>
            <a:endParaRPr lang="en-US" sz="1447" dirty="0"/>
          </a:p>
        </p:txBody>
      </p:sp>
      <p:sp>
        <p:nvSpPr>
          <p:cNvPr id="10" name="Text 8"/>
          <p:cNvSpPr txBox="1"/>
          <p:nvPr/>
        </p:nvSpPr>
        <p:spPr>
          <a:xfrm>
            <a:off x="1636685" y="3763762"/>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Classical methods solve an optimisation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per image</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with a hand-written penalty Φ. WNNM needs 773 s for one 512×512 image. The prior is a human guess, and the guess costs minutes.</a:t>
            </a:r>
            <a:endParaRPr lang="en-US" sz="1085" dirty="0"/>
          </a:p>
        </p:txBody>
      </p:sp>
      <p:sp>
        <p:nvSpPr>
          <p:cNvPr id="11" name="Shape 9"/>
          <p:cNvSpPr/>
          <p:nvPr/>
        </p:nvSpPr>
        <p:spPr>
          <a:xfrm>
            <a:off x="6797284" y="3092318"/>
            <a:ext cx="4793193" cy="16734"/>
          </a:xfrm>
          <a:prstGeom prst="rect">
            <a:avLst/>
          </a:prstGeom>
          <a:solidFill>
            <a:srgbClr val="14343F"/>
          </a:solidFill>
          <a:ln/>
        </p:spPr>
      </p:sp>
      <p:sp>
        <p:nvSpPr>
          <p:cNvPr id="12" name="Text 10"/>
          <p:cNvSpPr txBox="1"/>
          <p:nvPr/>
        </p:nvSpPr>
        <p:spPr>
          <a:xfrm>
            <a:off x="6797284" y="3242462"/>
            <a:ext cx="659648"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ERA II → III</a:t>
            </a:r>
            <a:endParaRPr lang="en-US" sz="756" dirty="0"/>
          </a:p>
        </p:txBody>
      </p:sp>
      <p:sp>
        <p:nvSpPr>
          <p:cNvPr id="13" name="Text 11"/>
          <p:cNvSpPr txBox="1"/>
          <p:nvPr/>
        </p:nvSpPr>
        <p:spPr>
          <a:xfrm>
            <a:off x="6797284" y="3434852"/>
            <a:ext cx="3450214"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Bottleneck 2 · The clean-data requirement</a:t>
            </a:r>
            <a:endParaRPr lang="en-US" sz="1447" dirty="0"/>
          </a:p>
        </p:txBody>
      </p:sp>
      <p:sp>
        <p:nvSpPr>
          <p:cNvPr id="14" name="Text 12"/>
          <p:cNvSpPr txBox="1"/>
          <p:nvPr/>
        </p:nvSpPr>
        <p:spPr>
          <a:xfrm>
            <a:off x="6797284" y="3763762"/>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Discriminative learning removed test-time optimisation, but demanded paired clean/noisy corpora. For microscopy, astronomy, and medical imaging, that pairing does not exist and cannot be manufactured.</a:t>
            </a:r>
            <a:endParaRPr lang="en-US" sz="1085" dirty="0"/>
          </a:p>
        </p:txBody>
      </p:sp>
      <p:sp>
        <p:nvSpPr>
          <p:cNvPr id="15" name="Shape 13"/>
          <p:cNvSpPr/>
          <p:nvPr/>
        </p:nvSpPr>
        <p:spPr>
          <a:xfrm>
            <a:off x="1636685" y="4682825"/>
            <a:ext cx="4793193" cy="16734"/>
          </a:xfrm>
          <a:prstGeom prst="rect">
            <a:avLst/>
          </a:prstGeom>
          <a:solidFill>
            <a:srgbClr val="14343F"/>
          </a:solidFill>
          <a:ln/>
        </p:spPr>
      </p:sp>
      <p:sp>
        <p:nvSpPr>
          <p:cNvPr id="16" name="Text 14"/>
          <p:cNvSpPr txBox="1"/>
          <p:nvPr/>
        </p:nvSpPr>
        <p:spPr>
          <a:xfrm>
            <a:off x="1636685" y="4832970"/>
            <a:ext cx="817291"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ERA III → IV/V</a:t>
            </a:r>
            <a:endParaRPr lang="en-US" sz="756" dirty="0"/>
          </a:p>
        </p:txBody>
      </p:sp>
      <p:sp>
        <p:nvSpPr>
          <p:cNvPr id="17" name="Text 15"/>
          <p:cNvSpPr txBox="1"/>
          <p:nvPr/>
        </p:nvSpPr>
        <p:spPr>
          <a:xfrm>
            <a:off x="1636685" y="5025360"/>
            <a:ext cx="2665202"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Bottleneck 3 · The receptive field</a:t>
            </a:r>
            <a:endParaRPr lang="en-US" sz="1447" dirty="0"/>
          </a:p>
        </p:txBody>
      </p:sp>
      <p:sp>
        <p:nvSpPr>
          <p:cNvPr id="18" name="Text 16"/>
          <p:cNvSpPr txBox="1"/>
          <p:nvPr/>
        </p:nvSpPr>
        <p:spPr>
          <a:xfrm>
            <a:off x="1636685" y="5354269"/>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A 17-layer CNN sees 35×35 pixels. It cannot exploit a repeating pattern 200 pixels away — which is exactly what non-local classical methods were good at, and exactly where DnCNN loses.</a:t>
            </a:r>
            <a:endParaRPr lang="en-US" sz="1085" dirty="0"/>
          </a:p>
        </p:txBody>
      </p:sp>
      <p:sp>
        <p:nvSpPr>
          <p:cNvPr id="19" name="Shape 17"/>
          <p:cNvSpPr/>
          <p:nvPr/>
        </p:nvSpPr>
        <p:spPr>
          <a:xfrm>
            <a:off x="6797284" y="4682825"/>
            <a:ext cx="4793193" cy="16734"/>
          </a:xfrm>
          <a:prstGeom prst="rect">
            <a:avLst/>
          </a:prstGeom>
          <a:solidFill>
            <a:srgbClr val="14343F"/>
          </a:solidFill>
          <a:ln/>
        </p:spPr>
      </p:sp>
      <p:sp>
        <p:nvSpPr>
          <p:cNvPr id="20" name="Text 18"/>
          <p:cNvSpPr txBox="1"/>
          <p:nvPr/>
        </p:nvSpPr>
        <p:spPr>
          <a:xfrm>
            <a:off x="6797284" y="4832970"/>
            <a:ext cx="4022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TODAY</a:t>
            </a:r>
            <a:endParaRPr lang="en-US" sz="756" dirty="0"/>
          </a:p>
        </p:txBody>
      </p:sp>
      <p:sp>
        <p:nvSpPr>
          <p:cNvPr id="21" name="Text 19"/>
          <p:cNvSpPr txBox="1"/>
          <p:nvPr/>
        </p:nvSpPr>
        <p:spPr>
          <a:xfrm>
            <a:off x="6797284" y="5025360"/>
            <a:ext cx="2904683"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Three live answers, not one winner</a:t>
            </a:r>
            <a:endParaRPr lang="en-US" sz="1447" dirty="0"/>
          </a:p>
        </p:txBody>
      </p:sp>
      <p:sp>
        <p:nvSpPr>
          <p:cNvPr id="22" name="Text 20"/>
          <p:cNvSpPr txBox="1"/>
          <p:nvPr/>
        </p:nvSpPr>
        <p:spPr>
          <a:xfrm>
            <a:off x="6797284" y="5354269"/>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Transformers (Restormer), pure convolution done right (NAFNet), and state-space models (MambaIR) each claim the third bottleneck. The field has not settled. That is the honest ending.</a:t>
            </a:r>
            <a:endParaRPr lang="en-US" sz="1085" dirty="0"/>
          </a:p>
        </p:txBody>
      </p:sp>
      <p:sp>
        <p:nvSpPr>
          <p:cNvPr id="23" name="Text 21"/>
          <p:cNvSpPr txBox="1"/>
          <p:nvPr/>
        </p:nvSpPr>
        <p:spPr>
          <a:xfrm>
            <a:off x="8153156" y="6194511"/>
            <a:ext cx="3437321"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reading — each bottleneck named by the paper that broke it; see Parts II–V</a:t>
            </a:r>
            <a:endParaRPr lang="en-US" sz="855" dirty="0"/>
          </a:p>
        </p:txBody>
      </p:sp>
      <p:sp>
        <p:nvSpPr>
          <p:cNvPr id="24" name="Shape 22"/>
          <p:cNvSpPr/>
          <p:nvPr/>
        </p:nvSpPr>
        <p:spPr>
          <a:xfrm>
            <a:off x="1636685" y="6515466"/>
            <a:ext cx="9953793" cy="8321"/>
          </a:xfrm>
          <a:prstGeom prst="rect">
            <a:avLst/>
          </a:prstGeom>
          <a:solidFill>
            <a:srgbClr val="C9C4B9"/>
          </a:solidFill>
          <a:ln/>
        </p:spPr>
      </p:sp>
      <p:sp>
        <p:nvSpPr>
          <p:cNvPr id="25" name="Shape 23"/>
          <p:cNvSpPr/>
          <p:nvPr/>
        </p:nvSpPr>
        <p:spPr>
          <a:xfrm>
            <a:off x="1636685" y="6473678"/>
            <a:ext cx="8321" cy="41788"/>
          </a:xfrm>
          <a:prstGeom prst="rect">
            <a:avLst/>
          </a:prstGeom>
          <a:solidFill>
            <a:srgbClr val="C9C4B9"/>
          </a:solidFill>
          <a:ln/>
        </p:spPr>
      </p:sp>
      <p:sp>
        <p:nvSpPr>
          <p:cNvPr id="26" name="Text 24"/>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7" name="Shape 25"/>
          <p:cNvSpPr/>
          <p:nvPr/>
        </p:nvSpPr>
        <p:spPr>
          <a:xfrm>
            <a:off x="5507706" y="6473678"/>
            <a:ext cx="8321" cy="41788"/>
          </a:xfrm>
          <a:prstGeom prst="rect">
            <a:avLst/>
          </a:prstGeom>
          <a:solidFill>
            <a:srgbClr val="C9C4B9"/>
          </a:solidFill>
          <a:ln/>
        </p:spPr>
      </p:sp>
      <p:sp>
        <p:nvSpPr>
          <p:cNvPr id="28" name="Text 26"/>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9" name="Shape 27"/>
          <p:cNvSpPr/>
          <p:nvPr/>
        </p:nvSpPr>
        <p:spPr>
          <a:xfrm>
            <a:off x="7166884" y="6473678"/>
            <a:ext cx="8321" cy="41788"/>
          </a:xfrm>
          <a:prstGeom prst="rect">
            <a:avLst/>
          </a:prstGeom>
          <a:solidFill>
            <a:srgbClr val="C9C4B9"/>
          </a:solidFill>
          <a:ln/>
        </p:spPr>
      </p:sp>
      <p:sp>
        <p:nvSpPr>
          <p:cNvPr id="30" name="Text 28"/>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1" name="Shape 29"/>
          <p:cNvSpPr/>
          <p:nvPr/>
        </p:nvSpPr>
        <p:spPr>
          <a:xfrm>
            <a:off x="9931024" y="6473678"/>
            <a:ext cx="8321" cy="41788"/>
          </a:xfrm>
          <a:prstGeom prst="rect">
            <a:avLst/>
          </a:prstGeom>
          <a:solidFill>
            <a:srgbClr val="C9C4B9"/>
          </a:solidFill>
          <a:ln/>
        </p:spPr>
      </p:sp>
      <p:sp>
        <p:nvSpPr>
          <p:cNvPr id="32" name="Text 30"/>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3" name="Shape 31"/>
          <p:cNvSpPr/>
          <p:nvPr/>
        </p:nvSpPr>
        <p:spPr>
          <a:xfrm>
            <a:off x="11590477" y="6473678"/>
            <a:ext cx="8321" cy="41788"/>
          </a:xfrm>
          <a:prstGeom prst="rect">
            <a:avLst/>
          </a:prstGeom>
          <a:solidFill>
            <a:srgbClr val="C9C4B9"/>
          </a:solidFill>
          <a:ln/>
        </p:spPr>
      </p:sp>
      <p:sp>
        <p:nvSpPr>
          <p:cNvPr id="34" name="Text 32"/>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3251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04</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173724"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MAP OF THE DECK</a:t>
            </a:r>
            <a:endParaRPr lang="en-US" sz="888" dirty="0"/>
          </a:p>
        </p:txBody>
      </p:sp>
      <p:sp>
        <p:nvSpPr>
          <p:cNvPr id="5" name="Text 3"/>
          <p:cNvSpPr txBox="1"/>
          <p:nvPr/>
        </p:nvSpPr>
        <p:spPr>
          <a:xfrm>
            <a:off x="1636685" y="690281"/>
            <a:ext cx="9358335"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Eight parts, mapped onto the brief's required structure</a:t>
            </a:r>
            <a:endParaRPr lang="en-US" sz="3025" dirty="0"/>
          </a:p>
        </p:txBody>
      </p:sp>
      <p:sp>
        <p:nvSpPr>
          <p:cNvPr id="6" name="Text 4"/>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The brief specifies seven sections. This deck follows them in order, splitting the modern era into two parts because the field genuinely forked in 2018 and collapsing that fork would misrepresent it.</a:t>
            </a:r>
            <a:endParaRPr lang="en-US" sz="1315"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636685" y="2226838"/>
          <a:ext cx="9144000" cy="914400"/>
        </p:xfrm>
        <a:graphic>
          <a:graphicData uri="http://schemas.openxmlformats.org/drawingml/2006/table">
            <a:tbl>
              <a:tblPr/>
              <a:tblGrid>
                <a:gridCol w="2116836"/>
                <a:gridCol w="4505066"/>
                <a:gridCol w="2672151"/>
                <a:gridCol w="659648"/>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PART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CONTENTS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BRIEF SECTION</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r"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SLIDES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r>
              <a:tr h="346558">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I — The problem</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Degradation model, ill-posedness, MAP, PSNR/SSIM, benchmarks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 Introduction &amp; Problem Definition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06–16</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II — Classical DIP</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Spatial filters → wavelets → TV → NLM → BM3D → WNNM</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 The Classical DIP Foundation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17–29</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III — The transition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MLP, unrolling, CSF, TNRD, and DnCNN in full</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§3 The Deep Learning Transition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30–44</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IV — The data branch</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Noise2Noise → Noise2Void → ZS-N2N → P2N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§4 Modern SOTA (supervision)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45–52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V — The architecture branch</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Attention, Restormer, NAFNet, SCUNet, MambaIR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§4 Modern SOTA (architecture)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53–65</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VI — Engineering reality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Repositories, code, pipelines, weights, measurements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§5 Practical Deep-Dive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66–80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VII — Comparative analysis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PSNR/SSIM across 18 years; efficiency; real noise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§6 Comparative Analysis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81–94</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VIII — Open problems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What is still unsolved, and what we would build today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§7 Future Directions &amp; Conclusion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95–99</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636685" y="5483565"/>
            <a:ext cx="9953793" cy="16734"/>
          </a:xfrm>
          <a:prstGeom prst="rect">
            <a:avLst/>
          </a:prstGeom>
          <a:solidFill>
            <a:srgbClr val="14343F"/>
          </a:solidFill>
          <a:ln/>
        </p:spPr>
      </p:sp>
      <p:sp>
        <p:nvSpPr>
          <p:cNvPr id="9" name="Text 6"/>
          <p:cNvSpPr txBox="1"/>
          <p:nvPr/>
        </p:nvSpPr>
        <p:spPr>
          <a:xfrm>
            <a:off x="1636685" y="5631698"/>
            <a:ext cx="5062484" cy="212964"/>
          </a:xfrm>
          <a:prstGeom prst="rect">
            <a:avLst/>
          </a:prstGeom>
          <a:noFill/>
          <a:ln/>
        </p:spPr>
        <p:txBody>
          <a:bodyPr wrap="none" lIns="0" tIns="0" rIns="0" bIns="0" rtlCol="0" anchor="t"/>
          <a:lstStyle/>
          <a:p>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Back matter — bibliography, verification notes, and the defence map: slides 98–101.</a:t>
            </a:r>
            <a:endParaRPr lang="en-US" sz="1118" dirty="0"/>
          </a:p>
        </p:txBody>
      </p:sp>
      <p:sp>
        <p:nvSpPr>
          <p:cNvPr id="10" name="Text 7"/>
          <p:cNvSpPr txBox="1"/>
          <p:nvPr/>
        </p:nvSpPr>
        <p:spPr>
          <a:xfrm>
            <a:off x="9112362" y="6194511"/>
            <a:ext cx="2478024"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§3, Guidelines for Structuring the Final Slide Deck</a:t>
            </a:r>
            <a:endParaRPr lang="en-US" sz="855" dirty="0"/>
          </a:p>
        </p:txBody>
      </p:sp>
      <p:sp>
        <p:nvSpPr>
          <p:cNvPr id="11" name="Shape 8"/>
          <p:cNvSpPr/>
          <p:nvPr/>
        </p:nvSpPr>
        <p:spPr>
          <a:xfrm>
            <a:off x="1636685" y="6515466"/>
            <a:ext cx="9953793" cy="8321"/>
          </a:xfrm>
          <a:prstGeom prst="rect">
            <a:avLst/>
          </a:prstGeom>
          <a:solidFill>
            <a:srgbClr val="C9C4B9"/>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390997"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14343F"/>
                </a:solidFill>
                <a:latin typeface="Cambria" pitchFamily="34" charset="0"/>
                <a:ea typeface="Cambria" pitchFamily="34" charset="-122"/>
                <a:cs typeface="Cambria" pitchFamily="34" charset="-120"/>
              </a:rPr>
              <a:t>I</a:t>
            </a:r>
            <a:endParaRPr lang="en-US" sz="8416" dirty="0"/>
          </a:p>
        </p:txBody>
      </p:sp>
      <p:sp>
        <p:nvSpPr>
          <p:cNvPr id="4" name="Shape 2"/>
          <p:cNvSpPr/>
          <p:nvPr/>
        </p:nvSpPr>
        <p:spPr>
          <a:xfrm>
            <a:off x="434249" y="1663294"/>
            <a:ext cx="1002091" cy="33376"/>
          </a:xfrm>
          <a:prstGeom prst="rect">
            <a:avLst/>
          </a:prstGeom>
          <a:solidFill>
            <a:srgbClr val="14343F"/>
          </a:solidFill>
          <a:ln/>
        </p:spPr>
      </p:sp>
      <p:sp>
        <p:nvSpPr>
          <p:cNvPr id="5" name="Text 3"/>
          <p:cNvSpPr txBox="1"/>
          <p:nvPr/>
        </p:nvSpPr>
        <p:spPr>
          <a:xfrm>
            <a:off x="434249" y="1910273"/>
            <a:ext cx="2213580" cy="399501"/>
          </a:xfrm>
          <a:prstGeom prst="rect">
            <a:avLst/>
          </a:prstGeom>
          <a:noFill/>
          <a:ln/>
        </p:spPr>
        <p:txBody>
          <a:bodyPr wrap="non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The Problem</a:t>
            </a:r>
            <a:endParaRPr lang="en-US" sz="3025" dirty="0"/>
          </a:p>
        </p:txBody>
      </p:sp>
      <p:sp>
        <p:nvSpPr>
          <p:cNvPr id="6" name="Shape 4"/>
          <p:cNvSpPr/>
          <p:nvPr/>
        </p:nvSpPr>
        <p:spPr>
          <a:xfrm>
            <a:off x="434249" y="2688976"/>
            <a:ext cx="217079" cy="25055"/>
          </a:xfrm>
          <a:prstGeom prst="rect">
            <a:avLst/>
          </a:prstGeom>
          <a:solidFill>
            <a:srgbClr val="8E877B"/>
          </a:solidFill>
          <a:ln/>
        </p:spPr>
      </p:sp>
      <p:sp>
        <p:nvSpPr>
          <p:cNvPr id="7" name="Text 5"/>
          <p:cNvSpPr txBox="1"/>
          <p:nvPr/>
        </p:nvSpPr>
        <p:spPr>
          <a:xfrm>
            <a:off x="751545" y="2632740"/>
            <a:ext cx="4584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PART I</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1400221"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degradation model</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1722272"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Why the problem is ill-posed</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1820113"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MAP and the birth of the prior</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1918228"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PSNR, SSIM, and what they hide</a:t>
            </a:r>
            <a:endParaRPr lang="en-US" sz="1118" dirty="0"/>
          </a:p>
        </p:txBody>
      </p:sp>
      <p:sp>
        <p:nvSpPr>
          <p:cNvPr id="23" name="Shape 21"/>
          <p:cNvSpPr/>
          <p:nvPr/>
        </p:nvSpPr>
        <p:spPr>
          <a:xfrm>
            <a:off x="5526999" y="3479018"/>
            <a:ext cx="6146963" cy="8321"/>
          </a:xfrm>
          <a:prstGeom prst="rect">
            <a:avLst/>
          </a:prstGeom>
          <a:solidFill>
            <a:srgbClr val="DFDBD2"/>
          </a:solidFill>
          <a:ln/>
        </p:spPr>
      </p:sp>
      <p:sp>
        <p:nvSpPr>
          <p:cNvPr id="24" name="Text 22"/>
          <p:cNvSpPr txBox="1"/>
          <p:nvPr/>
        </p:nvSpPr>
        <p:spPr>
          <a:xfrm>
            <a:off x="5526999" y="3173700"/>
            <a:ext cx="173279"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05</a:t>
            </a:r>
            <a:endParaRPr lang="en-US" sz="921" dirty="0"/>
          </a:p>
        </p:txBody>
      </p:sp>
      <p:sp>
        <p:nvSpPr>
          <p:cNvPr id="25" name="Text 23"/>
          <p:cNvSpPr txBox="1"/>
          <p:nvPr/>
        </p:nvSpPr>
        <p:spPr>
          <a:xfrm>
            <a:off x="5894405" y="3155869"/>
            <a:ext cx="1472458"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benchmark datasets</a:t>
            </a:r>
            <a:endParaRPr lang="en-US" sz="1118" dirty="0"/>
          </a:p>
        </p:txBody>
      </p:sp>
      <p:sp>
        <p:nvSpPr>
          <p:cNvPr id="26" name="Shape 24"/>
          <p:cNvSpPr/>
          <p:nvPr/>
        </p:nvSpPr>
        <p:spPr>
          <a:xfrm>
            <a:off x="5526999" y="3922593"/>
            <a:ext cx="6146963" cy="8321"/>
          </a:xfrm>
          <a:prstGeom prst="rect">
            <a:avLst/>
          </a:prstGeom>
          <a:solidFill>
            <a:srgbClr val="DFDBD2"/>
          </a:solidFill>
          <a:ln/>
        </p:spPr>
      </p:sp>
      <p:sp>
        <p:nvSpPr>
          <p:cNvPr id="27" name="Text 25"/>
          <p:cNvSpPr txBox="1"/>
          <p:nvPr/>
        </p:nvSpPr>
        <p:spPr>
          <a:xfrm>
            <a:off x="5526999" y="3617275"/>
            <a:ext cx="175382"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06</a:t>
            </a:r>
            <a:endParaRPr lang="en-US" sz="921" dirty="0"/>
          </a:p>
        </p:txBody>
      </p:sp>
      <p:sp>
        <p:nvSpPr>
          <p:cNvPr id="28" name="Text 26"/>
          <p:cNvSpPr txBox="1"/>
          <p:nvPr/>
        </p:nvSpPr>
        <p:spPr>
          <a:xfrm>
            <a:off x="5894405" y="3599536"/>
            <a:ext cx="1816273"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Why denoising is foundational</a:t>
            </a:r>
            <a:endParaRPr lang="en-US" sz="1118" dirty="0"/>
          </a:p>
        </p:txBody>
      </p:sp>
      <p:sp>
        <p:nvSpPr>
          <p:cNvPr id="29" name="Text 27"/>
          <p:cNvSpPr txBox="1"/>
          <p:nvPr/>
        </p:nvSpPr>
        <p:spPr>
          <a:xfrm>
            <a:off x="5526999" y="4176979"/>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What denoising is, why it is mathematically impossible without an assumption, and how we agree to measure success.</a:t>
            </a:r>
            <a:endParaRPr lang="en-US" sz="1085" dirty="0"/>
          </a:p>
        </p:txBody>
      </p:sp>
      <p:sp>
        <p:nvSpPr>
          <p:cNvPr id="30" name="Text 28"/>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§1</a:t>
            </a:r>
            <a:endParaRPr lang="en-US" sz="85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6933"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06</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763981"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THE MODEL</a:t>
            </a:r>
            <a:endParaRPr lang="en-US" sz="888" dirty="0"/>
          </a:p>
        </p:txBody>
      </p:sp>
      <p:sp>
        <p:nvSpPr>
          <p:cNvPr id="5" name="Text 3"/>
          <p:cNvSpPr txBox="1"/>
          <p:nvPr/>
        </p:nvSpPr>
        <p:spPr>
          <a:xfrm>
            <a:off x="1636685" y="690281"/>
            <a:ext cx="6685178"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One equation, and it has never changed</a:t>
            </a:r>
            <a:endParaRPr lang="en-US" sz="3025" dirty="0"/>
          </a:p>
        </p:txBody>
      </p:sp>
      <p:sp>
        <p:nvSpPr>
          <p:cNvPr id="6" name="Text 4"/>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Every method in this deck — from a 3×3 box filter to a state-space model — is an attempt to invert the same two-term equation. The equation is stated identically in papers sixteen years apart.</a:t>
            </a:r>
            <a:endParaRPr lang="en-US" sz="1315" dirty="0"/>
          </a:p>
        </p:txBody>
      </p:sp>
      <p:sp>
        <p:nvSpPr>
          <p:cNvPr id="7" name="Shape 5"/>
          <p:cNvSpPr/>
          <p:nvPr/>
        </p:nvSpPr>
        <p:spPr>
          <a:xfrm>
            <a:off x="1636685" y="2226838"/>
            <a:ext cx="9953793" cy="886328"/>
          </a:xfrm>
          <a:prstGeom prst="rect">
            <a:avLst/>
          </a:prstGeom>
          <a:solidFill>
            <a:srgbClr val="EAEBE9"/>
          </a:solidFill>
          <a:ln/>
        </p:spPr>
      </p:sp>
      <p:sp>
        <p:nvSpPr>
          <p:cNvPr id="8" name="Shape 6"/>
          <p:cNvSpPr/>
          <p:nvPr/>
        </p:nvSpPr>
        <p:spPr>
          <a:xfrm>
            <a:off x="1636685" y="2226838"/>
            <a:ext cx="33376" cy="886328"/>
          </a:xfrm>
          <a:prstGeom prst="rect">
            <a:avLst/>
          </a:prstGeom>
          <a:solidFill>
            <a:srgbClr val="14343F"/>
          </a:solidFill>
          <a:ln/>
        </p:spPr>
      </p:sp>
      <p:pic>
        <p:nvPicPr>
          <p:cNvPr id="9" name="Image 0" descr="y \;=\; x \;+\; v">    </p:cNvPr>
          <p:cNvPicPr>
            <a:picLocks noChangeAspect="1"/>
          </p:cNvPicPr>
          <p:nvPr/>
        </p:nvPicPr>
        <p:blipFill>
          <a:blip r:embed="rId1"/>
          <a:stretch>
            <a:fillRect/>
          </a:stretch>
        </p:blipFill>
        <p:spPr>
          <a:xfrm>
            <a:off x="1870497" y="2368753"/>
            <a:ext cx="1866473" cy="333665"/>
          </a:xfrm>
          <a:prstGeom prst="rect">
            <a:avLst/>
          </a:prstGeom>
        </p:spPr>
      </p:pic>
      <p:sp>
        <p:nvSpPr>
          <p:cNvPr id="10" name="Text 7"/>
          <p:cNvSpPr txBox="1"/>
          <p:nvPr/>
        </p:nvSpPr>
        <p:spPr>
          <a:xfrm>
            <a:off x="1870497" y="2785080"/>
            <a:ext cx="5261823" cy="185349"/>
          </a:xfrm>
          <a:prstGeom prst="rect">
            <a:avLst/>
          </a:prstGeom>
          <a:noFill/>
          <a:ln/>
        </p:spPr>
        <p:txBody>
          <a:bodyPr wrap="none" lIns="0" tIns="0" rIns="0" bIns="0" rtlCol="0" anchor="t"/>
          <a:lstStyle/>
          <a:p>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y — the noisy observation the sensor produced · x — the latent clean image we want · v — the noise</a:t>
            </a:r>
            <a:endParaRPr lang="en-US" sz="986" dirty="0"/>
          </a:p>
        </p:txBody>
      </p:sp>
      <p:sp>
        <p:nvSpPr>
          <p:cNvPr id="11" name="Shape 8"/>
          <p:cNvSpPr/>
          <p:nvPr/>
        </p:nvSpPr>
        <p:spPr>
          <a:xfrm>
            <a:off x="1636685" y="3238439"/>
            <a:ext cx="9953793" cy="8321"/>
          </a:xfrm>
          <a:prstGeom prst="rect">
            <a:avLst/>
          </a:prstGeom>
          <a:solidFill>
            <a:srgbClr val="DFDBD2"/>
          </a:solidFill>
          <a:ln/>
        </p:spPr>
      </p:sp>
      <p:sp>
        <p:nvSpPr>
          <p:cNvPr id="12" name="Text 9"/>
          <p:cNvSpPr txBox="1"/>
          <p:nvPr/>
        </p:nvSpPr>
        <p:spPr>
          <a:xfrm>
            <a:off x="1636685" y="3388766"/>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3" name="Text 10"/>
          <p:cNvSpPr txBox="1"/>
          <p:nvPr/>
        </p:nvSpPr>
        <p:spPr>
          <a:xfrm>
            <a:off x="1987448" y="3393978"/>
            <a:ext cx="8155534" cy="231709"/>
          </a:xfrm>
          <a:prstGeom prst="rect">
            <a:avLst/>
          </a:prstGeom>
          <a:noFill/>
          <a:ln/>
        </p:spPr>
        <p:txBody>
          <a:bodyPr wrap="non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DnCNN, 2017: the degradation model is written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y = x + v</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with v additive white Gaussian noise of standard deviation σ. </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[1]</a:t>
            </a:r>
            <a:endParaRPr lang="en-US" sz="1216" dirty="0"/>
          </a:p>
        </p:txBody>
      </p:sp>
      <p:sp>
        <p:nvSpPr>
          <p:cNvPr id="14" name="Text 11"/>
          <p:cNvSpPr txBox="1"/>
          <p:nvPr/>
        </p:nvSpPr>
        <p:spPr>
          <a:xfrm>
            <a:off x="1636685" y="3764402"/>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5" name="Text 12"/>
          <p:cNvSpPr txBox="1"/>
          <p:nvPr/>
        </p:nvSpPr>
        <p:spPr>
          <a:xfrm>
            <a:off x="1987448" y="3769614"/>
            <a:ext cx="7197974" cy="231709"/>
          </a:xfrm>
          <a:prstGeom prst="rect">
            <a:avLst/>
          </a:prstGeom>
          <a:noFill/>
          <a:ln/>
        </p:spPr>
        <p:txBody>
          <a:bodyPr wrap="non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SCUNet, 2023: the same equation is written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y = x + n</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sixteen years after BM3D, in a Transformer paper. </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[2]</a:t>
            </a:r>
            <a:endParaRPr lang="en-US" sz="1216" dirty="0"/>
          </a:p>
        </p:txBody>
      </p:sp>
      <p:sp>
        <p:nvSpPr>
          <p:cNvPr id="16" name="Text 13"/>
          <p:cNvSpPr txBox="1"/>
          <p:nvPr/>
        </p:nvSpPr>
        <p:spPr>
          <a:xfrm>
            <a:off x="1636685" y="4140037"/>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17" name="Text 14"/>
          <p:cNvSpPr txBox="1"/>
          <p:nvPr/>
        </p:nvSpPr>
        <p:spPr>
          <a:xfrm>
            <a:off x="1987448" y="4128516"/>
            <a:ext cx="9658167" cy="490484"/>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Noise2Void, 2019, states it as a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joint distribution</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instead: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p(s,n) = p(s)·p(n|s)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with the signal s and noise n drawn together. That reformulation is what makes self-supervision possible — it is the same model, written so the assumptions are visible. </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[3]</a:t>
            </a:r>
            <a:endParaRPr lang="en-US" sz="1216" dirty="0"/>
          </a:p>
        </p:txBody>
      </p:sp>
      <p:sp>
        <p:nvSpPr>
          <p:cNvPr id="18" name="Text 15"/>
          <p:cNvSpPr txBox="1"/>
          <p:nvPr/>
        </p:nvSpPr>
        <p:spPr>
          <a:xfrm>
            <a:off x="1636685" y="4747382"/>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19" name="Text 16"/>
          <p:cNvSpPr txBox="1"/>
          <p:nvPr/>
        </p:nvSpPr>
        <p:spPr>
          <a:xfrm>
            <a:off x="1987448" y="4735860"/>
            <a:ext cx="965816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The constancy is the point. Eighteen years of progress changed nothing about the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problem statement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only about who supplies the missing information needed to invert it.</a:t>
            </a:r>
            <a:endParaRPr lang="en-US" sz="1216" dirty="0"/>
          </a:p>
        </p:txBody>
      </p:sp>
      <p:sp>
        <p:nvSpPr>
          <p:cNvPr id="20" name="Text 17"/>
          <p:cNvSpPr txBox="1"/>
          <p:nvPr/>
        </p:nvSpPr>
        <p:spPr>
          <a:xfrm>
            <a:off x="9128089" y="6207039"/>
            <a:ext cx="2462296"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§I 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SCUNet23 Eq. 1 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[3]</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N2V19 Eq. 1</a:t>
            </a:r>
            <a:endParaRPr lang="en-US" sz="633" dirty="0"/>
          </a:p>
        </p:txBody>
      </p:sp>
      <p:sp>
        <p:nvSpPr>
          <p:cNvPr id="21" name="Shape 18"/>
          <p:cNvSpPr/>
          <p:nvPr/>
        </p:nvSpPr>
        <p:spPr>
          <a:xfrm>
            <a:off x="1636685" y="6515466"/>
            <a:ext cx="9953793" cy="8321"/>
          </a:xfrm>
          <a:prstGeom prst="rect">
            <a:avLst/>
          </a:prstGeom>
          <a:solidFill>
            <a:srgbClr val="C9C4B9"/>
          </a:solidFill>
          <a:ln/>
        </p:spPr>
      </p:sp>
      <p:sp>
        <p:nvSpPr>
          <p:cNvPr id="22" name="Shape 19"/>
          <p:cNvSpPr/>
          <p:nvPr/>
        </p:nvSpPr>
        <p:spPr>
          <a:xfrm>
            <a:off x="1636685" y="6473678"/>
            <a:ext cx="8321" cy="41788"/>
          </a:xfrm>
          <a:prstGeom prst="rect">
            <a:avLst/>
          </a:prstGeom>
          <a:solidFill>
            <a:srgbClr val="C9C4B9"/>
          </a:solidFill>
          <a:ln/>
        </p:spPr>
      </p:sp>
      <p:sp>
        <p:nvSpPr>
          <p:cNvPr id="23" name="Text 2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4" name="Shape 21"/>
          <p:cNvSpPr/>
          <p:nvPr/>
        </p:nvSpPr>
        <p:spPr>
          <a:xfrm>
            <a:off x="5507706" y="6473678"/>
            <a:ext cx="8321" cy="41788"/>
          </a:xfrm>
          <a:prstGeom prst="rect">
            <a:avLst/>
          </a:prstGeom>
          <a:solidFill>
            <a:srgbClr val="C9C4B9"/>
          </a:solidFill>
          <a:ln/>
        </p:spPr>
      </p:sp>
      <p:sp>
        <p:nvSpPr>
          <p:cNvPr id="25" name="Text 2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6" name="Shape 23"/>
          <p:cNvSpPr/>
          <p:nvPr/>
        </p:nvSpPr>
        <p:spPr>
          <a:xfrm>
            <a:off x="7166884" y="6473678"/>
            <a:ext cx="8321" cy="41788"/>
          </a:xfrm>
          <a:prstGeom prst="rect">
            <a:avLst/>
          </a:prstGeom>
          <a:solidFill>
            <a:srgbClr val="C9C4B9"/>
          </a:solidFill>
          <a:ln/>
        </p:spPr>
      </p:sp>
      <p:sp>
        <p:nvSpPr>
          <p:cNvPr id="27" name="Text 2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8" name="Shape 25"/>
          <p:cNvSpPr/>
          <p:nvPr/>
        </p:nvSpPr>
        <p:spPr>
          <a:xfrm>
            <a:off x="9931024" y="6473678"/>
            <a:ext cx="8321" cy="41788"/>
          </a:xfrm>
          <a:prstGeom prst="rect">
            <a:avLst/>
          </a:prstGeom>
          <a:solidFill>
            <a:srgbClr val="C9C4B9"/>
          </a:solidFill>
          <a:ln/>
        </p:spPr>
      </p:sp>
      <p:sp>
        <p:nvSpPr>
          <p:cNvPr id="29" name="Text 2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0" name="Shape 27"/>
          <p:cNvSpPr/>
          <p:nvPr/>
        </p:nvSpPr>
        <p:spPr>
          <a:xfrm>
            <a:off x="11590477" y="6473678"/>
            <a:ext cx="8321" cy="41788"/>
          </a:xfrm>
          <a:prstGeom prst="rect">
            <a:avLst/>
          </a:prstGeom>
          <a:solidFill>
            <a:srgbClr val="C9C4B9"/>
          </a:solidFill>
          <a:ln/>
        </p:spPr>
      </p:sp>
      <p:sp>
        <p:nvSpPr>
          <p:cNvPr id="31" name="Text 2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4505"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07</a:t>
            </a:r>
            <a:endParaRPr lang="en-US" sz="2708" dirty="0"/>
          </a:p>
        </p:txBody>
      </p:sp>
      <p:sp>
        <p:nvSpPr>
          <p:cNvPr id="3" name="Shape 1"/>
          <p:cNvSpPr/>
          <p:nvPr/>
        </p:nvSpPr>
        <p:spPr>
          <a:xfrm>
            <a:off x="1531803" y="518099"/>
            <a:ext cx="203180" cy="23409"/>
          </a:xfrm>
          <a:prstGeom prst="rect">
            <a:avLst/>
          </a:prstGeom>
          <a:solidFill>
            <a:srgbClr val="14343F"/>
          </a:solidFill>
          <a:ln/>
        </p:spPr>
      </p:sp>
      <p:sp>
        <p:nvSpPr>
          <p:cNvPr id="4" name="Text 2"/>
          <p:cNvSpPr txBox="1"/>
          <p:nvPr/>
        </p:nvSpPr>
        <p:spPr>
          <a:xfrm>
            <a:off x="1828800" y="465521"/>
            <a:ext cx="1820845"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UNPACKING THE ASSUMPTION</a:t>
            </a:r>
            <a:endParaRPr lang="en-US" sz="831" dirty="0"/>
          </a:p>
        </p:txBody>
      </p:sp>
      <p:sp>
        <p:nvSpPr>
          <p:cNvPr id="5" name="Text 3"/>
          <p:cNvSpPr txBox="1"/>
          <p:nvPr/>
        </p:nvSpPr>
        <p:spPr>
          <a:xfrm>
            <a:off x="1531803" y="1025865"/>
            <a:ext cx="7891546"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Additive white Gaussian noise, one word at a time</a:t>
            </a:r>
            <a:endParaRPr lang="en-US" sz="2831" dirty="0"/>
          </a:p>
        </p:txBody>
      </p:sp>
      <p:sp>
        <p:nvSpPr>
          <p:cNvPr id="6" name="Text 4"/>
          <p:cNvSpPr txBox="1"/>
          <p:nvPr/>
        </p:nvSpPr>
        <p:spPr>
          <a:xfrm>
            <a:off x="1531803" y="1921703"/>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AWGN is the standard assumption, and almost every quantitative claim in this deck is made under it. It is also, as Part VII shows with hard numbers, the single assumption that breaks hardest on real photographs.</a:t>
            </a:r>
            <a:endParaRPr lang="en-US" sz="1231" dirty="0"/>
          </a:p>
        </p:txBody>
      </p:sp>
      <p:sp>
        <p:nvSpPr>
          <p:cNvPr id="7" name="Shape 5"/>
          <p:cNvSpPr/>
          <p:nvPr/>
        </p:nvSpPr>
        <p:spPr>
          <a:xfrm>
            <a:off x="1531803" y="3223809"/>
            <a:ext cx="4876678" cy="15636"/>
          </a:xfrm>
          <a:prstGeom prst="rect">
            <a:avLst/>
          </a:prstGeom>
          <a:solidFill>
            <a:srgbClr val="14343F"/>
          </a:solidFill>
          <a:ln/>
        </p:spPr>
      </p:sp>
      <p:sp>
        <p:nvSpPr>
          <p:cNvPr id="8" name="Text 6"/>
          <p:cNvSpPr txBox="1"/>
          <p:nvPr/>
        </p:nvSpPr>
        <p:spPr>
          <a:xfrm>
            <a:off x="1531803" y="3364352"/>
            <a:ext cx="510418" cy="109637"/>
          </a:xfrm>
          <a:prstGeom prst="rect">
            <a:avLst/>
          </a:prstGeom>
          <a:noFill/>
          <a:ln/>
        </p:spPr>
        <p:txBody>
          <a:bodyPr wrap="none" lIns="0" tIns="0" rIns="0" bIns="0" rtlCol="0" anchor="t"/>
          <a:lstStyle/>
          <a:p>
            <a:pPr algn="l" indent="0" marL="0">
              <a:lnSpc>
                <a:spcPts val="863"/>
              </a:lnSpc>
              <a:buNone/>
            </a:pPr>
            <a:r>
              <a:rPr lang="en-US" sz="708" b="1" spc="105" kern="0" dirty="0">
                <a:solidFill>
                  <a:srgbClr val="14343F"/>
                </a:solidFill>
                <a:latin typeface="Calibri" pitchFamily="34" charset="0"/>
                <a:ea typeface="Calibri" pitchFamily="34" charset="-122"/>
                <a:cs typeface="Calibri" pitchFamily="34" charset="-120"/>
              </a:rPr>
              <a:t>ADDITIVE</a:t>
            </a:r>
            <a:endParaRPr lang="en-US" sz="708" dirty="0"/>
          </a:p>
        </p:txBody>
      </p:sp>
      <p:sp>
        <p:nvSpPr>
          <p:cNvPr id="9" name="Text 7"/>
          <p:cNvSpPr txBox="1"/>
          <p:nvPr/>
        </p:nvSpPr>
        <p:spPr>
          <a:xfrm>
            <a:off x="1531803" y="3544306"/>
            <a:ext cx="1763329"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v is added, not blended</a:t>
            </a:r>
            <a:endParaRPr lang="en-US" sz="1354" dirty="0"/>
          </a:p>
        </p:txBody>
      </p:sp>
      <p:sp>
        <p:nvSpPr>
          <p:cNvPr id="10" name="Text 8"/>
          <p:cNvSpPr txBox="1"/>
          <p:nvPr/>
        </p:nvSpPr>
        <p:spPr>
          <a:xfrm>
            <a:off x="1531803" y="3852184"/>
            <a:ext cx="4911791" cy="599664"/>
          </a:xfrm>
          <a:prstGeom prst="rect">
            <a:avLst/>
          </a:prstGeom>
          <a:noFill/>
          <a:ln/>
        </p:spPr>
        <p:txBody>
          <a:bodyPr wrap="square" lIns="0" tIns="0" rIns="0" bIns="0" rtlCol="0" anchor="t"/>
          <a:lstStyle/>
          <a:p>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Pixel 200 becomes 200 + ε. Not multiplied (speckle), not applied through a nonlinearity (compression), not signal-dependent (shot noise). The clean image is recoverable by subtraction alone — which is precisely what makes residual learning possible in Part III.</a:t>
            </a:r>
            <a:pPr algn="l" indent="0" marL="0">
              <a:lnSpc>
                <a:spcPts val="1543"/>
              </a:lnSpc>
              <a:buNone/>
            </a:pPr>
            <a:r>
              <a:rPr kern="0" lang="en-US" sz="751" b="1" dirty="0">
                <a:solidFill>
                  <a:srgbClr val="C0451A"/>
                </a:solidFill>
                <a:latin typeface="Calibri" pitchFamily="34" charset="0"/>
                <a:ea typeface="Calibri" pitchFamily="34" charset="-122"/>
                <a:cs typeface="Calibri" pitchFamily="34" charset="-120"/>
              </a:rPr>
              <a:t>[1]</a:t>
            </a:r>
            <a:endParaRPr lang="en-US" sz="1015" dirty="0"/>
          </a:p>
        </p:txBody>
      </p:sp>
      <p:sp>
        <p:nvSpPr>
          <p:cNvPr id="11" name="Shape 9"/>
          <p:cNvSpPr/>
          <p:nvPr/>
        </p:nvSpPr>
        <p:spPr>
          <a:xfrm>
            <a:off x="6752295" y="3223809"/>
            <a:ext cx="4876678" cy="15636"/>
          </a:xfrm>
          <a:prstGeom prst="rect">
            <a:avLst/>
          </a:prstGeom>
          <a:solidFill>
            <a:srgbClr val="14343F"/>
          </a:solidFill>
          <a:ln/>
        </p:spPr>
      </p:sp>
      <p:sp>
        <p:nvSpPr>
          <p:cNvPr id="12" name="Text 10"/>
          <p:cNvSpPr txBox="1"/>
          <p:nvPr/>
        </p:nvSpPr>
        <p:spPr>
          <a:xfrm>
            <a:off x="6752295" y="3364352"/>
            <a:ext cx="363748" cy="109637"/>
          </a:xfrm>
          <a:prstGeom prst="rect">
            <a:avLst/>
          </a:prstGeom>
          <a:noFill/>
          <a:ln/>
        </p:spPr>
        <p:txBody>
          <a:bodyPr wrap="none" lIns="0" tIns="0" rIns="0" bIns="0" rtlCol="0" anchor="t"/>
          <a:lstStyle/>
          <a:p>
            <a:pPr algn="l" indent="0" marL="0">
              <a:lnSpc>
                <a:spcPts val="863"/>
              </a:lnSpc>
              <a:buNone/>
            </a:pPr>
            <a:r>
              <a:rPr lang="en-US" sz="708" b="1" spc="105" kern="0" dirty="0">
                <a:solidFill>
                  <a:srgbClr val="14343F"/>
                </a:solidFill>
                <a:latin typeface="Calibri" pitchFamily="34" charset="0"/>
                <a:ea typeface="Calibri" pitchFamily="34" charset="-122"/>
                <a:cs typeface="Calibri" pitchFamily="34" charset="-120"/>
              </a:rPr>
              <a:t>WHITE</a:t>
            </a:r>
            <a:endParaRPr lang="en-US" sz="708" dirty="0"/>
          </a:p>
        </p:txBody>
      </p:sp>
      <p:sp>
        <p:nvSpPr>
          <p:cNvPr id="13" name="Text 11"/>
          <p:cNvSpPr txBox="1"/>
          <p:nvPr/>
        </p:nvSpPr>
        <p:spPr>
          <a:xfrm>
            <a:off x="6752295" y="3544306"/>
            <a:ext cx="1696578"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Spatially independent</a:t>
            </a:r>
            <a:endParaRPr lang="en-US" sz="1354" dirty="0"/>
          </a:p>
        </p:txBody>
      </p:sp>
      <p:sp>
        <p:nvSpPr>
          <p:cNvPr id="14" name="Text 12"/>
          <p:cNvSpPr txBox="1"/>
          <p:nvPr/>
        </p:nvSpPr>
        <p:spPr>
          <a:xfrm>
            <a:off x="6752295" y="3852184"/>
            <a:ext cx="4911791" cy="587959"/>
          </a:xfrm>
          <a:prstGeom prst="rect">
            <a:avLst/>
          </a:prstGeom>
          <a:noFill/>
          <a:ln/>
        </p:spPr>
        <p:txBody>
          <a:bodyPr wrap="square" lIns="0" tIns="0" rIns="0" bIns="0" rtlCol="0" anchor="t"/>
          <a:lstStyle/>
          <a:p>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Each pixel's noise is independent of its neighbours'. No spatial correlation, no structure. This assumption is what Noise2Void</a:t>
            </a:r>
            <a:pPr algn="l" indent="0" marL="0">
              <a:lnSpc>
                <a:spcPts val="1543"/>
              </a:lnSpc>
              <a:buNone/>
            </a:pPr>
            <a:r>
              <a:rPr kern="0" lang="en-US" sz="751" b="1" dirty="0">
                <a:solidFill>
                  <a:srgbClr val="C0451A"/>
                </a:solidFill>
                <a:latin typeface="Calibri" pitchFamily="34" charset="0"/>
                <a:ea typeface="Calibri" pitchFamily="34" charset="-122"/>
                <a:cs typeface="Calibri" pitchFamily="34" charset="-120"/>
              </a:rPr>
              <a:t>[4]</a:t>
            </a:r>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 depends on for its blind spot to work, and it is the first thing resizing destroys.</a:t>
            </a:r>
            <a:endParaRPr lang="en-US" sz="1015" dirty="0"/>
          </a:p>
        </p:txBody>
      </p:sp>
      <p:sp>
        <p:nvSpPr>
          <p:cNvPr id="15" name="Shape 13"/>
          <p:cNvSpPr/>
          <p:nvPr/>
        </p:nvSpPr>
        <p:spPr>
          <a:xfrm>
            <a:off x="1531803" y="4767224"/>
            <a:ext cx="4876678" cy="15636"/>
          </a:xfrm>
          <a:prstGeom prst="rect">
            <a:avLst/>
          </a:prstGeom>
          <a:solidFill>
            <a:srgbClr val="14343F"/>
          </a:solidFill>
          <a:ln/>
        </p:spPr>
      </p:sp>
      <p:sp>
        <p:nvSpPr>
          <p:cNvPr id="16" name="Text 14"/>
          <p:cNvSpPr txBox="1"/>
          <p:nvPr/>
        </p:nvSpPr>
        <p:spPr>
          <a:xfrm>
            <a:off x="1531803" y="4907859"/>
            <a:ext cx="546171" cy="109637"/>
          </a:xfrm>
          <a:prstGeom prst="rect">
            <a:avLst/>
          </a:prstGeom>
          <a:noFill/>
          <a:ln/>
        </p:spPr>
        <p:txBody>
          <a:bodyPr wrap="none" lIns="0" tIns="0" rIns="0" bIns="0" rtlCol="0" anchor="t"/>
          <a:lstStyle/>
          <a:p>
            <a:pPr algn="l" indent="0" marL="0">
              <a:lnSpc>
                <a:spcPts val="863"/>
              </a:lnSpc>
              <a:buNone/>
            </a:pPr>
            <a:r>
              <a:rPr lang="en-US" sz="708" b="1" spc="105" kern="0" dirty="0">
                <a:solidFill>
                  <a:srgbClr val="14343F"/>
                </a:solidFill>
                <a:latin typeface="Calibri" pitchFamily="34" charset="0"/>
                <a:ea typeface="Calibri" pitchFamily="34" charset="-122"/>
                <a:cs typeface="Calibri" pitchFamily="34" charset="-120"/>
              </a:rPr>
              <a:t>GAUSSIAN</a:t>
            </a:r>
            <a:endParaRPr lang="en-US" sz="708" dirty="0"/>
          </a:p>
        </p:txBody>
      </p:sp>
      <p:sp>
        <p:nvSpPr>
          <p:cNvPr id="17" name="Text 15"/>
          <p:cNvSpPr txBox="1"/>
          <p:nvPr/>
        </p:nvSpPr>
        <p:spPr>
          <a:xfrm>
            <a:off x="1531803" y="5087813"/>
            <a:ext cx="1648572"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Zero-mean bell curve</a:t>
            </a:r>
            <a:endParaRPr lang="en-US" sz="1354" dirty="0"/>
          </a:p>
        </p:txBody>
      </p:sp>
      <p:sp>
        <p:nvSpPr>
          <p:cNvPr id="18" name="Text 16"/>
          <p:cNvSpPr txBox="1"/>
          <p:nvPr/>
        </p:nvSpPr>
        <p:spPr>
          <a:xfrm>
            <a:off x="1531803" y="5395692"/>
            <a:ext cx="4911791" cy="599664"/>
          </a:xfrm>
          <a:prstGeom prst="rect">
            <a:avLst/>
          </a:prstGeom>
          <a:noFill/>
          <a:ln/>
        </p:spPr>
        <p:txBody>
          <a:bodyPr wrap="square" lIns="0" tIns="0" rIns="0" bIns="0" rtlCol="0" anchor="t"/>
          <a:lstStyle/>
          <a:p>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Small errors common, large errors rare, mean zero. Zero-mean is load-bearing: it is the whole of the Noise2Noise</a:t>
            </a:r>
            <a:pPr algn="l" indent="0" marL="0">
              <a:lnSpc>
                <a:spcPts val="1543"/>
              </a:lnSpc>
              <a:buNone/>
            </a:pPr>
            <a:r>
              <a:rPr kern="0" lang="en-US" sz="751" b="1" dirty="0">
                <a:solidFill>
                  <a:srgbClr val="C0451A"/>
                </a:solidFill>
                <a:latin typeface="Calibri" pitchFamily="34" charset="0"/>
                <a:ea typeface="Calibri" pitchFamily="34" charset="-122"/>
                <a:cs typeface="Calibri" pitchFamily="34" charset="-120"/>
              </a:rPr>
              <a:t>[3]</a:t>
            </a:r>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 argument. Gaussianity is what makes batch normalisation and residual learning benefit each other in DnCNN.</a:t>
            </a:r>
            <a:pPr algn="l" indent="0" marL="0">
              <a:lnSpc>
                <a:spcPts val="1543"/>
              </a:lnSpc>
              <a:buNone/>
            </a:pPr>
            <a:r>
              <a:rPr kern="0" lang="en-US" sz="751" b="1" dirty="0">
                <a:solidFill>
                  <a:srgbClr val="C0451A"/>
                </a:solidFill>
                <a:latin typeface="Calibri" pitchFamily="34" charset="0"/>
                <a:ea typeface="Calibri" pitchFamily="34" charset="-122"/>
                <a:cs typeface="Calibri" pitchFamily="34" charset="-120"/>
              </a:rPr>
              <a:t>[1]</a:t>
            </a:r>
            <a:endParaRPr lang="en-US" sz="1015" dirty="0"/>
          </a:p>
        </p:txBody>
      </p:sp>
      <p:sp>
        <p:nvSpPr>
          <p:cNvPr id="19" name="Shape 17"/>
          <p:cNvSpPr/>
          <p:nvPr/>
        </p:nvSpPr>
        <p:spPr>
          <a:xfrm>
            <a:off x="6752295" y="4767224"/>
            <a:ext cx="4876678" cy="15636"/>
          </a:xfrm>
          <a:prstGeom prst="rect">
            <a:avLst/>
          </a:prstGeom>
          <a:solidFill>
            <a:srgbClr val="14343F"/>
          </a:solidFill>
          <a:ln/>
        </p:spPr>
      </p:sp>
      <p:sp>
        <p:nvSpPr>
          <p:cNvPr id="20" name="Text 18"/>
          <p:cNvSpPr txBox="1"/>
          <p:nvPr/>
        </p:nvSpPr>
        <p:spPr>
          <a:xfrm>
            <a:off x="6752295" y="4907859"/>
            <a:ext cx="102413" cy="109637"/>
          </a:xfrm>
          <a:prstGeom prst="rect">
            <a:avLst/>
          </a:prstGeom>
          <a:noFill/>
          <a:ln/>
        </p:spPr>
        <p:txBody>
          <a:bodyPr wrap="none" lIns="0" tIns="0" rIns="0" bIns="0" rtlCol="0" anchor="t"/>
          <a:lstStyle/>
          <a:p>
            <a:pPr algn="l" indent="0" marL="0">
              <a:lnSpc>
                <a:spcPts val="863"/>
              </a:lnSpc>
              <a:buNone/>
            </a:pPr>
            <a:r>
              <a:rPr lang="en-US" sz="708" b="1" spc="105" kern="0" dirty="0">
                <a:solidFill>
                  <a:srgbClr val="14343F"/>
                </a:solidFill>
                <a:latin typeface="Calibri" pitchFamily="34" charset="0"/>
                <a:ea typeface="Calibri" pitchFamily="34" charset="-122"/>
                <a:cs typeface="Calibri" pitchFamily="34" charset="-120"/>
              </a:rPr>
              <a:t>Σ</a:t>
            </a:r>
            <a:endParaRPr lang="en-US" sz="708" dirty="0"/>
          </a:p>
        </p:txBody>
      </p:sp>
      <p:sp>
        <p:nvSpPr>
          <p:cNvPr id="21" name="Text 19"/>
          <p:cNvSpPr txBox="1"/>
          <p:nvPr/>
        </p:nvSpPr>
        <p:spPr>
          <a:xfrm>
            <a:off x="6752295" y="5087813"/>
            <a:ext cx="1153150"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The noise level</a:t>
            </a:r>
            <a:endParaRPr lang="en-US" sz="1354" dirty="0"/>
          </a:p>
        </p:txBody>
      </p:sp>
      <p:sp>
        <p:nvSpPr>
          <p:cNvPr id="22" name="Text 20"/>
          <p:cNvSpPr txBox="1"/>
          <p:nvPr/>
        </p:nvSpPr>
        <p:spPr>
          <a:xfrm>
            <a:off x="6752295" y="5395692"/>
            <a:ext cx="4911791" cy="587959"/>
          </a:xfrm>
          <a:prstGeom prst="rect">
            <a:avLst/>
          </a:prstGeom>
          <a:noFill/>
          <a:ln/>
        </p:spPr>
        <p:txBody>
          <a:bodyPr wrap="square" lIns="0" tIns="0" rIns="0" bIns="0" rtlCol="0" anchor="t"/>
          <a:lstStyle/>
          <a:p>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The width of the bell. Benchmarks report σ ∈ {15, 25, 50} on 8-bit images. DnCNN-B</a:t>
            </a:r>
            <a:pPr algn="l" indent="0" marL="0">
              <a:lnSpc>
                <a:spcPts val="1543"/>
              </a:lnSpc>
              <a:buNone/>
            </a:pPr>
            <a:r>
              <a:rPr kern="0" lang="en-US" sz="751" b="1" dirty="0">
                <a:solidFill>
                  <a:srgbClr val="C0451A"/>
                </a:solidFill>
                <a:latin typeface="Calibri" pitchFamily="34" charset="0"/>
                <a:ea typeface="Calibri" pitchFamily="34" charset="-122"/>
                <a:cs typeface="Calibri" pitchFamily="34" charset="-120"/>
              </a:rPr>
              <a:t>[1]</a:t>
            </a:r>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 trains blind across σ ∈ [0, 55]; SCUNet</a:t>
            </a:r>
            <a:pPr algn="l" indent="0" marL="0">
              <a:lnSpc>
                <a:spcPts val="1543"/>
              </a:lnSpc>
              <a:buNone/>
            </a:pPr>
            <a:r>
              <a:rPr kern="0" lang="en-US" sz="751" b="1" dirty="0">
                <a:solidFill>
                  <a:srgbClr val="C0451A"/>
                </a:solidFill>
                <a:latin typeface="Calibri" pitchFamily="34" charset="0"/>
                <a:ea typeface="Calibri" pitchFamily="34" charset="-122"/>
                <a:cs typeface="Calibri" pitchFamily="34" charset="-120"/>
              </a:rPr>
              <a:t>[2]</a:t>
            </a:r>
            <a:pPr algn="l" indent="0" marL="0">
              <a:lnSpc>
                <a:spcPts val="1543"/>
              </a:lnSpc>
              <a:buNone/>
            </a:pPr>
            <a:r>
              <a:rPr kern="0" lang="en-US" sz="1015" dirty="0">
                <a:solidFill>
                  <a:srgbClr val="33302B"/>
                </a:solidFill>
                <a:latin typeface="Calibri" pitchFamily="34" charset="0"/>
                <a:ea typeface="Calibri" pitchFamily="34" charset="-122"/>
                <a:cs typeface="Calibri" pitchFamily="34" charset="-120"/>
              </a:rPr>
              <a:t> samples σ from {2/255 … 50/255}. σ = 15 is mild grain, σ = 50 is severe.</a:t>
            </a:r>
            <a:endParaRPr lang="en-US" sz="1015" dirty="0"/>
          </a:p>
        </p:txBody>
      </p:sp>
      <p:sp>
        <p:nvSpPr>
          <p:cNvPr id="23" name="Text 21"/>
          <p:cNvSpPr txBox="1"/>
          <p:nvPr/>
        </p:nvSpPr>
        <p:spPr>
          <a:xfrm>
            <a:off x="8428573" y="6248827"/>
            <a:ext cx="3200491"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DnCNN17 §I, §III-D 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SCUNet23 §3.2 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[3]</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N2N18 §2 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[4]</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N2V19 §3.1</a:t>
            </a:r>
            <a:endParaRPr lang="en-US" sz="592" dirty="0"/>
          </a:p>
        </p:txBody>
      </p:sp>
      <p:sp>
        <p:nvSpPr>
          <p:cNvPr id="24" name="Shape 22"/>
          <p:cNvSpPr/>
          <p:nvPr/>
        </p:nvSpPr>
        <p:spPr>
          <a:xfrm>
            <a:off x="1531803" y="6537411"/>
            <a:ext cx="10097262" cy="7772"/>
          </a:xfrm>
          <a:prstGeom prst="rect">
            <a:avLst/>
          </a:prstGeom>
          <a:solidFill>
            <a:srgbClr val="C9C4B9"/>
          </a:solidFill>
          <a:ln/>
        </p:spPr>
      </p:sp>
      <p:sp>
        <p:nvSpPr>
          <p:cNvPr id="25" name="Shape 23"/>
          <p:cNvSpPr/>
          <p:nvPr/>
        </p:nvSpPr>
        <p:spPr>
          <a:xfrm>
            <a:off x="1531803" y="6498366"/>
            <a:ext cx="7772" cy="39045"/>
          </a:xfrm>
          <a:prstGeom prst="rect">
            <a:avLst/>
          </a:prstGeom>
          <a:solidFill>
            <a:srgbClr val="C9C4B9"/>
          </a:solidFill>
          <a:ln/>
        </p:spPr>
      </p:sp>
      <p:sp>
        <p:nvSpPr>
          <p:cNvPr id="26" name="Text 24"/>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7" name="Shape 25"/>
          <p:cNvSpPr/>
          <p:nvPr/>
        </p:nvSpPr>
        <p:spPr>
          <a:xfrm>
            <a:off x="5458511" y="6498366"/>
            <a:ext cx="7772" cy="39045"/>
          </a:xfrm>
          <a:prstGeom prst="rect">
            <a:avLst/>
          </a:prstGeom>
          <a:solidFill>
            <a:srgbClr val="C9C4B9"/>
          </a:solidFill>
          <a:ln/>
        </p:spPr>
      </p:sp>
      <p:sp>
        <p:nvSpPr>
          <p:cNvPr id="28" name="Text 26"/>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29" name="Shape 27"/>
          <p:cNvSpPr/>
          <p:nvPr/>
        </p:nvSpPr>
        <p:spPr>
          <a:xfrm>
            <a:off x="7141738" y="6498366"/>
            <a:ext cx="7772" cy="39045"/>
          </a:xfrm>
          <a:prstGeom prst="rect">
            <a:avLst/>
          </a:prstGeom>
          <a:solidFill>
            <a:srgbClr val="C9C4B9"/>
          </a:solidFill>
          <a:ln/>
        </p:spPr>
      </p:sp>
      <p:sp>
        <p:nvSpPr>
          <p:cNvPr id="30" name="Text 28"/>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1" name="Shape 29"/>
          <p:cNvSpPr/>
          <p:nvPr/>
        </p:nvSpPr>
        <p:spPr>
          <a:xfrm>
            <a:off x="9945654" y="6498366"/>
            <a:ext cx="7772" cy="39045"/>
          </a:xfrm>
          <a:prstGeom prst="rect">
            <a:avLst/>
          </a:prstGeom>
          <a:solidFill>
            <a:srgbClr val="C9C4B9"/>
          </a:solidFill>
          <a:ln/>
        </p:spPr>
      </p:sp>
      <p:sp>
        <p:nvSpPr>
          <p:cNvPr id="32" name="Text 30"/>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3" name="Shape 31"/>
          <p:cNvSpPr/>
          <p:nvPr/>
        </p:nvSpPr>
        <p:spPr>
          <a:xfrm>
            <a:off x="11628973" y="6498366"/>
            <a:ext cx="7772" cy="39045"/>
          </a:xfrm>
          <a:prstGeom prst="rect">
            <a:avLst/>
          </a:prstGeom>
          <a:solidFill>
            <a:srgbClr val="C9C4B9"/>
          </a:solidFill>
          <a:ln/>
        </p:spPr>
      </p:sp>
      <p:sp>
        <p:nvSpPr>
          <p:cNvPr id="34" name="Text 32"/>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33608"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08</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047171"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WHY IT IS HARD</a:t>
            </a:r>
            <a:endParaRPr lang="en-US" sz="888" dirty="0"/>
          </a:p>
        </p:txBody>
      </p:sp>
      <p:sp>
        <p:nvSpPr>
          <p:cNvPr id="5" name="Text 3"/>
          <p:cNvSpPr txBox="1"/>
          <p:nvPr/>
        </p:nvSpPr>
        <p:spPr>
          <a:xfrm>
            <a:off x="1636685" y="690281"/>
            <a:ext cx="10010303" cy="829635"/>
          </a:xfrm>
          <a:prstGeom prst="rect">
            <a:avLst/>
          </a:prstGeom>
          <a:noFill/>
          <a:ln/>
        </p:spPr>
        <p:txBody>
          <a:bodyPr wrap="squar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The problem is ill-posed — and no amount of compute fixes that</a:t>
            </a:r>
            <a:endParaRPr lang="en-US" sz="3025" dirty="0"/>
          </a:p>
        </p:txBody>
      </p:sp>
      <p:sp>
        <p:nvSpPr>
          <p:cNvPr id="6" name="Text 4"/>
          <p:cNvSpPr txBox="1"/>
          <p:nvPr/>
        </p:nvSpPr>
        <p:spPr>
          <a:xfrm>
            <a:off x="1636685" y="1656253"/>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Given y, infinitely many pairs (x, v) satisfy y = x + v. Arithmetic alone cannot choose between them. Every denoiser ever written is a rule for choosing, and the quality of a denoiser is the quality of its choosing rule.</a:t>
            </a:r>
            <a:endParaRPr lang="en-US" sz="1315" dirty="0"/>
          </a:p>
        </p:txBody>
      </p:sp>
      <p:sp>
        <p:nvSpPr>
          <p:cNvPr id="7" name="Shape 5"/>
          <p:cNvSpPr/>
          <p:nvPr/>
        </p:nvSpPr>
        <p:spPr>
          <a:xfrm>
            <a:off x="6613581" y="2641610"/>
            <a:ext cx="8321" cy="3095518"/>
          </a:xfrm>
          <a:prstGeom prst="rect">
            <a:avLst/>
          </a:prstGeom>
          <a:solidFill>
            <a:srgbClr val="DFDBD2"/>
          </a:solidFill>
          <a:ln/>
        </p:spPr>
      </p:sp>
      <p:sp>
        <p:nvSpPr>
          <p:cNvPr id="8" name="Shape 6"/>
          <p:cNvSpPr/>
          <p:nvPr/>
        </p:nvSpPr>
        <p:spPr>
          <a:xfrm>
            <a:off x="1636685" y="2641610"/>
            <a:ext cx="4793193" cy="16734"/>
          </a:xfrm>
          <a:prstGeom prst="rect">
            <a:avLst/>
          </a:prstGeom>
          <a:solidFill>
            <a:srgbClr val="14343F"/>
          </a:solidFill>
          <a:ln/>
        </p:spPr>
      </p:sp>
      <p:sp>
        <p:nvSpPr>
          <p:cNvPr id="9" name="Text 7"/>
          <p:cNvSpPr txBox="1"/>
          <p:nvPr/>
        </p:nvSpPr>
        <p:spPr>
          <a:xfrm>
            <a:off x="1636685" y="2783708"/>
            <a:ext cx="2637770"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The impossibility, stated plainly</a:t>
            </a:r>
            <a:endParaRPr lang="en-US" sz="1447" dirty="0"/>
          </a:p>
        </p:txBody>
      </p:sp>
      <p:sp>
        <p:nvSpPr>
          <p:cNvPr id="10" name="Shape 8"/>
          <p:cNvSpPr/>
          <p:nvPr/>
        </p:nvSpPr>
        <p:spPr>
          <a:xfrm>
            <a:off x="1636685" y="3184032"/>
            <a:ext cx="66843" cy="41788"/>
          </a:xfrm>
          <a:prstGeom prst="rect">
            <a:avLst/>
          </a:prstGeom>
          <a:solidFill>
            <a:srgbClr val="14343F"/>
          </a:solidFill>
          <a:ln/>
        </p:spPr>
      </p:sp>
      <p:sp>
        <p:nvSpPr>
          <p:cNvPr id="11" name="Text 9"/>
          <p:cNvSpPr txBox="1"/>
          <p:nvPr/>
        </p:nvSpPr>
        <p:spPr>
          <a:xfrm>
            <a:off x="1803745" y="3114081"/>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If I tell you two numbers sum to 10, you cannot recover them. 5+5, 3+7, 9.7+0.3 are all valid.</a:t>
            </a:r>
            <a:endParaRPr lang="en-US" sz="1216" dirty="0"/>
          </a:p>
        </p:txBody>
      </p:sp>
      <p:sp>
        <p:nvSpPr>
          <p:cNvPr id="12" name="Shape 10"/>
          <p:cNvSpPr/>
          <p:nvPr/>
        </p:nvSpPr>
        <p:spPr>
          <a:xfrm>
            <a:off x="1636685" y="3781044"/>
            <a:ext cx="66843" cy="41788"/>
          </a:xfrm>
          <a:prstGeom prst="rect">
            <a:avLst/>
          </a:prstGeom>
          <a:solidFill>
            <a:srgbClr val="14343F"/>
          </a:solidFill>
          <a:ln/>
        </p:spPr>
      </p:sp>
      <p:sp>
        <p:nvSpPr>
          <p:cNvPr id="13" name="Text 11"/>
          <p:cNvSpPr txBox="1"/>
          <p:nvPr/>
        </p:nvSpPr>
        <p:spPr>
          <a:xfrm>
            <a:off x="1803745" y="3711092"/>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 denoiser faces exactly that, once per pixel, with the extra constraint that the answers must be jointly plausible as a photograph.</a:t>
            </a:r>
            <a:endParaRPr lang="en-US" sz="1216" dirty="0"/>
          </a:p>
        </p:txBody>
      </p:sp>
      <p:sp>
        <p:nvSpPr>
          <p:cNvPr id="14" name="Shape 12"/>
          <p:cNvSpPr/>
          <p:nvPr/>
        </p:nvSpPr>
        <p:spPr>
          <a:xfrm>
            <a:off x="1636685" y="4378147"/>
            <a:ext cx="66843" cy="41788"/>
          </a:xfrm>
          <a:prstGeom prst="rect">
            <a:avLst/>
          </a:prstGeom>
          <a:solidFill>
            <a:srgbClr val="14343F"/>
          </a:solidFill>
          <a:ln/>
        </p:spPr>
      </p:sp>
      <p:sp>
        <p:nvSpPr>
          <p:cNvPr id="15" name="Text 13"/>
          <p:cNvSpPr txBox="1"/>
          <p:nvPr/>
        </p:nvSpPr>
        <p:spPr>
          <a:xfrm>
            <a:off x="1803745" y="4308196"/>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So the algorithm must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add information that is not in the measurement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That added information is called the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prior</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16" name="Shape 14"/>
          <p:cNvSpPr/>
          <p:nvPr/>
        </p:nvSpPr>
        <p:spPr>
          <a:xfrm>
            <a:off x="1636685" y="4975159"/>
            <a:ext cx="66843" cy="41788"/>
          </a:xfrm>
          <a:prstGeom prst="rect">
            <a:avLst/>
          </a:prstGeom>
          <a:solidFill>
            <a:srgbClr val="14343F"/>
          </a:solidFill>
          <a:ln/>
        </p:spPr>
      </p:sp>
      <p:sp>
        <p:nvSpPr>
          <p:cNvPr id="17" name="Text 15"/>
          <p:cNvSpPr txBox="1"/>
          <p:nvPr/>
        </p:nvSpPr>
        <p:spPr>
          <a:xfrm>
            <a:off x="1803745" y="4905207"/>
            <a:ext cx="4661337" cy="6952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There is no such thing as a prior-free denoiser. A method that claims not to have one has merely hidden it — in an architecture, in a training set, or in a stopping criterion.</a:t>
            </a:r>
            <a:endParaRPr lang="en-US" sz="1216" dirty="0"/>
          </a:p>
        </p:txBody>
      </p:sp>
      <p:sp>
        <p:nvSpPr>
          <p:cNvPr id="18" name="Shape 16"/>
          <p:cNvSpPr/>
          <p:nvPr/>
        </p:nvSpPr>
        <p:spPr>
          <a:xfrm>
            <a:off x="6797284" y="2641610"/>
            <a:ext cx="4793193" cy="16734"/>
          </a:xfrm>
          <a:prstGeom prst="rect">
            <a:avLst/>
          </a:prstGeom>
          <a:solidFill>
            <a:srgbClr val="14343F"/>
          </a:solidFill>
          <a:ln/>
        </p:spPr>
      </p:sp>
      <p:sp>
        <p:nvSpPr>
          <p:cNvPr id="19" name="Text 17"/>
          <p:cNvSpPr txBox="1"/>
          <p:nvPr/>
        </p:nvSpPr>
        <p:spPr>
          <a:xfrm>
            <a:off x="6797284" y="2783708"/>
            <a:ext cx="2791023"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Why the field is a history of priors</a:t>
            </a:r>
            <a:endParaRPr lang="en-US" sz="1447" dirty="0"/>
          </a:p>
        </p:txBody>
      </p:sp>
      <p:sp>
        <p:nvSpPr>
          <p:cNvPr id="20" name="Shape 18"/>
          <p:cNvSpPr/>
          <p:nvPr/>
        </p:nvSpPr>
        <p:spPr>
          <a:xfrm>
            <a:off x="6797284" y="3184032"/>
            <a:ext cx="66843" cy="41788"/>
          </a:xfrm>
          <a:prstGeom prst="rect">
            <a:avLst/>
          </a:prstGeom>
          <a:solidFill>
            <a:srgbClr val="14343F"/>
          </a:solidFill>
          <a:ln/>
        </p:spPr>
      </p:sp>
      <p:sp>
        <p:nvSpPr>
          <p:cNvPr id="21" name="Text 19"/>
          <p:cNvSpPr txBox="1"/>
          <p:nvPr/>
        </p:nvSpPr>
        <p:spPr>
          <a:xfrm>
            <a:off x="6964253" y="3114081"/>
            <a:ext cx="4371838" cy="231709"/>
          </a:xfrm>
          <a:prstGeom prst="rect">
            <a:avLst/>
          </a:prstGeom>
          <a:noFill/>
          <a:ln/>
        </p:spPr>
        <p:txBody>
          <a:bodyPr wrap="non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Classical era: the prior is a formula a human wrote. You can read it.</a:t>
            </a:r>
            <a:endParaRPr lang="en-US" sz="1216" dirty="0"/>
          </a:p>
        </p:txBody>
      </p:sp>
      <p:sp>
        <p:nvSpPr>
          <p:cNvPr id="22" name="Shape 20"/>
          <p:cNvSpPr/>
          <p:nvPr/>
        </p:nvSpPr>
        <p:spPr>
          <a:xfrm>
            <a:off x="6797284" y="3549335"/>
            <a:ext cx="66843" cy="41788"/>
          </a:xfrm>
          <a:prstGeom prst="rect">
            <a:avLst/>
          </a:prstGeom>
          <a:solidFill>
            <a:srgbClr val="14343F"/>
          </a:solidFill>
          <a:ln/>
        </p:spPr>
      </p:sp>
      <p:sp>
        <p:nvSpPr>
          <p:cNvPr id="23" name="Text 21"/>
          <p:cNvSpPr txBox="1"/>
          <p:nvPr/>
        </p:nvSpPr>
        <p:spPr>
          <a:xfrm>
            <a:off x="6964253" y="3479383"/>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Deep era: the prior is a tensor of weights induced from data. You cannot read it, but you can download it.</a:t>
            </a:r>
            <a:endParaRPr lang="en-US" sz="1216" dirty="0"/>
          </a:p>
        </p:txBody>
      </p:sp>
      <p:sp>
        <p:nvSpPr>
          <p:cNvPr id="24" name="Shape 22"/>
          <p:cNvSpPr/>
          <p:nvPr/>
        </p:nvSpPr>
        <p:spPr>
          <a:xfrm>
            <a:off x="6797284" y="4146438"/>
            <a:ext cx="66843" cy="41788"/>
          </a:xfrm>
          <a:prstGeom prst="rect">
            <a:avLst/>
          </a:prstGeom>
          <a:solidFill>
            <a:srgbClr val="14343F"/>
          </a:solidFill>
          <a:ln/>
        </p:spPr>
      </p:sp>
      <p:sp>
        <p:nvSpPr>
          <p:cNvPr id="25" name="Text 23"/>
          <p:cNvSpPr txBox="1"/>
          <p:nvPr/>
        </p:nvSpPr>
        <p:spPr>
          <a:xfrm>
            <a:off x="6964253" y="4076487"/>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Self-supervised era: the prior is partly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the test image itself</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exploited through its own internal statistics.</a:t>
            </a:r>
            <a:endParaRPr lang="en-US" sz="1216" dirty="0"/>
          </a:p>
        </p:txBody>
      </p:sp>
      <p:sp>
        <p:nvSpPr>
          <p:cNvPr id="26" name="Shape 24"/>
          <p:cNvSpPr/>
          <p:nvPr/>
        </p:nvSpPr>
        <p:spPr>
          <a:xfrm>
            <a:off x="6797284" y="4743450"/>
            <a:ext cx="66843" cy="41788"/>
          </a:xfrm>
          <a:prstGeom prst="rect">
            <a:avLst/>
          </a:prstGeom>
          <a:solidFill>
            <a:srgbClr val="14343F"/>
          </a:solidFill>
          <a:ln/>
        </p:spPr>
      </p:sp>
      <p:sp>
        <p:nvSpPr>
          <p:cNvPr id="27" name="Text 25"/>
          <p:cNvSpPr txBox="1"/>
          <p:nvPr/>
        </p:nvSpPr>
        <p:spPr>
          <a:xfrm>
            <a:off x="6964253" y="4673498"/>
            <a:ext cx="4661337" cy="463418"/>
          </a:xfrm>
          <a:prstGeom prst="rect">
            <a:avLst/>
          </a:prstGeom>
          <a:noFill/>
          <a:ln/>
        </p:spPr>
        <p:txBody>
          <a:bodyPr wrap="squar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This deck's organising question, and the question Stage 2 asked of every repository: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open the source file — where is the prior?</a:t>
            </a:r>
            <a:endParaRPr lang="en-US" sz="1216" dirty="0"/>
          </a:p>
        </p:txBody>
      </p:sp>
      <p:sp>
        <p:nvSpPr>
          <p:cNvPr id="28" name="Text 26"/>
          <p:cNvSpPr txBox="1"/>
          <p:nvPr/>
        </p:nvSpPr>
        <p:spPr>
          <a:xfrm>
            <a:off x="8277423" y="6194511"/>
            <a:ext cx="3312963"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reading, following DnCNN17 §I on prior-based vs discriminative methods</a:t>
            </a:r>
            <a:endParaRPr lang="en-US" sz="855" dirty="0"/>
          </a:p>
        </p:txBody>
      </p:sp>
      <p:sp>
        <p:nvSpPr>
          <p:cNvPr id="29" name="Shape 27"/>
          <p:cNvSpPr/>
          <p:nvPr/>
        </p:nvSpPr>
        <p:spPr>
          <a:xfrm>
            <a:off x="1636685" y="6515466"/>
            <a:ext cx="9953793" cy="8321"/>
          </a:xfrm>
          <a:prstGeom prst="rect">
            <a:avLst/>
          </a:prstGeom>
          <a:solidFill>
            <a:srgbClr val="C9C4B9"/>
          </a:solidFill>
          <a:ln/>
        </p:spPr>
      </p:sp>
      <p:sp>
        <p:nvSpPr>
          <p:cNvPr id="30" name="Shape 28"/>
          <p:cNvSpPr/>
          <p:nvPr/>
        </p:nvSpPr>
        <p:spPr>
          <a:xfrm>
            <a:off x="1636685" y="6473678"/>
            <a:ext cx="8321" cy="41788"/>
          </a:xfrm>
          <a:prstGeom prst="rect">
            <a:avLst/>
          </a:prstGeom>
          <a:solidFill>
            <a:srgbClr val="C9C4B9"/>
          </a:solidFill>
          <a:ln/>
        </p:spPr>
      </p:sp>
      <p:sp>
        <p:nvSpPr>
          <p:cNvPr id="31" name="Text 29"/>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32" name="Shape 30"/>
          <p:cNvSpPr/>
          <p:nvPr/>
        </p:nvSpPr>
        <p:spPr>
          <a:xfrm>
            <a:off x="5507706" y="6473678"/>
            <a:ext cx="8321" cy="41788"/>
          </a:xfrm>
          <a:prstGeom prst="rect">
            <a:avLst/>
          </a:prstGeom>
          <a:solidFill>
            <a:srgbClr val="C9C4B9"/>
          </a:solidFill>
          <a:ln/>
        </p:spPr>
      </p:sp>
      <p:sp>
        <p:nvSpPr>
          <p:cNvPr id="33" name="Text 31"/>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4" name="Shape 32"/>
          <p:cNvSpPr/>
          <p:nvPr/>
        </p:nvSpPr>
        <p:spPr>
          <a:xfrm>
            <a:off x="7166884" y="6473678"/>
            <a:ext cx="8321" cy="41788"/>
          </a:xfrm>
          <a:prstGeom prst="rect">
            <a:avLst/>
          </a:prstGeom>
          <a:solidFill>
            <a:srgbClr val="C9C4B9"/>
          </a:solidFill>
          <a:ln/>
        </p:spPr>
      </p:sp>
      <p:sp>
        <p:nvSpPr>
          <p:cNvPr id="35" name="Text 33"/>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6" name="Shape 34"/>
          <p:cNvSpPr/>
          <p:nvPr/>
        </p:nvSpPr>
        <p:spPr>
          <a:xfrm>
            <a:off x="9931024" y="6473678"/>
            <a:ext cx="8321" cy="41788"/>
          </a:xfrm>
          <a:prstGeom prst="rect">
            <a:avLst/>
          </a:prstGeom>
          <a:solidFill>
            <a:srgbClr val="C9C4B9"/>
          </a:solidFill>
          <a:ln/>
        </p:spPr>
      </p:sp>
      <p:sp>
        <p:nvSpPr>
          <p:cNvPr id="37" name="Text 35"/>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8" name="Shape 36"/>
          <p:cNvSpPr/>
          <p:nvPr/>
        </p:nvSpPr>
        <p:spPr>
          <a:xfrm>
            <a:off x="11590477" y="6473678"/>
            <a:ext cx="8321" cy="41788"/>
          </a:xfrm>
          <a:prstGeom prst="rect">
            <a:avLst/>
          </a:prstGeom>
          <a:solidFill>
            <a:srgbClr val="C9C4B9"/>
          </a:solidFill>
          <a:ln/>
        </p:spPr>
      </p:sp>
      <p:sp>
        <p:nvSpPr>
          <p:cNvPr id="39" name="Text 37"/>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74264"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09</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1715232"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THE CLASSICAL FORMULATION</a:t>
            </a:r>
            <a:endParaRPr lang="en-US" sz="781" dirty="0"/>
          </a:p>
        </p:txBody>
      </p:sp>
      <p:sp>
        <p:nvSpPr>
          <p:cNvPr id="5" name="Text 3"/>
          <p:cNvSpPr txBox="1"/>
          <p:nvPr/>
        </p:nvSpPr>
        <p:spPr>
          <a:xfrm>
            <a:off x="1439540" y="607070"/>
            <a:ext cx="7113300"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From Bayes to the objective everyone optimises</a:t>
            </a:r>
            <a:endParaRPr lang="en-US" sz="2660" dirty="0"/>
          </a:p>
        </p:txBody>
      </p:sp>
      <p:sp>
        <p:nvSpPr>
          <p:cNvPr id="6" name="Text 4"/>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classical era's answer to ill-posedness is Maximum a Posteriori estimation. The derivation is three lines, and it produces the exact two-term objective that BM3D, WNNM, TV and TNRD all instantiate differently.</a:t>
            </a:r>
            <a:endParaRPr lang="en-US" sz="1157" dirty="0"/>
          </a:p>
        </p:txBody>
      </p:sp>
      <p:sp>
        <p:nvSpPr>
          <p:cNvPr id="7" name="Shape 5"/>
          <p:cNvSpPr/>
          <p:nvPr/>
        </p:nvSpPr>
        <p:spPr>
          <a:xfrm>
            <a:off x="1439540" y="1958553"/>
            <a:ext cx="10223358" cy="981517"/>
          </a:xfrm>
          <a:prstGeom prst="rect">
            <a:avLst/>
          </a:prstGeom>
          <a:solidFill>
            <a:srgbClr val="EAEBE9"/>
          </a:solidFill>
          <a:ln/>
        </p:spPr>
      </p:sp>
      <p:sp>
        <p:nvSpPr>
          <p:cNvPr id="8" name="Shape 6"/>
          <p:cNvSpPr/>
          <p:nvPr/>
        </p:nvSpPr>
        <p:spPr>
          <a:xfrm>
            <a:off x="1439540" y="1958553"/>
            <a:ext cx="29352" cy="981517"/>
          </a:xfrm>
          <a:prstGeom prst="rect">
            <a:avLst/>
          </a:prstGeom>
          <a:solidFill>
            <a:srgbClr val="14343F"/>
          </a:solidFill>
          <a:ln/>
        </p:spPr>
      </p:sp>
      <p:pic>
        <p:nvPicPr>
          <p:cNvPr id="9" name="Image 0" descr="\hat{x} \;=\; \arg\max_{x}\, p(x \mid y) \;=\; \arg\max_{x}\, p(y \mid x)\, p(x)">    </p:cNvPr>
          <p:cNvPicPr>
            <a:picLocks noChangeAspect="1"/>
          </p:cNvPicPr>
          <p:nvPr/>
        </p:nvPicPr>
        <p:blipFill>
          <a:blip r:embed="rId1"/>
          <a:stretch>
            <a:fillRect/>
          </a:stretch>
        </p:blipFill>
        <p:spPr>
          <a:xfrm>
            <a:off x="1645188" y="2083369"/>
            <a:ext cx="6147968" cy="495422"/>
          </a:xfrm>
          <a:prstGeom prst="rect">
            <a:avLst/>
          </a:prstGeom>
        </p:spPr>
      </p:pic>
      <p:sp>
        <p:nvSpPr>
          <p:cNvPr id="10" name="Text 7"/>
          <p:cNvSpPr txBox="1"/>
          <p:nvPr/>
        </p:nvSpPr>
        <p:spPr>
          <a:xfrm>
            <a:off x="1645188" y="2658892"/>
            <a:ext cx="2760756"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Bayes' rule. The posterior is the likelihood times the prior.</a:t>
            </a:r>
            <a:pPr algn="l" indent="0" marL="0">
              <a:lnSpc>
                <a:spcPts val="1284"/>
              </a:lnSpc>
              <a:buNone/>
            </a:pPr>
            <a:r>
              <a:rPr kern="0" lang="en-US" sz="642" b="1" dirty="0">
                <a:solidFill>
                  <a:srgbClr val="C0451A"/>
                </a:solidFill>
                <a:latin typeface="Calibri" pitchFamily="34" charset="0"/>
                <a:ea typeface="Calibri" pitchFamily="34" charset="-122"/>
                <a:cs typeface="Calibri" pitchFamily="34" charset="-120"/>
              </a:rPr>
              <a:t>[1]</a:t>
            </a:r>
            <a:endParaRPr lang="en-US" sz="867" dirty="0"/>
          </a:p>
        </p:txBody>
      </p:sp>
      <p:sp>
        <p:nvSpPr>
          <p:cNvPr id="11" name="Shape 8"/>
          <p:cNvSpPr/>
          <p:nvPr/>
        </p:nvSpPr>
        <p:spPr>
          <a:xfrm>
            <a:off x="1439540" y="3050256"/>
            <a:ext cx="10223358" cy="1018733"/>
          </a:xfrm>
          <a:prstGeom prst="rect">
            <a:avLst/>
          </a:prstGeom>
          <a:solidFill>
            <a:srgbClr val="EAEBE9"/>
          </a:solidFill>
          <a:ln/>
        </p:spPr>
      </p:sp>
      <p:sp>
        <p:nvSpPr>
          <p:cNvPr id="12" name="Shape 9"/>
          <p:cNvSpPr/>
          <p:nvPr/>
        </p:nvSpPr>
        <p:spPr>
          <a:xfrm>
            <a:off x="1439540" y="3050256"/>
            <a:ext cx="29352" cy="1018733"/>
          </a:xfrm>
          <a:prstGeom prst="rect">
            <a:avLst/>
          </a:prstGeom>
          <a:solidFill>
            <a:srgbClr val="14343F"/>
          </a:solidFill>
          <a:ln/>
        </p:spPr>
      </p:sp>
      <p:pic>
        <p:nvPicPr>
          <p:cNvPr id="13" name="Image 1" descr="\hat{x} \;=\; \arg\min_{x}\, \big[\, -\log p(y \mid x) \;-\; \log p(x) \,\big]">    </p:cNvPr>
          <p:cNvPicPr>
            <a:picLocks noChangeAspect="1"/>
          </p:cNvPicPr>
          <p:nvPr/>
        </p:nvPicPr>
        <p:blipFill>
          <a:blip r:embed="rId2"/>
          <a:stretch>
            <a:fillRect/>
          </a:stretch>
        </p:blipFill>
        <p:spPr>
          <a:xfrm>
            <a:off x="1645188" y="3175071"/>
            <a:ext cx="5519410" cy="532547"/>
          </a:xfrm>
          <a:prstGeom prst="rect">
            <a:avLst/>
          </a:prstGeom>
        </p:spPr>
      </p:pic>
      <p:sp>
        <p:nvSpPr>
          <p:cNvPr id="14" name="Text 10"/>
          <p:cNvSpPr txBox="1"/>
          <p:nvPr/>
        </p:nvSpPr>
        <p:spPr>
          <a:xfrm>
            <a:off x="1645188" y="3780404"/>
            <a:ext cx="3538728"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Take negative logarithms: maximising a product becomes minimising a sum.</a:t>
            </a:r>
            <a:endParaRPr lang="en-US" sz="867" dirty="0"/>
          </a:p>
        </p:txBody>
      </p:sp>
      <p:sp>
        <p:nvSpPr>
          <p:cNvPr id="15" name="Shape 11"/>
          <p:cNvSpPr/>
          <p:nvPr/>
        </p:nvSpPr>
        <p:spPr>
          <a:xfrm>
            <a:off x="1439540" y="4179082"/>
            <a:ext cx="10223358" cy="1009498"/>
          </a:xfrm>
          <a:prstGeom prst="rect">
            <a:avLst/>
          </a:prstGeom>
          <a:solidFill>
            <a:srgbClr val="EAEBE9"/>
          </a:solidFill>
          <a:ln/>
        </p:spPr>
      </p:sp>
      <p:sp>
        <p:nvSpPr>
          <p:cNvPr id="16" name="Shape 12"/>
          <p:cNvSpPr/>
          <p:nvPr/>
        </p:nvSpPr>
        <p:spPr>
          <a:xfrm>
            <a:off x="1439540" y="4179082"/>
            <a:ext cx="29352" cy="1009498"/>
          </a:xfrm>
          <a:prstGeom prst="rect">
            <a:avLst/>
          </a:prstGeom>
          <a:solidFill>
            <a:srgbClr val="14343F"/>
          </a:solidFill>
          <a:ln/>
        </p:spPr>
      </p:sp>
      <p:pic>
        <p:nvPicPr>
          <p:cNvPr id="17" name="Image 2" descr="\hat{x} \;=\; \arg\min_{x}\, \tfrac{1}{2}\lVert y - x \rVert_{2}^{2} \;+\; \lambda\,\Phi(x)">    </p:cNvPr>
          <p:cNvPicPr>
            <a:picLocks noChangeAspect="1"/>
          </p:cNvPicPr>
          <p:nvPr/>
        </p:nvPicPr>
        <p:blipFill>
          <a:blip r:embed="rId3"/>
          <a:stretch>
            <a:fillRect/>
          </a:stretch>
        </p:blipFill>
        <p:spPr>
          <a:xfrm>
            <a:off x="1645188" y="4303898"/>
            <a:ext cx="4536978" cy="523403"/>
          </a:xfrm>
          <a:prstGeom prst="rect">
            <a:avLst/>
          </a:prstGeom>
        </p:spPr>
      </p:pic>
      <p:sp>
        <p:nvSpPr>
          <p:cNvPr id="18" name="Text 13"/>
          <p:cNvSpPr txBox="1"/>
          <p:nvPr/>
        </p:nvSpPr>
        <p:spPr>
          <a:xfrm>
            <a:off x="1645188" y="4900087"/>
            <a:ext cx="5262189"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data fidelity — stay near what the sensor saw · the prior — look like a real image · λ — how far you trust the prior</a:t>
            </a:r>
            <a:endParaRPr lang="en-US" sz="867" dirty="0"/>
          </a:p>
        </p:txBody>
      </p:sp>
      <p:sp>
        <p:nvSpPr>
          <p:cNvPr id="19" name="Shape 14"/>
          <p:cNvSpPr/>
          <p:nvPr/>
        </p:nvSpPr>
        <p:spPr>
          <a:xfrm>
            <a:off x="1439540" y="5298765"/>
            <a:ext cx="10223358" cy="7315"/>
          </a:xfrm>
          <a:prstGeom prst="rect">
            <a:avLst/>
          </a:prstGeom>
          <a:solidFill>
            <a:srgbClr val="DFDBD2"/>
          </a:solidFill>
          <a:ln/>
        </p:spPr>
      </p:sp>
      <p:sp>
        <p:nvSpPr>
          <p:cNvPr id="20" name="Text 15"/>
          <p:cNvSpPr txBox="1"/>
          <p:nvPr/>
        </p:nvSpPr>
        <p:spPr>
          <a:xfrm>
            <a:off x="1439540" y="5430987"/>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21" name="Text 16"/>
          <p:cNvSpPr txBox="1"/>
          <p:nvPr/>
        </p:nvSpPr>
        <p:spPr>
          <a:xfrm>
            <a:off x="1747967" y="5420838"/>
            <a:ext cx="8852124" cy="203820"/>
          </a:xfrm>
          <a:prstGeom prst="rect">
            <a:avLst/>
          </a:prstGeom>
          <a:noFill/>
          <a:ln/>
        </p:spPr>
        <p:txBody>
          <a:bodyPr wrap="non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first term is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forced</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if v ~ N(0, σ²I) then −log p(y|x) is the squared error over 2σ², with 1/σ² absorbed into λ. The ℓ₂ data term is not a modelling choice.</a:t>
            </a:r>
            <a:endParaRPr lang="en-US" sz="1070" dirty="0"/>
          </a:p>
        </p:txBody>
      </p:sp>
      <p:sp>
        <p:nvSpPr>
          <p:cNvPr id="22" name="Text 17"/>
          <p:cNvSpPr txBox="1"/>
          <p:nvPr/>
        </p:nvSpPr>
        <p:spPr>
          <a:xfrm>
            <a:off x="1439540" y="5752308"/>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23" name="Text 18"/>
          <p:cNvSpPr txBox="1"/>
          <p:nvPr/>
        </p:nvSpPr>
        <p:spPr>
          <a:xfrm>
            <a:off x="1747967" y="5742158"/>
            <a:ext cx="8286201" cy="203820"/>
          </a:xfrm>
          <a:prstGeom prst="rect">
            <a:avLst/>
          </a:prstGeom>
          <a:noFill/>
          <a:ln/>
        </p:spPr>
        <p:txBody>
          <a:bodyPr wrap="non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second term, Φ, is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entirely chosen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 and the whole classical era is a sequence of guesses at it: TV, sparse coding, weighted nuclear norm.</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[2]</a:t>
            </a:r>
            <a:endParaRPr lang="en-US" sz="1070" dirty="0"/>
          </a:p>
        </p:txBody>
      </p:sp>
      <p:sp>
        <p:nvSpPr>
          <p:cNvPr id="24" name="Text 19"/>
          <p:cNvSpPr txBox="1"/>
          <p:nvPr/>
        </p:nvSpPr>
        <p:spPr>
          <a:xfrm>
            <a:off x="7886791" y="6285494"/>
            <a:ext cx="3776106"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Standard MAP derivation 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consistent with DnCNN17 §I framing of prior-based methods</a:t>
            </a:r>
            <a:endParaRPr lang="en-US" sz="556" dirty="0"/>
          </a:p>
        </p:txBody>
      </p:sp>
      <p:sp>
        <p:nvSpPr>
          <p:cNvPr id="25" name="Shape 20"/>
          <p:cNvSpPr/>
          <p:nvPr/>
        </p:nvSpPr>
        <p:spPr>
          <a:xfrm>
            <a:off x="1439540" y="6556705"/>
            <a:ext cx="10223358" cy="7315"/>
          </a:xfrm>
          <a:prstGeom prst="rect">
            <a:avLst/>
          </a:prstGeom>
          <a:solidFill>
            <a:srgbClr val="C9C4B9"/>
          </a:solidFill>
          <a:ln/>
        </p:spPr>
      </p:sp>
      <p:sp>
        <p:nvSpPr>
          <p:cNvPr id="26" name="Shape 21"/>
          <p:cNvSpPr/>
          <p:nvPr/>
        </p:nvSpPr>
        <p:spPr>
          <a:xfrm>
            <a:off x="1439540" y="6519946"/>
            <a:ext cx="7315" cy="36759"/>
          </a:xfrm>
          <a:prstGeom prst="rect">
            <a:avLst/>
          </a:prstGeom>
          <a:solidFill>
            <a:srgbClr val="C9C4B9"/>
          </a:solidFill>
          <a:ln/>
        </p:spPr>
      </p:sp>
      <p:sp>
        <p:nvSpPr>
          <p:cNvPr id="27" name="Text 22"/>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8" name="Shape 23"/>
          <p:cNvSpPr/>
          <p:nvPr/>
        </p:nvSpPr>
        <p:spPr>
          <a:xfrm>
            <a:off x="5415351" y="6519946"/>
            <a:ext cx="7315" cy="36759"/>
          </a:xfrm>
          <a:prstGeom prst="rect">
            <a:avLst/>
          </a:prstGeom>
          <a:solidFill>
            <a:srgbClr val="C9C4B9"/>
          </a:solidFill>
          <a:ln/>
        </p:spPr>
      </p:sp>
      <p:sp>
        <p:nvSpPr>
          <p:cNvPr id="29" name="Text 24"/>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0" name="Shape 25"/>
          <p:cNvSpPr/>
          <p:nvPr/>
        </p:nvSpPr>
        <p:spPr>
          <a:xfrm>
            <a:off x="7119610" y="6519946"/>
            <a:ext cx="7315" cy="36759"/>
          </a:xfrm>
          <a:prstGeom prst="rect">
            <a:avLst/>
          </a:prstGeom>
          <a:solidFill>
            <a:srgbClr val="C9C4B9"/>
          </a:solidFill>
          <a:ln/>
        </p:spPr>
      </p:sp>
      <p:sp>
        <p:nvSpPr>
          <p:cNvPr id="31" name="Text 26"/>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2" name="Shape 27"/>
          <p:cNvSpPr/>
          <p:nvPr/>
        </p:nvSpPr>
        <p:spPr>
          <a:xfrm>
            <a:off x="9958639" y="6519946"/>
            <a:ext cx="7315" cy="36759"/>
          </a:xfrm>
          <a:prstGeom prst="rect">
            <a:avLst/>
          </a:prstGeom>
          <a:solidFill>
            <a:srgbClr val="C9C4B9"/>
          </a:solidFill>
          <a:ln/>
        </p:spPr>
      </p:sp>
      <p:sp>
        <p:nvSpPr>
          <p:cNvPr id="33" name="Text 28"/>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4" name="Shape 29"/>
          <p:cNvSpPr/>
          <p:nvPr/>
        </p:nvSpPr>
        <p:spPr>
          <a:xfrm>
            <a:off x="11662898" y="6519946"/>
            <a:ext cx="7315" cy="36759"/>
          </a:xfrm>
          <a:prstGeom prst="rect">
            <a:avLst/>
          </a:prstGeom>
          <a:solidFill>
            <a:srgbClr val="C9C4B9"/>
          </a:solidFill>
          <a:ln/>
        </p:spPr>
      </p:sp>
      <p:sp>
        <p:nvSpPr>
          <p:cNvPr id="35" name="Text 30"/>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5470"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09</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950232"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THE CLASSICAL FORMULATION</a:t>
            </a:r>
            <a:endParaRPr lang="en-US" sz="888" dirty="0"/>
          </a:p>
        </p:txBody>
      </p:sp>
      <p:sp>
        <p:nvSpPr>
          <p:cNvPr id="5" name="Text 3"/>
          <p:cNvSpPr txBox="1"/>
          <p:nvPr/>
        </p:nvSpPr>
        <p:spPr>
          <a:xfrm>
            <a:off x="3929451"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 CONTINUED</a:t>
            </a:r>
            <a:endParaRPr lang="en-US" sz="888" dirty="0"/>
          </a:p>
        </p:txBody>
      </p:sp>
      <p:sp>
        <p:nvSpPr>
          <p:cNvPr id="6" name="Text 4"/>
          <p:cNvSpPr txBox="1"/>
          <p:nvPr/>
        </p:nvSpPr>
        <p:spPr>
          <a:xfrm>
            <a:off x="1636685" y="690281"/>
            <a:ext cx="8087685"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From Bayes to the objective everyone optimises</a:t>
            </a:r>
            <a:endParaRPr lang="en-US" sz="3025" dirty="0"/>
          </a:p>
        </p:txBody>
      </p:sp>
      <p:sp>
        <p:nvSpPr>
          <p:cNvPr id="7" name="Shape 5"/>
          <p:cNvSpPr/>
          <p:nvPr/>
        </p:nvSpPr>
        <p:spPr>
          <a:xfrm>
            <a:off x="1636685" y="1241481"/>
            <a:ext cx="9953793" cy="8321"/>
          </a:xfrm>
          <a:prstGeom prst="rect">
            <a:avLst/>
          </a:prstGeom>
          <a:solidFill>
            <a:srgbClr val="DFDBD2"/>
          </a:solidFill>
          <a:ln/>
        </p:spPr>
      </p:sp>
      <p:sp>
        <p:nvSpPr>
          <p:cNvPr id="8" name="Text 6"/>
          <p:cNvSpPr txBox="1"/>
          <p:nvPr/>
        </p:nvSpPr>
        <p:spPr>
          <a:xfrm>
            <a:off x="1636685" y="1391808"/>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9" name="Text 7"/>
          <p:cNvSpPr txBox="1"/>
          <p:nvPr/>
        </p:nvSpPr>
        <p:spPr>
          <a:xfrm>
            <a:off x="1987448" y="1380287"/>
            <a:ext cx="9333555" cy="231709"/>
          </a:xfrm>
          <a:prstGeom prst="rect">
            <a:avLst/>
          </a:prstGeom>
          <a:noFill/>
          <a:ln/>
        </p:spPr>
        <p:txBody>
          <a:bodyPr wrap="non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λ trades them off. In the classical era it is a constant a human tunes; in the deep era it disappears, because the two terms stop being separable.</a:t>
            </a:r>
            <a:endParaRPr lang="en-US" sz="1216" dirty="0"/>
          </a:p>
        </p:txBody>
      </p:sp>
      <p:sp>
        <p:nvSpPr>
          <p:cNvPr id="10" name="Text 8"/>
          <p:cNvSpPr txBox="1"/>
          <p:nvPr/>
        </p:nvSpPr>
        <p:spPr>
          <a:xfrm>
            <a:off x="1636685" y="1757111"/>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11" name="Text 9"/>
          <p:cNvSpPr txBox="1"/>
          <p:nvPr/>
        </p:nvSpPr>
        <p:spPr>
          <a:xfrm>
            <a:off x="1987448" y="1745681"/>
            <a:ext cx="3599170"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Read the whole deck as: what is Φ, and who wrote it?</a:t>
            </a:r>
            <a:endParaRPr lang="en-US" sz="1216" dirty="0"/>
          </a:p>
        </p:txBody>
      </p:sp>
      <p:sp>
        <p:nvSpPr>
          <p:cNvPr id="12" name="Text 10"/>
          <p:cNvSpPr txBox="1"/>
          <p:nvPr/>
        </p:nvSpPr>
        <p:spPr>
          <a:xfrm>
            <a:off x="7297095" y="6207039"/>
            <a:ext cx="4293382"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Standard MAP derivation 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consistent with DnCNN17 §I framing of prior-based methods</a:t>
            </a:r>
            <a:endParaRPr lang="en-US" sz="633" dirty="0"/>
          </a:p>
        </p:txBody>
      </p:sp>
      <p:sp>
        <p:nvSpPr>
          <p:cNvPr id="13" name="Shape 11"/>
          <p:cNvSpPr/>
          <p:nvPr/>
        </p:nvSpPr>
        <p:spPr>
          <a:xfrm>
            <a:off x="1636685" y="6515466"/>
            <a:ext cx="9953793" cy="8321"/>
          </a:xfrm>
          <a:prstGeom prst="rect">
            <a:avLst/>
          </a:prstGeom>
          <a:solidFill>
            <a:srgbClr val="C9C4B9"/>
          </a:solidFill>
          <a:ln/>
        </p:spPr>
      </p:sp>
      <p:sp>
        <p:nvSpPr>
          <p:cNvPr id="14" name="Shape 12"/>
          <p:cNvSpPr/>
          <p:nvPr/>
        </p:nvSpPr>
        <p:spPr>
          <a:xfrm>
            <a:off x="1636685" y="6473678"/>
            <a:ext cx="8321" cy="41788"/>
          </a:xfrm>
          <a:prstGeom prst="rect">
            <a:avLst/>
          </a:prstGeom>
          <a:solidFill>
            <a:srgbClr val="C9C4B9"/>
          </a:solidFill>
          <a:ln/>
        </p:spPr>
      </p:sp>
      <p:sp>
        <p:nvSpPr>
          <p:cNvPr id="15" name="Text 13"/>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6" name="Shape 14"/>
          <p:cNvSpPr/>
          <p:nvPr/>
        </p:nvSpPr>
        <p:spPr>
          <a:xfrm>
            <a:off x="5507706" y="6473678"/>
            <a:ext cx="8321" cy="41788"/>
          </a:xfrm>
          <a:prstGeom prst="rect">
            <a:avLst/>
          </a:prstGeom>
          <a:solidFill>
            <a:srgbClr val="C9C4B9"/>
          </a:solidFill>
          <a:ln/>
        </p:spPr>
      </p:sp>
      <p:sp>
        <p:nvSpPr>
          <p:cNvPr id="17" name="Text 15"/>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8" name="Shape 16"/>
          <p:cNvSpPr/>
          <p:nvPr/>
        </p:nvSpPr>
        <p:spPr>
          <a:xfrm>
            <a:off x="7166884" y="6473678"/>
            <a:ext cx="8321" cy="41788"/>
          </a:xfrm>
          <a:prstGeom prst="rect">
            <a:avLst/>
          </a:prstGeom>
          <a:solidFill>
            <a:srgbClr val="C9C4B9"/>
          </a:solidFill>
          <a:ln/>
        </p:spPr>
      </p:sp>
      <p:sp>
        <p:nvSpPr>
          <p:cNvPr id="19" name="Text 17"/>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0" name="Shape 18"/>
          <p:cNvSpPr/>
          <p:nvPr/>
        </p:nvSpPr>
        <p:spPr>
          <a:xfrm>
            <a:off x="9931024" y="6473678"/>
            <a:ext cx="8321" cy="41788"/>
          </a:xfrm>
          <a:prstGeom prst="rect">
            <a:avLst/>
          </a:prstGeom>
          <a:solidFill>
            <a:srgbClr val="C9C4B9"/>
          </a:solidFill>
          <a:ln/>
        </p:spPr>
      </p:sp>
      <p:sp>
        <p:nvSpPr>
          <p:cNvPr id="21" name="Text 19"/>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2" name="Shape 20"/>
          <p:cNvSpPr/>
          <p:nvPr/>
        </p:nvSpPr>
        <p:spPr>
          <a:xfrm>
            <a:off x="11590477" y="6473678"/>
            <a:ext cx="8321" cy="41788"/>
          </a:xfrm>
          <a:prstGeom prst="rect">
            <a:avLst/>
          </a:prstGeom>
          <a:solidFill>
            <a:srgbClr val="C9C4B9"/>
          </a:solidFill>
          <a:ln/>
        </p:spPr>
      </p:sp>
      <p:sp>
        <p:nvSpPr>
          <p:cNvPr id="23" name="Text 21"/>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29824"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10</a:t>
            </a:r>
            <a:endParaRPr lang="en-US" sz="2400" dirty="0"/>
          </a:p>
        </p:txBody>
      </p:sp>
      <p:sp>
        <p:nvSpPr>
          <p:cNvPr id="3" name="Shape 1"/>
          <p:cNvSpPr/>
          <p:nvPr/>
        </p:nvSpPr>
        <p:spPr>
          <a:xfrm>
            <a:off x="1357701" y="408737"/>
            <a:ext cx="180137" cy="20757"/>
          </a:xfrm>
          <a:prstGeom prst="rect">
            <a:avLst/>
          </a:prstGeom>
          <a:solidFill>
            <a:srgbClr val="14343F"/>
          </a:solidFill>
          <a:ln/>
        </p:spPr>
      </p:sp>
      <p:sp>
        <p:nvSpPr>
          <p:cNvPr id="4" name="Text 2"/>
          <p:cNvSpPr txBox="1"/>
          <p:nvPr/>
        </p:nvSpPr>
        <p:spPr>
          <a:xfrm>
            <a:off x="1620957" y="362011"/>
            <a:ext cx="527243"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14343F"/>
                </a:solidFill>
                <a:latin typeface="Calibri" pitchFamily="34" charset="0"/>
                <a:ea typeface="Calibri" pitchFamily="34" charset="-122"/>
                <a:cs typeface="Calibri" pitchFamily="34" charset="-120"/>
              </a:rPr>
              <a:t>METRIC 1</a:t>
            </a:r>
            <a:endParaRPr lang="en-US" sz="736" dirty="0"/>
          </a:p>
        </p:txBody>
      </p:sp>
      <p:sp>
        <p:nvSpPr>
          <p:cNvPr id="5" name="Text 3"/>
          <p:cNvSpPr txBox="1"/>
          <p:nvPr/>
        </p:nvSpPr>
        <p:spPr>
          <a:xfrm>
            <a:off x="1357701" y="572597"/>
            <a:ext cx="6432347"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PSNR — what it measures, and what it cannot</a:t>
            </a:r>
            <a:endParaRPr lang="en-US" sz="2509" dirty="0"/>
          </a:p>
        </p:txBody>
      </p:sp>
      <p:sp>
        <p:nvSpPr>
          <p:cNvPr id="6" name="Text 4"/>
          <p:cNvSpPr txBox="1"/>
          <p:nvPr/>
        </p:nvSpPr>
        <p:spPr>
          <a:xfrm>
            <a:off x="1357701" y="1029889"/>
            <a:ext cx="5371734" cy="415595"/>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PSNR is the field's reporting currency. Every table in this deck is in decibels. Understanding its compression is the difference between reading those tables and being impressed by them.</a:t>
            </a:r>
            <a:endParaRPr lang="en-US" sz="1091" dirty="0"/>
          </a:p>
        </p:txBody>
      </p:sp>
      <p:sp>
        <p:nvSpPr>
          <p:cNvPr id="7" name="Shape 5"/>
          <p:cNvSpPr/>
          <p:nvPr/>
        </p:nvSpPr>
        <p:spPr>
          <a:xfrm>
            <a:off x="1357701" y="1639428"/>
            <a:ext cx="10335189" cy="1289121"/>
          </a:xfrm>
          <a:prstGeom prst="rect">
            <a:avLst/>
          </a:prstGeom>
          <a:solidFill>
            <a:srgbClr val="EAEBE9"/>
          </a:solidFill>
          <a:ln/>
        </p:spPr>
      </p:sp>
      <p:sp>
        <p:nvSpPr>
          <p:cNvPr id="8" name="Shape 6"/>
          <p:cNvSpPr/>
          <p:nvPr/>
        </p:nvSpPr>
        <p:spPr>
          <a:xfrm>
            <a:off x="1357701" y="1639428"/>
            <a:ext cx="27706" cy="1289121"/>
          </a:xfrm>
          <a:prstGeom prst="rect">
            <a:avLst/>
          </a:prstGeom>
          <a:solidFill>
            <a:srgbClr val="14343F"/>
          </a:solidFill>
          <a:ln/>
        </p:spPr>
      </p:sp>
      <p:pic>
        <p:nvPicPr>
          <p:cNvPr id="9" name="Image 0" descr="\mathrm{MSE} \;=\; \frac{1}{MN}\sum_{i}\sum_{j}\big[\, x(i,j) - \hat{x}(i,j) \,\big]^{2}">    </p:cNvPr>
          <p:cNvPicPr>
            <a:picLocks noChangeAspect="1"/>
          </p:cNvPicPr>
          <p:nvPr/>
        </p:nvPicPr>
        <p:blipFill>
          <a:blip r:embed="rId1"/>
          <a:stretch>
            <a:fillRect/>
          </a:stretch>
        </p:blipFill>
        <p:spPr>
          <a:xfrm>
            <a:off x="1551645" y="1757202"/>
            <a:ext cx="5053432" cy="830641"/>
          </a:xfrm>
          <a:prstGeom prst="rect">
            <a:avLst/>
          </a:prstGeom>
        </p:spPr>
      </p:pic>
      <p:sp>
        <p:nvSpPr>
          <p:cNvPr id="10" name="Text 7"/>
          <p:cNvSpPr txBox="1"/>
          <p:nvPr/>
        </p:nvSpPr>
        <p:spPr>
          <a:xfrm>
            <a:off x="1551645" y="2663281"/>
            <a:ext cx="3720328" cy="153802"/>
          </a:xfrm>
          <a:prstGeom prst="rect">
            <a:avLst/>
          </a:prstGeom>
          <a:noFill/>
          <a:ln/>
        </p:spPr>
        <p:txBody>
          <a:bodyPr wrap="none" lIns="0" tIns="0" rIns="0" bIns="0" rtlCol="0" anchor="t"/>
          <a:lstStyle/>
          <a:p>
            <a:pPr algn="l" indent="0" marL="0">
              <a:lnSpc>
                <a:spcPts val="1211"/>
              </a:lnSpc>
              <a:buNone/>
            </a:pPr>
            <a:r>
              <a:rPr kern="0" lang="en-US" sz="818" i="1" dirty="0">
                <a:solidFill>
                  <a:srgbClr val="5A554D"/>
                </a:solidFill>
                <a:latin typeface="Calibri" pitchFamily="34" charset="0"/>
                <a:ea typeface="Calibri" pitchFamily="34" charset="-122"/>
                <a:cs typeface="Calibri" pitchFamily="34" charset="-120"/>
              </a:rPr>
              <a:t>mean squared error between the estimate and the ground truth, over all MN pixels</a:t>
            </a:r>
            <a:pPr algn="l" indent="0" marL="0">
              <a:lnSpc>
                <a:spcPts val="1211"/>
              </a:lnSpc>
              <a:buNone/>
            </a:pPr>
            <a:r>
              <a:rPr kern="0" lang="en-US" sz="605" b="1" dirty="0">
                <a:solidFill>
                  <a:srgbClr val="C0451A"/>
                </a:solidFill>
                <a:latin typeface="Calibri" pitchFamily="34" charset="0"/>
                <a:ea typeface="Calibri" pitchFamily="34" charset="-122"/>
                <a:cs typeface="Calibri" pitchFamily="34" charset="-120"/>
              </a:rPr>
              <a:t>[2]</a:t>
            </a:r>
            <a:endParaRPr lang="en-US" sz="818" dirty="0"/>
          </a:p>
        </p:txBody>
      </p:sp>
      <p:sp>
        <p:nvSpPr>
          <p:cNvPr id="11" name="Shape 8"/>
          <p:cNvSpPr/>
          <p:nvPr/>
        </p:nvSpPr>
        <p:spPr>
          <a:xfrm>
            <a:off x="1357701" y="3032425"/>
            <a:ext cx="10335189" cy="1220175"/>
          </a:xfrm>
          <a:prstGeom prst="rect">
            <a:avLst/>
          </a:prstGeom>
          <a:solidFill>
            <a:srgbClr val="EAEBE9"/>
          </a:solidFill>
          <a:ln/>
        </p:spPr>
      </p:sp>
      <p:sp>
        <p:nvSpPr>
          <p:cNvPr id="12" name="Shape 9"/>
          <p:cNvSpPr/>
          <p:nvPr/>
        </p:nvSpPr>
        <p:spPr>
          <a:xfrm>
            <a:off x="1357701" y="3032425"/>
            <a:ext cx="27706" cy="1220175"/>
          </a:xfrm>
          <a:prstGeom prst="rect">
            <a:avLst/>
          </a:prstGeom>
          <a:solidFill>
            <a:srgbClr val="14343F"/>
          </a:solidFill>
          <a:ln/>
        </p:spPr>
      </p:sp>
      <p:pic>
        <p:nvPicPr>
          <p:cNvPr id="13" name="Image 1" descr="\mathrm{PSNR} \;=\; 10\log_{10}\!\left(\frac{\mathrm{MAX}^{2}}{\mathrm{MSE}}\right)\ \mathrm{dB}\;=\; 20\log_{10}(\mathrm{MAX}) \;-\; 10\log_{10}(\mathrm{MSE})">    </p:cNvPr>
          <p:cNvPicPr>
            <a:picLocks noChangeAspect="1"/>
          </p:cNvPicPr>
          <p:nvPr/>
        </p:nvPicPr>
        <p:blipFill>
          <a:blip r:embed="rId2"/>
          <a:stretch>
            <a:fillRect/>
          </a:stretch>
        </p:blipFill>
        <p:spPr>
          <a:xfrm>
            <a:off x="1551645" y="3150199"/>
            <a:ext cx="8630199" cy="761695"/>
          </a:xfrm>
          <a:prstGeom prst="rect">
            <a:avLst/>
          </a:prstGeom>
        </p:spPr>
      </p:pic>
      <p:sp>
        <p:nvSpPr>
          <p:cNvPr id="14" name="Text 10"/>
          <p:cNvSpPr txBox="1"/>
          <p:nvPr/>
        </p:nvSpPr>
        <p:spPr>
          <a:xfrm>
            <a:off x="1551645" y="3987333"/>
            <a:ext cx="4042105" cy="153802"/>
          </a:xfrm>
          <a:prstGeom prst="rect">
            <a:avLst/>
          </a:prstGeom>
          <a:noFill/>
          <a:ln/>
        </p:spPr>
        <p:txBody>
          <a:bodyPr wrap="none" lIns="0" tIns="0" rIns="0" bIns="0" rtlCol="0" anchor="t"/>
          <a:lstStyle/>
          <a:p>
            <a:pPr algn="l" indent="0" marL="0">
              <a:lnSpc>
                <a:spcPts val="1211"/>
              </a:lnSpc>
              <a:buNone/>
            </a:pPr>
            <a:r>
              <a:rPr kern="0" lang="en-US" sz="818" i="1" dirty="0">
                <a:solidFill>
                  <a:srgbClr val="5A554D"/>
                </a:solidFill>
                <a:latin typeface="Calibri" pitchFamily="34" charset="0"/>
                <a:ea typeface="Calibri" pitchFamily="34" charset="-122"/>
                <a:cs typeface="Calibri" pitchFamily="34" charset="-120"/>
              </a:rPr>
              <a:t>MAX = 255 for 8-bit images. Higher is better. Identical images give MSE = 0 and PSNR = ∞.</a:t>
            </a:r>
            <a:pPr algn="l" indent="0" marL="0">
              <a:lnSpc>
                <a:spcPts val="1211"/>
              </a:lnSpc>
              <a:buNone/>
            </a:pPr>
            <a:r>
              <a:rPr kern="0" lang="en-US" sz="605" b="1" dirty="0">
                <a:solidFill>
                  <a:srgbClr val="C0451A"/>
                </a:solidFill>
                <a:latin typeface="Calibri" pitchFamily="34" charset="0"/>
                <a:ea typeface="Calibri" pitchFamily="34" charset="-122"/>
                <a:cs typeface="Calibri" pitchFamily="34" charset="-120"/>
              </a:rPr>
              <a:t>[2]</a:t>
            </a:r>
            <a:endParaRPr lang="en-US" sz="818" dirty="0"/>
          </a:p>
        </p:txBody>
      </p:sp>
      <p:sp>
        <p:nvSpPr>
          <p:cNvPr id="15" name="Shape 11"/>
          <p:cNvSpPr/>
          <p:nvPr/>
        </p:nvSpPr>
        <p:spPr>
          <a:xfrm>
            <a:off x="1357701" y="4356476"/>
            <a:ext cx="10335189" cy="6949"/>
          </a:xfrm>
          <a:prstGeom prst="rect">
            <a:avLst/>
          </a:prstGeom>
          <a:solidFill>
            <a:srgbClr val="DFDBD2"/>
          </a:solidFill>
          <a:ln/>
        </p:spPr>
      </p:sp>
      <p:sp>
        <p:nvSpPr>
          <p:cNvPr id="16" name="Text 12"/>
          <p:cNvSpPr txBox="1"/>
          <p:nvPr/>
        </p:nvSpPr>
        <p:spPr>
          <a:xfrm>
            <a:off x="1357701" y="4481200"/>
            <a:ext cx="124084"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01</a:t>
            </a:r>
            <a:endParaRPr lang="en-US" sz="655" dirty="0"/>
          </a:p>
        </p:txBody>
      </p:sp>
      <p:sp>
        <p:nvSpPr>
          <p:cNvPr id="17" name="Text 13"/>
          <p:cNvSpPr txBox="1"/>
          <p:nvPr/>
        </p:nvSpPr>
        <p:spPr>
          <a:xfrm>
            <a:off x="1648663" y="4471690"/>
            <a:ext cx="6922008"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The logarithm compresses everything.</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Halving the MSE gains exactly 3.01 dB, so DnCNN's 0.6 dB is about a 13% MSE reduction.</a:t>
            </a:r>
            <a:endParaRPr lang="en-US" sz="1009" dirty="0"/>
          </a:p>
        </p:txBody>
      </p:sp>
      <p:sp>
        <p:nvSpPr>
          <p:cNvPr id="18" name="Text 14"/>
          <p:cNvSpPr txBox="1"/>
          <p:nvPr/>
        </p:nvSpPr>
        <p:spPr>
          <a:xfrm>
            <a:off x="1357701" y="4784232"/>
            <a:ext cx="128016"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02</a:t>
            </a:r>
            <a:endParaRPr lang="en-US" sz="655" dirty="0"/>
          </a:p>
        </p:txBody>
      </p:sp>
      <p:sp>
        <p:nvSpPr>
          <p:cNvPr id="19" name="Text 15"/>
          <p:cNvSpPr txBox="1"/>
          <p:nvPr/>
        </p:nvSpPr>
        <p:spPr>
          <a:xfrm>
            <a:off x="1648663" y="4774722"/>
            <a:ext cx="10098359" cy="398313"/>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The calibration, from the paper itself.</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Prior work put the practical ceiling over BM3D at 0.3 dB and the estimated bound at 0.7 dB. DnCNN-S took 0.6 dB at all three noise levels — about 85% of the available headroom, and DnCNN-B did it blind. </a:t>
            </a:r>
            <a:pPr algn="l" indent="0" marL="0">
              <a:lnSpc>
                <a:spcPts val="1514"/>
              </a:lnSpc>
              <a:buNone/>
            </a:pPr>
            <a:r>
              <a:rPr kern="0" lang="en-US" sz="747" b="1" dirty="0">
                <a:solidFill>
                  <a:srgbClr val="C0451A"/>
                </a:solidFill>
                <a:latin typeface="Calibri" pitchFamily="34" charset="0"/>
                <a:ea typeface="Calibri" pitchFamily="34" charset="-122"/>
                <a:cs typeface="Calibri" pitchFamily="34" charset="-120"/>
              </a:rPr>
              <a:t>[1]</a:t>
            </a:r>
            <a:endParaRPr lang="en-US" sz="1009" dirty="0"/>
          </a:p>
        </p:txBody>
      </p:sp>
      <p:sp>
        <p:nvSpPr>
          <p:cNvPr id="20" name="Text 16"/>
          <p:cNvSpPr txBox="1"/>
          <p:nvPr/>
        </p:nvSpPr>
        <p:spPr>
          <a:xfrm>
            <a:off x="1357701" y="5279563"/>
            <a:ext cx="128107"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03</a:t>
            </a:r>
            <a:endParaRPr lang="en-US" sz="655" dirty="0"/>
          </a:p>
        </p:txBody>
      </p:sp>
      <p:sp>
        <p:nvSpPr>
          <p:cNvPr id="21" name="Text 17"/>
          <p:cNvSpPr txBox="1"/>
          <p:nvPr/>
        </p:nvSpPr>
        <p:spPr>
          <a:xfrm>
            <a:off x="1648663" y="5270053"/>
            <a:ext cx="6412962"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PSNR can be gamed by blurring</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which lowers MSE while destroying texture. That is why SSIM is reported alongside it.</a:t>
            </a:r>
            <a:endParaRPr lang="en-US" sz="1009" dirty="0"/>
          </a:p>
        </p:txBody>
      </p:sp>
      <p:sp>
        <p:nvSpPr>
          <p:cNvPr id="22" name="Text 18"/>
          <p:cNvSpPr txBox="1"/>
          <p:nvPr/>
        </p:nvSpPr>
        <p:spPr>
          <a:xfrm>
            <a:off x="1357701" y="5582595"/>
            <a:ext cx="131948"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04</a:t>
            </a:r>
            <a:endParaRPr lang="en-US" sz="655" dirty="0"/>
          </a:p>
        </p:txBody>
      </p:sp>
      <p:sp>
        <p:nvSpPr>
          <p:cNvPr id="23" name="Text 19"/>
          <p:cNvSpPr txBox="1"/>
          <p:nvPr/>
        </p:nvSpPr>
        <p:spPr>
          <a:xfrm>
            <a:off x="1648663" y="5573085"/>
            <a:ext cx="6772869"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It is pixel-wise and has no model of perception.</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Identical PSNR can look entirely different depending on where the error sits.</a:t>
            </a:r>
            <a:endParaRPr lang="en-US" sz="1009" dirty="0"/>
          </a:p>
        </p:txBody>
      </p:sp>
      <p:sp>
        <p:nvSpPr>
          <p:cNvPr id="24" name="Text 20"/>
          <p:cNvSpPr txBox="1"/>
          <p:nvPr/>
        </p:nvSpPr>
        <p:spPr>
          <a:xfrm>
            <a:off x="10056937" y="6317955"/>
            <a:ext cx="1636044" cy="109819"/>
          </a:xfrm>
          <a:prstGeom prst="rect">
            <a:avLst/>
          </a:prstGeom>
          <a:noFill/>
          <a:ln/>
        </p:spPr>
        <p:txBody>
          <a:bodyPr wrap="none" lIns="0" tIns="0" rIns="0" bIns="0" rtlCol="0" anchor="t"/>
          <a:lstStyle/>
          <a:p>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[1]</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DnCNN17 §IV-B 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[2]</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standard definition</a:t>
            </a:r>
            <a:endParaRPr lang="en-US" sz="525" dirty="0"/>
          </a:p>
        </p:txBody>
      </p:sp>
      <p:sp>
        <p:nvSpPr>
          <p:cNvPr id="25" name="Shape 21"/>
          <p:cNvSpPr/>
          <p:nvPr/>
        </p:nvSpPr>
        <p:spPr>
          <a:xfrm>
            <a:off x="1357701" y="6573804"/>
            <a:ext cx="10335189" cy="6949"/>
          </a:xfrm>
          <a:prstGeom prst="rect">
            <a:avLst/>
          </a:prstGeom>
          <a:solidFill>
            <a:srgbClr val="C9C4B9"/>
          </a:solidFill>
          <a:ln/>
        </p:spPr>
      </p:sp>
      <p:sp>
        <p:nvSpPr>
          <p:cNvPr id="26" name="Shape 22"/>
          <p:cNvSpPr/>
          <p:nvPr/>
        </p:nvSpPr>
        <p:spPr>
          <a:xfrm>
            <a:off x="1357701" y="6539149"/>
            <a:ext cx="6949" cy="34656"/>
          </a:xfrm>
          <a:prstGeom prst="rect">
            <a:avLst/>
          </a:prstGeom>
          <a:solidFill>
            <a:srgbClr val="C9C4B9"/>
          </a:solidFill>
          <a:ln/>
        </p:spPr>
      </p:sp>
      <p:sp>
        <p:nvSpPr>
          <p:cNvPr id="27" name="Text 23"/>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28" name="Shape 24"/>
          <p:cNvSpPr/>
          <p:nvPr/>
        </p:nvSpPr>
        <p:spPr>
          <a:xfrm>
            <a:off x="5377038" y="6539149"/>
            <a:ext cx="6949" cy="34656"/>
          </a:xfrm>
          <a:prstGeom prst="rect">
            <a:avLst/>
          </a:prstGeom>
          <a:solidFill>
            <a:srgbClr val="C9C4B9"/>
          </a:solidFill>
          <a:ln/>
        </p:spPr>
      </p:sp>
      <p:sp>
        <p:nvSpPr>
          <p:cNvPr id="29" name="Text 25"/>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30" name="Shape 26"/>
          <p:cNvSpPr/>
          <p:nvPr/>
        </p:nvSpPr>
        <p:spPr>
          <a:xfrm>
            <a:off x="7099950" y="6539149"/>
            <a:ext cx="6949" cy="34656"/>
          </a:xfrm>
          <a:prstGeom prst="rect">
            <a:avLst/>
          </a:prstGeom>
          <a:solidFill>
            <a:srgbClr val="C9C4B9"/>
          </a:solidFill>
          <a:ln/>
        </p:spPr>
      </p:sp>
      <p:sp>
        <p:nvSpPr>
          <p:cNvPr id="31" name="Text 27"/>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32" name="Shape 28"/>
          <p:cNvSpPr/>
          <p:nvPr/>
        </p:nvSpPr>
        <p:spPr>
          <a:xfrm>
            <a:off x="9970069" y="6539149"/>
            <a:ext cx="6949" cy="34656"/>
          </a:xfrm>
          <a:prstGeom prst="rect">
            <a:avLst/>
          </a:prstGeom>
          <a:solidFill>
            <a:srgbClr val="C9C4B9"/>
          </a:solidFill>
          <a:ln/>
        </p:spPr>
      </p:sp>
      <p:sp>
        <p:nvSpPr>
          <p:cNvPr id="33" name="Text 29"/>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34" name="Shape 30"/>
          <p:cNvSpPr/>
          <p:nvPr/>
        </p:nvSpPr>
        <p:spPr>
          <a:xfrm>
            <a:off x="11692981" y="6539149"/>
            <a:ext cx="6949" cy="34656"/>
          </a:xfrm>
          <a:prstGeom prst="rect">
            <a:avLst/>
          </a:prstGeom>
          <a:solidFill>
            <a:srgbClr val="C9C4B9"/>
          </a:solidFill>
          <a:ln/>
        </p:spPr>
      </p:sp>
      <p:sp>
        <p:nvSpPr>
          <p:cNvPr id="35" name="Text 31"/>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25435"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11</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558973"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METRIC 2</a:t>
            </a:r>
            <a:endParaRPr lang="en-US" sz="781" dirty="0"/>
          </a:p>
        </p:txBody>
      </p:sp>
      <p:sp>
        <p:nvSpPr>
          <p:cNvPr id="5" name="Text 3"/>
          <p:cNvSpPr txBox="1"/>
          <p:nvPr/>
        </p:nvSpPr>
        <p:spPr>
          <a:xfrm>
            <a:off x="1439540" y="607070"/>
            <a:ext cx="4225900"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SSIM — structure, not pixels</a:t>
            </a:r>
            <a:endParaRPr lang="en-US" sz="2660" dirty="0"/>
          </a:p>
        </p:txBody>
      </p:sp>
      <p:sp>
        <p:nvSpPr>
          <p:cNvPr id="6" name="Text 4"/>
          <p:cNvSpPr txBox="1"/>
          <p:nvPr/>
        </p:nvSpPr>
        <p:spPr>
          <a:xfrm>
            <a:off x="1439540" y="1091885"/>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SSIM was designed to punish exactly the failure mode PSNR rewards: the loss of local structure. It decomposes similarity into three comparisons and multiplies them.</a:t>
            </a:r>
            <a:endParaRPr lang="en-US" sz="1157" dirty="0"/>
          </a:p>
        </p:txBody>
      </p:sp>
      <p:sp>
        <p:nvSpPr>
          <p:cNvPr id="7" name="Shape 5"/>
          <p:cNvSpPr/>
          <p:nvPr/>
        </p:nvSpPr>
        <p:spPr>
          <a:xfrm>
            <a:off x="1439540" y="1738183"/>
            <a:ext cx="10223358" cy="963503"/>
          </a:xfrm>
          <a:prstGeom prst="rect">
            <a:avLst/>
          </a:prstGeom>
          <a:solidFill>
            <a:srgbClr val="EAEBE9"/>
          </a:solidFill>
          <a:ln/>
        </p:spPr>
      </p:sp>
      <p:sp>
        <p:nvSpPr>
          <p:cNvPr id="8" name="Shape 6"/>
          <p:cNvSpPr/>
          <p:nvPr/>
        </p:nvSpPr>
        <p:spPr>
          <a:xfrm>
            <a:off x="1439540" y="1738183"/>
            <a:ext cx="29352" cy="963503"/>
          </a:xfrm>
          <a:prstGeom prst="rect">
            <a:avLst/>
          </a:prstGeom>
          <a:solidFill>
            <a:srgbClr val="14343F"/>
          </a:solidFill>
          <a:ln/>
        </p:spPr>
      </p:sp>
      <p:pic>
        <p:nvPicPr>
          <p:cNvPr id="9" name="Image 0" descr="\mathrm{SSIM}(x,\hat{x}) \;=\; \big[\, l(x,\hat{x}) \,\big]^{\alpha}\,\big[\, c(x,\hat{x}) \,\big]^{\beta}\,\big[\, s(x,\hat{x}) \,\big]^{\gamma},\qquad \alpha = \beta = \gamma = 1">    </p:cNvPr>
          <p:cNvPicPr>
            <a:picLocks noChangeAspect="1"/>
          </p:cNvPicPr>
          <p:nvPr/>
        </p:nvPicPr>
        <p:blipFill>
          <a:blip r:embed="rId1"/>
          <a:stretch>
            <a:fillRect/>
          </a:stretch>
        </p:blipFill>
        <p:spPr>
          <a:xfrm>
            <a:off x="1645188" y="1863090"/>
            <a:ext cx="8759038" cy="477408"/>
          </a:xfrm>
          <a:prstGeom prst="rect">
            <a:avLst/>
          </a:prstGeom>
        </p:spPr>
      </p:pic>
      <p:sp>
        <p:nvSpPr>
          <p:cNvPr id="10" name="Text 7"/>
          <p:cNvSpPr txBox="1"/>
          <p:nvPr/>
        </p:nvSpPr>
        <p:spPr>
          <a:xfrm>
            <a:off x="1645188" y="2420508"/>
            <a:ext cx="3953500"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luminance × contrast × structure, computed in a sliding local window and averaged</a:t>
            </a:r>
            <a:pPr algn="l" indent="0" marL="0">
              <a:lnSpc>
                <a:spcPts val="1284"/>
              </a:lnSpc>
              <a:buNone/>
            </a:pPr>
            <a:r>
              <a:rPr kern="0" lang="en-US" sz="642" b="1" dirty="0">
                <a:solidFill>
                  <a:srgbClr val="C0451A"/>
                </a:solidFill>
                <a:latin typeface="Calibri" pitchFamily="34" charset="0"/>
                <a:ea typeface="Calibri" pitchFamily="34" charset="-122"/>
                <a:cs typeface="Calibri" pitchFamily="34" charset="-120"/>
              </a:rPr>
              <a:t>[1]</a:t>
            </a:r>
            <a:endParaRPr lang="en-US" sz="867" dirty="0"/>
          </a:p>
        </p:txBody>
      </p:sp>
      <p:sp>
        <p:nvSpPr>
          <p:cNvPr id="11" name="Shape 8"/>
          <p:cNvSpPr/>
          <p:nvPr/>
        </p:nvSpPr>
        <p:spPr>
          <a:xfrm>
            <a:off x="1439540" y="2811871"/>
            <a:ext cx="10223358" cy="1265895"/>
          </a:xfrm>
          <a:prstGeom prst="rect">
            <a:avLst/>
          </a:prstGeom>
          <a:solidFill>
            <a:srgbClr val="EAEBE9"/>
          </a:solidFill>
          <a:ln/>
        </p:spPr>
      </p:sp>
      <p:sp>
        <p:nvSpPr>
          <p:cNvPr id="12" name="Shape 9"/>
          <p:cNvSpPr/>
          <p:nvPr/>
        </p:nvSpPr>
        <p:spPr>
          <a:xfrm>
            <a:off x="1439540" y="2811871"/>
            <a:ext cx="29352" cy="1265895"/>
          </a:xfrm>
          <a:prstGeom prst="rect">
            <a:avLst/>
          </a:prstGeom>
          <a:solidFill>
            <a:srgbClr val="14343F"/>
          </a:solidFill>
          <a:ln/>
        </p:spPr>
      </p:sp>
      <p:pic>
        <p:nvPicPr>
          <p:cNvPr id="13" name="Image 1" descr="\mathrm{SSIM} \;=\; \frac{(2\mu_{x}\mu_{\hat{x}} + C_{1})(2\sigma_{x\hat{x}} + C_{2})}{(\mu_{x}^{2} + \mu_{\hat{x}}^{2} + C_{1})(\sigma_{x}^{2} + \sigma_{\hat{x}}^{2} + C_{2})}">    </p:cNvPr>
          <p:cNvPicPr>
            <a:picLocks noChangeAspect="1"/>
          </p:cNvPicPr>
          <p:nvPr/>
        </p:nvPicPr>
        <p:blipFill>
          <a:blip r:embed="rId2"/>
          <a:stretch>
            <a:fillRect/>
          </a:stretch>
        </p:blipFill>
        <p:spPr>
          <a:xfrm>
            <a:off x="1645188" y="2936687"/>
            <a:ext cx="5238232" cy="779800"/>
          </a:xfrm>
          <a:prstGeom prst="rect">
            <a:avLst/>
          </a:prstGeom>
        </p:spPr>
      </p:pic>
      <p:sp>
        <p:nvSpPr>
          <p:cNvPr id="14" name="Text 10"/>
          <p:cNvSpPr txBox="1"/>
          <p:nvPr/>
        </p:nvSpPr>
        <p:spPr>
          <a:xfrm>
            <a:off x="1645188" y="3796589"/>
            <a:ext cx="4805081"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μ — local means · σ² — local variances · σ_xx̂ — local covariance · C₁, C₂ — small stabilising constants</a:t>
            </a:r>
            <a:pPr algn="l" indent="0" marL="0">
              <a:lnSpc>
                <a:spcPts val="1284"/>
              </a:lnSpc>
              <a:buNone/>
            </a:pPr>
            <a:r>
              <a:rPr kern="0" lang="en-US" sz="642" b="1" dirty="0">
                <a:solidFill>
                  <a:srgbClr val="C0451A"/>
                </a:solidFill>
                <a:latin typeface="Calibri" pitchFamily="34" charset="0"/>
                <a:ea typeface="Calibri" pitchFamily="34" charset="-122"/>
                <a:cs typeface="Calibri" pitchFamily="34" charset="-120"/>
              </a:rPr>
              <a:t>[1]</a:t>
            </a:r>
            <a:endParaRPr lang="en-US" sz="867" dirty="0"/>
          </a:p>
        </p:txBody>
      </p:sp>
      <p:sp>
        <p:nvSpPr>
          <p:cNvPr id="15" name="Shape 11"/>
          <p:cNvSpPr/>
          <p:nvPr/>
        </p:nvSpPr>
        <p:spPr>
          <a:xfrm>
            <a:off x="1439540" y="4187952"/>
            <a:ext cx="10223358" cy="7315"/>
          </a:xfrm>
          <a:prstGeom prst="rect">
            <a:avLst/>
          </a:prstGeom>
          <a:solidFill>
            <a:srgbClr val="DFDBD2"/>
          </a:solidFill>
          <a:ln/>
        </p:spPr>
      </p:sp>
      <p:sp>
        <p:nvSpPr>
          <p:cNvPr id="16" name="Text 12"/>
          <p:cNvSpPr txBox="1"/>
          <p:nvPr/>
        </p:nvSpPr>
        <p:spPr>
          <a:xfrm>
            <a:off x="1439540" y="4320083"/>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7" name="Text 13"/>
          <p:cNvSpPr txBox="1"/>
          <p:nvPr/>
        </p:nvSpPr>
        <p:spPr>
          <a:xfrm>
            <a:off x="1747967" y="4324746"/>
            <a:ext cx="6480353" cy="203820"/>
          </a:xfrm>
          <a:prstGeom prst="rect">
            <a:avLst/>
          </a:prstGeom>
          <a:noFill/>
          <a:ln/>
        </p:spPr>
        <p:txBody>
          <a:bodyPr wrap="non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Range is [0, 1]; 1 means identical. Reported to three decimals — Restormer's real-noise SSIM on SIDD is 0.960. </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[3]</a:t>
            </a:r>
            <a:endParaRPr lang="en-US" sz="1070" dirty="0"/>
          </a:p>
        </p:txBody>
      </p:sp>
      <p:sp>
        <p:nvSpPr>
          <p:cNvPr id="18" name="Text 14"/>
          <p:cNvSpPr txBox="1"/>
          <p:nvPr/>
        </p:nvSpPr>
        <p:spPr>
          <a:xfrm>
            <a:off x="1439540" y="4641403"/>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19" name="Text 15"/>
          <p:cNvSpPr txBox="1"/>
          <p:nvPr/>
        </p:nvSpPr>
        <p:spPr>
          <a:xfrm>
            <a:off x="1747967" y="4631345"/>
            <a:ext cx="9969246" cy="42227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structure term is a local correlation coefficient.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Blur decorrelates the estimate from the reference, so blurring lowers SSIM even where it raises PSNR. That is the entire reason to report both.</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[2]</a:t>
            </a:r>
            <a:endParaRPr lang="en-US" sz="1070" dirty="0"/>
          </a:p>
        </p:txBody>
      </p:sp>
      <p:sp>
        <p:nvSpPr>
          <p:cNvPr id="20" name="Text 16"/>
          <p:cNvSpPr txBox="1"/>
          <p:nvPr/>
        </p:nvSpPr>
        <p:spPr>
          <a:xfrm>
            <a:off x="1439540" y="5166543"/>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21" name="Text 17"/>
          <p:cNvSpPr txBox="1"/>
          <p:nvPr/>
        </p:nvSpPr>
        <p:spPr>
          <a:xfrm>
            <a:off x="1747967" y="5156484"/>
            <a:ext cx="9070482" cy="203820"/>
          </a:xfrm>
          <a:prstGeom prst="rect">
            <a:avLst/>
          </a:prstGeom>
          <a:noFill/>
          <a:ln/>
        </p:spPr>
        <p:txBody>
          <a:bodyPr wrap="non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SSIM correlates better with human judgement than PSNR, but it is still a hand-designed perceptual model. Modern work adds LPIPS and no-reference metrics.</a:t>
            </a:r>
            <a:endParaRPr lang="en-US" sz="1070" dirty="0"/>
          </a:p>
        </p:txBody>
      </p:sp>
      <p:sp>
        <p:nvSpPr>
          <p:cNvPr id="22" name="Text 18"/>
          <p:cNvSpPr txBox="1"/>
          <p:nvPr/>
        </p:nvSpPr>
        <p:spPr>
          <a:xfrm>
            <a:off x="1439540" y="5487863"/>
            <a:ext cx="139903"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04</a:t>
            </a:r>
            <a:endParaRPr lang="en-US" sz="694" dirty="0"/>
          </a:p>
        </p:txBody>
      </p:sp>
      <p:sp>
        <p:nvSpPr>
          <p:cNvPr id="23" name="Text 19"/>
          <p:cNvSpPr txBox="1"/>
          <p:nvPr/>
        </p:nvSpPr>
        <p:spPr>
          <a:xfrm>
            <a:off x="1747967" y="5477805"/>
            <a:ext cx="9969246" cy="42227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On IoU.</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brief lists it because the brief is written generically across many topics. IoU measures region overlap and is undefined for dense regression with continuous output. We report PSNR and SSIM, and say why.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[brief §3.6]</a:t>
            </a:r>
            <a:endParaRPr lang="en-US" sz="1070" dirty="0"/>
          </a:p>
        </p:txBody>
      </p:sp>
      <p:sp>
        <p:nvSpPr>
          <p:cNvPr id="24" name="Text 20"/>
          <p:cNvSpPr txBox="1"/>
          <p:nvPr/>
        </p:nvSpPr>
        <p:spPr>
          <a:xfrm>
            <a:off x="8164952" y="6285494"/>
            <a:ext cx="3497946"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Wang et al., IEEE TIP 2004 (standard SSIM) 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brief §3.6 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Restormer22 Table 6</a:t>
            </a:r>
            <a:endParaRPr lang="en-US" sz="556" dirty="0"/>
          </a:p>
        </p:txBody>
      </p:sp>
      <p:sp>
        <p:nvSpPr>
          <p:cNvPr id="25" name="Shape 21"/>
          <p:cNvSpPr/>
          <p:nvPr/>
        </p:nvSpPr>
        <p:spPr>
          <a:xfrm>
            <a:off x="1439540" y="6556705"/>
            <a:ext cx="10223358" cy="7315"/>
          </a:xfrm>
          <a:prstGeom prst="rect">
            <a:avLst/>
          </a:prstGeom>
          <a:solidFill>
            <a:srgbClr val="C9C4B9"/>
          </a:solidFill>
          <a:ln/>
        </p:spPr>
      </p:sp>
      <p:sp>
        <p:nvSpPr>
          <p:cNvPr id="26" name="Shape 22"/>
          <p:cNvSpPr/>
          <p:nvPr/>
        </p:nvSpPr>
        <p:spPr>
          <a:xfrm>
            <a:off x="1439540" y="6519946"/>
            <a:ext cx="7315" cy="36759"/>
          </a:xfrm>
          <a:prstGeom prst="rect">
            <a:avLst/>
          </a:prstGeom>
          <a:solidFill>
            <a:srgbClr val="C9C4B9"/>
          </a:solidFill>
          <a:ln/>
        </p:spPr>
      </p:sp>
      <p:sp>
        <p:nvSpPr>
          <p:cNvPr id="27" name="Text 23"/>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8" name="Shape 24"/>
          <p:cNvSpPr/>
          <p:nvPr/>
        </p:nvSpPr>
        <p:spPr>
          <a:xfrm>
            <a:off x="5415351" y="6519946"/>
            <a:ext cx="7315" cy="36759"/>
          </a:xfrm>
          <a:prstGeom prst="rect">
            <a:avLst/>
          </a:prstGeom>
          <a:solidFill>
            <a:srgbClr val="C9C4B9"/>
          </a:solidFill>
          <a:ln/>
        </p:spPr>
      </p:sp>
      <p:sp>
        <p:nvSpPr>
          <p:cNvPr id="29" name="Text 25"/>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0" name="Shape 26"/>
          <p:cNvSpPr/>
          <p:nvPr/>
        </p:nvSpPr>
        <p:spPr>
          <a:xfrm>
            <a:off x="7119610" y="6519946"/>
            <a:ext cx="7315" cy="36759"/>
          </a:xfrm>
          <a:prstGeom prst="rect">
            <a:avLst/>
          </a:prstGeom>
          <a:solidFill>
            <a:srgbClr val="C9C4B9"/>
          </a:solidFill>
          <a:ln/>
        </p:spPr>
      </p:sp>
      <p:sp>
        <p:nvSpPr>
          <p:cNvPr id="31" name="Text 27"/>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2" name="Shape 28"/>
          <p:cNvSpPr/>
          <p:nvPr/>
        </p:nvSpPr>
        <p:spPr>
          <a:xfrm>
            <a:off x="9958639" y="6519946"/>
            <a:ext cx="7315" cy="36759"/>
          </a:xfrm>
          <a:prstGeom prst="rect">
            <a:avLst/>
          </a:prstGeom>
          <a:solidFill>
            <a:srgbClr val="C9C4B9"/>
          </a:solidFill>
          <a:ln/>
        </p:spPr>
      </p:sp>
      <p:sp>
        <p:nvSpPr>
          <p:cNvPr id="33" name="Text 29"/>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4" name="Shape 30"/>
          <p:cNvSpPr/>
          <p:nvPr/>
        </p:nvSpPr>
        <p:spPr>
          <a:xfrm>
            <a:off x="11662898" y="6519946"/>
            <a:ext cx="7315" cy="36759"/>
          </a:xfrm>
          <a:prstGeom prst="rect">
            <a:avLst/>
          </a:prstGeom>
          <a:solidFill>
            <a:srgbClr val="C9C4B9"/>
          </a:solidFill>
          <a:ln/>
        </p:spPr>
      </p:sp>
      <p:sp>
        <p:nvSpPr>
          <p:cNvPr id="35" name="Text 31"/>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41254"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12</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1030437"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THE BENCHMARKS</a:t>
            </a:r>
            <a:endParaRPr lang="en-US" sz="781" dirty="0"/>
          </a:p>
        </p:txBody>
      </p:sp>
      <p:sp>
        <p:nvSpPr>
          <p:cNvPr id="5" name="Text 3"/>
          <p:cNvSpPr txBox="1"/>
          <p:nvPr/>
        </p:nvSpPr>
        <p:spPr>
          <a:xfrm>
            <a:off x="1439540" y="607070"/>
            <a:ext cx="7655997"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Nine datasets, and what each one is actually testing</a:t>
            </a:r>
            <a:endParaRPr lang="en-US" sz="2660" dirty="0"/>
          </a:p>
        </p:txBody>
      </p:sp>
      <p:sp>
        <p:nvSpPr>
          <p:cNvPr id="6" name="Text 4"/>
          <p:cNvSpPr txBox="1"/>
          <p:nvPr/>
        </p:nvSpPr>
        <p:spPr>
          <a:xfrm>
            <a:off x="1439540" y="1091885"/>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Benchmark choice is not neutral. Each dataset in this deck was chosen by its authors to expose a specific weakness, and the differences between them carry most of the argument in Part VII.</a:t>
            </a:r>
            <a:endParaRPr lang="en-US" sz="1157" dirty="0"/>
          </a:p>
        </p:txBody>
      </p:sp>
      <p:sp>
        <p:nvSpPr>
          <p:cNvPr id="7" name="Shape 5"/>
          <p:cNvSpPr/>
          <p:nvPr/>
        </p:nvSpPr>
        <p:spPr>
          <a:xfrm>
            <a:off x="3242554" y="1738183"/>
            <a:ext cx="6617330" cy="2151949"/>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8" name="Shape 6"/>
          <p:cNvSpPr/>
          <p:nvPr/>
        </p:nvSpPr>
        <p:spPr>
          <a:xfrm>
            <a:off x="3242554" y="1738183"/>
            <a:ext cx="6617330" cy="7315"/>
          </a:xfrm>
          <a:prstGeom prst="rect">
            <a:avLst/>
          </a:prstGeom>
          <a:solidFill>
            <a:srgbClr val="C9C4B9"/>
          </a:solidFill>
          <a:ln/>
        </p:spPr>
      </p:sp>
      <p:sp>
        <p:nvSpPr>
          <p:cNvPr id="9" name="Shape 7"/>
          <p:cNvSpPr/>
          <p:nvPr/>
        </p:nvSpPr>
        <p:spPr>
          <a:xfrm>
            <a:off x="3242554" y="3882817"/>
            <a:ext cx="6617330" cy="7315"/>
          </a:xfrm>
          <a:prstGeom prst="rect">
            <a:avLst/>
          </a:prstGeom>
          <a:solidFill>
            <a:srgbClr val="C9C4B9"/>
          </a:solidFill>
          <a:ln/>
        </p:spPr>
      </p:sp>
      <p:sp>
        <p:nvSpPr>
          <p:cNvPr id="10" name="Shape 8"/>
          <p:cNvSpPr/>
          <p:nvPr/>
        </p:nvSpPr>
        <p:spPr>
          <a:xfrm>
            <a:off x="3242554" y="1738183"/>
            <a:ext cx="7315" cy="2151949"/>
          </a:xfrm>
          <a:prstGeom prst="rect">
            <a:avLst/>
          </a:prstGeom>
          <a:solidFill>
            <a:srgbClr val="C9C4B9"/>
          </a:solidFill>
          <a:ln/>
        </p:spPr>
      </p:sp>
      <p:sp>
        <p:nvSpPr>
          <p:cNvPr id="11" name="Shape 9"/>
          <p:cNvSpPr/>
          <p:nvPr/>
        </p:nvSpPr>
        <p:spPr>
          <a:xfrm>
            <a:off x="9852477" y="1738183"/>
            <a:ext cx="7315" cy="2151949"/>
          </a:xfrm>
          <a:prstGeom prst="rect">
            <a:avLst/>
          </a:prstGeom>
          <a:solidFill>
            <a:srgbClr val="C9C4B9"/>
          </a:solidFill>
          <a:ln/>
        </p:spPr>
      </p:sp>
      <p:pic>
        <p:nvPicPr>
          <p:cNvPr id="12" name="Image 0" descr="The 20 standard grayscale/colour test images used across the classical era — Cameraman, Barbara, Lena and the rest.">    </p:cNvPr>
          <p:cNvPicPr>
            <a:picLocks noChangeAspect="1"/>
          </p:cNvPicPr>
          <p:nvPr/>
        </p:nvPicPr>
        <p:blipFill>
          <a:blip r:embed="rId1"/>
          <a:stretch>
            <a:fillRect/>
          </a:stretch>
        </p:blipFill>
        <p:spPr>
          <a:xfrm>
            <a:off x="3352739" y="1848368"/>
            <a:ext cx="6396960" cy="1931579"/>
          </a:xfrm>
          <a:prstGeom prst="rect">
            <a:avLst/>
          </a:prstGeom>
        </p:spPr>
      </p:pic>
      <p:sp>
        <p:nvSpPr>
          <p:cNvPr id="13" name="Text 10"/>
          <p:cNvSpPr txBox="1"/>
          <p:nvPr/>
        </p:nvSpPr>
        <p:spPr>
          <a:xfrm>
            <a:off x="3574115" y="3990716"/>
            <a:ext cx="5954116" cy="143927"/>
          </a:xfrm>
          <a:prstGeom prst="rect">
            <a:avLst/>
          </a:prstGeom>
          <a:noFill/>
          <a:ln/>
        </p:spPr>
        <p:txBody>
          <a:bodyPr wrap="non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The 20 standard grayscale/colour test images used across the classical era — Cameraman, Barbara, Lena and the rest. [WNNM14 · Fig. 1]</a:t>
            </a:r>
            <a:endParaRPr lang="en-US" sz="81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439540" y="4327764"/>
          <a:ext cx="9144000" cy="914400"/>
        </p:xfrm>
        <a:graphic>
          <a:graphicData uri="http://schemas.openxmlformats.org/drawingml/2006/table">
            <a:tbl>
              <a:tblPr/>
              <a:tblGrid>
                <a:gridCol w="701345"/>
                <a:gridCol w="2776210"/>
                <a:gridCol w="4729825"/>
                <a:gridCol w="2016069"/>
              </a:tblGrid>
              <a:tr h="242407">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CONTENT</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WHAT IT STRESSES</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USED BY</a:t>
                      </a:r>
                      <a:pPr algn="l" indent="0" marL="0">
                        <a:lnSpc>
                          <a:spcPts val="882"/>
                        </a:lnSpc>
                        <a:buNone/>
                      </a:pPr>
                      <a:r>
                        <a:rPr lang="en-US" sz="535" b="1" spc="87" kern="0" dirty="0">
                          <a:solidFill>
                            <a:srgbClr val="C0451A"/>
                          </a:solidFill>
                          <a:latin typeface="Calibri" pitchFamily="34" charset="0"/>
                          <a:ea typeface="Calibri" pitchFamily="34" charset="-122"/>
                          <a:cs typeface="Calibri" pitchFamily="34" charset="-120"/>
                        </a:rPr>
                        <a:t>[1]</a:t>
                      </a:r>
                      <a:pPr algn="l" indent="0" marL="0">
                        <a:lnSpc>
                          <a:spcPts val="882"/>
                        </a:lnSpc>
                        <a:buNone/>
                      </a:pPr>
                      <a:r>
                        <a:rPr lang="en-US" sz="535" b="1" spc="87" kern="0" dirty="0">
                          <a:solidFill>
                            <a:srgbClr val="C0451A"/>
                          </a:solidFill>
                          <a:latin typeface="Calibri" pitchFamily="34" charset="0"/>
                          <a:ea typeface="Calibri" pitchFamily="34" charset="-122"/>
                          <a:cs typeface="Calibri" pitchFamily="34" charset="-120"/>
                        </a:rPr>
                        <a:t>[2]</a:t>
                      </a:r>
                      <a:pPr algn="l" indent="0" marL="0">
                        <a:lnSpc>
                          <a:spcPts val="882"/>
                        </a:lnSpc>
                        <a:buNone/>
                      </a:pPr>
                      <a:r>
                        <a:rPr lang="en-US" sz="535" b="1" spc="87" kern="0" dirty="0">
                          <a:solidFill>
                            <a:srgbClr val="C0451A"/>
                          </a:solidFill>
                          <a:latin typeface="Calibri" pitchFamily="34" charset="0"/>
                          <a:ea typeface="Calibri" pitchFamily="34" charset="-122"/>
                          <a:cs typeface="Calibri" pitchFamily="34" charset="-120"/>
                        </a:rPr>
                        <a:t>[3]</a:t>
                      </a:r>
                      <a:pPr algn="l" indent="0" marL="0">
                        <a:lnSpc>
                          <a:spcPts val="882"/>
                        </a:lnSpc>
                        <a:buNone/>
                      </a:pPr>
                      <a:r>
                        <a:rPr lang="en-US" sz="535" b="1" spc="87" kern="0" dirty="0">
                          <a:solidFill>
                            <a:srgbClr val="C045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r>
              <a:tr h="304770">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BSD68</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68 natural grayscale images, 481×321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General-purpose average case. The standard denoising benchmark since 2007.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DnCNN, TNRD, N2V, Restormer</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Set12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12 classics — Cameraman, House, Barbara, Lena…</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Per-image behaviour. Barbara and House are dominated by repetitive texture.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DnCNN Table III, Restormer Table 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Urban100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100 urban photographs, high resolution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Long-range self-similarity.</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Building façades repeat identically across hundreds of pixels.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Restormer, MambaIR, SwinIR</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15" name="Text 11"/>
          <p:cNvSpPr txBox="1"/>
          <p:nvPr/>
        </p:nvSpPr>
        <p:spPr>
          <a:xfrm>
            <a:off x="8390809" y="6285494"/>
            <a:ext cx="3272089"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DnCNN17 §IV 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Restormer22 §4.4 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MambaIR24 §4.1 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[4]</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NAFNet22 §5</a:t>
            </a:r>
            <a:endParaRPr lang="en-US" sz="556" dirty="0"/>
          </a:p>
        </p:txBody>
      </p:sp>
      <p:sp>
        <p:nvSpPr>
          <p:cNvPr id="16" name="Shape 12"/>
          <p:cNvSpPr/>
          <p:nvPr/>
        </p:nvSpPr>
        <p:spPr>
          <a:xfrm>
            <a:off x="1439540" y="6556705"/>
            <a:ext cx="10223358" cy="7315"/>
          </a:xfrm>
          <a:prstGeom prst="rect">
            <a:avLst/>
          </a:prstGeom>
          <a:solidFill>
            <a:srgbClr val="C9C4B9"/>
          </a:solidFill>
          <a:ln/>
        </p:spPr>
      </p:sp>
      <p:sp>
        <p:nvSpPr>
          <p:cNvPr id="17" name="Shape 13"/>
          <p:cNvSpPr/>
          <p:nvPr/>
        </p:nvSpPr>
        <p:spPr>
          <a:xfrm>
            <a:off x="1439540" y="6519946"/>
            <a:ext cx="7315" cy="36759"/>
          </a:xfrm>
          <a:prstGeom prst="rect">
            <a:avLst/>
          </a:prstGeom>
          <a:solidFill>
            <a:srgbClr val="C9C4B9"/>
          </a:solidFill>
          <a:ln/>
        </p:spPr>
      </p:sp>
      <p:sp>
        <p:nvSpPr>
          <p:cNvPr id="18" name="Text 14"/>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19" name="Shape 15"/>
          <p:cNvSpPr/>
          <p:nvPr/>
        </p:nvSpPr>
        <p:spPr>
          <a:xfrm>
            <a:off x="5415351" y="6519946"/>
            <a:ext cx="7315" cy="36759"/>
          </a:xfrm>
          <a:prstGeom prst="rect">
            <a:avLst/>
          </a:prstGeom>
          <a:solidFill>
            <a:srgbClr val="C9C4B9"/>
          </a:solidFill>
          <a:ln/>
        </p:spPr>
      </p:sp>
      <p:sp>
        <p:nvSpPr>
          <p:cNvPr id="20" name="Text 16"/>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1" name="Shape 17"/>
          <p:cNvSpPr/>
          <p:nvPr/>
        </p:nvSpPr>
        <p:spPr>
          <a:xfrm>
            <a:off x="7119610" y="6519946"/>
            <a:ext cx="7315" cy="36759"/>
          </a:xfrm>
          <a:prstGeom prst="rect">
            <a:avLst/>
          </a:prstGeom>
          <a:solidFill>
            <a:srgbClr val="C9C4B9"/>
          </a:solidFill>
          <a:ln/>
        </p:spPr>
      </p:sp>
      <p:sp>
        <p:nvSpPr>
          <p:cNvPr id="22" name="Text 18"/>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23" name="Shape 19"/>
          <p:cNvSpPr/>
          <p:nvPr/>
        </p:nvSpPr>
        <p:spPr>
          <a:xfrm>
            <a:off x="9958639" y="6519946"/>
            <a:ext cx="7315" cy="36759"/>
          </a:xfrm>
          <a:prstGeom prst="rect">
            <a:avLst/>
          </a:prstGeom>
          <a:solidFill>
            <a:srgbClr val="C9C4B9"/>
          </a:solidFill>
          <a:ln/>
        </p:spPr>
      </p:sp>
      <p:sp>
        <p:nvSpPr>
          <p:cNvPr id="24" name="Text 20"/>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5" name="Shape 21"/>
          <p:cNvSpPr/>
          <p:nvPr/>
        </p:nvSpPr>
        <p:spPr>
          <a:xfrm>
            <a:off x="11662898" y="6519946"/>
            <a:ext cx="7315" cy="36759"/>
          </a:xfrm>
          <a:prstGeom prst="rect">
            <a:avLst/>
          </a:prstGeom>
          <a:solidFill>
            <a:srgbClr val="C9C4B9"/>
          </a:solidFill>
          <a:ln/>
        </p:spPr>
      </p:sp>
      <p:sp>
        <p:nvSpPr>
          <p:cNvPr id="26" name="Text 22"/>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8807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12</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17152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THE BENCHMARKS</a:t>
            </a:r>
            <a:endParaRPr lang="en-US" sz="888" dirty="0"/>
          </a:p>
        </p:txBody>
      </p:sp>
      <p:sp>
        <p:nvSpPr>
          <p:cNvPr id="5" name="Text 3"/>
          <p:cNvSpPr txBox="1"/>
          <p:nvPr/>
        </p:nvSpPr>
        <p:spPr>
          <a:xfrm>
            <a:off x="3175620"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 CONTINUED</a:t>
            </a:r>
            <a:endParaRPr lang="en-US" sz="888" dirty="0"/>
          </a:p>
        </p:txBody>
      </p:sp>
      <p:sp>
        <p:nvSpPr>
          <p:cNvPr id="6" name="Text 4"/>
          <p:cNvSpPr txBox="1"/>
          <p:nvPr/>
        </p:nvSpPr>
        <p:spPr>
          <a:xfrm>
            <a:off x="1636685" y="690281"/>
            <a:ext cx="8704722"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Nine datasets, and what each one is actually testing</a:t>
            </a:r>
            <a:endParaRPr lang="en-US" sz="3025"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636685" y="1241481"/>
          <a:ext cx="9144000" cy="914400"/>
        </p:xfrm>
        <a:graphic>
          <a:graphicData uri="http://schemas.openxmlformats.org/drawingml/2006/table">
            <a:tbl>
              <a:tblPr/>
              <a:tblGrid>
                <a:gridCol w="1607424"/>
                <a:gridCol w="2764048"/>
                <a:gridCol w="3715939"/>
                <a:gridCol w="1866290"/>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CONTENT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WHAT IT STRESSES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USED BY</a:t>
                      </a:r>
                      <a:pPr algn="l" indent="0" marL="0">
                        <a:lnSpc>
                          <a:spcPts val="1003"/>
                        </a:lnSpc>
                        <a:buNone/>
                      </a:pPr>
                      <a:r>
                        <a:rPr lang="en-US" sz="608" b="1" spc="99" kern="0" dirty="0">
                          <a:solidFill>
                            <a:srgbClr val="C0451A"/>
                          </a:solidFill>
                          <a:latin typeface="Calibri" pitchFamily="34" charset="0"/>
                          <a:ea typeface="Calibri" pitchFamily="34" charset="-122"/>
                          <a:cs typeface="Calibri" pitchFamily="34" charset="-120"/>
                        </a:rPr>
                        <a:t>[1]</a:t>
                      </a:r>
                      <a:pPr algn="l" indent="0" marL="0">
                        <a:lnSpc>
                          <a:spcPts val="1003"/>
                        </a:lnSpc>
                        <a:buNone/>
                      </a:pPr>
                      <a:r>
                        <a:rPr lang="en-US" sz="608" b="1" spc="99" kern="0" dirty="0">
                          <a:solidFill>
                            <a:srgbClr val="C0451A"/>
                          </a:solidFill>
                          <a:latin typeface="Calibri" pitchFamily="34" charset="0"/>
                          <a:ea typeface="Calibri" pitchFamily="34" charset="-122"/>
                          <a:cs typeface="Calibri" pitchFamily="34" charset="-120"/>
                        </a:rPr>
                        <a:t>[2]</a:t>
                      </a:r>
                      <a:pPr algn="l" indent="0" marL="0">
                        <a:lnSpc>
                          <a:spcPts val="1003"/>
                        </a:lnSpc>
                        <a:buNone/>
                      </a:pPr>
                      <a:r>
                        <a:rPr lang="en-US" sz="608" b="1" spc="99" kern="0" dirty="0">
                          <a:solidFill>
                            <a:srgbClr val="C0451A"/>
                          </a:solidFill>
                          <a:latin typeface="Calibri" pitchFamily="34" charset="0"/>
                          <a:ea typeface="Calibri" pitchFamily="34" charset="-122"/>
                          <a:cs typeface="Calibri" pitchFamily="34" charset="-120"/>
                        </a:rPr>
                        <a:t>[3]</a:t>
                      </a:r>
                      <a:pPr algn="l" indent="0" marL="0">
                        <a:lnSpc>
                          <a:spcPts val="1003"/>
                        </a:lnSpc>
                        <a:buNone/>
                      </a:pPr>
                      <a:r>
                        <a:rPr lang="en-US" sz="608" b="1" spc="99" kern="0" dirty="0">
                          <a:solidFill>
                            <a:srgbClr val="C045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r>
              <a:tr h="513527">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CBSD68 / Kodak24 / McMaster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Colour natural images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Cross-channel noise correlation and colour artefacts.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Restormer Table 5, MambaIR Table 5</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SIDD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Smartphone images, real sensor noise, 320 training scenes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The AWGN assumption itself.</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Noise is signal-dependent and processed by an ISP.</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NAFNet, Restormer, MambaIR, P2N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DND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Real photographs, held-out benchmark server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Generalisation — no training data is released, so you cannot overfit it.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Restormer, MambaIR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Set5 / Set14 / BSD100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Super-resolution benchmarks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Whether a denoiser generalises to other inverse problems.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DnCNN-3, MambaIR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Classic5 / LIVE1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JPEG-compressed images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Structured, non-Gaussian residual.</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DnCNN-3 Table V</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636685" y="3972062"/>
            <a:ext cx="9953793" cy="16734"/>
          </a:xfrm>
          <a:prstGeom prst="rect">
            <a:avLst/>
          </a:prstGeom>
          <a:solidFill>
            <a:srgbClr val="14343F"/>
          </a:solidFill>
          <a:ln/>
        </p:spPr>
      </p:sp>
      <p:sp>
        <p:nvSpPr>
          <p:cNvPr id="9" name="Text 6"/>
          <p:cNvSpPr txBox="1"/>
          <p:nvPr/>
        </p:nvSpPr>
        <p:spPr>
          <a:xfrm>
            <a:off x="1636685" y="4120286"/>
            <a:ext cx="10010303" cy="425836"/>
          </a:xfrm>
          <a:prstGeom prst="rect">
            <a:avLst/>
          </a:prstGeom>
          <a:noFill/>
          <a:ln/>
        </p:spPr>
        <p:txBody>
          <a:bodyPr wrap="square" lIns="0" tIns="0" rIns="0" bIns="0" rtlCol="0" anchor="t"/>
          <a:lstStyle/>
          <a:p>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Urban100 and SIDD are the two datasets that carry the argument. Urban100 exposes bottleneck 3; SIDD exposes the AWGN assumption. Both appear again in Part VII with numbers.</a:t>
            </a:r>
            <a:endParaRPr lang="en-US" sz="1118" dirty="0"/>
          </a:p>
        </p:txBody>
      </p:sp>
      <p:sp>
        <p:nvSpPr>
          <p:cNvPr id="10" name="Text 7"/>
          <p:cNvSpPr txBox="1"/>
          <p:nvPr/>
        </p:nvSpPr>
        <p:spPr>
          <a:xfrm>
            <a:off x="7870149" y="6207039"/>
            <a:ext cx="3720328"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§IV 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Restormer22 §4.4 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[3]</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MambaIR24 §4.1 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[4]</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NAFNet22 §5</a:t>
            </a:r>
            <a:endParaRPr lang="en-US" sz="633" dirty="0"/>
          </a:p>
        </p:txBody>
      </p:sp>
      <p:sp>
        <p:nvSpPr>
          <p:cNvPr id="11" name="Shape 8"/>
          <p:cNvSpPr/>
          <p:nvPr/>
        </p:nvSpPr>
        <p:spPr>
          <a:xfrm>
            <a:off x="1636685" y="6515466"/>
            <a:ext cx="9953793" cy="8321"/>
          </a:xfrm>
          <a:prstGeom prst="rect">
            <a:avLst/>
          </a:prstGeom>
          <a:solidFill>
            <a:srgbClr val="C9C4B9"/>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88437"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13</a:t>
            </a:r>
            <a:endParaRPr lang="en-US" sz="2893" dirty="0"/>
          </a:p>
        </p:txBody>
      </p:sp>
      <p:sp>
        <p:nvSpPr>
          <p:cNvPr id="3" name="Shape 1"/>
          <p:cNvSpPr/>
          <p:nvPr/>
        </p:nvSpPr>
        <p:spPr>
          <a:xfrm>
            <a:off x="1636685" y="494873"/>
            <a:ext cx="217079" cy="25055"/>
          </a:xfrm>
          <a:prstGeom prst="rect">
            <a:avLst/>
          </a:prstGeom>
          <a:solidFill>
            <a:srgbClr val="14343F"/>
          </a:solidFill>
          <a:ln/>
        </p:spPr>
      </p:sp>
      <p:sp>
        <p:nvSpPr>
          <p:cNvPr id="4" name="Text 2"/>
          <p:cNvSpPr txBox="1"/>
          <p:nvPr/>
        </p:nvSpPr>
        <p:spPr>
          <a:xfrm>
            <a:off x="1953981" y="438638"/>
            <a:ext cx="1114562"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WHY IT MATTERS</a:t>
            </a:r>
            <a:endParaRPr lang="en-US" sz="888" dirty="0"/>
          </a:p>
        </p:txBody>
      </p:sp>
      <p:sp>
        <p:nvSpPr>
          <p:cNvPr id="5" name="Text 3"/>
          <p:cNvSpPr txBox="1"/>
          <p:nvPr/>
        </p:nvSpPr>
        <p:spPr>
          <a:xfrm>
            <a:off x="1636685" y="978774"/>
            <a:ext cx="876662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Denoising is rarely the product — it is the substrate</a:t>
            </a:r>
            <a:endParaRPr lang="en-US" sz="3025" dirty="0"/>
          </a:p>
        </p:txBody>
      </p:sp>
      <p:sp>
        <p:nvSpPr>
          <p:cNvPr id="6" name="Text 4"/>
          <p:cNvSpPr txBox="1"/>
          <p:nvPr/>
        </p:nvSpPr>
        <p:spPr>
          <a:xfrm>
            <a:off x="1636685" y="1818467"/>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The strongest argument for studying denoising is not that grainy photos are annoying. It is that denoising is the canonical inverse problem, and a good denoiser turns out to be a reusable component in problems that are not denoising at all.</a:t>
            </a:r>
            <a:endParaRPr lang="en-US" sz="1315" dirty="0"/>
          </a:p>
        </p:txBody>
      </p:sp>
      <p:sp>
        <p:nvSpPr>
          <p:cNvPr id="7" name="Shape 5"/>
          <p:cNvSpPr/>
          <p:nvPr/>
        </p:nvSpPr>
        <p:spPr>
          <a:xfrm>
            <a:off x="1636685" y="3092318"/>
            <a:ext cx="4793193" cy="16734"/>
          </a:xfrm>
          <a:prstGeom prst="rect">
            <a:avLst/>
          </a:prstGeom>
          <a:solidFill>
            <a:srgbClr val="14343F"/>
          </a:solidFill>
          <a:ln/>
        </p:spPr>
      </p:sp>
      <p:sp>
        <p:nvSpPr>
          <p:cNvPr id="8" name="Text 6"/>
          <p:cNvSpPr txBox="1"/>
          <p:nvPr/>
        </p:nvSpPr>
        <p:spPr>
          <a:xfrm>
            <a:off x="1636685" y="3242462"/>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1</a:t>
            </a:r>
            <a:endParaRPr lang="en-US" sz="756" dirty="0"/>
          </a:p>
        </p:txBody>
      </p:sp>
      <p:sp>
        <p:nvSpPr>
          <p:cNvPr id="9" name="Text 7"/>
          <p:cNvSpPr txBox="1"/>
          <p:nvPr/>
        </p:nvSpPr>
        <p:spPr>
          <a:xfrm>
            <a:off x="1636685" y="3434852"/>
            <a:ext cx="1510314"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It evaluates priors</a:t>
            </a:r>
            <a:endParaRPr lang="en-US" sz="1447" dirty="0"/>
          </a:p>
        </p:txBody>
      </p:sp>
      <p:sp>
        <p:nvSpPr>
          <p:cNvPr id="10" name="Text 8"/>
          <p:cNvSpPr txBox="1"/>
          <p:nvPr/>
        </p:nvSpPr>
        <p:spPr>
          <a:xfrm>
            <a:off x="1636685" y="3763762"/>
            <a:ext cx="4829038" cy="640812"/>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SCUNet's opening argument: denoising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can help to evaluate the effectiveness of different image priors and optimization algorithms</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It is the cleanest possible test bed because the degradation is exactly known. </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[1]</a:t>
            </a:r>
            <a:endParaRPr lang="en-US" sz="1085" dirty="0"/>
          </a:p>
        </p:txBody>
      </p:sp>
      <p:sp>
        <p:nvSpPr>
          <p:cNvPr id="11" name="Shape 9"/>
          <p:cNvSpPr/>
          <p:nvPr/>
        </p:nvSpPr>
        <p:spPr>
          <a:xfrm>
            <a:off x="6797284" y="3092318"/>
            <a:ext cx="4793193" cy="16734"/>
          </a:xfrm>
          <a:prstGeom prst="rect">
            <a:avLst/>
          </a:prstGeom>
          <a:solidFill>
            <a:srgbClr val="14343F"/>
          </a:solidFill>
          <a:ln/>
        </p:spPr>
      </p:sp>
      <p:sp>
        <p:nvSpPr>
          <p:cNvPr id="12" name="Text 10"/>
          <p:cNvSpPr txBox="1"/>
          <p:nvPr/>
        </p:nvSpPr>
        <p:spPr>
          <a:xfrm>
            <a:off x="6797284" y="3242462"/>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2</a:t>
            </a:r>
            <a:endParaRPr lang="en-US" sz="756" dirty="0"/>
          </a:p>
        </p:txBody>
      </p:sp>
      <p:sp>
        <p:nvSpPr>
          <p:cNvPr id="13" name="Text 11"/>
          <p:cNvSpPr txBox="1"/>
          <p:nvPr/>
        </p:nvSpPr>
        <p:spPr>
          <a:xfrm>
            <a:off x="6797284" y="3434852"/>
            <a:ext cx="2310323"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It plugs into other problems</a:t>
            </a:r>
            <a:endParaRPr lang="en-US" sz="1447" dirty="0"/>
          </a:p>
        </p:txBody>
      </p:sp>
      <p:sp>
        <p:nvSpPr>
          <p:cNvPr id="14" name="Text 12"/>
          <p:cNvSpPr txBox="1"/>
          <p:nvPr/>
        </p:nvSpPr>
        <p:spPr>
          <a:xfrm>
            <a:off x="6797284" y="3763762"/>
            <a:ext cx="4829038" cy="62828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A denoiser can be inserted into variable-splitting algorithms — half-quadratic splitting, ADMM — to solve deblurring and super-resolution. This is the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plug-and-play prior</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result: solve denoising once, get a general-purpose regulariser. </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[1]</a:t>
            </a:r>
            <a:endParaRPr lang="en-US" sz="1085" dirty="0"/>
          </a:p>
        </p:txBody>
      </p:sp>
      <p:sp>
        <p:nvSpPr>
          <p:cNvPr id="15" name="Shape 13"/>
          <p:cNvSpPr/>
          <p:nvPr/>
        </p:nvSpPr>
        <p:spPr>
          <a:xfrm>
            <a:off x="1636685" y="4682825"/>
            <a:ext cx="4793193" cy="16734"/>
          </a:xfrm>
          <a:prstGeom prst="rect">
            <a:avLst/>
          </a:prstGeom>
          <a:solidFill>
            <a:srgbClr val="14343F"/>
          </a:solidFill>
          <a:ln/>
        </p:spPr>
      </p:sp>
      <p:sp>
        <p:nvSpPr>
          <p:cNvPr id="16" name="Text 14"/>
          <p:cNvSpPr txBox="1"/>
          <p:nvPr/>
        </p:nvSpPr>
        <p:spPr>
          <a:xfrm>
            <a:off x="1636685" y="4832970"/>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3</a:t>
            </a:r>
            <a:endParaRPr lang="en-US" sz="756" dirty="0"/>
          </a:p>
        </p:txBody>
      </p:sp>
      <p:sp>
        <p:nvSpPr>
          <p:cNvPr id="17" name="Text 15"/>
          <p:cNvSpPr txBox="1"/>
          <p:nvPr/>
        </p:nvSpPr>
        <p:spPr>
          <a:xfrm>
            <a:off x="1636685" y="5025360"/>
            <a:ext cx="2205350"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It is the first step for vision</a:t>
            </a:r>
            <a:endParaRPr lang="en-US" sz="1447" dirty="0"/>
          </a:p>
        </p:txBody>
      </p:sp>
      <p:sp>
        <p:nvSpPr>
          <p:cNvPr id="18" name="Text 16"/>
          <p:cNvSpPr txBox="1"/>
          <p:nvPr/>
        </p:nvSpPr>
        <p:spPr>
          <a:xfrm>
            <a:off x="1636685" y="5354269"/>
            <a:ext cx="4829038" cy="640812"/>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Denoising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could be the very first step for other vision tasks</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Detection, segmentation and classification all degrade on noisy input; the denoiser is the preprocessing that makes the downstream stack work at all. </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[1]</a:t>
            </a:r>
            <a:endParaRPr lang="en-US" sz="1085" dirty="0"/>
          </a:p>
        </p:txBody>
      </p:sp>
      <p:sp>
        <p:nvSpPr>
          <p:cNvPr id="19" name="Shape 17"/>
          <p:cNvSpPr/>
          <p:nvPr/>
        </p:nvSpPr>
        <p:spPr>
          <a:xfrm>
            <a:off x="6797284" y="4682825"/>
            <a:ext cx="4793193" cy="16734"/>
          </a:xfrm>
          <a:prstGeom prst="rect">
            <a:avLst/>
          </a:prstGeom>
          <a:solidFill>
            <a:srgbClr val="14343F"/>
          </a:solidFill>
          <a:ln/>
        </p:spPr>
      </p:sp>
      <p:sp>
        <p:nvSpPr>
          <p:cNvPr id="20" name="Text 18"/>
          <p:cNvSpPr txBox="1"/>
          <p:nvPr/>
        </p:nvSpPr>
        <p:spPr>
          <a:xfrm>
            <a:off x="6797284" y="4832970"/>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4</a:t>
            </a:r>
            <a:endParaRPr lang="en-US" sz="756" dirty="0"/>
          </a:p>
        </p:txBody>
      </p:sp>
      <p:sp>
        <p:nvSpPr>
          <p:cNvPr id="21" name="Text 19"/>
          <p:cNvSpPr txBox="1"/>
          <p:nvPr/>
        </p:nvSpPr>
        <p:spPr>
          <a:xfrm>
            <a:off x="6797284" y="5025360"/>
            <a:ext cx="1888327"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One model, three tasks</a:t>
            </a:r>
            <a:endParaRPr lang="en-US" sz="1447" dirty="0"/>
          </a:p>
        </p:txBody>
      </p:sp>
      <p:sp>
        <p:nvSpPr>
          <p:cNvPr id="22" name="Text 20"/>
          <p:cNvSpPr txBox="1"/>
          <p:nvPr/>
        </p:nvSpPr>
        <p:spPr>
          <a:xfrm>
            <a:off x="6797284" y="5354269"/>
            <a:ext cx="4829038" cy="640812"/>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DnCNN proved that super-resolution and JPEG deblocking are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special cases of a general image denoising problem</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 redefine v and the same network and loss solve all three. Denoising is not one task; it is a template. </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[2]</a:t>
            </a:r>
            <a:endParaRPr lang="en-US" sz="1085" dirty="0"/>
          </a:p>
        </p:txBody>
      </p:sp>
      <p:sp>
        <p:nvSpPr>
          <p:cNvPr id="23" name="Text 21"/>
          <p:cNvSpPr txBox="1"/>
          <p:nvPr/>
        </p:nvSpPr>
        <p:spPr>
          <a:xfrm>
            <a:off x="9889145" y="6207039"/>
            <a:ext cx="1701333"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SCUNet23 §1 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§III-D</a:t>
            </a:r>
            <a:endParaRPr lang="en-US" sz="633" dirty="0"/>
          </a:p>
        </p:txBody>
      </p:sp>
      <p:sp>
        <p:nvSpPr>
          <p:cNvPr id="24" name="Shape 22"/>
          <p:cNvSpPr/>
          <p:nvPr/>
        </p:nvSpPr>
        <p:spPr>
          <a:xfrm>
            <a:off x="1636685" y="6515466"/>
            <a:ext cx="9953793" cy="8321"/>
          </a:xfrm>
          <a:prstGeom prst="rect">
            <a:avLst/>
          </a:prstGeom>
          <a:solidFill>
            <a:srgbClr val="C9C4B9"/>
          </a:solidFill>
          <a:ln/>
        </p:spPr>
      </p:sp>
      <p:sp>
        <p:nvSpPr>
          <p:cNvPr id="25" name="Shape 23"/>
          <p:cNvSpPr/>
          <p:nvPr/>
        </p:nvSpPr>
        <p:spPr>
          <a:xfrm>
            <a:off x="1636685" y="6473678"/>
            <a:ext cx="8321" cy="41788"/>
          </a:xfrm>
          <a:prstGeom prst="rect">
            <a:avLst/>
          </a:prstGeom>
          <a:solidFill>
            <a:srgbClr val="C9C4B9"/>
          </a:solidFill>
          <a:ln/>
        </p:spPr>
      </p:sp>
      <p:sp>
        <p:nvSpPr>
          <p:cNvPr id="26" name="Text 24"/>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7" name="Shape 25"/>
          <p:cNvSpPr/>
          <p:nvPr/>
        </p:nvSpPr>
        <p:spPr>
          <a:xfrm>
            <a:off x="5507706" y="6473678"/>
            <a:ext cx="8321" cy="41788"/>
          </a:xfrm>
          <a:prstGeom prst="rect">
            <a:avLst/>
          </a:prstGeom>
          <a:solidFill>
            <a:srgbClr val="C9C4B9"/>
          </a:solidFill>
          <a:ln/>
        </p:spPr>
      </p:sp>
      <p:sp>
        <p:nvSpPr>
          <p:cNvPr id="28" name="Text 26"/>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9" name="Shape 27"/>
          <p:cNvSpPr/>
          <p:nvPr/>
        </p:nvSpPr>
        <p:spPr>
          <a:xfrm>
            <a:off x="7166884" y="6473678"/>
            <a:ext cx="8321" cy="41788"/>
          </a:xfrm>
          <a:prstGeom prst="rect">
            <a:avLst/>
          </a:prstGeom>
          <a:solidFill>
            <a:srgbClr val="C9C4B9"/>
          </a:solidFill>
          <a:ln/>
        </p:spPr>
      </p:sp>
      <p:sp>
        <p:nvSpPr>
          <p:cNvPr id="30" name="Text 28"/>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1" name="Shape 29"/>
          <p:cNvSpPr/>
          <p:nvPr/>
        </p:nvSpPr>
        <p:spPr>
          <a:xfrm>
            <a:off x="9931024" y="6473678"/>
            <a:ext cx="8321" cy="41788"/>
          </a:xfrm>
          <a:prstGeom prst="rect">
            <a:avLst/>
          </a:prstGeom>
          <a:solidFill>
            <a:srgbClr val="C9C4B9"/>
          </a:solidFill>
          <a:ln/>
        </p:spPr>
      </p:sp>
      <p:sp>
        <p:nvSpPr>
          <p:cNvPr id="32" name="Text 30"/>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3" name="Shape 31"/>
          <p:cNvSpPr/>
          <p:nvPr/>
        </p:nvSpPr>
        <p:spPr>
          <a:xfrm>
            <a:off x="11590477" y="6473678"/>
            <a:ext cx="8321" cy="41788"/>
          </a:xfrm>
          <a:prstGeom prst="rect">
            <a:avLst/>
          </a:prstGeom>
          <a:solidFill>
            <a:srgbClr val="C9C4B9"/>
          </a:solidFill>
          <a:ln/>
        </p:spPr>
      </p:sp>
      <p:sp>
        <p:nvSpPr>
          <p:cNvPr id="34" name="Text 32"/>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731977"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7C5E2A"/>
                </a:solidFill>
                <a:latin typeface="Cambria" pitchFamily="34" charset="0"/>
                <a:ea typeface="Cambria" pitchFamily="34" charset="-122"/>
                <a:cs typeface="Cambria" pitchFamily="34" charset="-120"/>
              </a:rPr>
              <a:t>II</a:t>
            </a:r>
            <a:endParaRPr lang="en-US" sz="8416" dirty="0"/>
          </a:p>
        </p:txBody>
      </p:sp>
      <p:sp>
        <p:nvSpPr>
          <p:cNvPr id="4" name="Shape 2"/>
          <p:cNvSpPr/>
          <p:nvPr/>
        </p:nvSpPr>
        <p:spPr>
          <a:xfrm>
            <a:off x="434249" y="1663294"/>
            <a:ext cx="1002091" cy="33376"/>
          </a:xfrm>
          <a:prstGeom prst="rect">
            <a:avLst/>
          </a:prstGeom>
          <a:solidFill>
            <a:srgbClr val="7C5E2A"/>
          </a:solidFill>
          <a:ln/>
        </p:spPr>
      </p:sp>
      <p:sp>
        <p:nvSpPr>
          <p:cNvPr id="5" name="Text 3"/>
          <p:cNvSpPr txBox="1"/>
          <p:nvPr/>
        </p:nvSpPr>
        <p:spPr>
          <a:xfrm>
            <a:off x="434249" y="1910273"/>
            <a:ext cx="2483236" cy="1198230"/>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The Classical DIP Foundation</a:t>
            </a:r>
            <a:endParaRPr lang="en-US" sz="3025" dirty="0"/>
          </a:p>
        </p:txBody>
      </p:sp>
      <p:sp>
        <p:nvSpPr>
          <p:cNvPr id="6" name="Shape 4"/>
          <p:cNvSpPr/>
          <p:nvPr/>
        </p:nvSpPr>
        <p:spPr>
          <a:xfrm>
            <a:off x="434249" y="3487796"/>
            <a:ext cx="217079" cy="25055"/>
          </a:xfrm>
          <a:prstGeom prst="rect">
            <a:avLst/>
          </a:prstGeom>
          <a:solidFill>
            <a:srgbClr val="8E877B"/>
          </a:solidFill>
          <a:ln/>
        </p:spPr>
      </p:sp>
      <p:sp>
        <p:nvSpPr>
          <p:cNvPr id="7" name="Text 5"/>
          <p:cNvSpPr txBox="1"/>
          <p:nvPr/>
        </p:nvSpPr>
        <p:spPr>
          <a:xfrm>
            <a:off x="751545" y="3431560"/>
            <a:ext cx="140076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PART II · 2005 – 2014</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214600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Spatial filters and the edge problem</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1734983"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Transform-domain shrinkage</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886236"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Total variation</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1413114"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Non-local self-similarity</a:t>
            </a:r>
            <a:endParaRPr lang="en-US" sz="1118" dirty="0"/>
          </a:p>
        </p:txBody>
      </p:sp>
      <p:sp>
        <p:nvSpPr>
          <p:cNvPr id="23" name="Shape 21"/>
          <p:cNvSpPr/>
          <p:nvPr/>
        </p:nvSpPr>
        <p:spPr>
          <a:xfrm>
            <a:off x="5526999" y="3479018"/>
            <a:ext cx="6146963" cy="8321"/>
          </a:xfrm>
          <a:prstGeom prst="rect">
            <a:avLst/>
          </a:prstGeom>
          <a:solidFill>
            <a:srgbClr val="DFDBD2"/>
          </a:solidFill>
          <a:ln/>
        </p:spPr>
      </p:sp>
      <p:sp>
        <p:nvSpPr>
          <p:cNvPr id="24" name="Text 22"/>
          <p:cNvSpPr txBox="1"/>
          <p:nvPr/>
        </p:nvSpPr>
        <p:spPr>
          <a:xfrm>
            <a:off x="5526999" y="3173700"/>
            <a:ext cx="173279"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05</a:t>
            </a:r>
            <a:endParaRPr lang="en-US" sz="921" dirty="0"/>
          </a:p>
        </p:txBody>
      </p:sp>
      <p:sp>
        <p:nvSpPr>
          <p:cNvPr id="25" name="Text 23"/>
          <p:cNvSpPr txBox="1"/>
          <p:nvPr/>
        </p:nvSpPr>
        <p:spPr>
          <a:xfrm>
            <a:off x="5894405" y="3155869"/>
            <a:ext cx="79790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BM3D, in full</a:t>
            </a:r>
            <a:endParaRPr lang="en-US" sz="1118" dirty="0"/>
          </a:p>
        </p:txBody>
      </p:sp>
      <p:sp>
        <p:nvSpPr>
          <p:cNvPr id="26" name="Shape 24"/>
          <p:cNvSpPr/>
          <p:nvPr/>
        </p:nvSpPr>
        <p:spPr>
          <a:xfrm>
            <a:off x="5526999" y="3922593"/>
            <a:ext cx="6146963" cy="8321"/>
          </a:xfrm>
          <a:prstGeom prst="rect">
            <a:avLst/>
          </a:prstGeom>
          <a:solidFill>
            <a:srgbClr val="DFDBD2"/>
          </a:solidFill>
          <a:ln/>
        </p:spPr>
      </p:sp>
      <p:sp>
        <p:nvSpPr>
          <p:cNvPr id="27" name="Text 25"/>
          <p:cNvSpPr txBox="1"/>
          <p:nvPr/>
        </p:nvSpPr>
        <p:spPr>
          <a:xfrm>
            <a:off x="5526999" y="3617275"/>
            <a:ext cx="175382"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06</a:t>
            </a:r>
            <a:endParaRPr lang="en-US" sz="921" dirty="0"/>
          </a:p>
        </p:txBody>
      </p:sp>
      <p:sp>
        <p:nvSpPr>
          <p:cNvPr id="28" name="Text 26"/>
          <p:cNvSpPr txBox="1"/>
          <p:nvPr/>
        </p:nvSpPr>
        <p:spPr>
          <a:xfrm>
            <a:off x="5894405" y="3599536"/>
            <a:ext cx="1876166"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WNNM and the classical ceiling</a:t>
            </a:r>
            <a:endParaRPr lang="en-US" sz="1118" dirty="0"/>
          </a:p>
        </p:txBody>
      </p:sp>
      <p:sp>
        <p:nvSpPr>
          <p:cNvPr id="29" name="Shape 27"/>
          <p:cNvSpPr/>
          <p:nvPr/>
        </p:nvSpPr>
        <p:spPr>
          <a:xfrm>
            <a:off x="5526999" y="4366260"/>
            <a:ext cx="6146963" cy="8321"/>
          </a:xfrm>
          <a:prstGeom prst="rect">
            <a:avLst/>
          </a:prstGeom>
          <a:solidFill>
            <a:srgbClr val="DFDBD2"/>
          </a:solidFill>
          <a:ln/>
        </p:spPr>
      </p:sp>
      <p:sp>
        <p:nvSpPr>
          <p:cNvPr id="30" name="Text 28"/>
          <p:cNvSpPr txBox="1"/>
          <p:nvPr/>
        </p:nvSpPr>
        <p:spPr>
          <a:xfrm>
            <a:off x="5526999" y="4060942"/>
            <a:ext cx="170261" cy="165964"/>
          </a:xfrm>
          <a:prstGeom prst="rect">
            <a:avLst/>
          </a:prstGeom>
          <a:noFill/>
          <a:ln/>
        </p:spPr>
        <p:txBody>
          <a:bodyPr wrap="none" lIns="0" tIns="0" rIns="0" bIns="0" rtlCol="0" anchor="t"/>
          <a:lstStyle/>
          <a:p>
            <a:pPr algn="l" indent="0" marL="0">
              <a:lnSpc>
                <a:spcPts val="1307"/>
              </a:lnSpc>
              <a:buNone/>
            </a:pPr>
            <a:r>
              <a:rPr kern="0" lang="en-US" sz="921" b="1" dirty="0">
                <a:solidFill>
                  <a:srgbClr val="7C5E2A"/>
                </a:solidFill>
                <a:latin typeface="Cambria" pitchFamily="34" charset="0"/>
                <a:ea typeface="Cambria" pitchFamily="34" charset="-122"/>
                <a:cs typeface="Cambria" pitchFamily="34" charset="-120"/>
              </a:rPr>
              <a:t>07</a:t>
            </a:r>
            <a:endParaRPr lang="en-US" sz="921" dirty="0"/>
          </a:p>
        </p:txBody>
      </p:sp>
      <p:sp>
        <p:nvSpPr>
          <p:cNvPr id="31" name="Text 29"/>
          <p:cNvSpPr txBox="1"/>
          <p:nvPr/>
        </p:nvSpPr>
        <p:spPr>
          <a:xfrm>
            <a:off x="5894405" y="4043111"/>
            <a:ext cx="77440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Bottleneck 1</a:t>
            </a:r>
            <a:endParaRPr lang="en-US" sz="1118" dirty="0"/>
          </a:p>
        </p:txBody>
      </p:sp>
      <p:sp>
        <p:nvSpPr>
          <p:cNvPr id="32" name="Text 30"/>
          <p:cNvSpPr txBox="1"/>
          <p:nvPr/>
        </p:nvSpPr>
        <p:spPr>
          <a:xfrm>
            <a:off x="5526999" y="4620646"/>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Nine years in which the prior was a formula a human wrote down, and the answer to every image was recomputed from scratch.</a:t>
            </a:r>
            <a:endParaRPr lang="en-US" sz="1085" dirty="0"/>
          </a:p>
        </p:txBody>
      </p:sp>
      <p:sp>
        <p:nvSpPr>
          <p:cNvPr id="33" name="Text 31"/>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§2</a:t>
            </a:r>
            <a:endParaRPr lang="en-US" sz="85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45552"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15</a:t>
            </a:r>
            <a:endParaRPr lang="en-US" sz="2545" dirty="0"/>
          </a:p>
        </p:txBody>
      </p:sp>
      <p:sp>
        <p:nvSpPr>
          <p:cNvPr id="3" name="Text 1"/>
          <p:cNvSpPr txBox="1"/>
          <p:nvPr/>
        </p:nvSpPr>
        <p:spPr>
          <a:xfrm rot="16200000">
            <a:off x="-338511" y="3428909"/>
            <a:ext cx="873984"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C5E2A"/>
                </a:solidFill>
                <a:latin typeface="Calibri" pitchFamily="34" charset="0"/>
                <a:ea typeface="Calibri" pitchFamily="34" charset="-122"/>
                <a:cs typeface="Calibri" pitchFamily="34" charset="-120"/>
              </a:rPr>
              <a:t>CLASSICAL DIP</a:t>
            </a:r>
            <a:endParaRPr lang="en-US" sz="694" dirty="0"/>
          </a:p>
        </p:txBody>
      </p:sp>
      <p:sp>
        <p:nvSpPr>
          <p:cNvPr id="4" name="Shape 2"/>
          <p:cNvSpPr/>
          <p:nvPr/>
        </p:nvSpPr>
        <p:spPr>
          <a:xfrm>
            <a:off x="1439540" y="433334"/>
            <a:ext cx="190927" cy="22037"/>
          </a:xfrm>
          <a:prstGeom prst="rect">
            <a:avLst/>
          </a:prstGeom>
          <a:solidFill>
            <a:srgbClr val="7C5E2A"/>
          </a:solidFill>
          <a:ln/>
        </p:spPr>
      </p:sp>
      <p:sp>
        <p:nvSpPr>
          <p:cNvPr id="5" name="Text 3"/>
          <p:cNvSpPr txBox="1"/>
          <p:nvPr/>
        </p:nvSpPr>
        <p:spPr>
          <a:xfrm>
            <a:off x="1718615" y="383865"/>
            <a:ext cx="1107521"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C5E2A"/>
                </a:solidFill>
                <a:latin typeface="Calibri" pitchFamily="34" charset="0"/>
                <a:ea typeface="Calibri" pitchFamily="34" charset="-122"/>
                <a:cs typeface="Calibri" pitchFamily="34" charset="-120"/>
              </a:rPr>
              <a:t>THE SIMPLEST IDEA</a:t>
            </a:r>
            <a:endParaRPr lang="en-US" sz="781" dirty="0"/>
          </a:p>
        </p:txBody>
      </p:sp>
      <p:sp>
        <p:nvSpPr>
          <p:cNvPr id="6" name="Text 4"/>
          <p:cNvSpPr txBox="1"/>
          <p:nvPr/>
        </p:nvSpPr>
        <p:spPr>
          <a:xfrm>
            <a:off x="1439540" y="607070"/>
            <a:ext cx="713433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Averaging: why it works, and exactly how much</a:t>
            </a:r>
            <a:endParaRPr lang="en-US" sz="2660" dirty="0"/>
          </a:p>
        </p:txBody>
      </p:sp>
      <p:sp>
        <p:nvSpPr>
          <p:cNvPr id="7" name="Text 5"/>
          <p:cNvSpPr txBox="1"/>
          <p:nvPr/>
        </p:nvSpPr>
        <p:spPr>
          <a:xfrm>
            <a:off x="1439540" y="1091885"/>
            <a:ext cx="5695340" cy="88129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founding intuition of the entire field. If noise is zero-mean and independent, averaging n observations of the same quantity divides the noise standard deviation by √n. Every classical method is a different answer to the question: </a:t>
            </a:r>
            <a:pPr algn="l" indent="0" marL="0">
              <a:lnSpc>
                <a:spcPts val="1735"/>
              </a:lnSpc>
              <a:buNone/>
            </a:pPr>
            <a:r>
              <a:rPr kern="0" lang="en-US" sz="1157" i="1" dirty="0">
                <a:solidFill>
                  <a:srgbClr val="5A554D"/>
                </a:solidFill>
                <a:latin typeface="Calibri" pitchFamily="34" charset="0"/>
                <a:ea typeface="Calibri" pitchFamily="34" charset="-122"/>
                <a:cs typeface="Calibri" pitchFamily="34" charset="-120"/>
              </a:rPr>
              <a:t>which pixels count as observations of the same quantity?</a:t>
            </a:r>
            <a:endParaRPr lang="en-US" sz="1157" dirty="0"/>
          </a:p>
        </p:txBody>
      </p:sp>
      <p:sp>
        <p:nvSpPr>
          <p:cNvPr id="8" name="Shape 6"/>
          <p:cNvSpPr/>
          <p:nvPr/>
        </p:nvSpPr>
        <p:spPr>
          <a:xfrm>
            <a:off x="1439540" y="2178832"/>
            <a:ext cx="10223358" cy="1394734"/>
          </a:xfrm>
          <a:prstGeom prst="rect">
            <a:avLst/>
          </a:prstGeom>
          <a:solidFill>
            <a:srgbClr val="F1EEE8"/>
          </a:solidFill>
          <a:ln/>
        </p:spPr>
      </p:sp>
      <p:sp>
        <p:nvSpPr>
          <p:cNvPr id="9" name="Shape 7"/>
          <p:cNvSpPr/>
          <p:nvPr/>
        </p:nvSpPr>
        <p:spPr>
          <a:xfrm>
            <a:off x="1439540" y="2178832"/>
            <a:ext cx="29352" cy="1394734"/>
          </a:xfrm>
          <a:prstGeom prst="rect">
            <a:avLst/>
          </a:prstGeom>
          <a:solidFill>
            <a:srgbClr val="7C5E2A"/>
          </a:solidFill>
          <a:ln/>
        </p:spPr>
      </p:sp>
      <p:pic>
        <p:nvPicPr>
          <p:cNvPr id="10" name="Image 0" descr="\hat{x}(i,j) \;=\; \frac{1}{|W|}\sum_{(p,q)\,\in\, W} y(p,q)">    </p:cNvPr>
          <p:cNvPicPr>
            <a:picLocks noChangeAspect="1"/>
          </p:cNvPicPr>
          <p:nvPr/>
        </p:nvPicPr>
        <p:blipFill>
          <a:blip r:embed="rId1"/>
          <a:stretch>
            <a:fillRect/>
          </a:stretch>
        </p:blipFill>
        <p:spPr>
          <a:xfrm>
            <a:off x="1645188" y="2303739"/>
            <a:ext cx="3763122" cy="908639"/>
          </a:xfrm>
          <a:prstGeom prst="rect">
            <a:avLst/>
          </a:prstGeom>
        </p:spPr>
      </p:pic>
      <p:sp>
        <p:nvSpPr>
          <p:cNvPr id="11" name="Text 8"/>
          <p:cNvSpPr txBox="1"/>
          <p:nvPr/>
        </p:nvSpPr>
        <p:spPr>
          <a:xfrm>
            <a:off x="1645188" y="3292389"/>
            <a:ext cx="3438601"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the box / arithmetic mean filter over a neighbourhood W centred on (i,j)</a:t>
            </a:r>
            <a:pPr algn="l" indent="0" marL="0">
              <a:lnSpc>
                <a:spcPts val="1284"/>
              </a:lnSpc>
              <a:buNone/>
            </a:pPr>
            <a:r>
              <a:rPr kern="0" lang="en-US" sz="642" b="1" dirty="0">
                <a:solidFill>
                  <a:srgbClr val="C0451A"/>
                </a:solidFill>
                <a:latin typeface="Calibri" pitchFamily="34" charset="0"/>
                <a:ea typeface="Calibri" pitchFamily="34" charset="-122"/>
                <a:cs typeface="Calibri" pitchFamily="34" charset="-120"/>
              </a:rPr>
              <a:t>[1]</a:t>
            </a:r>
            <a:endParaRPr lang="en-US" sz="867" dirty="0"/>
          </a:p>
        </p:txBody>
      </p:sp>
      <p:sp>
        <p:nvSpPr>
          <p:cNvPr id="12" name="Shape 9"/>
          <p:cNvSpPr/>
          <p:nvPr/>
        </p:nvSpPr>
        <p:spPr>
          <a:xfrm>
            <a:off x="1439540" y="3683752"/>
            <a:ext cx="10223358" cy="1329995"/>
          </a:xfrm>
          <a:prstGeom prst="rect">
            <a:avLst/>
          </a:prstGeom>
          <a:solidFill>
            <a:srgbClr val="F1EEE8"/>
          </a:solidFill>
          <a:ln/>
        </p:spPr>
      </p:sp>
      <p:sp>
        <p:nvSpPr>
          <p:cNvPr id="13" name="Shape 10"/>
          <p:cNvSpPr/>
          <p:nvPr/>
        </p:nvSpPr>
        <p:spPr>
          <a:xfrm>
            <a:off x="1439540" y="3683752"/>
            <a:ext cx="29352" cy="1329995"/>
          </a:xfrm>
          <a:prstGeom prst="rect">
            <a:avLst/>
          </a:prstGeom>
          <a:solidFill>
            <a:srgbClr val="7C5E2A"/>
          </a:solidFill>
          <a:ln/>
        </p:spPr>
      </p:sp>
      <p:pic>
        <p:nvPicPr>
          <p:cNvPr id="14" name="Image 1" descr="\operatorname{Var}\big[\hat{x}\big] \;=\; \frac{\sigma^{2}}{|W|}\qquad\Longrightarrow\qquad \sigma_{\mathrm{out}} \;=\; \frac{\sigma}{\sqrt{|W|}}">    </p:cNvPr>
          <p:cNvPicPr>
            <a:picLocks noChangeAspect="1"/>
          </p:cNvPicPr>
          <p:nvPr/>
        </p:nvPicPr>
        <p:blipFill>
          <a:blip r:embed="rId2"/>
          <a:stretch>
            <a:fillRect/>
          </a:stretch>
        </p:blipFill>
        <p:spPr>
          <a:xfrm>
            <a:off x="1645188" y="3808659"/>
            <a:ext cx="5889376" cy="843900"/>
          </a:xfrm>
          <a:prstGeom prst="rect">
            <a:avLst/>
          </a:prstGeom>
        </p:spPr>
      </p:pic>
      <p:sp>
        <p:nvSpPr>
          <p:cNvPr id="15" name="Text 11"/>
          <p:cNvSpPr txBox="1"/>
          <p:nvPr/>
        </p:nvSpPr>
        <p:spPr>
          <a:xfrm>
            <a:off x="1645188" y="4732569"/>
            <a:ext cx="2956712"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a 3×3 window divides noise by 3; a 5×5 window divides it by 5</a:t>
            </a:r>
            <a:pPr algn="l" indent="0" marL="0">
              <a:lnSpc>
                <a:spcPts val="1284"/>
              </a:lnSpc>
              <a:buNone/>
            </a:pPr>
            <a:r>
              <a:rPr kern="0" lang="en-US" sz="642" b="1" dirty="0">
                <a:solidFill>
                  <a:srgbClr val="C0451A"/>
                </a:solidFill>
                <a:latin typeface="Calibri" pitchFamily="34" charset="0"/>
                <a:ea typeface="Calibri" pitchFamily="34" charset="-122"/>
                <a:cs typeface="Calibri" pitchFamily="34" charset="-120"/>
              </a:rPr>
              <a:t>[1]</a:t>
            </a:r>
            <a:endParaRPr lang="en-US" sz="867" dirty="0"/>
          </a:p>
        </p:txBody>
      </p:sp>
      <p:sp>
        <p:nvSpPr>
          <p:cNvPr id="16" name="Shape 12"/>
          <p:cNvSpPr/>
          <p:nvPr/>
        </p:nvSpPr>
        <p:spPr>
          <a:xfrm>
            <a:off x="1439540" y="5124023"/>
            <a:ext cx="10223358" cy="7315"/>
          </a:xfrm>
          <a:prstGeom prst="rect">
            <a:avLst/>
          </a:prstGeom>
          <a:solidFill>
            <a:srgbClr val="DFDBD2"/>
          </a:solidFill>
          <a:ln/>
        </p:spPr>
      </p:sp>
      <p:sp>
        <p:nvSpPr>
          <p:cNvPr id="17" name="Text 13"/>
          <p:cNvSpPr txBox="1"/>
          <p:nvPr/>
        </p:nvSpPr>
        <p:spPr>
          <a:xfrm>
            <a:off x="1439540" y="5256154"/>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8" name="Text 14"/>
          <p:cNvSpPr txBox="1"/>
          <p:nvPr/>
        </p:nvSpPr>
        <p:spPr>
          <a:xfrm>
            <a:off x="1747967" y="5246096"/>
            <a:ext cx="9528780" cy="203820"/>
          </a:xfrm>
          <a:prstGeom prst="rect">
            <a:avLst/>
          </a:prstGeom>
          <a:noFill/>
          <a:ln/>
        </p:spPr>
        <p:txBody>
          <a:bodyPr wrap="non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derivation only holds if every pixel in W has the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same underlying clean value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That assumption is true inside a flat region and catastrophically false across an edge.</a:t>
            </a:r>
            <a:endParaRPr lang="en-US" sz="1070" dirty="0"/>
          </a:p>
        </p:txBody>
      </p:sp>
      <p:sp>
        <p:nvSpPr>
          <p:cNvPr id="19" name="Text 15"/>
          <p:cNvSpPr txBox="1"/>
          <p:nvPr/>
        </p:nvSpPr>
        <p:spPr>
          <a:xfrm>
            <a:off x="1439540" y="5577474"/>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20" name="Text 16"/>
          <p:cNvSpPr txBox="1"/>
          <p:nvPr/>
        </p:nvSpPr>
        <p:spPr>
          <a:xfrm>
            <a:off x="1747967" y="5567416"/>
            <a:ext cx="9969246" cy="407640"/>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Across an edge, the mean of the window is not the value of the centre pixel, so the filter introduces a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bias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exactly proportional to the local contrast. You trade variance (noise) for bias (blur), pixel by pixel, and a box filter makes that trade blindly.</a:t>
            </a:r>
            <a:endParaRPr lang="en-US" sz="1070" dirty="0"/>
          </a:p>
        </p:txBody>
      </p:sp>
      <p:sp>
        <p:nvSpPr>
          <p:cNvPr id="21" name="Text 17"/>
          <p:cNvSpPr txBox="1"/>
          <p:nvPr/>
        </p:nvSpPr>
        <p:spPr>
          <a:xfrm>
            <a:off x="9676729" y="6285494"/>
            <a:ext cx="1986168"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G&amp;W, Image Restoration chapter 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reading</a:t>
            </a:r>
            <a:endParaRPr lang="en-US" sz="556" dirty="0"/>
          </a:p>
        </p:txBody>
      </p:sp>
      <p:sp>
        <p:nvSpPr>
          <p:cNvPr id="22" name="Shape 18"/>
          <p:cNvSpPr/>
          <p:nvPr/>
        </p:nvSpPr>
        <p:spPr>
          <a:xfrm>
            <a:off x="1439540" y="6556705"/>
            <a:ext cx="10223358" cy="7315"/>
          </a:xfrm>
          <a:prstGeom prst="rect">
            <a:avLst/>
          </a:prstGeom>
          <a:solidFill>
            <a:srgbClr val="C9C4B9"/>
          </a:solidFill>
          <a:ln/>
        </p:spPr>
      </p:sp>
      <p:sp>
        <p:nvSpPr>
          <p:cNvPr id="23" name="Shape 19"/>
          <p:cNvSpPr/>
          <p:nvPr/>
        </p:nvSpPr>
        <p:spPr>
          <a:xfrm>
            <a:off x="1439540" y="6545732"/>
            <a:ext cx="3975811" cy="29352"/>
          </a:xfrm>
          <a:prstGeom prst="rect">
            <a:avLst/>
          </a:prstGeom>
          <a:solidFill>
            <a:srgbClr val="7C5E2A"/>
          </a:solidFill>
          <a:ln/>
        </p:spPr>
      </p:sp>
      <p:sp>
        <p:nvSpPr>
          <p:cNvPr id="24" name="Shape 20"/>
          <p:cNvSpPr/>
          <p:nvPr/>
        </p:nvSpPr>
        <p:spPr>
          <a:xfrm>
            <a:off x="1439540" y="6519946"/>
            <a:ext cx="7315" cy="36759"/>
          </a:xfrm>
          <a:prstGeom prst="rect">
            <a:avLst/>
          </a:prstGeom>
          <a:solidFill>
            <a:srgbClr val="C9C4B9"/>
          </a:solidFill>
          <a:ln/>
        </p:spPr>
      </p:sp>
      <p:sp>
        <p:nvSpPr>
          <p:cNvPr id="25" name="Text 21"/>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6" name="Shape 22"/>
          <p:cNvSpPr/>
          <p:nvPr/>
        </p:nvSpPr>
        <p:spPr>
          <a:xfrm>
            <a:off x="5415351" y="6519946"/>
            <a:ext cx="7315" cy="36759"/>
          </a:xfrm>
          <a:prstGeom prst="rect">
            <a:avLst/>
          </a:prstGeom>
          <a:solidFill>
            <a:srgbClr val="C9C4B9"/>
          </a:solidFill>
          <a:ln/>
        </p:spPr>
      </p:sp>
      <p:sp>
        <p:nvSpPr>
          <p:cNvPr id="27" name="Text 23"/>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8" name="Shape 24"/>
          <p:cNvSpPr/>
          <p:nvPr/>
        </p:nvSpPr>
        <p:spPr>
          <a:xfrm>
            <a:off x="7119610" y="6519946"/>
            <a:ext cx="7315" cy="36759"/>
          </a:xfrm>
          <a:prstGeom prst="rect">
            <a:avLst/>
          </a:prstGeom>
          <a:solidFill>
            <a:srgbClr val="C9C4B9"/>
          </a:solidFill>
          <a:ln/>
        </p:spPr>
      </p:sp>
      <p:sp>
        <p:nvSpPr>
          <p:cNvPr id="29" name="Text 25"/>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0" name="Shape 26"/>
          <p:cNvSpPr/>
          <p:nvPr/>
        </p:nvSpPr>
        <p:spPr>
          <a:xfrm>
            <a:off x="9958639" y="6519946"/>
            <a:ext cx="7315" cy="36759"/>
          </a:xfrm>
          <a:prstGeom prst="rect">
            <a:avLst/>
          </a:prstGeom>
          <a:solidFill>
            <a:srgbClr val="C9C4B9"/>
          </a:solidFill>
          <a:ln/>
        </p:spPr>
      </p:sp>
      <p:sp>
        <p:nvSpPr>
          <p:cNvPr id="31" name="Text 27"/>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2" name="Shape 28"/>
          <p:cNvSpPr/>
          <p:nvPr/>
        </p:nvSpPr>
        <p:spPr>
          <a:xfrm>
            <a:off x="11662898" y="6519946"/>
            <a:ext cx="7315" cy="36759"/>
          </a:xfrm>
          <a:prstGeom prst="rect">
            <a:avLst/>
          </a:prstGeom>
          <a:solidFill>
            <a:srgbClr val="C9C4B9"/>
          </a:solidFill>
          <a:ln/>
        </p:spPr>
      </p:sp>
      <p:sp>
        <p:nvSpPr>
          <p:cNvPr id="33" name="Text 29"/>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92826"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15</a:t>
            </a:r>
            <a:endParaRPr lang="en-US" sz="2893" dirty="0"/>
          </a:p>
        </p:txBody>
      </p:sp>
      <p:sp>
        <p:nvSpPr>
          <p:cNvPr id="3" name="Text 1"/>
          <p:cNvSpPr txBox="1"/>
          <p:nvPr/>
        </p:nvSpPr>
        <p:spPr>
          <a:xfrm rot="16200000">
            <a:off x="-384871" y="3428909"/>
            <a:ext cx="99367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C5E2A"/>
                </a:solidFill>
                <a:latin typeface="Calibri" pitchFamily="34" charset="0"/>
                <a:ea typeface="Calibri" pitchFamily="34" charset="-122"/>
                <a:cs typeface="Calibri" pitchFamily="34" charset="-120"/>
              </a:rPr>
              <a:t>CLASSICAL DIP</a:t>
            </a:r>
            <a:endParaRPr lang="en-US" sz="789" dirty="0"/>
          </a:p>
        </p:txBody>
      </p:sp>
      <p:sp>
        <p:nvSpPr>
          <p:cNvPr id="4" name="Shape 2"/>
          <p:cNvSpPr/>
          <p:nvPr/>
        </p:nvSpPr>
        <p:spPr>
          <a:xfrm>
            <a:off x="1636685" y="492679"/>
            <a:ext cx="217079" cy="25055"/>
          </a:xfrm>
          <a:prstGeom prst="rect">
            <a:avLst/>
          </a:prstGeom>
          <a:solidFill>
            <a:srgbClr val="7C5E2A"/>
          </a:solidFill>
          <a:ln/>
        </p:spPr>
      </p:sp>
      <p:sp>
        <p:nvSpPr>
          <p:cNvPr id="5" name="Text 3"/>
          <p:cNvSpPr txBox="1"/>
          <p:nvPr/>
        </p:nvSpPr>
        <p:spPr>
          <a:xfrm>
            <a:off x="1953981" y="436443"/>
            <a:ext cx="125922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THE SIMPLEST IDEA</a:t>
            </a:r>
            <a:endParaRPr lang="en-US" sz="888" dirty="0"/>
          </a:p>
        </p:txBody>
      </p:sp>
      <p:sp>
        <p:nvSpPr>
          <p:cNvPr id="6" name="Text 4"/>
          <p:cNvSpPr txBox="1"/>
          <p:nvPr/>
        </p:nvSpPr>
        <p:spPr>
          <a:xfrm>
            <a:off x="3263311"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8111551"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Averaging: why it works, and exactly how much</a:t>
            </a:r>
            <a:endParaRPr lang="en-US" sz="3025" dirty="0"/>
          </a:p>
        </p:txBody>
      </p:sp>
      <p:sp>
        <p:nvSpPr>
          <p:cNvPr id="8" name="Shape 6"/>
          <p:cNvSpPr/>
          <p:nvPr/>
        </p:nvSpPr>
        <p:spPr>
          <a:xfrm>
            <a:off x="1636685" y="1241481"/>
            <a:ext cx="9953793" cy="8321"/>
          </a:xfrm>
          <a:prstGeom prst="rect">
            <a:avLst/>
          </a:prstGeom>
          <a:solidFill>
            <a:srgbClr val="DFDBD2"/>
          </a:solidFill>
          <a:ln/>
        </p:spPr>
      </p:sp>
      <p:sp>
        <p:nvSpPr>
          <p:cNvPr id="9" name="Text 7"/>
          <p:cNvSpPr txBox="1"/>
          <p:nvPr/>
        </p:nvSpPr>
        <p:spPr>
          <a:xfrm>
            <a:off x="1636685" y="1391808"/>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10" name="Text 8"/>
          <p:cNvSpPr txBox="1"/>
          <p:nvPr/>
        </p:nvSpPr>
        <p:spPr>
          <a:xfrm>
            <a:off x="1987448" y="1380287"/>
            <a:ext cx="9937333" cy="231709"/>
          </a:xfrm>
          <a:prstGeom prst="rect">
            <a:avLst/>
          </a:prstGeom>
          <a:noFill/>
          <a:ln/>
        </p:spPr>
        <p:txBody>
          <a:bodyPr wrap="non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This is the bias–variance trade-off in its purest visual form: the quantity you reduce is visible as grain, and the quantity you increase is visible as softness.</a:t>
            </a:r>
            <a:endParaRPr lang="en-US" sz="1216" dirty="0"/>
          </a:p>
        </p:txBody>
      </p:sp>
      <p:sp>
        <p:nvSpPr>
          <p:cNvPr id="11" name="Text 9"/>
          <p:cNvSpPr txBox="1"/>
          <p:nvPr/>
        </p:nvSpPr>
        <p:spPr>
          <a:xfrm>
            <a:off x="1636685" y="1757111"/>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12" name="Text 10"/>
          <p:cNvSpPr txBox="1"/>
          <p:nvPr/>
        </p:nvSpPr>
        <p:spPr>
          <a:xfrm>
            <a:off x="1987448" y="1745681"/>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entire classical era is a search for better definitions of W.</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[2]</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Gaussian weights it by distance. Bilateral weights it by distance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and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intensity. Non-local means abandons locality entirely and weights by patch similarity. BM3D stops weighting and starts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stacking</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13" name="Text 11"/>
          <p:cNvSpPr txBox="1"/>
          <p:nvPr/>
        </p:nvSpPr>
        <p:spPr>
          <a:xfrm>
            <a:off x="9332184" y="6207039"/>
            <a:ext cx="2258202"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G&amp;W, Image Restoration chapter 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reading</a:t>
            </a:r>
            <a:endParaRPr lang="en-US" sz="633" dirty="0"/>
          </a:p>
        </p:txBody>
      </p:sp>
      <p:sp>
        <p:nvSpPr>
          <p:cNvPr id="14" name="Shape 12"/>
          <p:cNvSpPr/>
          <p:nvPr/>
        </p:nvSpPr>
        <p:spPr>
          <a:xfrm>
            <a:off x="1636685" y="6515466"/>
            <a:ext cx="9953793" cy="8321"/>
          </a:xfrm>
          <a:prstGeom prst="rect">
            <a:avLst/>
          </a:prstGeom>
          <a:solidFill>
            <a:srgbClr val="C9C4B9"/>
          </a:solidFill>
          <a:ln/>
        </p:spPr>
      </p:sp>
      <p:sp>
        <p:nvSpPr>
          <p:cNvPr id="15" name="Shape 13"/>
          <p:cNvSpPr/>
          <p:nvPr/>
        </p:nvSpPr>
        <p:spPr>
          <a:xfrm>
            <a:off x="1636685" y="6502938"/>
            <a:ext cx="3870930" cy="33376"/>
          </a:xfrm>
          <a:prstGeom prst="rect">
            <a:avLst/>
          </a:prstGeom>
          <a:solidFill>
            <a:srgbClr val="7C5E2A"/>
          </a:solidFill>
          <a:ln/>
        </p:spPr>
      </p:sp>
      <p:sp>
        <p:nvSpPr>
          <p:cNvPr id="16" name="Shape 14"/>
          <p:cNvSpPr/>
          <p:nvPr/>
        </p:nvSpPr>
        <p:spPr>
          <a:xfrm>
            <a:off x="1636685" y="6473678"/>
            <a:ext cx="8321" cy="41788"/>
          </a:xfrm>
          <a:prstGeom prst="rect">
            <a:avLst/>
          </a:prstGeom>
          <a:solidFill>
            <a:srgbClr val="C9C4B9"/>
          </a:solidFill>
          <a:ln/>
        </p:spPr>
      </p:sp>
      <p:sp>
        <p:nvSpPr>
          <p:cNvPr id="17" name="Text 15"/>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8" name="Shape 16"/>
          <p:cNvSpPr/>
          <p:nvPr/>
        </p:nvSpPr>
        <p:spPr>
          <a:xfrm>
            <a:off x="5507706" y="6473678"/>
            <a:ext cx="8321" cy="41788"/>
          </a:xfrm>
          <a:prstGeom prst="rect">
            <a:avLst/>
          </a:prstGeom>
          <a:solidFill>
            <a:srgbClr val="C9C4B9"/>
          </a:solidFill>
          <a:ln/>
        </p:spPr>
      </p:sp>
      <p:sp>
        <p:nvSpPr>
          <p:cNvPr id="19" name="Text 17"/>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0" name="Shape 18"/>
          <p:cNvSpPr/>
          <p:nvPr/>
        </p:nvSpPr>
        <p:spPr>
          <a:xfrm>
            <a:off x="7166884" y="6473678"/>
            <a:ext cx="8321" cy="41788"/>
          </a:xfrm>
          <a:prstGeom prst="rect">
            <a:avLst/>
          </a:prstGeom>
          <a:solidFill>
            <a:srgbClr val="C9C4B9"/>
          </a:solidFill>
          <a:ln/>
        </p:spPr>
      </p:sp>
      <p:sp>
        <p:nvSpPr>
          <p:cNvPr id="21" name="Text 19"/>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2" name="Shape 20"/>
          <p:cNvSpPr/>
          <p:nvPr/>
        </p:nvSpPr>
        <p:spPr>
          <a:xfrm>
            <a:off x="9931024" y="6473678"/>
            <a:ext cx="8321" cy="41788"/>
          </a:xfrm>
          <a:prstGeom prst="rect">
            <a:avLst/>
          </a:prstGeom>
          <a:solidFill>
            <a:srgbClr val="C9C4B9"/>
          </a:solidFill>
          <a:ln/>
        </p:spPr>
      </p:sp>
      <p:sp>
        <p:nvSpPr>
          <p:cNvPr id="23" name="Text 21"/>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4" name="Shape 22"/>
          <p:cNvSpPr/>
          <p:nvPr/>
        </p:nvSpPr>
        <p:spPr>
          <a:xfrm>
            <a:off x="11590477" y="6473678"/>
            <a:ext cx="8321" cy="41788"/>
          </a:xfrm>
          <a:prstGeom prst="rect">
            <a:avLst/>
          </a:prstGeom>
          <a:solidFill>
            <a:srgbClr val="C9C4B9"/>
          </a:solidFill>
          <a:ln/>
        </p:spPr>
      </p:sp>
      <p:sp>
        <p:nvSpPr>
          <p:cNvPr id="25" name="Text 23"/>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73807"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16</a:t>
            </a:r>
            <a:endParaRPr lang="en-US" sz="2708" dirty="0"/>
          </a:p>
        </p:txBody>
      </p:sp>
      <p:sp>
        <p:nvSpPr>
          <p:cNvPr id="3" name="Text 1"/>
          <p:cNvSpPr txBox="1"/>
          <p:nvPr/>
        </p:nvSpPr>
        <p:spPr>
          <a:xfrm rot="16200000">
            <a:off x="-360274" y="3428909"/>
            <a:ext cx="930036"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7C5E2A"/>
                </a:solidFill>
                <a:latin typeface="Calibri" pitchFamily="34" charset="0"/>
                <a:ea typeface="Calibri" pitchFamily="34" charset="-122"/>
                <a:cs typeface="Calibri" pitchFamily="34" charset="-120"/>
              </a:rPr>
              <a:t>CLASSICAL DIP</a:t>
            </a:r>
            <a:endParaRPr lang="en-US" sz="738" dirty="0"/>
          </a:p>
        </p:txBody>
      </p:sp>
      <p:sp>
        <p:nvSpPr>
          <p:cNvPr id="4" name="Shape 2"/>
          <p:cNvSpPr/>
          <p:nvPr/>
        </p:nvSpPr>
        <p:spPr>
          <a:xfrm>
            <a:off x="1531803" y="461132"/>
            <a:ext cx="203180" cy="23409"/>
          </a:xfrm>
          <a:prstGeom prst="rect">
            <a:avLst/>
          </a:prstGeom>
          <a:solidFill>
            <a:srgbClr val="7C5E2A"/>
          </a:solidFill>
          <a:ln/>
        </p:spPr>
      </p:sp>
      <p:sp>
        <p:nvSpPr>
          <p:cNvPr id="5" name="Text 3"/>
          <p:cNvSpPr txBox="1"/>
          <p:nvPr/>
        </p:nvSpPr>
        <p:spPr>
          <a:xfrm>
            <a:off x="1828800" y="408462"/>
            <a:ext cx="2343699"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7C5E2A"/>
                </a:solidFill>
                <a:latin typeface="Calibri" pitchFamily="34" charset="0"/>
                <a:ea typeface="Calibri" pitchFamily="34" charset="-122"/>
                <a:cs typeface="Calibri" pitchFamily="34" charset="-120"/>
              </a:rPr>
              <a:t>LINEAR AND ORDER-STATISTIC FILTERS</a:t>
            </a:r>
            <a:endParaRPr lang="en-US" sz="831" dirty="0"/>
          </a:p>
        </p:txBody>
      </p:sp>
      <p:sp>
        <p:nvSpPr>
          <p:cNvPr id="6" name="Text 4"/>
          <p:cNvSpPr txBox="1"/>
          <p:nvPr/>
        </p:nvSpPr>
        <p:spPr>
          <a:xfrm>
            <a:off x="1531803" y="646024"/>
            <a:ext cx="8434608"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Gaussian, median, and the first hard-coded threshold</a:t>
            </a:r>
            <a:endParaRPr lang="en-US" sz="2831" dirty="0"/>
          </a:p>
        </p:txBody>
      </p:sp>
      <p:sp>
        <p:nvSpPr>
          <p:cNvPr id="7" name="Text 5"/>
          <p:cNvSpPr txBox="1"/>
          <p:nvPr/>
        </p:nvSpPr>
        <p:spPr>
          <a:xfrm>
            <a:off x="1531803" y="1161928"/>
            <a:ext cx="6060460" cy="468904"/>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Two filters, two different failure modes, and the first appearance of the problem the brief names explicitly: reliance on hard-coded parameters.</a:t>
            </a:r>
            <a:endParaRPr lang="en-US" sz="1231" dirty="0"/>
          </a:p>
        </p:txBody>
      </p:sp>
      <p:sp>
        <p:nvSpPr>
          <p:cNvPr id="8" name="Shape 6"/>
          <p:cNvSpPr/>
          <p:nvPr/>
        </p:nvSpPr>
        <p:spPr>
          <a:xfrm>
            <a:off x="6580388" y="1849648"/>
            <a:ext cx="7772" cy="2897094"/>
          </a:xfrm>
          <a:prstGeom prst="rect">
            <a:avLst/>
          </a:prstGeom>
          <a:solidFill>
            <a:srgbClr val="DFDBD2"/>
          </a:solidFill>
          <a:ln/>
        </p:spPr>
      </p:sp>
      <p:sp>
        <p:nvSpPr>
          <p:cNvPr id="9" name="Shape 7"/>
          <p:cNvSpPr/>
          <p:nvPr/>
        </p:nvSpPr>
        <p:spPr>
          <a:xfrm>
            <a:off x="1531803" y="1849648"/>
            <a:ext cx="4876678" cy="15636"/>
          </a:xfrm>
          <a:prstGeom prst="rect">
            <a:avLst/>
          </a:prstGeom>
          <a:solidFill>
            <a:srgbClr val="7C5E2A"/>
          </a:solidFill>
          <a:ln/>
        </p:spPr>
      </p:sp>
      <p:sp>
        <p:nvSpPr>
          <p:cNvPr id="10" name="Text 8"/>
          <p:cNvSpPr txBox="1"/>
          <p:nvPr/>
        </p:nvSpPr>
        <p:spPr>
          <a:xfrm>
            <a:off x="1531803" y="1982694"/>
            <a:ext cx="2589947"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Gaussian filter — linear, isotropic</a:t>
            </a:r>
            <a:endParaRPr lang="en-US" sz="1354" dirty="0"/>
          </a:p>
        </p:txBody>
      </p:sp>
      <p:sp>
        <p:nvSpPr>
          <p:cNvPr id="11" name="Shape 9"/>
          <p:cNvSpPr/>
          <p:nvPr/>
        </p:nvSpPr>
        <p:spPr>
          <a:xfrm>
            <a:off x="1531803" y="2357232"/>
            <a:ext cx="62545" cy="39045"/>
          </a:xfrm>
          <a:prstGeom prst="rect">
            <a:avLst/>
          </a:prstGeom>
          <a:solidFill>
            <a:srgbClr val="7C5E2A"/>
          </a:solidFill>
          <a:ln/>
        </p:spPr>
      </p:sp>
      <p:sp>
        <p:nvSpPr>
          <p:cNvPr id="12" name="Text 10"/>
          <p:cNvSpPr txBox="1"/>
          <p:nvPr/>
        </p:nvSpPr>
        <p:spPr>
          <a:xfrm>
            <a:off x="1688074" y="2291761"/>
            <a:ext cx="4574560" cy="216896"/>
          </a:xfrm>
          <a:prstGeom prst="rect">
            <a:avLst/>
          </a:prstGeom>
          <a:noFill/>
          <a:ln/>
        </p:spPr>
        <p:txBody>
          <a:bodyPr wrap="non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Weights w(p,q) ∝ exp( −[(p−i)² + (q−j)²] ⁄ 2σ_s² ). Nearer pixels count more.</a:t>
            </a:r>
            <a:endParaRPr lang="en-US" sz="1138" dirty="0"/>
          </a:p>
        </p:txBody>
      </p:sp>
      <p:sp>
        <p:nvSpPr>
          <p:cNvPr id="13" name="Shape 11"/>
          <p:cNvSpPr/>
          <p:nvPr/>
        </p:nvSpPr>
        <p:spPr>
          <a:xfrm>
            <a:off x="1531803" y="2699126"/>
            <a:ext cx="62545" cy="39045"/>
          </a:xfrm>
          <a:prstGeom prst="rect">
            <a:avLst/>
          </a:prstGeom>
          <a:solidFill>
            <a:srgbClr val="7C5E2A"/>
          </a:solidFill>
          <a:ln/>
        </p:spPr>
      </p:sp>
      <p:sp>
        <p:nvSpPr>
          <p:cNvPr id="14" name="Text 12"/>
          <p:cNvSpPr txBox="1"/>
          <p:nvPr/>
        </p:nvSpPr>
        <p:spPr>
          <a:xfrm>
            <a:off x="1688074" y="2633746"/>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Separable: an N×N Gaussian is two 1×N passes, so cost is O(N) per pixel, not O(N²). This is why it was the default for decades.</a:t>
            </a:r>
            <a:endParaRPr lang="en-US" sz="1138" dirty="0"/>
          </a:p>
        </p:txBody>
      </p:sp>
      <p:sp>
        <p:nvSpPr>
          <p:cNvPr id="15" name="Shape 13"/>
          <p:cNvSpPr/>
          <p:nvPr/>
        </p:nvSpPr>
        <p:spPr>
          <a:xfrm>
            <a:off x="1531803" y="3257916"/>
            <a:ext cx="62545" cy="39045"/>
          </a:xfrm>
          <a:prstGeom prst="rect">
            <a:avLst/>
          </a:prstGeom>
          <a:solidFill>
            <a:srgbClr val="7C5E2A"/>
          </a:solidFill>
          <a:ln/>
        </p:spPr>
      </p:sp>
      <p:sp>
        <p:nvSpPr>
          <p:cNvPr id="16" name="Text 14"/>
          <p:cNvSpPr txBox="1"/>
          <p:nvPr/>
        </p:nvSpPr>
        <p:spPr>
          <a:xfrm>
            <a:off x="1688074" y="3192536"/>
            <a:ext cx="4754880" cy="666232"/>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It is the Green's function of the heat equation — Gaussian smoothing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is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isotropic diffusion run for time t = σ_s²⁄2. That equivalence is what TNRD later generalises, in Part III.</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[1]</a:t>
            </a:r>
            <a:endParaRPr lang="en-US" sz="1138" dirty="0"/>
          </a:p>
        </p:txBody>
      </p:sp>
      <p:sp>
        <p:nvSpPr>
          <p:cNvPr id="17" name="Shape 15"/>
          <p:cNvSpPr/>
          <p:nvPr/>
        </p:nvSpPr>
        <p:spPr>
          <a:xfrm>
            <a:off x="1531803" y="4033601"/>
            <a:ext cx="62545" cy="39045"/>
          </a:xfrm>
          <a:prstGeom prst="rect">
            <a:avLst/>
          </a:prstGeom>
          <a:solidFill>
            <a:srgbClr val="7C5E2A"/>
          </a:solidFill>
          <a:ln/>
        </p:spPr>
      </p:sp>
      <p:sp>
        <p:nvSpPr>
          <p:cNvPr id="18" name="Text 16"/>
          <p:cNvSpPr txBox="1"/>
          <p:nvPr/>
        </p:nvSpPr>
        <p:spPr>
          <a:xfrm>
            <a:off x="1688074" y="3968130"/>
            <a:ext cx="4754880" cy="44933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Failure mode: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it diffuses across edges as happily as along them. Structure and noise are treated identically because the weights depend only on geometry.</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[2]</a:t>
            </a:r>
            <a:endParaRPr lang="en-US" sz="1138" dirty="0"/>
          </a:p>
        </p:txBody>
      </p:sp>
      <p:sp>
        <p:nvSpPr>
          <p:cNvPr id="19" name="Shape 17"/>
          <p:cNvSpPr/>
          <p:nvPr/>
        </p:nvSpPr>
        <p:spPr>
          <a:xfrm>
            <a:off x="6752295" y="1849648"/>
            <a:ext cx="4876678" cy="15636"/>
          </a:xfrm>
          <a:prstGeom prst="rect">
            <a:avLst/>
          </a:prstGeom>
          <a:solidFill>
            <a:srgbClr val="7C5E2A"/>
          </a:solidFill>
          <a:ln/>
        </p:spPr>
      </p:sp>
      <p:sp>
        <p:nvSpPr>
          <p:cNvPr id="20" name="Text 18"/>
          <p:cNvSpPr txBox="1"/>
          <p:nvPr/>
        </p:nvSpPr>
        <p:spPr>
          <a:xfrm>
            <a:off x="6752295" y="1982694"/>
            <a:ext cx="3193359"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Median filter — nonlinear, order-statistic</a:t>
            </a:r>
            <a:endParaRPr lang="en-US" sz="1354" dirty="0"/>
          </a:p>
        </p:txBody>
      </p:sp>
      <p:sp>
        <p:nvSpPr>
          <p:cNvPr id="21" name="Shape 19"/>
          <p:cNvSpPr/>
          <p:nvPr/>
        </p:nvSpPr>
        <p:spPr>
          <a:xfrm>
            <a:off x="6752295" y="2357232"/>
            <a:ext cx="62545" cy="39045"/>
          </a:xfrm>
          <a:prstGeom prst="rect">
            <a:avLst/>
          </a:prstGeom>
          <a:solidFill>
            <a:srgbClr val="7C5E2A"/>
          </a:solidFill>
          <a:ln/>
        </p:spPr>
      </p:sp>
      <p:sp>
        <p:nvSpPr>
          <p:cNvPr id="22" name="Text 20"/>
          <p:cNvSpPr txBox="1"/>
          <p:nvPr/>
        </p:nvSpPr>
        <p:spPr>
          <a:xfrm>
            <a:off x="6908658" y="2291761"/>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Replace the centre with the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median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of the window. Not a convolution — no kernel exists.</a:t>
            </a:r>
            <a:endParaRPr lang="en-US" sz="1138" dirty="0"/>
          </a:p>
        </p:txBody>
      </p:sp>
      <p:sp>
        <p:nvSpPr>
          <p:cNvPr id="23" name="Shape 21"/>
          <p:cNvSpPr/>
          <p:nvPr/>
        </p:nvSpPr>
        <p:spPr>
          <a:xfrm>
            <a:off x="6752295" y="2916022"/>
            <a:ext cx="62545" cy="39045"/>
          </a:xfrm>
          <a:prstGeom prst="rect">
            <a:avLst/>
          </a:prstGeom>
          <a:solidFill>
            <a:srgbClr val="7C5E2A"/>
          </a:solidFill>
          <a:ln/>
        </p:spPr>
      </p:sp>
      <p:sp>
        <p:nvSpPr>
          <p:cNvPr id="24" name="Text 22"/>
          <p:cNvSpPr txBox="1"/>
          <p:nvPr/>
        </p:nvSpPr>
        <p:spPr>
          <a:xfrm>
            <a:off x="6908658" y="2850551"/>
            <a:ext cx="4754880" cy="666232"/>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Optimal for impulse (salt-and-pepper) noise, because an outlier cannot move a median the way it moves a mean. This is the same reason Noise2Noise's ℓ₁ loss recovers a median, in Part IV.</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[1]</a:t>
            </a:r>
            <a:endParaRPr lang="en-US" sz="1138" dirty="0"/>
          </a:p>
        </p:txBody>
      </p:sp>
      <p:sp>
        <p:nvSpPr>
          <p:cNvPr id="25" name="Shape 23"/>
          <p:cNvSpPr/>
          <p:nvPr/>
        </p:nvSpPr>
        <p:spPr>
          <a:xfrm>
            <a:off x="6752295" y="3691707"/>
            <a:ext cx="62545" cy="39045"/>
          </a:xfrm>
          <a:prstGeom prst="rect">
            <a:avLst/>
          </a:prstGeom>
          <a:solidFill>
            <a:srgbClr val="7C5E2A"/>
          </a:solidFill>
          <a:ln/>
        </p:spPr>
      </p:sp>
      <p:sp>
        <p:nvSpPr>
          <p:cNvPr id="26" name="Text 24"/>
          <p:cNvSpPr txBox="1"/>
          <p:nvPr/>
        </p:nvSpPr>
        <p:spPr>
          <a:xfrm>
            <a:off x="6908658" y="3626236"/>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Preserves step edges exactly: the median of a half-black, half-white window is black or white, never grey.</a:t>
            </a:r>
            <a:endParaRPr lang="en-US" sz="1138" dirty="0"/>
          </a:p>
        </p:txBody>
      </p:sp>
      <p:sp>
        <p:nvSpPr>
          <p:cNvPr id="27" name="Shape 25"/>
          <p:cNvSpPr/>
          <p:nvPr/>
        </p:nvSpPr>
        <p:spPr>
          <a:xfrm>
            <a:off x="6752295" y="4250497"/>
            <a:ext cx="62545" cy="39045"/>
          </a:xfrm>
          <a:prstGeom prst="rect">
            <a:avLst/>
          </a:prstGeom>
          <a:solidFill>
            <a:srgbClr val="7C5E2A"/>
          </a:solidFill>
          <a:ln/>
        </p:spPr>
      </p:sp>
      <p:sp>
        <p:nvSpPr>
          <p:cNvPr id="28" name="Text 26"/>
          <p:cNvSpPr txBox="1"/>
          <p:nvPr/>
        </p:nvSpPr>
        <p:spPr>
          <a:xfrm>
            <a:off x="6908658" y="4185026"/>
            <a:ext cx="4754880" cy="44933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Failure mode: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destroys thin lines and corners, and is poorly matched to Gaussian noise, where the mean is the optimal estimator, not the median.</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[2]</a:t>
            </a:r>
            <a:endParaRPr lang="en-US" sz="1138" dirty="0"/>
          </a:p>
        </p:txBody>
      </p:sp>
      <p:sp>
        <p:nvSpPr>
          <p:cNvPr id="29" name="Shape 27"/>
          <p:cNvSpPr/>
          <p:nvPr/>
        </p:nvSpPr>
        <p:spPr>
          <a:xfrm>
            <a:off x="1531803" y="4965558"/>
            <a:ext cx="10097262" cy="15636"/>
          </a:xfrm>
          <a:prstGeom prst="rect">
            <a:avLst/>
          </a:prstGeom>
          <a:solidFill>
            <a:srgbClr val="7C5E2A"/>
          </a:solidFill>
          <a:ln/>
        </p:spPr>
      </p:sp>
      <p:sp>
        <p:nvSpPr>
          <p:cNvPr id="30" name="Text 28"/>
          <p:cNvSpPr txBox="1"/>
          <p:nvPr/>
        </p:nvSpPr>
        <p:spPr>
          <a:xfrm>
            <a:off x="1531803" y="5104272"/>
            <a:ext cx="9844065" cy="199248"/>
          </a:xfrm>
          <a:prstGeom prst="rect">
            <a:avLst/>
          </a:prstGeom>
          <a:noFill/>
          <a:ln/>
        </p:spPr>
        <p:txBody>
          <a:bodyPr wrap="none" lIns="0" tIns="0" rIns="0" bIns="0" rtlCol="0" anchor="t"/>
          <a:lstStyle/>
          <a:p>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Both filters require a window size chosen by a human, in advance, per image. The brief names this directly as a limitation of the classical era: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reliance on hard-coded thresholds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a:t>
            </a:r>
            <a:endParaRPr lang="en-US" sz="1046" dirty="0"/>
          </a:p>
        </p:txBody>
      </p:sp>
      <p:sp>
        <p:nvSpPr>
          <p:cNvPr id="31" name="Text 29"/>
          <p:cNvSpPr txBox="1"/>
          <p:nvPr/>
        </p:nvSpPr>
        <p:spPr>
          <a:xfrm>
            <a:off x="9435876" y="6248827"/>
            <a:ext cx="2193097"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G&amp;W, Image Restoration chapter 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brief §3.2</a:t>
            </a:r>
            <a:endParaRPr lang="en-US" sz="592" dirty="0"/>
          </a:p>
        </p:txBody>
      </p:sp>
      <p:sp>
        <p:nvSpPr>
          <p:cNvPr id="32" name="Shape 30"/>
          <p:cNvSpPr/>
          <p:nvPr/>
        </p:nvSpPr>
        <p:spPr>
          <a:xfrm>
            <a:off x="1531803" y="6537411"/>
            <a:ext cx="10097262" cy="7772"/>
          </a:xfrm>
          <a:prstGeom prst="rect">
            <a:avLst/>
          </a:prstGeom>
          <a:solidFill>
            <a:srgbClr val="C9C4B9"/>
          </a:solidFill>
          <a:ln/>
        </p:spPr>
      </p:sp>
      <p:sp>
        <p:nvSpPr>
          <p:cNvPr id="33" name="Shape 31"/>
          <p:cNvSpPr/>
          <p:nvPr/>
        </p:nvSpPr>
        <p:spPr>
          <a:xfrm>
            <a:off x="1531803" y="6525707"/>
            <a:ext cx="3926799" cy="31272"/>
          </a:xfrm>
          <a:prstGeom prst="rect">
            <a:avLst/>
          </a:prstGeom>
          <a:solidFill>
            <a:srgbClr val="7C5E2A"/>
          </a:solidFill>
          <a:ln/>
        </p:spPr>
      </p:sp>
      <p:sp>
        <p:nvSpPr>
          <p:cNvPr id="34" name="Shape 32"/>
          <p:cNvSpPr/>
          <p:nvPr/>
        </p:nvSpPr>
        <p:spPr>
          <a:xfrm>
            <a:off x="1531803" y="6498366"/>
            <a:ext cx="7772" cy="39045"/>
          </a:xfrm>
          <a:prstGeom prst="rect">
            <a:avLst/>
          </a:prstGeom>
          <a:solidFill>
            <a:srgbClr val="C9C4B9"/>
          </a:solidFill>
          <a:ln/>
        </p:spPr>
      </p:sp>
      <p:sp>
        <p:nvSpPr>
          <p:cNvPr id="35" name="Text 33"/>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6" name="Shape 34"/>
          <p:cNvSpPr/>
          <p:nvPr/>
        </p:nvSpPr>
        <p:spPr>
          <a:xfrm>
            <a:off x="5458511" y="6498366"/>
            <a:ext cx="7772" cy="39045"/>
          </a:xfrm>
          <a:prstGeom prst="rect">
            <a:avLst/>
          </a:prstGeom>
          <a:solidFill>
            <a:srgbClr val="C9C4B9"/>
          </a:solidFill>
          <a:ln/>
        </p:spPr>
      </p:sp>
      <p:sp>
        <p:nvSpPr>
          <p:cNvPr id="37" name="Text 35"/>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8" name="Shape 36"/>
          <p:cNvSpPr/>
          <p:nvPr/>
        </p:nvSpPr>
        <p:spPr>
          <a:xfrm>
            <a:off x="7141738" y="6498366"/>
            <a:ext cx="7772" cy="39045"/>
          </a:xfrm>
          <a:prstGeom prst="rect">
            <a:avLst/>
          </a:prstGeom>
          <a:solidFill>
            <a:srgbClr val="C9C4B9"/>
          </a:solidFill>
          <a:ln/>
        </p:spPr>
      </p:sp>
      <p:sp>
        <p:nvSpPr>
          <p:cNvPr id="39" name="Text 37"/>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40" name="Shape 38"/>
          <p:cNvSpPr/>
          <p:nvPr/>
        </p:nvSpPr>
        <p:spPr>
          <a:xfrm>
            <a:off x="9945654" y="6498366"/>
            <a:ext cx="7772" cy="39045"/>
          </a:xfrm>
          <a:prstGeom prst="rect">
            <a:avLst/>
          </a:prstGeom>
          <a:solidFill>
            <a:srgbClr val="C9C4B9"/>
          </a:solidFill>
          <a:ln/>
        </p:spPr>
      </p:sp>
      <p:sp>
        <p:nvSpPr>
          <p:cNvPr id="41" name="Text 39"/>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42" name="Shape 40"/>
          <p:cNvSpPr/>
          <p:nvPr/>
        </p:nvSpPr>
        <p:spPr>
          <a:xfrm>
            <a:off x="11628973" y="6498366"/>
            <a:ext cx="7772" cy="39045"/>
          </a:xfrm>
          <a:prstGeom prst="rect">
            <a:avLst/>
          </a:prstGeom>
          <a:solidFill>
            <a:srgbClr val="C9C4B9"/>
          </a:solidFill>
          <a:ln/>
        </p:spPr>
      </p:sp>
      <p:sp>
        <p:nvSpPr>
          <p:cNvPr id="43" name="Text 41"/>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37048"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17</a:t>
            </a:r>
            <a:endParaRPr lang="en-US" sz="2545" dirty="0"/>
          </a:p>
        </p:txBody>
      </p:sp>
      <p:sp>
        <p:nvSpPr>
          <p:cNvPr id="3" name="Text 1"/>
          <p:cNvSpPr txBox="1"/>
          <p:nvPr/>
        </p:nvSpPr>
        <p:spPr>
          <a:xfrm rot="16200000">
            <a:off x="-338511" y="3428909"/>
            <a:ext cx="873984"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C5E2A"/>
                </a:solidFill>
                <a:latin typeface="Calibri" pitchFamily="34" charset="0"/>
                <a:ea typeface="Calibri" pitchFamily="34" charset="-122"/>
                <a:cs typeface="Calibri" pitchFamily="34" charset="-120"/>
              </a:rPr>
              <a:t>CLASSICAL DIP</a:t>
            </a:r>
            <a:endParaRPr lang="en-US" sz="694" dirty="0"/>
          </a:p>
        </p:txBody>
      </p:sp>
      <p:sp>
        <p:nvSpPr>
          <p:cNvPr id="4" name="Shape 2"/>
          <p:cNvSpPr/>
          <p:nvPr/>
        </p:nvSpPr>
        <p:spPr>
          <a:xfrm>
            <a:off x="1439540" y="433334"/>
            <a:ext cx="190927" cy="22037"/>
          </a:xfrm>
          <a:prstGeom prst="rect">
            <a:avLst/>
          </a:prstGeom>
          <a:solidFill>
            <a:srgbClr val="7C5E2A"/>
          </a:solidFill>
          <a:ln/>
        </p:spPr>
      </p:sp>
      <p:sp>
        <p:nvSpPr>
          <p:cNvPr id="5" name="Text 3"/>
          <p:cNvSpPr txBox="1"/>
          <p:nvPr/>
        </p:nvSpPr>
        <p:spPr>
          <a:xfrm>
            <a:off x="1718615" y="383865"/>
            <a:ext cx="1910364"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C5E2A"/>
                </a:solidFill>
                <a:latin typeface="Calibri" pitchFamily="34" charset="0"/>
                <a:ea typeface="Calibri" pitchFamily="34" charset="-122"/>
                <a:cs typeface="Calibri" pitchFamily="34" charset="-120"/>
              </a:rPr>
              <a:t>TRANSFORM-DOMAIN SHRINKAGE</a:t>
            </a:r>
            <a:endParaRPr lang="en-US" sz="781" dirty="0"/>
          </a:p>
        </p:txBody>
      </p:sp>
      <p:sp>
        <p:nvSpPr>
          <p:cNvPr id="6" name="Text 4"/>
          <p:cNvSpPr txBox="1"/>
          <p:nvPr/>
        </p:nvSpPr>
        <p:spPr>
          <a:xfrm>
            <a:off x="1439540" y="607070"/>
            <a:ext cx="1016520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Sparsity: the idea that a clean image is compressible and noise is not</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second great classical strategy. Move to a basis where the signal concentrates into a few large coefficients while the noise stays spread thinly across all of them — then discard the small ones.</a:t>
            </a:r>
            <a:endParaRPr lang="en-US" sz="1157" dirty="0"/>
          </a:p>
        </p:txBody>
      </p:sp>
      <p:sp>
        <p:nvSpPr>
          <p:cNvPr id="8" name="Shape 6"/>
          <p:cNvSpPr/>
          <p:nvPr/>
        </p:nvSpPr>
        <p:spPr>
          <a:xfrm>
            <a:off x="1439540" y="1958553"/>
            <a:ext cx="10223358" cy="886694"/>
          </a:xfrm>
          <a:prstGeom prst="rect">
            <a:avLst/>
          </a:prstGeom>
          <a:solidFill>
            <a:srgbClr val="F1EEE8"/>
          </a:solidFill>
          <a:ln/>
        </p:spPr>
      </p:sp>
      <p:sp>
        <p:nvSpPr>
          <p:cNvPr id="9" name="Shape 7"/>
          <p:cNvSpPr/>
          <p:nvPr/>
        </p:nvSpPr>
        <p:spPr>
          <a:xfrm>
            <a:off x="1439540" y="1958553"/>
            <a:ext cx="29352" cy="886694"/>
          </a:xfrm>
          <a:prstGeom prst="rect">
            <a:avLst/>
          </a:prstGeom>
          <a:solidFill>
            <a:srgbClr val="7C5E2A"/>
          </a:solidFill>
          <a:ln/>
        </p:spPr>
      </p:sp>
      <p:pic>
        <p:nvPicPr>
          <p:cNvPr id="10" name="Image 0" descr="\text{hard:}\quad T_{h}(c) \;=\; c\cdot\mathbf{1}\big[\,|c| &gt; \lambda\,\big]\qquad\qquad \text{soft:}\quad T_{s}(c) \;=\; \operatorname{sign}(c)\,\max\big(|c| - \lambda,\; 0\big)">    </p:cNvPr>
          <p:cNvPicPr>
            <a:picLocks noChangeAspect="1"/>
          </p:cNvPicPr>
          <p:nvPr/>
        </p:nvPicPr>
        <p:blipFill>
          <a:blip r:embed="rId1"/>
          <a:stretch>
            <a:fillRect/>
          </a:stretch>
        </p:blipFill>
        <p:spPr>
          <a:xfrm>
            <a:off x="1645188" y="2083369"/>
            <a:ext cx="9841504" cy="400599"/>
          </a:xfrm>
          <a:prstGeom prst="rect">
            <a:avLst/>
          </a:prstGeom>
        </p:spPr>
      </p:pic>
      <p:sp>
        <p:nvSpPr>
          <p:cNvPr id="11" name="Text 8"/>
          <p:cNvSpPr txBox="1"/>
          <p:nvPr/>
        </p:nvSpPr>
        <p:spPr>
          <a:xfrm>
            <a:off x="1645188" y="2556754"/>
            <a:ext cx="3788176"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c — a transform coefficient · λ — the shrinkage threshold, typically λ = σ√(2 log N)</a:t>
            </a:r>
            <a:endParaRPr lang="en-US" sz="867" dirty="0"/>
          </a:p>
        </p:txBody>
      </p:sp>
      <p:sp>
        <p:nvSpPr>
          <p:cNvPr id="12" name="Shape 9"/>
          <p:cNvSpPr/>
          <p:nvPr/>
        </p:nvSpPr>
        <p:spPr>
          <a:xfrm>
            <a:off x="1439540" y="2955432"/>
            <a:ext cx="10223358" cy="7315"/>
          </a:xfrm>
          <a:prstGeom prst="rect">
            <a:avLst/>
          </a:prstGeom>
          <a:solidFill>
            <a:srgbClr val="DFDBD2"/>
          </a:solidFill>
          <a:ln/>
        </p:spPr>
      </p:sp>
      <p:sp>
        <p:nvSpPr>
          <p:cNvPr id="13" name="Text 10"/>
          <p:cNvSpPr txBox="1"/>
          <p:nvPr/>
        </p:nvSpPr>
        <p:spPr>
          <a:xfrm>
            <a:off x="1439540" y="3087654"/>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4" name="Text 11"/>
          <p:cNvSpPr txBox="1"/>
          <p:nvPr/>
        </p:nvSpPr>
        <p:spPr>
          <a:xfrm>
            <a:off x="1747967" y="3077505"/>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Why it works.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An orthonormal transform preserves the noise variance — white noise stays white, spread evenly over all coefficients at amplitude ≈ σ. A natural image, in a wavelet or DCT basis, concentrates its energy into few large coefficients. Thresholding therefore removes far more noise than signal.</a:t>
            </a:r>
            <a:endParaRPr lang="en-US" sz="1070" dirty="0"/>
          </a:p>
        </p:txBody>
      </p:sp>
      <p:sp>
        <p:nvSpPr>
          <p:cNvPr id="15" name="Text 12"/>
          <p:cNvSpPr txBox="1"/>
          <p:nvPr/>
        </p:nvSpPr>
        <p:spPr>
          <a:xfrm>
            <a:off x="1439540" y="3612794"/>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16" name="Text 13"/>
          <p:cNvSpPr txBox="1"/>
          <p:nvPr/>
        </p:nvSpPr>
        <p:spPr>
          <a:xfrm>
            <a:off x="1747967" y="3602645"/>
            <a:ext cx="9969246" cy="42227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Hard vs soft.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Hard thresholding is unbiased on surviving coefficients but discontinuous, producing ringing artefacts. Soft thresholding is continuous and produces smoother output but biases every surviving coefficient toward zero by λ. BM3D uses hard thresholding in step 1 and a Wiener filter in step 2 precisely to get the benefit of each. </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[1]</a:t>
            </a:r>
            <a:endParaRPr lang="en-US" sz="1070" dirty="0"/>
          </a:p>
        </p:txBody>
      </p:sp>
      <p:sp>
        <p:nvSpPr>
          <p:cNvPr id="17" name="Text 14"/>
          <p:cNvSpPr txBox="1"/>
          <p:nvPr/>
        </p:nvSpPr>
        <p:spPr>
          <a:xfrm>
            <a:off x="1439540" y="4137843"/>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18" name="Text 15"/>
          <p:cNvSpPr txBox="1"/>
          <p:nvPr/>
        </p:nvSpPr>
        <p:spPr>
          <a:xfrm>
            <a:off x="1747967" y="4127784"/>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Where it fails.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 single fixed basis — DCT, or one wavelet family — cannot be sparse for every image structure simultaneously. Edges at arbitrary orientations are notoriously non-sparse in separable wavelets, which is exactly where ringing appears.</a:t>
            </a:r>
            <a:endParaRPr lang="en-US" sz="1070" dirty="0"/>
          </a:p>
        </p:txBody>
      </p:sp>
      <p:sp>
        <p:nvSpPr>
          <p:cNvPr id="19" name="Text 16"/>
          <p:cNvSpPr txBox="1"/>
          <p:nvPr/>
        </p:nvSpPr>
        <p:spPr>
          <a:xfrm>
            <a:off x="1439540" y="4662983"/>
            <a:ext cx="139903"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04</a:t>
            </a:r>
            <a:endParaRPr lang="en-US" sz="694" dirty="0"/>
          </a:p>
        </p:txBody>
      </p:sp>
      <p:sp>
        <p:nvSpPr>
          <p:cNvPr id="20" name="Text 17"/>
          <p:cNvSpPr txBox="1"/>
          <p:nvPr/>
        </p:nvSpPr>
        <p:spPr>
          <a:xfrm>
            <a:off x="1747967" y="4652924"/>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escape.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If a fixed basis is not sparse enough, learn one. That is K-SVD (Elad &amp; Aharon, IEEE TIP 2006)</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[2]</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learn an overcomplete dictionary D from the image's own patches and represent each patch as x ≈ Dα with ‖α‖₀ small. The prior is still hand-designed — sparsity — but the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basis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is now data-driven. This is the first crack in the classical wall.</a:t>
            </a:r>
            <a:endParaRPr lang="en-US" sz="1070" dirty="0"/>
          </a:p>
        </p:txBody>
      </p:sp>
      <p:sp>
        <p:nvSpPr>
          <p:cNvPr id="21" name="Text 18"/>
          <p:cNvSpPr txBox="1"/>
          <p:nvPr/>
        </p:nvSpPr>
        <p:spPr>
          <a:xfrm>
            <a:off x="8867668" y="6285494"/>
            <a:ext cx="2795229"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BM3D07 §III 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Elad &amp; Aharon, IEEE TIP 2006 (cited in DnCNN17)</a:t>
            </a:r>
            <a:endParaRPr lang="en-US" sz="556" dirty="0"/>
          </a:p>
        </p:txBody>
      </p:sp>
      <p:sp>
        <p:nvSpPr>
          <p:cNvPr id="22" name="Shape 19"/>
          <p:cNvSpPr/>
          <p:nvPr/>
        </p:nvSpPr>
        <p:spPr>
          <a:xfrm>
            <a:off x="1439540" y="6556705"/>
            <a:ext cx="10223358" cy="7315"/>
          </a:xfrm>
          <a:prstGeom prst="rect">
            <a:avLst/>
          </a:prstGeom>
          <a:solidFill>
            <a:srgbClr val="C9C4B9"/>
          </a:solidFill>
          <a:ln/>
        </p:spPr>
      </p:sp>
      <p:sp>
        <p:nvSpPr>
          <p:cNvPr id="23" name="Shape 20"/>
          <p:cNvSpPr/>
          <p:nvPr/>
        </p:nvSpPr>
        <p:spPr>
          <a:xfrm>
            <a:off x="1439540" y="6545732"/>
            <a:ext cx="3975811" cy="29352"/>
          </a:xfrm>
          <a:prstGeom prst="rect">
            <a:avLst/>
          </a:prstGeom>
          <a:solidFill>
            <a:srgbClr val="7C5E2A"/>
          </a:solidFill>
          <a:ln/>
        </p:spPr>
      </p:sp>
      <p:sp>
        <p:nvSpPr>
          <p:cNvPr id="24" name="Shape 21"/>
          <p:cNvSpPr/>
          <p:nvPr/>
        </p:nvSpPr>
        <p:spPr>
          <a:xfrm>
            <a:off x="1439540" y="6519946"/>
            <a:ext cx="7315" cy="36759"/>
          </a:xfrm>
          <a:prstGeom prst="rect">
            <a:avLst/>
          </a:prstGeom>
          <a:solidFill>
            <a:srgbClr val="C9C4B9"/>
          </a:solidFill>
          <a:ln/>
        </p:spPr>
      </p:sp>
      <p:sp>
        <p:nvSpPr>
          <p:cNvPr id="25" name="Text 22"/>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6" name="Shape 23"/>
          <p:cNvSpPr/>
          <p:nvPr/>
        </p:nvSpPr>
        <p:spPr>
          <a:xfrm>
            <a:off x="5415351" y="6519946"/>
            <a:ext cx="7315" cy="36759"/>
          </a:xfrm>
          <a:prstGeom prst="rect">
            <a:avLst/>
          </a:prstGeom>
          <a:solidFill>
            <a:srgbClr val="C9C4B9"/>
          </a:solidFill>
          <a:ln/>
        </p:spPr>
      </p:sp>
      <p:sp>
        <p:nvSpPr>
          <p:cNvPr id="27" name="Text 24"/>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8" name="Shape 25"/>
          <p:cNvSpPr/>
          <p:nvPr/>
        </p:nvSpPr>
        <p:spPr>
          <a:xfrm>
            <a:off x="7119610" y="6519946"/>
            <a:ext cx="7315" cy="36759"/>
          </a:xfrm>
          <a:prstGeom prst="rect">
            <a:avLst/>
          </a:prstGeom>
          <a:solidFill>
            <a:srgbClr val="C9C4B9"/>
          </a:solidFill>
          <a:ln/>
        </p:spPr>
      </p:sp>
      <p:sp>
        <p:nvSpPr>
          <p:cNvPr id="29" name="Text 26"/>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0" name="Shape 27"/>
          <p:cNvSpPr/>
          <p:nvPr/>
        </p:nvSpPr>
        <p:spPr>
          <a:xfrm>
            <a:off x="9958639" y="6519946"/>
            <a:ext cx="7315" cy="36759"/>
          </a:xfrm>
          <a:prstGeom prst="rect">
            <a:avLst/>
          </a:prstGeom>
          <a:solidFill>
            <a:srgbClr val="C9C4B9"/>
          </a:solidFill>
          <a:ln/>
        </p:spPr>
      </p:sp>
      <p:sp>
        <p:nvSpPr>
          <p:cNvPr id="31" name="Text 28"/>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2" name="Shape 29"/>
          <p:cNvSpPr/>
          <p:nvPr/>
        </p:nvSpPr>
        <p:spPr>
          <a:xfrm>
            <a:off x="11662898" y="6519946"/>
            <a:ext cx="7315" cy="36759"/>
          </a:xfrm>
          <a:prstGeom prst="rect">
            <a:avLst/>
          </a:prstGeom>
          <a:solidFill>
            <a:srgbClr val="C9C4B9"/>
          </a:solidFill>
          <a:ln/>
        </p:spPr>
      </p:sp>
      <p:sp>
        <p:nvSpPr>
          <p:cNvPr id="33" name="Text 30"/>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7165"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18</a:t>
            </a:r>
            <a:endParaRPr lang="en-US" sz="2545" dirty="0"/>
          </a:p>
        </p:txBody>
      </p:sp>
      <p:sp>
        <p:nvSpPr>
          <p:cNvPr id="3" name="Text 1"/>
          <p:cNvSpPr txBox="1"/>
          <p:nvPr/>
        </p:nvSpPr>
        <p:spPr>
          <a:xfrm rot="16200000">
            <a:off x="-338511" y="3428909"/>
            <a:ext cx="873984"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C5E2A"/>
                </a:solidFill>
                <a:latin typeface="Calibri" pitchFamily="34" charset="0"/>
                <a:ea typeface="Calibri" pitchFamily="34" charset="-122"/>
                <a:cs typeface="Calibri" pitchFamily="34" charset="-120"/>
              </a:rPr>
              <a:t>CLASSICAL DIP</a:t>
            </a:r>
            <a:endParaRPr lang="en-US" sz="694" dirty="0"/>
          </a:p>
        </p:txBody>
      </p:sp>
      <p:sp>
        <p:nvSpPr>
          <p:cNvPr id="4" name="Shape 2"/>
          <p:cNvSpPr/>
          <p:nvPr/>
        </p:nvSpPr>
        <p:spPr>
          <a:xfrm>
            <a:off x="1439540" y="433334"/>
            <a:ext cx="190927" cy="22037"/>
          </a:xfrm>
          <a:prstGeom prst="rect">
            <a:avLst/>
          </a:prstGeom>
          <a:solidFill>
            <a:srgbClr val="7C5E2A"/>
          </a:solidFill>
          <a:ln/>
        </p:spPr>
      </p:sp>
      <p:sp>
        <p:nvSpPr>
          <p:cNvPr id="5" name="Text 3"/>
          <p:cNvSpPr txBox="1"/>
          <p:nvPr/>
        </p:nvSpPr>
        <p:spPr>
          <a:xfrm>
            <a:off x="1718615" y="383865"/>
            <a:ext cx="1034095"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C5E2A"/>
                </a:solidFill>
                <a:latin typeface="Calibri" pitchFamily="34" charset="0"/>
                <a:ea typeface="Calibri" pitchFamily="34" charset="-122"/>
                <a:cs typeface="Calibri" pitchFamily="34" charset="-120"/>
              </a:rPr>
              <a:t>TOTAL VARIATION</a:t>
            </a:r>
            <a:endParaRPr lang="en-US" sz="781" dirty="0"/>
          </a:p>
        </p:txBody>
      </p:sp>
      <p:sp>
        <p:nvSpPr>
          <p:cNvPr id="6" name="Text 4"/>
          <p:cNvSpPr txBox="1"/>
          <p:nvPr/>
        </p:nvSpPr>
        <p:spPr>
          <a:xfrm>
            <a:off x="1439540" y="607070"/>
            <a:ext cx="1033985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ROF: the first prior that treats edges as information rather than error</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Rudin, Osher and Fatemi, 1992. Instead of penalising roughness with a squared gradient — which is quadratic and therefore hates edges — penalise the ℓ₁ norm of the gradient, which is cheap for a few large jumps and expensive for pervasive ripple.</a:t>
            </a:r>
            <a:endParaRPr lang="en-US" sz="1157" dirty="0"/>
          </a:p>
        </p:txBody>
      </p:sp>
      <p:sp>
        <p:nvSpPr>
          <p:cNvPr id="8" name="Shape 6"/>
          <p:cNvSpPr/>
          <p:nvPr/>
        </p:nvSpPr>
        <p:spPr>
          <a:xfrm>
            <a:off x="1439540" y="1958553"/>
            <a:ext cx="10223358" cy="1284549"/>
          </a:xfrm>
          <a:prstGeom prst="rect">
            <a:avLst/>
          </a:prstGeom>
          <a:solidFill>
            <a:srgbClr val="F1EEE8"/>
          </a:solidFill>
          <a:ln/>
        </p:spPr>
      </p:sp>
      <p:sp>
        <p:nvSpPr>
          <p:cNvPr id="9" name="Shape 7"/>
          <p:cNvSpPr/>
          <p:nvPr/>
        </p:nvSpPr>
        <p:spPr>
          <a:xfrm>
            <a:off x="1439540" y="1958553"/>
            <a:ext cx="29352" cy="1284549"/>
          </a:xfrm>
          <a:prstGeom prst="rect">
            <a:avLst/>
          </a:prstGeom>
          <a:solidFill>
            <a:srgbClr val="7C5E2A"/>
          </a:solidFill>
          <a:ln/>
        </p:spPr>
      </p:sp>
      <p:pic>
        <p:nvPicPr>
          <p:cNvPr id="10" name="Image 0" descr="\hat{x} \;=\; \arg\min_{x}\, \tfrac{1}{2}\lVert y - x \rVert_{2}^{2} \;+\; \lambda\lVert \nabla x \rVert_{1},\qquad \lVert \nabla x \rVert_{1} \;=\; \sum_{i,j}\sqrt{(\partial_{h}x)^{2} + (\partial_{v}x)^{2}}">    </p:cNvPr>
          <p:cNvPicPr>
            <a:picLocks noChangeAspect="1"/>
          </p:cNvPicPr>
          <p:nvPr/>
        </p:nvPicPr>
        <p:blipFill>
          <a:blip r:embed="rId1"/>
          <a:stretch>
            <a:fillRect/>
          </a:stretch>
        </p:blipFill>
        <p:spPr>
          <a:xfrm>
            <a:off x="1645188" y="2083369"/>
            <a:ext cx="9655790" cy="798454"/>
          </a:xfrm>
          <a:prstGeom prst="rect">
            <a:avLst/>
          </a:prstGeom>
        </p:spPr>
      </p:pic>
      <p:sp>
        <p:nvSpPr>
          <p:cNvPr id="11" name="Text 8"/>
          <p:cNvSpPr txBox="1"/>
          <p:nvPr/>
        </p:nvSpPr>
        <p:spPr>
          <a:xfrm>
            <a:off x="1645188" y="2954609"/>
            <a:ext cx="3968313"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the isotropic total-variation semi-norm — the ℓ₁ norm of the gradient magnitude field</a:t>
            </a:r>
            <a:endParaRPr lang="en-US" sz="867" dirty="0"/>
          </a:p>
        </p:txBody>
      </p:sp>
      <p:sp>
        <p:nvSpPr>
          <p:cNvPr id="12" name="Shape 9"/>
          <p:cNvSpPr/>
          <p:nvPr/>
        </p:nvSpPr>
        <p:spPr>
          <a:xfrm>
            <a:off x="1439540" y="3353288"/>
            <a:ext cx="10223358" cy="7315"/>
          </a:xfrm>
          <a:prstGeom prst="rect">
            <a:avLst/>
          </a:prstGeom>
          <a:solidFill>
            <a:srgbClr val="DFDBD2"/>
          </a:solidFill>
          <a:ln/>
        </p:spPr>
      </p:sp>
      <p:sp>
        <p:nvSpPr>
          <p:cNvPr id="13" name="Text 10"/>
          <p:cNvSpPr txBox="1"/>
          <p:nvPr/>
        </p:nvSpPr>
        <p:spPr>
          <a:xfrm>
            <a:off x="1439540" y="3485510"/>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4" name="Text 11"/>
          <p:cNvSpPr txBox="1"/>
          <p:nvPr/>
        </p:nvSpPr>
        <p:spPr>
          <a:xfrm>
            <a:off x="1747967" y="3475360"/>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Why ℓ₁ and not ℓ₂.</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 Tikhonov prior ‖∇x‖²₂ charges the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square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of a jump, so one edge of height 100 costs 10 000 while a hundred ripples of height 1 cost only 100 — the optimiser removes the edge.</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[1]</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TV charges the jump itself, so an edge of height 100 costs 100 and a hundred ripples also cost 100. Edges become affordable.</a:t>
            </a:r>
            <a:endParaRPr lang="en-US" sz="1070" dirty="0"/>
          </a:p>
        </p:txBody>
      </p:sp>
      <p:sp>
        <p:nvSpPr>
          <p:cNvPr id="15" name="Text 12"/>
          <p:cNvSpPr txBox="1"/>
          <p:nvPr/>
        </p:nvSpPr>
        <p:spPr>
          <a:xfrm>
            <a:off x="1439540" y="4010650"/>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16" name="Text 13"/>
          <p:cNvSpPr txBox="1"/>
          <p:nvPr/>
        </p:nvSpPr>
        <p:spPr>
          <a:xfrm>
            <a:off x="1747967" y="4000500"/>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Consequence — and the classic artefact.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TV's minimiser is piecewise constant. It preserves edges beautifully and turns smooth gradients into visible flat plateaus. This is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staircasing</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and it is the reason TV is not a general-purpose denoiser.</a:t>
            </a:r>
            <a:endParaRPr lang="en-US" sz="1070" dirty="0"/>
          </a:p>
        </p:txBody>
      </p:sp>
      <p:sp>
        <p:nvSpPr>
          <p:cNvPr id="17" name="Text 14"/>
          <p:cNvSpPr txBox="1"/>
          <p:nvPr/>
        </p:nvSpPr>
        <p:spPr>
          <a:xfrm>
            <a:off x="1439540" y="4535698"/>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18" name="Text 15"/>
          <p:cNvSpPr txBox="1"/>
          <p:nvPr/>
        </p:nvSpPr>
        <p:spPr>
          <a:xfrm>
            <a:off x="1747967" y="4525640"/>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Non-differentiability.</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‖·‖₁ has no gradient at zero, so the objective cannot be minimised by plain gradient descent. Chambolle's</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[2]</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2004 dual projection algorithm solves it by iterating on the dual variable to a fixed tolerance.</a:t>
            </a:r>
            <a:endParaRPr lang="en-US" sz="1070" dirty="0"/>
          </a:p>
        </p:txBody>
      </p:sp>
      <p:sp>
        <p:nvSpPr>
          <p:cNvPr id="19" name="Text 16"/>
          <p:cNvSpPr txBox="1"/>
          <p:nvPr/>
        </p:nvSpPr>
        <p:spPr>
          <a:xfrm>
            <a:off x="1439540" y="5060838"/>
            <a:ext cx="139903"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04</a:t>
            </a:r>
            <a:endParaRPr lang="en-US" sz="694" dirty="0"/>
          </a:p>
        </p:txBody>
      </p:sp>
      <p:sp>
        <p:nvSpPr>
          <p:cNvPr id="20" name="Text 17"/>
          <p:cNvSpPr txBox="1"/>
          <p:nvPr/>
        </p:nvSpPr>
        <p:spPr>
          <a:xfrm>
            <a:off x="1747967" y="5050780"/>
            <a:ext cx="9969246" cy="416692"/>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engineering consequence, which matters in Part VI.</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algorithm is a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while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loop with a tolerance and a maximum iteration count, run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per image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prior is one line of arithmetic you can read; the price is that nothing is ever reused.</a:t>
            </a:r>
            <a:endParaRPr lang="en-US" sz="1070" dirty="0"/>
          </a:p>
        </p:txBody>
      </p:sp>
      <p:sp>
        <p:nvSpPr>
          <p:cNvPr id="21" name="Text 18"/>
          <p:cNvSpPr txBox="1"/>
          <p:nvPr/>
        </p:nvSpPr>
        <p:spPr>
          <a:xfrm>
            <a:off x="6002030" y="6285494"/>
            <a:ext cx="5660868"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Rudin, Osher &amp; Fatemi 1992 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Chambolle 2004 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implementation inspected: scikit-image 0.26.0 `denoise_tv_chambolle` [measured]</a:t>
            </a:r>
            <a:endParaRPr lang="en-US" sz="556" dirty="0"/>
          </a:p>
        </p:txBody>
      </p:sp>
      <p:sp>
        <p:nvSpPr>
          <p:cNvPr id="22" name="Shape 19"/>
          <p:cNvSpPr/>
          <p:nvPr/>
        </p:nvSpPr>
        <p:spPr>
          <a:xfrm>
            <a:off x="1439540" y="6556705"/>
            <a:ext cx="10223358" cy="7315"/>
          </a:xfrm>
          <a:prstGeom prst="rect">
            <a:avLst/>
          </a:prstGeom>
          <a:solidFill>
            <a:srgbClr val="C9C4B9"/>
          </a:solidFill>
          <a:ln/>
        </p:spPr>
      </p:sp>
      <p:sp>
        <p:nvSpPr>
          <p:cNvPr id="23" name="Shape 20"/>
          <p:cNvSpPr/>
          <p:nvPr/>
        </p:nvSpPr>
        <p:spPr>
          <a:xfrm>
            <a:off x="1439540" y="6545732"/>
            <a:ext cx="3975811" cy="29352"/>
          </a:xfrm>
          <a:prstGeom prst="rect">
            <a:avLst/>
          </a:prstGeom>
          <a:solidFill>
            <a:srgbClr val="7C5E2A"/>
          </a:solidFill>
          <a:ln/>
        </p:spPr>
      </p:sp>
      <p:sp>
        <p:nvSpPr>
          <p:cNvPr id="24" name="Shape 21"/>
          <p:cNvSpPr/>
          <p:nvPr/>
        </p:nvSpPr>
        <p:spPr>
          <a:xfrm>
            <a:off x="1439540" y="6519946"/>
            <a:ext cx="7315" cy="36759"/>
          </a:xfrm>
          <a:prstGeom prst="rect">
            <a:avLst/>
          </a:prstGeom>
          <a:solidFill>
            <a:srgbClr val="C9C4B9"/>
          </a:solidFill>
          <a:ln/>
        </p:spPr>
      </p:sp>
      <p:sp>
        <p:nvSpPr>
          <p:cNvPr id="25" name="Text 22"/>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6" name="Shape 23"/>
          <p:cNvSpPr/>
          <p:nvPr/>
        </p:nvSpPr>
        <p:spPr>
          <a:xfrm>
            <a:off x="5415351" y="6519946"/>
            <a:ext cx="7315" cy="36759"/>
          </a:xfrm>
          <a:prstGeom prst="rect">
            <a:avLst/>
          </a:prstGeom>
          <a:solidFill>
            <a:srgbClr val="C9C4B9"/>
          </a:solidFill>
          <a:ln/>
        </p:spPr>
      </p:sp>
      <p:sp>
        <p:nvSpPr>
          <p:cNvPr id="27" name="Text 24"/>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8" name="Shape 25"/>
          <p:cNvSpPr/>
          <p:nvPr/>
        </p:nvSpPr>
        <p:spPr>
          <a:xfrm>
            <a:off x="7119610" y="6519946"/>
            <a:ext cx="7315" cy="36759"/>
          </a:xfrm>
          <a:prstGeom prst="rect">
            <a:avLst/>
          </a:prstGeom>
          <a:solidFill>
            <a:srgbClr val="C9C4B9"/>
          </a:solidFill>
          <a:ln/>
        </p:spPr>
      </p:sp>
      <p:sp>
        <p:nvSpPr>
          <p:cNvPr id="29" name="Text 26"/>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0" name="Shape 27"/>
          <p:cNvSpPr/>
          <p:nvPr/>
        </p:nvSpPr>
        <p:spPr>
          <a:xfrm>
            <a:off x="9958639" y="6519946"/>
            <a:ext cx="7315" cy="36759"/>
          </a:xfrm>
          <a:prstGeom prst="rect">
            <a:avLst/>
          </a:prstGeom>
          <a:solidFill>
            <a:srgbClr val="C9C4B9"/>
          </a:solidFill>
          <a:ln/>
        </p:spPr>
      </p:sp>
      <p:sp>
        <p:nvSpPr>
          <p:cNvPr id="31" name="Text 28"/>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2" name="Shape 29"/>
          <p:cNvSpPr/>
          <p:nvPr/>
        </p:nvSpPr>
        <p:spPr>
          <a:xfrm>
            <a:off x="11662898" y="6519946"/>
            <a:ext cx="7315" cy="36759"/>
          </a:xfrm>
          <a:prstGeom prst="rect">
            <a:avLst/>
          </a:prstGeom>
          <a:solidFill>
            <a:srgbClr val="C9C4B9"/>
          </a:solidFill>
          <a:ln/>
        </p:spPr>
      </p:sp>
      <p:sp>
        <p:nvSpPr>
          <p:cNvPr id="33" name="Text 30"/>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72435"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19</a:t>
            </a:r>
            <a:endParaRPr lang="en-US" sz="2708" dirty="0"/>
          </a:p>
        </p:txBody>
      </p:sp>
      <p:sp>
        <p:nvSpPr>
          <p:cNvPr id="3" name="Text 1"/>
          <p:cNvSpPr txBox="1"/>
          <p:nvPr/>
        </p:nvSpPr>
        <p:spPr>
          <a:xfrm rot="16200000">
            <a:off x="-360274" y="3428909"/>
            <a:ext cx="930036"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7C5E2A"/>
                </a:solidFill>
                <a:latin typeface="Calibri" pitchFamily="34" charset="0"/>
                <a:ea typeface="Calibri" pitchFamily="34" charset="-122"/>
                <a:cs typeface="Calibri" pitchFamily="34" charset="-120"/>
              </a:rPr>
              <a:t>CLASSICAL DIP</a:t>
            </a:r>
            <a:endParaRPr lang="en-US" sz="738" dirty="0"/>
          </a:p>
        </p:txBody>
      </p:sp>
      <p:sp>
        <p:nvSpPr>
          <p:cNvPr id="4" name="Shape 2"/>
          <p:cNvSpPr/>
          <p:nvPr/>
        </p:nvSpPr>
        <p:spPr>
          <a:xfrm>
            <a:off x="1531803" y="461132"/>
            <a:ext cx="203180" cy="23409"/>
          </a:xfrm>
          <a:prstGeom prst="rect">
            <a:avLst/>
          </a:prstGeom>
          <a:solidFill>
            <a:srgbClr val="7C5E2A"/>
          </a:solidFill>
          <a:ln/>
        </p:spPr>
      </p:sp>
      <p:sp>
        <p:nvSpPr>
          <p:cNvPr id="5" name="Text 3"/>
          <p:cNvSpPr txBox="1"/>
          <p:nvPr/>
        </p:nvSpPr>
        <p:spPr>
          <a:xfrm>
            <a:off x="1828800" y="408462"/>
            <a:ext cx="1389248"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7C5E2A"/>
                </a:solidFill>
                <a:latin typeface="Calibri" pitchFamily="34" charset="0"/>
                <a:ea typeface="Calibri" pitchFamily="34" charset="-122"/>
                <a:cs typeface="Calibri" pitchFamily="34" charset="-120"/>
              </a:rPr>
              <a:t>THE CONCEPTUAL LEAP</a:t>
            </a:r>
            <a:endParaRPr lang="en-US" sz="831" dirty="0"/>
          </a:p>
        </p:txBody>
      </p:sp>
      <p:sp>
        <p:nvSpPr>
          <p:cNvPr id="6" name="Text 4"/>
          <p:cNvSpPr txBox="1"/>
          <p:nvPr/>
        </p:nvSpPr>
        <p:spPr>
          <a:xfrm>
            <a:off x="1531803" y="646024"/>
            <a:ext cx="7500092"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Non-local self-similarity — stop looking nearby</a:t>
            </a:r>
            <a:endParaRPr lang="en-US" sz="2831" dirty="0"/>
          </a:p>
        </p:txBody>
      </p:sp>
      <p:sp>
        <p:nvSpPr>
          <p:cNvPr id="7" name="Text 5"/>
          <p:cNvSpPr txBox="1"/>
          <p:nvPr/>
        </p:nvSpPr>
        <p:spPr>
          <a:xfrm>
            <a:off x="1531803" y="1161928"/>
            <a:ext cx="6060460" cy="937809"/>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Buades, Coll and Morel, CVPR 2005. Every method so far assumed the pixels that inform a pixel are the pixels </a:t>
            </a:r>
            <a:pPr algn="l" indent="0" marL="0">
              <a:lnSpc>
                <a:spcPts val="1846"/>
              </a:lnSpc>
              <a:buNone/>
            </a:pPr>
            <a:r>
              <a:rPr kern="0" lang="en-US" sz="1231" i="1" dirty="0">
                <a:solidFill>
                  <a:srgbClr val="5A554D"/>
                </a:solidFill>
                <a:latin typeface="Calibri" pitchFamily="34" charset="0"/>
                <a:ea typeface="Calibri" pitchFamily="34" charset="-122"/>
                <a:cs typeface="Calibri" pitchFamily="34" charset="-120"/>
              </a:rPr>
              <a:t>near</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it. Natural images violate that assumption constantly: a brick resembles the other bricks, a stripe resembles the other stripes, and those twins may be two hundred pixels away.</a:t>
            </a:r>
            <a:endParaRPr lang="en-US" sz="1231" dirty="0"/>
          </a:p>
        </p:txBody>
      </p:sp>
      <p:sp>
        <p:nvSpPr>
          <p:cNvPr id="8" name="Shape 6"/>
          <p:cNvSpPr/>
          <p:nvPr/>
        </p:nvSpPr>
        <p:spPr>
          <a:xfrm>
            <a:off x="6580388" y="2318553"/>
            <a:ext cx="7772" cy="3113989"/>
          </a:xfrm>
          <a:prstGeom prst="rect">
            <a:avLst/>
          </a:prstGeom>
          <a:solidFill>
            <a:srgbClr val="DFDBD2"/>
          </a:solidFill>
          <a:ln/>
        </p:spPr>
      </p:sp>
      <p:sp>
        <p:nvSpPr>
          <p:cNvPr id="9" name="Shape 7"/>
          <p:cNvSpPr/>
          <p:nvPr/>
        </p:nvSpPr>
        <p:spPr>
          <a:xfrm>
            <a:off x="1531803" y="2318553"/>
            <a:ext cx="4876678" cy="15636"/>
          </a:xfrm>
          <a:prstGeom prst="rect">
            <a:avLst/>
          </a:prstGeom>
          <a:solidFill>
            <a:srgbClr val="7C5E2A"/>
          </a:solidFill>
          <a:ln/>
        </p:spPr>
      </p:sp>
      <p:sp>
        <p:nvSpPr>
          <p:cNvPr id="10" name="Text 8"/>
          <p:cNvSpPr txBox="1"/>
          <p:nvPr/>
        </p:nvSpPr>
        <p:spPr>
          <a:xfrm>
            <a:off x="1531803" y="2451598"/>
            <a:ext cx="1284275"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Non-local means</a:t>
            </a:r>
            <a:endParaRPr lang="en-US" sz="1354" dirty="0"/>
          </a:p>
        </p:txBody>
      </p:sp>
      <p:sp>
        <p:nvSpPr>
          <p:cNvPr id="11" name="Shape 9"/>
          <p:cNvSpPr/>
          <p:nvPr/>
        </p:nvSpPr>
        <p:spPr>
          <a:xfrm>
            <a:off x="1531803" y="2826136"/>
            <a:ext cx="62545" cy="39045"/>
          </a:xfrm>
          <a:prstGeom prst="rect">
            <a:avLst/>
          </a:prstGeom>
          <a:solidFill>
            <a:srgbClr val="7C5E2A"/>
          </a:solidFill>
          <a:ln/>
        </p:spPr>
      </p:sp>
      <p:sp>
        <p:nvSpPr>
          <p:cNvPr id="12" name="Text 10"/>
          <p:cNvSpPr txBox="1"/>
          <p:nvPr/>
        </p:nvSpPr>
        <p:spPr>
          <a:xfrm>
            <a:off x="1688074" y="2760756"/>
            <a:ext cx="4754880" cy="44933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x̂(i) = Σ_j w(i,j) · y(j), summed over the whole image, with w(i,j) ∝ exp( −‖P_i − P_j‖²_a ⁄ h² ).</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[1]</a:t>
            </a:r>
            <a:endParaRPr lang="en-US" sz="1138" dirty="0"/>
          </a:p>
        </p:txBody>
      </p:sp>
      <p:sp>
        <p:nvSpPr>
          <p:cNvPr id="13" name="Shape 11"/>
          <p:cNvSpPr/>
          <p:nvPr/>
        </p:nvSpPr>
        <p:spPr>
          <a:xfrm>
            <a:off x="1531803" y="3384926"/>
            <a:ext cx="62545" cy="39045"/>
          </a:xfrm>
          <a:prstGeom prst="rect">
            <a:avLst/>
          </a:prstGeom>
          <a:solidFill>
            <a:srgbClr val="7C5E2A"/>
          </a:solidFill>
          <a:ln/>
        </p:spPr>
      </p:sp>
      <p:sp>
        <p:nvSpPr>
          <p:cNvPr id="14" name="Text 12"/>
          <p:cNvSpPr txBox="1"/>
          <p:nvPr/>
        </p:nvSpPr>
        <p:spPr>
          <a:xfrm>
            <a:off x="1688074" y="3319546"/>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The weight compares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patches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P centred on i and j, not single pixels. Two pixels are similar if their neighbourhoods are similar.</a:t>
            </a:r>
            <a:endParaRPr lang="en-US" sz="1138" dirty="0"/>
          </a:p>
        </p:txBody>
      </p:sp>
      <p:sp>
        <p:nvSpPr>
          <p:cNvPr id="15" name="Shape 13"/>
          <p:cNvSpPr/>
          <p:nvPr/>
        </p:nvSpPr>
        <p:spPr>
          <a:xfrm>
            <a:off x="1531803" y="3943716"/>
            <a:ext cx="62545" cy="39045"/>
          </a:xfrm>
          <a:prstGeom prst="rect">
            <a:avLst/>
          </a:prstGeom>
          <a:solidFill>
            <a:srgbClr val="7C5E2A"/>
          </a:solidFill>
          <a:ln/>
        </p:spPr>
      </p:sp>
      <p:sp>
        <p:nvSpPr>
          <p:cNvPr id="16" name="Text 14"/>
          <p:cNvSpPr txBox="1"/>
          <p:nvPr/>
        </p:nvSpPr>
        <p:spPr>
          <a:xfrm>
            <a:off x="1688074" y="3878245"/>
            <a:ext cx="4754880" cy="65059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Averaging many independent observations of the same structure cancels the noise while the shared signal survives — the √n argument from slide 15, now applied to patches rather than a square window.</a:t>
            </a:r>
            <a:endParaRPr lang="en-US" sz="1138" dirty="0"/>
          </a:p>
        </p:txBody>
      </p:sp>
      <p:sp>
        <p:nvSpPr>
          <p:cNvPr id="17" name="Shape 15"/>
          <p:cNvSpPr/>
          <p:nvPr/>
        </p:nvSpPr>
        <p:spPr>
          <a:xfrm>
            <a:off x="1531803" y="4719401"/>
            <a:ext cx="62545" cy="39045"/>
          </a:xfrm>
          <a:prstGeom prst="rect">
            <a:avLst/>
          </a:prstGeom>
          <a:solidFill>
            <a:srgbClr val="7C5E2A"/>
          </a:solidFill>
          <a:ln/>
        </p:spPr>
      </p:sp>
      <p:sp>
        <p:nvSpPr>
          <p:cNvPr id="18" name="Text 16"/>
          <p:cNvSpPr txBox="1"/>
          <p:nvPr/>
        </p:nvSpPr>
        <p:spPr>
          <a:xfrm>
            <a:off x="1688074" y="4653930"/>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Cost is quadratic in the number of pixels unless the search is restricted to a window, which every practical implementation does.</a:t>
            </a:r>
            <a:endParaRPr lang="en-US" sz="1138" dirty="0"/>
          </a:p>
        </p:txBody>
      </p:sp>
      <p:sp>
        <p:nvSpPr>
          <p:cNvPr id="19" name="Shape 17"/>
          <p:cNvSpPr/>
          <p:nvPr/>
        </p:nvSpPr>
        <p:spPr>
          <a:xfrm>
            <a:off x="6752295" y="2318553"/>
            <a:ext cx="4876678" cy="15636"/>
          </a:xfrm>
          <a:prstGeom prst="rect">
            <a:avLst/>
          </a:prstGeom>
          <a:solidFill>
            <a:srgbClr val="7C5E2A"/>
          </a:solidFill>
          <a:ln/>
        </p:spPr>
      </p:sp>
      <p:sp>
        <p:nvSpPr>
          <p:cNvPr id="20" name="Text 18"/>
          <p:cNvSpPr txBox="1"/>
          <p:nvPr/>
        </p:nvSpPr>
        <p:spPr>
          <a:xfrm>
            <a:off x="6752295" y="2451598"/>
            <a:ext cx="2805654"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Why this matters for the whole deck</a:t>
            </a:r>
            <a:endParaRPr lang="en-US" sz="1354" dirty="0"/>
          </a:p>
        </p:txBody>
      </p:sp>
      <p:sp>
        <p:nvSpPr>
          <p:cNvPr id="21" name="Shape 19"/>
          <p:cNvSpPr/>
          <p:nvPr/>
        </p:nvSpPr>
        <p:spPr>
          <a:xfrm>
            <a:off x="6752295" y="2826136"/>
            <a:ext cx="62545" cy="39045"/>
          </a:xfrm>
          <a:prstGeom prst="rect">
            <a:avLst/>
          </a:prstGeom>
          <a:solidFill>
            <a:srgbClr val="7C5E2A"/>
          </a:solidFill>
          <a:ln/>
        </p:spPr>
      </p:sp>
      <p:sp>
        <p:nvSpPr>
          <p:cNvPr id="22" name="Text 20"/>
          <p:cNvSpPr txBox="1"/>
          <p:nvPr/>
        </p:nvSpPr>
        <p:spPr>
          <a:xfrm>
            <a:off x="6908658" y="2760756"/>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NSS is the strongest hand-designed prior ever found for natural images. It powers BM3D and WNNM, and it is the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specific</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prior DnCNN lacks.</a:t>
            </a:r>
            <a:endParaRPr lang="en-US" sz="1138" dirty="0"/>
          </a:p>
        </p:txBody>
      </p:sp>
      <p:sp>
        <p:nvSpPr>
          <p:cNvPr id="23" name="Shape 21"/>
          <p:cNvSpPr/>
          <p:nvPr/>
        </p:nvSpPr>
        <p:spPr>
          <a:xfrm>
            <a:off x="6752295" y="3384926"/>
            <a:ext cx="62545" cy="39045"/>
          </a:xfrm>
          <a:prstGeom prst="rect">
            <a:avLst/>
          </a:prstGeom>
          <a:solidFill>
            <a:srgbClr val="7C5E2A"/>
          </a:solidFill>
          <a:ln/>
        </p:spPr>
      </p:sp>
      <p:sp>
        <p:nvSpPr>
          <p:cNvPr id="24" name="Text 22"/>
          <p:cNvSpPr txBox="1"/>
          <p:nvPr/>
        </p:nvSpPr>
        <p:spPr>
          <a:xfrm>
            <a:off x="6908658" y="3319546"/>
            <a:ext cx="4754880" cy="666232"/>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WNNM's own framing: NSS refers to the fact that there are many repeated local patterns across a natural image, and those non-local similar patches to a given patch can help much the reconstruction of it. </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[2]</a:t>
            </a:r>
            <a:endParaRPr lang="en-US" sz="1138" dirty="0"/>
          </a:p>
        </p:txBody>
      </p:sp>
      <p:sp>
        <p:nvSpPr>
          <p:cNvPr id="25" name="Shape 23"/>
          <p:cNvSpPr/>
          <p:nvPr/>
        </p:nvSpPr>
        <p:spPr>
          <a:xfrm>
            <a:off x="6752295" y="4160611"/>
            <a:ext cx="62545" cy="39045"/>
          </a:xfrm>
          <a:prstGeom prst="rect">
            <a:avLst/>
          </a:prstGeom>
          <a:solidFill>
            <a:srgbClr val="7C5E2A"/>
          </a:solidFill>
          <a:ln/>
        </p:spPr>
      </p:sp>
      <p:sp>
        <p:nvSpPr>
          <p:cNvPr id="26" name="Text 24"/>
          <p:cNvSpPr txBox="1"/>
          <p:nvPr/>
        </p:nvSpPr>
        <p:spPr>
          <a:xfrm>
            <a:off x="6908658" y="4095140"/>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This single idea explains the two most quoted results in this deck — DnCNN's loss on Barbara (Part III) and Restormer's enormous gain on Urban100 (Part VII).</a:t>
            </a:r>
            <a:endParaRPr lang="en-US" sz="1138" dirty="0"/>
          </a:p>
        </p:txBody>
      </p:sp>
      <p:sp>
        <p:nvSpPr>
          <p:cNvPr id="27" name="Shape 25"/>
          <p:cNvSpPr/>
          <p:nvPr/>
        </p:nvSpPr>
        <p:spPr>
          <a:xfrm>
            <a:off x="6752295" y="4719401"/>
            <a:ext cx="62545" cy="39045"/>
          </a:xfrm>
          <a:prstGeom prst="rect">
            <a:avLst/>
          </a:prstGeom>
          <a:solidFill>
            <a:srgbClr val="7C5E2A"/>
          </a:solidFill>
          <a:ln/>
        </p:spPr>
      </p:sp>
      <p:sp>
        <p:nvSpPr>
          <p:cNvPr id="28" name="Text 26"/>
          <p:cNvSpPr txBox="1"/>
          <p:nvPr/>
        </p:nvSpPr>
        <p:spPr>
          <a:xfrm>
            <a:off x="6908658" y="4653930"/>
            <a:ext cx="4754880" cy="65059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It is also the reason the third bottleneck exists. Convolution is local by construction; recovering non-locality inside a neural network took from 2017 to 2022.</a:t>
            </a:r>
            <a:endParaRPr lang="en-US" sz="1138" dirty="0"/>
          </a:p>
        </p:txBody>
      </p:sp>
      <p:sp>
        <p:nvSpPr>
          <p:cNvPr id="29" name="Text 27"/>
          <p:cNvSpPr txBox="1"/>
          <p:nvPr/>
        </p:nvSpPr>
        <p:spPr>
          <a:xfrm>
            <a:off x="8805489" y="6248827"/>
            <a:ext cx="2823484"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Buades et al., CVPR 2005 (cited in DnCNN17) 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WNNM14 §3</a:t>
            </a:r>
            <a:endParaRPr lang="en-US" sz="592" dirty="0"/>
          </a:p>
        </p:txBody>
      </p:sp>
      <p:sp>
        <p:nvSpPr>
          <p:cNvPr id="30" name="Shape 28"/>
          <p:cNvSpPr/>
          <p:nvPr/>
        </p:nvSpPr>
        <p:spPr>
          <a:xfrm>
            <a:off x="1531803" y="6537411"/>
            <a:ext cx="10097262" cy="7772"/>
          </a:xfrm>
          <a:prstGeom prst="rect">
            <a:avLst/>
          </a:prstGeom>
          <a:solidFill>
            <a:srgbClr val="C9C4B9"/>
          </a:solidFill>
          <a:ln/>
        </p:spPr>
      </p:sp>
      <p:sp>
        <p:nvSpPr>
          <p:cNvPr id="31" name="Shape 29"/>
          <p:cNvSpPr/>
          <p:nvPr/>
        </p:nvSpPr>
        <p:spPr>
          <a:xfrm>
            <a:off x="1531803" y="6525707"/>
            <a:ext cx="3926799" cy="31272"/>
          </a:xfrm>
          <a:prstGeom prst="rect">
            <a:avLst/>
          </a:prstGeom>
          <a:solidFill>
            <a:srgbClr val="7C5E2A"/>
          </a:solidFill>
          <a:ln/>
        </p:spPr>
      </p:sp>
      <p:sp>
        <p:nvSpPr>
          <p:cNvPr id="32" name="Shape 30"/>
          <p:cNvSpPr/>
          <p:nvPr/>
        </p:nvSpPr>
        <p:spPr>
          <a:xfrm>
            <a:off x="1531803" y="6498366"/>
            <a:ext cx="7772" cy="39045"/>
          </a:xfrm>
          <a:prstGeom prst="rect">
            <a:avLst/>
          </a:prstGeom>
          <a:solidFill>
            <a:srgbClr val="C9C4B9"/>
          </a:solidFill>
          <a:ln/>
        </p:spPr>
      </p:sp>
      <p:sp>
        <p:nvSpPr>
          <p:cNvPr id="33" name="Text 31"/>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4" name="Shape 32"/>
          <p:cNvSpPr/>
          <p:nvPr/>
        </p:nvSpPr>
        <p:spPr>
          <a:xfrm>
            <a:off x="5458511" y="6498366"/>
            <a:ext cx="7772" cy="39045"/>
          </a:xfrm>
          <a:prstGeom prst="rect">
            <a:avLst/>
          </a:prstGeom>
          <a:solidFill>
            <a:srgbClr val="C9C4B9"/>
          </a:solidFill>
          <a:ln/>
        </p:spPr>
      </p:sp>
      <p:sp>
        <p:nvSpPr>
          <p:cNvPr id="35" name="Text 33"/>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6" name="Shape 34"/>
          <p:cNvSpPr/>
          <p:nvPr/>
        </p:nvSpPr>
        <p:spPr>
          <a:xfrm>
            <a:off x="7141738" y="6498366"/>
            <a:ext cx="7772" cy="39045"/>
          </a:xfrm>
          <a:prstGeom prst="rect">
            <a:avLst/>
          </a:prstGeom>
          <a:solidFill>
            <a:srgbClr val="C9C4B9"/>
          </a:solidFill>
          <a:ln/>
        </p:spPr>
      </p:sp>
      <p:sp>
        <p:nvSpPr>
          <p:cNvPr id="37" name="Text 35"/>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8" name="Shape 36"/>
          <p:cNvSpPr/>
          <p:nvPr/>
        </p:nvSpPr>
        <p:spPr>
          <a:xfrm>
            <a:off x="9945654" y="6498366"/>
            <a:ext cx="7772" cy="39045"/>
          </a:xfrm>
          <a:prstGeom prst="rect">
            <a:avLst/>
          </a:prstGeom>
          <a:solidFill>
            <a:srgbClr val="C9C4B9"/>
          </a:solidFill>
          <a:ln/>
        </p:spPr>
      </p:sp>
      <p:sp>
        <p:nvSpPr>
          <p:cNvPr id="39" name="Text 37"/>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40" name="Shape 38"/>
          <p:cNvSpPr/>
          <p:nvPr/>
        </p:nvSpPr>
        <p:spPr>
          <a:xfrm>
            <a:off x="11628973" y="6498366"/>
            <a:ext cx="7772" cy="39045"/>
          </a:xfrm>
          <a:prstGeom prst="rect">
            <a:avLst/>
          </a:prstGeom>
          <a:solidFill>
            <a:srgbClr val="C9C4B9"/>
          </a:solidFill>
          <a:ln/>
        </p:spPr>
      </p:sp>
      <p:sp>
        <p:nvSpPr>
          <p:cNvPr id="41" name="Text 39"/>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65486"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20</a:t>
            </a:r>
            <a:endParaRPr lang="en-US" sz="2545" dirty="0"/>
          </a:p>
        </p:txBody>
      </p:sp>
      <p:sp>
        <p:nvSpPr>
          <p:cNvPr id="3" name="Text 1"/>
          <p:cNvSpPr txBox="1"/>
          <p:nvPr/>
        </p:nvSpPr>
        <p:spPr>
          <a:xfrm rot="16200000">
            <a:off x="-338511" y="3428909"/>
            <a:ext cx="873984"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C5E2A"/>
                </a:solidFill>
                <a:latin typeface="Calibri" pitchFamily="34" charset="0"/>
                <a:ea typeface="Calibri" pitchFamily="34" charset="-122"/>
                <a:cs typeface="Calibri" pitchFamily="34" charset="-120"/>
              </a:rPr>
              <a:t>CLASSICAL DIP</a:t>
            </a:r>
            <a:endParaRPr lang="en-US" sz="694" dirty="0"/>
          </a:p>
        </p:txBody>
      </p:sp>
      <p:sp>
        <p:nvSpPr>
          <p:cNvPr id="4" name="Shape 2"/>
          <p:cNvSpPr/>
          <p:nvPr/>
        </p:nvSpPr>
        <p:spPr>
          <a:xfrm>
            <a:off x="1439540" y="433334"/>
            <a:ext cx="190927" cy="22037"/>
          </a:xfrm>
          <a:prstGeom prst="rect">
            <a:avLst/>
          </a:prstGeom>
          <a:solidFill>
            <a:srgbClr val="7C5E2A"/>
          </a:solidFill>
          <a:ln/>
        </p:spPr>
      </p:sp>
      <p:sp>
        <p:nvSpPr>
          <p:cNvPr id="5" name="Text 3"/>
          <p:cNvSpPr txBox="1"/>
          <p:nvPr/>
        </p:nvSpPr>
        <p:spPr>
          <a:xfrm>
            <a:off x="1718615" y="383865"/>
            <a:ext cx="1107430"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C5E2A"/>
                </a:solidFill>
                <a:latin typeface="Calibri" pitchFamily="34" charset="0"/>
                <a:ea typeface="Calibri" pitchFamily="34" charset="-122"/>
                <a:cs typeface="Calibri" pitchFamily="34" charset="-120"/>
              </a:rPr>
              <a:t>BM3D, PART 1 OF 4</a:t>
            </a:r>
            <a:endParaRPr lang="en-US" sz="781" dirty="0"/>
          </a:p>
        </p:txBody>
      </p:sp>
      <p:sp>
        <p:nvSpPr>
          <p:cNvPr id="6" name="Text 4"/>
          <p:cNvSpPr txBox="1"/>
          <p:nvPr/>
        </p:nvSpPr>
        <p:spPr>
          <a:xfrm>
            <a:off x="1439540" y="607070"/>
            <a:ext cx="8295437"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The algorithm that defined the benchmark for a decade</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Dabov, Foi, Katkovnik and Egiazarian, IEEE TIP 2007. BM3D combines non-local grouping with transform-domain shrinkage, and runs the combination twice. Its two-step structure is stated verbatim in the paper.</a:t>
            </a:r>
            <a:endParaRPr lang="en-US" sz="1157" dirty="0"/>
          </a:p>
        </p:txBody>
      </p:sp>
      <p:sp>
        <p:nvSpPr>
          <p:cNvPr id="8" name="Shape 6"/>
          <p:cNvSpPr/>
          <p:nvPr/>
        </p:nvSpPr>
        <p:spPr>
          <a:xfrm>
            <a:off x="1476207" y="2149480"/>
            <a:ext cx="7315" cy="2612807"/>
          </a:xfrm>
          <a:prstGeom prst="rect">
            <a:avLst/>
          </a:prstGeom>
          <a:solidFill>
            <a:srgbClr val="C9C4B9"/>
          </a:solidFill>
          <a:ln/>
        </p:spPr>
      </p:sp>
      <p:sp>
        <p:nvSpPr>
          <p:cNvPr id="9" name="Shape 7"/>
          <p:cNvSpPr/>
          <p:nvPr/>
        </p:nvSpPr>
        <p:spPr>
          <a:xfrm>
            <a:off x="1689171" y="2542398"/>
            <a:ext cx="9973727" cy="7315"/>
          </a:xfrm>
          <a:prstGeom prst="rect">
            <a:avLst/>
          </a:prstGeom>
          <a:solidFill>
            <a:srgbClr val="DFDBD2"/>
          </a:solidFill>
          <a:ln/>
        </p:spPr>
      </p:sp>
      <p:sp>
        <p:nvSpPr>
          <p:cNvPr id="10" name="Shape 8"/>
          <p:cNvSpPr/>
          <p:nvPr/>
        </p:nvSpPr>
        <p:spPr>
          <a:xfrm>
            <a:off x="1439540" y="2213762"/>
            <a:ext cx="73426" cy="73426"/>
          </a:xfrm>
          <a:prstGeom prst="rect">
            <a:avLst/>
          </a:prstGeom>
          <a:solidFill>
            <a:srgbClr val="7C5E2A"/>
          </a:solidFill>
          <a:ln/>
        </p:spPr>
      </p:sp>
      <p:sp>
        <p:nvSpPr>
          <p:cNvPr id="11" name="Text 9"/>
          <p:cNvSpPr txBox="1"/>
          <p:nvPr/>
        </p:nvSpPr>
        <p:spPr>
          <a:xfrm>
            <a:off x="1689171" y="2169871"/>
            <a:ext cx="1123432"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Step 1a-i · Grouping</a:t>
            </a:r>
            <a:endParaRPr lang="en-US" sz="1041" dirty="0"/>
          </a:p>
        </p:txBody>
      </p:sp>
      <p:sp>
        <p:nvSpPr>
          <p:cNvPr id="12" name="Shape 10"/>
          <p:cNvSpPr/>
          <p:nvPr/>
        </p:nvSpPr>
        <p:spPr>
          <a:xfrm>
            <a:off x="4729825" y="2068739"/>
            <a:ext cx="7315" cy="363565"/>
          </a:xfrm>
          <a:prstGeom prst="rect">
            <a:avLst/>
          </a:prstGeom>
          <a:solidFill>
            <a:srgbClr val="DFDBD2"/>
          </a:solidFill>
          <a:ln/>
        </p:spPr>
      </p:sp>
      <p:sp>
        <p:nvSpPr>
          <p:cNvPr id="13" name="Text 11"/>
          <p:cNvSpPr txBox="1"/>
          <p:nvPr/>
        </p:nvSpPr>
        <p:spPr>
          <a:xfrm>
            <a:off x="4928067" y="2065995"/>
            <a:ext cx="6776436" cy="363565"/>
          </a:xfrm>
          <a:prstGeom prst="rect">
            <a:avLst/>
          </a:prstGeom>
          <a:noFill/>
          <a:ln/>
        </p:spPr>
        <p:txBody>
          <a:bodyPr wrap="squar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For each reference block in the noisy image, find blocks similar to it by block-matching and stack them together in a 3-D array — a </a:t>
            </a:r>
            <a:pPr algn="l" indent="0" marL="0">
              <a:lnSpc>
                <a:spcPts val="1431"/>
              </a:lnSpc>
              <a:buNone/>
            </a:pPr>
            <a:r>
              <a:rPr kern="0" lang="en-US" sz="954" i="1" dirty="0">
                <a:solidFill>
                  <a:srgbClr val="33302B"/>
                </a:solidFill>
                <a:latin typeface="Calibri" pitchFamily="34" charset="0"/>
                <a:ea typeface="Calibri" pitchFamily="34" charset="-122"/>
                <a:cs typeface="Calibri" pitchFamily="34" charset="-120"/>
              </a:rPr>
              <a:t>group</a:t>
            </a:r>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a:t>
            </a:r>
            <a:endParaRPr lang="en-US" sz="954" dirty="0"/>
          </a:p>
        </p:txBody>
      </p:sp>
      <p:sp>
        <p:nvSpPr>
          <p:cNvPr id="14" name="Shape 12"/>
          <p:cNvSpPr/>
          <p:nvPr/>
        </p:nvSpPr>
        <p:spPr>
          <a:xfrm>
            <a:off x="1689171" y="3133649"/>
            <a:ext cx="9973727" cy="7315"/>
          </a:xfrm>
          <a:prstGeom prst="rect">
            <a:avLst/>
          </a:prstGeom>
          <a:solidFill>
            <a:srgbClr val="DFDBD2"/>
          </a:solidFill>
          <a:ln/>
        </p:spPr>
      </p:sp>
      <p:sp>
        <p:nvSpPr>
          <p:cNvPr id="15" name="Shape 13"/>
          <p:cNvSpPr/>
          <p:nvPr/>
        </p:nvSpPr>
        <p:spPr>
          <a:xfrm>
            <a:off x="1439540" y="2805013"/>
            <a:ext cx="73426" cy="73426"/>
          </a:xfrm>
          <a:prstGeom prst="rect">
            <a:avLst/>
          </a:prstGeom>
          <a:solidFill>
            <a:srgbClr val="7C5E2A"/>
          </a:solidFill>
          <a:ln/>
        </p:spPr>
      </p:sp>
      <p:sp>
        <p:nvSpPr>
          <p:cNvPr id="16" name="Text 14"/>
          <p:cNvSpPr txBox="1"/>
          <p:nvPr/>
        </p:nvSpPr>
        <p:spPr>
          <a:xfrm>
            <a:off x="1689171" y="2761031"/>
            <a:ext cx="2529505"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Step 1a-ii · Collaborative hard-thresholding</a:t>
            </a:r>
            <a:endParaRPr lang="en-US" sz="1041" dirty="0"/>
          </a:p>
        </p:txBody>
      </p:sp>
      <p:sp>
        <p:nvSpPr>
          <p:cNvPr id="17" name="Shape 15"/>
          <p:cNvSpPr/>
          <p:nvPr/>
        </p:nvSpPr>
        <p:spPr>
          <a:xfrm>
            <a:off x="4729825" y="2659898"/>
            <a:ext cx="7315" cy="363565"/>
          </a:xfrm>
          <a:prstGeom prst="rect">
            <a:avLst/>
          </a:prstGeom>
          <a:solidFill>
            <a:srgbClr val="DFDBD2"/>
          </a:solidFill>
          <a:ln/>
        </p:spPr>
      </p:sp>
      <p:sp>
        <p:nvSpPr>
          <p:cNvPr id="18" name="Text 16"/>
          <p:cNvSpPr txBox="1"/>
          <p:nvPr/>
        </p:nvSpPr>
        <p:spPr>
          <a:xfrm>
            <a:off x="4928067" y="2657155"/>
            <a:ext cx="6776436" cy="363565"/>
          </a:xfrm>
          <a:prstGeom prst="rect">
            <a:avLst/>
          </a:prstGeom>
          <a:noFill/>
          <a:ln/>
        </p:spPr>
        <p:txBody>
          <a:bodyPr wrap="squar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Apply a 3-D transform to the group, attenuate the noise by hard-thresholding the coefficients, invert the transform, and return the estimates to their original positions.</a:t>
            </a:r>
            <a:endParaRPr lang="en-US" sz="954" dirty="0"/>
          </a:p>
        </p:txBody>
      </p:sp>
      <p:sp>
        <p:nvSpPr>
          <p:cNvPr id="19" name="Shape 17"/>
          <p:cNvSpPr/>
          <p:nvPr/>
        </p:nvSpPr>
        <p:spPr>
          <a:xfrm>
            <a:off x="1689171" y="3543117"/>
            <a:ext cx="9973727" cy="7315"/>
          </a:xfrm>
          <a:prstGeom prst="rect">
            <a:avLst/>
          </a:prstGeom>
          <a:solidFill>
            <a:srgbClr val="DFDBD2"/>
          </a:solidFill>
          <a:ln/>
        </p:spPr>
      </p:sp>
      <p:sp>
        <p:nvSpPr>
          <p:cNvPr id="20" name="Shape 18"/>
          <p:cNvSpPr/>
          <p:nvPr/>
        </p:nvSpPr>
        <p:spPr>
          <a:xfrm>
            <a:off x="1439540" y="3305282"/>
            <a:ext cx="73426" cy="73426"/>
          </a:xfrm>
          <a:prstGeom prst="rect">
            <a:avLst/>
          </a:prstGeom>
          <a:solidFill>
            <a:srgbClr val="7C5E2A"/>
          </a:solidFill>
          <a:ln/>
        </p:spPr>
      </p:sp>
      <p:sp>
        <p:nvSpPr>
          <p:cNvPr id="21" name="Text 19"/>
          <p:cNvSpPr txBox="1"/>
          <p:nvPr/>
        </p:nvSpPr>
        <p:spPr>
          <a:xfrm>
            <a:off x="1689171" y="3261390"/>
            <a:ext cx="1220450"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Step 1b · Aggregation</a:t>
            </a:r>
            <a:endParaRPr lang="en-US" sz="1041" dirty="0"/>
          </a:p>
        </p:txBody>
      </p:sp>
      <p:sp>
        <p:nvSpPr>
          <p:cNvPr id="22" name="Shape 20"/>
          <p:cNvSpPr/>
          <p:nvPr/>
        </p:nvSpPr>
        <p:spPr>
          <a:xfrm>
            <a:off x="4729825" y="3251149"/>
            <a:ext cx="7315" cy="181783"/>
          </a:xfrm>
          <a:prstGeom prst="rect">
            <a:avLst/>
          </a:prstGeom>
          <a:solidFill>
            <a:srgbClr val="DFDBD2"/>
          </a:solidFill>
          <a:ln/>
        </p:spPr>
      </p:sp>
      <p:sp>
        <p:nvSpPr>
          <p:cNvPr id="23" name="Text 21"/>
          <p:cNvSpPr txBox="1"/>
          <p:nvPr/>
        </p:nvSpPr>
        <p:spPr>
          <a:xfrm>
            <a:off x="4928067" y="3248406"/>
            <a:ext cx="4664537" cy="181783"/>
          </a:xfrm>
          <a:prstGeom prst="rect">
            <a:avLst/>
          </a:prstGeom>
          <a:noFill/>
          <a:ln/>
        </p:spPr>
        <p:txBody>
          <a:bodyPr wrap="non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Compute the basic estimate by weighted averaging of all overlapping block-wise estimates.</a:t>
            </a:r>
            <a:endParaRPr lang="en-US" sz="954" dirty="0"/>
          </a:p>
        </p:txBody>
      </p:sp>
      <p:sp>
        <p:nvSpPr>
          <p:cNvPr id="24" name="Shape 22"/>
          <p:cNvSpPr/>
          <p:nvPr/>
        </p:nvSpPr>
        <p:spPr>
          <a:xfrm>
            <a:off x="1689171" y="4134277"/>
            <a:ext cx="9973727" cy="7315"/>
          </a:xfrm>
          <a:prstGeom prst="rect">
            <a:avLst/>
          </a:prstGeom>
          <a:solidFill>
            <a:srgbClr val="DFDBD2"/>
          </a:solidFill>
          <a:ln/>
        </p:spPr>
      </p:sp>
      <p:sp>
        <p:nvSpPr>
          <p:cNvPr id="25" name="Shape 23"/>
          <p:cNvSpPr/>
          <p:nvPr/>
        </p:nvSpPr>
        <p:spPr>
          <a:xfrm>
            <a:off x="1439540" y="3805641"/>
            <a:ext cx="73426" cy="73426"/>
          </a:xfrm>
          <a:prstGeom prst="rect">
            <a:avLst/>
          </a:prstGeom>
          <a:solidFill>
            <a:srgbClr val="7C5E2A"/>
          </a:solidFill>
          <a:ln/>
        </p:spPr>
      </p:sp>
      <p:sp>
        <p:nvSpPr>
          <p:cNvPr id="26" name="Text 24"/>
          <p:cNvSpPr txBox="1"/>
          <p:nvPr/>
        </p:nvSpPr>
        <p:spPr>
          <a:xfrm>
            <a:off x="1689171" y="3761750"/>
            <a:ext cx="1313078"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Step 2a-i · Re-grouping</a:t>
            </a:r>
            <a:endParaRPr lang="en-US" sz="1041" dirty="0"/>
          </a:p>
        </p:txBody>
      </p:sp>
      <p:sp>
        <p:nvSpPr>
          <p:cNvPr id="27" name="Shape 25"/>
          <p:cNvSpPr/>
          <p:nvPr/>
        </p:nvSpPr>
        <p:spPr>
          <a:xfrm>
            <a:off x="4729825" y="3660618"/>
            <a:ext cx="7315" cy="363565"/>
          </a:xfrm>
          <a:prstGeom prst="rect">
            <a:avLst/>
          </a:prstGeom>
          <a:solidFill>
            <a:srgbClr val="DFDBD2"/>
          </a:solidFill>
          <a:ln/>
        </p:spPr>
      </p:sp>
      <p:sp>
        <p:nvSpPr>
          <p:cNvPr id="28" name="Text 26"/>
          <p:cNvSpPr txBox="1"/>
          <p:nvPr/>
        </p:nvSpPr>
        <p:spPr>
          <a:xfrm>
            <a:off x="4928067" y="3657874"/>
            <a:ext cx="6776436" cy="363565"/>
          </a:xfrm>
          <a:prstGeom prst="rect">
            <a:avLst/>
          </a:prstGeom>
          <a:noFill/>
          <a:ln/>
        </p:spPr>
        <p:txBody>
          <a:bodyPr wrap="squar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Use block-matching </a:t>
            </a:r>
            <a:pPr algn="l" indent="0" marL="0">
              <a:lnSpc>
                <a:spcPts val="1431"/>
              </a:lnSpc>
              <a:buNone/>
            </a:pPr>
            <a:r>
              <a:rPr kern="0" lang="en-US" sz="954" i="1" dirty="0">
                <a:solidFill>
                  <a:srgbClr val="33302B"/>
                </a:solidFill>
                <a:latin typeface="Calibri" pitchFamily="34" charset="0"/>
                <a:ea typeface="Calibri" pitchFamily="34" charset="-122"/>
                <a:cs typeface="Calibri" pitchFamily="34" charset="-120"/>
              </a:rPr>
              <a:t>within the basic estimate</a:t>
            </a:r>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 — cleaner, so matching is more accurate. Form two groups: one from the noisy image, one from the basic estimate.</a:t>
            </a:r>
            <a:endParaRPr lang="en-US" sz="954" dirty="0"/>
          </a:p>
        </p:txBody>
      </p:sp>
      <p:sp>
        <p:nvSpPr>
          <p:cNvPr id="29" name="Shape 27"/>
          <p:cNvSpPr/>
          <p:nvPr/>
        </p:nvSpPr>
        <p:spPr>
          <a:xfrm>
            <a:off x="1689171" y="4543745"/>
            <a:ext cx="9973727" cy="7315"/>
          </a:xfrm>
          <a:prstGeom prst="rect">
            <a:avLst/>
          </a:prstGeom>
          <a:solidFill>
            <a:srgbClr val="DFDBD2"/>
          </a:solidFill>
          <a:ln/>
        </p:spPr>
      </p:sp>
      <p:sp>
        <p:nvSpPr>
          <p:cNvPr id="30" name="Shape 28"/>
          <p:cNvSpPr/>
          <p:nvPr/>
        </p:nvSpPr>
        <p:spPr>
          <a:xfrm>
            <a:off x="1439540" y="4306001"/>
            <a:ext cx="73426" cy="73426"/>
          </a:xfrm>
          <a:prstGeom prst="rect">
            <a:avLst/>
          </a:prstGeom>
          <a:solidFill>
            <a:srgbClr val="7C5E2A"/>
          </a:solidFill>
          <a:ln/>
        </p:spPr>
      </p:sp>
      <p:sp>
        <p:nvSpPr>
          <p:cNvPr id="31" name="Text 29"/>
          <p:cNvSpPr txBox="1"/>
          <p:nvPr/>
        </p:nvSpPr>
        <p:spPr>
          <a:xfrm>
            <a:off x="1689171" y="4262110"/>
            <a:ext cx="2402403"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Step 2a-ii · Collaborative Wiener filtering</a:t>
            </a:r>
            <a:endParaRPr lang="en-US" sz="1041" dirty="0"/>
          </a:p>
        </p:txBody>
      </p:sp>
      <p:sp>
        <p:nvSpPr>
          <p:cNvPr id="32" name="Shape 30"/>
          <p:cNvSpPr/>
          <p:nvPr/>
        </p:nvSpPr>
        <p:spPr>
          <a:xfrm>
            <a:off x="4729825" y="4251869"/>
            <a:ext cx="7315" cy="181783"/>
          </a:xfrm>
          <a:prstGeom prst="rect">
            <a:avLst/>
          </a:prstGeom>
          <a:solidFill>
            <a:srgbClr val="DFDBD2"/>
          </a:solidFill>
          <a:ln/>
        </p:spPr>
      </p:sp>
      <p:sp>
        <p:nvSpPr>
          <p:cNvPr id="33" name="Text 31"/>
          <p:cNvSpPr txBox="1"/>
          <p:nvPr/>
        </p:nvSpPr>
        <p:spPr>
          <a:xfrm>
            <a:off x="4928067" y="4249034"/>
            <a:ext cx="5119726" cy="181783"/>
          </a:xfrm>
          <a:prstGeom prst="rect">
            <a:avLst/>
          </a:prstGeom>
          <a:noFill/>
          <a:ln/>
        </p:spPr>
        <p:txBody>
          <a:bodyPr wrap="non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Wiener-filter the noisy group using the energy spectrum of the basic estimate as the pilot spectrum.</a:t>
            </a:r>
            <a:endParaRPr lang="en-US" sz="954" dirty="0"/>
          </a:p>
        </p:txBody>
      </p:sp>
      <p:sp>
        <p:nvSpPr>
          <p:cNvPr id="34" name="Shape 32"/>
          <p:cNvSpPr/>
          <p:nvPr/>
        </p:nvSpPr>
        <p:spPr>
          <a:xfrm>
            <a:off x="1439540" y="4715469"/>
            <a:ext cx="73426" cy="73426"/>
          </a:xfrm>
          <a:prstGeom prst="rect">
            <a:avLst/>
          </a:prstGeom>
          <a:solidFill>
            <a:srgbClr val="7C5E2A"/>
          </a:solidFill>
          <a:ln/>
        </p:spPr>
      </p:sp>
      <p:sp>
        <p:nvSpPr>
          <p:cNvPr id="35" name="Text 33"/>
          <p:cNvSpPr txBox="1"/>
          <p:nvPr/>
        </p:nvSpPr>
        <p:spPr>
          <a:xfrm>
            <a:off x="1689171" y="4671487"/>
            <a:ext cx="1227125"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Step 2b · Aggregation</a:t>
            </a:r>
            <a:endParaRPr lang="en-US" sz="1041" dirty="0"/>
          </a:p>
        </p:txBody>
      </p:sp>
      <p:sp>
        <p:nvSpPr>
          <p:cNvPr id="36" name="Shape 34"/>
          <p:cNvSpPr/>
          <p:nvPr/>
        </p:nvSpPr>
        <p:spPr>
          <a:xfrm>
            <a:off x="4729825" y="4661245"/>
            <a:ext cx="7315" cy="181783"/>
          </a:xfrm>
          <a:prstGeom prst="rect">
            <a:avLst/>
          </a:prstGeom>
          <a:solidFill>
            <a:srgbClr val="DFDBD2"/>
          </a:solidFill>
          <a:ln/>
        </p:spPr>
      </p:sp>
      <p:sp>
        <p:nvSpPr>
          <p:cNvPr id="37" name="Text 35"/>
          <p:cNvSpPr txBox="1"/>
          <p:nvPr/>
        </p:nvSpPr>
        <p:spPr>
          <a:xfrm>
            <a:off x="4928067" y="4658502"/>
            <a:ext cx="3801984" cy="181783"/>
          </a:xfrm>
          <a:prstGeom prst="rect">
            <a:avLst/>
          </a:prstGeom>
          <a:noFill/>
          <a:ln/>
        </p:spPr>
        <p:txBody>
          <a:bodyPr wrap="non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Aggregate the local estimates by weighted average into the final estimate.</a:t>
            </a:r>
            <a:endParaRPr lang="en-US" sz="954" dirty="0"/>
          </a:p>
        </p:txBody>
      </p:sp>
      <p:sp>
        <p:nvSpPr>
          <p:cNvPr id="38" name="Shape 36"/>
          <p:cNvSpPr/>
          <p:nvPr/>
        </p:nvSpPr>
        <p:spPr>
          <a:xfrm>
            <a:off x="1439540" y="5100066"/>
            <a:ext cx="10223358" cy="7315"/>
          </a:xfrm>
          <a:prstGeom prst="rect">
            <a:avLst/>
          </a:prstGeom>
          <a:solidFill>
            <a:srgbClr val="DFDBD2"/>
          </a:solidFill>
          <a:ln/>
        </p:spPr>
      </p:sp>
      <p:sp>
        <p:nvSpPr>
          <p:cNvPr id="39" name="Text 37"/>
          <p:cNvSpPr txBox="1"/>
          <p:nvPr/>
        </p:nvSpPr>
        <p:spPr>
          <a:xfrm>
            <a:off x="1439540" y="5232288"/>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40" name="Text 38"/>
          <p:cNvSpPr txBox="1"/>
          <p:nvPr/>
        </p:nvSpPr>
        <p:spPr>
          <a:xfrm>
            <a:off x="1747967" y="5222230"/>
            <a:ext cx="9969246" cy="407640"/>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paper gives two motivations for the second step explicitly: using the basic estimate rather than the noisy image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improves the grouping</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and using it as the Wiener pilot signal is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much more effective and accurate than simple hard-thresholding</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of the noisy spectrum.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[BM3D07 §II-C]</a:t>
            </a:r>
            <a:endParaRPr lang="en-US" sz="1070" dirty="0"/>
          </a:p>
        </p:txBody>
      </p:sp>
      <p:sp>
        <p:nvSpPr>
          <p:cNvPr id="41" name="Text 39"/>
          <p:cNvSpPr txBox="1"/>
          <p:nvPr/>
        </p:nvSpPr>
        <p:spPr>
          <a:xfrm>
            <a:off x="10002896" y="6274430"/>
            <a:ext cx="1660002"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BM3D07 §II-C, algorithm stated verbatim</a:t>
            </a:r>
            <a:endParaRPr lang="en-US" sz="752" dirty="0"/>
          </a:p>
        </p:txBody>
      </p:sp>
      <p:sp>
        <p:nvSpPr>
          <p:cNvPr id="42" name="Shape 40"/>
          <p:cNvSpPr/>
          <p:nvPr/>
        </p:nvSpPr>
        <p:spPr>
          <a:xfrm>
            <a:off x="1439540" y="6556705"/>
            <a:ext cx="10223358" cy="7315"/>
          </a:xfrm>
          <a:prstGeom prst="rect">
            <a:avLst/>
          </a:prstGeom>
          <a:solidFill>
            <a:srgbClr val="C9C4B9"/>
          </a:solidFill>
          <a:ln/>
        </p:spPr>
      </p:sp>
      <p:sp>
        <p:nvSpPr>
          <p:cNvPr id="43" name="Shape 41"/>
          <p:cNvSpPr/>
          <p:nvPr/>
        </p:nvSpPr>
        <p:spPr>
          <a:xfrm>
            <a:off x="1439540" y="6545732"/>
            <a:ext cx="3975811" cy="29352"/>
          </a:xfrm>
          <a:prstGeom prst="rect">
            <a:avLst/>
          </a:prstGeom>
          <a:solidFill>
            <a:srgbClr val="7C5E2A"/>
          </a:solidFill>
          <a:ln/>
        </p:spPr>
      </p:sp>
      <p:sp>
        <p:nvSpPr>
          <p:cNvPr id="44" name="Shape 42"/>
          <p:cNvSpPr/>
          <p:nvPr/>
        </p:nvSpPr>
        <p:spPr>
          <a:xfrm>
            <a:off x="1439540" y="6519946"/>
            <a:ext cx="7315" cy="36759"/>
          </a:xfrm>
          <a:prstGeom prst="rect">
            <a:avLst/>
          </a:prstGeom>
          <a:solidFill>
            <a:srgbClr val="C9C4B9"/>
          </a:solidFill>
          <a:ln/>
        </p:spPr>
      </p:sp>
      <p:sp>
        <p:nvSpPr>
          <p:cNvPr id="45" name="Text 43"/>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46" name="Shape 44"/>
          <p:cNvSpPr/>
          <p:nvPr/>
        </p:nvSpPr>
        <p:spPr>
          <a:xfrm>
            <a:off x="5415351" y="6519946"/>
            <a:ext cx="7315" cy="36759"/>
          </a:xfrm>
          <a:prstGeom prst="rect">
            <a:avLst/>
          </a:prstGeom>
          <a:solidFill>
            <a:srgbClr val="C9C4B9"/>
          </a:solidFill>
          <a:ln/>
        </p:spPr>
      </p:sp>
      <p:sp>
        <p:nvSpPr>
          <p:cNvPr id="47" name="Text 45"/>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48" name="Shape 46"/>
          <p:cNvSpPr/>
          <p:nvPr/>
        </p:nvSpPr>
        <p:spPr>
          <a:xfrm>
            <a:off x="7119610" y="6519946"/>
            <a:ext cx="7315" cy="36759"/>
          </a:xfrm>
          <a:prstGeom prst="rect">
            <a:avLst/>
          </a:prstGeom>
          <a:solidFill>
            <a:srgbClr val="C9C4B9"/>
          </a:solidFill>
          <a:ln/>
        </p:spPr>
      </p:sp>
      <p:sp>
        <p:nvSpPr>
          <p:cNvPr id="49" name="Text 47"/>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50" name="Shape 48"/>
          <p:cNvSpPr/>
          <p:nvPr/>
        </p:nvSpPr>
        <p:spPr>
          <a:xfrm>
            <a:off x="9958639" y="6519946"/>
            <a:ext cx="7315" cy="36759"/>
          </a:xfrm>
          <a:prstGeom prst="rect">
            <a:avLst/>
          </a:prstGeom>
          <a:solidFill>
            <a:srgbClr val="C9C4B9"/>
          </a:solidFill>
          <a:ln/>
        </p:spPr>
      </p:sp>
      <p:sp>
        <p:nvSpPr>
          <p:cNvPr id="51" name="Text 49"/>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52" name="Shape 50"/>
          <p:cNvSpPr/>
          <p:nvPr/>
        </p:nvSpPr>
        <p:spPr>
          <a:xfrm>
            <a:off x="11662898" y="6519946"/>
            <a:ext cx="7315" cy="36759"/>
          </a:xfrm>
          <a:prstGeom prst="rect">
            <a:avLst/>
          </a:prstGeom>
          <a:solidFill>
            <a:srgbClr val="C9C4B9"/>
          </a:solidFill>
          <a:ln/>
        </p:spPr>
      </p:sp>
      <p:sp>
        <p:nvSpPr>
          <p:cNvPr id="53" name="Text 51"/>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63200"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21</a:t>
            </a:r>
            <a:endParaRPr lang="en-US" sz="2708" dirty="0"/>
          </a:p>
        </p:txBody>
      </p:sp>
      <p:sp>
        <p:nvSpPr>
          <p:cNvPr id="3" name="Text 1"/>
          <p:cNvSpPr txBox="1"/>
          <p:nvPr/>
        </p:nvSpPr>
        <p:spPr>
          <a:xfrm rot="16200000">
            <a:off x="-360274" y="3428909"/>
            <a:ext cx="930036"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7C5E2A"/>
                </a:solidFill>
                <a:latin typeface="Calibri" pitchFamily="34" charset="0"/>
                <a:ea typeface="Calibri" pitchFamily="34" charset="-122"/>
                <a:cs typeface="Calibri" pitchFamily="34" charset="-120"/>
              </a:rPr>
              <a:t>CLASSICAL DIP</a:t>
            </a:r>
            <a:endParaRPr lang="en-US" sz="738" dirty="0"/>
          </a:p>
        </p:txBody>
      </p:sp>
      <p:sp>
        <p:nvSpPr>
          <p:cNvPr id="4" name="Shape 2"/>
          <p:cNvSpPr/>
          <p:nvPr/>
        </p:nvSpPr>
        <p:spPr>
          <a:xfrm>
            <a:off x="1531803" y="461132"/>
            <a:ext cx="203180" cy="23409"/>
          </a:xfrm>
          <a:prstGeom prst="rect">
            <a:avLst/>
          </a:prstGeom>
          <a:solidFill>
            <a:srgbClr val="7C5E2A"/>
          </a:solidFill>
          <a:ln/>
        </p:spPr>
      </p:sp>
      <p:sp>
        <p:nvSpPr>
          <p:cNvPr id="5" name="Text 3"/>
          <p:cNvSpPr txBox="1"/>
          <p:nvPr/>
        </p:nvSpPr>
        <p:spPr>
          <a:xfrm>
            <a:off x="1828800" y="408462"/>
            <a:ext cx="1178387"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7C5E2A"/>
                </a:solidFill>
                <a:latin typeface="Calibri" pitchFamily="34" charset="0"/>
                <a:ea typeface="Calibri" pitchFamily="34" charset="-122"/>
                <a:cs typeface="Calibri" pitchFamily="34" charset="-120"/>
              </a:rPr>
              <a:t>BM3D, PART 2 OF 4</a:t>
            </a:r>
            <a:endParaRPr lang="en-US" sz="831" dirty="0"/>
          </a:p>
        </p:txBody>
      </p:sp>
      <p:sp>
        <p:nvSpPr>
          <p:cNvPr id="6" name="Text 4"/>
          <p:cNvSpPr txBox="1"/>
          <p:nvPr/>
        </p:nvSpPr>
        <p:spPr>
          <a:xfrm>
            <a:off x="1531803" y="646024"/>
            <a:ext cx="9355135"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Why </a:t>
            </a:r>
            <a:pPr algn="l" indent="0" marL="0">
              <a:lnSpc>
                <a:spcPts val="3057"/>
              </a:lnSpc>
              <a:buNone/>
            </a:pPr>
            <a:r>
              <a:rPr lang="en-US" sz="2831" b="1" i="1" spc="-68" kern="0" dirty="0">
                <a:solidFill>
                  <a:srgbClr val="14120F"/>
                </a:solidFill>
                <a:latin typeface="Cambria" pitchFamily="34" charset="0"/>
                <a:ea typeface="Cambria" pitchFamily="34" charset="-122"/>
                <a:cs typeface="Cambria" pitchFamily="34" charset="-120"/>
              </a:rPr>
              <a:t>collaborative</a:t>
            </a:r>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 filtering beats filtering each patch alone</a:t>
            </a:r>
            <a:endParaRPr lang="en-US" sz="2831" dirty="0"/>
          </a:p>
        </p:txBody>
      </p:sp>
      <p:sp>
        <p:nvSpPr>
          <p:cNvPr id="7" name="Text 5"/>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The word 'collaborative' is doing real work. Stacking similar patches into a 3-D array creates sparsity along a third axis that does not exist in any single patch — and that third axis is where nearly all the denoising happens.</a:t>
            </a:r>
            <a:endParaRPr lang="en-US" sz="1231" dirty="0"/>
          </a:p>
        </p:txBody>
      </p:sp>
      <p:sp>
        <p:nvSpPr>
          <p:cNvPr id="8" name="Shape 6"/>
          <p:cNvSpPr/>
          <p:nvPr/>
        </p:nvSpPr>
        <p:spPr>
          <a:xfrm>
            <a:off x="4490710" y="2084100"/>
            <a:ext cx="4179448" cy="2188251"/>
          </a:xfrm>
          <a:prstGeom prst="rect">
            <a:avLst/>
          </a:prstGeom>
          <a:solidFill>
            <a:srgbClr val="FFFFFF"/>
          </a:solidFill>
          <a:ln/>
          <a:effectLst>
            <a:outerShdw sx="100000" sy="100000" kx="0" ky="0" algn="bl" rotWithShape="0" blurRad="23445" dist="7816" dir="5400000">
              <a:srgbClr val="14120F">
                <a:alpha val="12000"/>
              </a:srgbClr>
            </a:outerShdw>
          </a:effectLst>
        </p:spPr>
      </p:sp>
      <p:sp>
        <p:nvSpPr>
          <p:cNvPr id="9" name="Shape 7"/>
          <p:cNvSpPr/>
          <p:nvPr/>
        </p:nvSpPr>
        <p:spPr>
          <a:xfrm>
            <a:off x="4490710" y="2084100"/>
            <a:ext cx="4179448" cy="7772"/>
          </a:xfrm>
          <a:prstGeom prst="rect">
            <a:avLst/>
          </a:prstGeom>
          <a:solidFill>
            <a:srgbClr val="C9C4B9"/>
          </a:solidFill>
          <a:ln/>
        </p:spPr>
      </p:sp>
      <p:sp>
        <p:nvSpPr>
          <p:cNvPr id="10" name="Shape 8"/>
          <p:cNvSpPr/>
          <p:nvPr/>
        </p:nvSpPr>
        <p:spPr>
          <a:xfrm>
            <a:off x="4490710" y="4264487"/>
            <a:ext cx="4179448" cy="7772"/>
          </a:xfrm>
          <a:prstGeom prst="rect">
            <a:avLst/>
          </a:prstGeom>
          <a:solidFill>
            <a:srgbClr val="C9C4B9"/>
          </a:solidFill>
          <a:ln/>
        </p:spPr>
      </p:sp>
      <p:sp>
        <p:nvSpPr>
          <p:cNvPr id="11" name="Shape 9"/>
          <p:cNvSpPr/>
          <p:nvPr/>
        </p:nvSpPr>
        <p:spPr>
          <a:xfrm>
            <a:off x="4490710" y="2084100"/>
            <a:ext cx="7772" cy="2188251"/>
          </a:xfrm>
          <a:prstGeom prst="rect">
            <a:avLst/>
          </a:prstGeom>
          <a:solidFill>
            <a:srgbClr val="C9C4B9"/>
          </a:solidFill>
          <a:ln/>
        </p:spPr>
      </p:sp>
      <p:sp>
        <p:nvSpPr>
          <p:cNvPr id="12" name="Shape 10"/>
          <p:cNvSpPr/>
          <p:nvPr/>
        </p:nvSpPr>
        <p:spPr>
          <a:xfrm>
            <a:off x="8662294" y="2084100"/>
            <a:ext cx="7772" cy="2188251"/>
          </a:xfrm>
          <a:prstGeom prst="rect">
            <a:avLst/>
          </a:prstGeom>
          <a:solidFill>
            <a:srgbClr val="C9C4B9"/>
          </a:solidFill>
          <a:ln/>
        </p:spPr>
      </p:sp>
      <p:pic>
        <p:nvPicPr>
          <p:cNvPr id="13" name="Image 0" descr="Block matching in practice: the reference patch R (red) and the similar patches BM3D groups with it before collaborative 3-D filtering.">    </p:cNvPr>
          <p:cNvPicPr>
            <a:picLocks noChangeAspect="1"/>
          </p:cNvPicPr>
          <p:nvPr/>
        </p:nvPicPr>
        <p:blipFill>
          <a:blip r:embed="rId1"/>
          <a:stretch>
            <a:fillRect/>
          </a:stretch>
        </p:blipFill>
        <p:spPr>
          <a:xfrm>
            <a:off x="4607936" y="2201327"/>
            <a:ext cx="3944996" cy="1953798"/>
          </a:xfrm>
          <a:prstGeom prst="rect">
            <a:avLst/>
          </a:prstGeom>
        </p:spPr>
      </p:pic>
      <p:sp>
        <p:nvSpPr>
          <p:cNvPr id="14" name="Text 11"/>
          <p:cNvSpPr txBox="1"/>
          <p:nvPr/>
        </p:nvSpPr>
        <p:spPr>
          <a:xfrm>
            <a:off x="3101279" y="4379427"/>
            <a:ext cx="6958127" cy="153162"/>
          </a:xfrm>
          <a:prstGeom prst="rect">
            <a:avLst/>
          </a:prstGeom>
          <a:noFill/>
          <a:ln/>
        </p:spPr>
        <p:txBody>
          <a:bodyPr wrap="none" lIns="0" tIns="0" rIns="0" bIns="0" rtlCol="0" anchor="t"/>
          <a:lstStyle/>
          <a:p>
            <a:pPr algn="ctr" indent="0" marL="0">
              <a:lnSpc>
                <a:spcPts val="1206"/>
              </a:lnSpc>
              <a:buNone/>
            </a:pPr>
            <a:r>
              <a:rPr kern="0" lang="en-US" sz="862" i="1" dirty="0">
                <a:solidFill>
                  <a:srgbClr val="8A847A"/>
                </a:solidFill>
                <a:latin typeface="Calibri" pitchFamily="34" charset="0"/>
                <a:ea typeface="Calibri" pitchFamily="34" charset="-122"/>
                <a:cs typeface="Calibri" pitchFamily="34" charset="-120"/>
              </a:rPr>
              <a:t>Block matching in practice: the reference patch R (red) and the similar patches BM3D groups with it before collaborative 3-D filtering. [BM3D07 · Fig. 2]</a:t>
            </a:r>
            <a:endParaRPr lang="en-US" sz="862" dirty="0"/>
          </a:p>
        </p:txBody>
      </p:sp>
      <p:sp>
        <p:nvSpPr>
          <p:cNvPr id="15" name="Shape 12"/>
          <p:cNvSpPr/>
          <p:nvPr/>
        </p:nvSpPr>
        <p:spPr>
          <a:xfrm>
            <a:off x="1531803" y="4738055"/>
            <a:ext cx="10097262" cy="1161654"/>
          </a:xfrm>
          <a:prstGeom prst="rect">
            <a:avLst/>
          </a:prstGeom>
          <a:solidFill>
            <a:srgbClr val="F1EEE8"/>
          </a:solidFill>
          <a:ln/>
        </p:spPr>
      </p:sp>
      <p:sp>
        <p:nvSpPr>
          <p:cNvPr id="16" name="Shape 13"/>
          <p:cNvSpPr/>
          <p:nvPr/>
        </p:nvSpPr>
        <p:spPr>
          <a:xfrm>
            <a:off x="1531803" y="4738055"/>
            <a:ext cx="31272" cy="1161654"/>
          </a:xfrm>
          <a:prstGeom prst="rect">
            <a:avLst/>
          </a:prstGeom>
          <a:solidFill>
            <a:srgbClr val="7C5E2A"/>
          </a:solidFill>
          <a:ln/>
        </p:spPr>
      </p:sp>
      <p:pic>
        <p:nvPicPr>
          <p:cNvPr id="17" name="Image 1" descr="\hat{Y}_{S} \;=\; T_{3D}^{-1}\Big(\gamma\big(T_{3D}(Y_{S})\big)\Big),\qquad \gamma(c) \;=\; c\cdot\mathbf{1}\big[\,|c| &gt; \lambda_{3D}\,\sigma\,\big]">    </p:cNvPr>
          <p:cNvPicPr>
            <a:picLocks noChangeAspect="1"/>
          </p:cNvPicPr>
          <p:nvPr/>
        </p:nvPicPr>
        <p:blipFill>
          <a:blip r:embed="rId2"/>
          <a:stretch>
            <a:fillRect/>
          </a:stretch>
        </p:blipFill>
        <p:spPr>
          <a:xfrm>
            <a:off x="1750619" y="4870917"/>
            <a:ext cx="7909011" cy="644378"/>
          </a:xfrm>
          <a:prstGeom prst="rect">
            <a:avLst/>
          </a:prstGeom>
        </p:spPr>
      </p:pic>
      <p:sp>
        <p:nvSpPr>
          <p:cNvPr id="18" name="Text 14"/>
          <p:cNvSpPr txBox="1"/>
          <p:nvPr/>
        </p:nvSpPr>
        <p:spPr>
          <a:xfrm>
            <a:off x="1750619" y="5592653"/>
            <a:ext cx="4855098" cy="173462"/>
          </a:xfrm>
          <a:prstGeom prst="rect">
            <a:avLst/>
          </a:prstGeom>
          <a:noFill/>
          <a:ln/>
        </p:spPr>
        <p:txBody>
          <a:bodyPr wrap="none" lIns="0" tIns="0" rIns="0" bIns="0" rtlCol="0" anchor="t"/>
          <a:lstStyle/>
          <a:p>
            <a:pPr algn="l" indent="0" marL="0">
              <a:lnSpc>
                <a:spcPts val="1366"/>
              </a:lnSpc>
              <a:buNone/>
            </a:pPr>
            <a:r>
              <a:rPr kern="0" lang="en-US" sz="923" i="1" dirty="0">
                <a:solidFill>
                  <a:srgbClr val="5A554D"/>
                </a:solidFill>
                <a:latin typeface="Calibri" pitchFamily="34" charset="0"/>
                <a:ea typeface="Calibri" pitchFamily="34" charset="-122"/>
                <a:cs typeface="Calibri" pitchFamily="34" charset="-120"/>
              </a:rPr>
              <a:t>Y_S — the 3-D group of matched blocks · T₃D — a separable 3-D transform · γ — hard thresholding</a:t>
            </a:r>
            <a:endParaRPr lang="en-US" sz="923" dirty="0"/>
          </a:p>
        </p:txBody>
      </p:sp>
      <p:sp>
        <p:nvSpPr>
          <p:cNvPr id="19" name="Text 15"/>
          <p:cNvSpPr txBox="1"/>
          <p:nvPr/>
        </p:nvSpPr>
        <p:spPr>
          <a:xfrm>
            <a:off x="10551079" y="6237031"/>
            <a:ext cx="1077895"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BM3D07 §V, §VI-A, §VI-B</a:t>
            </a:r>
            <a:endParaRPr lang="en-US" sz="800" dirty="0"/>
          </a:p>
        </p:txBody>
      </p:sp>
      <p:sp>
        <p:nvSpPr>
          <p:cNvPr id="20" name="Shape 16"/>
          <p:cNvSpPr/>
          <p:nvPr/>
        </p:nvSpPr>
        <p:spPr>
          <a:xfrm>
            <a:off x="1531803" y="6537411"/>
            <a:ext cx="10097262" cy="7772"/>
          </a:xfrm>
          <a:prstGeom prst="rect">
            <a:avLst/>
          </a:prstGeom>
          <a:solidFill>
            <a:srgbClr val="C9C4B9"/>
          </a:solidFill>
          <a:ln/>
        </p:spPr>
      </p:sp>
      <p:sp>
        <p:nvSpPr>
          <p:cNvPr id="21" name="Shape 17"/>
          <p:cNvSpPr/>
          <p:nvPr/>
        </p:nvSpPr>
        <p:spPr>
          <a:xfrm>
            <a:off x="1531803" y="6525707"/>
            <a:ext cx="3926799" cy="31272"/>
          </a:xfrm>
          <a:prstGeom prst="rect">
            <a:avLst/>
          </a:prstGeom>
          <a:solidFill>
            <a:srgbClr val="7C5E2A"/>
          </a:solidFill>
          <a:ln/>
        </p:spPr>
      </p:sp>
      <p:sp>
        <p:nvSpPr>
          <p:cNvPr id="22" name="Shape 18"/>
          <p:cNvSpPr/>
          <p:nvPr/>
        </p:nvSpPr>
        <p:spPr>
          <a:xfrm>
            <a:off x="1531803" y="6498366"/>
            <a:ext cx="7772" cy="39045"/>
          </a:xfrm>
          <a:prstGeom prst="rect">
            <a:avLst/>
          </a:prstGeom>
          <a:solidFill>
            <a:srgbClr val="C9C4B9"/>
          </a:solidFill>
          <a:ln/>
        </p:spPr>
      </p:sp>
      <p:sp>
        <p:nvSpPr>
          <p:cNvPr id="23" name="Text 19"/>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4" name="Shape 20"/>
          <p:cNvSpPr/>
          <p:nvPr/>
        </p:nvSpPr>
        <p:spPr>
          <a:xfrm>
            <a:off x="5458511" y="6498366"/>
            <a:ext cx="7772" cy="39045"/>
          </a:xfrm>
          <a:prstGeom prst="rect">
            <a:avLst/>
          </a:prstGeom>
          <a:solidFill>
            <a:srgbClr val="C9C4B9"/>
          </a:solidFill>
          <a:ln/>
        </p:spPr>
      </p:sp>
      <p:sp>
        <p:nvSpPr>
          <p:cNvPr id="25" name="Text 21"/>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26" name="Shape 22"/>
          <p:cNvSpPr/>
          <p:nvPr/>
        </p:nvSpPr>
        <p:spPr>
          <a:xfrm>
            <a:off x="7141738" y="6498366"/>
            <a:ext cx="7772" cy="39045"/>
          </a:xfrm>
          <a:prstGeom prst="rect">
            <a:avLst/>
          </a:prstGeom>
          <a:solidFill>
            <a:srgbClr val="C9C4B9"/>
          </a:solidFill>
          <a:ln/>
        </p:spPr>
      </p:sp>
      <p:sp>
        <p:nvSpPr>
          <p:cNvPr id="27" name="Text 23"/>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8" name="Shape 24"/>
          <p:cNvSpPr/>
          <p:nvPr/>
        </p:nvSpPr>
        <p:spPr>
          <a:xfrm>
            <a:off x="9945654" y="6498366"/>
            <a:ext cx="7772" cy="39045"/>
          </a:xfrm>
          <a:prstGeom prst="rect">
            <a:avLst/>
          </a:prstGeom>
          <a:solidFill>
            <a:srgbClr val="C9C4B9"/>
          </a:solidFill>
          <a:ln/>
        </p:spPr>
      </p:sp>
      <p:sp>
        <p:nvSpPr>
          <p:cNvPr id="29" name="Text 25"/>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0" name="Shape 26"/>
          <p:cNvSpPr/>
          <p:nvPr/>
        </p:nvSpPr>
        <p:spPr>
          <a:xfrm>
            <a:off x="11628973" y="6498366"/>
            <a:ext cx="7772" cy="39045"/>
          </a:xfrm>
          <a:prstGeom prst="rect">
            <a:avLst/>
          </a:prstGeom>
          <a:solidFill>
            <a:srgbClr val="C9C4B9"/>
          </a:solidFill>
          <a:ln/>
        </p:spPr>
      </p:sp>
      <p:sp>
        <p:nvSpPr>
          <p:cNvPr id="31" name="Text 27"/>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8807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21</a:t>
            </a:r>
            <a:endParaRPr lang="en-US" sz="2893" dirty="0"/>
          </a:p>
        </p:txBody>
      </p:sp>
      <p:sp>
        <p:nvSpPr>
          <p:cNvPr id="3" name="Text 1"/>
          <p:cNvSpPr txBox="1"/>
          <p:nvPr/>
        </p:nvSpPr>
        <p:spPr>
          <a:xfrm rot="16200000">
            <a:off x="-384871" y="3428909"/>
            <a:ext cx="99367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C5E2A"/>
                </a:solidFill>
                <a:latin typeface="Calibri" pitchFamily="34" charset="0"/>
                <a:ea typeface="Calibri" pitchFamily="34" charset="-122"/>
                <a:cs typeface="Calibri" pitchFamily="34" charset="-120"/>
              </a:rPr>
              <a:t>CLASSICAL DIP</a:t>
            </a:r>
            <a:endParaRPr lang="en-US" sz="789" dirty="0"/>
          </a:p>
        </p:txBody>
      </p:sp>
      <p:sp>
        <p:nvSpPr>
          <p:cNvPr id="4" name="Shape 2"/>
          <p:cNvSpPr/>
          <p:nvPr/>
        </p:nvSpPr>
        <p:spPr>
          <a:xfrm>
            <a:off x="1636685" y="492679"/>
            <a:ext cx="217079" cy="25055"/>
          </a:xfrm>
          <a:prstGeom prst="rect">
            <a:avLst/>
          </a:prstGeom>
          <a:solidFill>
            <a:srgbClr val="7C5E2A"/>
          </a:solidFill>
          <a:ln/>
        </p:spPr>
      </p:sp>
      <p:sp>
        <p:nvSpPr>
          <p:cNvPr id="5" name="Text 3"/>
          <p:cNvSpPr txBox="1"/>
          <p:nvPr/>
        </p:nvSpPr>
        <p:spPr>
          <a:xfrm>
            <a:off x="1953981" y="436443"/>
            <a:ext cx="125912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BM3D, PART 2 OF 4</a:t>
            </a:r>
            <a:endParaRPr lang="en-US" sz="888" dirty="0"/>
          </a:p>
        </p:txBody>
      </p:sp>
      <p:sp>
        <p:nvSpPr>
          <p:cNvPr id="6" name="Text 4"/>
          <p:cNvSpPr txBox="1"/>
          <p:nvPr/>
        </p:nvSpPr>
        <p:spPr>
          <a:xfrm>
            <a:off x="3263219"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9995855"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Why </a:t>
            </a:r>
            <a:pPr algn="l" indent="0" marL="0">
              <a:lnSpc>
                <a:spcPts val="3267"/>
              </a:lnSpc>
              <a:buNone/>
            </a:pPr>
            <a:r>
              <a:rPr lang="en-US" sz="3025" b="1" i="1" spc="-72" kern="0" dirty="0">
                <a:solidFill>
                  <a:srgbClr val="14120F"/>
                </a:solidFill>
                <a:latin typeface="Cambria" pitchFamily="34" charset="0"/>
                <a:ea typeface="Cambria" pitchFamily="34" charset="-122"/>
                <a:cs typeface="Cambria" pitchFamily="34" charset="-120"/>
              </a:rPr>
              <a:t>collaborative</a:t>
            </a:r>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 filtering beats filtering each patch alone</a:t>
            </a:r>
            <a:endParaRPr lang="en-US" sz="3025" dirty="0"/>
          </a:p>
        </p:txBody>
      </p:sp>
      <p:sp>
        <p:nvSpPr>
          <p:cNvPr id="8" name="Shape 6"/>
          <p:cNvSpPr/>
          <p:nvPr/>
        </p:nvSpPr>
        <p:spPr>
          <a:xfrm>
            <a:off x="1636685" y="1241481"/>
            <a:ext cx="9953793" cy="907633"/>
          </a:xfrm>
          <a:prstGeom prst="rect">
            <a:avLst/>
          </a:prstGeom>
          <a:solidFill>
            <a:srgbClr val="F1EEE8"/>
          </a:solidFill>
          <a:ln/>
        </p:spPr>
      </p:sp>
      <p:sp>
        <p:nvSpPr>
          <p:cNvPr id="9" name="Shape 7"/>
          <p:cNvSpPr/>
          <p:nvPr/>
        </p:nvSpPr>
        <p:spPr>
          <a:xfrm>
            <a:off x="1636685" y="1241481"/>
            <a:ext cx="33376" cy="907633"/>
          </a:xfrm>
          <a:prstGeom prst="rect">
            <a:avLst/>
          </a:prstGeom>
          <a:solidFill>
            <a:srgbClr val="7C5E2A"/>
          </a:solidFill>
          <a:ln/>
        </p:spPr>
      </p:sp>
      <p:pic>
        <p:nvPicPr>
          <p:cNvPr id="10" name="Image 0" descr="T_{3D} \;=\; T_{2D} \otimes T_{1D}">    </p:cNvPr>
          <p:cNvPicPr>
            <a:picLocks noChangeAspect="1"/>
          </p:cNvPicPr>
          <p:nvPr/>
        </p:nvPicPr>
        <p:blipFill>
          <a:blip r:embed="rId1"/>
          <a:stretch>
            <a:fillRect/>
          </a:stretch>
        </p:blipFill>
        <p:spPr>
          <a:xfrm>
            <a:off x="1870497" y="1383396"/>
            <a:ext cx="2766609" cy="354879"/>
          </a:xfrm>
          <a:prstGeom prst="rect">
            <a:avLst/>
          </a:prstGeom>
        </p:spPr>
      </p:pic>
      <p:sp>
        <p:nvSpPr>
          <p:cNvPr id="11" name="Text 8"/>
          <p:cNvSpPr txBox="1"/>
          <p:nvPr/>
        </p:nvSpPr>
        <p:spPr>
          <a:xfrm>
            <a:off x="1870497" y="1821028"/>
            <a:ext cx="6171560" cy="185349"/>
          </a:xfrm>
          <a:prstGeom prst="rect">
            <a:avLst/>
          </a:prstGeom>
          <a:noFill/>
          <a:ln/>
        </p:spPr>
        <p:txBody>
          <a:bodyPr wrap="none" lIns="0" tIns="0" rIns="0" bIns="0" rtlCol="0" anchor="t"/>
          <a:lstStyle/>
          <a:p>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a 2-D transform within each block (intra-fragment), composed with a 1-D transform across the stack (inter-fragment)</a:t>
            </a:r>
            <a:endParaRPr lang="en-US" sz="986" dirty="0"/>
          </a:p>
        </p:txBody>
      </p:sp>
      <p:sp>
        <p:nvSpPr>
          <p:cNvPr id="12" name="Shape 9"/>
          <p:cNvSpPr/>
          <p:nvPr/>
        </p:nvSpPr>
        <p:spPr>
          <a:xfrm>
            <a:off x="1636685" y="2274296"/>
            <a:ext cx="9953793" cy="8321"/>
          </a:xfrm>
          <a:prstGeom prst="rect">
            <a:avLst/>
          </a:prstGeom>
          <a:solidFill>
            <a:srgbClr val="DFDBD2"/>
          </a:solidFill>
          <a:ln/>
        </p:spPr>
      </p:sp>
      <p:sp>
        <p:nvSpPr>
          <p:cNvPr id="13" name="Text 10"/>
          <p:cNvSpPr txBox="1"/>
          <p:nvPr/>
        </p:nvSpPr>
        <p:spPr>
          <a:xfrm>
            <a:off x="1636685" y="2424623"/>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4" name="Text 11"/>
          <p:cNvSpPr txBox="1"/>
          <p:nvPr/>
        </p:nvSpPr>
        <p:spPr>
          <a:xfrm>
            <a:off x="1987448" y="2413193"/>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paper's own ablation is the evidence.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Varying the two transforms changes PSNR only modestly — even a basis that is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random apart from the DC</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loses just 0.1–0.4 dB.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Inter-fragment correlation matters far more than intra-fragment correlation.</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[BM3D07 §V]</a:t>
            </a:r>
            <a:endParaRPr lang="en-US" sz="1216" dirty="0"/>
          </a:p>
        </p:txBody>
      </p:sp>
      <p:sp>
        <p:nvSpPr>
          <p:cNvPr id="15" name="Text 12"/>
          <p:cNvSpPr txBox="1"/>
          <p:nvPr/>
        </p:nvSpPr>
        <p:spPr>
          <a:xfrm>
            <a:off x="1636685" y="3031968"/>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6" name="Text 13"/>
          <p:cNvSpPr txBox="1"/>
          <p:nvPr/>
        </p:nvSpPr>
        <p:spPr>
          <a:xfrm>
            <a:off x="1987448" y="3020538"/>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Which is why the DC element matters.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DST performs worst of every transform tested, and the paper blames its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lack of a DC basis element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the DC along the stacking axis is what captures similarity, recovering plain averaging as a special case.</a:t>
            </a:r>
            <a:endParaRPr lang="en-US" sz="1216" dirty="0"/>
          </a:p>
        </p:txBody>
      </p:sp>
      <p:sp>
        <p:nvSpPr>
          <p:cNvPr id="17" name="Text 14"/>
          <p:cNvSpPr txBox="1"/>
          <p:nvPr/>
        </p:nvSpPr>
        <p:spPr>
          <a:xfrm>
            <a:off x="1636685" y="3629071"/>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18" name="Text 15"/>
          <p:cNvSpPr txBox="1"/>
          <p:nvPr/>
        </p:nvSpPr>
        <p:spPr>
          <a:xfrm>
            <a:off x="1987448" y="3617549"/>
            <a:ext cx="9695932"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Complexity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is linear in image size; cost per pixel is block matching plus separable transforms. The Fast profile swaps exhaustive for predictive search.</a:t>
            </a:r>
            <a:endParaRPr lang="en-US" sz="1216" dirty="0"/>
          </a:p>
        </p:txBody>
      </p:sp>
      <p:sp>
        <p:nvSpPr>
          <p:cNvPr id="19" name="Text 16"/>
          <p:cNvSpPr txBox="1"/>
          <p:nvPr/>
        </p:nvSpPr>
        <p:spPr>
          <a:xfrm>
            <a:off x="1636685" y="3994374"/>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20" name="Text 17"/>
          <p:cNvSpPr txBox="1"/>
          <p:nvPr/>
        </p:nvSpPr>
        <p:spPr>
          <a:xfrm>
            <a:off x="1987448" y="3982944"/>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Parameters: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block size, search window, matching threshold, λ₃D, two transforms, aggregation weights — all author-set, with different values above and below σ = 40.</a:t>
            </a:r>
            <a:endParaRPr lang="en-US" sz="1216" dirty="0"/>
          </a:p>
        </p:txBody>
      </p:sp>
      <p:sp>
        <p:nvSpPr>
          <p:cNvPr id="21" name="Text 18"/>
          <p:cNvSpPr txBox="1"/>
          <p:nvPr/>
        </p:nvSpPr>
        <p:spPr>
          <a:xfrm>
            <a:off x="10438790" y="6194511"/>
            <a:ext cx="1151687"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BM3D07 §V, §VI-A, §VI-B</a:t>
            </a:r>
            <a:endParaRPr lang="en-US" sz="855" dirty="0"/>
          </a:p>
        </p:txBody>
      </p:sp>
      <p:sp>
        <p:nvSpPr>
          <p:cNvPr id="22" name="Shape 19"/>
          <p:cNvSpPr/>
          <p:nvPr/>
        </p:nvSpPr>
        <p:spPr>
          <a:xfrm>
            <a:off x="1636685" y="6515466"/>
            <a:ext cx="9953793" cy="8321"/>
          </a:xfrm>
          <a:prstGeom prst="rect">
            <a:avLst/>
          </a:prstGeom>
          <a:solidFill>
            <a:srgbClr val="C9C4B9"/>
          </a:solidFill>
          <a:ln/>
        </p:spPr>
      </p:sp>
      <p:sp>
        <p:nvSpPr>
          <p:cNvPr id="23" name="Shape 20"/>
          <p:cNvSpPr/>
          <p:nvPr/>
        </p:nvSpPr>
        <p:spPr>
          <a:xfrm>
            <a:off x="1636685" y="6502938"/>
            <a:ext cx="3870930" cy="33376"/>
          </a:xfrm>
          <a:prstGeom prst="rect">
            <a:avLst/>
          </a:prstGeom>
          <a:solidFill>
            <a:srgbClr val="7C5E2A"/>
          </a:solidFill>
          <a:ln/>
        </p:spPr>
      </p:sp>
      <p:sp>
        <p:nvSpPr>
          <p:cNvPr id="24" name="Shape 21"/>
          <p:cNvSpPr/>
          <p:nvPr/>
        </p:nvSpPr>
        <p:spPr>
          <a:xfrm>
            <a:off x="1636685" y="6473678"/>
            <a:ext cx="8321" cy="41788"/>
          </a:xfrm>
          <a:prstGeom prst="rect">
            <a:avLst/>
          </a:prstGeom>
          <a:solidFill>
            <a:srgbClr val="C9C4B9"/>
          </a:solidFill>
          <a:ln/>
        </p:spPr>
      </p:sp>
      <p:sp>
        <p:nvSpPr>
          <p:cNvPr id="25" name="Text 22"/>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6" name="Shape 23"/>
          <p:cNvSpPr/>
          <p:nvPr/>
        </p:nvSpPr>
        <p:spPr>
          <a:xfrm>
            <a:off x="5507706" y="6473678"/>
            <a:ext cx="8321" cy="41788"/>
          </a:xfrm>
          <a:prstGeom prst="rect">
            <a:avLst/>
          </a:prstGeom>
          <a:solidFill>
            <a:srgbClr val="C9C4B9"/>
          </a:solidFill>
          <a:ln/>
        </p:spPr>
      </p:sp>
      <p:sp>
        <p:nvSpPr>
          <p:cNvPr id="27" name="Text 24"/>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8" name="Shape 25"/>
          <p:cNvSpPr/>
          <p:nvPr/>
        </p:nvSpPr>
        <p:spPr>
          <a:xfrm>
            <a:off x="7166884" y="6473678"/>
            <a:ext cx="8321" cy="41788"/>
          </a:xfrm>
          <a:prstGeom prst="rect">
            <a:avLst/>
          </a:prstGeom>
          <a:solidFill>
            <a:srgbClr val="C9C4B9"/>
          </a:solidFill>
          <a:ln/>
        </p:spPr>
      </p:sp>
      <p:sp>
        <p:nvSpPr>
          <p:cNvPr id="29" name="Text 26"/>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0" name="Shape 27"/>
          <p:cNvSpPr/>
          <p:nvPr/>
        </p:nvSpPr>
        <p:spPr>
          <a:xfrm>
            <a:off x="9931024" y="6473678"/>
            <a:ext cx="8321" cy="41788"/>
          </a:xfrm>
          <a:prstGeom prst="rect">
            <a:avLst/>
          </a:prstGeom>
          <a:solidFill>
            <a:srgbClr val="C9C4B9"/>
          </a:solidFill>
          <a:ln/>
        </p:spPr>
      </p:sp>
      <p:sp>
        <p:nvSpPr>
          <p:cNvPr id="31" name="Text 28"/>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2" name="Shape 29"/>
          <p:cNvSpPr/>
          <p:nvPr/>
        </p:nvSpPr>
        <p:spPr>
          <a:xfrm>
            <a:off x="11590477" y="6473678"/>
            <a:ext cx="8321" cy="41788"/>
          </a:xfrm>
          <a:prstGeom prst="rect">
            <a:avLst/>
          </a:prstGeom>
          <a:solidFill>
            <a:srgbClr val="C9C4B9"/>
          </a:solidFill>
          <a:ln/>
        </p:spPr>
      </p:sp>
      <p:sp>
        <p:nvSpPr>
          <p:cNvPr id="33" name="Text 30"/>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79933"/>
            <a:ext cx="40608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22</a:t>
            </a:r>
            <a:endParaRPr lang="en-US" sz="2893" dirty="0"/>
          </a:p>
        </p:txBody>
      </p:sp>
      <p:sp>
        <p:nvSpPr>
          <p:cNvPr id="3" name="Text 1"/>
          <p:cNvSpPr txBox="1"/>
          <p:nvPr/>
        </p:nvSpPr>
        <p:spPr>
          <a:xfrm rot="16200000">
            <a:off x="-384871" y="3437230"/>
            <a:ext cx="99367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C5E2A"/>
                </a:solidFill>
                <a:latin typeface="Calibri" pitchFamily="34" charset="0"/>
                <a:ea typeface="Calibri" pitchFamily="34" charset="-122"/>
                <a:cs typeface="Calibri" pitchFamily="34" charset="-120"/>
              </a:rPr>
              <a:t>CLASSICAL DIP</a:t>
            </a:r>
            <a:endParaRPr lang="en-US" sz="789" dirty="0"/>
          </a:p>
        </p:txBody>
      </p:sp>
      <p:sp>
        <p:nvSpPr>
          <p:cNvPr id="4" name="Shape 2"/>
          <p:cNvSpPr/>
          <p:nvPr/>
        </p:nvSpPr>
        <p:spPr>
          <a:xfrm>
            <a:off x="1636685" y="327995"/>
            <a:ext cx="217079" cy="25055"/>
          </a:xfrm>
          <a:prstGeom prst="rect">
            <a:avLst/>
          </a:prstGeom>
          <a:solidFill>
            <a:srgbClr val="7C5E2A"/>
          </a:solidFill>
          <a:ln/>
        </p:spPr>
      </p:sp>
      <p:sp>
        <p:nvSpPr>
          <p:cNvPr id="5" name="Text 3"/>
          <p:cNvSpPr txBox="1"/>
          <p:nvPr/>
        </p:nvSpPr>
        <p:spPr>
          <a:xfrm>
            <a:off x="1953981" y="271760"/>
            <a:ext cx="125912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BM3D, PART 3 OF 4</a:t>
            </a:r>
            <a:endParaRPr lang="en-US" sz="888" dirty="0"/>
          </a:p>
        </p:txBody>
      </p:sp>
      <p:sp>
        <p:nvSpPr>
          <p:cNvPr id="6" name="Text 4"/>
          <p:cNvSpPr txBox="1"/>
          <p:nvPr/>
        </p:nvSpPr>
        <p:spPr>
          <a:xfrm>
            <a:off x="1636685" y="611551"/>
            <a:ext cx="9734885"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Why BM3D was the benchmark, not merely a benchmark</a:t>
            </a:r>
            <a:endParaRPr lang="en-US" sz="3025" dirty="0"/>
          </a:p>
        </p:txBody>
      </p:sp>
      <p:sp>
        <p:nvSpPr>
          <p:cNvPr id="7" name="Text 5"/>
          <p:cNvSpPr txBox="1"/>
          <p:nvPr/>
        </p:nvSpPr>
        <p:spPr>
          <a:xfrm>
            <a:off x="1636685" y="1330452"/>
            <a:ext cx="5183825" cy="400782"/>
          </a:xfrm>
          <a:prstGeom prst="rect">
            <a:avLst/>
          </a:prstGeom>
          <a:noFill/>
          <a:ln/>
        </p:spPr>
        <p:txBody>
          <a:bodyPr wrap="square" lIns="0" tIns="0" rIns="0" bIns="0" rtlCol="0" anchor="t"/>
          <a:lstStyle/>
          <a:p>
            <a:pPr algn="l" indent="0" marL="0">
              <a:lnSpc>
                <a:spcPts val="1578"/>
              </a:lnSpc>
              <a:buNone/>
            </a:pPr>
            <a:r>
              <a:rPr kern="0" lang="en-US" sz="1052" dirty="0">
                <a:solidFill>
                  <a:srgbClr val="5A554D"/>
                </a:solidFill>
                <a:latin typeface="Calibri" pitchFamily="34" charset="0"/>
                <a:ea typeface="Calibri" pitchFamily="34" charset="-122"/>
                <a:cs typeface="Calibri" pitchFamily="34" charset="-120"/>
              </a:rPr>
              <a:t>For roughly a decade every denoising paper had to beat BM3D, and almost none did by a meaningful margin. Three numbers explain why that stalemate lasted.</a:t>
            </a:r>
            <a:endParaRPr lang="en-US" sz="1052" dirty="0"/>
          </a:p>
        </p:txBody>
      </p:sp>
      <p:sp>
        <p:nvSpPr>
          <p:cNvPr id="8" name="Shape 6"/>
          <p:cNvSpPr/>
          <p:nvPr/>
        </p:nvSpPr>
        <p:spPr>
          <a:xfrm>
            <a:off x="1636685" y="2141159"/>
            <a:ext cx="9953793" cy="16734"/>
          </a:xfrm>
          <a:prstGeom prst="rect">
            <a:avLst/>
          </a:prstGeom>
          <a:solidFill>
            <a:srgbClr val="14120F"/>
          </a:solidFill>
          <a:ln/>
        </p:spPr>
      </p:sp>
      <p:sp>
        <p:nvSpPr>
          <p:cNvPr id="9" name="Text 7"/>
          <p:cNvSpPr txBox="1"/>
          <p:nvPr/>
        </p:nvSpPr>
        <p:spPr>
          <a:xfrm>
            <a:off x="1636685" y="2324862"/>
            <a:ext cx="1300185"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7C5E2A"/>
                </a:solidFill>
                <a:latin typeface="Cambria" pitchFamily="34" charset="0"/>
                <a:ea typeface="Cambria" pitchFamily="34" charset="-122"/>
                <a:cs typeface="Cambria" pitchFamily="34" charset="-120"/>
              </a:rPr>
              <a:t>0.3 dB</a:t>
            </a:r>
            <a:endParaRPr lang="en-US" sz="3945" dirty="0"/>
          </a:p>
        </p:txBody>
      </p:sp>
      <p:sp>
        <p:nvSpPr>
          <p:cNvPr id="10" name="Text 8"/>
          <p:cNvSpPr txBox="1"/>
          <p:nvPr/>
        </p:nvSpPr>
        <p:spPr>
          <a:xfrm>
            <a:off x="1636685" y="2924983"/>
            <a:ext cx="1364925" cy="127376"/>
          </a:xfrm>
          <a:prstGeom prst="rect">
            <a:avLst/>
          </a:prstGeom>
          <a:noFill/>
          <a:ln/>
        </p:spPr>
        <p:txBody>
          <a:bodyPr wrap="non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THE PRACTICAL CEILING</a:t>
            </a:r>
            <a:endParaRPr lang="en-US" sz="822" dirty="0"/>
          </a:p>
        </p:txBody>
      </p:sp>
      <p:sp>
        <p:nvSpPr>
          <p:cNvPr id="11" name="Text 9"/>
          <p:cNvSpPr txBox="1"/>
          <p:nvPr/>
        </p:nvSpPr>
        <p:spPr>
          <a:xfrm>
            <a:off x="1636685" y="3129351"/>
            <a:ext cx="3096341" cy="621609"/>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Prior work found that </a:t>
            </a:r>
            <a:pPr algn="l" indent="0" marL="0">
              <a:lnSpc>
                <a:spcPts val="1599"/>
              </a:lnSpc>
              <a:buNone/>
            </a:pPr>
            <a:r>
              <a:rPr kern="0" lang="en-US" sz="1052" i="1" dirty="0">
                <a:solidFill>
                  <a:srgbClr val="33302B"/>
                </a:solidFill>
                <a:latin typeface="Calibri" pitchFamily="34" charset="0"/>
                <a:ea typeface="Calibri" pitchFamily="34" charset="-122"/>
                <a:cs typeface="Calibri" pitchFamily="34" charset="-120"/>
              </a:rPr>
              <a:t>few methods can outperform BM3D by more than 0.3 dB on average</a:t>
            </a:r>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 a figure DnCNN quotes when calibrating its own result. </a:t>
            </a:r>
            <a:pPr algn="l" indent="0" marL="0">
              <a:lnSpc>
                <a:spcPts val="1599"/>
              </a:lnSpc>
              <a:buNone/>
            </a:pPr>
            <a:r>
              <a:rPr kern="0" lang="en-US" sz="779" b="1" dirty="0">
                <a:solidFill>
                  <a:srgbClr val="C0451A"/>
                </a:solidFill>
                <a:latin typeface="Calibri" pitchFamily="34" charset="0"/>
                <a:ea typeface="Calibri" pitchFamily="34" charset="-122"/>
                <a:cs typeface="Calibri" pitchFamily="34" charset="-120"/>
              </a:rPr>
              <a:t>[1]</a:t>
            </a:r>
            <a:endParaRPr lang="en-US" sz="1052" dirty="0"/>
          </a:p>
        </p:txBody>
      </p:sp>
      <p:sp>
        <p:nvSpPr>
          <p:cNvPr id="12" name="Shape 10"/>
          <p:cNvSpPr/>
          <p:nvPr/>
        </p:nvSpPr>
        <p:spPr>
          <a:xfrm>
            <a:off x="4954585" y="2324862"/>
            <a:ext cx="8321" cy="1590873"/>
          </a:xfrm>
          <a:prstGeom prst="rect">
            <a:avLst/>
          </a:prstGeom>
          <a:solidFill>
            <a:srgbClr val="DFDBD2"/>
          </a:solidFill>
          <a:ln/>
        </p:spPr>
      </p:sp>
      <p:sp>
        <p:nvSpPr>
          <p:cNvPr id="13" name="Text 11"/>
          <p:cNvSpPr txBox="1"/>
          <p:nvPr/>
        </p:nvSpPr>
        <p:spPr>
          <a:xfrm>
            <a:off x="5213452" y="2324862"/>
            <a:ext cx="1293236"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7C5E2A"/>
                </a:solidFill>
                <a:latin typeface="Cambria" pitchFamily="34" charset="0"/>
                <a:ea typeface="Cambria" pitchFamily="34" charset="-122"/>
                <a:cs typeface="Cambria" pitchFamily="34" charset="-120"/>
              </a:rPr>
              <a:t>0.7 dB</a:t>
            </a:r>
            <a:endParaRPr lang="en-US" sz="3945" dirty="0"/>
          </a:p>
        </p:txBody>
      </p:sp>
      <p:sp>
        <p:nvSpPr>
          <p:cNvPr id="14" name="Text 12"/>
          <p:cNvSpPr txBox="1"/>
          <p:nvPr/>
        </p:nvSpPr>
        <p:spPr>
          <a:xfrm>
            <a:off x="5213452" y="2924983"/>
            <a:ext cx="2161916" cy="127376"/>
          </a:xfrm>
          <a:prstGeom prst="rect">
            <a:avLst/>
          </a:prstGeom>
          <a:noFill/>
          <a:ln/>
        </p:spPr>
        <p:txBody>
          <a:bodyPr wrap="non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THE ESTIMATED THEORETICAL BOUND</a:t>
            </a:r>
            <a:endParaRPr lang="en-US" sz="822" dirty="0"/>
          </a:p>
        </p:txBody>
      </p:sp>
      <p:sp>
        <p:nvSpPr>
          <p:cNvPr id="15" name="Text 13"/>
          <p:cNvSpPr txBox="1"/>
          <p:nvPr/>
        </p:nvSpPr>
        <p:spPr>
          <a:xfrm>
            <a:off x="5213452" y="3129351"/>
            <a:ext cx="2836469" cy="621609"/>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The estimated PSNR bound over BM3D reported in the literature — Levin &amp; Nadler's work on the inherent limits of natural-image denoising. </a:t>
            </a:r>
            <a:pPr algn="l" indent="0" marL="0">
              <a:lnSpc>
                <a:spcPts val="1599"/>
              </a:lnSpc>
              <a:buNone/>
            </a:pPr>
            <a:r>
              <a:rPr kern="0" lang="en-US" sz="779" b="1" dirty="0">
                <a:solidFill>
                  <a:srgbClr val="C0451A"/>
                </a:solidFill>
                <a:latin typeface="Calibri" pitchFamily="34" charset="0"/>
                <a:ea typeface="Calibri" pitchFamily="34" charset="-122"/>
                <a:cs typeface="Calibri" pitchFamily="34" charset="-120"/>
              </a:rPr>
              <a:t>[1]</a:t>
            </a:r>
            <a:endParaRPr lang="en-US" sz="1052" dirty="0"/>
          </a:p>
        </p:txBody>
      </p:sp>
      <p:sp>
        <p:nvSpPr>
          <p:cNvPr id="16" name="Shape 14"/>
          <p:cNvSpPr/>
          <p:nvPr/>
        </p:nvSpPr>
        <p:spPr>
          <a:xfrm>
            <a:off x="8272485" y="2324862"/>
            <a:ext cx="8321" cy="1590873"/>
          </a:xfrm>
          <a:prstGeom prst="rect">
            <a:avLst/>
          </a:prstGeom>
          <a:solidFill>
            <a:srgbClr val="DFDBD2"/>
          </a:solidFill>
          <a:ln/>
        </p:spPr>
      </p:sp>
      <p:sp>
        <p:nvSpPr>
          <p:cNvPr id="17" name="Text 15"/>
          <p:cNvSpPr txBox="1"/>
          <p:nvPr/>
        </p:nvSpPr>
        <p:spPr>
          <a:xfrm>
            <a:off x="8531352" y="2324862"/>
            <a:ext cx="1191006"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7C5E2A"/>
                </a:solidFill>
                <a:latin typeface="Cambria" pitchFamily="34" charset="0"/>
                <a:ea typeface="Cambria" pitchFamily="34" charset="-122"/>
                <a:cs typeface="Cambria" pitchFamily="34" charset="-120"/>
              </a:rPr>
              <a:t>2.85 s</a:t>
            </a:r>
            <a:endParaRPr lang="en-US" sz="3945" dirty="0"/>
          </a:p>
        </p:txBody>
      </p:sp>
      <p:sp>
        <p:nvSpPr>
          <p:cNvPr id="18" name="Text 16"/>
          <p:cNvSpPr txBox="1"/>
          <p:nvPr/>
        </p:nvSpPr>
        <p:spPr>
          <a:xfrm>
            <a:off x="8531352" y="2924983"/>
            <a:ext cx="1220724" cy="127376"/>
          </a:xfrm>
          <a:prstGeom prst="rect">
            <a:avLst/>
          </a:prstGeom>
          <a:noFill/>
          <a:ln/>
        </p:spPr>
        <p:txBody>
          <a:bodyPr wrap="non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512×512, CPU, Σ = 25</a:t>
            </a:r>
            <a:endParaRPr lang="en-US" sz="822" dirty="0"/>
          </a:p>
        </p:txBody>
      </p:sp>
      <p:sp>
        <p:nvSpPr>
          <p:cNvPr id="19" name="Text 17"/>
          <p:cNvSpPr txBox="1"/>
          <p:nvPr/>
        </p:nvSpPr>
        <p:spPr>
          <a:xfrm>
            <a:off x="8531352" y="3129351"/>
            <a:ext cx="2836560" cy="621609"/>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Fast enough to be usable, unlike WNNM's 773 s. BM3D occupied the only viable point on the quality-vs-time curve. </a:t>
            </a:r>
            <a:pPr algn="l" indent="0" marL="0">
              <a:lnSpc>
                <a:spcPts val="1599"/>
              </a:lnSpc>
              <a:buNone/>
            </a:pPr>
            <a:r>
              <a:rPr kern="0" lang="en-US" sz="779" b="1" dirty="0">
                <a:solidFill>
                  <a:srgbClr val="C0451A"/>
                </a:solidFill>
                <a:latin typeface="Calibri" pitchFamily="34" charset="0"/>
                <a:ea typeface="Calibri" pitchFamily="34" charset="-122"/>
                <a:cs typeface="Calibri" pitchFamily="34" charset="-120"/>
              </a:rPr>
              <a:t>[1]</a:t>
            </a:r>
            <a:endParaRPr lang="en-US" sz="1052" dirty="0"/>
          </a:p>
        </p:txBody>
      </p:sp>
      <p:sp>
        <p:nvSpPr>
          <p:cNvPr id="20" name="Shape 18"/>
          <p:cNvSpPr/>
          <p:nvPr/>
        </p:nvSpPr>
        <p:spPr>
          <a:xfrm>
            <a:off x="1636685" y="4116172"/>
            <a:ext cx="9953793" cy="8321"/>
          </a:xfrm>
          <a:prstGeom prst="rect">
            <a:avLst/>
          </a:prstGeom>
          <a:solidFill>
            <a:srgbClr val="DFDBD2"/>
          </a:solidFill>
          <a:ln/>
        </p:spPr>
      </p:sp>
      <p:sp>
        <p:nvSpPr>
          <p:cNvPr id="21" name="Text 19"/>
          <p:cNvSpPr txBox="1"/>
          <p:nvPr/>
        </p:nvSpPr>
        <p:spPr>
          <a:xfrm>
            <a:off x="1636685" y="4266408"/>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22" name="Text 20"/>
          <p:cNvSpPr txBox="1"/>
          <p:nvPr/>
        </p:nvSpPr>
        <p:spPr>
          <a:xfrm>
            <a:off x="1987448" y="4271620"/>
            <a:ext cx="8129107" cy="231709"/>
          </a:xfrm>
          <a:prstGeom prst="rect">
            <a:avLst/>
          </a:prstGeom>
          <a:noFill/>
          <a:ln/>
        </p:spPr>
        <p:txBody>
          <a:bodyPr wrap="none" lIns="0" tIns="0" rIns="0" bIns="0" rtlCol="0" anchor="t"/>
          <a:lstStyle/>
          <a:p>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BM3D's scores on BSD68 — 31.07 / 28.57 / 25.62 dB at σ = 15 / 25 / 50 — are the reference line for every table in Part VII. </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[1]</a:t>
            </a:r>
            <a:endParaRPr lang="en-US" sz="1216" dirty="0"/>
          </a:p>
        </p:txBody>
      </p:sp>
      <p:sp>
        <p:nvSpPr>
          <p:cNvPr id="23" name="Text 21"/>
          <p:cNvSpPr txBox="1"/>
          <p:nvPr/>
        </p:nvSpPr>
        <p:spPr>
          <a:xfrm>
            <a:off x="1636685" y="4631802"/>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24" name="Text 22"/>
          <p:cNvSpPr txBox="1"/>
          <p:nvPr/>
        </p:nvSpPr>
        <p:spPr>
          <a:xfrm>
            <a:off x="1987448" y="4620280"/>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And it is still in use.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BM3D appears as a live baseline in Noise2Noise (2018), Noise2Void (2019), ZS-N2N (2023) and Restormer (2022).</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[2]</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 seventeen-year-old algorithm is still the thing new zero-shot methods must beat, because it requires no training data at all.</a:t>
            </a:r>
            <a:endParaRPr lang="en-US" sz="1216" dirty="0"/>
          </a:p>
        </p:txBody>
      </p:sp>
      <p:sp>
        <p:nvSpPr>
          <p:cNvPr id="25" name="Text 23"/>
          <p:cNvSpPr txBox="1"/>
          <p:nvPr/>
        </p:nvSpPr>
        <p:spPr>
          <a:xfrm>
            <a:off x="1636685" y="5228814"/>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26" name="Text 24"/>
          <p:cNvSpPr txBox="1"/>
          <p:nvPr/>
        </p:nvSpPr>
        <p:spPr>
          <a:xfrm>
            <a:off x="1987448" y="5217384"/>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honest framing for the defence: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BM3D was not superseded because it was bad. It was superseded because it was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the best a human could do by hand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and the next gain had to come from somewhere other than a human.</a:t>
            </a:r>
            <a:endParaRPr lang="en-US" sz="1216" dirty="0"/>
          </a:p>
        </p:txBody>
      </p:sp>
      <p:sp>
        <p:nvSpPr>
          <p:cNvPr id="27" name="Text 25"/>
          <p:cNvSpPr txBox="1"/>
          <p:nvPr/>
        </p:nvSpPr>
        <p:spPr>
          <a:xfrm>
            <a:off x="7291608" y="6207039"/>
            <a:ext cx="4298869"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§IV-B, Table II, Table IV 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baselines in N2N18, N2V19, ZS-N2N23, Restormer22</a:t>
            </a:r>
            <a:endParaRPr lang="en-US" sz="633" dirty="0"/>
          </a:p>
        </p:txBody>
      </p:sp>
      <p:sp>
        <p:nvSpPr>
          <p:cNvPr id="28" name="Shape 26"/>
          <p:cNvSpPr/>
          <p:nvPr/>
        </p:nvSpPr>
        <p:spPr>
          <a:xfrm>
            <a:off x="1636685" y="6515466"/>
            <a:ext cx="9953793" cy="8321"/>
          </a:xfrm>
          <a:prstGeom prst="rect">
            <a:avLst/>
          </a:prstGeom>
          <a:solidFill>
            <a:srgbClr val="C9C4B9"/>
          </a:solidFill>
          <a:ln/>
        </p:spPr>
      </p:sp>
      <p:sp>
        <p:nvSpPr>
          <p:cNvPr id="29" name="Shape 27"/>
          <p:cNvSpPr/>
          <p:nvPr/>
        </p:nvSpPr>
        <p:spPr>
          <a:xfrm>
            <a:off x="1636685" y="6502938"/>
            <a:ext cx="3870930" cy="33376"/>
          </a:xfrm>
          <a:prstGeom prst="rect">
            <a:avLst/>
          </a:prstGeom>
          <a:solidFill>
            <a:srgbClr val="7C5E2A"/>
          </a:solidFill>
          <a:ln/>
        </p:spPr>
      </p:sp>
      <p:sp>
        <p:nvSpPr>
          <p:cNvPr id="30" name="Shape 28"/>
          <p:cNvSpPr/>
          <p:nvPr/>
        </p:nvSpPr>
        <p:spPr>
          <a:xfrm>
            <a:off x="1636685" y="6473678"/>
            <a:ext cx="8321" cy="41788"/>
          </a:xfrm>
          <a:prstGeom prst="rect">
            <a:avLst/>
          </a:prstGeom>
          <a:solidFill>
            <a:srgbClr val="C9C4B9"/>
          </a:solidFill>
          <a:ln/>
        </p:spPr>
      </p:sp>
      <p:sp>
        <p:nvSpPr>
          <p:cNvPr id="31" name="Text 29"/>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32" name="Shape 30"/>
          <p:cNvSpPr/>
          <p:nvPr/>
        </p:nvSpPr>
        <p:spPr>
          <a:xfrm>
            <a:off x="5507706" y="6473678"/>
            <a:ext cx="8321" cy="41788"/>
          </a:xfrm>
          <a:prstGeom prst="rect">
            <a:avLst/>
          </a:prstGeom>
          <a:solidFill>
            <a:srgbClr val="C9C4B9"/>
          </a:solidFill>
          <a:ln/>
        </p:spPr>
      </p:sp>
      <p:sp>
        <p:nvSpPr>
          <p:cNvPr id="33" name="Text 31"/>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4" name="Shape 32"/>
          <p:cNvSpPr/>
          <p:nvPr/>
        </p:nvSpPr>
        <p:spPr>
          <a:xfrm>
            <a:off x="7166884" y="6473678"/>
            <a:ext cx="8321" cy="41788"/>
          </a:xfrm>
          <a:prstGeom prst="rect">
            <a:avLst/>
          </a:prstGeom>
          <a:solidFill>
            <a:srgbClr val="C9C4B9"/>
          </a:solidFill>
          <a:ln/>
        </p:spPr>
      </p:sp>
      <p:sp>
        <p:nvSpPr>
          <p:cNvPr id="35" name="Text 33"/>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6" name="Shape 34"/>
          <p:cNvSpPr/>
          <p:nvPr/>
        </p:nvSpPr>
        <p:spPr>
          <a:xfrm>
            <a:off x="9931024" y="6473678"/>
            <a:ext cx="8321" cy="41788"/>
          </a:xfrm>
          <a:prstGeom prst="rect">
            <a:avLst/>
          </a:prstGeom>
          <a:solidFill>
            <a:srgbClr val="C9C4B9"/>
          </a:solidFill>
          <a:ln/>
        </p:spPr>
      </p:sp>
      <p:sp>
        <p:nvSpPr>
          <p:cNvPr id="37" name="Text 35"/>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8" name="Shape 36"/>
          <p:cNvSpPr/>
          <p:nvPr/>
        </p:nvSpPr>
        <p:spPr>
          <a:xfrm>
            <a:off x="11590477" y="6473678"/>
            <a:ext cx="8321" cy="41788"/>
          </a:xfrm>
          <a:prstGeom prst="rect">
            <a:avLst/>
          </a:prstGeom>
          <a:solidFill>
            <a:srgbClr val="C9C4B9"/>
          </a:solidFill>
          <a:ln/>
        </p:spPr>
      </p:sp>
      <p:sp>
        <p:nvSpPr>
          <p:cNvPr id="39" name="Text 37"/>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7439"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23</a:t>
            </a:r>
            <a:endParaRPr lang="en-US" sz="2545" dirty="0"/>
          </a:p>
        </p:txBody>
      </p:sp>
      <p:sp>
        <p:nvSpPr>
          <p:cNvPr id="3" name="Text 1"/>
          <p:cNvSpPr txBox="1"/>
          <p:nvPr/>
        </p:nvSpPr>
        <p:spPr>
          <a:xfrm rot="16200000">
            <a:off x="-338511" y="3428909"/>
            <a:ext cx="873984"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C5E2A"/>
                </a:solidFill>
                <a:latin typeface="Calibri" pitchFamily="34" charset="0"/>
                <a:ea typeface="Calibri" pitchFamily="34" charset="-122"/>
                <a:cs typeface="Calibri" pitchFamily="34" charset="-120"/>
              </a:rPr>
              <a:t>CLASSICAL DIP</a:t>
            </a:r>
            <a:endParaRPr lang="en-US" sz="694" dirty="0"/>
          </a:p>
        </p:txBody>
      </p:sp>
      <p:sp>
        <p:nvSpPr>
          <p:cNvPr id="4" name="Shape 2"/>
          <p:cNvSpPr/>
          <p:nvPr/>
        </p:nvSpPr>
        <p:spPr>
          <a:xfrm>
            <a:off x="1439540" y="433334"/>
            <a:ext cx="190927" cy="22037"/>
          </a:xfrm>
          <a:prstGeom prst="rect">
            <a:avLst/>
          </a:prstGeom>
          <a:solidFill>
            <a:srgbClr val="7C5E2A"/>
          </a:solidFill>
          <a:ln/>
        </p:spPr>
      </p:sp>
      <p:sp>
        <p:nvSpPr>
          <p:cNvPr id="5" name="Text 3"/>
          <p:cNvSpPr txBox="1"/>
          <p:nvPr/>
        </p:nvSpPr>
        <p:spPr>
          <a:xfrm>
            <a:off x="1718615" y="383865"/>
            <a:ext cx="1160008"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C5E2A"/>
                </a:solidFill>
                <a:latin typeface="Calibri" pitchFamily="34" charset="0"/>
                <a:ea typeface="Calibri" pitchFamily="34" charset="-122"/>
                <a:cs typeface="Calibri" pitchFamily="34" charset="-120"/>
              </a:rPr>
              <a:t>WNNM, PART 1 OF 2</a:t>
            </a:r>
            <a:endParaRPr lang="en-US" sz="781" dirty="0"/>
          </a:p>
        </p:txBody>
      </p:sp>
      <p:sp>
        <p:nvSpPr>
          <p:cNvPr id="6" name="Text 4"/>
          <p:cNvSpPr txBox="1"/>
          <p:nvPr/>
        </p:nvSpPr>
        <p:spPr>
          <a:xfrm>
            <a:off x="1439540" y="607070"/>
            <a:ext cx="981471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The classical peak: low-rank recovery on stacks of similar patches</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Gu, Zhang, Zuo and Feng, CVPR 2014. WNNM takes the same non-local grouping as BM3D but replaces transform shrinkage with low-rank matrix approximation — and then fixes the standard low-rank estimator so it respects the physics of denoising.</a:t>
            </a:r>
            <a:endParaRPr lang="en-US" sz="1157" dirty="0"/>
          </a:p>
        </p:txBody>
      </p:sp>
      <p:sp>
        <p:nvSpPr>
          <p:cNvPr id="8" name="Shape 6"/>
          <p:cNvSpPr/>
          <p:nvPr/>
        </p:nvSpPr>
        <p:spPr>
          <a:xfrm>
            <a:off x="1439540" y="1958553"/>
            <a:ext cx="10223358" cy="834481"/>
          </a:xfrm>
          <a:prstGeom prst="rect">
            <a:avLst/>
          </a:prstGeom>
          <a:solidFill>
            <a:srgbClr val="F1EEE8"/>
          </a:solidFill>
          <a:ln/>
        </p:spPr>
      </p:sp>
      <p:sp>
        <p:nvSpPr>
          <p:cNvPr id="9" name="Shape 7"/>
          <p:cNvSpPr/>
          <p:nvPr/>
        </p:nvSpPr>
        <p:spPr>
          <a:xfrm>
            <a:off x="1439540" y="1958553"/>
            <a:ext cx="29352" cy="834481"/>
          </a:xfrm>
          <a:prstGeom prst="rect">
            <a:avLst/>
          </a:prstGeom>
          <a:solidFill>
            <a:srgbClr val="7C5E2A"/>
          </a:solidFill>
          <a:ln/>
        </p:spPr>
      </p:sp>
      <p:pic>
        <p:nvPicPr>
          <p:cNvPr id="10" name="Image 0" descr="Y_{j} \;=\; X_{j} \;+\; N_{j}, \qquad X_{j}\ \text{low rank}">    </p:cNvPr>
          <p:cNvPicPr>
            <a:picLocks noChangeAspect="1"/>
          </p:cNvPicPr>
          <p:nvPr/>
        </p:nvPicPr>
        <p:blipFill>
          <a:blip r:embed="rId1"/>
          <a:stretch>
            <a:fillRect/>
          </a:stretch>
        </p:blipFill>
        <p:spPr>
          <a:xfrm>
            <a:off x="1645188" y="2083369"/>
            <a:ext cx="4475622" cy="348386"/>
          </a:xfrm>
          <a:prstGeom prst="rect">
            <a:avLst/>
          </a:prstGeom>
        </p:spPr>
      </p:pic>
      <p:sp>
        <p:nvSpPr>
          <p:cNvPr id="11" name="Text 8"/>
          <p:cNvSpPr txBox="1"/>
          <p:nvPr/>
        </p:nvSpPr>
        <p:spPr>
          <a:xfrm>
            <a:off x="1645188" y="2504542"/>
            <a:ext cx="4707971"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Yⱼ — a matrix whose columns are the nonlocal similar patches to patch j · Xⱼ — their clean counterpart</a:t>
            </a:r>
            <a:endParaRPr lang="en-US" sz="867" dirty="0"/>
          </a:p>
        </p:txBody>
      </p:sp>
      <p:sp>
        <p:nvSpPr>
          <p:cNvPr id="12" name="Shape 9"/>
          <p:cNvSpPr/>
          <p:nvPr/>
        </p:nvSpPr>
        <p:spPr>
          <a:xfrm>
            <a:off x="1439540" y="2903220"/>
            <a:ext cx="10223358" cy="1330909"/>
          </a:xfrm>
          <a:prstGeom prst="rect">
            <a:avLst/>
          </a:prstGeom>
          <a:solidFill>
            <a:srgbClr val="F1EEE8"/>
          </a:solidFill>
          <a:ln/>
        </p:spPr>
      </p:sp>
      <p:sp>
        <p:nvSpPr>
          <p:cNvPr id="13" name="Shape 10"/>
          <p:cNvSpPr/>
          <p:nvPr/>
        </p:nvSpPr>
        <p:spPr>
          <a:xfrm>
            <a:off x="1439540" y="2903220"/>
            <a:ext cx="29352" cy="1330909"/>
          </a:xfrm>
          <a:prstGeom prst="rect">
            <a:avLst/>
          </a:prstGeom>
          <a:solidFill>
            <a:srgbClr val="7C5E2A"/>
          </a:solidFill>
          <a:ln/>
        </p:spPr>
      </p:sp>
      <p:pic>
        <p:nvPicPr>
          <p:cNvPr id="14" name="Image 1" descr="\hat{X}_{j} \;=\; \arg\min_{X_{j}}\, \frac{1}{\sigma_{n}^{2}}\lVert Y_{j} - X_{j} \rVert_{F}^{2}\;+\; \lVert X_{j} \rVert_{w,*}, \qquad \lVert X \rVert_{w,*} \;=\; \sum_{i} w_{i}\,\sigma_{i}(X)">    </p:cNvPr>
          <p:cNvPicPr>
            <a:picLocks noChangeAspect="1"/>
          </p:cNvPicPr>
          <p:nvPr/>
        </p:nvPicPr>
        <p:blipFill>
          <a:blip r:embed="rId2"/>
          <a:stretch>
            <a:fillRect/>
          </a:stretch>
        </p:blipFill>
        <p:spPr>
          <a:xfrm>
            <a:off x="1645188" y="3028036"/>
            <a:ext cx="9293870" cy="844814"/>
          </a:xfrm>
          <a:prstGeom prst="rect">
            <a:avLst/>
          </a:prstGeom>
        </p:spPr>
      </p:pic>
      <p:sp>
        <p:nvSpPr>
          <p:cNvPr id="15" name="Text 11"/>
          <p:cNvSpPr txBox="1"/>
          <p:nvPr/>
        </p:nvSpPr>
        <p:spPr>
          <a:xfrm>
            <a:off x="1645188" y="3945636"/>
            <a:ext cx="8957920"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first term: Frobenius-norm data fidelity, normalised by the noise variance · second term: the weighted nuclear norm — a differently weighted sum of singular values, not an equally weighted one</a:t>
            </a:r>
            <a:endParaRPr lang="en-US" sz="867" dirty="0"/>
          </a:p>
        </p:txBody>
      </p:sp>
      <p:sp>
        <p:nvSpPr>
          <p:cNvPr id="16" name="Shape 12"/>
          <p:cNvSpPr/>
          <p:nvPr/>
        </p:nvSpPr>
        <p:spPr>
          <a:xfrm>
            <a:off x="1439540" y="4344314"/>
            <a:ext cx="10223358" cy="7315"/>
          </a:xfrm>
          <a:prstGeom prst="rect">
            <a:avLst/>
          </a:prstGeom>
          <a:solidFill>
            <a:srgbClr val="DFDBD2"/>
          </a:solidFill>
          <a:ln/>
        </p:spPr>
      </p:sp>
      <p:sp>
        <p:nvSpPr>
          <p:cNvPr id="17" name="Text 13"/>
          <p:cNvSpPr txBox="1"/>
          <p:nvPr/>
        </p:nvSpPr>
        <p:spPr>
          <a:xfrm>
            <a:off x="1439540" y="4476537"/>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8" name="Text 14"/>
          <p:cNvSpPr txBox="1"/>
          <p:nvPr/>
        </p:nvSpPr>
        <p:spPr>
          <a:xfrm>
            <a:off x="1747967" y="4466387"/>
            <a:ext cx="10006645"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setup.</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Stacking similar patches makes the matrix low rank, because the columns are near-copies. Low-rank recovery from a noisy matrix is a well-studied convex problem.</a:t>
            </a:r>
            <a:endParaRPr lang="en-US" sz="1070" dirty="0"/>
          </a:p>
        </p:txBody>
      </p:sp>
      <p:sp>
        <p:nvSpPr>
          <p:cNvPr id="19" name="Text 15"/>
          <p:cNvSpPr txBox="1"/>
          <p:nvPr/>
        </p:nvSpPr>
        <p:spPr>
          <a:xfrm>
            <a:off x="1439540" y="4797857"/>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20" name="Text 16"/>
          <p:cNvSpPr txBox="1"/>
          <p:nvPr/>
        </p:nvSpPr>
        <p:spPr>
          <a:xfrm>
            <a:off x="1747967" y="4787707"/>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defect WNNM fixes.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Standard nuclear-norm minimisation shrinks every singular value by the same λ. The paper argues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larger ones carry the major image components and should be shrunk less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a:t>
            </a:r>
            <a:endParaRPr lang="en-US" sz="1070" dirty="0"/>
          </a:p>
        </p:txBody>
      </p:sp>
      <p:sp>
        <p:nvSpPr>
          <p:cNvPr id="21" name="Text 17"/>
          <p:cNvSpPr txBox="1"/>
          <p:nvPr/>
        </p:nvSpPr>
        <p:spPr>
          <a:xfrm>
            <a:off x="1439540" y="5322997"/>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22" name="Text 18"/>
          <p:cNvSpPr txBox="1"/>
          <p:nvPr/>
        </p:nvSpPr>
        <p:spPr>
          <a:xfrm>
            <a:off x="1747967" y="5312847"/>
            <a:ext cx="8203905"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weighting rule: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wᵢ = c·√n ⁄ (σᵢ(Xⱼ) + ε), inversely proportional to the singular value — large components barely touched, small ones crushed.</a:t>
            </a:r>
            <a:endParaRPr lang="en-US" sz="1070" dirty="0"/>
          </a:p>
        </p:txBody>
      </p:sp>
      <p:sp>
        <p:nvSpPr>
          <p:cNvPr id="23" name="Text 19"/>
          <p:cNvSpPr txBox="1"/>
          <p:nvPr/>
        </p:nvSpPr>
        <p:spPr>
          <a:xfrm>
            <a:off x="1439540" y="5644317"/>
            <a:ext cx="139903"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04</a:t>
            </a:r>
            <a:endParaRPr lang="en-US" sz="694" dirty="0"/>
          </a:p>
        </p:txBody>
      </p:sp>
      <p:sp>
        <p:nvSpPr>
          <p:cNvPr id="24" name="Text 20"/>
          <p:cNvSpPr txBox="1"/>
          <p:nvPr/>
        </p:nvSpPr>
        <p:spPr>
          <a:xfrm>
            <a:off x="1747967" y="5634167"/>
            <a:ext cx="8619774"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circularity.</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weights need the unknown clean singular values; WNNM estimates them assuming noise energy spreads evenly across subspaces.</a:t>
            </a:r>
            <a:endParaRPr lang="en-US" sz="1070" dirty="0"/>
          </a:p>
        </p:txBody>
      </p:sp>
      <p:sp>
        <p:nvSpPr>
          <p:cNvPr id="25" name="Text 21"/>
          <p:cNvSpPr txBox="1"/>
          <p:nvPr/>
        </p:nvSpPr>
        <p:spPr>
          <a:xfrm>
            <a:off x="10593964" y="6274430"/>
            <a:ext cx="1068934"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WNNM14 §1, §3, Eq. 9–11</a:t>
            </a:r>
            <a:endParaRPr lang="en-US" sz="752" dirty="0"/>
          </a:p>
        </p:txBody>
      </p:sp>
      <p:sp>
        <p:nvSpPr>
          <p:cNvPr id="26" name="Shape 22"/>
          <p:cNvSpPr/>
          <p:nvPr/>
        </p:nvSpPr>
        <p:spPr>
          <a:xfrm>
            <a:off x="1439540" y="6556705"/>
            <a:ext cx="10223358" cy="7315"/>
          </a:xfrm>
          <a:prstGeom prst="rect">
            <a:avLst/>
          </a:prstGeom>
          <a:solidFill>
            <a:srgbClr val="C9C4B9"/>
          </a:solidFill>
          <a:ln/>
        </p:spPr>
      </p:sp>
      <p:sp>
        <p:nvSpPr>
          <p:cNvPr id="27" name="Shape 23"/>
          <p:cNvSpPr/>
          <p:nvPr/>
        </p:nvSpPr>
        <p:spPr>
          <a:xfrm>
            <a:off x="1439540" y="6545732"/>
            <a:ext cx="3975811" cy="29352"/>
          </a:xfrm>
          <a:prstGeom prst="rect">
            <a:avLst/>
          </a:prstGeom>
          <a:solidFill>
            <a:srgbClr val="7C5E2A"/>
          </a:solidFill>
          <a:ln/>
        </p:spPr>
      </p:sp>
      <p:sp>
        <p:nvSpPr>
          <p:cNvPr id="28" name="Shape 24"/>
          <p:cNvSpPr/>
          <p:nvPr/>
        </p:nvSpPr>
        <p:spPr>
          <a:xfrm>
            <a:off x="1439540" y="6519946"/>
            <a:ext cx="7315" cy="36759"/>
          </a:xfrm>
          <a:prstGeom prst="rect">
            <a:avLst/>
          </a:prstGeom>
          <a:solidFill>
            <a:srgbClr val="C9C4B9"/>
          </a:solidFill>
          <a:ln/>
        </p:spPr>
      </p:sp>
      <p:sp>
        <p:nvSpPr>
          <p:cNvPr id="29" name="Text 25"/>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0" name="Shape 26"/>
          <p:cNvSpPr/>
          <p:nvPr/>
        </p:nvSpPr>
        <p:spPr>
          <a:xfrm>
            <a:off x="5415351" y="6519946"/>
            <a:ext cx="7315" cy="36759"/>
          </a:xfrm>
          <a:prstGeom prst="rect">
            <a:avLst/>
          </a:prstGeom>
          <a:solidFill>
            <a:srgbClr val="C9C4B9"/>
          </a:solidFill>
          <a:ln/>
        </p:spPr>
      </p:sp>
      <p:sp>
        <p:nvSpPr>
          <p:cNvPr id="31" name="Text 27"/>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2" name="Shape 28"/>
          <p:cNvSpPr/>
          <p:nvPr/>
        </p:nvSpPr>
        <p:spPr>
          <a:xfrm>
            <a:off x="7119610" y="6519946"/>
            <a:ext cx="7315" cy="36759"/>
          </a:xfrm>
          <a:prstGeom prst="rect">
            <a:avLst/>
          </a:prstGeom>
          <a:solidFill>
            <a:srgbClr val="C9C4B9"/>
          </a:solidFill>
          <a:ln/>
        </p:spPr>
      </p:sp>
      <p:sp>
        <p:nvSpPr>
          <p:cNvPr id="33" name="Text 29"/>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4" name="Shape 30"/>
          <p:cNvSpPr/>
          <p:nvPr/>
        </p:nvSpPr>
        <p:spPr>
          <a:xfrm>
            <a:off x="9958639" y="6519946"/>
            <a:ext cx="7315" cy="36759"/>
          </a:xfrm>
          <a:prstGeom prst="rect">
            <a:avLst/>
          </a:prstGeom>
          <a:solidFill>
            <a:srgbClr val="C9C4B9"/>
          </a:solidFill>
          <a:ln/>
        </p:spPr>
      </p:sp>
      <p:sp>
        <p:nvSpPr>
          <p:cNvPr id="35" name="Text 31"/>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6" name="Shape 32"/>
          <p:cNvSpPr/>
          <p:nvPr/>
        </p:nvSpPr>
        <p:spPr>
          <a:xfrm>
            <a:off x="11662898" y="6519946"/>
            <a:ext cx="7315" cy="36759"/>
          </a:xfrm>
          <a:prstGeom prst="rect">
            <a:avLst/>
          </a:prstGeom>
          <a:solidFill>
            <a:srgbClr val="C9C4B9"/>
          </a:solidFill>
          <a:ln/>
        </p:spPr>
      </p:sp>
      <p:sp>
        <p:nvSpPr>
          <p:cNvPr id="37" name="Text 33"/>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2910"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24</a:t>
            </a:r>
            <a:endParaRPr lang="en-US" sz="2893" dirty="0"/>
          </a:p>
        </p:txBody>
      </p:sp>
      <p:sp>
        <p:nvSpPr>
          <p:cNvPr id="3" name="Text 1"/>
          <p:cNvSpPr txBox="1"/>
          <p:nvPr/>
        </p:nvSpPr>
        <p:spPr>
          <a:xfrm rot="16200000">
            <a:off x="-384871" y="3428909"/>
            <a:ext cx="99367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C5E2A"/>
                </a:solidFill>
                <a:latin typeface="Calibri" pitchFamily="34" charset="0"/>
                <a:ea typeface="Calibri" pitchFamily="34" charset="-122"/>
                <a:cs typeface="Calibri" pitchFamily="34" charset="-120"/>
              </a:rPr>
              <a:t>CLASSICAL DIP</a:t>
            </a:r>
            <a:endParaRPr lang="en-US" sz="789" dirty="0"/>
          </a:p>
        </p:txBody>
      </p:sp>
      <p:sp>
        <p:nvSpPr>
          <p:cNvPr id="4" name="Shape 2"/>
          <p:cNvSpPr/>
          <p:nvPr/>
        </p:nvSpPr>
        <p:spPr>
          <a:xfrm>
            <a:off x="1636685" y="492679"/>
            <a:ext cx="217079" cy="25055"/>
          </a:xfrm>
          <a:prstGeom prst="rect">
            <a:avLst/>
          </a:prstGeom>
          <a:solidFill>
            <a:srgbClr val="7C5E2A"/>
          </a:solidFill>
          <a:ln/>
        </p:spPr>
      </p:sp>
      <p:sp>
        <p:nvSpPr>
          <p:cNvPr id="5" name="Text 3"/>
          <p:cNvSpPr txBox="1"/>
          <p:nvPr/>
        </p:nvSpPr>
        <p:spPr>
          <a:xfrm>
            <a:off x="1953981" y="436443"/>
            <a:ext cx="1318931"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WNNM, PART 2 OF 2</a:t>
            </a:r>
            <a:endParaRPr lang="en-US" sz="888" dirty="0"/>
          </a:p>
        </p:txBody>
      </p:sp>
      <p:sp>
        <p:nvSpPr>
          <p:cNvPr id="6" name="Text 4"/>
          <p:cNvSpPr txBox="1"/>
          <p:nvPr/>
        </p:nvSpPr>
        <p:spPr>
          <a:xfrm>
            <a:off x="1636685" y="690281"/>
            <a:ext cx="10285811"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The theorem that makes it tractable, and the price it charges</a:t>
            </a:r>
            <a:endParaRPr lang="en-US" sz="3025" dirty="0"/>
          </a:p>
        </p:txBody>
      </p:sp>
      <p:sp>
        <p:nvSpPr>
          <p:cNvPr id="7" name="Text 5"/>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Weighting the nuclear norm destroys convexity in general. WNNM's contribution is a theorem identifying exactly when a closed-form solution survives, plus an iterative algorithm for when it does not.</a:t>
            </a:r>
            <a:endParaRPr lang="en-US" sz="1315" dirty="0"/>
          </a:p>
        </p:txBody>
      </p:sp>
      <p:sp>
        <p:nvSpPr>
          <p:cNvPr id="8" name="Shape 6"/>
          <p:cNvSpPr/>
          <p:nvPr/>
        </p:nvSpPr>
        <p:spPr>
          <a:xfrm>
            <a:off x="1636685" y="2226838"/>
            <a:ext cx="9953793" cy="8321"/>
          </a:xfrm>
          <a:prstGeom prst="rect">
            <a:avLst/>
          </a:prstGeom>
          <a:solidFill>
            <a:srgbClr val="DFDBD2"/>
          </a:solidFill>
          <a:ln/>
        </p:spPr>
      </p:sp>
      <p:sp>
        <p:nvSpPr>
          <p:cNvPr id="9" name="Text 7"/>
          <p:cNvSpPr txBox="1"/>
          <p:nvPr/>
        </p:nvSpPr>
        <p:spPr>
          <a:xfrm>
            <a:off x="1636685" y="2377166"/>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0" name="Text 8"/>
          <p:cNvSpPr txBox="1"/>
          <p:nvPr/>
        </p:nvSpPr>
        <p:spPr>
          <a:xfrm>
            <a:off x="1987448" y="2365644"/>
            <a:ext cx="9658167" cy="6952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Theorem 2 (WNNM).</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If the weights satisfy w₁ ≥ w₂ ≥ … ≥ w_n ≥ 0 — that is,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non-ascending</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order — the problem has a globally optimal solution obtained by generalised soft-thresholding of the singular values of Y with the weight vector w: X̂ = U S_w(Σ) Vᵀ. The classical singular value thresholding result of Cai et al. is recovered as the special case w₁ = … = w_n = λ.</a:t>
            </a:r>
            <a:endParaRPr lang="en-US" sz="1216" dirty="0"/>
          </a:p>
        </p:txBody>
      </p:sp>
      <p:sp>
        <p:nvSpPr>
          <p:cNvPr id="11" name="Text 9"/>
          <p:cNvSpPr txBox="1"/>
          <p:nvPr/>
        </p:nvSpPr>
        <p:spPr>
          <a:xfrm>
            <a:off x="1636685" y="3205886"/>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2" name="Text 10"/>
          <p:cNvSpPr txBox="1"/>
          <p:nvPr/>
        </p:nvSpPr>
        <p:spPr>
          <a:xfrm>
            <a:off x="1987448" y="3194456"/>
            <a:ext cx="9658167" cy="6952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catch for denoising.</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denoising weights are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non-descending</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(small singular values get large weights), which is the opposite ordering. The paper therefore proves a separate result: when weights are in non-descending order, an iterative algorithm reaches an analytical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fixed point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in one step, because soft-thresholding preserves the non-ascending order of the singular values, so the auxiliary permutation matrices stay at identity.</a:t>
            </a:r>
            <a:endParaRPr lang="en-US" sz="1216" dirty="0"/>
          </a:p>
        </p:txBody>
      </p:sp>
      <p:sp>
        <p:nvSpPr>
          <p:cNvPr id="13" name="Text 11"/>
          <p:cNvSpPr txBox="1"/>
          <p:nvPr/>
        </p:nvSpPr>
        <p:spPr>
          <a:xfrm>
            <a:off x="1636685" y="4034699"/>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14" name="Text 12"/>
          <p:cNvSpPr txBox="1"/>
          <p:nvPr/>
        </p:nvSpPr>
        <p:spPr>
          <a:xfrm>
            <a:off x="1987448" y="4023269"/>
            <a:ext cx="9658167" cy="480151"/>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Result.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WNNM leads to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visible PSNR improvements over state-of-the-art methods such as BM3D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and preserves local structure with fewer visual artefacts. On BSD68 it scores 31.37 / 28.83 / 25.87 dB at σ = 15 / 25 / 50, beating BM3D at every level. </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[1]</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[2]</a:t>
            </a:r>
            <a:endParaRPr lang="en-US" sz="1216" dirty="0"/>
          </a:p>
        </p:txBody>
      </p:sp>
      <p:sp>
        <p:nvSpPr>
          <p:cNvPr id="15" name="Text 13"/>
          <p:cNvSpPr txBox="1"/>
          <p:nvPr/>
        </p:nvSpPr>
        <p:spPr>
          <a:xfrm>
            <a:off x="1636685" y="4631802"/>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16" name="Text 14"/>
          <p:cNvSpPr txBox="1"/>
          <p:nvPr/>
        </p:nvSpPr>
        <p:spPr>
          <a:xfrm>
            <a:off x="1987448" y="4620280"/>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price, and it is enormous.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WNNM requires an SVD of every patch group, iterated, per image. Measured in the DnCNN paper's own comparison: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773.2 seconds for a single 512×512 image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and 2 536 seconds at 1024×1024 — against BM3D's 2.85 s and 12.89 s. </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[2]</a:t>
            </a:r>
            <a:endParaRPr lang="en-US" sz="1216" dirty="0"/>
          </a:p>
        </p:txBody>
      </p:sp>
      <p:sp>
        <p:nvSpPr>
          <p:cNvPr id="17" name="Text 15"/>
          <p:cNvSpPr txBox="1"/>
          <p:nvPr/>
        </p:nvSpPr>
        <p:spPr>
          <a:xfrm>
            <a:off x="1636685" y="5228814"/>
            <a:ext cx="15563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05</a:t>
            </a:r>
            <a:endParaRPr lang="en-US" sz="789" dirty="0"/>
          </a:p>
        </p:txBody>
      </p:sp>
      <p:sp>
        <p:nvSpPr>
          <p:cNvPr id="18" name="Text 16"/>
          <p:cNvSpPr txBox="1"/>
          <p:nvPr/>
        </p:nvSpPr>
        <p:spPr>
          <a:xfrm>
            <a:off x="1987448" y="5217384"/>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Effective patch size 361 × 361.</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WNNM consults a region more than ten times wider than DnCNN's 35×35 receptive field. Hold on to that number — it reappears on slide 55 and it is the reason WNNM still wins on Barbara.</a:t>
            </a:r>
            <a:endParaRPr lang="en-US" sz="1216" dirty="0"/>
          </a:p>
        </p:txBody>
      </p:sp>
      <p:sp>
        <p:nvSpPr>
          <p:cNvPr id="19" name="Text 17"/>
          <p:cNvSpPr txBox="1"/>
          <p:nvPr/>
        </p:nvSpPr>
        <p:spPr>
          <a:xfrm>
            <a:off x="7962504" y="6207039"/>
            <a:ext cx="3627973"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WNNM14 Theorem 2, §2.3, abstract 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Table I, Table II, Table IV</a:t>
            </a:r>
            <a:endParaRPr lang="en-US" sz="633" dirty="0"/>
          </a:p>
        </p:txBody>
      </p:sp>
      <p:sp>
        <p:nvSpPr>
          <p:cNvPr id="20" name="Shape 18"/>
          <p:cNvSpPr/>
          <p:nvPr/>
        </p:nvSpPr>
        <p:spPr>
          <a:xfrm>
            <a:off x="1636685" y="6515466"/>
            <a:ext cx="9953793" cy="8321"/>
          </a:xfrm>
          <a:prstGeom prst="rect">
            <a:avLst/>
          </a:prstGeom>
          <a:solidFill>
            <a:srgbClr val="C9C4B9"/>
          </a:solidFill>
          <a:ln/>
        </p:spPr>
      </p:sp>
      <p:sp>
        <p:nvSpPr>
          <p:cNvPr id="21" name="Shape 19"/>
          <p:cNvSpPr/>
          <p:nvPr/>
        </p:nvSpPr>
        <p:spPr>
          <a:xfrm>
            <a:off x="1636685" y="6502938"/>
            <a:ext cx="3870930" cy="33376"/>
          </a:xfrm>
          <a:prstGeom prst="rect">
            <a:avLst/>
          </a:prstGeom>
          <a:solidFill>
            <a:srgbClr val="7C5E2A"/>
          </a:solidFill>
          <a:ln/>
        </p:spPr>
      </p:sp>
      <p:sp>
        <p:nvSpPr>
          <p:cNvPr id="22" name="Shape 20"/>
          <p:cNvSpPr/>
          <p:nvPr/>
        </p:nvSpPr>
        <p:spPr>
          <a:xfrm>
            <a:off x="1636685" y="6473678"/>
            <a:ext cx="8321" cy="41788"/>
          </a:xfrm>
          <a:prstGeom prst="rect">
            <a:avLst/>
          </a:prstGeom>
          <a:solidFill>
            <a:srgbClr val="C9C4B9"/>
          </a:solidFill>
          <a:ln/>
        </p:spPr>
      </p:sp>
      <p:sp>
        <p:nvSpPr>
          <p:cNvPr id="23" name="Text 21"/>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4" name="Shape 22"/>
          <p:cNvSpPr/>
          <p:nvPr/>
        </p:nvSpPr>
        <p:spPr>
          <a:xfrm>
            <a:off x="5507706" y="6473678"/>
            <a:ext cx="8321" cy="41788"/>
          </a:xfrm>
          <a:prstGeom prst="rect">
            <a:avLst/>
          </a:prstGeom>
          <a:solidFill>
            <a:srgbClr val="C9C4B9"/>
          </a:solidFill>
          <a:ln/>
        </p:spPr>
      </p:sp>
      <p:sp>
        <p:nvSpPr>
          <p:cNvPr id="25" name="Text 23"/>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6" name="Shape 24"/>
          <p:cNvSpPr/>
          <p:nvPr/>
        </p:nvSpPr>
        <p:spPr>
          <a:xfrm>
            <a:off x="7166884" y="6473678"/>
            <a:ext cx="8321" cy="41788"/>
          </a:xfrm>
          <a:prstGeom prst="rect">
            <a:avLst/>
          </a:prstGeom>
          <a:solidFill>
            <a:srgbClr val="C9C4B9"/>
          </a:solidFill>
          <a:ln/>
        </p:spPr>
      </p:sp>
      <p:sp>
        <p:nvSpPr>
          <p:cNvPr id="27" name="Text 25"/>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8" name="Shape 26"/>
          <p:cNvSpPr/>
          <p:nvPr/>
        </p:nvSpPr>
        <p:spPr>
          <a:xfrm>
            <a:off x="9931024" y="6473678"/>
            <a:ext cx="8321" cy="41788"/>
          </a:xfrm>
          <a:prstGeom prst="rect">
            <a:avLst/>
          </a:prstGeom>
          <a:solidFill>
            <a:srgbClr val="C9C4B9"/>
          </a:solidFill>
          <a:ln/>
        </p:spPr>
      </p:sp>
      <p:sp>
        <p:nvSpPr>
          <p:cNvPr id="29" name="Text 27"/>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0" name="Shape 28"/>
          <p:cNvSpPr/>
          <p:nvPr/>
        </p:nvSpPr>
        <p:spPr>
          <a:xfrm>
            <a:off x="11590477" y="6473678"/>
            <a:ext cx="8321" cy="41788"/>
          </a:xfrm>
          <a:prstGeom prst="rect">
            <a:avLst/>
          </a:prstGeom>
          <a:solidFill>
            <a:srgbClr val="C9C4B9"/>
          </a:solidFill>
          <a:ln/>
        </p:spPr>
      </p:sp>
      <p:sp>
        <p:nvSpPr>
          <p:cNvPr id="31" name="Text 29"/>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0840"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25</a:t>
            </a:r>
            <a:endParaRPr lang="en-US" sz="2893" dirty="0"/>
          </a:p>
        </p:txBody>
      </p:sp>
      <p:sp>
        <p:nvSpPr>
          <p:cNvPr id="3" name="Text 1"/>
          <p:cNvSpPr txBox="1"/>
          <p:nvPr/>
        </p:nvSpPr>
        <p:spPr>
          <a:xfrm rot="16200000">
            <a:off x="-384871" y="3428909"/>
            <a:ext cx="99367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C5E2A"/>
                </a:solidFill>
                <a:latin typeface="Calibri" pitchFamily="34" charset="0"/>
                <a:ea typeface="Calibri" pitchFamily="34" charset="-122"/>
                <a:cs typeface="Calibri" pitchFamily="34" charset="-120"/>
              </a:rPr>
              <a:t>CLASSICAL DIP</a:t>
            </a:r>
            <a:endParaRPr lang="en-US" sz="789" dirty="0"/>
          </a:p>
        </p:txBody>
      </p:sp>
      <p:sp>
        <p:nvSpPr>
          <p:cNvPr id="4" name="Shape 2"/>
          <p:cNvSpPr/>
          <p:nvPr/>
        </p:nvSpPr>
        <p:spPr>
          <a:xfrm>
            <a:off x="1636685" y="492679"/>
            <a:ext cx="217079" cy="25055"/>
          </a:xfrm>
          <a:prstGeom prst="rect">
            <a:avLst/>
          </a:prstGeom>
          <a:solidFill>
            <a:srgbClr val="7C5E2A"/>
          </a:solidFill>
          <a:ln/>
        </p:spPr>
      </p:sp>
      <p:sp>
        <p:nvSpPr>
          <p:cNvPr id="5" name="Text 3"/>
          <p:cNvSpPr txBox="1"/>
          <p:nvPr/>
        </p:nvSpPr>
        <p:spPr>
          <a:xfrm>
            <a:off x="1953981" y="436443"/>
            <a:ext cx="1863364"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C5E2A"/>
                </a:solidFill>
                <a:latin typeface="Calibri" pitchFamily="34" charset="0"/>
                <a:ea typeface="Calibri" pitchFamily="34" charset="-122"/>
                <a:cs typeface="Calibri" pitchFamily="34" charset="-120"/>
              </a:rPr>
              <a:t>THE CLASSICAL SCOREBOARD</a:t>
            </a:r>
            <a:endParaRPr lang="en-US" sz="888" dirty="0"/>
          </a:p>
        </p:txBody>
      </p:sp>
      <p:sp>
        <p:nvSpPr>
          <p:cNvPr id="6" name="Text 4"/>
          <p:cNvSpPr txBox="1"/>
          <p:nvPr/>
        </p:nvSpPr>
        <p:spPr>
          <a:xfrm>
            <a:off x="1636685" y="690281"/>
            <a:ext cx="8638245"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Where nine years of hand-designed priors finished</a:t>
            </a:r>
            <a:endParaRPr lang="en-US" sz="3025" dirty="0"/>
          </a:p>
        </p:txBody>
      </p:sp>
      <p:sp>
        <p:nvSpPr>
          <p:cNvPr id="7" name="Text 5"/>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All figures below are reproduced from Table II and Table IV of the DnCNN paper, which benchmarked every classical competitor under one protocol on one dataset. Reading them across a single row is the fairest available comparison of the era.</a:t>
            </a:r>
            <a:endParaRPr lang="en-US" sz="1315"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1636685" y="2226838"/>
          <a:ext cx="9144000" cy="914400"/>
        </p:xfrm>
        <a:graphic>
          <a:graphicData uri="http://schemas.openxmlformats.org/drawingml/2006/table">
            <a:tbl>
              <a:tblPr/>
              <a:tblGrid>
                <a:gridCol w="1085576"/>
                <a:gridCol w="772394"/>
                <a:gridCol w="2943545"/>
                <a:gridCol w="1348557"/>
                <a:gridCol w="835030"/>
                <a:gridCol w="835030"/>
                <a:gridCol w="2133570"/>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YEAR</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PRIOR Φ</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BSD68 Σ=15</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c>
                  <a:txBody>
                    <a:bodyPr/>
                    <a:lstStyle/>
                    <a:p>
                      <a:pPr algn="r"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Σ=25</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c>
                  <a:txBody>
                    <a:bodyPr/>
                    <a:lstStyle/>
                    <a:p>
                      <a:pPr algn="r"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Σ=50</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c>
                  <a:txBody>
                    <a:bodyPr/>
                    <a:lstStyle/>
                    <a:p>
                      <a:pPr algn="r"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512² RUNTIME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C5E2A"/>
                      </a:solidFill>
                      <a:prstDash val="solid"/>
                      <a:round/>
                      <a:headEnd type="none" w="med" len="med"/>
                      <a:tailEnd type="none" w="med" len="med"/>
                    </a:lnB>
                  </a:tcPr>
                </a:tc>
              </a:tr>
              <a:tr h="346558">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2007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NSS + 3-D transform sparsity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31.07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28.57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25.62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2.85 s CPU</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EPLL</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2011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Gaussian mixture patch prior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31.21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28.68</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25.67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45.5 s CPU</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CSF</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2014</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Unrolled field of experts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31.24</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28.74</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5.67 s / 0.92 s GPU</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WNNM</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2014</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NSS + weighted low rank</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31.37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c>
                  <a:txBody>
                    <a:bodyPr/>
                    <a:lstStyle/>
                    <a:p>
                      <a:pPr algn="r"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28.83</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c>
                  <a:txBody>
                    <a:bodyPr/>
                    <a:lstStyle/>
                    <a:p>
                      <a:pPr algn="r"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25.87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c>
                  <a:txBody>
                    <a:bodyPr/>
                    <a:lstStyle/>
                    <a:p>
                      <a:pPr algn="r"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773.2 s CPU</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DE6"/>
                    </a:solidFill>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MLP</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2012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learned (plain network)</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28.96</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26.03</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5.51 s CPU</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TNRD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2016</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Unrolled reaction–diffusion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31.42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28.92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25.97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1.33 s / 0.032 s GPU</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636685" y="4798771"/>
            <a:ext cx="9953793" cy="16734"/>
          </a:xfrm>
          <a:prstGeom prst="rect">
            <a:avLst/>
          </a:prstGeom>
          <a:solidFill>
            <a:srgbClr val="7C5E2A"/>
          </a:solidFill>
          <a:ln/>
        </p:spPr>
      </p:sp>
      <p:sp>
        <p:nvSpPr>
          <p:cNvPr id="10" name="Text 7"/>
          <p:cNvSpPr txBox="1"/>
          <p:nvPr/>
        </p:nvSpPr>
        <p:spPr>
          <a:xfrm>
            <a:off x="1636685" y="4946995"/>
            <a:ext cx="10010303" cy="425836"/>
          </a:xfrm>
          <a:prstGeom prst="rect">
            <a:avLst/>
          </a:prstGeom>
          <a:noFill/>
          <a:ln/>
        </p:spPr>
        <p:txBody>
          <a:bodyPr wrap="square" lIns="0" tIns="0" rIns="0" bIns="0" rtlCol="0" anchor="t"/>
          <a:lstStyle/>
          <a:p>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Two readings. (a) Nine years of work moved BSD68 σ=25 from 28.57 to 28.83 —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0.26 dB</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(b) The best classical method is 271× slower than the second best. The era had hit a wall in both quality and cost simultaneously.</a:t>
            </a:r>
            <a:endParaRPr lang="en-US" sz="1118" dirty="0"/>
          </a:p>
        </p:txBody>
      </p:sp>
      <p:sp>
        <p:nvSpPr>
          <p:cNvPr id="11" name="Text 8"/>
          <p:cNvSpPr txBox="1"/>
          <p:nvPr/>
        </p:nvSpPr>
        <p:spPr>
          <a:xfrm>
            <a:off x="9128547" y="6194511"/>
            <a:ext cx="2461931"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DnCNN17 Table II and Table IV — all values as printed</a:t>
            </a:r>
            <a:endParaRPr lang="en-US" sz="855" dirty="0"/>
          </a:p>
        </p:txBody>
      </p:sp>
      <p:sp>
        <p:nvSpPr>
          <p:cNvPr id="12" name="Shape 9"/>
          <p:cNvSpPr/>
          <p:nvPr/>
        </p:nvSpPr>
        <p:spPr>
          <a:xfrm>
            <a:off x="1636685" y="6515466"/>
            <a:ext cx="9953793" cy="8321"/>
          </a:xfrm>
          <a:prstGeom prst="rect">
            <a:avLst/>
          </a:prstGeom>
          <a:solidFill>
            <a:srgbClr val="C9C4B9"/>
          </a:solidFill>
          <a:ln/>
        </p:spPr>
      </p:sp>
      <p:sp>
        <p:nvSpPr>
          <p:cNvPr id="13" name="Shape 10"/>
          <p:cNvSpPr/>
          <p:nvPr/>
        </p:nvSpPr>
        <p:spPr>
          <a:xfrm>
            <a:off x="1636685" y="6502938"/>
            <a:ext cx="3870930" cy="33376"/>
          </a:xfrm>
          <a:prstGeom prst="rect">
            <a:avLst/>
          </a:prstGeom>
          <a:solidFill>
            <a:srgbClr val="7C5E2A"/>
          </a:solidFill>
          <a:ln/>
        </p:spPr>
      </p:sp>
      <p:sp>
        <p:nvSpPr>
          <p:cNvPr id="14" name="Shape 11"/>
          <p:cNvSpPr/>
          <p:nvPr/>
        </p:nvSpPr>
        <p:spPr>
          <a:xfrm>
            <a:off x="1636685" y="6473678"/>
            <a:ext cx="8321" cy="41788"/>
          </a:xfrm>
          <a:prstGeom prst="rect">
            <a:avLst/>
          </a:prstGeom>
          <a:solidFill>
            <a:srgbClr val="C9C4B9"/>
          </a:solidFill>
          <a:ln/>
        </p:spPr>
      </p:sp>
      <p:sp>
        <p:nvSpPr>
          <p:cNvPr id="15" name="Text 12"/>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6" name="Shape 13"/>
          <p:cNvSpPr/>
          <p:nvPr/>
        </p:nvSpPr>
        <p:spPr>
          <a:xfrm>
            <a:off x="5507706" y="6473678"/>
            <a:ext cx="8321" cy="41788"/>
          </a:xfrm>
          <a:prstGeom prst="rect">
            <a:avLst/>
          </a:prstGeom>
          <a:solidFill>
            <a:srgbClr val="C9C4B9"/>
          </a:solidFill>
          <a:ln/>
        </p:spPr>
      </p:sp>
      <p:sp>
        <p:nvSpPr>
          <p:cNvPr id="17" name="Text 14"/>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8" name="Shape 15"/>
          <p:cNvSpPr/>
          <p:nvPr/>
        </p:nvSpPr>
        <p:spPr>
          <a:xfrm>
            <a:off x="7166884" y="6473678"/>
            <a:ext cx="8321" cy="41788"/>
          </a:xfrm>
          <a:prstGeom prst="rect">
            <a:avLst/>
          </a:prstGeom>
          <a:solidFill>
            <a:srgbClr val="C9C4B9"/>
          </a:solidFill>
          <a:ln/>
        </p:spPr>
      </p:sp>
      <p:sp>
        <p:nvSpPr>
          <p:cNvPr id="19" name="Text 16"/>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0" name="Shape 17"/>
          <p:cNvSpPr/>
          <p:nvPr/>
        </p:nvSpPr>
        <p:spPr>
          <a:xfrm>
            <a:off x="9931024" y="6473678"/>
            <a:ext cx="8321" cy="41788"/>
          </a:xfrm>
          <a:prstGeom prst="rect">
            <a:avLst/>
          </a:prstGeom>
          <a:solidFill>
            <a:srgbClr val="C9C4B9"/>
          </a:solidFill>
          <a:ln/>
        </p:spPr>
      </p:sp>
      <p:sp>
        <p:nvSpPr>
          <p:cNvPr id="21" name="Text 18"/>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2" name="Shape 19"/>
          <p:cNvSpPr/>
          <p:nvPr/>
        </p:nvSpPr>
        <p:spPr>
          <a:xfrm>
            <a:off x="11590477" y="6473678"/>
            <a:ext cx="8321" cy="41788"/>
          </a:xfrm>
          <a:prstGeom prst="rect">
            <a:avLst/>
          </a:prstGeom>
          <a:solidFill>
            <a:srgbClr val="C9C4B9"/>
          </a:solidFill>
          <a:ln/>
        </p:spPr>
      </p:sp>
      <p:sp>
        <p:nvSpPr>
          <p:cNvPr id="23" name="Text 20"/>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67132"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26</a:t>
            </a:r>
            <a:endParaRPr lang="en-US" sz="2545" dirty="0"/>
          </a:p>
        </p:txBody>
      </p:sp>
      <p:sp>
        <p:nvSpPr>
          <p:cNvPr id="3" name="Text 1"/>
          <p:cNvSpPr txBox="1"/>
          <p:nvPr/>
        </p:nvSpPr>
        <p:spPr>
          <a:xfrm rot="16200000">
            <a:off x="-338511" y="3428909"/>
            <a:ext cx="873984"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C5E2A"/>
                </a:solidFill>
                <a:latin typeface="Calibri" pitchFamily="34" charset="0"/>
                <a:ea typeface="Calibri" pitchFamily="34" charset="-122"/>
                <a:cs typeface="Calibri" pitchFamily="34" charset="-120"/>
              </a:rPr>
              <a:t>CLASSICAL DIP</a:t>
            </a:r>
            <a:endParaRPr lang="en-US" sz="694" dirty="0"/>
          </a:p>
        </p:txBody>
      </p:sp>
      <p:sp>
        <p:nvSpPr>
          <p:cNvPr id="4" name="Shape 2"/>
          <p:cNvSpPr/>
          <p:nvPr/>
        </p:nvSpPr>
        <p:spPr>
          <a:xfrm>
            <a:off x="1439540" y="439278"/>
            <a:ext cx="190927" cy="22037"/>
          </a:xfrm>
          <a:prstGeom prst="rect">
            <a:avLst/>
          </a:prstGeom>
          <a:solidFill>
            <a:srgbClr val="7C5E2A"/>
          </a:solidFill>
          <a:ln/>
        </p:spPr>
      </p:sp>
      <p:sp>
        <p:nvSpPr>
          <p:cNvPr id="5" name="Text 3"/>
          <p:cNvSpPr txBox="1"/>
          <p:nvPr/>
        </p:nvSpPr>
        <p:spPr>
          <a:xfrm>
            <a:off x="1718615" y="389809"/>
            <a:ext cx="833384"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C5E2A"/>
                </a:solidFill>
                <a:latin typeface="Calibri" pitchFamily="34" charset="0"/>
                <a:ea typeface="Calibri" pitchFamily="34" charset="-122"/>
                <a:cs typeface="Calibri" pitchFamily="34" charset="-120"/>
              </a:rPr>
              <a:t>BOTTLENECK 1</a:t>
            </a:r>
            <a:endParaRPr lang="en-US" sz="781" dirty="0"/>
          </a:p>
        </p:txBody>
      </p:sp>
      <p:sp>
        <p:nvSpPr>
          <p:cNvPr id="6" name="Text 4"/>
          <p:cNvSpPr txBox="1"/>
          <p:nvPr/>
        </p:nvSpPr>
        <p:spPr>
          <a:xfrm>
            <a:off x="1439540" y="868863"/>
            <a:ext cx="9361079"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Why the field had to leave — in the words of the paper that left</a:t>
            </a:r>
            <a:endParaRPr lang="en-US" sz="2660" dirty="0"/>
          </a:p>
        </p:txBody>
      </p:sp>
      <p:sp>
        <p:nvSpPr>
          <p:cNvPr id="7" name="Text 5"/>
          <p:cNvSpPr txBox="1"/>
          <p:nvPr/>
        </p:nvSpPr>
        <p:spPr>
          <a:xfrm>
            <a:off x="1439540" y="1615379"/>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DnCNN's introduction names the classical era's drawbacks precisely. Quoting the paper that broke a bottleneck, rather than asserting the bottleneck ourselves, is what makes this timeline evidenced rather than imposed.</a:t>
            </a:r>
            <a:endParaRPr lang="en-US" sz="1157" dirty="0"/>
          </a:p>
        </p:txBody>
      </p:sp>
      <p:sp>
        <p:nvSpPr>
          <p:cNvPr id="8" name="Shape 6"/>
          <p:cNvSpPr/>
          <p:nvPr/>
        </p:nvSpPr>
        <p:spPr>
          <a:xfrm>
            <a:off x="1439540" y="2743840"/>
            <a:ext cx="4950104" cy="14722"/>
          </a:xfrm>
          <a:prstGeom prst="rect">
            <a:avLst/>
          </a:prstGeom>
          <a:solidFill>
            <a:srgbClr val="7C5E2A"/>
          </a:solidFill>
          <a:ln/>
        </p:spPr>
      </p:sp>
      <p:sp>
        <p:nvSpPr>
          <p:cNvPr id="9" name="Text 7"/>
          <p:cNvSpPr txBox="1"/>
          <p:nvPr/>
        </p:nvSpPr>
        <p:spPr>
          <a:xfrm>
            <a:off x="1439540" y="2875879"/>
            <a:ext cx="648858"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7C5E2A"/>
                </a:solidFill>
                <a:latin typeface="Calibri" pitchFamily="34" charset="0"/>
                <a:ea typeface="Calibri" pitchFamily="34" charset="-122"/>
                <a:cs typeface="Calibri" pitchFamily="34" charset="-120"/>
              </a:rPr>
              <a:t>DRAWBACK 1</a:t>
            </a:r>
            <a:endParaRPr lang="en-US" sz="665" dirty="0"/>
          </a:p>
        </p:txBody>
      </p:sp>
      <p:sp>
        <p:nvSpPr>
          <p:cNvPr id="10" name="Text 8"/>
          <p:cNvSpPr txBox="1"/>
          <p:nvPr/>
        </p:nvSpPr>
        <p:spPr>
          <a:xfrm>
            <a:off x="1439540" y="3045043"/>
            <a:ext cx="1658356"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Test-time optimisation</a:t>
            </a:r>
            <a:endParaRPr lang="en-US" sz="1272" dirty="0"/>
          </a:p>
        </p:txBody>
      </p:sp>
      <p:sp>
        <p:nvSpPr>
          <p:cNvPr id="11" name="Text 9"/>
          <p:cNvSpPr txBox="1"/>
          <p:nvPr/>
        </p:nvSpPr>
        <p:spPr>
          <a:xfrm>
            <a:off x="1439540" y="3334451"/>
            <a:ext cx="4984577" cy="567294"/>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Prior-based methods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involve a complex optimization problem in the testing stage</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making the denoising process time-consuming. Every image restarts from nothing; nothing learned on image 1 helps image 2. </a:t>
            </a:r>
            <a:pPr algn="l" indent="0" marL="0">
              <a:lnSpc>
                <a:spcPts val="1450"/>
              </a:lnSpc>
              <a:buNone/>
            </a:pPr>
            <a:r>
              <a:rPr kern="0" lang="en-US" sz="859" dirty="0">
                <a:solidFill>
                  <a:srgbClr val="145A66"/>
                </a:solidFill>
                <a:latin typeface="Consolas" pitchFamily="34" charset="0"/>
                <a:ea typeface="Consolas" pitchFamily="34" charset="-122"/>
                <a:cs typeface="Consolas" pitchFamily="34" charset="-120"/>
              </a:rPr>
              <a:t>[DnCNN17 §I]</a:t>
            </a:r>
            <a:endParaRPr lang="en-US" sz="954" dirty="0"/>
          </a:p>
        </p:txBody>
      </p:sp>
      <p:sp>
        <p:nvSpPr>
          <p:cNvPr id="12" name="Shape 10"/>
          <p:cNvSpPr/>
          <p:nvPr/>
        </p:nvSpPr>
        <p:spPr>
          <a:xfrm>
            <a:off x="6712793" y="2743840"/>
            <a:ext cx="4950104" cy="14722"/>
          </a:xfrm>
          <a:prstGeom prst="rect">
            <a:avLst/>
          </a:prstGeom>
          <a:solidFill>
            <a:srgbClr val="7C5E2A"/>
          </a:solidFill>
          <a:ln/>
        </p:spPr>
      </p:sp>
      <p:sp>
        <p:nvSpPr>
          <p:cNvPr id="13" name="Text 11"/>
          <p:cNvSpPr txBox="1"/>
          <p:nvPr/>
        </p:nvSpPr>
        <p:spPr>
          <a:xfrm>
            <a:off x="6712793" y="2875879"/>
            <a:ext cx="648858"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7C5E2A"/>
                </a:solidFill>
                <a:latin typeface="Calibri" pitchFamily="34" charset="0"/>
                <a:ea typeface="Calibri" pitchFamily="34" charset="-122"/>
                <a:cs typeface="Calibri" pitchFamily="34" charset="-120"/>
              </a:rPr>
              <a:t>DRAWBACK 2</a:t>
            </a:r>
            <a:endParaRPr lang="en-US" sz="665" dirty="0"/>
          </a:p>
        </p:txBody>
      </p:sp>
      <p:sp>
        <p:nvSpPr>
          <p:cNvPr id="14" name="Text 12"/>
          <p:cNvSpPr txBox="1"/>
          <p:nvPr/>
        </p:nvSpPr>
        <p:spPr>
          <a:xfrm>
            <a:off x="6712793" y="3045043"/>
            <a:ext cx="1780428"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Non-convex, hand-tuned</a:t>
            </a:r>
            <a:endParaRPr lang="en-US" sz="1272" dirty="0"/>
          </a:p>
        </p:txBody>
      </p:sp>
      <p:sp>
        <p:nvSpPr>
          <p:cNvPr id="15" name="Text 13"/>
          <p:cNvSpPr txBox="1"/>
          <p:nvPr/>
        </p:nvSpPr>
        <p:spPr>
          <a:xfrm>
            <a:off x="6712793" y="3334451"/>
            <a:ext cx="4984577" cy="567294"/>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The models are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generally non-convex and involve several manually chosen parameters</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Reproducibility and deployment both suffer: the quality you get depends on constants a human picked. </a:t>
            </a:r>
            <a:pPr algn="l" indent="0" marL="0">
              <a:lnSpc>
                <a:spcPts val="1450"/>
              </a:lnSpc>
              <a:buNone/>
            </a:pPr>
            <a:r>
              <a:rPr kern="0" lang="en-US" sz="859" dirty="0">
                <a:solidFill>
                  <a:srgbClr val="145A66"/>
                </a:solidFill>
                <a:latin typeface="Consolas" pitchFamily="34" charset="0"/>
                <a:ea typeface="Consolas" pitchFamily="34" charset="-122"/>
                <a:cs typeface="Consolas" pitchFamily="34" charset="-120"/>
              </a:rPr>
              <a:t>[DnCNN17 §I]</a:t>
            </a:r>
            <a:endParaRPr lang="en-US" sz="954" dirty="0"/>
          </a:p>
        </p:txBody>
      </p:sp>
      <p:sp>
        <p:nvSpPr>
          <p:cNvPr id="16" name="Shape 14"/>
          <p:cNvSpPr/>
          <p:nvPr/>
        </p:nvSpPr>
        <p:spPr>
          <a:xfrm>
            <a:off x="1439540" y="4150279"/>
            <a:ext cx="4950104" cy="14722"/>
          </a:xfrm>
          <a:prstGeom prst="rect">
            <a:avLst/>
          </a:prstGeom>
          <a:solidFill>
            <a:srgbClr val="7C5E2A"/>
          </a:solidFill>
          <a:ln/>
        </p:spPr>
      </p:sp>
      <p:sp>
        <p:nvSpPr>
          <p:cNvPr id="17" name="Text 15"/>
          <p:cNvSpPr txBox="1"/>
          <p:nvPr/>
        </p:nvSpPr>
        <p:spPr>
          <a:xfrm>
            <a:off x="1439540" y="4282318"/>
            <a:ext cx="648858"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7C5E2A"/>
                </a:solidFill>
                <a:latin typeface="Calibri" pitchFamily="34" charset="0"/>
                <a:ea typeface="Calibri" pitchFamily="34" charset="-122"/>
                <a:cs typeface="Calibri" pitchFamily="34" charset="-120"/>
              </a:rPr>
              <a:t>DRAWBACK 3</a:t>
            </a:r>
            <a:endParaRPr lang="en-US" sz="665" dirty="0"/>
          </a:p>
        </p:txBody>
      </p:sp>
      <p:sp>
        <p:nvSpPr>
          <p:cNvPr id="18" name="Text 16"/>
          <p:cNvSpPr txBox="1"/>
          <p:nvPr/>
        </p:nvSpPr>
        <p:spPr>
          <a:xfrm>
            <a:off x="1439540" y="4451574"/>
            <a:ext cx="2387407"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The prior's form limits the result</a:t>
            </a:r>
            <a:endParaRPr lang="en-US" sz="1272" dirty="0"/>
          </a:p>
        </p:txBody>
      </p:sp>
      <p:sp>
        <p:nvSpPr>
          <p:cNvPr id="19" name="Text 17"/>
          <p:cNvSpPr txBox="1"/>
          <p:nvPr/>
        </p:nvSpPr>
        <p:spPr>
          <a:xfrm>
            <a:off x="1439540" y="4740890"/>
            <a:ext cx="4984577" cy="55257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Even for the discriminative bridge methods, performance is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inherently restricted to the specified forms of prior</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analysis-model priors are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limited in capturing the full characteristics of image structures</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t>
            </a:r>
            <a:pPr algn="l" indent="0" marL="0">
              <a:lnSpc>
                <a:spcPts val="1450"/>
              </a:lnSpc>
              <a:buNone/>
            </a:pPr>
            <a:r>
              <a:rPr kern="0" lang="en-US" sz="859" dirty="0">
                <a:solidFill>
                  <a:srgbClr val="145A66"/>
                </a:solidFill>
                <a:latin typeface="Consolas" pitchFamily="34" charset="0"/>
                <a:ea typeface="Consolas" pitchFamily="34" charset="-122"/>
                <a:cs typeface="Consolas" pitchFamily="34" charset="-120"/>
              </a:rPr>
              <a:t>[DnCNN17 §I]</a:t>
            </a:r>
            <a:endParaRPr lang="en-US" sz="954" dirty="0"/>
          </a:p>
        </p:txBody>
      </p:sp>
      <p:sp>
        <p:nvSpPr>
          <p:cNvPr id="20" name="Shape 18"/>
          <p:cNvSpPr/>
          <p:nvPr/>
        </p:nvSpPr>
        <p:spPr>
          <a:xfrm>
            <a:off x="6712793" y="4150279"/>
            <a:ext cx="4950104" cy="14722"/>
          </a:xfrm>
          <a:prstGeom prst="rect">
            <a:avLst/>
          </a:prstGeom>
          <a:solidFill>
            <a:srgbClr val="7C5E2A"/>
          </a:solidFill>
          <a:ln/>
        </p:spPr>
      </p:sp>
      <p:sp>
        <p:nvSpPr>
          <p:cNvPr id="21" name="Text 19"/>
          <p:cNvSpPr txBox="1"/>
          <p:nvPr/>
        </p:nvSpPr>
        <p:spPr>
          <a:xfrm>
            <a:off x="6712793" y="4282318"/>
            <a:ext cx="648858"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7C5E2A"/>
                </a:solidFill>
                <a:latin typeface="Calibri" pitchFamily="34" charset="0"/>
                <a:ea typeface="Calibri" pitchFamily="34" charset="-122"/>
                <a:cs typeface="Calibri" pitchFamily="34" charset="-120"/>
              </a:rPr>
              <a:t>DRAWBACK 4</a:t>
            </a:r>
            <a:endParaRPr lang="en-US" sz="665" dirty="0"/>
          </a:p>
        </p:txBody>
      </p:sp>
      <p:sp>
        <p:nvSpPr>
          <p:cNvPr id="22" name="Text 20"/>
          <p:cNvSpPr txBox="1"/>
          <p:nvPr/>
        </p:nvSpPr>
        <p:spPr>
          <a:xfrm>
            <a:off x="6712793" y="4451574"/>
            <a:ext cx="1867022"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One model per noise level</a:t>
            </a:r>
            <a:endParaRPr lang="en-US" sz="1272" dirty="0"/>
          </a:p>
        </p:txBody>
      </p:sp>
      <p:sp>
        <p:nvSpPr>
          <p:cNvPr id="23" name="Text 21"/>
          <p:cNvSpPr txBox="1"/>
          <p:nvPr/>
        </p:nvSpPr>
        <p:spPr>
          <a:xfrm>
            <a:off x="6712793" y="4740890"/>
            <a:ext cx="4984577" cy="36841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Bridge methods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train a specific model for a certain noise level</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and are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limited in blind image denoising</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In a phone camera, σ is never known. </a:t>
            </a:r>
            <a:pPr algn="l" indent="0" marL="0">
              <a:lnSpc>
                <a:spcPts val="1450"/>
              </a:lnSpc>
              <a:buNone/>
            </a:pPr>
            <a:r>
              <a:rPr kern="0" lang="en-US" sz="859" dirty="0">
                <a:solidFill>
                  <a:srgbClr val="145A66"/>
                </a:solidFill>
                <a:latin typeface="Consolas" pitchFamily="34" charset="0"/>
                <a:ea typeface="Consolas" pitchFamily="34" charset="-122"/>
                <a:cs typeface="Consolas" pitchFamily="34" charset="-120"/>
              </a:rPr>
              <a:t>[DnCNN17 §I]</a:t>
            </a:r>
            <a:endParaRPr lang="en-US" sz="954" dirty="0"/>
          </a:p>
        </p:txBody>
      </p:sp>
      <p:sp>
        <p:nvSpPr>
          <p:cNvPr id="24" name="Shape 22"/>
          <p:cNvSpPr/>
          <p:nvPr/>
        </p:nvSpPr>
        <p:spPr>
          <a:xfrm>
            <a:off x="1439540" y="5762366"/>
            <a:ext cx="10223358" cy="14722"/>
          </a:xfrm>
          <a:prstGeom prst="rect">
            <a:avLst/>
          </a:prstGeom>
          <a:solidFill>
            <a:srgbClr val="7C5E2A"/>
          </a:solidFill>
          <a:ln/>
        </p:spPr>
      </p:sp>
      <p:sp>
        <p:nvSpPr>
          <p:cNvPr id="25" name="Text 23"/>
          <p:cNvSpPr txBox="1"/>
          <p:nvPr/>
        </p:nvSpPr>
        <p:spPr>
          <a:xfrm>
            <a:off x="1439540" y="5892759"/>
            <a:ext cx="7195596" cy="187269"/>
          </a:xfrm>
          <a:prstGeom prst="rect">
            <a:avLst/>
          </a:prstGeom>
          <a:noFill/>
          <a:ln/>
        </p:spPr>
        <p:txBody>
          <a:bodyPr wrap="non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Bottleneck 1, stated once:</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the prior is written by hand, and paid for once per image. The next era removes both halves of that sentence.</a:t>
            </a:r>
            <a:endParaRPr lang="en-US" sz="983" dirty="0"/>
          </a:p>
        </p:txBody>
      </p:sp>
      <p:sp>
        <p:nvSpPr>
          <p:cNvPr id="26" name="Text 24"/>
          <p:cNvSpPr txBox="1"/>
          <p:nvPr/>
        </p:nvSpPr>
        <p:spPr>
          <a:xfrm>
            <a:off x="8784824" y="6274430"/>
            <a:ext cx="2878074"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DnCNN17 §I — all four drawbacks quoted from the paper's introduction</a:t>
            </a:r>
            <a:endParaRPr lang="en-US" sz="752" dirty="0"/>
          </a:p>
        </p:txBody>
      </p:sp>
      <p:sp>
        <p:nvSpPr>
          <p:cNvPr id="27" name="Shape 25"/>
          <p:cNvSpPr/>
          <p:nvPr/>
        </p:nvSpPr>
        <p:spPr>
          <a:xfrm>
            <a:off x="1439540" y="6556705"/>
            <a:ext cx="10223358" cy="7315"/>
          </a:xfrm>
          <a:prstGeom prst="rect">
            <a:avLst/>
          </a:prstGeom>
          <a:solidFill>
            <a:srgbClr val="C9C4B9"/>
          </a:solidFill>
          <a:ln/>
        </p:spPr>
      </p:sp>
      <p:sp>
        <p:nvSpPr>
          <p:cNvPr id="28" name="Shape 26"/>
          <p:cNvSpPr/>
          <p:nvPr/>
        </p:nvSpPr>
        <p:spPr>
          <a:xfrm>
            <a:off x="1439540" y="6545732"/>
            <a:ext cx="3975811" cy="29352"/>
          </a:xfrm>
          <a:prstGeom prst="rect">
            <a:avLst/>
          </a:prstGeom>
          <a:solidFill>
            <a:srgbClr val="7C5E2A"/>
          </a:solidFill>
          <a:ln/>
        </p:spPr>
      </p:sp>
      <p:sp>
        <p:nvSpPr>
          <p:cNvPr id="29" name="Shape 27"/>
          <p:cNvSpPr/>
          <p:nvPr/>
        </p:nvSpPr>
        <p:spPr>
          <a:xfrm>
            <a:off x="1439540" y="6519946"/>
            <a:ext cx="7315" cy="36759"/>
          </a:xfrm>
          <a:prstGeom prst="rect">
            <a:avLst/>
          </a:prstGeom>
          <a:solidFill>
            <a:srgbClr val="C9C4B9"/>
          </a:solidFill>
          <a:ln/>
        </p:spPr>
      </p:sp>
      <p:sp>
        <p:nvSpPr>
          <p:cNvPr id="30" name="Text 28"/>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1" name="Shape 29"/>
          <p:cNvSpPr/>
          <p:nvPr/>
        </p:nvSpPr>
        <p:spPr>
          <a:xfrm>
            <a:off x="5415351" y="6519946"/>
            <a:ext cx="7315" cy="36759"/>
          </a:xfrm>
          <a:prstGeom prst="rect">
            <a:avLst/>
          </a:prstGeom>
          <a:solidFill>
            <a:srgbClr val="C9C4B9"/>
          </a:solidFill>
          <a:ln/>
        </p:spPr>
      </p:sp>
      <p:sp>
        <p:nvSpPr>
          <p:cNvPr id="32" name="Text 30"/>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3" name="Shape 31"/>
          <p:cNvSpPr/>
          <p:nvPr/>
        </p:nvSpPr>
        <p:spPr>
          <a:xfrm>
            <a:off x="7119610" y="6519946"/>
            <a:ext cx="7315" cy="36759"/>
          </a:xfrm>
          <a:prstGeom prst="rect">
            <a:avLst/>
          </a:prstGeom>
          <a:solidFill>
            <a:srgbClr val="C9C4B9"/>
          </a:solidFill>
          <a:ln/>
        </p:spPr>
      </p:sp>
      <p:sp>
        <p:nvSpPr>
          <p:cNvPr id="34" name="Text 32"/>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5" name="Shape 33"/>
          <p:cNvSpPr/>
          <p:nvPr/>
        </p:nvSpPr>
        <p:spPr>
          <a:xfrm>
            <a:off x="9958639" y="6519946"/>
            <a:ext cx="7315" cy="36759"/>
          </a:xfrm>
          <a:prstGeom prst="rect">
            <a:avLst/>
          </a:prstGeom>
          <a:solidFill>
            <a:srgbClr val="C9C4B9"/>
          </a:solidFill>
          <a:ln/>
        </p:spPr>
      </p:sp>
      <p:sp>
        <p:nvSpPr>
          <p:cNvPr id="36" name="Text 34"/>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7" name="Shape 35"/>
          <p:cNvSpPr/>
          <p:nvPr/>
        </p:nvSpPr>
        <p:spPr>
          <a:xfrm>
            <a:off x="11662898" y="6519946"/>
            <a:ext cx="7315" cy="36759"/>
          </a:xfrm>
          <a:prstGeom prst="rect">
            <a:avLst/>
          </a:prstGeom>
          <a:solidFill>
            <a:srgbClr val="C9C4B9"/>
          </a:solidFill>
          <a:ln/>
        </p:spPr>
      </p:sp>
      <p:sp>
        <p:nvSpPr>
          <p:cNvPr id="38" name="Text 36"/>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1072866"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2F5470"/>
                </a:solidFill>
                <a:latin typeface="Cambria" pitchFamily="34" charset="0"/>
                <a:ea typeface="Cambria" pitchFamily="34" charset="-122"/>
                <a:cs typeface="Cambria" pitchFamily="34" charset="-120"/>
              </a:rPr>
              <a:t>III</a:t>
            </a:r>
            <a:endParaRPr lang="en-US" sz="8416" dirty="0"/>
          </a:p>
        </p:txBody>
      </p:sp>
      <p:sp>
        <p:nvSpPr>
          <p:cNvPr id="4" name="Shape 2"/>
          <p:cNvSpPr/>
          <p:nvPr/>
        </p:nvSpPr>
        <p:spPr>
          <a:xfrm>
            <a:off x="434249" y="1663294"/>
            <a:ext cx="1002091" cy="33376"/>
          </a:xfrm>
          <a:prstGeom prst="rect">
            <a:avLst/>
          </a:prstGeom>
          <a:solidFill>
            <a:srgbClr val="2F5470"/>
          </a:solidFill>
          <a:ln/>
        </p:spPr>
      </p:sp>
      <p:sp>
        <p:nvSpPr>
          <p:cNvPr id="5" name="Text 3"/>
          <p:cNvSpPr txBox="1"/>
          <p:nvPr/>
        </p:nvSpPr>
        <p:spPr>
          <a:xfrm>
            <a:off x="434249" y="1910273"/>
            <a:ext cx="2483236" cy="1198230"/>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The Deep Learning Transition</a:t>
            </a:r>
            <a:endParaRPr lang="en-US" sz="3025" dirty="0"/>
          </a:p>
        </p:txBody>
      </p:sp>
      <p:sp>
        <p:nvSpPr>
          <p:cNvPr id="6" name="Shape 4"/>
          <p:cNvSpPr/>
          <p:nvPr/>
        </p:nvSpPr>
        <p:spPr>
          <a:xfrm>
            <a:off x="434249" y="3487796"/>
            <a:ext cx="217079" cy="25055"/>
          </a:xfrm>
          <a:prstGeom prst="rect">
            <a:avLst/>
          </a:prstGeom>
          <a:solidFill>
            <a:srgbClr val="8E877B"/>
          </a:solidFill>
          <a:ln/>
        </p:spPr>
      </p:sp>
      <p:sp>
        <p:nvSpPr>
          <p:cNvPr id="7" name="Text 5"/>
          <p:cNvSpPr txBox="1"/>
          <p:nvPr/>
        </p:nvSpPr>
        <p:spPr>
          <a:xfrm>
            <a:off x="751545" y="3431560"/>
            <a:ext cx="1450147"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PART III · 2012 – 2017</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2F5470"/>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2405878"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MLP — the first plain network to matter</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2F5470"/>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2059137"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Unrolling as the conceptual bridge</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2F5470"/>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862828"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CSF and TNRD</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2F5470"/>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3054462"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DnCNN: architecture, residual learning, BN synergy</a:t>
            </a:r>
            <a:endParaRPr lang="en-US" sz="1118" dirty="0"/>
          </a:p>
        </p:txBody>
      </p:sp>
      <p:sp>
        <p:nvSpPr>
          <p:cNvPr id="23" name="Shape 21"/>
          <p:cNvSpPr/>
          <p:nvPr/>
        </p:nvSpPr>
        <p:spPr>
          <a:xfrm>
            <a:off x="5526999" y="3479018"/>
            <a:ext cx="6146963" cy="8321"/>
          </a:xfrm>
          <a:prstGeom prst="rect">
            <a:avLst/>
          </a:prstGeom>
          <a:solidFill>
            <a:srgbClr val="DFDBD2"/>
          </a:solidFill>
          <a:ln/>
        </p:spPr>
      </p:sp>
      <p:sp>
        <p:nvSpPr>
          <p:cNvPr id="24" name="Text 22"/>
          <p:cNvSpPr txBox="1"/>
          <p:nvPr/>
        </p:nvSpPr>
        <p:spPr>
          <a:xfrm>
            <a:off x="5526999" y="3173700"/>
            <a:ext cx="173279" cy="165964"/>
          </a:xfrm>
          <a:prstGeom prst="rect">
            <a:avLst/>
          </a:prstGeom>
          <a:noFill/>
          <a:ln/>
        </p:spPr>
        <p:txBody>
          <a:bodyPr wrap="none" lIns="0" tIns="0" rIns="0" bIns="0" rtlCol="0" anchor="t"/>
          <a:lstStyle/>
          <a:p>
            <a:pPr algn="l" indent="0" marL="0">
              <a:lnSpc>
                <a:spcPts val="1307"/>
              </a:lnSpc>
              <a:buNone/>
            </a:pPr>
            <a:r>
              <a:rPr kern="0" lang="en-US" sz="921" b="1" dirty="0">
                <a:solidFill>
                  <a:srgbClr val="2F5470"/>
                </a:solidFill>
                <a:latin typeface="Cambria" pitchFamily="34" charset="0"/>
                <a:ea typeface="Cambria" pitchFamily="34" charset="-122"/>
                <a:cs typeface="Cambria" pitchFamily="34" charset="-120"/>
              </a:rPr>
              <a:t>05</a:t>
            </a:r>
            <a:endParaRPr lang="en-US" sz="921" dirty="0"/>
          </a:p>
        </p:txBody>
      </p:sp>
      <p:sp>
        <p:nvSpPr>
          <p:cNvPr id="25" name="Text 23"/>
          <p:cNvSpPr txBox="1"/>
          <p:nvPr/>
        </p:nvSpPr>
        <p:spPr>
          <a:xfrm>
            <a:off x="5894405" y="3155869"/>
            <a:ext cx="2108424"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Depth, receptive field, data, results</a:t>
            </a:r>
            <a:endParaRPr lang="en-US" sz="1118" dirty="0"/>
          </a:p>
        </p:txBody>
      </p:sp>
      <p:sp>
        <p:nvSpPr>
          <p:cNvPr id="26" name="Shape 24"/>
          <p:cNvSpPr/>
          <p:nvPr/>
        </p:nvSpPr>
        <p:spPr>
          <a:xfrm>
            <a:off x="5526999" y="3922593"/>
            <a:ext cx="6146963" cy="8321"/>
          </a:xfrm>
          <a:prstGeom prst="rect">
            <a:avLst/>
          </a:prstGeom>
          <a:solidFill>
            <a:srgbClr val="DFDBD2"/>
          </a:solidFill>
          <a:ln/>
        </p:spPr>
      </p:sp>
      <p:sp>
        <p:nvSpPr>
          <p:cNvPr id="27" name="Text 25"/>
          <p:cNvSpPr txBox="1"/>
          <p:nvPr/>
        </p:nvSpPr>
        <p:spPr>
          <a:xfrm>
            <a:off x="5526999" y="3617275"/>
            <a:ext cx="175382" cy="165964"/>
          </a:xfrm>
          <a:prstGeom prst="rect">
            <a:avLst/>
          </a:prstGeom>
          <a:noFill/>
          <a:ln/>
        </p:spPr>
        <p:txBody>
          <a:bodyPr wrap="none" lIns="0" tIns="0" rIns="0" bIns="0" rtlCol="0" anchor="t"/>
          <a:lstStyle/>
          <a:p>
            <a:pPr algn="l" indent="0" marL="0">
              <a:lnSpc>
                <a:spcPts val="1307"/>
              </a:lnSpc>
              <a:buNone/>
            </a:pPr>
            <a:r>
              <a:rPr kern="0" lang="en-US" sz="921" b="1" dirty="0">
                <a:solidFill>
                  <a:srgbClr val="2F5470"/>
                </a:solidFill>
                <a:latin typeface="Cambria" pitchFamily="34" charset="0"/>
                <a:ea typeface="Cambria" pitchFamily="34" charset="-122"/>
                <a:cs typeface="Cambria" pitchFamily="34" charset="-120"/>
              </a:rPr>
              <a:t>06</a:t>
            </a:r>
            <a:endParaRPr lang="en-US" sz="921" dirty="0"/>
          </a:p>
        </p:txBody>
      </p:sp>
      <p:sp>
        <p:nvSpPr>
          <p:cNvPr id="28" name="Text 26"/>
          <p:cNvSpPr txBox="1"/>
          <p:nvPr/>
        </p:nvSpPr>
        <p:spPr>
          <a:xfrm>
            <a:off x="5894405" y="3599536"/>
            <a:ext cx="1394643"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One model, three tasks</a:t>
            </a:r>
            <a:endParaRPr lang="en-US" sz="1118" dirty="0"/>
          </a:p>
        </p:txBody>
      </p:sp>
      <p:sp>
        <p:nvSpPr>
          <p:cNvPr id="29" name="Shape 27"/>
          <p:cNvSpPr/>
          <p:nvPr/>
        </p:nvSpPr>
        <p:spPr>
          <a:xfrm>
            <a:off x="5526999" y="4366260"/>
            <a:ext cx="6146963" cy="8321"/>
          </a:xfrm>
          <a:prstGeom prst="rect">
            <a:avLst/>
          </a:prstGeom>
          <a:solidFill>
            <a:srgbClr val="DFDBD2"/>
          </a:solidFill>
          <a:ln/>
        </p:spPr>
      </p:sp>
      <p:sp>
        <p:nvSpPr>
          <p:cNvPr id="30" name="Text 28"/>
          <p:cNvSpPr txBox="1"/>
          <p:nvPr/>
        </p:nvSpPr>
        <p:spPr>
          <a:xfrm>
            <a:off x="5526999" y="4060942"/>
            <a:ext cx="170261" cy="165964"/>
          </a:xfrm>
          <a:prstGeom prst="rect">
            <a:avLst/>
          </a:prstGeom>
          <a:noFill/>
          <a:ln/>
        </p:spPr>
        <p:txBody>
          <a:bodyPr wrap="none" lIns="0" tIns="0" rIns="0" bIns="0" rtlCol="0" anchor="t"/>
          <a:lstStyle/>
          <a:p>
            <a:pPr algn="l" indent="0" marL="0">
              <a:lnSpc>
                <a:spcPts val="1307"/>
              </a:lnSpc>
              <a:buNone/>
            </a:pPr>
            <a:r>
              <a:rPr kern="0" lang="en-US" sz="921" b="1" dirty="0">
                <a:solidFill>
                  <a:srgbClr val="2F5470"/>
                </a:solidFill>
                <a:latin typeface="Cambria" pitchFamily="34" charset="0"/>
                <a:ea typeface="Cambria" pitchFamily="34" charset="-122"/>
                <a:cs typeface="Cambria" pitchFamily="34" charset="-120"/>
              </a:rPr>
              <a:t>07</a:t>
            </a:r>
            <a:endParaRPr lang="en-US" sz="921" dirty="0"/>
          </a:p>
        </p:txBody>
      </p:sp>
      <p:sp>
        <p:nvSpPr>
          <p:cNvPr id="31" name="Text 29"/>
          <p:cNvSpPr txBox="1"/>
          <p:nvPr/>
        </p:nvSpPr>
        <p:spPr>
          <a:xfrm>
            <a:off x="5894405" y="4043111"/>
            <a:ext cx="77440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Bottleneck 2</a:t>
            </a:r>
            <a:endParaRPr lang="en-US" sz="1118" dirty="0"/>
          </a:p>
        </p:txBody>
      </p:sp>
      <p:sp>
        <p:nvSpPr>
          <p:cNvPr id="32" name="Text 30"/>
          <p:cNvSpPr txBox="1"/>
          <p:nvPr/>
        </p:nvSpPr>
        <p:spPr>
          <a:xfrm>
            <a:off x="5526999" y="4620646"/>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Five years in which the optimisation loop was unrolled into a fixed architecture, and then abandoned entirely.</a:t>
            </a:r>
            <a:endParaRPr lang="en-US" sz="1085" dirty="0"/>
          </a:p>
        </p:txBody>
      </p:sp>
      <p:sp>
        <p:nvSpPr>
          <p:cNvPr id="33" name="Text 31"/>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§3</a:t>
            </a:r>
            <a:endParaRPr lang="en-US" sz="85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4007"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28</a:t>
            </a:r>
            <a:endParaRPr lang="en-US" sz="2893" dirty="0"/>
          </a:p>
        </p:txBody>
      </p:sp>
      <p:sp>
        <p:nvSpPr>
          <p:cNvPr id="3" name="Text 1"/>
          <p:cNvSpPr txBox="1"/>
          <p:nvPr/>
        </p:nvSpPr>
        <p:spPr>
          <a:xfrm rot="16200000">
            <a:off x="-384871" y="3428909"/>
            <a:ext cx="81838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2F5470"/>
                </a:solidFill>
                <a:latin typeface="Calibri" pitchFamily="34" charset="0"/>
                <a:ea typeface="Calibri" pitchFamily="34" charset="-122"/>
                <a:cs typeface="Calibri" pitchFamily="34" charset="-120"/>
              </a:rPr>
              <a:t>THE BRIDGE</a:t>
            </a:r>
            <a:endParaRPr lang="en-US" sz="789" dirty="0"/>
          </a:p>
        </p:txBody>
      </p:sp>
      <p:sp>
        <p:nvSpPr>
          <p:cNvPr id="4" name="Shape 2"/>
          <p:cNvSpPr/>
          <p:nvPr/>
        </p:nvSpPr>
        <p:spPr>
          <a:xfrm>
            <a:off x="1636685" y="492679"/>
            <a:ext cx="217079" cy="25055"/>
          </a:xfrm>
          <a:prstGeom prst="rect">
            <a:avLst/>
          </a:prstGeom>
          <a:solidFill>
            <a:srgbClr val="2F5470"/>
          </a:solidFill>
          <a:ln/>
        </p:spPr>
      </p:sp>
      <p:sp>
        <p:nvSpPr>
          <p:cNvPr id="5" name="Text 3"/>
          <p:cNvSpPr txBox="1"/>
          <p:nvPr/>
        </p:nvSpPr>
        <p:spPr>
          <a:xfrm>
            <a:off x="1953981" y="436443"/>
            <a:ext cx="1113191"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2F5470"/>
                </a:solidFill>
                <a:latin typeface="Calibri" pitchFamily="34" charset="0"/>
                <a:ea typeface="Calibri" pitchFamily="34" charset="-122"/>
                <a:cs typeface="Calibri" pitchFamily="34" charset="-120"/>
              </a:rPr>
              <a:t>THE FIRST CRACK</a:t>
            </a:r>
            <a:endParaRPr lang="en-US" sz="888" dirty="0"/>
          </a:p>
        </p:txBody>
      </p:sp>
      <p:sp>
        <p:nvSpPr>
          <p:cNvPr id="6" name="Text 4"/>
          <p:cNvSpPr txBox="1"/>
          <p:nvPr/>
        </p:nvSpPr>
        <p:spPr>
          <a:xfrm>
            <a:off x="1636685" y="690281"/>
            <a:ext cx="8668238"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MLP, 2012 — a plain neural network reaches BM3D</a:t>
            </a:r>
            <a:endParaRPr lang="en-US" sz="3025" dirty="0"/>
          </a:p>
        </p:txBody>
      </p:sp>
      <p:sp>
        <p:nvSpPr>
          <p:cNvPr id="7" name="Text 5"/>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Burger, Schuler and Harmeling, CVPR 2012. Before any architectural insight, before residual learning, before batch normalisation: a multi-layer perceptron trained on enough patches matched the best hand-designed algorithm in the field.</a:t>
            </a:r>
            <a:endParaRPr lang="en-US" sz="1315" dirty="0"/>
          </a:p>
        </p:txBody>
      </p:sp>
      <p:sp>
        <p:nvSpPr>
          <p:cNvPr id="8" name="Shape 6"/>
          <p:cNvSpPr/>
          <p:nvPr/>
        </p:nvSpPr>
        <p:spPr>
          <a:xfrm>
            <a:off x="1636685" y="2226838"/>
            <a:ext cx="9953793" cy="8321"/>
          </a:xfrm>
          <a:prstGeom prst="rect">
            <a:avLst/>
          </a:prstGeom>
          <a:solidFill>
            <a:srgbClr val="DFDBD2"/>
          </a:solidFill>
          <a:ln/>
        </p:spPr>
      </p:sp>
      <p:sp>
        <p:nvSpPr>
          <p:cNvPr id="9" name="Text 7"/>
          <p:cNvSpPr txBox="1"/>
          <p:nvPr/>
        </p:nvSpPr>
        <p:spPr>
          <a:xfrm>
            <a:off x="1636685" y="2377166"/>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0" name="Text 8"/>
          <p:cNvSpPr txBox="1"/>
          <p:nvPr/>
        </p:nvSpPr>
        <p:spPr>
          <a:xfrm>
            <a:off x="1987448" y="2365644"/>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method is deliberately unsophisticated.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Take a noisy patch, flatten it to a vector, push it through several fully connected layers</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[1]</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and read a clean patch out. No convolution, no weight sharing, no prior of any kind written down.</a:t>
            </a:r>
            <a:endParaRPr lang="en-US" sz="1216" dirty="0"/>
          </a:p>
        </p:txBody>
      </p:sp>
      <p:sp>
        <p:nvSpPr>
          <p:cNvPr id="11" name="Text 9"/>
          <p:cNvSpPr txBox="1"/>
          <p:nvPr/>
        </p:nvSpPr>
        <p:spPr>
          <a:xfrm>
            <a:off x="1636685" y="2974177"/>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2" name="Text 10"/>
          <p:cNvSpPr txBox="1"/>
          <p:nvPr/>
        </p:nvSpPr>
        <p:spPr>
          <a:xfrm>
            <a:off x="1987448" y="2962747"/>
            <a:ext cx="9658167" cy="480151"/>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result.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On BSD68 at σ = 25 it scores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28.96 dB</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ahead of BM3D's 28.57 and ahead of WNNM's 28.83 — the strongest result in the whole classical table at that noise level. At σ = 50 it scores 26.03, again the best pre-DnCNN figure. </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[2]</a:t>
            </a:r>
            <a:endParaRPr lang="en-US" sz="1216" dirty="0"/>
          </a:p>
        </p:txBody>
      </p:sp>
      <p:sp>
        <p:nvSpPr>
          <p:cNvPr id="13" name="Text 11"/>
          <p:cNvSpPr txBox="1"/>
          <p:nvPr/>
        </p:nvSpPr>
        <p:spPr>
          <a:xfrm>
            <a:off x="1636685" y="3571281"/>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14" name="Text 12"/>
          <p:cNvSpPr txBox="1"/>
          <p:nvPr/>
        </p:nvSpPr>
        <p:spPr>
          <a:xfrm>
            <a:off x="1987448" y="3559759"/>
            <a:ext cx="9658167" cy="480151"/>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Effective patch size 47 × 47</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arising from a 39×39 input patch followed by a 9×9 averaging filter. Comparable to BM3D's 49×49 — the network was not seeing more than its competitors. </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[2]</a:t>
            </a:r>
            <a:endParaRPr lang="en-US" sz="1216" dirty="0"/>
          </a:p>
        </p:txBody>
      </p:sp>
      <p:sp>
        <p:nvSpPr>
          <p:cNvPr id="15" name="Text 13"/>
          <p:cNvSpPr txBox="1"/>
          <p:nvPr/>
        </p:nvSpPr>
        <p:spPr>
          <a:xfrm>
            <a:off x="1636685" y="4168292"/>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16" name="Text 14"/>
          <p:cNvSpPr txBox="1"/>
          <p:nvPr/>
        </p:nvSpPr>
        <p:spPr>
          <a:xfrm>
            <a:off x="1987448" y="4156862"/>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What it proved, and what it did not.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It proved that a learned mapping could match a decade of hand-designed mathematics. It did not explain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why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did not generalise across noise levels — a separate model per σ — and its fully connected structure scaled badly with patch size.</a:t>
            </a:r>
            <a:endParaRPr lang="en-US" sz="1216" dirty="0"/>
          </a:p>
        </p:txBody>
      </p:sp>
      <p:sp>
        <p:nvSpPr>
          <p:cNvPr id="17" name="Text 15"/>
          <p:cNvSpPr txBox="1"/>
          <p:nvPr/>
        </p:nvSpPr>
        <p:spPr>
          <a:xfrm>
            <a:off x="1636685" y="4765396"/>
            <a:ext cx="15563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05</a:t>
            </a:r>
            <a:endParaRPr lang="en-US" sz="789" dirty="0"/>
          </a:p>
        </p:txBody>
      </p:sp>
      <p:sp>
        <p:nvSpPr>
          <p:cNvPr id="18" name="Text 16"/>
          <p:cNvSpPr txBox="1"/>
          <p:nvPr/>
        </p:nvSpPr>
        <p:spPr>
          <a:xfrm>
            <a:off x="1987448" y="4753874"/>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reading.</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MLP is the existence proof, not the solution. It told the field that the answer was learning, and left the question of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what to learn and how</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wide open for the next five years.</a:t>
            </a:r>
            <a:endParaRPr lang="en-US" sz="1216" dirty="0"/>
          </a:p>
        </p:txBody>
      </p:sp>
      <p:sp>
        <p:nvSpPr>
          <p:cNvPr id="19" name="Text 17"/>
          <p:cNvSpPr txBox="1"/>
          <p:nvPr/>
        </p:nvSpPr>
        <p:spPr>
          <a:xfrm>
            <a:off x="8030261" y="6207039"/>
            <a:ext cx="3560216"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Burger et al., CVPR 2012 (cited in DnCNN17) 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Table I, Table II</a:t>
            </a:r>
            <a:endParaRPr lang="en-US" sz="633" dirty="0"/>
          </a:p>
        </p:txBody>
      </p:sp>
      <p:sp>
        <p:nvSpPr>
          <p:cNvPr id="20" name="Shape 18"/>
          <p:cNvSpPr/>
          <p:nvPr/>
        </p:nvSpPr>
        <p:spPr>
          <a:xfrm>
            <a:off x="1636685" y="6515466"/>
            <a:ext cx="9953793" cy="8321"/>
          </a:xfrm>
          <a:prstGeom prst="rect">
            <a:avLst/>
          </a:prstGeom>
          <a:solidFill>
            <a:srgbClr val="C9C4B9"/>
          </a:solidFill>
          <a:ln/>
        </p:spPr>
      </p:sp>
      <p:sp>
        <p:nvSpPr>
          <p:cNvPr id="21" name="Shape 19"/>
          <p:cNvSpPr/>
          <p:nvPr/>
        </p:nvSpPr>
        <p:spPr>
          <a:xfrm>
            <a:off x="4401739" y="6502938"/>
            <a:ext cx="2765054" cy="33376"/>
          </a:xfrm>
          <a:prstGeom prst="rect">
            <a:avLst/>
          </a:prstGeom>
          <a:solidFill>
            <a:srgbClr val="2F5470"/>
          </a:solidFill>
          <a:ln/>
        </p:spPr>
      </p:sp>
      <p:sp>
        <p:nvSpPr>
          <p:cNvPr id="22" name="Shape 20"/>
          <p:cNvSpPr/>
          <p:nvPr/>
        </p:nvSpPr>
        <p:spPr>
          <a:xfrm>
            <a:off x="1636685" y="6473678"/>
            <a:ext cx="8321" cy="41788"/>
          </a:xfrm>
          <a:prstGeom prst="rect">
            <a:avLst/>
          </a:prstGeom>
          <a:solidFill>
            <a:srgbClr val="C9C4B9"/>
          </a:solidFill>
          <a:ln/>
        </p:spPr>
      </p:sp>
      <p:sp>
        <p:nvSpPr>
          <p:cNvPr id="23" name="Text 21"/>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4" name="Shape 22"/>
          <p:cNvSpPr/>
          <p:nvPr/>
        </p:nvSpPr>
        <p:spPr>
          <a:xfrm>
            <a:off x="5507706" y="6473678"/>
            <a:ext cx="8321" cy="41788"/>
          </a:xfrm>
          <a:prstGeom prst="rect">
            <a:avLst/>
          </a:prstGeom>
          <a:solidFill>
            <a:srgbClr val="C9C4B9"/>
          </a:solidFill>
          <a:ln/>
        </p:spPr>
      </p:sp>
      <p:sp>
        <p:nvSpPr>
          <p:cNvPr id="25" name="Text 23"/>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6" name="Shape 24"/>
          <p:cNvSpPr/>
          <p:nvPr/>
        </p:nvSpPr>
        <p:spPr>
          <a:xfrm>
            <a:off x="7166884" y="6473678"/>
            <a:ext cx="8321" cy="41788"/>
          </a:xfrm>
          <a:prstGeom prst="rect">
            <a:avLst/>
          </a:prstGeom>
          <a:solidFill>
            <a:srgbClr val="C9C4B9"/>
          </a:solidFill>
          <a:ln/>
        </p:spPr>
      </p:sp>
      <p:sp>
        <p:nvSpPr>
          <p:cNvPr id="27" name="Text 25"/>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8" name="Shape 26"/>
          <p:cNvSpPr/>
          <p:nvPr/>
        </p:nvSpPr>
        <p:spPr>
          <a:xfrm>
            <a:off x="9931024" y="6473678"/>
            <a:ext cx="8321" cy="41788"/>
          </a:xfrm>
          <a:prstGeom prst="rect">
            <a:avLst/>
          </a:prstGeom>
          <a:solidFill>
            <a:srgbClr val="C9C4B9"/>
          </a:solidFill>
          <a:ln/>
        </p:spPr>
      </p:sp>
      <p:sp>
        <p:nvSpPr>
          <p:cNvPr id="29" name="Text 27"/>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0" name="Shape 28"/>
          <p:cNvSpPr/>
          <p:nvPr/>
        </p:nvSpPr>
        <p:spPr>
          <a:xfrm>
            <a:off x="11590477" y="6473678"/>
            <a:ext cx="8321" cy="41788"/>
          </a:xfrm>
          <a:prstGeom prst="rect">
            <a:avLst/>
          </a:prstGeom>
          <a:solidFill>
            <a:srgbClr val="C9C4B9"/>
          </a:solidFill>
          <a:ln/>
        </p:spPr>
      </p:sp>
      <p:sp>
        <p:nvSpPr>
          <p:cNvPr id="31" name="Text 29"/>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9260"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29</a:t>
            </a:r>
            <a:endParaRPr lang="en-US" sz="2708" dirty="0"/>
          </a:p>
        </p:txBody>
      </p:sp>
      <p:sp>
        <p:nvSpPr>
          <p:cNvPr id="3" name="Text 1"/>
          <p:cNvSpPr txBox="1"/>
          <p:nvPr/>
        </p:nvSpPr>
        <p:spPr>
          <a:xfrm rot="16200000">
            <a:off x="-360182" y="3428909"/>
            <a:ext cx="765901"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2F5470"/>
                </a:solidFill>
                <a:latin typeface="Calibri" pitchFamily="34" charset="0"/>
                <a:ea typeface="Calibri" pitchFamily="34" charset="-122"/>
                <a:cs typeface="Calibri" pitchFamily="34" charset="-120"/>
              </a:rPr>
              <a:t>THE BRIDGE</a:t>
            </a:r>
            <a:endParaRPr lang="en-US" sz="738" dirty="0"/>
          </a:p>
        </p:txBody>
      </p:sp>
      <p:sp>
        <p:nvSpPr>
          <p:cNvPr id="4" name="Shape 2"/>
          <p:cNvSpPr/>
          <p:nvPr/>
        </p:nvSpPr>
        <p:spPr>
          <a:xfrm>
            <a:off x="1531803" y="461132"/>
            <a:ext cx="203180" cy="23409"/>
          </a:xfrm>
          <a:prstGeom prst="rect">
            <a:avLst/>
          </a:prstGeom>
          <a:solidFill>
            <a:srgbClr val="2F5470"/>
          </a:solidFill>
          <a:ln/>
        </p:spPr>
      </p:sp>
      <p:sp>
        <p:nvSpPr>
          <p:cNvPr id="5" name="Text 3"/>
          <p:cNvSpPr txBox="1"/>
          <p:nvPr/>
        </p:nvSpPr>
        <p:spPr>
          <a:xfrm>
            <a:off x="1828800" y="408462"/>
            <a:ext cx="1307958"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2F5470"/>
                </a:solidFill>
                <a:latin typeface="Calibri" pitchFamily="34" charset="0"/>
                <a:ea typeface="Calibri" pitchFamily="34" charset="-122"/>
                <a:cs typeface="Calibri" pitchFamily="34" charset="-120"/>
              </a:rPr>
              <a:t>THE BRIDGE CONCEPT</a:t>
            </a:r>
            <a:endParaRPr lang="en-US" sz="831" dirty="0"/>
          </a:p>
        </p:txBody>
      </p:sp>
      <p:sp>
        <p:nvSpPr>
          <p:cNvPr id="6" name="Text 4"/>
          <p:cNvSpPr txBox="1"/>
          <p:nvPr/>
        </p:nvSpPr>
        <p:spPr>
          <a:xfrm>
            <a:off x="1531803" y="646024"/>
            <a:ext cx="6773875"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Unrolling — turn the iterations into layers</a:t>
            </a:r>
            <a:endParaRPr lang="en-US" sz="2831" dirty="0"/>
          </a:p>
        </p:txBody>
      </p:sp>
      <p:sp>
        <p:nvSpPr>
          <p:cNvPr id="7" name="Text 5"/>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The elegant idea that connects the two eras. A classical denoiser is an iterative optimiser: repeat some update rule K times. Unrolling fixes K, gives every iteration its own parameters, and trains the whole stack end-to-end by back-propagation.</a:t>
            </a:r>
            <a:endParaRPr lang="en-US" sz="1231" dirty="0"/>
          </a:p>
        </p:txBody>
      </p:sp>
      <p:sp>
        <p:nvSpPr>
          <p:cNvPr id="8" name="Shape 6"/>
          <p:cNvSpPr/>
          <p:nvPr/>
        </p:nvSpPr>
        <p:spPr>
          <a:xfrm>
            <a:off x="6580388" y="2084100"/>
            <a:ext cx="7772" cy="2897094"/>
          </a:xfrm>
          <a:prstGeom prst="rect">
            <a:avLst/>
          </a:prstGeom>
          <a:solidFill>
            <a:srgbClr val="DFDBD2"/>
          </a:solidFill>
          <a:ln/>
        </p:spPr>
      </p:sp>
      <p:sp>
        <p:nvSpPr>
          <p:cNvPr id="9" name="Shape 7"/>
          <p:cNvSpPr/>
          <p:nvPr/>
        </p:nvSpPr>
        <p:spPr>
          <a:xfrm>
            <a:off x="1531803" y="2084100"/>
            <a:ext cx="4876678" cy="15636"/>
          </a:xfrm>
          <a:prstGeom prst="rect">
            <a:avLst/>
          </a:prstGeom>
          <a:solidFill>
            <a:srgbClr val="2F5470"/>
          </a:solidFill>
          <a:ln/>
        </p:spPr>
      </p:sp>
      <p:sp>
        <p:nvSpPr>
          <p:cNvPr id="10" name="Text 8"/>
          <p:cNvSpPr txBox="1"/>
          <p:nvPr/>
        </p:nvSpPr>
        <p:spPr>
          <a:xfrm>
            <a:off x="1531803" y="2217146"/>
            <a:ext cx="1747510"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Before — an optimiser</a:t>
            </a:r>
            <a:endParaRPr lang="en-US" sz="1354" dirty="0"/>
          </a:p>
        </p:txBody>
      </p:sp>
      <p:sp>
        <p:nvSpPr>
          <p:cNvPr id="11" name="Shape 9"/>
          <p:cNvSpPr/>
          <p:nvPr/>
        </p:nvSpPr>
        <p:spPr>
          <a:xfrm>
            <a:off x="1531803" y="2591684"/>
            <a:ext cx="62545" cy="39045"/>
          </a:xfrm>
          <a:prstGeom prst="rect">
            <a:avLst/>
          </a:prstGeom>
          <a:solidFill>
            <a:srgbClr val="2F5470"/>
          </a:solidFill>
          <a:ln/>
        </p:spPr>
      </p:sp>
      <p:sp>
        <p:nvSpPr>
          <p:cNvPr id="12" name="Text 10"/>
          <p:cNvSpPr txBox="1"/>
          <p:nvPr/>
        </p:nvSpPr>
        <p:spPr>
          <a:xfrm>
            <a:off x="1688074" y="2526304"/>
            <a:ext cx="4754880" cy="44933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Run until convergence, or until a tolerance is met. K is unbounded and data-dependent.</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[2]</a:t>
            </a:r>
            <a:endParaRPr lang="en-US" sz="1138" dirty="0"/>
          </a:p>
        </p:txBody>
      </p:sp>
      <p:sp>
        <p:nvSpPr>
          <p:cNvPr id="13" name="Shape 11"/>
          <p:cNvSpPr/>
          <p:nvPr/>
        </p:nvSpPr>
        <p:spPr>
          <a:xfrm>
            <a:off x="1531803" y="3150474"/>
            <a:ext cx="62545" cy="39045"/>
          </a:xfrm>
          <a:prstGeom prst="rect">
            <a:avLst/>
          </a:prstGeom>
          <a:solidFill>
            <a:srgbClr val="2F5470"/>
          </a:solidFill>
          <a:ln/>
        </p:spPr>
      </p:sp>
      <p:sp>
        <p:nvSpPr>
          <p:cNvPr id="14" name="Text 12"/>
          <p:cNvSpPr txBox="1"/>
          <p:nvPr/>
        </p:nvSpPr>
        <p:spPr>
          <a:xfrm>
            <a:off x="1688074" y="3085003"/>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Every stage applies the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same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hand-written rule with the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same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hand-tuned constants.</a:t>
            </a:r>
            <a:endParaRPr lang="en-US" sz="1138" dirty="0"/>
          </a:p>
        </p:txBody>
      </p:sp>
      <p:sp>
        <p:nvSpPr>
          <p:cNvPr id="15" name="Shape 13"/>
          <p:cNvSpPr/>
          <p:nvPr/>
        </p:nvSpPr>
        <p:spPr>
          <a:xfrm>
            <a:off x="1531803" y="3709264"/>
            <a:ext cx="62545" cy="39045"/>
          </a:xfrm>
          <a:prstGeom prst="rect">
            <a:avLst/>
          </a:prstGeom>
          <a:solidFill>
            <a:srgbClr val="2F5470"/>
          </a:solidFill>
          <a:ln/>
        </p:spPr>
      </p:sp>
      <p:sp>
        <p:nvSpPr>
          <p:cNvPr id="16" name="Text 14"/>
          <p:cNvSpPr txBox="1"/>
          <p:nvPr/>
        </p:nvSpPr>
        <p:spPr>
          <a:xfrm>
            <a:off x="1688074" y="3643793"/>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Quality is whatever the fixed objective's minimiser happens to be. You cannot ask for better without redesigning Φ.</a:t>
            </a:r>
            <a:endParaRPr lang="en-US" sz="1138" dirty="0"/>
          </a:p>
        </p:txBody>
      </p:sp>
      <p:sp>
        <p:nvSpPr>
          <p:cNvPr id="17" name="Shape 15"/>
          <p:cNvSpPr/>
          <p:nvPr/>
        </p:nvSpPr>
        <p:spPr>
          <a:xfrm>
            <a:off x="1531803" y="4268053"/>
            <a:ext cx="62545" cy="39045"/>
          </a:xfrm>
          <a:prstGeom prst="rect">
            <a:avLst/>
          </a:prstGeom>
          <a:solidFill>
            <a:srgbClr val="2F5470"/>
          </a:solidFill>
          <a:ln/>
        </p:spPr>
      </p:sp>
      <p:sp>
        <p:nvSpPr>
          <p:cNvPr id="18" name="Text 16"/>
          <p:cNvSpPr txBox="1"/>
          <p:nvPr/>
        </p:nvSpPr>
        <p:spPr>
          <a:xfrm>
            <a:off x="1688074" y="4202582"/>
            <a:ext cx="4046403" cy="216896"/>
          </a:xfrm>
          <a:prstGeom prst="rect">
            <a:avLst/>
          </a:prstGeom>
          <a:noFill/>
          <a:ln/>
        </p:spPr>
        <p:txBody>
          <a:bodyPr wrap="non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Cost is unpredictable: a hard image takes longer than an easy one.</a:t>
            </a:r>
            <a:endParaRPr lang="en-US" sz="1138" dirty="0"/>
          </a:p>
        </p:txBody>
      </p:sp>
      <p:sp>
        <p:nvSpPr>
          <p:cNvPr id="19" name="Shape 17"/>
          <p:cNvSpPr/>
          <p:nvPr/>
        </p:nvSpPr>
        <p:spPr>
          <a:xfrm>
            <a:off x="6752295" y="2084100"/>
            <a:ext cx="4876678" cy="15636"/>
          </a:xfrm>
          <a:prstGeom prst="rect">
            <a:avLst/>
          </a:prstGeom>
          <a:solidFill>
            <a:srgbClr val="2F5470"/>
          </a:solidFill>
          <a:ln/>
        </p:spPr>
      </p:sp>
      <p:sp>
        <p:nvSpPr>
          <p:cNvPr id="20" name="Text 18"/>
          <p:cNvSpPr txBox="1"/>
          <p:nvPr/>
        </p:nvSpPr>
        <p:spPr>
          <a:xfrm>
            <a:off x="6752295" y="2217146"/>
            <a:ext cx="1841236"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After — an architecture</a:t>
            </a:r>
            <a:endParaRPr lang="en-US" sz="1354" dirty="0"/>
          </a:p>
        </p:txBody>
      </p:sp>
      <p:sp>
        <p:nvSpPr>
          <p:cNvPr id="21" name="Shape 19"/>
          <p:cNvSpPr/>
          <p:nvPr/>
        </p:nvSpPr>
        <p:spPr>
          <a:xfrm>
            <a:off x="6752295" y="2591684"/>
            <a:ext cx="62545" cy="39045"/>
          </a:xfrm>
          <a:prstGeom prst="rect">
            <a:avLst/>
          </a:prstGeom>
          <a:solidFill>
            <a:srgbClr val="2F5470"/>
          </a:solidFill>
          <a:ln/>
        </p:spPr>
      </p:sp>
      <p:sp>
        <p:nvSpPr>
          <p:cNvPr id="22" name="Text 20"/>
          <p:cNvSpPr txBox="1"/>
          <p:nvPr/>
        </p:nvSpPr>
        <p:spPr>
          <a:xfrm>
            <a:off x="6908658" y="2526304"/>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Truncate to a fixed K — TNRD uses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usually less than 10</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[1]</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stages. Now the runtime is a constant.</a:t>
            </a:r>
            <a:endParaRPr lang="en-US" sz="1138" dirty="0"/>
          </a:p>
        </p:txBody>
      </p:sp>
      <p:sp>
        <p:nvSpPr>
          <p:cNvPr id="23" name="Shape 21"/>
          <p:cNvSpPr/>
          <p:nvPr/>
        </p:nvSpPr>
        <p:spPr>
          <a:xfrm>
            <a:off x="6752295" y="3150474"/>
            <a:ext cx="62545" cy="39045"/>
          </a:xfrm>
          <a:prstGeom prst="rect">
            <a:avLst/>
          </a:prstGeom>
          <a:solidFill>
            <a:srgbClr val="2F5470"/>
          </a:solidFill>
          <a:ln/>
        </p:spPr>
      </p:sp>
      <p:sp>
        <p:nvSpPr>
          <p:cNvPr id="24" name="Text 22"/>
          <p:cNvSpPr txBox="1"/>
          <p:nvPr/>
        </p:nvSpPr>
        <p:spPr>
          <a:xfrm>
            <a:off x="6908658" y="3085003"/>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Give each stage its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own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filters and nonlinearities, and let them differ across stages.</a:t>
            </a:r>
            <a:endParaRPr lang="en-US" sz="1138" dirty="0"/>
          </a:p>
        </p:txBody>
      </p:sp>
      <p:sp>
        <p:nvSpPr>
          <p:cNvPr id="25" name="Shape 23"/>
          <p:cNvSpPr/>
          <p:nvPr/>
        </p:nvSpPr>
        <p:spPr>
          <a:xfrm>
            <a:off x="6752295" y="3709264"/>
            <a:ext cx="62545" cy="39045"/>
          </a:xfrm>
          <a:prstGeom prst="rect">
            <a:avLst/>
          </a:prstGeom>
          <a:solidFill>
            <a:srgbClr val="2F5470"/>
          </a:solidFill>
          <a:ln/>
        </p:spPr>
      </p:sp>
      <p:sp>
        <p:nvSpPr>
          <p:cNvPr id="26" name="Text 24"/>
          <p:cNvSpPr txBox="1"/>
          <p:nvPr/>
        </p:nvSpPr>
        <p:spPr>
          <a:xfrm>
            <a:off x="6908658" y="3643793"/>
            <a:ext cx="4754880" cy="65059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Train all of them against a loss measured on the final output. The objective being minimised is no longer the objective being optimised at test time — it is the training loss.</a:t>
            </a:r>
            <a:endParaRPr lang="en-US" sz="1138" dirty="0"/>
          </a:p>
        </p:txBody>
      </p:sp>
      <p:sp>
        <p:nvSpPr>
          <p:cNvPr id="27" name="Shape 25"/>
          <p:cNvSpPr/>
          <p:nvPr/>
        </p:nvSpPr>
        <p:spPr>
          <a:xfrm>
            <a:off x="6752295" y="4484949"/>
            <a:ext cx="62545" cy="39045"/>
          </a:xfrm>
          <a:prstGeom prst="rect">
            <a:avLst/>
          </a:prstGeom>
          <a:solidFill>
            <a:srgbClr val="2F5470"/>
          </a:solidFill>
          <a:ln/>
        </p:spPr>
      </p:sp>
      <p:sp>
        <p:nvSpPr>
          <p:cNvPr id="28" name="Text 26"/>
          <p:cNvSpPr txBox="1"/>
          <p:nvPr/>
        </p:nvSpPr>
        <p:spPr>
          <a:xfrm>
            <a:off x="6908658" y="4419478"/>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The result is, structurally, a neural network — but one whose layers are inherited from a PDE rather than invented.</a:t>
            </a:r>
            <a:endParaRPr lang="en-US" sz="1138" dirty="0"/>
          </a:p>
        </p:txBody>
      </p:sp>
      <p:sp>
        <p:nvSpPr>
          <p:cNvPr id="29" name="Shape 27"/>
          <p:cNvSpPr/>
          <p:nvPr/>
        </p:nvSpPr>
        <p:spPr>
          <a:xfrm>
            <a:off x="1531803" y="5200010"/>
            <a:ext cx="10097262" cy="15636"/>
          </a:xfrm>
          <a:prstGeom prst="rect">
            <a:avLst/>
          </a:prstGeom>
          <a:solidFill>
            <a:srgbClr val="2F5470"/>
          </a:solidFill>
          <a:ln/>
        </p:spPr>
      </p:sp>
      <p:sp>
        <p:nvSpPr>
          <p:cNvPr id="30" name="Text 28"/>
          <p:cNvSpPr txBox="1"/>
          <p:nvPr/>
        </p:nvSpPr>
        <p:spPr>
          <a:xfrm>
            <a:off x="1531803" y="5338724"/>
            <a:ext cx="10153223" cy="398587"/>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Why this matters for the narrative.</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Unrolling is the bridge that makes the classical→deep transition continuous rather than a rupture. TNRD is a diffusion equation and a CNN simultaneously, which is exactly why DnCNN can later derive itself from a one-stage TNRD.</a:t>
            </a:r>
            <a:endParaRPr lang="en-US" sz="1046" dirty="0"/>
          </a:p>
        </p:txBody>
      </p:sp>
      <p:sp>
        <p:nvSpPr>
          <p:cNvPr id="31" name="Text 29"/>
          <p:cNvSpPr txBox="1"/>
          <p:nvPr/>
        </p:nvSpPr>
        <p:spPr>
          <a:xfrm>
            <a:off x="10226192" y="6248827"/>
            <a:ext cx="1402781"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TNRD16 §1.2, §2 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reading</a:t>
            </a:r>
            <a:endParaRPr lang="en-US" sz="592" dirty="0"/>
          </a:p>
        </p:txBody>
      </p:sp>
      <p:sp>
        <p:nvSpPr>
          <p:cNvPr id="32" name="Shape 30"/>
          <p:cNvSpPr/>
          <p:nvPr/>
        </p:nvSpPr>
        <p:spPr>
          <a:xfrm>
            <a:off x="1531803" y="6537411"/>
            <a:ext cx="10097262" cy="7772"/>
          </a:xfrm>
          <a:prstGeom prst="rect">
            <a:avLst/>
          </a:prstGeom>
          <a:solidFill>
            <a:srgbClr val="C9C4B9"/>
          </a:solidFill>
          <a:ln/>
        </p:spPr>
      </p:sp>
      <p:sp>
        <p:nvSpPr>
          <p:cNvPr id="33" name="Shape 31"/>
          <p:cNvSpPr/>
          <p:nvPr/>
        </p:nvSpPr>
        <p:spPr>
          <a:xfrm>
            <a:off x="4336725" y="6525707"/>
            <a:ext cx="2804922" cy="31272"/>
          </a:xfrm>
          <a:prstGeom prst="rect">
            <a:avLst/>
          </a:prstGeom>
          <a:solidFill>
            <a:srgbClr val="2F5470"/>
          </a:solidFill>
          <a:ln/>
        </p:spPr>
      </p:sp>
      <p:sp>
        <p:nvSpPr>
          <p:cNvPr id="34" name="Shape 32"/>
          <p:cNvSpPr/>
          <p:nvPr/>
        </p:nvSpPr>
        <p:spPr>
          <a:xfrm>
            <a:off x="1531803" y="6498366"/>
            <a:ext cx="7772" cy="39045"/>
          </a:xfrm>
          <a:prstGeom prst="rect">
            <a:avLst/>
          </a:prstGeom>
          <a:solidFill>
            <a:srgbClr val="C9C4B9"/>
          </a:solidFill>
          <a:ln/>
        </p:spPr>
      </p:sp>
      <p:sp>
        <p:nvSpPr>
          <p:cNvPr id="35" name="Text 33"/>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6" name="Shape 34"/>
          <p:cNvSpPr/>
          <p:nvPr/>
        </p:nvSpPr>
        <p:spPr>
          <a:xfrm>
            <a:off x="5458511" y="6498366"/>
            <a:ext cx="7772" cy="39045"/>
          </a:xfrm>
          <a:prstGeom prst="rect">
            <a:avLst/>
          </a:prstGeom>
          <a:solidFill>
            <a:srgbClr val="C9C4B9"/>
          </a:solidFill>
          <a:ln/>
        </p:spPr>
      </p:sp>
      <p:sp>
        <p:nvSpPr>
          <p:cNvPr id="37" name="Text 35"/>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8" name="Shape 36"/>
          <p:cNvSpPr/>
          <p:nvPr/>
        </p:nvSpPr>
        <p:spPr>
          <a:xfrm>
            <a:off x="7141738" y="6498366"/>
            <a:ext cx="7772" cy="39045"/>
          </a:xfrm>
          <a:prstGeom prst="rect">
            <a:avLst/>
          </a:prstGeom>
          <a:solidFill>
            <a:srgbClr val="C9C4B9"/>
          </a:solidFill>
          <a:ln/>
        </p:spPr>
      </p:sp>
      <p:sp>
        <p:nvSpPr>
          <p:cNvPr id="39" name="Text 37"/>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40" name="Shape 38"/>
          <p:cNvSpPr/>
          <p:nvPr/>
        </p:nvSpPr>
        <p:spPr>
          <a:xfrm>
            <a:off x="9945654" y="6498366"/>
            <a:ext cx="7772" cy="39045"/>
          </a:xfrm>
          <a:prstGeom prst="rect">
            <a:avLst/>
          </a:prstGeom>
          <a:solidFill>
            <a:srgbClr val="C9C4B9"/>
          </a:solidFill>
          <a:ln/>
        </p:spPr>
      </p:sp>
      <p:sp>
        <p:nvSpPr>
          <p:cNvPr id="41" name="Text 39"/>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42" name="Shape 40"/>
          <p:cNvSpPr/>
          <p:nvPr/>
        </p:nvSpPr>
        <p:spPr>
          <a:xfrm>
            <a:off x="11628973" y="6498366"/>
            <a:ext cx="7772" cy="39045"/>
          </a:xfrm>
          <a:prstGeom prst="rect">
            <a:avLst/>
          </a:prstGeom>
          <a:solidFill>
            <a:srgbClr val="C9C4B9"/>
          </a:solidFill>
          <a:ln/>
        </p:spPr>
      </p:sp>
      <p:sp>
        <p:nvSpPr>
          <p:cNvPr id="43" name="Text 41"/>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596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30</a:t>
            </a:r>
            <a:endParaRPr lang="en-US" sz="2893" dirty="0"/>
          </a:p>
        </p:txBody>
      </p:sp>
      <p:sp>
        <p:nvSpPr>
          <p:cNvPr id="3" name="Text 1"/>
          <p:cNvSpPr txBox="1"/>
          <p:nvPr/>
        </p:nvSpPr>
        <p:spPr>
          <a:xfrm rot="16200000">
            <a:off x="-384871" y="3428909"/>
            <a:ext cx="818388"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2F5470"/>
                </a:solidFill>
                <a:latin typeface="Calibri" pitchFamily="34" charset="0"/>
                <a:ea typeface="Calibri" pitchFamily="34" charset="-122"/>
                <a:cs typeface="Calibri" pitchFamily="34" charset="-120"/>
              </a:rPr>
              <a:t>THE BRIDGE</a:t>
            </a:r>
            <a:endParaRPr lang="en-US" sz="789" dirty="0"/>
          </a:p>
        </p:txBody>
      </p:sp>
      <p:sp>
        <p:nvSpPr>
          <p:cNvPr id="4" name="Shape 2"/>
          <p:cNvSpPr/>
          <p:nvPr/>
        </p:nvSpPr>
        <p:spPr>
          <a:xfrm>
            <a:off x="1636685" y="492679"/>
            <a:ext cx="217079" cy="25055"/>
          </a:xfrm>
          <a:prstGeom prst="rect">
            <a:avLst/>
          </a:prstGeom>
          <a:solidFill>
            <a:srgbClr val="2F5470"/>
          </a:solidFill>
          <a:ln/>
        </p:spPr>
      </p:sp>
      <p:sp>
        <p:nvSpPr>
          <p:cNvPr id="5" name="Text 3"/>
          <p:cNvSpPr txBox="1"/>
          <p:nvPr/>
        </p:nvSpPr>
        <p:spPr>
          <a:xfrm>
            <a:off x="1953981" y="436443"/>
            <a:ext cx="384871"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2F5470"/>
                </a:solidFill>
                <a:latin typeface="Calibri" pitchFamily="34" charset="0"/>
                <a:ea typeface="Calibri" pitchFamily="34" charset="-122"/>
                <a:cs typeface="Calibri" pitchFamily="34" charset="-120"/>
              </a:rPr>
              <a:t>TNRD</a:t>
            </a:r>
            <a:endParaRPr lang="en-US" sz="888" dirty="0"/>
          </a:p>
        </p:txBody>
      </p:sp>
      <p:sp>
        <p:nvSpPr>
          <p:cNvPr id="6" name="Text 4"/>
          <p:cNvSpPr txBox="1"/>
          <p:nvPr/>
        </p:nvSpPr>
        <p:spPr>
          <a:xfrm>
            <a:off x="1636685" y="690281"/>
            <a:ext cx="10010303" cy="829635"/>
          </a:xfrm>
          <a:prstGeom prst="rect">
            <a:avLst/>
          </a:prstGeom>
          <a:noFill/>
          <a:ln/>
        </p:spPr>
        <p:txBody>
          <a:bodyPr wrap="squar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Trainable Nonlinear Reaction Diffusion — a PDE with learned parameters</a:t>
            </a:r>
            <a:endParaRPr lang="en-US" sz="3025" dirty="0"/>
          </a:p>
        </p:txBody>
      </p:sp>
      <p:sp>
        <p:nvSpPr>
          <p:cNvPr id="7" name="Text 5"/>
          <p:cNvSpPr txBox="1"/>
          <p:nvPr/>
        </p:nvSpPr>
        <p:spPr>
          <a:xfrm>
            <a:off x="1636685" y="1656253"/>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Chen and Pock, IEEE TPAMI 2016/2017. DnCNN's direct theoretical ancestor. The model is a classical nonlinear diffusion process in which every component — the filters </a:t>
            </a:r>
            <a:pPr algn="l" indent="0" marL="0">
              <a:lnSpc>
                <a:spcPts val="1973"/>
              </a:lnSpc>
              <a:buNone/>
            </a:pPr>
            <a:r>
              <a:rPr kern="0" lang="en-US" sz="1315" i="1" dirty="0">
                <a:solidFill>
                  <a:srgbClr val="5A554D"/>
                </a:solidFill>
                <a:latin typeface="Calibri" pitchFamily="34" charset="0"/>
                <a:ea typeface="Calibri" pitchFamily="34" charset="-122"/>
                <a:cs typeface="Calibri" pitchFamily="34" charset="-120"/>
              </a:rPr>
              <a:t>and</a:t>
            </a:r>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 the influence functions — is learned from data rather than chosen.</a:t>
            </a:r>
            <a:endParaRPr lang="en-US" sz="1315" dirty="0"/>
          </a:p>
        </p:txBody>
      </p:sp>
      <p:sp>
        <p:nvSpPr>
          <p:cNvPr id="8" name="Shape 6"/>
          <p:cNvSpPr/>
          <p:nvPr/>
        </p:nvSpPr>
        <p:spPr>
          <a:xfrm>
            <a:off x="1636959" y="2641610"/>
            <a:ext cx="9953244" cy="2646182"/>
          </a:xfrm>
          <a:prstGeom prst="rect">
            <a:avLst/>
          </a:prstGeom>
          <a:solidFill>
            <a:srgbClr val="FFFFFF"/>
          </a:solidFill>
          <a:ln/>
          <a:effectLst>
            <a:outerShdw sx="100000" sy="100000" kx="0" ky="0" algn="bl" rotWithShape="0" blurRad="25052" dist="8350" dir="5400000">
              <a:srgbClr val="14120F">
                <a:alpha val="12000"/>
              </a:srgbClr>
            </a:outerShdw>
          </a:effectLst>
        </p:spPr>
      </p:sp>
      <p:sp>
        <p:nvSpPr>
          <p:cNvPr id="9" name="Shape 7"/>
          <p:cNvSpPr/>
          <p:nvPr/>
        </p:nvSpPr>
        <p:spPr>
          <a:xfrm>
            <a:off x="1636959" y="2641610"/>
            <a:ext cx="9953244" cy="8321"/>
          </a:xfrm>
          <a:prstGeom prst="rect">
            <a:avLst/>
          </a:prstGeom>
          <a:solidFill>
            <a:srgbClr val="C9C4B9"/>
          </a:solidFill>
          <a:ln/>
        </p:spPr>
      </p:sp>
      <p:sp>
        <p:nvSpPr>
          <p:cNvPr id="10" name="Shape 8"/>
          <p:cNvSpPr/>
          <p:nvPr/>
        </p:nvSpPr>
        <p:spPr>
          <a:xfrm>
            <a:off x="1636959" y="5279471"/>
            <a:ext cx="9953244" cy="8321"/>
          </a:xfrm>
          <a:prstGeom prst="rect">
            <a:avLst/>
          </a:prstGeom>
          <a:solidFill>
            <a:srgbClr val="C9C4B9"/>
          </a:solidFill>
          <a:ln/>
        </p:spPr>
      </p:sp>
      <p:sp>
        <p:nvSpPr>
          <p:cNvPr id="11" name="Shape 9"/>
          <p:cNvSpPr/>
          <p:nvPr/>
        </p:nvSpPr>
        <p:spPr>
          <a:xfrm>
            <a:off x="1636959" y="2641610"/>
            <a:ext cx="8321" cy="2646182"/>
          </a:xfrm>
          <a:prstGeom prst="rect">
            <a:avLst/>
          </a:prstGeom>
          <a:solidFill>
            <a:srgbClr val="C9C4B9"/>
          </a:solidFill>
          <a:ln/>
        </p:spPr>
      </p:sp>
      <p:sp>
        <p:nvSpPr>
          <p:cNvPr id="12" name="Shape 10"/>
          <p:cNvSpPr/>
          <p:nvPr/>
        </p:nvSpPr>
        <p:spPr>
          <a:xfrm>
            <a:off x="11581882" y="2641610"/>
            <a:ext cx="8321" cy="2646182"/>
          </a:xfrm>
          <a:prstGeom prst="rect">
            <a:avLst/>
          </a:prstGeom>
          <a:solidFill>
            <a:srgbClr val="C9C4B9"/>
          </a:solidFill>
          <a:ln/>
        </p:spPr>
      </p:sp>
      <p:pic>
        <p:nvPicPr>
          <p:cNvPr id="13" name="Image 0" descr="The diffusion network unrolled as a feed-forward graph: each stage applies the learned filters, the trainable nonlinearity, and the reaction force in sequence.">    </p:cNvPr>
          <p:cNvPicPr>
            <a:picLocks noChangeAspect="1"/>
          </p:cNvPicPr>
          <p:nvPr/>
        </p:nvPicPr>
        <p:blipFill>
          <a:blip r:embed="rId1"/>
          <a:stretch>
            <a:fillRect/>
          </a:stretch>
        </p:blipFill>
        <p:spPr>
          <a:xfrm>
            <a:off x="1762232" y="2766883"/>
            <a:ext cx="9702698" cy="2395637"/>
          </a:xfrm>
          <a:prstGeom prst="rect">
            <a:avLst/>
          </a:prstGeom>
        </p:spPr>
      </p:pic>
      <p:sp>
        <p:nvSpPr>
          <p:cNvPr id="14" name="Text 11"/>
          <p:cNvSpPr txBox="1"/>
          <p:nvPr/>
        </p:nvSpPr>
        <p:spPr>
          <a:xfrm>
            <a:off x="2832445" y="5402184"/>
            <a:ext cx="7562179" cy="327264"/>
          </a:xfrm>
          <a:prstGeom prst="rect">
            <a:avLst/>
          </a:prstGeom>
          <a:noFill/>
          <a:ln/>
        </p:spPr>
        <p:txBody>
          <a:bodyPr wrap="square" lIns="0" tIns="0" rIns="0" bIns="0" rtlCol="0" anchor="t"/>
          <a:lstStyle/>
          <a:p>
            <a:pPr algn="ctr" indent="0" marL="0">
              <a:lnSpc>
                <a:spcPts val="1289"/>
              </a:lnSpc>
              <a:buNone/>
            </a:pPr>
            <a:r>
              <a:rPr kern="0" lang="en-US" sz="921" i="1" dirty="0">
                <a:solidFill>
                  <a:srgbClr val="8A847A"/>
                </a:solidFill>
                <a:latin typeface="Calibri" pitchFamily="34" charset="0"/>
                <a:ea typeface="Calibri" pitchFamily="34" charset="-122"/>
                <a:cs typeface="Calibri" pitchFamily="34" charset="-120"/>
              </a:rPr>
              <a:t>The diffusion network unrolled as a feed-forward graph: each stage applies the learned filters, the trainable nonlinearity, and the reaction force in sequence. [TNRD16/17 · Fig. 1]</a:t>
            </a:r>
            <a:endParaRPr lang="en-US" sz="921" dirty="0"/>
          </a:p>
        </p:txBody>
      </p:sp>
      <p:sp>
        <p:nvSpPr>
          <p:cNvPr id="15" name="Text 12"/>
          <p:cNvSpPr txBox="1"/>
          <p:nvPr/>
        </p:nvSpPr>
        <p:spPr>
          <a:xfrm>
            <a:off x="8850203" y="6207039"/>
            <a:ext cx="2740274"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TNRD16 abstract, §1, §2, §3 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Tables I, II, IV</a:t>
            </a:r>
            <a:endParaRPr lang="en-US" sz="633" dirty="0"/>
          </a:p>
        </p:txBody>
      </p:sp>
      <p:sp>
        <p:nvSpPr>
          <p:cNvPr id="16" name="Shape 13"/>
          <p:cNvSpPr/>
          <p:nvPr/>
        </p:nvSpPr>
        <p:spPr>
          <a:xfrm>
            <a:off x="1636685" y="6515466"/>
            <a:ext cx="9953793" cy="8321"/>
          </a:xfrm>
          <a:prstGeom prst="rect">
            <a:avLst/>
          </a:prstGeom>
          <a:solidFill>
            <a:srgbClr val="C9C4B9"/>
          </a:solidFill>
          <a:ln/>
        </p:spPr>
      </p:sp>
      <p:sp>
        <p:nvSpPr>
          <p:cNvPr id="17" name="Shape 14"/>
          <p:cNvSpPr/>
          <p:nvPr/>
        </p:nvSpPr>
        <p:spPr>
          <a:xfrm>
            <a:off x="4401739" y="6502938"/>
            <a:ext cx="2765054" cy="33376"/>
          </a:xfrm>
          <a:prstGeom prst="rect">
            <a:avLst/>
          </a:prstGeom>
          <a:solidFill>
            <a:srgbClr val="2F5470"/>
          </a:solidFill>
          <a:ln/>
        </p:spPr>
      </p:sp>
      <p:sp>
        <p:nvSpPr>
          <p:cNvPr id="18" name="Shape 15"/>
          <p:cNvSpPr/>
          <p:nvPr/>
        </p:nvSpPr>
        <p:spPr>
          <a:xfrm>
            <a:off x="1636685" y="6473678"/>
            <a:ext cx="8321" cy="41788"/>
          </a:xfrm>
          <a:prstGeom prst="rect">
            <a:avLst/>
          </a:prstGeom>
          <a:solidFill>
            <a:srgbClr val="C9C4B9"/>
          </a:solidFill>
          <a:ln/>
        </p:spPr>
      </p:sp>
      <p:sp>
        <p:nvSpPr>
          <p:cNvPr id="19" name="Text 16"/>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0" name="Shape 17"/>
          <p:cNvSpPr/>
          <p:nvPr/>
        </p:nvSpPr>
        <p:spPr>
          <a:xfrm>
            <a:off x="5507706" y="6473678"/>
            <a:ext cx="8321" cy="41788"/>
          </a:xfrm>
          <a:prstGeom prst="rect">
            <a:avLst/>
          </a:prstGeom>
          <a:solidFill>
            <a:srgbClr val="C9C4B9"/>
          </a:solidFill>
          <a:ln/>
        </p:spPr>
      </p:sp>
      <p:sp>
        <p:nvSpPr>
          <p:cNvPr id="21" name="Text 18"/>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2" name="Shape 19"/>
          <p:cNvSpPr/>
          <p:nvPr/>
        </p:nvSpPr>
        <p:spPr>
          <a:xfrm>
            <a:off x="7166884" y="6473678"/>
            <a:ext cx="8321" cy="41788"/>
          </a:xfrm>
          <a:prstGeom prst="rect">
            <a:avLst/>
          </a:prstGeom>
          <a:solidFill>
            <a:srgbClr val="C9C4B9"/>
          </a:solidFill>
          <a:ln/>
        </p:spPr>
      </p:sp>
      <p:sp>
        <p:nvSpPr>
          <p:cNvPr id="23" name="Text 20"/>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4" name="Shape 21"/>
          <p:cNvSpPr/>
          <p:nvPr/>
        </p:nvSpPr>
        <p:spPr>
          <a:xfrm>
            <a:off x="9931024" y="6473678"/>
            <a:ext cx="8321" cy="41788"/>
          </a:xfrm>
          <a:prstGeom prst="rect">
            <a:avLst/>
          </a:prstGeom>
          <a:solidFill>
            <a:srgbClr val="C9C4B9"/>
          </a:solidFill>
          <a:ln/>
        </p:spPr>
      </p:sp>
      <p:sp>
        <p:nvSpPr>
          <p:cNvPr id="25" name="Text 22"/>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6" name="Shape 23"/>
          <p:cNvSpPr/>
          <p:nvPr/>
        </p:nvSpPr>
        <p:spPr>
          <a:xfrm>
            <a:off x="11590477" y="6473678"/>
            <a:ext cx="8321" cy="41788"/>
          </a:xfrm>
          <a:prstGeom prst="rect">
            <a:avLst/>
          </a:prstGeom>
          <a:solidFill>
            <a:srgbClr val="C9C4B9"/>
          </a:solidFill>
          <a:ln/>
        </p:spPr>
      </p:sp>
      <p:sp>
        <p:nvSpPr>
          <p:cNvPr id="27" name="Text 24"/>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65851"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30</a:t>
            </a:r>
            <a:endParaRPr lang="en-US" sz="2545" dirty="0"/>
          </a:p>
        </p:txBody>
      </p:sp>
      <p:sp>
        <p:nvSpPr>
          <p:cNvPr id="3" name="Text 1"/>
          <p:cNvSpPr txBox="1"/>
          <p:nvPr/>
        </p:nvSpPr>
        <p:spPr>
          <a:xfrm rot="16200000">
            <a:off x="-338511" y="3428909"/>
            <a:ext cx="719724"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2F5470"/>
                </a:solidFill>
                <a:latin typeface="Calibri" pitchFamily="34" charset="0"/>
                <a:ea typeface="Calibri" pitchFamily="34" charset="-122"/>
                <a:cs typeface="Calibri" pitchFamily="34" charset="-120"/>
              </a:rPr>
              <a:t>THE BRIDGE</a:t>
            </a:r>
            <a:endParaRPr lang="en-US" sz="694" dirty="0"/>
          </a:p>
        </p:txBody>
      </p:sp>
      <p:sp>
        <p:nvSpPr>
          <p:cNvPr id="4" name="Shape 2"/>
          <p:cNvSpPr/>
          <p:nvPr/>
        </p:nvSpPr>
        <p:spPr>
          <a:xfrm>
            <a:off x="1439540" y="433334"/>
            <a:ext cx="190927" cy="22037"/>
          </a:xfrm>
          <a:prstGeom prst="rect">
            <a:avLst/>
          </a:prstGeom>
          <a:solidFill>
            <a:srgbClr val="2F5470"/>
          </a:solidFill>
          <a:ln/>
        </p:spPr>
      </p:sp>
      <p:sp>
        <p:nvSpPr>
          <p:cNvPr id="5" name="Text 3"/>
          <p:cNvSpPr txBox="1"/>
          <p:nvPr/>
        </p:nvSpPr>
        <p:spPr>
          <a:xfrm>
            <a:off x="1718615" y="383865"/>
            <a:ext cx="338511"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2F5470"/>
                </a:solidFill>
                <a:latin typeface="Calibri" pitchFamily="34" charset="0"/>
                <a:ea typeface="Calibri" pitchFamily="34" charset="-122"/>
                <a:cs typeface="Calibri" pitchFamily="34" charset="-120"/>
              </a:rPr>
              <a:t>TNRD</a:t>
            </a:r>
            <a:endParaRPr lang="en-US" sz="781" dirty="0"/>
          </a:p>
        </p:txBody>
      </p:sp>
      <p:sp>
        <p:nvSpPr>
          <p:cNvPr id="6" name="Text 4"/>
          <p:cNvSpPr txBox="1"/>
          <p:nvPr/>
        </p:nvSpPr>
        <p:spPr>
          <a:xfrm>
            <a:off x="2101200" y="383865"/>
            <a:ext cx="764073"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2F5470"/>
                </a:solidFill>
                <a:latin typeface="Calibri" pitchFamily="34" charset="0"/>
                <a:ea typeface="Calibri" pitchFamily="34" charset="-122"/>
                <a:cs typeface="Calibri" pitchFamily="34" charset="-120"/>
              </a:rPr>
              <a:t>· CONTINUED</a:t>
            </a:r>
            <a:endParaRPr lang="en-US" sz="781" dirty="0"/>
          </a:p>
        </p:txBody>
      </p:sp>
      <p:sp>
        <p:nvSpPr>
          <p:cNvPr id="7" name="Text 5"/>
          <p:cNvSpPr txBox="1"/>
          <p:nvPr/>
        </p:nvSpPr>
        <p:spPr>
          <a:xfrm>
            <a:off x="1439540" y="607070"/>
            <a:ext cx="10278953" cy="729691"/>
          </a:xfrm>
          <a:prstGeom prst="rect">
            <a:avLst/>
          </a:prstGeom>
          <a:noFill/>
          <a:ln/>
        </p:spPr>
        <p:txBody>
          <a:bodyPr wrap="squar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Trainable Nonlinear Reaction Diffusion — a PDE with learned parameters</a:t>
            </a:r>
            <a:endParaRPr lang="en-US" sz="2660" dirty="0"/>
          </a:p>
        </p:txBody>
      </p:sp>
      <p:sp>
        <p:nvSpPr>
          <p:cNvPr id="8" name="Shape 6"/>
          <p:cNvSpPr/>
          <p:nvPr/>
        </p:nvSpPr>
        <p:spPr>
          <a:xfrm>
            <a:off x="1439540" y="1456731"/>
            <a:ext cx="10223358" cy="1486174"/>
          </a:xfrm>
          <a:prstGeom prst="rect">
            <a:avLst/>
          </a:prstGeom>
          <a:solidFill>
            <a:srgbClr val="ECEDED"/>
          </a:solidFill>
          <a:ln/>
        </p:spPr>
      </p:sp>
      <p:sp>
        <p:nvSpPr>
          <p:cNvPr id="9" name="Shape 7"/>
          <p:cNvSpPr/>
          <p:nvPr/>
        </p:nvSpPr>
        <p:spPr>
          <a:xfrm>
            <a:off x="1439540" y="1456731"/>
            <a:ext cx="29352" cy="1486174"/>
          </a:xfrm>
          <a:prstGeom prst="rect">
            <a:avLst/>
          </a:prstGeom>
          <a:solidFill>
            <a:srgbClr val="2F5470"/>
          </a:solidFill>
          <a:ln/>
        </p:spPr>
      </p:sp>
      <p:pic>
        <p:nvPicPr>
          <p:cNvPr id="10" name="Image 0" descr="\frac{u_{t} - u_{t-1}}{\Delta t} \;=\; -\sum_{i=1}^{N_{k}}\big(K_{i}^{t}\big)^{\!\top}\phi_{i}^{t}\big(K_{i}^{t}\,u_{t-1}\big) \;-\; \psi^{t}\big(u_{t-1},\, f\big)">    </p:cNvPr>
          <p:cNvPicPr>
            <a:picLocks noChangeAspect="1"/>
          </p:cNvPicPr>
          <p:nvPr/>
        </p:nvPicPr>
        <p:blipFill>
          <a:blip r:embed="rId1"/>
          <a:stretch>
            <a:fillRect/>
          </a:stretch>
        </p:blipFill>
        <p:spPr>
          <a:xfrm>
            <a:off x="1645188" y="1581546"/>
            <a:ext cx="6946057" cy="1000079"/>
          </a:xfrm>
          <a:prstGeom prst="rect">
            <a:avLst/>
          </a:prstGeom>
        </p:spPr>
      </p:pic>
      <p:sp>
        <p:nvSpPr>
          <p:cNvPr id="11" name="Text 8"/>
          <p:cNvSpPr txBox="1"/>
          <p:nvPr/>
        </p:nvSpPr>
        <p:spPr>
          <a:xfrm>
            <a:off x="1645188" y="2654412"/>
            <a:ext cx="8227040"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left group = diffusion term · right group = reaction term · K_i — sparse matrices implementing 2-D convolution with kernel k_i · φ_i — influence functions · f — the degraded input</a:t>
            </a:r>
            <a:endParaRPr lang="en-US" sz="867" dirty="0"/>
          </a:p>
        </p:txBody>
      </p:sp>
      <p:sp>
        <p:nvSpPr>
          <p:cNvPr id="12" name="Shape 9"/>
          <p:cNvSpPr/>
          <p:nvPr/>
        </p:nvSpPr>
        <p:spPr>
          <a:xfrm>
            <a:off x="1439540" y="3053090"/>
            <a:ext cx="10223358" cy="917326"/>
          </a:xfrm>
          <a:prstGeom prst="rect">
            <a:avLst/>
          </a:prstGeom>
          <a:solidFill>
            <a:srgbClr val="ECEDED"/>
          </a:solidFill>
          <a:ln/>
        </p:spPr>
      </p:sp>
      <p:sp>
        <p:nvSpPr>
          <p:cNvPr id="13" name="Shape 10"/>
          <p:cNvSpPr/>
          <p:nvPr/>
        </p:nvSpPr>
        <p:spPr>
          <a:xfrm>
            <a:off x="1439540" y="3053090"/>
            <a:ext cx="29352" cy="917326"/>
          </a:xfrm>
          <a:prstGeom prst="rect">
            <a:avLst/>
          </a:prstGeom>
          <a:solidFill>
            <a:srgbClr val="2F5470"/>
          </a:solidFill>
          <a:ln/>
        </p:spPr>
      </p:sp>
      <p:pic>
        <p:nvPicPr>
          <p:cNvPr id="14" name="Image 1" descr="\psi^{t}(u) \;=\; \nabla_{\!u} D_{t}(u,f) \;=\; \lambda^{t} A^{\!\top}\big(Au - f\big),\qquad A = I\ \text{ for denoising}">    </p:cNvPr>
          <p:cNvPicPr>
            <a:picLocks noChangeAspect="1"/>
          </p:cNvPicPr>
          <p:nvPr/>
        </p:nvPicPr>
        <p:blipFill>
          <a:blip r:embed="rId2"/>
          <a:stretch>
            <a:fillRect/>
          </a:stretch>
        </p:blipFill>
        <p:spPr>
          <a:xfrm>
            <a:off x="1645188" y="3177906"/>
            <a:ext cx="8544154" cy="431231"/>
          </a:xfrm>
          <a:prstGeom prst="rect">
            <a:avLst/>
          </a:prstGeom>
        </p:spPr>
      </p:pic>
      <p:sp>
        <p:nvSpPr>
          <p:cNvPr id="15" name="Text 11"/>
          <p:cNvSpPr txBox="1"/>
          <p:nvPr/>
        </p:nvSpPr>
        <p:spPr>
          <a:xfrm>
            <a:off x="1645188" y="3681923"/>
            <a:ext cx="6936090"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the reaction term is the gradient of a data-fidelity term — which is what makes one framework serve denoising, super-resolution and JPEG deblocking</a:t>
            </a:r>
            <a:endParaRPr lang="en-US" sz="867" dirty="0"/>
          </a:p>
        </p:txBody>
      </p:sp>
      <p:sp>
        <p:nvSpPr>
          <p:cNvPr id="16" name="Shape 12"/>
          <p:cNvSpPr/>
          <p:nvPr/>
        </p:nvSpPr>
        <p:spPr>
          <a:xfrm>
            <a:off x="1439540" y="4080601"/>
            <a:ext cx="10223358" cy="7315"/>
          </a:xfrm>
          <a:prstGeom prst="rect">
            <a:avLst/>
          </a:prstGeom>
          <a:solidFill>
            <a:srgbClr val="DFDBD2"/>
          </a:solidFill>
          <a:ln/>
        </p:spPr>
      </p:sp>
      <p:sp>
        <p:nvSpPr>
          <p:cNvPr id="17" name="Text 13"/>
          <p:cNvSpPr txBox="1"/>
          <p:nvPr/>
        </p:nvSpPr>
        <p:spPr>
          <a:xfrm>
            <a:off x="1439540" y="4212824"/>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8" name="Text 14"/>
          <p:cNvSpPr txBox="1"/>
          <p:nvPr/>
        </p:nvSpPr>
        <p:spPr>
          <a:xfrm>
            <a:off x="1747967" y="4202674"/>
            <a:ext cx="3341218"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Δt = 1 in practice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because φ and ψ can be freely rescaled.</a:t>
            </a:r>
            <a:endParaRPr lang="en-US" sz="1070" dirty="0"/>
          </a:p>
        </p:txBody>
      </p:sp>
      <p:sp>
        <p:nvSpPr>
          <p:cNvPr id="19" name="Text 15"/>
          <p:cNvSpPr txBox="1"/>
          <p:nvPr/>
        </p:nvSpPr>
        <p:spPr>
          <a:xfrm>
            <a:off x="1439540" y="4534144"/>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20" name="Text 16"/>
          <p:cNvSpPr txBox="1"/>
          <p:nvPr/>
        </p:nvSpPr>
        <p:spPr>
          <a:xfrm>
            <a:off x="1747967" y="4523994"/>
            <a:ext cx="9424081"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What is learned:</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earlier diffusion models fixed the filters and chose the diffusivity. TNRD learns both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simultaneously</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from a loss, and lets them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vary across stages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[1]</a:t>
            </a:r>
            <a:endParaRPr lang="en-US" sz="1070" dirty="0"/>
          </a:p>
        </p:txBody>
      </p:sp>
      <p:sp>
        <p:nvSpPr>
          <p:cNvPr id="21" name="Text 17"/>
          <p:cNvSpPr txBox="1"/>
          <p:nvPr/>
        </p:nvSpPr>
        <p:spPr>
          <a:xfrm>
            <a:off x="1439540" y="4855464"/>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22" name="Text 18"/>
          <p:cNvSpPr txBox="1"/>
          <p:nvPr/>
        </p:nvSpPr>
        <p:spPr>
          <a:xfrm>
            <a:off x="1747967" y="4845314"/>
            <a:ext cx="5372283"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Configurations: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24 filters of 5×5, 48 of 7×7, 80 of 9×9 — the count is m²−1 for an m×m kernel.</a:t>
            </a:r>
            <a:endParaRPr lang="en-US" sz="1070" dirty="0"/>
          </a:p>
        </p:txBody>
      </p:sp>
      <p:sp>
        <p:nvSpPr>
          <p:cNvPr id="23" name="Text 19"/>
          <p:cNvSpPr txBox="1"/>
          <p:nvPr/>
        </p:nvSpPr>
        <p:spPr>
          <a:xfrm>
            <a:off x="1439540" y="5176784"/>
            <a:ext cx="139903"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04</a:t>
            </a:r>
            <a:endParaRPr lang="en-US" sz="694" dirty="0"/>
          </a:p>
        </p:txBody>
      </p:sp>
      <p:sp>
        <p:nvSpPr>
          <p:cNvPr id="24" name="Text 20"/>
          <p:cNvSpPr txBox="1"/>
          <p:nvPr/>
        </p:nvSpPr>
        <p:spPr>
          <a:xfrm>
            <a:off x="1747967" y="5166634"/>
            <a:ext cx="6739494"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payoff:</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truncation to a few stages is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well-suited for parallel computation on GPUs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in explicit contrast to BM3D.</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[1]</a:t>
            </a:r>
            <a:endParaRPr lang="en-US" sz="1070" dirty="0"/>
          </a:p>
        </p:txBody>
      </p:sp>
      <p:sp>
        <p:nvSpPr>
          <p:cNvPr id="25" name="Text 21"/>
          <p:cNvSpPr txBox="1"/>
          <p:nvPr/>
        </p:nvSpPr>
        <p:spPr>
          <a:xfrm>
            <a:off x="1439540" y="5498104"/>
            <a:ext cx="136886"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05</a:t>
            </a:r>
            <a:endParaRPr lang="en-US" sz="694" dirty="0"/>
          </a:p>
        </p:txBody>
      </p:sp>
      <p:sp>
        <p:nvSpPr>
          <p:cNvPr id="26" name="Text 22"/>
          <p:cNvSpPr txBox="1"/>
          <p:nvPr/>
        </p:nvSpPr>
        <p:spPr>
          <a:xfrm>
            <a:off x="1747967" y="5487954"/>
            <a:ext cx="8750076"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Result and limit.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31.42 / 28.92 / 25.97 dB</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[2]</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on BSD68 at 0.032 s per 512×512 on GPU — but one model per noise level, and a 61×61 effective patch size.</a:t>
            </a:r>
            <a:endParaRPr lang="en-US" sz="1070" dirty="0"/>
          </a:p>
        </p:txBody>
      </p:sp>
      <p:sp>
        <p:nvSpPr>
          <p:cNvPr id="27" name="Text 23"/>
          <p:cNvSpPr txBox="1"/>
          <p:nvPr/>
        </p:nvSpPr>
        <p:spPr>
          <a:xfrm>
            <a:off x="9252814" y="6285494"/>
            <a:ext cx="2410084"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TNRD16 abstract, §1, §2, §3 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DnCNN17 Tables I, II, IV</a:t>
            </a:r>
            <a:endParaRPr lang="en-US" sz="556" dirty="0"/>
          </a:p>
        </p:txBody>
      </p:sp>
      <p:sp>
        <p:nvSpPr>
          <p:cNvPr id="28" name="Shape 24"/>
          <p:cNvSpPr/>
          <p:nvPr/>
        </p:nvSpPr>
        <p:spPr>
          <a:xfrm>
            <a:off x="1439540" y="6556705"/>
            <a:ext cx="10223358" cy="7315"/>
          </a:xfrm>
          <a:prstGeom prst="rect">
            <a:avLst/>
          </a:prstGeom>
          <a:solidFill>
            <a:srgbClr val="C9C4B9"/>
          </a:solidFill>
          <a:ln/>
        </p:spPr>
      </p:sp>
      <p:sp>
        <p:nvSpPr>
          <p:cNvPr id="29" name="Shape 25"/>
          <p:cNvSpPr/>
          <p:nvPr/>
        </p:nvSpPr>
        <p:spPr>
          <a:xfrm>
            <a:off x="4279483" y="6545732"/>
            <a:ext cx="2839944" cy="29352"/>
          </a:xfrm>
          <a:prstGeom prst="rect">
            <a:avLst/>
          </a:prstGeom>
          <a:solidFill>
            <a:srgbClr val="2F5470"/>
          </a:solidFill>
          <a:ln/>
        </p:spPr>
      </p:sp>
      <p:sp>
        <p:nvSpPr>
          <p:cNvPr id="30" name="Shape 26"/>
          <p:cNvSpPr/>
          <p:nvPr/>
        </p:nvSpPr>
        <p:spPr>
          <a:xfrm>
            <a:off x="1439540" y="6519946"/>
            <a:ext cx="7315" cy="36759"/>
          </a:xfrm>
          <a:prstGeom prst="rect">
            <a:avLst/>
          </a:prstGeom>
          <a:solidFill>
            <a:srgbClr val="C9C4B9"/>
          </a:solidFill>
          <a:ln/>
        </p:spPr>
      </p:sp>
      <p:sp>
        <p:nvSpPr>
          <p:cNvPr id="31" name="Text 27"/>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2" name="Shape 28"/>
          <p:cNvSpPr/>
          <p:nvPr/>
        </p:nvSpPr>
        <p:spPr>
          <a:xfrm>
            <a:off x="5415351" y="6519946"/>
            <a:ext cx="7315" cy="36759"/>
          </a:xfrm>
          <a:prstGeom prst="rect">
            <a:avLst/>
          </a:prstGeom>
          <a:solidFill>
            <a:srgbClr val="C9C4B9"/>
          </a:solidFill>
          <a:ln/>
        </p:spPr>
      </p:sp>
      <p:sp>
        <p:nvSpPr>
          <p:cNvPr id="33" name="Text 29"/>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4" name="Shape 30"/>
          <p:cNvSpPr/>
          <p:nvPr/>
        </p:nvSpPr>
        <p:spPr>
          <a:xfrm>
            <a:off x="7119610" y="6519946"/>
            <a:ext cx="7315" cy="36759"/>
          </a:xfrm>
          <a:prstGeom prst="rect">
            <a:avLst/>
          </a:prstGeom>
          <a:solidFill>
            <a:srgbClr val="C9C4B9"/>
          </a:solidFill>
          <a:ln/>
        </p:spPr>
      </p:sp>
      <p:sp>
        <p:nvSpPr>
          <p:cNvPr id="35" name="Text 31"/>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6" name="Shape 32"/>
          <p:cNvSpPr/>
          <p:nvPr/>
        </p:nvSpPr>
        <p:spPr>
          <a:xfrm>
            <a:off x="9958639" y="6519946"/>
            <a:ext cx="7315" cy="36759"/>
          </a:xfrm>
          <a:prstGeom prst="rect">
            <a:avLst/>
          </a:prstGeom>
          <a:solidFill>
            <a:srgbClr val="C9C4B9"/>
          </a:solidFill>
          <a:ln/>
        </p:spPr>
      </p:sp>
      <p:sp>
        <p:nvSpPr>
          <p:cNvPr id="37" name="Text 33"/>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8" name="Shape 34"/>
          <p:cNvSpPr/>
          <p:nvPr/>
        </p:nvSpPr>
        <p:spPr>
          <a:xfrm>
            <a:off x="11662898" y="6519946"/>
            <a:ext cx="7315" cy="36759"/>
          </a:xfrm>
          <a:prstGeom prst="rect">
            <a:avLst/>
          </a:prstGeom>
          <a:solidFill>
            <a:srgbClr val="C9C4B9"/>
          </a:solidFill>
          <a:ln/>
        </p:spPr>
      </p:sp>
      <p:sp>
        <p:nvSpPr>
          <p:cNvPr id="39" name="Text 35"/>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63565"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31</a:t>
            </a:r>
            <a:endParaRPr lang="en-US" sz="2708" dirty="0"/>
          </a:p>
        </p:txBody>
      </p:sp>
      <p:sp>
        <p:nvSpPr>
          <p:cNvPr id="3" name="Text 1"/>
          <p:cNvSpPr txBox="1"/>
          <p:nvPr/>
        </p:nvSpPr>
        <p:spPr>
          <a:xfrm rot="16200000">
            <a:off x="-361371" y="3428909"/>
            <a:ext cx="648675"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1C6151"/>
                </a:solidFill>
                <a:latin typeface="Calibri" pitchFamily="34" charset="0"/>
                <a:ea typeface="Calibri" pitchFamily="34" charset="-122"/>
                <a:cs typeface="Calibri" pitchFamily="34" charset="-120"/>
              </a:rPr>
              <a:t>DEEP CNN</a:t>
            </a:r>
            <a:endParaRPr lang="en-US" sz="738" dirty="0"/>
          </a:p>
        </p:txBody>
      </p:sp>
      <p:sp>
        <p:nvSpPr>
          <p:cNvPr id="4" name="Shape 2"/>
          <p:cNvSpPr/>
          <p:nvPr/>
        </p:nvSpPr>
        <p:spPr>
          <a:xfrm>
            <a:off x="1531803" y="461132"/>
            <a:ext cx="203180" cy="23409"/>
          </a:xfrm>
          <a:prstGeom prst="rect">
            <a:avLst/>
          </a:prstGeom>
          <a:solidFill>
            <a:srgbClr val="1C6151"/>
          </a:solidFill>
          <a:ln/>
        </p:spPr>
      </p:sp>
      <p:sp>
        <p:nvSpPr>
          <p:cNvPr id="5" name="Text 3"/>
          <p:cNvSpPr txBox="1"/>
          <p:nvPr/>
        </p:nvSpPr>
        <p:spPr>
          <a:xfrm>
            <a:off x="1828800" y="408462"/>
            <a:ext cx="1201247"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C6151"/>
                </a:solidFill>
                <a:latin typeface="Calibri" pitchFamily="34" charset="0"/>
                <a:ea typeface="Calibri" pitchFamily="34" charset="-122"/>
                <a:cs typeface="Calibri" pitchFamily="34" charset="-120"/>
              </a:rPr>
              <a:t>THE ANCHOR PAPER</a:t>
            </a:r>
            <a:endParaRPr lang="en-US" sz="831" dirty="0"/>
          </a:p>
        </p:txBody>
      </p:sp>
      <p:sp>
        <p:nvSpPr>
          <p:cNvPr id="6" name="Text 4"/>
          <p:cNvSpPr txBox="1"/>
          <p:nvPr/>
        </p:nvSpPr>
        <p:spPr>
          <a:xfrm>
            <a:off x="1531803" y="646024"/>
            <a:ext cx="7680228"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DnCNN — the four questions it set out to answer</a:t>
            </a:r>
            <a:endParaRPr lang="en-US" sz="2831" dirty="0"/>
          </a:p>
        </p:txBody>
      </p:sp>
      <p:sp>
        <p:nvSpPr>
          <p:cNvPr id="7" name="Text 5"/>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i="1" dirty="0">
                <a:solidFill>
                  <a:srgbClr val="5A554D"/>
                </a:solidFill>
                <a:latin typeface="Calibri" pitchFamily="34" charset="0"/>
                <a:ea typeface="Calibri" pitchFamily="34" charset="-122"/>
                <a:cs typeface="Calibri" pitchFamily="34" charset="-120"/>
              </a:rPr>
              <a:t>Beyond a Gaussian Denoiser: Residual Learning of Deep CNN for Image Denoising.</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Kai Zhang, Wangmeng Zuo, Yunjin Chen, Deyu Meng, Lei Zhang. IEEE Transactions on Image Processing 26(7), 2017. arXiv:1608.03981.</a:t>
            </a:r>
            <a:endParaRPr lang="en-US" sz="1231" dirty="0"/>
          </a:p>
        </p:txBody>
      </p:sp>
      <p:sp>
        <p:nvSpPr>
          <p:cNvPr id="8" name="Shape 6"/>
          <p:cNvSpPr/>
          <p:nvPr/>
        </p:nvSpPr>
        <p:spPr>
          <a:xfrm>
            <a:off x="1531803" y="2084100"/>
            <a:ext cx="10097262" cy="7772"/>
          </a:xfrm>
          <a:prstGeom prst="rect">
            <a:avLst/>
          </a:prstGeom>
          <a:solidFill>
            <a:srgbClr val="DFDBD2"/>
          </a:solidFill>
          <a:ln/>
        </p:spPr>
      </p:sp>
      <p:sp>
        <p:nvSpPr>
          <p:cNvPr id="9" name="Text 7"/>
          <p:cNvSpPr txBox="1"/>
          <p:nvPr/>
        </p:nvSpPr>
        <p:spPr>
          <a:xfrm>
            <a:off x="1531803" y="2224735"/>
            <a:ext cx="139903"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01</a:t>
            </a:r>
            <a:endParaRPr lang="en-US" sz="738" dirty="0"/>
          </a:p>
        </p:txBody>
      </p:sp>
      <p:sp>
        <p:nvSpPr>
          <p:cNvPr id="10" name="Text 8"/>
          <p:cNvSpPr txBox="1"/>
          <p:nvPr/>
        </p:nvSpPr>
        <p:spPr>
          <a:xfrm>
            <a:off x="1859981" y="2214037"/>
            <a:ext cx="9823674" cy="44933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Q1 — Can a deep CNN with residual learning and batch normalisation beat the state of the art on Gaussian denoising?</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Answer: yes, by 0.6 dB over BM3D at all three noise levels.</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[1]</a:t>
            </a:r>
            <a:endParaRPr lang="en-US" sz="1138" dirty="0"/>
          </a:p>
        </p:txBody>
      </p:sp>
      <p:sp>
        <p:nvSpPr>
          <p:cNvPr id="11" name="Text 9"/>
          <p:cNvSpPr txBox="1"/>
          <p:nvPr/>
        </p:nvSpPr>
        <p:spPr>
          <a:xfrm>
            <a:off x="1531803" y="2783525"/>
            <a:ext cx="144475"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02</a:t>
            </a:r>
            <a:endParaRPr lang="en-US" sz="738" dirty="0"/>
          </a:p>
        </p:txBody>
      </p:sp>
      <p:sp>
        <p:nvSpPr>
          <p:cNvPr id="12" name="Text 10"/>
          <p:cNvSpPr txBox="1"/>
          <p:nvPr/>
        </p:nvSpPr>
        <p:spPr>
          <a:xfrm>
            <a:off x="1859981" y="2772827"/>
            <a:ext cx="9823674"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Q2 — Can a single model handle unknown noise levels?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Answer: yes. DnCNN-B trains across σ ∈ [0, 55] and beats noise-level-specific competitors without being told σ.</a:t>
            </a:r>
            <a:endParaRPr lang="en-US" sz="1138" dirty="0"/>
          </a:p>
        </p:txBody>
      </p:sp>
      <p:sp>
        <p:nvSpPr>
          <p:cNvPr id="13" name="Text 11"/>
          <p:cNvSpPr txBox="1"/>
          <p:nvPr/>
        </p:nvSpPr>
        <p:spPr>
          <a:xfrm>
            <a:off x="1531803" y="3342315"/>
            <a:ext cx="144567"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03</a:t>
            </a:r>
            <a:endParaRPr lang="en-US" sz="738" dirty="0"/>
          </a:p>
        </p:txBody>
      </p:sp>
      <p:sp>
        <p:nvSpPr>
          <p:cNvPr id="14" name="Text 12"/>
          <p:cNvSpPr txBox="1"/>
          <p:nvPr/>
        </p:nvSpPr>
        <p:spPr>
          <a:xfrm>
            <a:off x="1859981" y="3331616"/>
            <a:ext cx="9411005" cy="216896"/>
          </a:xfrm>
          <a:prstGeom prst="rect">
            <a:avLst/>
          </a:prstGeom>
          <a:noFill/>
          <a:ln/>
        </p:spPr>
        <p:txBody>
          <a:bodyPr wrap="non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Q3 — Can one network handle denoising, super-resolution and JPEG deblocking together?</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Answer: yes. DnCNN-3 beats a specialist baseline on all three.</a:t>
            </a:r>
            <a:endParaRPr lang="en-US" sz="1138" dirty="0"/>
          </a:p>
        </p:txBody>
      </p:sp>
      <p:sp>
        <p:nvSpPr>
          <p:cNvPr id="15" name="Text 13"/>
          <p:cNvSpPr txBox="1"/>
          <p:nvPr/>
        </p:nvSpPr>
        <p:spPr>
          <a:xfrm>
            <a:off x="1531803" y="3684209"/>
            <a:ext cx="148864"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04</a:t>
            </a:r>
            <a:endParaRPr lang="en-US" sz="738" dirty="0"/>
          </a:p>
        </p:txBody>
      </p:sp>
      <p:sp>
        <p:nvSpPr>
          <p:cNvPr id="16" name="Text 14"/>
          <p:cNvSpPr txBox="1"/>
          <p:nvPr/>
        </p:nvSpPr>
        <p:spPr>
          <a:xfrm>
            <a:off x="1859981" y="3673511"/>
            <a:ext cx="9823674"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Q4 — Do residual learning and batch normalisation benefit each other?</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Answer: yes, and this is the paper's most-cited empirical finding. Neither works nearly as well alone.</a:t>
            </a:r>
            <a:endParaRPr lang="en-US" sz="1138" dirty="0"/>
          </a:p>
        </p:txBody>
      </p:sp>
      <p:sp>
        <p:nvSpPr>
          <p:cNvPr id="17" name="Text 15"/>
          <p:cNvSpPr txBox="1"/>
          <p:nvPr/>
        </p:nvSpPr>
        <p:spPr>
          <a:xfrm>
            <a:off x="1531803" y="4242999"/>
            <a:ext cx="145664"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05</a:t>
            </a:r>
            <a:endParaRPr lang="en-US" sz="738" dirty="0"/>
          </a:p>
        </p:txBody>
      </p:sp>
      <p:sp>
        <p:nvSpPr>
          <p:cNvPr id="18" name="Text 16"/>
          <p:cNvSpPr txBox="1"/>
          <p:nvPr/>
        </p:nvSpPr>
        <p:spPr>
          <a:xfrm>
            <a:off x="1859981" y="4232300"/>
            <a:ext cx="9823674" cy="867491"/>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three contributions, in the authors' framing.</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(1) An end-to-end trainable deep CNN that,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unlike existing deep methods which directly estimate the latent clean image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adopts residual learning to remove the latent clean image from the noisy observation. (2) The finding that residual learning and batch normalisation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greatly benefit CNN learning</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speeding up training and boosting performance. (3) That DnCNN extends easily to general image denoising — one model for blind Gaussian denoising, one model for three tasks.</a:t>
            </a:r>
            <a:endParaRPr lang="en-US" sz="1138" dirty="0"/>
          </a:p>
        </p:txBody>
      </p:sp>
      <p:sp>
        <p:nvSpPr>
          <p:cNvPr id="19" name="Text 17"/>
          <p:cNvSpPr txBox="1"/>
          <p:nvPr/>
        </p:nvSpPr>
        <p:spPr>
          <a:xfrm>
            <a:off x="1531803" y="5235580"/>
            <a:ext cx="147401"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06</a:t>
            </a:r>
            <a:endParaRPr lang="en-US" sz="738" dirty="0"/>
          </a:p>
        </p:txBody>
      </p:sp>
      <p:sp>
        <p:nvSpPr>
          <p:cNvPr id="20" name="Text 18"/>
          <p:cNvSpPr txBox="1"/>
          <p:nvPr/>
        </p:nvSpPr>
        <p:spPr>
          <a:xfrm>
            <a:off x="1859981" y="5224790"/>
            <a:ext cx="9823674"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Institutions.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Harbin Institute of Technology, The Hong Kong Polytechnic University, Xi'an Jiaotong University.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Citations: 11 674</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[2]</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(Google Scholar, checked 9 August 2026).</a:t>
            </a:r>
            <a:endParaRPr lang="en-US" sz="1138" dirty="0"/>
          </a:p>
        </p:txBody>
      </p:sp>
      <p:sp>
        <p:nvSpPr>
          <p:cNvPr id="21" name="Text 19"/>
          <p:cNvSpPr txBox="1"/>
          <p:nvPr/>
        </p:nvSpPr>
        <p:spPr>
          <a:xfrm>
            <a:off x="8520836" y="6248827"/>
            <a:ext cx="3108137"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DnCNN17 abstract, §I 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citation count: Google Scholar, 9 Aug 2026</a:t>
            </a:r>
            <a:endParaRPr lang="en-US" sz="592" dirty="0"/>
          </a:p>
        </p:txBody>
      </p:sp>
      <p:sp>
        <p:nvSpPr>
          <p:cNvPr id="22" name="Shape 20"/>
          <p:cNvSpPr/>
          <p:nvPr/>
        </p:nvSpPr>
        <p:spPr>
          <a:xfrm>
            <a:off x="1531803" y="6537411"/>
            <a:ext cx="10097262" cy="7772"/>
          </a:xfrm>
          <a:prstGeom prst="rect">
            <a:avLst/>
          </a:prstGeom>
          <a:solidFill>
            <a:srgbClr val="C9C4B9"/>
          </a:solidFill>
          <a:ln/>
        </p:spPr>
      </p:sp>
      <p:sp>
        <p:nvSpPr>
          <p:cNvPr id="23" name="Shape 21"/>
          <p:cNvSpPr/>
          <p:nvPr/>
        </p:nvSpPr>
        <p:spPr>
          <a:xfrm>
            <a:off x="6580388" y="6525707"/>
            <a:ext cx="1121694" cy="31272"/>
          </a:xfrm>
          <a:prstGeom prst="rect">
            <a:avLst/>
          </a:prstGeom>
          <a:solidFill>
            <a:srgbClr val="1C6151"/>
          </a:solidFill>
          <a:ln/>
        </p:spPr>
      </p:sp>
      <p:sp>
        <p:nvSpPr>
          <p:cNvPr id="24" name="Shape 22"/>
          <p:cNvSpPr/>
          <p:nvPr/>
        </p:nvSpPr>
        <p:spPr>
          <a:xfrm>
            <a:off x="1531803" y="6498366"/>
            <a:ext cx="7772" cy="39045"/>
          </a:xfrm>
          <a:prstGeom prst="rect">
            <a:avLst/>
          </a:prstGeom>
          <a:solidFill>
            <a:srgbClr val="C9C4B9"/>
          </a:solidFill>
          <a:ln/>
        </p:spPr>
      </p:sp>
      <p:sp>
        <p:nvSpPr>
          <p:cNvPr id="25" name="Text 23"/>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6" name="Shape 24"/>
          <p:cNvSpPr/>
          <p:nvPr/>
        </p:nvSpPr>
        <p:spPr>
          <a:xfrm>
            <a:off x="5458511" y="6498366"/>
            <a:ext cx="7772" cy="39045"/>
          </a:xfrm>
          <a:prstGeom prst="rect">
            <a:avLst/>
          </a:prstGeom>
          <a:solidFill>
            <a:srgbClr val="C9C4B9"/>
          </a:solidFill>
          <a:ln/>
        </p:spPr>
      </p:sp>
      <p:sp>
        <p:nvSpPr>
          <p:cNvPr id="27" name="Text 25"/>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28" name="Shape 26"/>
          <p:cNvSpPr/>
          <p:nvPr/>
        </p:nvSpPr>
        <p:spPr>
          <a:xfrm>
            <a:off x="7141738" y="6498366"/>
            <a:ext cx="7772" cy="39045"/>
          </a:xfrm>
          <a:prstGeom prst="rect">
            <a:avLst/>
          </a:prstGeom>
          <a:solidFill>
            <a:srgbClr val="C9C4B9"/>
          </a:solidFill>
          <a:ln/>
        </p:spPr>
      </p:sp>
      <p:sp>
        <p:nvSpPr>
          <p:cNvPr id="29" name="Text 27"/>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0" name="Shape 28"/>
          <p:cNvSpPr/>
          <p:nvPr/>
        </p:nvSpPr>
        <p:spPr>
          <a:xfrm>
            <a:off x="9945654" y="6498366"/>
            <a:ext cx="7772" cy="39045"/>
          </a:xfrm>
          <a:prstGeom prst="rect">
            <a:avLst/>
          </a:prstGeom>
          <a:solidFill>
            <a:srgbClr val="C9C4B9"/>
          </a:solidFill>
          <a:ln/>
        </p:spPr>
      </p:sp>
      <p:sp>
        <p:nvSpPr>
          <p:cNvPr id="31" name="Text 29"/>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2" name="Shape 30"/>
          <p:cNvSpPr/>
          <p:nvPr/>
        </p:nvSpPr>
        <p:spPr>
          <a:xfrm>
            <a:off x="11628973" y="6498366"/>
            <a:ext cx="7772" cy="39045"/>
          </a:xfrm>
          <a:prstGeom prst="rect">
            <a:avLst/>
          </a:prstGeom>
          <a:solidFill>
            <a:srgbClr val="C9C4B9"/>
          </a:solidFill>
          <a:ln/>
        </p:spPr>
      </p:sp>
      <p:sp>
        <p:nvSpPr>
          <p:cNvPr id="33" name="Text 31"/>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7439"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32</a:t>
            </a:r>
            <a:endParaRPr lang="en-US" sz="2545" dirty="0"/>
          </a:p>
        </p:txBody>
      </p:sp>
      <p:sp>
        <p:nvSpPr>
          <p:cNvPr id="3" name="Text 1"/>
          <p:cNvSpPr txBox="1"/>
          <p:nvPr/>
        </p:nvSpPr>
        <p:spPr>
          <a:xfrm rot="16200000">
            <a:off x="-339608" y="3428909"/>
            <a:ext cx="609630"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1C6151"/>
                </a:solidFill>
                <a:latin typeface="Calibri" pitchFamily="34" charset="0"/>
                <a:ea typeface="Calibri" pitchFamily="34" charset="-122"/>
                <a:cs typeface="Calibri" pitchFamily="34" charset="-120"/>
              </a:rPr>
              <a:t>DEEP CNN</a:t>
            </a:r>
            <a:endParaRPr lang="en-US" sz="694" dirty="0"/>
          </a:p>
        </p:txBody>
      </p:sp>
      <p:sp>
        <p:nvSpPr>
          <p:cNvPr id="4" name="Shape 2"/>
          <p:cNvSpPr/>
          <p:nvPr/>
        </p:nvSpPr>
        <p:spPr>
          <a:xfrm>
            <a:off x="1439540" y="433334"/>
            <a:ext cx="190927" cy="22037"/>
          </a:xfrm>
          <a:prstGeom prst="rect">
            <a:avLst/>
          </a:prstGeom>
          <a:solidFill>
            <a:srgbClr val="1C6151"/>
          </a:solidFill>
          <a:ln/>
        </p:spPr>
      </p:sp>
      <p:sp>
        <p:nvSpPr>
          <p:cNvPr id="5" name="Text 3"/>
          <p:cNvSpPr txBox="1"/>
          <p:nvPr/>
        </p:nvSpPr>
        <p:spPr>
          <a:xfrm>
            <a:off x="1718615" y="383865"/>
            <a:ext cx="854507"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C6151"/>
                </a:solidFill>
                <a:latin typeface="Calibri" pitchFamily="34" charset="0"/>
                <a:ea typeface="Calibri" pitchFamily="34" charset="-122"/>
                <a:cs typeface="Calibri" pitchFamily="34" charset="-120"/>
              </a:rPr>
              <a:t>ARCHITECTURE</a:t>
            </a:r>
            <a:endParaRPr lang="en-US" sz="781" dirty="0"/>
          </a:p>
        </p:txBody>
      </p:sp>
      <p:sp>
        <p:nvSpPr>
          <p:cNvPr id="6" name="Text 4"/>
          <p:cNvSpPr txBox="1"/>
          <p:nvPr/>
        </p:nvSpPr>
        <p:spPr>
          <a:xfrm>
            <a:off x="1439540" y="607070"/>
            <a:ext cx="7624724"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Three layer types, one global skip, and nothing else</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paper describes the design origin plainly: they </a:t>
            </a:r>
            <a:pPr algn="l" indent="0" marL="0">
              <a:lnSpc>
                <a:spcPts val="1735"/>
              </a:lnSpc>
              <a:buNone/>
            </a:pPr>
            <a:r>
              <a:rPr kern="0" lang="en-US" sz="1157" i="1" dirty="0">
                <a:solidFill>
                  <a:srgbClr val="5A554D"/>
                </a:solidFill>
                <a:latin typeface="Calibri" pitchFamily="34" charset="0"/>
                <a:ea typeface="Calibri" pitchFamily="34" charset="-122"/>
                <a:cs typeface="Calibri" pitchFamily="34" charset="-120"/>
              </a:rPr>
              <a:t>modify the VGG network to make it suitable for image denoising</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and set the depth from the effective patch sizes used by state-of-the-art denoising methods. Given depth D there are exactly three kinds of layer.</a:t>
            </a:r>
            <a:endParaRPr lang="en-US" sz="1157" dirty="0"/>
          </a:p>
        </p:txBody>
      </p:sp>
      <p:sp>
        <p:nvSpPr>
          <p:cNvPr id="8" name="Shape 6"/>
          <p:cNvSpPr/>
          <p:nvPr/>
        </p:nvSpPr>
        <p:spPr>
          <a:xfrm>
            <a:off x="2293772" y="1958553"/>
            <a:ext cx="8514893" cy="2056394"/>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9" name="Shape 7"/>
          <p:cNvSpPr/>
          <p:nvPr/>
        </p:nvSpPr>
        <p:spPr>
          <a:xfrm>
            <a:off x="2293772" y="1958553"/>
            <a:ext cx="8514893" cy="7315"/>
          </a:xfrm>
          <a:prstGeom prst="rect">
            <a:avLst/>
          </a:prstGeom>
          <a:solidFill>
            <a:srgbClr val="C9C4B9"/>
          </a:solidFill>
          <a:ln/>
        </p:spPr>
      </p:sp>
      <p:sp>
        <p:nvSpPr>
          <p:cNvPr id="10" name="Shape 8"/>
          <p:cNvSpPr/>
          <p:nvPr/>
        </p:nvSpPr>
        <p:spPr>
          <a:xfrm>
            <a:off x="2293772" y="4007632"/>
            <a:ext cx="8514893" cy="7315"/>
          </a:xfrm>
          <a:prstGeom prst="rect">
            <a:avLst/>
          </a:prstGeom>
          <a:solidFill>
            <a:srgbClr val="C9C4B9"/>
          </a:solidFill>
          <a:ln/>
        </p:spPr>
      </p:sp>
      <p:sp>
        <p:nvSpPr>
          <p:cNvPr id="11" name="Shape 9"/>
          <p:cNvSpPr/>
          <p:nvPr/>
        </p:nvSpPr>
        <p:spPr>
          <a:xfrm>
            <a:off x="2293772" y="1958553"/>
            <a:ext cx="7315" cy="2056394"/>
          </a:xfrm>
          <a:prstGeom prst="rect">
            <a:avLst/>
          </a:prstGeom>
          <a:solidFill>
            <a:srgbClr val="C9C4B9"/>
          </a:solidFill>
          <a:ln/>
        </p:spPr>
      </p:sp>
      <p:sp>
        <p:nvSpPr>
          <p:cNvPr id="12" name="Shape 10"/>
          <p:cNvSpPr/>
          <p:nvPr/>
        </p:nvSpPr>
        <p:spPr>
          <a:xfrm>
            <a:off x="10801350" y="1958553"/>
            <a:ext cx="7315" cy="2056394"/>
          </a:xfrm>
          <a:prstGeom prst="rect">
            <a:avLst/>
          </a:prstGeom>
          <a:solidFill>
            <a:srgbClr val="C9C4B9"/>
          </a:solidFill>
          <a:ln/>
        </p:spPr>
      </p:sp>
      <p:pic>
        <p:nvPicPr>
          <p:cNvPr id="13" name="Image 0" descr="The DnCNN architecture: a noisy image enters a stack of Conv(+BN)+ReLU layers and the network predicts the residual noise image, not the clean image.">    </p:cNvPr>
          <p:cNvPicPr>
            <a:picLocks noChangeAspect="1"/>
          </p:cNvPicPr>
          <p:nvPr/>
        </p:nvPicPr>
        <p:blipFill>
          <a:blip r:embed="rId1"/>
          <a:stretch>
            <a:fillRect/>
          </a:stretch>
        </p:blipFill>
        <p:spPr>
          <a:xfrm>
            <a:off x="2403958" y="2068739"/>
            <a:ext cx="8294614" cy="1836115"/>
          </a:xfrm>
          <a:prstGeom prst="rect">
            <a:avLst/>
          </a:prstGeom>
        </p:spPr>
      </p:pic>
      <p:sp>
        <p:nvSpPr>
          <p:cNvPr id="14" name="Text 11"/>
          <p:cNvSpPr txBox="1"/>
          <p:nvPr/>
        </p:nvSpPr>
        <p:spPr>
          <a:xfrm>
            <a:off x="3225637" y="4115623"/>
            <a:ext cx="6651071" cy="287853"/>
          </a:xfrm>
          <a:prstGeom prst="rect">
            <a:avLst/>
          </a:prstGeom>
          <a:noFill/>
          <a:ln/>
        </p:spPr>
        <p:txBody>
          <a:bodyPr wrap="squar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The DnCNN architecture: a noisy image enters a stack of Conv(+BN)+ReLU layers and the network predicts the residual noise image, not the clean image. [DnCNN17 · Fig. 1]</a:t>
            </a:r>
            <a:endParaRPr lang="en-US" sz="810" dirty="0"/>
          </a:p>
        </p:txBody>
      </p:sp>
      <p:sp>
        <p:nvSpPr>
          <p:cNvPr id="15" name="Shape 12"/>
          <p:cNvSpPr/>
          <p:nvPr/>
        </p:nvSpPr>
        <p:spPr>
          <a:xfrm>
            <a:off x="1476207" y="4787524"/>
            <a:ext cx="7315" cy="618774"/>
          </a:xfrm>
          <a:prstGeom prst="rect">
            <a:avLst/>
          </a:prstGeom>
          <a:solidFill>
            <a:srgbClr val="C9C4B9"/>
          </a:solidFill>
          <a:ln/>
        </p:spPr>
      </p:sp>
      <p:sp>
        <p:nvSpPr>
          <p:cNvPr id="16" name="Shape 13"/>
          <p:cNvSpPr/>
          <p:nvPr/>
        </p:nvSpPr>
        <p:spPr>
          <a:xfrm>
            <a:off x="1689171" y="5180442"/>
            <a:ext cx="9973727" cy="7315"/>
          </a:xfrm>
          <a:prstGeom prst="rect">
            <a:avLst/>
          </a:prstGeom>
          <a:solidFill>
            <a:srgbClr val="DFDBD2"/>
          </a:solidFill>
          <a:ln/>
        </p:spPr>
      </p:sp>
      <p:sp>
        <p:nvSpPr>
          <p:cNvPr id="17" name="Shape 14"/>
          <p:cNvSpPr/>
          <p:nvPr/>
        </p:nvSpPr>
        <p:spPr>
          <a:xfrm>
            <a:off x="1439540" y="4851806"/>
            <a:ext cx="73426" cy="73426"/>
          </a:xfrm>
          <a:prstGeom prst="rect">
            <a:avLst/>
          </a:prstGeom>
          <a:solidFill>
            <a:srgbClr val="1C6151"/>
          </a:solidFill>
          <a:ln/>
        </p:spPr>
      </p:sp>
      <p:sp>
        <p:nvSpPr>
          <p:cNvPr id="18" name="Text 15"/>
          <p:cNvSpPr txBox="1"/>
          <p:nvPr/>
        </p:nvSpPr>
        <p:spPr>
          <a:xfrm>
            <a:off x="1689171" y="4807824"/>
            <a:ext cx="1249436"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Layer 1 · Conv + ReLU</a:t>
            </a:r>
            <a:endParaRPr lang="en-US" sz="1041" dirty="0"/>
          </a:p>
        </p:txBody>
      </p:sp>
      <p:sp>
        <p:nvSpPr>
          <p:cNvPr id="19" name="Shape 16"/>
          <p:cNvSpPr/>
          <p:nvPr/>
        </p:nvSpPr>
        <p:spPr>
          <a:xfrm>
            <a:off x="4729825" y="4706691"/>
            <a:ext cx="7315" cy="363565"/>
          </a:xfrm>
          <a:prstGeom prst="rect">
            <a:avLst/>
          </a:prstGeom>
          <a:solidFill>
            <a:srgbClr val="DFDBD2"/>
          </a:solidFill>
          <a:ln/>
        </p:spPr>
      </p:sp>
      <p:sp>
        <p:nvSpPr>
          <p:cNvPr id="20" name="Text 17"/>
          <p:cNvSpPr txBox="1"/>
          <p:nvPr/>
        </p:nvSpPr>
        <p:spPr>
          <a:xfrm>
            <a:off x="4928067" y="4703948"/>
            <a:ext cx="6776436" cy="363565"/>
          </a:xfrm>
          <a:prstGeom prst="rect">
            <a:avLst/>
          </a:prstGeom>
          <a:noFill/>
          <a:ln/>
        </p:spPr>
        <p:txBody>
          <a:bodyPr wrap="squar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64 filters of size 3×3×c generate 64 feature maps; ReLU = max(0,·) follows. c = 1 grayscale, c = 3 colour.</a:t>
            </a:r>
            <a:pPr algn="l" indent="0" marL="0">
              <a:lnSpc>
                <a:spcPts val="1431"/>
              </a:lnSpc>
              <a:buNone/>
            </a:pPr>
            <a:r>
              <a:rPr kern="0" lang="en-US" sz="706" b="1" dirty="0">
                <a:solidFill>
                  <a:srgbClr val="C0451A"/>
                </a:solidFill>
                <a:latin typeface="Calibri" pitchFamily="34" charset="0"/>
                <a:ea typeface="Calibri" pitchFamily="34" charset="-122"/>
                <a:cs typeface="Calibri" pitchFamily="34" charset="-120"/>
              </a:rPr>
              <a:t>[1]</a:t>
            </a:r>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 </a:t>
            </a:r>
            <a:pPr algn="l" indent="0" marL="0">
              <a:lnSpc>
                <a:spcPts val="1431"/>
              </a:lnSpc>
              <a:buNone/>
            </a:pPr>
            <a:r>
              <a:rPr kern="0" lang="en-US" sz="954" b="1" dirty="0">
                <a:solidFill>
                  <a:srgbClr val="33302B"/>
                </a:solidFill>
                <a:latin typeface="Calibri" pitchFamily="34" charset="0"/>
                <a:ea typeface="Calibri" pitchFamily="34" charset="-122"/>
                <a:cs typeface="Calibri" pitchFamily="34" charset="-120"/>
              </a:rPr>
              <a:t>No batch normalisation on the first layer.</a:t>
            </a:r>
            <a:endParaRPr lang="en-US" sz="954" dirty="0"/>
          </a:p>
        </p:txBody>
      </p:sp>
      <p:sp>
        <p:nvSpPr>
          <p:cNvPr id="21" name="Shape 18"/>
          <p:cNvSpPr/>
          <p:nvPr/>
        </p:nvSpPr>
        <p:spPr>
          <a:xfrm>
            <a:off x="1689171" y="5589910"/>
            <a:ext cx="9973727" cy="7315"/>
          </a:xfrm>
          <a:prstGeom prst="rect">
            <a:avLst/>
          </a:prstGeom>
          <a:solidFill>
            <a:srgbClr val="DFDBD2"/>
          </a:solidFill>
          <a:ln/>
        </p:spPr>
      </p:sp>
      <p:sp>
        <p:nvSpPr>
          <p:cNvPr id="22" name="Shape 19"/>
          <p:cNvSpPr/>
          <p:nvPr/>
        </p:nvSpPr>
        <p:spPr>
          <a:xfrm>
            <a:off x="1439540" y="5352075"/>
            <a:ext cx="73426" cy="73426"/>
          </a:xfrm>
          <a:prstGeom prst="rect">
            <a:avLst/>
          </a:prstGeom>
          <a:solidFill>
            <a:srgbClr val="1C6151"/>
          </a:solidFill>
          <a:ln/>
        </p:spPr>
      </p:sp>
      <p:sp>
        <p:nvSpPr>
          <p:cNvPr id="23" name="Text 20"/>
          <p:cNvSpPr txBox="1"/>
          <p:nvPr/>
        </p:nvSpPr>
        <p:spPr>
          <a:xfrm>
            <a:off x="1689171" y="5308183"/>
            <a:ext cx="2015246" cy="161300"/>
          </a:xfrm>
          <a:prstGeom prst="rect">
            <a:avLst/>
          </a:prstGeom>
          <a:noFill/>
          <a:ln/>
        </p:spPr>
        <p:txBody>
          <a:bodyPr wrap="none" lIns="0" tIns="0" rIns="0" bIns="0" rtlCol="0" anchor="t"/>
          <a:lstStyle/>
          <a:p>
            <a:pPr algn="l" indent="0" marL="0">
              <a:lnSpc>
                <a:spcPts val="1270"/>
              </a:lnSpc>
              <a:buNone/>
            </a:pPr>
            <a:r>
              <a:rPr lang="en-US" sz="1041" b="1" spc="-17" kern="0" dirty="0">
                <a:solidFill>
                  <a:srgbClr val="14120F"/>
                </a:solidFill>
                <a:latin typeface="Cambria" pitchFamily="34" charset="0"/>
                <a:ea typeface="Cambria" pitchFamily="34" charset="-122"/>
                <a:cs typeface="Cambria" pitchFamily="34" charset="-120"/>
              </a:rPr>
              <a:t>Layers 2 … D−1 · Conv + BN + ReLU</a:t>
            </a:r>
            <a:endParaRPr lang="en-US" sz="1041" dirty="0"/>
          </a:p>
        </p:txBody>
      </p:sp>
      <p:sp>
        <p:nvSpPr>
          <p:cNvPr id="24" name="Shape 21"/>
          <p:cNvSpPr/>
          <p:nvPr/>
        </p:nvSpPr>
        <p:spPr>
          <a:xfrm>
            <a:off x="4729825" y="5297942"/>
            <a:ext cx="7315" cy="181783"/>
          </a:xfrm>
          <a:prstGeom prst="rect">
            <a:avLst/>
          </a:prstGeom>
          <a:solidFill>
            <a:srgbClr val="DFDBD2"/>
          </a:solidFill>
          <a:ln/>
        </p:spPr>
      </p:sp>
      <p:sp>
        <p:nvSpPr>
          <p:cNvPr id="25" name="Text 22"/>
          <p:cNvSpPr txBox="1"/>
          <p:nvPr/>
        </p:nvSpPr>
        <p:spPr>
          <a:xfrm>
            <a:off x="4928067" y="5295199"/>
            <a:ext cx="6876288" cy="181783"/>
          </a:xfrm>
          <a:prstGeom prst="rect">
            <a:avLst/>
          </a:prstGeom>
          <a:noFill/>
          <a:ln/>
        </p:spPr>
        <p:txBody>
          <a:bodyPr wrap="none" lIns="0" tIns="0" rIns="0" bIns="0" rtlCol="0" anchor="t"/>
          <a:lstStyle/>
          <a:p>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64 filters of 3×3×64. Batch normalisation sits </a:t>
            </a:r>
            <a:pPr algn="l" indent="0" marL="0">
              <a:lnSpc>
                <a:spcPts val="1431"/>
              </a:lnSpc>
              <a:buNone/>
            </a:pPr>
            <a:r>
              <a:rPr kern="0" lang="en-US" sz="954" i="1" dirty="0">
                <a:solidFill>
                  <a:srgbClr val="33302B"/>
                </a:solidFill>
                <a:latin typeface="Calibri" pitchFamily="34" charset="0"/>
                <a:ea typeface="Calibri" pitchFamily="34" charset="-122"/>
                <a:cs typeface="Calibri" pitchFamily="34" charset="-120"/>
              </a:rPr>
              <a:t>between</a:t>
            </a:r>
            <a:pPr algn="l" indent="0" marL="0">
              <a:lnSpc>
                <a:spcPts val="1431"/>
              </a:lnSpc>
              <a:buNone/>
            </a:pPr>
            <a:r>
              <a:rPr kern="0" lang="en-US" sz="954" dirty="0">
                <a:solidFill>
                  <a:srgbClr val="33302B"/>
                </a:solidFill>
                <a:latin typeface="Calibri" pitchFamily="34" charset="0"/>
                <a:ea typeface="Calibri" pitchFamily="34" charset="-122"/>
                <a:cs typeface="Calibri" pitchFamily="34" charset="-120"/>
              </a:rPr>
              <a:t> the convolution and the ReLU. Repeated D−2 times — fifteen times in DnCNN-S.</a:t>
            </a:r>
            <a:endParaRPr lang="en-US" sz="954" dirty="0"/>
          </a:p>
        </p:txBody>
      </p:sp>
      <p:sp>
        <p:nvSpPr>
          <p:cNvPr id="26" name="Text 23"/>
          <p:cNvSpPr txBox="1"/>
          <p:nvPr/>
        </p:nvSpPr>
        <p:spPr>
          <a:xfrm>
            <a:off x="8159008" y="6285494"/>
            <a:ext cx="3503889"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DnCNN17 §III-B, Fig. 1 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parameter breakdown computed from the stated shapes</a:t>
            </a:r>
            <a:endParaRPr lang="en-US" sz="556" dirty="0"/>
          </a:p>
        </p:txBody>
      </p:sp>
      <p:sp>
        <p:nvSpPr>
          <p:cNvPr id="27" name="Shape 24"/>
          <p:cNvSpPr/>
          <p:nvPr/>
        </p:nvSpPr>
        <p:spPr>
          <a:xfrm>
            <a:off x="1439540" y="6556705"/>
            <a:ext cx="10223358" cy="7315"/>
          </a:xfrm>
          <a:prstGeom prst="rect">
            <a:avLst/>
          </a:prstGeom>
          <a:solidFill>
            <a:srgbClr val="C9C4B9"/>
          </a:solidFill>
          <a:ln/>
        </p:spPr>
      </p:sp>
      <p:sp>
        <p:nvSpPr>
          <p:cNvPr id="28" name="Shape 25"/>
          <p:cNvSpPr/>
          <p:nvPr/>
        </p:nvSpPr>
        <p:spPr>
          <a:xfrm>
            <a:off x="6551219" y="6545732"/>
            <a:ext cx="1135776" cy="29352"/>
          </a:xfrm>
          <a:prstGeom prst="rect">
            <a:avLst/>
          </a:prstGeom>
          <a:solidFill>
            <a:srgbClr val="1C6151"/>
          </a:solidFill>
          <a:ln/>
        </p:spPr>
      </p:sp>
      <p:sp>
        <p:nvSpPr>
          <p:cNvPr id="29" name="Shape 26"/>
          <p:cNvSpPr/>
          <p:nvPr/>
        </p:nvSpPr>
        <p:spPr>
          <a:xfrm>
            <a:off x="1439540" y="6519946"/>
            <a:ext cx="7315" cy="36759"/>
          </a:xfrm>
          <a:prstGeom prst="rect">
            <a:avLst/>
          </a:prstGeom>
          <a:solidFill>
            <a:srgbClr val="C9C4B9"/>
          </a:solidFill>
          <a:ln/>
        </p:spPr>
      </p:sp>
      <p:sp>
        <p:nvSpPr>
          <p:cNvPr id="30" name="Text 27"/>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1" name="Shape 28"/>
          <p:cNvSpPr/>
          <p:nvPr/>
        </p:nvSpPr>
        <p:spPr>
          <a:xfrm>
            <a:off x="5415351" y="6519946"/>
            <a:ext cx="7315" cy="36759"/>
          </a:xfrm>
          <a:prstGeom prst="rect">
            <a:avLst/>
          </a:prstGeom>
          <a:solidFill>
            <a:srgbClr val="C9C4B9"/>
          </a:solidFill>
          <a:ln/>
        </p:spPr>
      </p:sp>
      <p:sp>
        <p:nvSpPr>
          <p:cNvPr id="32" name="Text 29"/>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3" name="Shape 30"/>
          <p:cNvSpPr/>
          <p:nvPr/>
        </p:nvSpPr>
        <p:spPr>
          <a:xfrm>
            <a:off x="7119610" y="6519946"/>
            <a:ext cx="7315" cy="36759"/>
          </a:xfrm>
          <a:prstGeom prst="rect">
            <a:avLst/>
          </a:prstGeom>
          <a:solidFill>
            <a:srgbClr val="C9C4B9"/>
          </a:solidFill>
          <a:ln/>
        </p:spPr>
      </p:sp>
      <p:sp>
        <p:nvSpPr>
          <p:cNvPr id="34" name="Text 31"/>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5" name="Shape 32"/>
          <p:cNvSpPr/>
          <p:nvPr/>
        </p:nvSpPr>
        <p:spPr>
          <a:xfrm>
            <a:off x="9958639" y="6519946"/>
            <a:ext cx="7315" cy="36759"/>
          </a:xfrm>
          <a:prstGeom prst="rect">
            <a:avLst/>
          </a:prstGeom>
          <a:solidFill>
            <a:srgbClr val="C9C4B9"/>
          </a:solidFill>
          <a:ln/>
        </p:spPr>
      </p:sp>
      <p:sp>
        <p:nvSpPr>
          <p:cNvPr id="36" name="Text 33"/>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7" name="Shape 34"/>
          <p:cNvSpPr/>
          <p:nvPr/>
        </p:nvSpPr>
        <p:spPr>
          <a:xfrm>
            <a:off x="11662898" y="6519946"/>
            <a:ext cx="7315" cy="36759"/>
          </a:xfrm>
          <a:prstGeom prst="rect">
            <a:avLst/>
          </a:prstGeom>
          <a:solidFill>
            <a:srgbClr val="C9C4B9"/>
          </a:solidFill>
          <a:ln/>
        </p:spPr>
      </p:sp>
      <p:sp>
        <p:nvSpPr>
          <p:cNvPr id="38" name="Text 35"/>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0645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32</a:t>
            </a:r>
            <a:endParaRPr lang="en-US" sz="2893" dirty="0"/>
          </a:p>
        </p:txBody>
      </p:sp>
      <p:sp>
        <p:nvSpPr>
          <p:cNvPr id="3" name="Text 1"/>
          <p:cNvSpPr txBox="1"/>
          <p:nvPr/>
        </p:nvSpPr>
        <p:spPr>
          <a:xfrm rot="16200000">
            <a:off x="-386060" y="3428909"/>
            <a:ext cx="693115"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1C6151"/>
                </a:solidFill>
                <a:latin typeface="Calibri" pitchFamily="34" charset="0"/>
                <a:ea typeface="Calibri" pitchFamily="34" charset="-122"/>
                <a:cs typeface="Calibri" pitchFamily="34" charset="-120"/>
              </a:rPr>
              <a:t>DEEP CNN</a:t>
            </a:r>
            <a:endParaRPr lang="en-US" sz="789" dirty="0"/>
          </a:p>
        </p:txBody>
      </p:sp>
      <p:sp>
        <p:nvSpPr>
          <p:cNvPr id="4" name="Shape 2"/>
          <p:cNvSpPr/>
          <p:nvPr/>
        </p:nvSpPr>
        <p:spPr>
          <a:xfrm>
            <a:off x="1636685" y="492679"/>
            <a:ext cx="217079" cy="25055"/>
          </a:xfrm>
          <a:prstGeom prst="rect">
            <a:avLst/>
          </a:prstGeom>
          <a:solidFill>
            <a:srgbClr val="1C6151"/>
          </a:solidFill>
          <a:ln/>
        </p:spPr>
      </p:sp>
      <p:sp>
        <p:nvSpPr>
          <p:cNvPr id="5" name="Text 3"/>
          <p:cNvSpPr txBox="1"/>
          <p:nvPr/>
        </p:nvSpPr>
        <p:spPr>
          <a:xfrm>
            <a:off x="1953981" y="436443"/>
            <a:ext cx="9715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C6151"/>
                </a:solidFill>
                <a:latin typeface="Calibri" pitchFamily="34" charset="0"/>
                <a:ea typeface="Calibri" pitchFamily="34" charset="-122"/>
                <a:cs typeface="Calibri" pitchFamily="34" charset="-120"/>
              </a:rPr>
              <a:t>ARCHITECTURE</a:t>
            </a:r>
            <a:endParaRPr lang="en-US" sz="888" dirty="0"/>
          </a:p>
        </p:txBody>
      </p:sp>
      <p:sp>
        <p:nvSpPr>
          <p:cNvPr id="6" name="Text 4"/>
          <p:cNvSpPr txBox="1"/>
          <p:nvPr/>
        </p:nvSpPr>
        <p:spPr>
          <a:xfrm>
            <a:off x="2975640"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C6151"/>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8669152"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Three layer types, one global skip, and nothing else</a:t>
            </a:r>
            <a:endParaRPr lang="en-US" sz="3025" dirty="0"/>
          </a:p>
        </p:txBody>
      </p:sp>
      <p:sp>
        <p:nvSpPr>
          <p:cNvPr id="8" name="Shape 6"/>
          <p:cNvSpPr/>
          <p:nvPr/>
        </p:nvSpPr>
        <p:spPr>
          <a:xfrm>
            <a:off x="1678473" y="1458559"/>
            <a:ext cx="8321" cy="901873"/>
          </a:xfrm>
          <a:prstGeom prst="rect">
            <a:avLst/>
          </a:prstGeom>
          <a:solidFill>
            <a:srgbClr val="C9C4B9"/>
          </a:solidFill>
          <a:ln/>
        </p:spPr>
      </p:sp>
      <p:sp>
        <p:nvSpPr>
          <p:cNvPr id="9" name="Shape 7"/>
          <p:cNvSpPr/>
          <p:nvPr/>
        </p:nvSpPr>
        <p:spPr>
          <a:xfrm>
            <a:off x="1920606" y="1905335"/>
            <a:ext cx="9669871" cy="8321"/>
          </a:xfrm>
          <a:prstGeom prst="rect">
            <a:avLst/>
          </a:prstGeom>
          <a:solidFill>
            <a:srgbClr val="DFDBD2"/>
          </a:solidFill>
          <a:ln/>
        </p:spPr>
      </p:sp>
      <p:sp>
        <p:nvSpPr>
          <p:cNvPr id="10" name="Shape 8"/>
          <p:cNvSpPr/>
          <p:nvPr/>
        </p:nvSpPr>
        <p:spPr>
          <a:xfrm>
            <a:off x="1636685" y="1531620"/>
            <a:ext cx="83485" cy="83485"/>
          </a:xfrm>
          <a:prstGeom prst="rect">
            <a:avLst/>
          </a:prstGeom>
          <a:solidFill>
            <a:srgbClr val="1C6151"/>
          </a:solidFill>
          <a:ln/>
        </p:spPr>
      </p:sp>
      <p:sp>
        <p:nvSpPr>
          <p:cNvPr id="11" name="Text 9"/>
          <p:cNvSpPr txBox="1"/>
          <p:nvPr/>
        </p:nvSpPr>
        <p:spPr>
          <a:xfrm>
            <a:off x="1920606" y="1481694"/>
            <a:ext cx="1266444" cy="183337"/>
          </a:xfrm>
          <a:prstGeom prst="rect">
            <a:avLst/>
          </a:prstGeom>
          <a:noFill/>
          <a:ln/>
        </p:spPr>
        <p:txBody>
          <a:bodyPr wrap="none" lIns="0" tIns="0" rIns="0" bIns="0" rtlCol="0" anchor="t"/>
          <a:lstStyle/>
          <a:p>
            <a:pPr algn="l" indent="0" marL="0">
              <a:lnSpc>
                <a:spcPts val="1444"/>
              </a:lnSpc>
              <a:buNone/>
            </a:pPr>
            <a:r>
              <a:rPr lang="en-US" sz="1184" b="1" spc="-20" kern="0" dirty="0">
                <a:solidFill>
                  <a:srgbClr val="14120F"/>
                </a:solidFill>
                <a:latin typeface="Cambria" pitchFamily="34" charset="0"/>
                <a:ea typeface="Cambria" pitchFamily="34" charset="-122"/>
                <a:cs typeface="Cambria" pitchFamily="34" charset="-120"/>
              </a:rPr>
              <a:t>Layer D · Conv only</a:t>
            </a:r>
            <a:endParaRPr lang="en-US" sz="1184" dirty="0"/>
          </a:p>
        </p:txBody>
      </p:sp>
      <p:sp>
        <p:nvSpPr>
          <p:cNvPr id="12" name="Shape 10"/>
          <p:cNvSpPr/>
          <p:nvPr/>
        </p:nvSpPr>
        <p:spPr>
          <a:xfrm>
            <a:off x="5377678" y="1366754"/>
            <a:ext cx="8321" cy="413309"/>
          </a:xfrm>
          <a:prstGeom prst="rect">
            <a:avLst/>
          </a:prstGeom>
          <a:solidFill>
            <a:srgbClr val="DFDBD2"/>
          </a:solidFill>
          <a:ln/>
        </p:spPr>
      </p:sp>
      <p:sp>
        <p:nvSpPr>
          <p:cNvPr id="13" name="Text 11"/>
          <p:cNvSpPr txBox="1"/>
          <p:nvPr/>
        </p:nvSpPr>
        <p:spPr>
          <a:xfrm>
            <a:off x="5603169" y="1363645"/>
            <a:ext cx="6027908" cy="413309"/>
          </a:xfrm>
          <a:prstGeom prst="rect">
            <a:avLst/>
          </a:prstGeom>
          <a:noFill/>
          <a:ln/>
        </p:spPr>
        <p:txBody>
          <a:bodyPr wrap="square" lIns="0" tIns="0" rIns="0" bIns="0" rtlCol="0" anchor="t"/>
          <a:lstStyle/>
          <a:p>
            <a:pPr algn="l" indent="0" marL="0">
              <a:lnSpc>
                <a:spcPts val="1627"/>
              </a:lnSpc>
              <a:buNone/>
            </a:pPr>
            <a:r>
              <a:rPr kern="0" lang="en-US" sz="1085" dirty="0">
                <a:solidFill>
                  <a:srgbClr val="33302B"/>
                </a:solidFill>
                <a:latin typeface="Calibri" pitchFamily="34" charset="0"/>
                <a:ea typeface="Calibri" pitchFamily="34" charset="-122"/>
                <a:cs typeface="Calibri" pitchFamily="34" charset="-120"/>
              </a:rPr>
              <a:t>c filters of size 3×3×64 reconstruct the output. </a:t>
            </a:r>
            <a:pPr algn="l" indent="0" marL="0">
              <a:lnSpc>
                <a:spcPts val="1627"/>
              </a:lnSpc>
              <a:buNone/>
            </a:pPr>
            <a:r>
              <a:rPr kern="0" lang="en-US" sz="1085" b="1" dirty="0">
                <a:solidFill>
                  <a:srgbClr val="33302B"/>
                </a:solidFill>
                <a:latin typeface="Calibri" pitchFamily="34" charset="0"/>
                <a:ea typeface="Calibri" pitchFamily="34" charset="-122"/>
                <a:cs typeface="Calibri" pitchFamily="34" charset="-120"/>
              </a:rPr>
              <a:t>No BN, no ReLU</a:t>
            </a:r>
            <a:pPr algn="l" indent="0" marL="0">
              <a:lnSpc>
                <a:spcPts val="1627"/>
              </a:lnSpc>
              <a:buNone/>
            </a:pPr>
            <a:r>
              <a:rPr kern="0" lang="en-US" sz="1085" dirty="0">
                <a:solidFill>
                  <a:srgbClr val="33302B"/>
                </a:solidFill>
                <a:latin typeface="Calibri" pitchFamily="34" charset="0"/>
                <a:ea typeface="Calibri" pitchFamily="34" charset="-122"/>
                <a:cs typeface="Calibri" pitchFamily="34" charset="-120"/>
              </a:rPr>
              <a:t> — the output must be able to take negative values, because it is a noise map.</a:t>
            </a:r>
            <a:endParaRPr lang="en-US" sz="1085" dirty="0"/>
          </a:p>
        </p:txBody>
      </p:sp>
      <p:sp>
        <p:nvSpPr>
          <p:cNvPr id="14" name="Shape 12"/>
          <p:cNvSpPr/>
          <p:nvPr/>
        </p:nvSpPr>
        <p:spPr>
          <a:xfrm>
            <a:off x="1636685" y="2203887"/>
            <a:ext cx="83485" cy="83485"/>
          </a:xfrm>
          <a:prstGeom prst="rect">
            <a:avLst/>
          </a:prstGeom>
          <a:solidFill>
            <a:srgbClr val="1C6151"/>
          </a:solidFill>
          <a:ln/>
        </p:spPr>
      </p:sp>
      <p:sp>
        <p:nvSpPr>
          <p:cNvPr id="15" name="Text 13"/>
          <p:cNvSpPr txBox="1"/>
          <p:nvPr/>
        </p:nvSpPr>
        <p:spPr>
          <a:xfrm>
            <a:off x="1920606" y="2153961"/>
            <a:ext cx="1374160" cy="183337"/>
          </a:xfrm>
          <a:prstGeom prst="rect">
            <a:avLst/>
          </a:prstGeom>
          <a:noFill/>
          <a:ln/>
        </p:spPr>
        <p:txBody>
          <a:bodyPr wrap="none" lIns="0" tIns="0" rIns="0" bIns="0" rtlCol="0" anchor="t"/>
          <a:lstStyle/>
          <a:p>
            <a:pPr algn="l" indent="0" marL="0">
              <a:lnSpc>
                <a:spcPts val="1444"/>
              </a:lnSpc>
              <a:buNone/>
            </a:pPr>
            <a:r>
              <a:rPr lang="en-US" sz="1184" b="1" spc="-20" kern="0" dirty="0">
                <a:solidFill>
                  <a:srgbClr val="14120F"/>
                </a:solidFill>
                <a:latin typeface="Cambria" pitchFamily="34" charset="0"/>
                <a:ea typeface="Cambria" pitchFamily="34" charset="-122"/>
                <a:cs typeface="Cambria" pitchFamily="34" charset="-120"/>
              </a:rPr>
              <a:t>Global skip · x̂ = y − v̂</a:t>
            </a:r>
            <a:endParaRPr lang="en-US" sz="1184" dirty="0"/>
          </a:p>
        </p:txBody>
      </p:sp>
      <p:sp>
        <p:nvSpPr>
          <p:cNvPr id="16" name="Shape 14"/>
          <p:cNvSpPr/>
          <p:nvPr/>
        </p:nvSpPr>
        <p:spPr>
          <a:xfrm>
            <a:off x="5377678" y="2038929"/>
            <a:ext cx="8321" cy="413309"/>
          </a:xfrm>
          <a:prstGeom prst="rect">
            <a:avLst/>
          </a:prstGeom>
          <a:solidFill>
            <a:srgbClr val="DFDBD2"/>
          </a:solidFill>
          <a:ln/>
        </p:spPr>
      </p:sp>
      <p:sp>
        <p:nvSpPr>
          <p:cNvPr id="17" name="Text 15"/>
          <p:cNvSpPr txBox="1"/>
          <p:nvPr/>
        </p:nvSpPr>
        <p:spPr>
          <a:xfrm>
            <a:off x="5603169" y="2035820"/>
            <a:ext cx="6027908" cy="413309"/>
          </a:xfrm>
          <a:prstGeom prst="rect">
            <a:avLst/>
          </a:prstGeom>
          <a:noFill/>
          <a:ln/>
        </p:spPr>
        <p:txBody>
          <a:bodyPr wrap="square" lIns="0" tIns="0" rIns="0" bIns="0" rtlCol="0" anchor="t"/>
          <a:lstStyle/>
          <a:p>
            <a:pPr algn="l" indent="0" marL="0">
              <a:lnSpc>
                <a:spcPts val="1627"/>
              </a:lnSpc>
              <a:buNone/>
            </a:pPr>
            <a:r>
              <a:rPr kern="0" lang="en-US" sz="1085" dirty="0">
                <a:solidFill>
                  <a:srgbClr val="33302B"/>
                </a:solidFill>
                <a:latin typeface="Calibri" pitchFamily="34" charset="0"/>
                <a:ea typeface="Calibri" pitchFamily="34" charset="-122"/>
                <a:cs typeface="Calibri" pitchFamily="34" charset="-120"/>
              </a:rPr>
              <a:t>The network outputs v̂, the predicted </a:t>
            </a:r>
            <a:pPr algn="l" indent="0" marL="0">
              <a:lnSpc>
                <a:spcPts val="1627"/>
              </a:lnSpc>
              <a:buNone/>
            </a:pPr>
            <a:r>
              <a:rPr kern="0" lang="en-US" sz="1085" i="1" dirty="0">
                <a:solidFill>
                  <a:srgbClr val="33302B"/>
                </a:solidFill>
                <a:latin typeface="Calibri" pitchFamily="34" charset="0"/>
                <a:ea typeface="Calibri" pitchFamily="34" charset="-122"/>
                <a:cs typeface="Calibri" pitchFamily="34" charset="-120"/>
              </a:rPr>
              <a:t>noise</a:t>
            </a:r>
            <a:pPr algn="l" indent="0" marL="0">
              <a:lnSpc>
                <a:spcPts val="1627"/>
              </a:lnSpc>
              <a:buNone/>
            </a:pPr>
            <a:r>
              <a:rPr kern="0" lang="en-US" sz="1085" dirty="0">
                <a:solidFill>
                  <a:srgbClr val="33302B"/>
                </a:solidFill>
                <a:latin typeface="Calibri" pitchFamily="34" charset="0"/>
                <a:ea typeface="Calibri" pitchFamily="34" charset="-122"/>
                <a:cs typeface="Calibri" pitchFamily="34" charset="-120"/>
              </a:rPr>
              <a:t>. The clean image is recovered outside the network by subtraction — one skip across the whole network.</a:t>
            </a:r>
            <a:endParaRPr lang="en-US" sz="1085" dirty="0"/>
          </a:p>
        </p:txBody>
      </p:sp>
      <p:sp>
        <p:nvSpPr>
          <p:cNvPr id="18" name="Shape 16"/>
          <p:cNvSpPr/>
          <p:nvPr/>
        </p:nvSpPr>
        <p:spPr>
          <a:xfrm>
            <a:off x="1636685" y="2744572"/>
            <a:ext cx="9953793" cy="8321"/>
          </a:xfrm>
          <a:prstGeom prst="rect">
            <a:avLst/>
          </a:prstGeom>
          <a:solidFill>
            <a:srgbClr val="DFDBD2"/>
          </a:solidFill>
          <a:ln/>
        </p:spPr>
      </p:sp>
      <p:sp>
        <p:nvSpPr>
          <p:cNvPr id="19" name="Text 17"/>
          <p:cNvSpPr txBox="1"/>
          <p:nvPr/>
        </p:nvSpPr>
        <p:spPr>
          <a:xfrm>
            <a:off x="1636685" y="2894899"/>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20" name="Text 18"/>
          <p:cNvSpPr txBox="1"/>
          <p:nvPr/>
        </p:nvSpPr>
        <p:spPr>
          <a:xfrm>
            <a:off x="1987448" y="2883378"/>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Zero padding throughout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keeping every middle feature map the same size as the input. The paper reports this simple strategy produces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no boundary artefacts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21" name="Text 19"/>
          <p:cNvSpPr txBox="1"/>
          <p:nvPr/>
        </p:nvSpPr>
        <p:spPr>
          <a:xfrm>
            <a:off x="1636685" y="3491911"/>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22" name="Text 20"/>
          <p:cNvSpPr txBox="1"/>
          <p:nvPr/>
        </p:nvSpPr>
        <p:spPr>
          <a:xfrm>
            <a:off x="1987448" y="3480481"/>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No pooling anywhere.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Pooling discards spatial resolution, and denoising must emit one clean pixel per input pixel. Removing it is what makes the receptive-field arithmetic on slide 35 exact.</a:t>
            </a:r>
            <a:endParaRPr lang="en-US" sz="1216" dirty="0"/>
          </a:p>
        </p:txBody>
      </p:sp>
      <p:sp>
        <p:nvSpPr>
          <p:cNvPr id="23" name="Text 21"/>
          <p:cNvSpPr txBox="1"/>
          <p:nvPr/>
        </p:nvSpPr>
        <p:spPr>
          <a:xfrm>
            <a:off x="1636685" y="4089014"/>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24" name="Text 22"/>
          <p:cNvSpPr txBox="1"/>
          <p:nvPr/>
        </p:nvSpPr>
        <p:spPr>
          <a:xfrm>
            <a:off x="1987448" y="4077492"/>
            <a:ext cx="9504731"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Parameters, DnCNN-S, depth 17, grayscale: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576 + 15 × (3·3·64·64) + 576 + 15 × 2 × 64 ≈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556 K</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network is one block repeated fifteen times.</a:t>
            </a:r>
            <a:pPr algn="l" indent="0" marL="0">
              <a:lnSpc>
                <a:spcPts val="1825"/>
              </a:lnSpc>
              <a:buNone/>
            </a:pPr>
            <a:r>
              <a:rPr kern="0" lang="en-US" sz="900" b="1" dirty="0">
                <a:solidFill>
                  <a:srgbClr val="C0451A"/>
                </a:solidFill>
                <a:latin typeface="Calibri" pitchFamily="34" charset="0"/>
                <a:ea typeface="Calibri" pitchFamily="34" charset="-122"/>
                <a:cs typeface="Calibri" pitchFamily="34" charset="-120"/>
              </a:rPr>
              <a:t>[2]</a:t>
            </a:r>
            <a:endParaRPr lang="en-US" sz="1216" dirty="0"/>
          </a:p>
        </p:txBody>
      </p:sp>
      <p:sp>
        <p:nvSpPr>
          <p:cNvPr id="25" name="Text 23"/>
          <p:cNvSpPr txBox="1"/>
          <p:nvPr/>
        </p:nvSpPr>
        <p:spPr>
          <a:xfrm>
            <a:off x="7606619" y="6207039"/>
            <a:ext cx="3983858"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§III-B, Fig. 1 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parameter breakdown computed from the stated shapes</a:t>
            </a:r>
            <a:endParaRPr lang="en-US" sz="633" dirty="0"/>
          </a:p>
        </p:txBody>
      </p:sp>
      <p:sp>
        <p:nvSpPr>
          <p:cNvPr id="26" name="Shape 24"/>
          <p:cNvSpPr/>
          <p:nvPr/>
        </p:nvSpPr>
        <p:spPr>
          <a:xfrm>
            <a:off x="1636685" y="6515466"/>
            <a:ext cx="9953793" cy="8321"/>
          </a:xfrm>
          <a:prstGeom prst="rect">
            <a:avLst/>
          </a:prstGeom>
          <a:solidFill>
            <a:srgbClr val="C9C4B9"/>
          </a:solidFill>
          <a:ln/>
        </p:spPr>
      </p:sp>
      <p:sp>
        <p:nvSpPr>
          <p:cNvPr id="27" name="Shape 25"/>
          <p:cNvSpPr/>
          <p:nvPr/>
        </p:nvSpPr>
        <p:spPr>
          <a:xfrm>
            <a:off x="6613581" y="6502938"/>
            <a:ext cx="1105784" cy="33376"/>
          </a:xfrm>
          <a:prstGeom prst="rect">
            <a:avLst/>
          </a:prstGeom>
          <a:solidFill>
            <a:srgbClr val="1C6151"/>
          </a:solidFill>
          <a:ln/>
        </p:spPr>
      </p:sp>
      <p:sp>
        <p:nvSpPr>
          <p:cNvPr id="28" name="Shape 26"/>
          <p:cNvSpPr/>
          <p:nvPr/>
        </p:nvSpPr>
        <p:spPr>
          <a:xfrm>
            <a:off x="1636685" y="6473678"/>
            <a:ext cx="8321" cy="41788"/>
          </a:xfrm>
          <a:prstGeom prst="rect">
            <a:avLst/>
          </a:prstGeom>
          <a:solidFill>
            <a:srgbClr val="C9C4B9"/>
          </a:solidFill>
          <a:ln/>
        </p:spPr>
      </p:sp>
      <p:sp>
        <p:nvSpPr>
          <p:cNvPr id="29" name="Text 27"/>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30" name="Shape 28"/>
          <p:cNvSpPr/>
          <p:nvPr/>
        </p:nvSpPr>
        <p:spPr>
          <a:xfrm>
            <a:off x="5507706" y="6473678"/>
            <a:ext cx="8321" cy="41788"/>
          </a:xfrm>
          <a:prstGeom prst="rect">
            <a:avLst/>
          </a:prstGeom>
          <a:solidFill>
            <a:srgbClr val="C9C4B9"/>
          </a:solidFill>
          <a:ln/>
        </p:spPr>
      </p:sp>
      <p:sp>
        <p:nvSpPr>
          <p:cNvPr id="31" name="Text 29"/>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2" name="Shape 30"/>
          <p:cNvSpPr/>
          <p:nvPr/>
        </p:nvSpPr>
        <p:spPr>
          <a:xfrm>
            <a:off x="7166884" y="6473678"/>
            <a:ext cx="8321" cy="41788"/>
          </a:xfrm>
          <a:prstGeom prst="rect">
            <a:avLst/>
          </a:prstGeom>
          <a:solidFill>
            <a:srgbClr val="C9C4B9"/>
          </a:solidFill>
          <a:ln/>
        </p:spPr>
      </p:sp>
      <p:sp>
        <p:nvSpPr>
          <p:cNvPr id="33" name="Text 31"/>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4" name="Shape 32"/>
          <p:cNvSpPr/>
          <p:nvPr/>
        </p:nvSpPr>
        <p:spPr>
          <a:xfrm>
            <a:off x="9931024" y="6473678"/>
            <a:ext cx="8321" cy="41788"/>
          </a:xfrm>
          <a:prstGeom prst="rect">
            <a:avLst/>
          </a:prstGeom>
          <a:solidFill>
            <a:srgbClr val="C9C4B9"/>
          </a:solidFill>
          <a:ln/>
        </p:spPr>
      </p:sp>
      <p:sp>
        <p:nvSpPr>
          <p:cNvPr id="35" name="Text 33"/>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6" name="Shape 34"/>
          <p:cNvSpPr/>
          <p:nvPr/>
        </p:nvSpPr>
        <p:spPr>
          <a:xfrm>
            <a:off x="11590477" y="6473678"/>
            <a:ext cx="8321" cy="41788"/>
          </a:xfrm>
          <a:prstGeom prst="rect">
            <a:avLst/>
          </a:prstGeom>
          <a:solidFill>
            <a:srgbClr val="C9C4B9"/>
          </a:solidFill>
          <a:ln/>
        </p:spPr>
      </p:sp>
      <p:sp>
        <p:nvSpPr>
          <p:cNvPr id="37" name="Text 35"/>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37505"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33</a:t>
            </a:r>
            <a:endParaRPr lang="en-US" sz="2400" dirty="0"/>
          </a:p>
        </p:txBody>
      </p:sp>
      <p:sp>
        <p:nvSpPr>
          <p:cNvPr id="3" name="Text 1"/>
          <p:cNvSpPr txBox="1"/>
          <p:nvPr/>
        </p:nvSpPr>
        <p:spPr>
          <a:xfrm rot="16200000">
            <a:off x="-320314" y="3428909"/>
            <a:ext cx="574975" cy="97018"/>
          </a:xfrm>
          <a:prstGeom prst="rect">
            <a:avLst/>
          </a:prstGeom>
          <a:noFill/>
          <a:ln/>
        </p:spPr>
        <p:txBody>
          <a:bodyPr wrap="none" lIns="0" tIns="0" rIns="0" bIns="0" rtlCol="0" anchor="ctr"/>
          <a:lstStyle/>
          <a:p>
            <a:pPr algn="ctr" indent="0" marL="0">
              <a:lnSpc>
                <a:spcPts val="799"/>
              </a:lnSpc>
              <a:buNone/>
            </a:pPr>
            <a:r>
              <a:rPr lang="en-US" sz="655" b="1" spc="164" kern="0" dirty="0">
                <a:solidFill>
                  <a:srgbClr val="1C6151"/>
                </a:solidFill>
                <a:latin typeface="Calibri" pitchFamily="34" charset="0"/>
                <a:ea typeface="Calibri" pitchFamily="34" charset="-122"/>
                <a:cs typeface="Calibri" pitchFamily="34" charset="-120"/>
              </a:rPr>
              <a:t>DEEP CNN</a:t>
            </a:r>
            <a:endParaRPr lang="en-US" sz="655" dirty="0"/>
          </a:p>
        </p:txBody>
      </p:sp>
      <p:sp>
        <p:nvSpPr>
          <p:cNvPr id="4" name="Shape 2"/>
          <p:cNvSpPr/>
          <p:nvPr/>
        </p:nvSpPr>
        <p:spPr>
          <a:xfrm>
            <a:off x="1357701" y="408737"/>
            <a:ext cx="180137" cy="20757"/>
          </a:xfrm>
          <a:prstGeom prst="rect">
            <a:avLst/>
          </a:prstGeom>
          <a:solidFill>
            <a:srgbClr val="1C6151"/>
          </a:solidFill>
          <a:ln/>
        </p:spPr>
      </p:sp>
      <p:sp>
        <p:nvSpPr>
          <p:cNvPr id="5" name="Text 3"/>
          <p:cNvSpPr txBox="1"/>
          <p:nvPr/>
        </p:nvSpPr>
        <p:spPr>
          <a:xfrm>
            <a:off x="1620957" y="362011"/>
            <a:ext cx="1005657"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1C6151"/>
                </a:solidFill>
                <a:latin typeface="Calibri" pitchFamily="34" charset="0"/>
                <a:ea typeface="Calibri" pitchFamily="34" charset="-122"/>
                <a:cs typeface="Calibri" pitchFamily="34" charset="-120"/>
              </a:rPr>
              <a:t>THE CENTRAL IDEA</a:t>
            </a:r>
            <a:endParaRPr lang="en-US" sz="736" dirty="0"/>
          </a:p>
        </p:txBody>
      </p:sp>
      <p:sp>
        <p:nvSpPr>
          <p:cNvPr id="6" name="Text 4"/>
          <p:cNvSpPr txBox="1"/>
          <p:nvPr/>
        </p:nvSpPr>
        <p:spPr>
          <a:xfrm>
            <a:off x="1357701" y="572597"/>
            <a:ext cx="7967716"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Residual learning — predict the dirt, not the photograph</a:t>
            </a:r>
            <a:endParaRPr lang="en-US" sz="2509" dirty="0"/>
          </a:p>
        </p:txBody>
      </p:sp>
      <p:sp>
        <p:nvSpPr>
          <p:cNvPr id="7" name="Text 5"/>
          <p:cNvSpPr txBox="1"/>
          <p:nvPr/>
        </p:nvSpPr>
        <p:spPr>
          <a:xfrm>
            <a:off x="1357701" y="1029889"/>
            <a:ext cx="5371734" cy="415595"/>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The single design choice that defines the paper. Existing discriminative models learn F(y) = x, the clean image. DnCNN learns R(y) ≈ v, the noise, and recovers x = y − R(y).</a:t>
            </a:r>
            <a:endParaRPr lang="en-US" sz="1091" dirty="0"/>
          </a:p>
        </p:txBody>
      </p:sp>
      <p:sp>
        <p:nvSpPr>
          <p:cNvPr id="8" name="Shape 6"/>
          <p:cNvSpPr/>
          <p:nvPr/>
        </p:nvSpPr>
        <p:spPr>
          <a:xfrm>
            <a:off x="1357701" y="1639428"/>
            <a:ext cx="10335189" cy="1393637"/>
          </a:xfrm>
          <a:prstGeom prst="rect">
            <a:avLst/>
          </a:prstGeom>
          <a:solidFill>
            <a:srgbClr val="EAEEEA"/>
          </a:solidFill>
          <a:ln/>
        </p:spPr>
      </p:sp>
      <p:sp>
        <p:nvSpPr>
          <p:cNvPr id="9" name="Shape 7"/>
          <p:cNvSpPr/>
          <p:nvPr/>
        </p:nvSpPr>
        <p:spPr>
          <a:xfrm>
            <a:off x="1357701" y="1639428"/>
            <a:ext cx="27706" cy="1393637"/>
          </a:xfrm>
          <a:prstGeom prst="rect">
            <a:avLst/>
          </a:prstGeom>
          <a:solidFill>
            <a:srgbClr val="1C6151"/>
          </a:solidFill>
          <a:ln/>
        </p:spPr>
      </p:sp>
      <p:pic>
        <p:nvPicPr>
          <p:cNvPr id="10" name="Image 0" descr="\ell(\Theta) \;=\; \frac{1}{2N}\sum_{i=1}^{N}\Big\lVert\, \mathcal{R}(y_{i};\Theta)\;-\; \big(y_{i} - x_{i}\big) \,\Big\rVert_{F}^{2}">    </p:cNvPr>
          <p:cNvPicPr>
            <a:picLocks noChangeAspect="1"/>
          </p:cNvPicPr>
          <p:nvPr/>
        </p:nvPicPr>
        <p:blipFill>
          <a:blip r:embed="rId1"/>
          <a:stretch>
            <a:fillRect/>
          </a:stretch>
        </p:blipFill>
        <p:spPr>
          <a:xfrm>
            <a:off x="1551645" y="1757202"/>
            <a:ext cx="5307909" cy="935157"/>
          </a:xfrm>
          <a:prstGeom prst="rect">
            <a:avLst/>
          </a:prstGeom>
        </p:spPr>
      </p:pic>
      <p:sp>
        <p:nvSpPr>
          <p:cNvPr id="11" name="Text 8"/>
          <p:cNvSpPr txBox="1"/>
          <p:nvPr/>
        </p:nvSpPr>
        <p:spPr>
          <a:xfrm>
            <a:off x="1551645" y="2760939"/>
            <a:ext cx="7158380" cy="153802"/>
          </a:xfrm>
          <a:prstGeom prst="rect">
            <a:avLst/>
          </a:prstGeom>
          <a:noFill/>
          <a:ln/>
        </p:spPr>
        <p:txBody>
          <a:bodyPr wrap="none" lIns="0" tIns="0" rIns="0" bIns="0" rtlCol="0" anchor="t"/>
          <a:lstStyle/>
          <a:p>
            <a:pPr algn="l" indent="0" marL="0">
              <a:lnSpc>
                <a:spcPts val="1211"/>
              </a:lnSpc>
              <a:buNone/>
            </a:pPr>
            <a:r>
              <a:rPr kern="0" lang="en-US" sz="818" i="1" dirty="0">
                <a:solidFill>
                  <a:srgbClr val="5A554D"/>
                </a:solidFill>
                <a:latin typeface="Calibri" pitchFamily="34" charset="0"/>
                <a:ea typeface="Calibri" pitchFamily="34" charset="-122"/>
                <a:cs typeface="Calibri" pitchFamily="34" charset="-120"/>
              </a:rPr>
              <a:t>Equation (1) of the paper — averaged squared Frobenius error between the desired residual images and the estimated ones, over N noisy–clean training patch pairs</a:t>
            </a:r>
            <a:endParaRPr lang="en-US" sz="818" dirty="0"/>
          </a:p>
        </p:txBody>
      </p:sp>
      <p:sp>
        <p:nvSpPr>
          <p:cNvPr id="12" name="Shape 9"/>
          <p:cNvSpPr/>
          <p:nvPr/>
        </p:nvSpPr>
        <p:spPr>
          <a:xfrm>
            <a:off x="1357701" y="3137032"/>
            <a:ext cx="10335189" cy="6949"/>
          </a:xfrm>
          <a:prstGeom prst="rect">
            <a:avLst/>
          </a:prstGeom>
          <a:solidFill>
            <a:srgbClr val="DFDBD2"/>
          </a:solidFill>
          <a:ln/>
        </p:spPr>
      </p:sp>
      <p:sp>
        <p:nvSpPr>
          <p:cNvPr id="13" name="Text 10"/>
          <p:cNvSpPr txBox="1"/>
          <p:nvPr/>
        </p:nvSpPr>
        <p:spPr>
          <a:xfrm>
            <a:off x="1357701" y="3261665"/>
            <a:ext cx="124084"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01</a:t>
            </a:r>
            <a:endParaRPr lang="en-US" sz="655" dirty="0"/>
          </a:p>
        </p:txBody>
      </p:sp>
      <p:sp>
        <p:nvSpPr>
          <p:cNvPr id="14" name="Text 11"/>
          <p:cNvSpPr txBox="1"/>
          <p:nvPr/>
        </p:nvSpPr>
        <p:spPr>
          <a:xfrm>
            <a:off x="1648663" y="3252155"/>
            <a:ext cx="10098359" cy="393009"/>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The target is (y_i − x_i), which is the actual noise.</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The loss never looks at the clean image directly. This is the one line to check when opening any denoising repository: does </a:t>
            </a:r>
            <a:pPr algn="l" indent="0" marL="0">
              <a:lnSpc>
                <a:spcPts val="1514"/>
              </a:lnSpc>
              <a:buNone/>
            </a:pPr>
            <a:r>
              <a:rPr kern="0" lang="en-US" sz="908" dirty="0">
                <a:solidFill>
                  <a:srgbClr val="145A66"/>
                </a:solidFill>
                <a:latin typeface="Consolas" pitchFamily="34" charset="0"/>
                <a:ea typeface="Consolas" pitchFamily="34" charset="-122"/>
                <a:cs typeface="Consolas" pitchFamily="34" charset="-120"/>
              </a:rPr>
              <a:t>forward()</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return the image or the noise?</a:t>
            </a:r>
            <a:endParaRPr lang="en-US" sz="1009" dirty="0"/>
          </a:p>
        </p:txBody>
      </p:sp>
      <p:sp>
        <p:nvSpPr>
          <p:cNvPr id="15" name="Text 12"/>
          <p:cNvSpPr txBox="1"/>
          <p:nvPr/>
        </p:nvSpPr>
        <p:spPr>
          <a:xfrm>
            <a:off x="1357701" y="3765499"/>
            <a:ext cx="128016"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02</a:t>
            </a:r>
            <a:endParaRPr lang="en-US" sz="655" dirty="0"/>
          </a:p>
        </p:txBody>
      </p:sp>
      <p:sp>
        <p:nvSpPr>
          <p:cNvPr id="16" name="Text 13"/>
          <p:cNvSpPr txBox="1"/>
          <p:nvPr/>
        </p:nvSpPr>
        <p:spPr>
          <a:xfrm>
            <a:off x="1648663" y="3755989"/>
            <a:ext cx="10098359" cy="576712"/>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The formal justification, in two steps.</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(a) From ResNet: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when the original mapping is more like an identity mapping, the residual mapping will be much easier to optimize.</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(b) The observation that closes it: the noisy observation y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is much more like the latent clean image x than it is like the residual image v</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 especially at low noise. So F(y) would be closer to an identity mapping than R(y) is, and the residual formulation is more suitable.</a:t>
            </a:r>
            <a:endParaRPr lang="en-US" sz="1009" dirty="0"/>
          </a:p>
        </p:txBody>
      </p:sp>
      <p:sp>
        <p:nvSpPr>
          <p:cNvPr id="17" name="Text 14"/>
          <p:cNvSpPr txBox="1"/>
          <p:nvPr/>
        </p:nvSpPr>
        <p:spPr>
          <a:xfrm>
            <a:off x="1357701" y="4453037"/>
            <a:ext cx="128107"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03</a:t>
            </a:r>
            <a:endParaRPr lang="en-US" sz="655" dirty="0"/>
          </a:p>
        </p:txBody>
      </p:sp>
      <p:sp>
        <p:nvSpPr>
          <p:cNvPr id="18" name="Text 15"/>
          <p:cNvSpPr txBox="1"/>
          <p:nvPr/>
        </p:nvSpPr>
        <p:spPr>
          <a:xfrm>
            <a:off x="1648663" y="4443527"/>
            <a:ext cx="10098359" cy="576712"/>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Why learning the identity is genuinely hard.</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A stack of convolutions with ReLUs has no built-in way to express 'copy the input unchanged'; seventeen layers would have to conspire into an identity transform, which is a narrow and awkward point in parameter space. A network that outputs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zero</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by contrast, is trivially reachable — drive the weights toward zero. Residual learning relocates the 'do nothing' solution from the hard point to the easy one.</a:t>
            </a:r>
            <a:endParaRPr lang="en-US" sz="1009" dirty="0"/>
          </a:p>
        </p:txBody>
      </p:sp>
      <p:sp>
        <p:nvSpPr>
          <p:cNvPr id="19" name="Text 16"/>
          <p:cNvSpPr txBox="1"/>
          <p:nvPr/>
        </p:nvSpPr>
        <p:spPr>
          <a:xfrm>
            <a:off x="1357701" y="5140574"/>
            <a:ext cx="131948"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04</a:t>
            </a:r>
            <a:endParaRPr lang="en-US" sz="655" dirty="0"/>
          </a:p>
        </p:txBody>
      </p:sp>
      <p:sp>
        <p:nvSpPr>
          <p:cNvPr id="20" name="Text 17"/>
          <p:cNvSpPr txBox="1"/>
          <p:nvPr/>
        </p:nvSpPr>
        <p:spPr>
          <a:xfrm>
            <a:off x="1648663" y="5131064"/>
            <a:ext cx="10098359" cy="384414"/>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DnCNN is not ResNet.</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The paper is explicit: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unlike the residual network, which uses many residual units (identity shortcuts), DnCNN employs a single residual unit to predict the residual image.</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One global skip, not dozens of local ones.</a:t>
            </a:r>
            <a:endParaRPr lang="en-US" sz="1009" dirty="0"/>
          </a:p>
        </p:txBody>
      </p:sp>
      <p:sp>
        <p:nvSpPr>
          <p:cNvPr id="21" name="Text 18"/>
          <p:cNvSpPr txBox="1"/>
          <p:nvPr/>
        </p:nvSpPr>
        <p:spPr>
          <a:xfrm>
            <a:off x="1357701" y="5635813"/>
            <a:ext cx="129113"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05</a:t>
            </a:r>
            <a:endParaRPr lang="en-US" sz="655" dirty="0"/>
          </a:p>
        </p:txBody>
      </p:sp>
      <p:sp>
        <p:nvSpPr>
          <p:cNvPr id="22" name="Text 19"/>
          <p:cNvSpPr txBox="1"/>
          <p:nvPr/>
        </p:nvSpPr>
        <p:spPr>
          <a:xfrm>
            <a:off x="1648663" y="5626303"/>
            <a:ext cx="10098359" cy="384414"/>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Priority, stated with a hedge — reproduce the hedge.</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Residual prediction had already been used in super-resolution and colour demosaicking, but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to the best of our knowledge there is no work which directly predicts the residual image for denoising.</a:t>
            </a:r>
            <a:endParaRPr lang="en-US" sz="1009" dirty="0"/>
          </a:p>
        </p:txBody>
      </p:sp>
      <p:sp>
        <p:nvSpPr>
          <p:cNvPr id="23" name="Text 20"/>
          <p:cNvSpPr txBox="1"/>
          <p:nvPr/>
        </p:nvSpPr>
        <p:spPr>
          <a:xfrm>
            <a:off x="10592318" y="6307623"/>
            <a:ext cx="1100663" cy="109819"/>
          </a:xfrm>
          <a:prstGeom prst="rect">
            <a:avLst/>
          </a:prstGeom>
          <a:noFill/>
          <a:ln/>
        </p:spPr>
        <p:txBody>
          <a:bodyPr wrap="none" lIns="0" tIns="0" rIns="0" bIns="0" rtlCol="0" anchor="t"/>
          <a:lstStyle/>
          <a:p>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DnCNN17 §II-A, §III-A, Eq. (1)</a:t>
            </a:r>
            <a:endParaRPr lang="en-US" sz="709" dirty="0"/>
          </a:p>
        </p:txBody>
      </p:sp>
      <p:sp>
        <p:nvSpPr>
          <p:cNvPr id="24" name="Shape 21"/>
          <p:cNvSpPr/>
          <p:nvPr/>
        </p:nvSpPr>
        <p:spPr>
          <a:xfrm>
            <a:off x="1357701" y="6573804"/>
            <a:ext cx="10335189" cy="6949"/>
          </a:xfrm>
          <a:prstGeom prst="rect">
            <a:avLst/>
          </a:prstGeom>
          <a:solidFill>
            <a:srgbClr val="C9C4B9"/>
          </a:solidFill>
          <a:ln/>
        </p:spPr>
      </p:sp>
      <p:sp>
        <p:nvSpPr>
          <p:cNvPr id="25" name="Shape 22"/>
          <p:cNvSpPr/>
          <p:nvPr/>
        </p:nvSpPr>
        <p:spPr>
          <a:xfrm>
            <a:off x="6525341" y="6563472"/>
            <a:ext cx="1148212" cy="27706"/>
          </a:xfrm>
          <a:prstGeom prst="rect">
            <a:avLst/>
          </a:prstGeom>
          <a:solidFill>
            <a:srgbClr val="1C6151"/>
          </a:solidFill>
          <a:ln/>
        </p:spPr>
      </p:sp>
      <p:sp>
        <p:nvSpPr>
          <p:cNvPr id="26" name="Shape 23"/>
          <p:cNvSpPr/>
          <p:nvPr/>
        </p:nvSpPr>
        <p:spPr>
          <a:xfrm>
            <a:off x="1357701" y="6539149"/>
            <a:ext cx="6949" cy="34656"/>
          </a:xfrm>
          <a:prstGeom prst="rect">
            <a:avLst/>
          </a:prstGeom>
          <a:solidFill>
            <a:srgbClr val="C9C4B9"/>
          </a:solidFill>
          <a:ln/>
        </p:spPr>
      </p:sp>
      <p:sp>
        <p:nvSpPr>
          <p:cNvPr id="27" name="Text 24"/>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28" name="Shape 25"/>
          <p:cNvSpPr/>
          <p:nvPr/>
        </p:nvSpPr>
        <p:spPr>
          <a:xfrm>
            <a:off x="5377038" y="6539149"/>
            <a:ext cx="6949" cy="34656"/>
          </a:xfrm>
          <a:prstGeom prst="rect">
            <a:avLst/>
          </a:prstGeom>
          <a:solidFill>
            <a:srgbClr val="C9C4B9"/>
          </a:solidFill>
          <a:ln/>
        </p:spPr>
      </p:sp>
      <p:sp>
        <p:nvSpPr>
          <p:cNvPr id="29" name="Text 26"/>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30" name="Shape 27"/>
          <p:cNvSpPr/>
          <p:nvPr/>
        </p:nvSpPr>
        <p:spPr>
          <a:xfrm>
            <a:off x="7099950" y="6539149"/>
            <a:ext cx="6949" cy="34656"/>
          </a:xfrm>
          <a:prstGeom prst="rect">
            <a:avLst/>
          </a:prstGeom>
          <a:solidFill>
            <a:srgbClr val="C9C4B9"/>
          </a:solidFill>
          <a:ln/>
        </p:spPr>
      </p:sp>
      <p:sp>
        <p:nvSpPr>
          <p:cNvPr id="31" name="Text 28"/>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32" name="Shape 29"/>
          <p:cNvSpPr/>
          <p:nvPr/>
        </p:nvSpPr>
        <p:spPr>
          <a:xfrm>
            <a:off x="9970069" y="6539149"/>
            <a:ext cx="6949" cy="34656"/>
          </a:xfrm>
          <a:prstGeom prst="rect">
            <a:avLst/>
          </a:prstGeom>
          <a:solidFill>
            <a:srgbClr val="C9C4B9"/>
          </a:solidFill>
          <a:ln/>
        </p:spPr>
      </p:sp>
      <p:sp>
        <p:nvSpPr>
          <p:cNvPr id="33" name="Text 30"/>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34" name="Shape 31"/>
          <p:cNvSpPr/>
          <p:nvPr/>
        </p:nvSpPr>
        <p:spPr>
          <a:xfrm>
            <a:off x="11692981" y="6539149"/>
            <a:ext cx="6949" cy="34656"/>
          </a:xfrm>
          <a:prstGeom prst="rect">
            <a:avLst/>
          </a:prstGeom>
          <a:solidFill>
            <a:srgbClr val="C9C4B9"/>
          </a:solidFill>
          <a:ln/>
        </p:spPr>
      </p:sp>
      <p:sp>
        <p:nvSpPr>
          <p:cNvPr id="35" name="Text 32"/>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72252"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34</a:t>
            </a:r>
            <a:endParaRPr lang="en-US" sz="2545" dirty="0"/>
          </a:p>
        </p:txBody>
      </p:sp>
      <p:sp>
        <p:nvSpPr>
          <p:cNvPr id="3" name="Text 1"/>
          <p:cNvSpPr txBox="1"/>
          <p:nvPr/>
        </p:nvSpPr>
        <p:spPr>
          <a:xfrm rot="16200000">
            <a:off x="-339608" y="3428909"/>
            <a:ext cx="609630"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1C6151"/>
                </a:solidFill>
                <a:latin typeface="Calibri" pitchFamily="34" charset="0"/>
                <a:ea typeface="Calibri" pitchFamily="34" charset="-122"/>
                <a:cs typeface="Calibri" pitchFamily="34" charset="-120"/>
              </a:rPr>
              <a:t>DEEP CNN</a:t>
            </a:r>
            <a:endParaRPr lang="en-US" sz="694" dirty="0"/>
          </a:p>
        </p:txBody>
      </p:sp>
      <p:sp>
        <p:nvSpPr>
          <p:cNvPr id="4" name="Shape 2"/>
          <p:cNvSpPr/>
          <p:nvPr/>
        </p:nvSpPr>
        <p:spPr>
          <a:xfrm>
            <a:off x="1439540" y="433334"/>
            <a:ext cx="190927" cy="22037"/>
          </a:xfrm>
          <a:prstGeom prst="rect">
            <a:avLst/>
          </a:prstGeom>
          <a:solidFill>
            <a:srgbClr val="1C6151"/>
          </a:solidFill>
          <a:ln/>
        </p:spPr>
      </p:sp>
      <p:sp>
        <p:nvSpPr>
          <p:cNvPr id="5" name="Text 3"/>
          <p:cNvSpPr txBox="1"/>
          <p:nvPr/>
        </p:nvSpPr>
        <p:spPr>
          <a:xfrm>
            <a:off x="1718615" y="383865"/>
            <a:ext cx="778703"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C6151"/>
                </a:solidFill>
                <a:latin typeface="Calibri" pitchFamily="34" charset="0"/>
                <a:ea typeface="Calibri" pitchFamily="34" charset="-122"/>
                <a:cs typeface="Calibri" pitchFamily="34" charset="-120"/>
              </a:rPr>
              <a:t>THE SYNERGY</a:t>
            </a:r>
            <a:endParaRPr lang="en-US" sz="781" dirty="0"/>
          </a:p>
        </p:txBody>
      </p:sp>
      <p:sp>
        <p:nvSpPr>
          <p:cNvPr id="6" name="Text 4"/>
          <p:cNvSpPr txBox="1"/>
          <p:nvPr/>
        </p:nvSpPr>
        <p:spPr>
          <a:xfrm>
            <a:off x="1439540" y="607070"/>
            <a:ext cx="8882390"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Residual learning and batch normalisation need each other</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paper's most cited empirical finding, and a frequently discussed result. The claim is a two-way street: </a:t>
            </a:r>
            <a:pPr algn="l" indent="0" marL="0">
              <a:lnSpc>
                <a:spcPts val="1735"/>
              </a:lnSpc>
              <a:buNone/>
            </a:pPr>
            <a:r>
              <a:rPr kern="0" lang="en-US" sz="1157" i="1" dirty="0">
                <a:solidFill>
                  <a:srgbClr val="5A554D"/>
                </a:solidFill>
                <a:latin typeface="Calibri" pitchFamily="34" charset="0"/>
                <a:ea typeface="Calibri" pitchFamily="34" charset="-122"/>
                <a:cs typeface="Calibri" pitchFamily="34" charset="-120"/>
              </a:rPr>
              <a:t>the integration of residual learning and batch normalization can result in fast and stable training and better denoising performance</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and the two </a:t>
            </a:r>
            <a:pPr algn="l" indent="0" marL="0">
              <a:lnSpc>
                <a:spcPts val="1735"/>
              </a:lnSpc>
              <a:buNone/>
            </a:pPr>
            <a:r>
              <a:rPr kern="0" lang="en-US" sz="1157" i="1" dirty="0">
                <a:solidFill>
                  <a:srgbClr val="5A554D"/>
                </a:solidFill>
                <a:latin typeface="Calibri" pitchFamily="34" charset="0"/>
                <a:ea typeface="Calibri" pitchFamily="34" charset="-122"/>
                <a:cs typeface="Calibri" pitchFamily="34" charset="-120"/>
              </a:rPr>
              <a:t>benefit from each other</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a:t>
            </a:r>
            <a:endParaRPr lang="en-US" sz="1157" dirty="0"/>
          </a:p>
        </p:txBody>
      </p:sp>
      <p:sp>
        <p:nvSpPr>
          <p:cNvPr id="8" name="Shape 6"/>
          <p:cNvSpPr/>
          <p:nvPr/>
        </p:nvSpPr>
        <p:spPr>
          <a:xfrm>
            <a:off x="6551219" y="1958553"/>
            <a:ext cx="7315" cy="2926354"/>
          </a:xfrm>
          <a:prstGeom prst="rect">
            <a:avLst/>
          </a:prstGeom>
          <a:solidFill>
            <a:srgbClr val="DFDBD2"/>
          </a:solidFill>
          <a:ln/>
        </p:spPr>
      </p:sp>
      <p:sp>
        <p:nvSpPr>
          <p:cNvPr id="9" name="Shape 7"/>
          <p:cNvSpPr/>
          <p:nvPr/>
        </p:nvSpPr>
        <p:spPr>
          <a:xfrm>
            <a:off x="1439540" y="1958553"/>
            <a:ext cx="4950104" cy="14722"/>
          </a:xfrm>
          <a:prstGeom prst="rect">
            <a:avLst/>
          </a:prstGeom>
          <a:solidFill>
            <a:srgbClr val="1C6151"/>
          </a:solidFill>
          <a:ln/>
        </p:spPr>
      </p:sp>
      <p:sp>
        <p:nvSpPr>
          <p:cNvPr id="10" name="Text 8"/>
          <p:cNvSpPr txBox="1"/>
          <p:nvPr/>
        </p:nvSpPr>
        <p:spPr>
          <a:xfrm>
            <a:off x="1439540" y="2083552"/>
            <a:ext cx="2476104"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Direction 1 — RL benefits from BN</a:t>
            </a:r>
            <a:endParaRPr lang="en-US" sz="1272" dirty="0"/>
          </a:p>
        </p:txBody>
      </p:sp>
      <p:sp>
        <p:nvSpPr>
          <p:cNvPr id="11" name="Shape 9"/>
          <p:cNvSpPr/>
          <p:nvPr/>
        </p:nvSpPr>
        <p:spPr>
          <a:xfrm>
            <a:off x="1439540" y="2435596"/>
            <a:ext cx="58796" cy="36759"/>
          </a:xfrm>
          <a:prstGeom prst="rect">
            <a:avLst/>
          </a:prstGeom>
          <a:solidFill>
            <a:srgbClr val="1C6151"/>
          </a:solidFill>
          <a:ln/>
        </p:spPr>
      </p:sp>
      <p:sp>
        <p:nvSpPr>
          <p:cNvPr id="12" name="Text 10"/>
          <p:cNvSpPr txBox="1"/>
          <p:nvPr/>
        </p:nvSpPr>
        <p:spPr>
          <a:xfrm>
            <a:off x="1586393" y="2374057"/>
            <a:ext cx="4837176" cy="611459"/>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straightforward half. BN alleviates internal covariate shift: as training updates early layers, the distribution arriving at later layers keeps moving, and those layers chase a target that will not hold still.</a:t>
            </a:r>
            <a:endParaRPr lang="en-US" sz="1070" dirty="0"/>
          </a:p>
        </p:txBody>
      </p:sp>
      <p:sp>
        <p:nvSpPr>
          <p:cNvPr id="13" name="Shape 11"/>
          <p:cNvSpPr/>
          <p:nvPr/>
        </p:nvSpPr>
        <p:spPr>
          <a:xfrm>
            <a:off x="1439540" y="3164556"/>
            <a:ext cx="58796" cy="36759"/>
          </a:xfrm>
          <a:prstGeom prst="rect">
            <a:avLst/>
          </a:prstGeom>
          <a:solidFill>
            <a:srgbClr val="1C6151"/>
          </a:solidFill>
          <a:ln/>
        </p:spPr>
      </p:sp>
      <p:sp>
        <p:nvSpPr>
          <p:cNvPr id="14" name="Text 12"/>
          <p:cNvSpPr txBox="1"/>
          <p:nvPr/>
        </p:nvSpPr>
        <p:spPr>
          <a:xfrm>
            <a:off x="1586393" y="3103016"/>
            <a:ext cx="4837176" cy="611459"/>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BN normalises activations across the mini-batch before the nonlinearity, then applies a learned scale and shift — only two parameters per activation, trained by back-propagation.</a:t>
            </a:r>
            <a:endParaRPr lang="en-US" sz="1070" dirty="0"/>
          </a:p>
        </p:txBody>
      </p:sp>
      <p:sp>
        <p:nvSpPr>
          <p:cNvPr id="15" name="Shape 13"/>
          <p:cNvSpPr/>
          <p:nvPr/>
        </p:nvSpPr>
        <p:spPr>
          <a:xfrm>
            <a:off x="1439540" y="3893424"/>
            <a:ext cx="58796" cy="36759"/>
          </a:xfrm>
          <a:prstGeom prst="rect">
            <a:avLst/>
          </a:prstGeom>
          <a:solidFill>
            <a:srgbClr val="1C6151"/>
          </a:solidFill>
          <a:ln/>
        </p:spPr>
      </p:sp>
      <p:sp>
        <p:nvSpPr>
          <p:cNvPr id="16" name="Text 14"/>
          <p:cNvSpPr txBox="1"/>
          <p:nvPr/>
        </p:nvSpPr>
        <p:spPr>
          <a:xfrm>
            <a:off x="1586393" y="3831976"/>
            <a:ext cx="4837176" cy="407640"/>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paper's Fig. 2 shows residual learning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without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BN converges fast but lands below residual learning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with</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BN.</a:t>
            </a:r>
            <a:endParaRPr lang="en-US" sz="1070" dirty="0"/>
          </a:p>
        </p:txBody>
      </p:sp>
      <p:sp>
        <p:nvSpPr>
          <p:cNvPr id="17" name="Shape 15"/>
          <p:cNvSpPr/>
          <p:nvPr/>
        </p:nvSpPr>
        <p:spPr>
          <a:xfrm>
            <a:off x="1439540" y="4418564"/>
            <a:ext cx="58796" cy="36759"/>
          </a:xfrm>
          <a:prstGeom prst="rect">
            <a:avLst/>
          </a:prstGeom>
          <a:solidFill>
            <a:srgbClr val="1C6151"/>
          </a:solidFill>
          <a:ln/>
        </p:spPr>
      </p:sp>
      <p:sp>
        <p:nvSpPr>
          <p:cNvPr id="18" name="Text 16"/>
          <p:cNvSpPr txBox="1"/>
          <p:nvPr/>
        </p:nvSpPr>
        <p:spPr>
          <a:xfrm>
            <a:off x="1586393" y="4357025"/>
            <a:ext cx="4837176" cy="407640"/>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Benefits the paper lists: fast training, better performance, low sensitivity to initialisation.</a:t>
            </a:r>
            <a:endParaRPr lang="en-US" sz="1070" dirty="0"/>
          </a:p>
        </p:txBody>
      </p:sp>
      <p:sp>
        <p:nvSpPr>
          <p:cNvPr id="19" name="Shape 17"/>
          <p:cNvSpPr/>
          <p:nvPr/>
        </p:nvSpPr>
        <p:spPr>
          <a:xfrm>
            <a:off x="6712793" y="1958553"/>
            <a:ext cx="4950104" cy="14722"/>
          </a:xfrm>
          <a:prstGeom prst="rect">
            <a:avLst/>
          </a:prstGeom>
          <a:solidFill>
            <a:srgbClr val="1C6151"/>
          </a:solidFill>
          <a:ln/>
        </p:spPr>
      </p:sp>
      <p:sp>
        <p:nvSpPr>
          <p:cNvPr id="20" name="Text 18"/>
          <p:cNvSpPr txBox="1"/>
          <p:nvPr/>
        </p:nvSpPr>
        <p:spPr>
          <a:xfrm>
            <a:off x="6712793" y="2083552"/>
            <a:ext cx="4001963"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Direction 2 — BN benefits from RL (the surprising half)</a:t>
            </a:r>
            <a:endParaRPr lang="en-US" sz="1272" dirty="0"/>
          </a:p>
        </p:txBody>
      </p:sp>
      <p:sp>
        <p:nvSpPr>
          <p:cNvPr id="21" name="Shape 19"/>
          <p:cNvSpPr/>
          <p:nvPr/>
        </p:nvSpPr>
        <p:spPr>
          <a:xfrm>
            <a:off x="6712793" y="2435596"/>
            <a:ext cx="58796" cy="36759"/>
          </a:xfrm>
          <a:prstGeom prst="rect">
            <a:avLst/>
          </a:prstGeom>
          <a:solidFill>
            <a:srgbClr val="1C6151"/>
          </a:solidFill>
          <a:ln/>
        </p:spPr>
      </p:sp>
      <p:sp>
        <p:nvSpPr>
          <p:cNvPr id="22" name="Text 20"/>
          <p:cNvSpPr txBox="1"/>
          <p:nvPr/>
        </p:nvSpPr>
        <p:spPr>
          <a:xfrm>
            <a:off x="6859646" y="2374057"/>
            <a:ext cx="4837176" cy="407640"/>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Without residual learning, batch normalisation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even has a certain adverse effect on convergence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BN alone is worse than nothing.</a:t>
            </a:r>
            <a:endParaRPr lang="en-US" sz="1070" dirty="0"/>
          </a:p>
        </p:txBody>
      </p:sp>
      <p:sp>
        <p:nvSpPr>
          <p:cNvPr id="23" name="Shape 21"/>
          <p:cNvSpPr/>
          <p:nvPr/>
        </p:nvSpPr>
        <p:spPr>
          <a:xfrm>
            <a:off x="6712793" y="2960736"/>
            <a:ext cx="58796" cy="36759"/>
          </a:xfrm>
          <a:prstGeom prst="rect">
            <a:avLst/>
          </a:prstGeom>
          <a:solidFill>
            <a:srgbClr val="1C6151"/>
          </a:solidFill>
          <a:ln/>
        </p:spPr>
      </p:sp>
      <p:sp>
        <p:nvSpPr>
          <p:cNvPr id="24" name="Text 22"/>
          <p:cNvSpPr txBox="1"/>
          <p:nvPr/>
        </p:nvSpPr>
        <p:spPr>
          <a:xfrm>
            <a:off x="6859646" y="2899197"/>
            <a:ext cx="4837176"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mechanism.</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 mini-batch is 128 patches. Without residual learning the layer inputs are correlated with their neighbours, so their distribution depends on the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content of the images in that particular batch</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a:t>
            </a:r>
            <a:endParaRPr lang="en-US" sz="1070" dirty="0"/>
          </a:p>
        </p:txBody>
      </p:sp>
      <p:sp>
        <p:nvSpPr>
          <p:cNvPr id="25" name="Shape 23"/>
          <p:cNvSpPr/>
          <p:nvPr/>
        </p:nvSpPr>
        <p:spPr>
          <a:xfrm>
            <a:off x="6712793" y="3689604"/>
            <a:ext cx="58796" cy="36759"/>
          </a:xfrm>
          <a:prstGeom prst="rect">
            <a:avLst/>
          </a:prstGeom>
          <a:solidFill>
            <a:srgbClr val="1C6151"/>
          </a:solidFill>
          <a:ln/>
        </p:spPr>
      </p:sp>
      <p:sp>
        <p:nvSpPr>
          <p:cNvPr id="26" name="Text 24"/>
          <p:cNvSpPr txBox="1"/>
          <p:nvPr/>
        </p:nvSpPr>
        <p:spPr>
          <a:xfrm>
            <a:off x="6859646" y="3628156"/>
            <a:ext cx="4837176" cy="611459"/>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With residual learning DnCNN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implicitly removes the latent clean image in the hidden layers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making layer inputs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Gaussian-like distributed, less correlated, and less related to image content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 so RL helps BN reduce covariate shift.</a:t>
            </a:r>
            <a:endParaRPr lang="en-US" sz="1070" dirty="0"/>
          </a:p>
        </p:txBody>
      </p:sp>
      <p:sp>
        <p:nvSpPr>
          <p:cNvPr id="27" name="Shape 25"/>
          <p:cNvSpPr/>
          <p:nvPr/>
        </p:nvSpPr>
        <p:spPr>
          <a:xfrm>
            <a:off x="6712793" y="4418564"/>
            <a:ext cx="58796" cy="36759"/>
          </a:xfrm>
          <a:prstGeom prst="rect">
            <a:avLst/>
          </a:prstGeom>
          <a:solidFill>
            <a:srgbClr val="1C6151"/>
          </a:solidFill>
          <a:ln/>
        </p:spPr>
      </p:sp>
      <p:sp>
        <p:nvSpPr>
          <p:cNvPr id="28" name="Text 26"/>
          <p:cNvSpPr txBox="1"/>
          <p:nvPr/>
        </p:nvSpPr>
        <p:spPr>
          <a:xfrm>
            <a:off x="6859646" y="4357025"/>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deeper reason: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the residual image and batch normalization are both associated with the Gaussian distribution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so it is very likely they benefit from each other.</a:t>
            </a:r>
            <a:endParaRPr lang="en-US" sz="1070" dirty="0"/>
          </a:p>
        </p:txBody>
      </p:sp>
      <p:sp>
        <p:nvSpPr>
          <p:cNvPr id="29" name="Shape 27"/>
          <p:cNvSpPr/>
          <p:nvPr/>
        </p:nvSpPr>
        <p:spPr>
          <a:xfrm>
            <a:off x="1439540" y="5090556"/>
            <a:ext cx="10223358" cy="14722"/>
          </a:xfrm>
          <a:prstGeom prst="rect">
            <a:avLst/>
          </a:prstGeom>
          <a:solidFill>
            <a:srgbClr val="1C6151"/>
          </a:solidFill>
          <a:ln/>
        </p:spPr>
      </p:sp>
      <p:sp>
        <p:nvSpPr>
          <p:cNvPr id="30" name="Text 28"/>
          <p:cNvSpPr txBox="1"/>
          <p:nvPr/>
        </p:nvSpPr>
        <p:spPr>
          <a:xfrm>
            <a:off x="1439540" y="5220950"/>
            <a:ext cx="10278953" cy="374538"/>
          </a:xfrm>
          <a:prstGeom prst="rect">
            <a:avLst/>
          </a:prstGeom>
          <a:noFill/>
          <a:ln/>
        </p:spPr>
        <p:txBody>
          <a:bodyPr wrap="squar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Not the optimiser.</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The paper checks this: both SGD and Adam give the best results with RL+BN. It is </a:t>
            </a:r>
            <a:pPr algn="l" indent="0" marL="0">
              <a:lnSpc>
                <a:spcPts val="1475"/>
              </a:lnSpc>
              <a:buNone/>
            </a:pPr>
            <a:r>
              <a:rPr kern="0" lang="en-US" sz="983" i="1" dirty="0">
                <a:solidFill>
                  <a:srgbClr val="33302B"/>
                </a:solidFill>
                <a:latin typeface="Calibri" pitchFamily="34" charset="0"/>
                <a:ea typeface="Calibri" pitchFamily="34" charset="-122"/>
                <a:cs typeface="Calibri" pitchFamily="34" charset="-120"/>
              </a:rPr>
              <a:t>the integration of residual learning and batch normalization, rather than the optimization algorithm</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that produces the win.</a:t>
            </a:r>
            <a:endParaRPr lang="en-US" sz="983" dirty="0"/>
          </a:p>
        </p:txBody>
      </p:sp>
      <p:sp>
        <p:nvSpPr>
          <p:cNvPr id="31" name="Text 29"/>
          <p:cNvSpPr txBox="1"/>
          <p:nvPr/>
        </p:nvSpPr>
        <p:spPr>
          <a:xfrm>
            <a:off x="10766420" y="6274430"/>
            <a:ext cx="896478"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DnCNN17 §III-C, Fig. 2</a:t>
            </a:r>
            <a:endParaRPr lang="en-US" sz="752" dirty="0"/>
          </a:p>
        </p:txBody>
      </p:sp>
      <p:sp>
        <p:nvSpPr>
          <p:cNvPr id="32" name="Shape 30"/>
          <p:cNvSpPr/>
          <p:nvPr/>
        </p:nvSpPr>
        <p:spPr>
          <a:xfrm>
            <a:off x="1439540" y="6556705"/>
            <a:ext cx="10223358" cy="7315"/>
          </a:xfrm>
          <a:prstGeom prst="rect">
            <a:avLst/>
          </a:prstGeom>
          <a:solidFill>
            <a:srgbClr val="C9C4B9"/>
          </a:solidFill>
          <a:ln/>
        </p:spPr>
      </p:sp>
      <p:sp>
        <p:nvSpPr>
          <p:cNvPr id="33" name="Shape 31"/>
          <p:cNvSpPr/>
          <p:nvPr/>
        </p:nvSpPr>
        <p:spPr>
          <a:xfrm>
            <a:off x="6551219" y="6545732"/>
            <a:ext cx="1135776" cy="29352"/>
          </a:xfrm>
          <a:prstGeom prst="rect">
            <a:avLst/>
          </a:prstGeom>
          <a:solidFill>
            <a:srgbClr val="1C6151"/>
          </a:solidFill>
          <a:ln/>
        </p:spPr>
      </p:sp>
      <p:sp>
        <p:nvSpPr>
          <p:cNvPr id="34" name="Shape 32"/>
          <p:cNvSpPr/>
          <p:nvPr/>
        </p:nvSpPr>
        <p:spPr>
          <a:xfrm>
            <a:off x="1439540" y="6519946"/>
            <a:ext cx="7315" cy="36759"/>
          </a:xfrm>
          <a:prstGeom prst="rect">
            <a:avLst/>
          </a:prstGeom>
          <a:solidFill>
            <a:srgbClr val="C9C4B9"/>
          </a:solidFill>
          <a:ln/>
        </p:spPr>
      </p:sp>
      <p:sp>
        <p:nvSpPr>
          <p:cNvPr id="35" name="Text 33"/>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6" name="Shape 34"/>
          <p:cNvSpPr/>
          <p:nvPr/>
        </p:nvSpPr>
        <p:spPr>
          <a:xfrm>
            <a:off x="5415351" y="6519946"/>
            <a:ext cx="7315" cy="36759"/>
          </a:xfrm>
          <a:prstGeom prst="rect">
            <a:avLst/>
          </a:prstGeom>
          <a:solidFill>
            <a:srgbClr val="C9C4B9"/>
          </a:solidFill>
          <a:ln/>
        </p:spPr>
      </p:sp>
      <p:sp>
        <p:nvSpPr>
          <p:cNvPr id="37" name="Text 35"/>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8" name="Shape 36"/>
          <p:cNvSpPr/>
          <p:nvPr/>
        </p:nvSpPr>
        <p:spPr>
          <a:xfrm>
            <a:off x="7119610" y="6519946"/>
            <a:ext cx="7315" cy="36759"/>
          </a:xfrm>
          <a:prstGeom prst="rect">
            <a:avLst/>
          </a:prstGeom>
          <a:solidFill>
            <a:srgbClr val="C9C4B9"/>
          </a:solidFill>
          <a:ln/>
        </p:spPr>
      </p:sp>
      <p:sp>
        <p:nvSpPr>
          <p:cNvPr id="39" name="Text 37"/>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40" name="Shape 38"/>
          <p:cNvSpPr/>
          <p:nvPr/>
        </p:nvSpPr>
        <p:spPr>
          <a:xfrm>
            <a:off x="9958639" y="6519946"/>
            <a:ext cx="7315" cy="36759"/>
          </a:xfrm>
          <a:prstGeom prst="rect">
            <a:avLst/>
          </a:prstGeom>
          <a:solidFill>
            <a:srgbClr val="C9C4B9"/>
          </a:solidFill>
          <a:ln/>
        </p:spPr>
      </p:sp>
      <p:sp>
        <p:nvSpPr>
          <p:cNvPr id="41" name="Text 39"/>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42" name="Shape 40"/>
          <p:cNvSpPr/>
          <p:nvPr/>
        </p:nvSpPr>
        <p:spPr>
          <a:xfrm>
            <a:off x="11662898" y="6519946"/>
            <a:ext cx="7315" cy="36759"/>
          </a:xfrm>
          <a:prstGeom prst="rect">
            <a:avLst/>
          </a:prstGeom>
          <a:solidFill>
            <a:srgbClr val="C9C4B9"/>
          </a:solidFill>
          <a:ln/>
        </p:spPr>
      </p:sp>
      <p:sp>
        <p:nvSpPr>
          <p:cNvPr id="43" name="Text 41"/>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4780"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35</a:t>
            </a:r>
            <a:endParaRPr lang="en-US" sz="2708" dirty="0"/>
          </a:p>
        </p:txBody>
      </p:sp>
      <p:sp>
        <p:nvSpPr>
          <p:cNvPr id="3" name="Text 1"/>
          <p:cNvSpPr txBox="1"/>
          <p:nvPr/>
        </p:nvSpPr>
        <p:spPr>
          <a:xfrm rot="16200000">
            <a:off x="-361371" y="3428909"/>
            <a:ext cx="648675"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1C6151"/>
                </a:solidFill>
                <a:latin typeface="Calibri" pitchFamily="34" charset="0"/>
                <a:ea typeface="Calibri" pitchFamily="34" charset="-122"/>
                <a:cs typeface="Calibri" pitchFamily="34" charset="-120"/>
              </a:rPr>
              <a:t>DEEP CNN</a:t>
            </a:r>
            <a:endParaRPr lang="en-US" sz="738" dirty="0"/>
          </a:p>
        </p:txBody>
      </p:sp>
      <p:sp>
        <p:nvSpPr>
          <p:cNvPr id="4" name="Shape 2"/>
          <p:cNvSpPr/>
          <p:nvPr/>
        </p:nvSpPr>
        <p:spPr>
          <a:xfrm>
            <a:off x="1531803" y="461132"/>
            <a:ext cx="203180" cy="23409"/>
          </a:xfrm>
          <a:prstGeom prst="rect">
            <a:avLst/>
          </a:prstGeom>
          <a:solidFill>
            <a:srgbClr val="1C6151"/>
          </a:solidFill>
          <a:ln/>
        </p:spPr>
      </p:sp>
      <p:sp>
        <p:nvSpPr>
          <p:cNvPr id="5" name="Text 3"/>
          <p:cNvSpPr txBox="1"/>
          <p:nvPr/>
        </p:nvSpPr>
        <p:spPr>
          <a:xfrm>
            <a:off x="1828800" y="408462"/>
            <a:ext cx="421904"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C6151"/>
                </a:solidFill>
                <a:latin typeface="Calibri" pitchFamily="34" charset="0"/>
                <a:ea typeface="Calibri" pitchFamily="34" charset="-122"/>
                <a:cs typeface="Calibri" pitchFamily="34" charset="-120"/>
              </a:rPr>
              <a:t>DEPTH</a:t>
            </a:r>
            <a:endParaRPr lang="en-US" sz="831" dirty="0"/>
          </a:p>
        </p:txBody>
      </p:sp>
      <p:sp>
        <p:nvSpPr>
          <p:cNvPr id="6" name="Text 4"/>
          <p:cNvSpPr txBox="1"/>
          <p:nvPr/>
        </p:nvSpPr>
        <p:spPr>
          <a:xfrm>
            <a:off x="1531803" y="646024"/>
            <a:ext cx="10153223" cy="776417"/>
          </a:xfrm>
          <a:prstGeom prst="rect">
            <a:avLst/>
          </a:prstGeom>
          <a:noFill/>
          <a:ln/>
        </p:spPr>
        <p:txBody>
          <a:bodyPr wrap="squar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Why 17 layers — a hyperparameter with a documented derivation</a:t>
            </a:r>
            <a:endParaRPr lang="en-US" sz="2831" dirty="0"/>
          </a:p>
        </p:txBody>
      </p:sp>
      <p:sp>
        <p:nvSpPr>
          <p:cNvPr id="7" name="Text 5"/>
          <p:cNvSpPr txBox="1"/>
          <p:nvPr/>
        </p:nvSpPr>
        <p:spPr>
          <a:xfrm>
            <a:off x="1531803" y="1550091"/>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Because pooling is removed and all filters are 3×3, the receptive field of a depth-d DnCNN is exactly (2d+1)×(2d+1). The authors chose d by anchoring that number to the </a:t>
            </a:r>
            <a:pPr algn="l" indent="0" marL="0">
              <a:lnSpc>
                <a:spcPts val="1846"/>
              </a:lnSpc>
              <a:buNone/>
            </a:pPr>
            <a:r>
              <a:rPr kern="0" lang="en-US" sz="1231" i="1" dirty="0">
                <a:solidFill>
                  <a:srgbClr val="5A554D"/>
                </a:solidFill>
                <a:latin typeface="Calibri" pitchFamily="34" charset="0"/>
                <a:ea typeface="Calibri" pitchFamily="34" charset="-122"/>
                <a:cs typeface="Calibri" pitchFamily="34" charset="-120"/>
              </a:rPr>
              <a:t>effective patch size</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of competing methods at σ = 25.</a:t>
            </a:r>
            <a:endParaRPr lang="en-US" sz="1231"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531803" y="2472263"/>
          <a:ext cx="9144000" cy="914400"/>
        </p:xfrm>
        <a:graphic>
          <a:graphicData uri="http://schemas.openxmlformats.org/drawingml/2006/table">
            <a:tbl>
              <a:tblPr/>
              <a:tblGrid>
                <a:gridCol w="1359804"/>
                <a:gridCol w="2661087"/>
                <a:gridCol w="6076279"/>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EFFECTIVE PATCH SIZE</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HOW IT ARISES</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EPLL</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36 × 36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Smallest of the group</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DnCNN-S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35 × 35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Depth 17, chosen to sit near the smallest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MLP</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47 × 47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39×39 patch followed by a 9×9 averaging filter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49 × 49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Non-local search in a 25×25 window, performed twice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CSF</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61 × 61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Ten conv layers with 7×7 filters over five stages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TNRD</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61 × 61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Same construction as CSF</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WNNM</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361 × 361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Large window, iterated non-local search</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531803" y="5199827"/>
            <a:ext cx="10097262" cy="15636"/>
          </a:xfrm>
          <a:prstGeom prst="rect">
            <a:avLst/>
          </a:prstGeom>
          <a:solidFill>
            <a:srgbClr val="1C6151"/>
          </a:solidFill>
          <a:ln/>
        </p:spPr>
      </p:sp>
      <p:sp>
        <p:nvSpPr>
          <p:cNvPr id="10" name="Text 7"/>
          <p:cNvSpPr txBox="1"/>
          <p:nvPr/>
        </p:nvSpPr>
        <p:spPr>
          <a:xfrm>
            <a:off x="1531803" y="5338542"/>
            <a:ext cx="10153223" cy="398587"/>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The design question, and it is elegant:</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it is interesting to verify whether DnCNN with a receptive field size similar to EPLL can compete against the leading denoising methods.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For a known σ they set RF = 35×35, depth 17; for other general denoising tasks they adopt a larger field with depth 20 (41×41) — because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high noise level usually requires larger effective patch size</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a:t>
            </a:r>
            <a:endParaRPr lang="en-US" sz="1046" dirty="0"/>
          </a:p>
        </p:txBody>
      </p:sp>
      <p:sp>
        <p:nvSpPr>
          <p:cNvPr id="11" name="Text 8"/>
          <p:cNvSpPr txBox="1"/>
          <p:nvPr/>
        </p:nvSpPr>
        <p:spPr>
          <a:xfrm>
            <a:off x="9519087" y="6237031"/>
            <a:ext cx="2109887"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DnCNN17 Table I, §III-B — table values as printed</a:t>
            </a:r>
            <a:endParaRPr lang="en-US" sz="800" dirty="0"/>
          </a:p>
        </p:txBody>
      </p:sp>
      <p:sp>
        <p:nvSpPr>
          <p:cNvPr id="12" name="Shape 9"/>
          <p:cNvSpPr/>
          <p:nvPr/>
        </p:nvSpPr>
        <p:spPr>
          <a:xfrm>
            <a:off x="1531803" y="6537411"/>
            <a:ext cx="10097262" cy="7772"/>
          </a:xfrm>
          <a:prstGeom prst="rect">
            <a:avLst/>
          </a:prstGeom>
          <a:solidFill>
            <a:srgbClr val="C9C4B9"/>
          </a:solidFill>
          <a:ln/>
        </p:spPr>
      </p:sp>
      <p:sp>
        <p:nvSpPr>
          <p:cNvPr id="13" name="Shape 10"/>
          <p:cNvSpPr/>
          <p:nvPr/>
        </p:nvSpPr>
        <p:spPr>
          <a:xfrm>
            <a:off x="6580388" y="6525707"/>
            <a:ext cx="1121694" cy="31272"/>
          </a:xfrm>
          <a:prstGeom prst="rect">
            <a:avLst/>
          </a:prstGeom>
          <a:solidFill>
            <a:srgbClr val="1C6151"/>
          </a:solidFill>
          <a:ln/>
        </p:spPr>
      </p:sp>
      <p:sp>
        <p:nvSpPr>
          <p:cNvPr id="14" name="Shape 11"/>
          <p:cNvSpPr/>
          <p:nvPr/>
        </p:nvSpPr>
        <p:spPr>
          <a:xfrm>
            <a:off x="1531803" y="6498366"/>
            <a:ext cx="7772" cy="39045"/>
          </a:xfrm>
          <a:prstGeom prst="rect">
            <a:avLst/>
          </a:prstGeom>
          <a:solidFill>
            <a:srgbClr val="C9C4B9"/>
          </a:solidFill>
          <a:ln/>
        </p:spPr>
      </p:sp>
      <p:sp>
        <p:nvSpPr>
          <p:cNvPr id="15" name="Text 12"/>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6" name="Shape 13"/>
          <p:cNvSpPr/>
          <p:nvPr/>
        </p:nvSpPr>
        <p:spPr>
          <a:xfrm>
            <a:off x="5458511" y="6498366"/>
            <a:ext cx="7772" cy="39045"/>
          </a:xfrm>
          <a:prstGeom prst="rect">
            <a:avLst/>
          </a:prstGeom>
          <a:solidFill>
            <a:srgbClr val="C9C4B9"/>
          </a:solidFill>
          <a:ln/>
        </p:spPr>
      </p:sp>
      <p:sp>
        <p:nvSpPr>
          <p:cNvPr id="17" name="Text 14"/>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8" name="Shape 15"/>
          <p:cNvSpPr/>
          <p:nvPr/>
        </p:nvSpPr>
        <p:spPr>
          <a:xfrm>
            <a:off x="7141738" y="6498366"/>
            <a:ext cx="7772" cy="39045"/>
          </a:xfrm>
          <a:prstGeom prst="rect">
            <a:avLst/>
          </a:prstGeom>
          <a:solidFill>
            <a:srgbClr val="C9C4B9"/>
          </a:solidFill>
          <a:ln/>
        </p:spPr>
      </p:sp>
      <p:sp>
        <p:nvSpPr>
          <p:cNvPr id="19" name="Text 16"/>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0" name="Shape 17"/>
          <p:cNvSpPr/>
          <p:nvPr/>
        </p:nvSpPr>
        <p:spPr>
          <a:xfrm>
            <a:off x="9945654" y="6498366"/>
            <a:ext cx="7772" cy="39045"/>
          </a:xfrm>
          <a:prstGeom prst="rect">
            <a:avLst/>
          </a:prstGeom>
          <a:solidFill>
            <a:srgbClr val="C9C4B9"/>
          </a:solidFill>
          <a:ln/>
        </p:spPr>
      </p:sp>
      <p:sp>
        <p:nvSpPr>
          <p:cNvPr id="21" name="Text 18"/>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2" name="Shape 19"/>
          <p:cNvSpPr/>
          <p:nvPr/>
        </p:nvSpPr>
        <p:spPr>
          <a:xfrm>
            <a:off x="11628973" y="6498366"/>
            <a:ext cx="7772" cy="39045"/>
          </a:xfrm>
          <a:prstGeom prst="rect">
            <a:avLst/>
          </a:prstGeom>
          <a:solidFill>
            <a:srgbClr val="C9C4B9"/>
          </a:solidFill>
          <a:ln/>
        </p:spPr>
      </p:sp>
      <p:sp>
        <p:nvSpPr>
          <p:cNvPr id="23" name="Text 20"/>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7789"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36</a:t>
            </a:r>
            <a:endParaRPr lang="en-US" sz="2893" dirty="0"/>
          </a:p>
        </p:txBody>
      </p:sp>
      <p:sp>
        <p:nvSpPr>
          <p:cNvPr id="3" name="Text 1"/>
          <p:cNvSpPr txBox="1"/>
          <p:nvPr/>
        </p:nvSpPr>
        <p:spPr>
          <a:xfrm rot="16200000">
            <a:off x="-386060" y="3428909"/>
            <a:ext cx="693115"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1C6151"/>
                </a:solidFill>
                <a:latin typeface="Calibri" pitchFamily="34" charset="0"/>
                <a:ea typeface="Calibri" pitchFamily="34" charset="-122"/>
                <a:cs typeface="Calibri" pitchFamily="34" charset="-120"/>
              </a:rPr>
              <a:t>DEEP CNN</a:t>
            </a:r>
            <a:endParaRPr lang="en-US" sz="789" dirty="0"/>
          </a:p>
        </p:txBody>
      </p:sp>
      <p:sp>
        <p:nvSpPr>
          <p:cNvPr id="4" name="Shape 2"/>
          <p:cNvSpPr/>
          <p:nvPr/>
        </p:nvSpPr>
        <p:spPr>
          <a:xfrm>
            <a:off x="1636685" y="492679"/>
            <a:ext cx="217079" cy="25055"/>
          </a:xfrm>
          <a:prstGeom prst="rect">
            <a:avLst/>
          </a:prstGeom>
          <a:solidFill>
            <a:srgbClr val="1C6151"/>
          </a:solidFill>
          <a:ln/>
        </p:spPr>
      </p:sp>
      <p:sp>
        <p:nvSpPr>
          <p:cNvPr id="5" name="Text 3"/>
          <p:cNvSpPr txBox="1"/>
          <p:nvPr/>
        </p:nvSpPr>
        <p:spPr>
          <a:xfrm>
            <a:off x="1953981" y="436443"/>
            <a:ext cx="1346088"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C6151"/>
                </a:solidFill>
                <a:latin typeface="Calibri" pitchFamily="34" charset="0"/>
                <a:ea typeface="Calibri" pitchFamily="34" charset="-122"/>
                <a:cs typeface="Calibri" pitchFamily="34" charset="-120"/>
              </a:rPr>
              <a:t>DATA AND TRAINING</a:t>
            </a:r>
            <a:endParaRPr lang="en-US" sz="888" dirty="0"/>
          </a:p>
        </p:txBody>
      </p:sp>
      <p:sp>
        <p:nvSpPr>
          <p:cNvPr id="6" name="Text 4"/>
          <p:cNvSpPr txBox="1"/>
          <p:nvPr/>
        </p:nvSpPr>
        <p:spPr>
          <a:xfrm>
            <a:off x="1636685" y="690281"/>
            <a:ext cx="5259172"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The pipeline that made it work</a:t>
            </a:r>
            <a:endParaRPr lang="en-US" sz="3025" dirty="0"/>
          </a:p>
        </p:txBody>
      </p:sp>
      <p:sp>
        <p:nvSpPr>
          <p:cNvPr id="7" name="Text 5"/>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This is the slide that answers the brief's Stage 2 question — </a:t>
            </a:r>
            <a:pPr algn="l" indent="0" marL="0">
              <a:lnSpc>
                <a:spcPts val="1973"/>
              </a:lnSpc>
              <a:buNone/>
            </a:pPr>
            <a:r>
              <a:rPr kern="0" lang="en-US" sz="1315" i="1" dirty="0">
                <a:solidFill>
                  <a:srgbClr val="5A554D"/>
                </a:solidFill>
                <a:latin typeface="Calibri" pitchFamily="34" charset="0"/>
                <a:ea typeface="Calibri" pitchFamily="34" charset="-122"/>
                <a:cs typeface="Calibri" pitchFamily="34" charset="-120"/>
              </a:rPr>
              <a:t>how do their data pipelines work</a:t>
            </a:r>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 — for the anchor paper itself, and the baseline against which the modern pipelines in Part VI are contrasted.</a:t>
            </a:r>
            <a:endParaRPr lang="en-US" sz="1315"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636685" y="2226838"/>
          <a:ext cx="9144000" cy="914400"/>
        </p:xfrm>
        <a:graphic>
          <a:graphicData uri="http://schemas.openxmlformats.org/drawingml/2006/table">
            <a:tbl>
              <a:tblPr/>
              <a:tblGrid>
                <a:gridCol w="1319388"/>
                <a:gridCol w="2467600"/>
                <a:gridCol w="1402872"/>
                <a:gridCol w="1348557"/>
                <a:gridCol w="2505182"/>
                <a:gridCol w="910194"/>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MODEL</a:t>
                      </a:r>
                      <a:pPr algn="l" indent="0" marL="0">
                        <a:lnSpc>
                          <a:spcPts val="1003"/>
                        </a:lnSpc>
                        <a:buNone/>
                      </a:pPr>
                      <a:r>
                        <a:rPr lang="en-US" sz="608" b="1" spc="99" kern="0"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SOURCE IMAGES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PATCHES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PATCH SIZE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NOISE / TASK</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DEPTH</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C6151"/>
                      </a:solidFill>
                      <a:prstDash val="solid"/>
                      <a:round/>
                      <a:headEnd type="none" w="med" len="med"/>
                      <a:tailEnd type="none" w="med" len="med"/>
                    </a:lnB>
                  </a:tcPr>
                </a:tc>
              </a:tr>
              <a:tr h="346558">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DnCNN-S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400 images at 180×180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128 × 1 600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40 × 40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σ fixed at 15, 25 or 50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DnCNN-B</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400 images at 180×180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128 × 3 000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50 × 50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σ sampled from [0, 55]</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CDnCNN-B</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432 BSD colour images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128 × 3 000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50 × 50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σ sampled from [0, 55]</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DnCNN-3</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91 images + 200 BSD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128 × 8 000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50 × 50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Denoising + SISR + JPEG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636685" y="4114068"/>
            <a:ext cx="9953793" cy="16734"/>
          </a:xfrm>
          <a:prstGeom prst="rect">
            <a:avLst/>
          </a:prstGeom>
          <a:solidFill>
            <a:srgbClr val="1C6151"/>
          </a:solidFill>
          <a:ln/>
        </p:spPr>
      </p:sp>
      <p:sp>
        <p:nvSpPr>
          <p:cNvPr id="10" name="Text 7"/>
          <p:cNvSpPr txBox="1"/>
          <p:nvPr/>
        </p:nvSpPr>
        <p:spPr>
          <a:xfrm>
            <a:off x="1636685" y="4262293"/>
            <a:ext cx="10010303" cy="638800"/>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Hyperparameters.</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MSE on the residual · SGD with momentum 0.9 and weight decay 1e⁻⁴ · learning rate decayed exponentially from 1e⁻¹ to 1e⁻⁴ over 50 epochs · mini-batch 128 · He initialisation ·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MatConvNet</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a MATLAB library. Trained on an Intel i7-5820K @ 3.30 GHz with an Nvidia Titan X: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 6 hours</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for DnCNN-S,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one day</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for DnCNN-B/CDnCNN-B,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three days</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for DnCNN-3.</a:t>
            </a:r>
            <a:endParaRPr lang="en-US" sz="1118" dirty="0"/>
          </a:p>
        </p:txBody>
      </p:sp>
      <p:sp>
        <p:nvSpPr>
          <p:cNvPr id="11" name="Text 8"/>
          <p:cNvSpPr txBox="1"/>
          <p:nvPr/>
        </p:nvSpPr>
        <p:spPr>
          <a:xfrm>
            <a:off x="9025860" y="6207039"/>
            <a:ext cx="2564618"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§IV-A 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training-time figures from §IV-A</a:t>
            </a:r>
            <a:endParaRPr lang="en-US" sz="633" dirty="0"/>
          </a:p>
        </p:txBody>
      </p:sp>
      <p:sp>
        <p:nvSpPr>
          <p:cNvPr id="12" name="Shape 9"/>
          <p:cNvSpPr/>
          <p:nvPr/>
        </p:nvSpPr>
        <p:spPr>
          <a:xfrm>
            <a:off x="1636685" y="6515466"/>
            <a:ext cx="9953793" cy="8321"/>
          </a:xfrm>
          <a:prstGeom prst="rect">
            <a:avLst/>
          </a:prstGeom>
          <a:solidFill>
            <a:srgbClr val="C9C4B9"/>
          </a:solidFill>
          <a:ln/>
        </p:spPr>
      </p:sp>
      <p:sp>
        <p:nvSpPr>
          <p:cNvPr id="13" name="Shape 10"/>
          <p:cNvSpPr/>
          <p:nvPr/>
        </p:nvSpPr>
        <p:spPr>
          <a:xfrm>
            <a:off x="6613581" y="6502938"/>
            <a:ext cx="1105784" cy="33376"/>
          </a:xfrm>
          <a:prstGeom prst="rect">
            <a:avLst/>
          </a:prstGeom>
          <a:solidFill>
            <a:srgbClr val="1C6151"/>
          </a:solidFill>
          <a:ln/>
        </p:spPr>
      </p:sp>
      <p:sp>
        <p:nvSpPr>
          <p:cNvPr id="14" name="Shape 11"/>
          <p:cNvSpPr/>
          <p:nvPr/>
        </p:nvSpPr>
        <p:spPr>
          <a:xfrm>
            <a:off x="1636685" y="6473678"/>
            <a:ext cx="8321" cy="41788"/>
          </a:xfrm>
          <a:prstGeom prst="rect">
            <a:avLst/>
          </a:prstGeom>
          <a:solidFill>
            <a:srgbClr val="C9C4B9"/>
          </a:solidFill>
          <a:ln/>
        </p:spPr>
      </p:sp>
      <p:sp>
        <p:nvSpPr>
          <p:cNvPr id="15" name="Text 12"/>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6" name="Shape 13"/>
          <p:cNvSpPr/>
          <p:nvPr/>
        </p:nvSpPr>
        <p:spPr>
          <a:xfrm>
            <a:off x="5507706" y="6473678"/>
            <a:ext cx="8321" cy="41788"/>
          </a:xfrm>
          <a:prstGeom prst="rect">
            <a:avLst/>
          </a:prstGeom>
          <a:solidFill>
            <a:srgbClr val="C9C4B9"/>
          </a:solidFill>
          <a:ln/>
        </p:spPr>
      </p:sp>
      <p:sp>
        <p:nvSpPr>
          <p:cNvPr id="17" name="Text 14"/>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8" name="Shape 15"/>
          <p:cNvSpPr/>
          <p:nvPr/>
        </p:nvSpPr>
        <p:spPr>
          <a:xfrm>
            <a:off x="7166884" y="6473678"/>
            <a:ext cx="8321" cy="41788"/>
          </a:xfrm>
          <a:prstGeom prst="rect">
            <a:avLst/>
          </a:prstGeom>
          <a:solidFill>
            <a:srgbClr val="C9C4B9"/>
          </a:solidFill>
          <a:ln/>
        </p:spPr>
      </p:sp>
      <p:sp>
        <p:nvSpPr>
          <p:cNvPr id="19" name="Text 16"/>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0" name="Shape 17"/>
          <p:cNvSpPr/>
          <p:nvPr/>
        </p:nvSpPr>
        <p:spPr>
          <a:xfrm>
            <a:off x="9931024" y="6473678"/>
            <a:ext cx="8321" cy="41788"/>
          </a:xfrm>
          <a:prstGeom prst="rect">
            <a:avLst/>
          </a:prstGeom>
          <a:solidFill>
            <a:srgbClr val="C9C4B9"/>
          </a:solidFill>
          <a:ln/>
        </p:spPr>
      </p:sp>
      <p:sp>
        <p:nvSpPr>
          <p:cNvPr id="21" name="Text 18"/>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2" name="Shape 19"/>
          <p:cNvSpPr/>
          <p:nvPr/>
        </p:nvSpPr>
        <p:spPr>
          <a:xfrm>
            <a:off x="11590477" y="6473678"/>
            <a:ext cx="8321" cy="41788"/>
          </a:xfrm>
          <a:prstGeom prst="rect">
            <a:avLst/>
          </a:prstGeom>
          <a:solidFill>
            <a:srgbClr val="C9C4B9"/>
          </a:solidFill>
          <a:ln/>
        </p:spPr>
      </p:sp>
      <p:sp>
        <p:nvSpPr>
          <p:cNvPr id="23" name="Text 20"/>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75818"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37</a:t>
            </a:r>
            <a:endParaRPr lang="en-US" sz="2708" dirty="0"/>
          </a:p>
        </p:txBody>
      </p:sp>
      <p:sp>
        <p:nvSpPr>
          <p:cNvPr id="3" name="Text 1"/>
          <p:cNvSpPr txBox="1"/>
          <p:nvPr/>
        </p:nvSpPr>
        <p:spPr>
          <a:xfrm rot="16200000">
            <a:off x="-361371" y="3428909"/>
            <a:ext cx="648675"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1C6151"/>
                </a:solidFill>
                <a:latin typeface="Calibri" pitchFamily="34" charset="0"/>
                <a:ea typeface="Calibri" pitchFamily="34" charset="-122"/>
                <a:cs typeface="Calibri" pitchFamily="34" charset="-120"/>
              </a:rPr>
              <a:t>DEEP CNN</a:t>
            </a:r>
            <a:endParaRPr lang="en-US" sz="738" dirty="0"/>
          </a:p>
        </p:txBody>
      </p:sp>
      <p:sp>
        <p:nvSpPr>
          <p:cNvPr id="4" name="Shape 2"/>
          <p:cNvSpPr/>
          <p:nvPr/>
        </p:nvSpPr>
        <p:spPr>
          <a:xfrm>
            <a:off x="1531803" y="461132"/>
            <a:ext cx="203180" cy="23409"/>
          </a:xfrm>
          <a:prstGeom prst="rect">
            <a:avLst/>
          </a:prstGeom>
          <a:solidFill>
            <a:srgbClr val="1C6151"/>
          </a:solidFill>
          <a:ln/>
        </p:spPr>
      </p:sp>
      <p:sp>
        <p:nvSpPr>
          <p:cNvPr id="5" name="Text 3"/>
          <p:cNvSpPr txBox="1"/>
          <p:nvPr/>
        </p:nvSpPr>
        <p:spPr>
          <a:xfrm>
            <a:off x="1828800" y="408462"/>
            <a:ext cx="102952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C6151"/>
                </a:solidFill>
                <a:latin typeface="Calibri" pitchFamily="34" charset="0"/>
                <a:ea typeface="Calibri" pitchFamily="34" charset="-122"/>
                <a:cs typeface="Calibri" pitchFamily="34" charset="-120"/>
              </a:rPr>
              <a:t>RESULTS, PART 1</a:t>
            </a:r>
            <a:endParaRPr lang="en-US" sz="831" dirty="0"/>
          </a:p>
        </p:txBody>
      </p:sp>
      <p:sp>
        <p:nvSpPr>
          <p:cNvPr id="6" name="Text 4"/>
          <p:cNvSpPr txBox="1"/>
          <p:nvPr/>
        </p:nvSpPr>
        <p:spPr>
          <a:xfrm>
            <a:off x="1531803" y="646024"/>
            <a:ext cx="5474970"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BSD68 — the headline benchmark</a:t>
            </a:r>
            <a:endParaRPr lang="en-US" sz="2831" dirty="0"/>
          </a:p>
        </p:txBody>
      </p:sp>
      <p:sp>
        <p:nvSpPr>
          <p:cNvPr id="7" name="Text 5"/>
          <p:cNvSpPr txBox="1"/>
          <p:nvPr/>
        </p:nvSpPr>
        <p:spPr>
          <a:xfrm>
            <a:off x="1531803" y="1161928"/>
            <a:ext cx="6060460" cy="468904"/>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Average PSNR in dB, reproduced from Table II of the paper. The classical block is the same one shown on slide 25; DnCNN's two rows are now added beneath it.</a:t>
            </a:r>
            <a:endParaRPr lang="en-US" sz="1231"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531803" y="1849648"/>
          <a:ext cx="9144000" cy="914400"/>
        </p:xfrm>
        <a:graphic>
          <a:graphicData uri="http://schemas.openxmlformats.org/drawingml/2006/table">
            <a:tbl>
              <a:tblPr/>
              <a:tblGrid>
                <a:gridCol w="4614885"/>
                <a:gridCol w="1828800"/>
                <a:gridCol w="1824868"/>
                <a:gridCol w="1828800"/>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 = 15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 = 25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 = 50</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BM3D (2007)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31.07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28.57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25.62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EPLL (2011)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31.21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28.68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25.67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MLP (2012)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28.96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26.03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CSF (2014)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31.24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28.74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WNNM (2014)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31.37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28.83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25.87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TNRD (2016)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31.42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28.92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25.97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DnCNN-S</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(known σ)</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31.73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29.23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26.23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DnCNN-B</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(blind)</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31.61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29.16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26.23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r>
            </a:tbl>
          </a:graphicData>
        </a:graphic>
      </p:graphicFrame>
      <p:sp>
        <p:nvSpPr>
          <p:cNvPr id="9" name="Shape 6"/>
          <p:cNvSpPr/>
          <p:nvPr/>
        </p:nvSpPr>
        <p:spPr>
          <a:xfrm>
            <a:off x="1531803" y="4897526"/>
            <a:ext cx="10097262" cy="15636"/>
          </a:xfrm>
          <a:prstGeom prst="rect">
            <a:avLst/>
          </a:prstGeom>
          <a:solidFill>
            <a:srgbClr val="1C6151"/>
          </a:solidFill>
          <a:ln/>
        </p:spPr>
      </p:sp>
      <p:sp>
        <p:nvSpPr>
          <p:cNvPr id="10" name="Text 7"/>
          <p:cNvSpPr txBox="1"/>
          <p:nvPr/>
        </p:nvSpPr>
        <p:spPr>
          <a:xfrm>
            <a:off x="1531803" y="5036241"/>
            <a:ext cx="10153223" cy="59783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How to read 0.6 dB without sounding naive.</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Prior work found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few methods can outperform BM3D by more than 0.3 dB on average</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MLP and TNRD achieved about 0.35 dB. DnCNN-S outperforms BM3D by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0.6 dB at all three noise levels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and at σ = 50 both variants exceed BM3D by about 0.6 dB — very close to the estimated PSNR bound over BM3D of 0.7 dB.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DnCNN captured roughly 85% of the theoretically available headroom — and DnCNN-B did it without being told σ.</a:t>
            </a:r>
            <a:endParaRPr lang="en-US" sz="1046" dirty="0"/>
          </a:p>
        </p:txBody>
      </p:sp>
      <p:sp>
        <p:nvSpPr>
          <p:cNvPr id="11" name="Text 8"/>
          <p:cNvSpPr txBox="1"/>
          <p:nvPr/>
        </p:nvSpPr>
        <p:spPr>
          <a:xfrm>
            <a:off x="10588843" y="6237031"/>
            <a:ext cx="1040130"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DnCNN17 Table II, §IV-B</a:t>
            </a:r>
            <a:endParaRPr lang="en-US" sz="800" dirty="0"/>
          </a:p>
        </p:txBody>
      </p:sp>
      <p:sp>
        <p:nvSpPr>
          <p:cNvPr id="12" name="Shape 9"/>
          <p:cNvSpPr/>
          <p:nvPr/>
        </p:nvSpPr>
        <p:spPr>
          <a:xfrm>
            <a:off x="1531803" y="6537411"/>
            <a:ext cx="10097262" cy="7772"/>
          </a:xfrm>
          <a:prstGeom prst="rect">
            <a:avLst/>
          </a:prstGeom>
          <a:solidFill>
            <a:srgbClr val="C9C4B9"/>
          </a:solidFill>
          <a:ln/>
        </p:spPr>
      </p:sp>
      <p:sp>
        <p:nvSpPr>
          <p:cNvPr id="13" name="Shape 10"/>
          <p:cNvSpPr/>
          <p:nvPr/>
        </p:nvSpPr>
        <p:spPr>
          <a:xfrm>
            <a:off x="6580388" y="6525707"/>
            <a:ext cx="1121694" cy="31272"/>
          </a:xfrm>
          <a:prstGeom prst="rect">
            <a:avLst/>
          </a:prstGeom>
          <a:solidFill>
            <a:srgbClr val="1C6151"/>
          </a:solidFill>
          <a:ln/>
        </p:spPr>
      </p:sp>
      <p:sp>
        <p:nvSpPr>
          <p:cNvPr id="14" name="Shape 11"/>
          <p:cNvSpPr/>
          <p:nvPr/>
        </p:nvSpPr>
        <p:spPr>
          <a:xfrm>
            <a:off x="1531803" y="6498366"/>
            <a:ext cx="7772" cy="39045"/>
          </a:xfrm>
          <a:prstGeom prst="rect">
            <a:avLst/>
          </a:prstGeom>
          <a:solidFill>
            <a:srgbClr val="C9C4B9"/>
          </a:solidFill>
          <a:ln/>
        </p:spPr>
      </p:sp>
      <p:sp>
        <p:nvSpPr>
          <p:cNvPr id="15" name="Text 12"/>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6" name="Shape 13"/>
          <p:cNvSpPr/>
          <p:nvPr/>
        </p:nvSpPr>
        <p:spPr>
          <a:xfrm>
            <a:off x="5458511" y="6498366"/>
            <a:ext cx="7772" cy="39045"/>
          </a:xfrm>
          <a:prstGeom prst="rect">
            <a:avLst/>
          </a:prstGeom>
          <a:solidFill>
            <a:srgbClr val="C9C4B9"/>
          </a:solidFill>
          <a:ln/>
        </p:spPr>
      </p:sp>
      <p:sp>
        <p:nvSpPr>
          <p:cNvPr id="17" name="Text 14"/>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8" name="Shape 15"/>
          <p:cNvSpPr/>
          <p:nvPr/>
        </p:nvSpPr>
        <p:spPr>
          <a:xfrm>
            <a:off x="7141738" y="6498366"/>
            <a:ext cx="7772" cy="39045"/>
          </a:xfrm>
          <a:prstGeom prst="rect">
            <a:avLst/>
          </a:prstGeom>
          <a:solidFill>
            <a:srgbClr val="C9C4B9"/>
          </a:solidFill>
          <a:ln/>
        </p:spPr>
      </p:sp>
      <p:sp>
        <p:nvSpPr>
          <p:cNvPr id="19" name="Text 16"/>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0" name="Shape 17"/>
          <p:cNvSpPr/>
          <p:nvPr/>
        </p:nvSpPr>
        <p:spPr>
          <a:xfrm>
            <a:off x="9945654" y="6498366"/>
            <a:ext cx="7772" cy="39045"/>
          </a:xfrm>
          <a:prstGeom prst="rect">
            <a:avLst/>
          </a:prstGeom>
          <a:solidFill>
            <a:srgbClr val="C9C4B9"/>
          </a:solidFill>
          <a:ln/>
        </p:spPr>
      </p:sp>
      <p:sp>
        <p:nvSpPr>
          <p:cNvPr id="21" name="Text 18"/>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2" name="Shape 19"/>
          <p:cNvSpPr/>
          <p:nvPr/>
        </p:nvSpPr>
        <p:spPr>
          <a:xfrm>
            <a:off x="11628973" y="6498366"/>
            <a:ext cx="7772" cy="39045"/>
          </a:xfrm>
          <a:prstGeom prst="rect">
            <a:avLst/>
          </a:prstGeom>
          <a:solidFill>
            <a:srgbClr val="C9C4B9"/>
          </a:solidFill>
          <a:ln/>
        </p:spPr>
      </p:sp>
      <p:sp>
        <p:nvSpPr>
          <p:cNvPr id="23" name="Text 20"/>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97215"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38</a:t>
            </a:r>
            <a:endParaRPr lang="en-US" sz="2708" dirty="0"/>
          </a:p>
        </p:txBody>
      </p:sp>
      <p:sp>
        <p:nvSpPr>
          <p:cNvPr id="3" name="Text 1"/>
          <p:cNvSpPr txBox="1"/>
          <p:nvPr/>
        </p:nvSpPr>
        <p:spPr>
          <a:xfrm rot="16200000">
            <a:off x="-361371" y="3428909"/>
            <a:ext cx="648675"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1C6151"/>
                </a:solidFill>
                <a:latin typeface="Calibri" pitchFamily="34" charset="0"/>
                <a:ea typeface="Calibri" pitchFamily="34" charset="-122"/>
                <a:cs typeface="Calibri" pitchFamily="34" charset="-120"/>
              </a:rPr>
              <a:t>DEEP CNN</a:t>
            </a:r>
            <a:endParaRPr lang="en-US" sz="738" dirty="0"/>
          </a:p>
        </p:txBody>
      </p:sp>
      <p:sp>
        <p:nvSpPr>
          <p:cNvPr id="4" name="Shape 2"/>
          <p:cNvSpPr/>
          <p:nvPr/>
        </p:nvSpPr>
        <p:spPr>
          <a:xfrm>
            <a:off x="1531803" y="461132"/>
            <a:ext cx="203180" cy="23409"/>
          </a:xfrm>
          <a:prstGeom prst="rect">
            <a:avLst/>
          </a:prstGeom>
          <a:solidFill>
            <a:srgbClr val="1C6151"/>
          </a:solidFill>
          <a:ln/>
        </p:spPr>
      </p:sp>
      <p:sp>
        <p:nvSpPr>
          <p:cNvPr id="5" name="Text 3"/>
          <p:cNvSpPr txBox="1"/>
          <p:nvPr/>
        </p:nvSpPr>
        <p:spPr>
          <a:xfrm>
            <a:off x="1828800" y="408462"/>
            <a:ext cx="102952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C6151"/>
                </a:solidFill>
                <a:latin typeface="Calibri" pitchFamily="34" charset="0"/>
                <a:ea typeface="Calibri" pitchFamily="34" charset="-122"/>
                <a:cs typeface="Calibri" pitchFamily="34" charset="-120"/>
              </a:rPr>
              <a:t>RESULTS, PART 2</a:t>
            </a:r>
            <a:endParaRPr lang="en-US" sz="831" dirty="0"/>
          </a:p>
        </p:txBody>
      </p:sp>
      <p:sp>
        <p:nvSpPr>
          <p:cNvPr id="6" name="Text 4"/>
          <p:cNvSpPr txBox="1"/>
          <p:nvPr/>
        </p:nvSpPr>
        <p:spPr>
          <a:xfrm>
            <a:off x="1531803" y="646024"/>
            <a:ext cx="8975750"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Where it loses — and why losing is the interesting result</a:t>
            </a:r>
            <a:endParaRPr lang="en-US" sz="2831" dirty="0"/>
          </a:p>
        </p:txBody>
      </p:sp>
      <p:sp>
        <p:nvSpPr>
          <p:cNvPr id="7" name="Text 5"/>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Per-image PSNR at σ = 25, from Table III. DnCNN-S wins on ten of twelve images. The two it loses are not random, and the paper's explanation of them is the most intellectually valuable passage in its experimental section.</a:t>
            </a:r>
            <a:endParaRPr lang="en-US" sz="1231"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531803" y="2084100"/>
          <a:ext cx="9144000" cy="914400"/>
        </p:xfrm>
        <a:graphic>
          <a:graphicData uri="http://schemas.openxmlformats.org/drawingml/2006/table">
            <a:tbl>
              <a:tblPr/>
              <a:tblGrid>
                <a:gridCol w="2293772"/>
                <a:gridCol w="1301191"/>
                <a:gridCol w="1441917"/>
                <a:gridCol w="1301191"/>
                <a:gridCol w="1746687"/>
                <a:gridCol w="2012412"/>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IMAGE</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WNNM</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TNRD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DNCNN-S</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Δ VS BM3D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Cameraman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29.45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29.64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29.72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30.18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+0.73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House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32.85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33.22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32.53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33.06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+0.21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Peppers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30.16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30.42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30.57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30.87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+0.71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Monarch</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29.25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29.84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29.85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30.28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+1.03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Parrot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28.93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29.15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29.18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29.43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Barbara</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30.71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31.24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29.41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30.00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−0.71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Boat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29.90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30.03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29.91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30.21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+0.31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Average (12)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29.97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30.26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30.06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30.44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+0.47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531803" y="5131979"/>
            <a:ext cx="10097262" cy="15636"/>
          </a:xfrm>
          <a:prstGeom prst="rect">
            <a:avLst/>
          </a:prstGeom>
          <a:solidFill>
            <a:srgbClr val="1C6151"/>
          </a:solidFill>
          <a:ln/>
        </p:spPr>
      </p:sp>
      <p:sp>
        <p:nvSpPr>
          <p:cNvPr id="10" name="Text 7"/>
          <p:cNvSpPr txBox="1"/>
          <p:nvPr/>
        </p:nvSpPr>
        <p:spPr>
          <a:xfrm>
            <a:off x="1531803" y="5270693"/>
            <a:ext cx="10153223" cy="59783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The paper's own explanation.</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DnCNN-S fails to achieve the best result on exactly the two images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dominated by repetitive structures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consistent with a known finding: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non-local means based methods are usually better on images with regular and repetitive structures, whereas discriminative training based methods generally produce better results on images with irregular textures.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Images with regular repetitive structures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meet well with the non-local similarity prior</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irregular textures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weaken the advantage of that specific prior</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a:t>
            </a:r>
            <a:endParaRPr lang="en-US" sz="1046" dirty="0"/>
          </a:p>
        </p:txBody>
      </p:sp>
      <p:sp>
        <p:nvSpPr>
          <p:cNvPr id="11" name="Text 8"/>
          <p:cNvSpPr txBox="1"/>
          <p:nvPr/>
        </p:nvSpPr>
        <p:spPr>
          <a:xfrm>
            <a:off x="9704070" y="6237031"/>
            <a:ext cx="1924903"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DnCNN17 Table III, §IV-C — values as printed</a:t>
            </a:r>
            <a:endParaRPr lang="en-US" sz="800" dirty="0"/>
          </a:p>
        </p:txBody>
      </p:sp>
      <p:sp>
        <p:nvSpPr>
          <p:cNvPr id="12" name="Shape 9"/>
          <p:cNvSpPr/>
          <p:nvPr/>
        </p:nvSpPr>
        <p:spPr>
          <a:xfrm>
            <a:off x="1531803" y="6537411"/>
            <a:ext cx="10097262" cy="7772"/>
          </a:xfrm>
          <a:prstGeom prst="rect">
            <a:avLst/>
          </a:prstGeom>
          <a:solidFill>
            <a:srgbClr val="C9C4B9"/>
          </a:solidFill>
          <a:ln/>
        </p:spPr>
      </p:sp>
      <p:sp>
        <p:nvSpPr>
          <p:cNvPr id="13" name="Shape 10"/>
          <p:cNvSpPr/>
          <p:nvPr/>
        </p:nvSpPr>
        <p:spPr>
          <a:xfrm>
            <a:off x="6580388" y="6525707"/>
            <a:ext cx="1121694" cy="31272"/>
          </a:xfrm>
          <a:prstGeom prst="rect">
            <a:avLst/>
          </a:prstGeom>
          <a:solidFill>
            <a:srgbClr val="1C6151"/>
          </a:solidFill>
          <a:ln/>
        </p:spPr>
      </p:sp>
      <p:sp>
        <p:nvSpPr>
          <p:cNvPr id="14" name="Shape 11"/>
          <p:cNvSpPr/>
          <p:nvPr/>
        </p:nvSpPr>
        <p:spPr>
          <a:xfrm>
            <a:off x="1531803" y="6498366"/>
            <a:ext cx="7772" cy="39045"/>
          </a:xfrm>
          <a:prstGeom prst="rect">
            <a:avLst/>
          </a:prstGeom>
          <a:solidFill>
            <a:srgbClr val="C9C4B9"/>
          </a:solidFill>
          <a:ln/>
        </p:spPr>
      </p:sp>
      <p:sp>
        <p:nvSpPr>
          <p:cNvPr id="15" name="Text 12"/>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6" name="Shape 13"/>
          <p:cNvSpPr/>
          <p:nvPr/>
        </p:nvSpPr>
        <p:spPr>
          <a:xfrm>
            <a:off x="5458511" y="6498366"/>
            <a:ext cx="7772" cy="39045"/>
          </a:xfrm>
          <a:prstGeom prst="rect">
            <a:avLst/>
          </a:prstGeom>
          <a:solidFill>
            <a:srgbClr val="C9C4B9"/>
          </a:solidFill>
          <a:ln/>
        </p:spPr>
      </p:sp>
      <p:sp>
        <p:nvSpPr>
          <p:cNvPr id="17" name="Text 14"/>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8" name="Shape 15"/>
          <p:cNvSpPr/>
          <p:nvPr/>
        </p:nvSpPr>
        <p:spPr>
          <a:xfrm>
            <a:off x="7141738" y="6498366"/>
            <a:ext cx="7772" cy="39045"/>
          </a:xfrm>
          <a:prstGeom prst="rect">
            <a:avLst/>
          </a:prstGeom>
          <a:solidFill>
            <a:srgbClr val="C9C4B9"/>
          </a:solidFill>
          <a:ln/>
        </p:spPr>
      </p:sp>
      <p:sp>
        <p:nvSpPr>
          <p:cNvPr id="19" name="Text 16"/>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0" name="Shape 17"/>
          <p:cNvSpPr/>
          <p:nvPr/>
        </p:nvSpPr>
        <p:spPr>
          <a:xfrm>
            <a:off x="9945654" y="6498366"/>
            <a:ext cx="7772" cy="39045"/>
          </a:xfrm>
          <a:prstGeom prst="rect">
            <a:avLst/>
          </a:prstGeom>
          <a:solidFill>
            <a:srgbClr val="C9C4B9"/>
          </a:solidFill>
          <a:ln/>
        </p:spPr>
      </p:sp>
      <p:sp>
        <p:nvSpPr>
          <p:cNvPr id="21" name="Text 18"/>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2" name="Shape 19"/>
          <p:cNvSpPr/>
          <p:nvPr/>
        </p:nvSpPr>
        <p:spPr>
          <a:xfrm>
            <a:off x="11628973" y="6498366"/>
            <a:ext cx="7772" cy="39045"/>
          </a:xfrm>
          <a:prstGeom prst="rect">
            <a:avLst/>
          </a:prstGeom>
          <a:solidFill>
            <a:srgbClr val="C9C4B9"/>
          </a:solidFill>
          <a:ln/>
        </p:spPr>
      </p:sp>
      <p:sp>
        <p:nvSpPr>
          <p:cNvPr id="23" name="Text 20"/>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9626"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39</a:t>
            </a:r>
            <a:endParaRPr lang="en-US" sz="2708" dirty="0"/>
          </a:p>
        </p:txBody>
      </p:sp>
      <p:sp>
        <p:nvSpPr>
          <p:cNvPr id="3" name="Text 1"/>
          <p:cNvSpPr txBox="1"/>
          <p:nvPr/>
        </p:nvSpPr>
        <p:spPr>
          <a:xfrm rot="16200000">
            <a:off x="-361371" y="3428909"/>
            <a:ext cx="648675"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1C6151"/>
                </a:solidFill>
                <a:latin typeface="Calibri" pitchFamily="34" charset="0"/>
                <a:ea typeface="Calibri" pitchFamily="34" charset="-122"/>
                <a:cs typeface="Calibri" pitchFamily="34" charset="-120"/>
              </a:rPr>
              <a:t>DEEP CNN</a:t>
            </a:r>
            <a:endParaRPr lang="en-US" sz="738" dirty="0"/>
          </a:p>
        </p:txBody>
      </p:sp>
      <p:sp>
        <p:nvSpPr>
          <p:cNvPr id="4" name="Shape 2"/>
          <p:cNvSpPr/>
          <p:nvPr/>
        </p:nvSpPr>
        <p:spPr>
          <a:xfrm>
            <a:off x="1531803" y="461132"/>
            <a:ext cx="203180" cy="23409"/>
          </a:xfrm>
          <a:prstGeom prst="rect">
            <a:avLst/>
          </a:prstGeom>
          <a:solidFill>
            <a:srgbClr val="1C6151"/>
          </a:solidFill>
          <a:ln/>
        </p:spPr>
      </p:sp>
      <p:sp>
        <p:nvSpPr>
          <p:cNvPr id="5" name="Text 3"/>
          <p:cNvSpPr txBox="1"/>
          <p:nvPr/>
        </p:nvSpPr>
        <p:spPr>
          <a:xfrm>
            <a:off x="1828800" y="408462"/>
            <a:ext cx="102952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C6151"/>
                </a:solidFill>
                <a:latin typeface="Calibri" pitchFamily="34" charset="0"/>
                <a:ea typeface="Calibri" pitchFamily="34" charset="-122"/>
                <a:cs typeface="Calibri" pitchFamily="34" charset="-120"/>
              </a:rPr>
              <a:t>RESULTS, PART 3</a:t>
            </a:r>
            <a:endParaRPr lang="en-US" sz="831" dirty="0"/>
          </a:p>
        </p:txBody>
      </p:sp>
      <p:sp>
        <p:nvSpPr>
          <p:cNvPr id="6" name="Text 4"/>
          <p:cNvSpPr txBox="1"/>
          <p:nvPr/>
        </p:nvSpPr>
        <p:spPr>
          <a:xfrm>
            <a:off x="1531803" y="646024"/>
            <a:ext cx="8683874"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Runtime — the commercial argument, stated honestly</a:t>
            </a:r>
            <a:endParaRPr lang="en-US" sz="2831" dirty="0"/>
          </a:p>
        </p:txBody>
      </p:sp>
      <p:sp>
        <p:nvSpPr>
          <p:cNvPr id="7" name="Text 5"/>
          <p:cNvSpPr txBox="1"/>
          <p:nvPr/>
        </p:nvSpPr>
        <p:spPr>
          <a:xfrm>
            <a:off x="1531803" y="1161928"/>
            <a:ext cx="6060460" cy="468904"/>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Seconds per image at noise level 25, from Table IV. This table is the reason denoising moved into products, and it is also the table on which a careless presenter gets caught.</a:t>
            </a:r>
            <a:endParaRPr lang="en-US" sz="1231"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531803" y="1849648"/>
          <a:ext cx="9144000" cy="914400"/>
        </p:xfrm>
        <a:graphic>
          <a:graphicData uri="http://schemas.openxmlformats.org/drawingml/2006/table">
            <a:tbl>
              <a:tblPr/>
              <a:tblGrid>
                <a:gridCol w="1770096"/>
                <a:gridCol w="2125706"/>
                <a:gridCol w="2125706"/>
                <a:gridCol w="2129638"/>
                <a:gridCol w="1946026"/>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256×256</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512×512</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1024×1024</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DEVICE</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C6151"/>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0.65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11.89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WNNM</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203.1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773.2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2 536.4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EPLL</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45.5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422.1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MLP</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1.42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5.51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19.4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CSF</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2.11 / —</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5.67 / 0.92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40.8 / 1.72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CPU / GPU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TNRD</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0.45 / 0.010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1.33 / 0.032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4.61 / 0.116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CPU / GPU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DnCNN-S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0.74 / </a:t>
                      </a:r>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0.014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3.41 / </a:t>
                      </a:r>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0.051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12.1 / </a:t>
                      </a:r>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0.200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CPU / GPU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DnCNN-B</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0.90 / </a:t>
                      </a:r>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0.016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4.11 / </a:t>
                      </a:r>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0.060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14.1 / </a:t>
                      </a:r>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0.235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CPU / GPU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DE9"/>
                    </a:solidFill>
                  </a:tcPr>
                </a:tc>
              </a:tr>
            </a:tbl>
          </a:graphicData>
        </a:graphic>
      </p:graphicFrame>
      <p:sp>
        <p:nvSpPr>
          <p:cNvPr id="9" name="Shape 6"/>
          <p:cNvSpPr/>
          <p:nvPr/>
        </p:nvSpPr>
        <p:spPr>
          <a:xfrm>
            <a:off x="1531803" y="4897526"/>
            <a:ext cx="10097262" cy="15636"/>
          </a:xfrm>
          <a:prstGeom prst="rect">
            <a:avLst/>
          </a:prstGeom>
          <a:solidFill>
            <a:srgbClr val="1C6151"/>
          </a:solidFill>
          <a:ln/>
        </p:spPr>
      </p:sp>
      <p:sp>
        <p:nvSpPr>
          <p:cNvPr id="10" name="Text 7"/>
          <p:cNvSpPr txBox="1"/>
          <p:nvPr/>
        </p:nvSpPr>
        <p:spPr>
          <a:xfrm>
            <a:off x="1531803" y="5036241"/>
            <a:ext cx="10153223" cy="59783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State the asymmetry before you are asked.</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The paper itself warns that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since GPU run time varies greatly with respect to GPU and GPU-accelerated library, it is hard to make a fair comparison</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between CSF, TNRD and DnCNN — the authors simply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copied the CSF and TNRD GPU times from the original papers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And BM3D's 2.85 s is a CPU figure being set beside a GPU figure. The honest headline is: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DnCNN-B is 12 900× faster than WNNM at 512×512 (773.2 s CPU → 0.060 s GPU)</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with the hardware difference named.</a:t>
            </a:r>
            <a:endParaRPr lang="en-US" sz="1046" dirty="0"/>
          </a:p>
        </p:txBody>
      </p:sp>
      <p:sp>
        <p:nvSpPr>
          <p:cNvPr id="11" name="Text 8"/>
          <p:cNvSpPr txBox="1"/>
          <p:nvPr/>
        </p:nvSpPr>
        <p:spPr>
          <a:xfrm>
            <a:off x="10185684" y="6237031"/>
            <a:ext cx="1443289"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DnCNN17 Table IV and its caption</a:t>
            </a:r>
            <a:endParaRPr lang="en-US" sz="800" dirty="0"/>
          </a:p>
        </p:txBody>
      </p:sp>
      <p:sp>
        <p:nvSpPr>
          <p:cNvPr id="12" name="Shape 9"/>
          <p:cNvSpPr/>
          <p:nvPr/>
        </p:nvSpPr>
        <p:spPr>
          <a:xfrm>
            <a:off x="1531803" y="6537411"/>
            <a:ext cx="10097262" cy="7772"/>
          </a:xfrm>
          <a:prstGeom prst="rect">
            <a:avLst/>
          </a:prstGeom>
          <a:solidFill>
            <a:srgbClr val="C9C4B9"/>
          </a:solidFill>
          <a:ln/>
        </p:spPr>
      </p:sp>
      <p:sp>
        <p:nvSpPr>
          <p:cNvPr id="13" name="Shape 10"/>
          <p:cNvSpPr/>
          <p:nvPr/>
        </p:nvSpPr>
        <p:spPr>
          <a:xfrm>
            <a:off x="6580388" y="6525707"/>
            <a:ext cx="1121694" cy="31272"/>
          </a:xfrm>
          <a:prstGeom prst="rect">
            <a:avLst/>
          </a:prstGeom>
          <a:solidFill>
            <a:srgbClr val="1C6151"/>
          </a:solidFill>
          <a:ln/>
        </p:spPr>
      </p:sp>
      <p:sp>
        <p:nvSpPr>
          <p:cNvPr id="14" name="Shape 11"/>
          <p:cNvSpPr/>
          <p:nvPr/>
        </p:nvSpPr>
        <p:spPr>
          <a:xfrm>
            <a:off x="1531803" y="6498366"/>
            <a:ext cx="7772" cy="39045"/>
          </a:xfrm>
          <a:prstGeom prst="rect">
            <a:avLst/>
          </a:prstGeom>
          <a:solidFill>
            <a:srgbClr val="C9C4B9"/>
          </a:solidFill>
          <a:ln/>
        </p:spPr>
      </p:sp>
      <p:sp>
        <p:nvSpPr>
          <p:cNvPr id="15" name="Text 12"/>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6" name="Shape 13"/>
          <p:cNvSpPr/>
          <p:nvPr/>
        </p:nvSpPr>
        <p:spPr>
          <a:xfrm>
            <a:off x="5458511" y="6498366"/>
            <a:ext cx="7772" cy="39045"/>
          </a:xfrm>
          <a:prstGeom prst="rect">
            <a:avLst/>
          </a:prstGeom>
          <a:solidFill>
            <a:srgbClr val="C9C4B9"/>
          </a:solidFill>
          <a:ln/>
        </p:spPr>
      </p:sp>
      <p:sp>
        <p:nvSpPr>
          <p:cNvPr id="17" name="Text 14"/>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8" name="Shape 15"/>
          <p:cNvSpPr/>
          <p:nvPr/>
        </p:nvSpPr>
        <p:spPr>
          <a:xfrm>
            <a:off x="7141738" y="6498366"/>
            <a:ext cx="7772" cy="39045"/>
          </a:xfrm>
          <a:prstGeom prst="rect">
            <a:avLst/>
          </a:prstGeom>
          <a:solidFill>
            <a:srgbClr val="C9C4B9"/>
          </a:solidFill>
          <a:ln/>
        </p:spPr>
      </p:sp>
      <p:sp>
        <p:nvSpPr>
          <p:cNvPr id="19" name="Text 16"/>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0" name="Shape 17"/>
          <p:cNvSpPr/>
          <p:nvPr/>
        </p:nvSpPr>
        <p:spPr>
          <a:xfrm>
            <a:off x="9945654" y="6498366"/>
            <a:ext cx="7772" cy="39045"/>
          </a:xfrm>
          <a:prstGeom prst="rect">
            <a:avLst/>
          </a:prstGeom>
          <a:solidFill>
            <a:srgbClr val="C9C4B9"/>
          </a:solidFill>
          <a:ln/>
        </p:spPr>
      </p:sp>
      <p:sp>
        <p:nvSpPr>
          <p:cNvPr id="21" name="Text 18"/>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2" name="Shape 19"/>
          <p:cNvSpPr/>
          <p:nvPr/>
        </p:nvSpPr>
        <p:spPr>
          <a:xfrm>
            <a:off x="11628973" y="6498366"/>
            <a:ext cx="7772" cy="39045"/>
          </a:xfrm>
          <a:prstGeom prst="rect">
            <a:avLst/>
          </a:prstGeom>
          <a:solidFill>
            <a:srgbClr val="C9C4B9"/>
          </a:solidFill>
          <a:ln/>
        </p:spPr>
      </p:sp>
      <p:sp>
        <p:nvSpPr>
          <p:cNvPr id="23" name="Text 20"/>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404805"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40</a:t>
            </a:r>
            <a:endParaRPr lang="en-US" sz="2708" dirty="0"/>
          </a:p>
        </p:txBody>
      </p:sp>
      <p:sp>
        <p:nvSpPr>
          <p:cNvPr id="3" name="Text 1"/>
          <p:cNvSpPr txBox="1"/>
          <p:nvPr/>
        </p:nvSpPr>
        <p:spPr>
          <a:xfrm rot="16200000">
            <a:off x="-361371" y="3428909"/>
            <a:ext cx="648675"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1C6151"/>
                </a:solidFill>
                <a:latin typeface="Calibri" pitchFamily="34" charset="0"/>
                <a:ea typeface="Calibri" pitchFamily="34" charset="-122"/>
                <a:cs typeface="Calibri" pitchFamily="34" charset="-120"/>
              </a:rPr>
              <a:t>DEEP CNN</a:t>
            </a:r>
            <a:endParaRPr lang="en-US" sz="738" dirty="0"/>
          </a:p>
        </p:txBody>
      </p:sp>
      <p:sp>
        <p:nvSpPr>
          <p:cNvPr id="4" name="Shape 2"/>
          <p:cNvSpPr/>
          <p:nvPr/>
        </p:nvSpPr>
        <p:spPr>
          <a:xfrm>
            <a:off x="1531803" y="461132"/>
            <a:ext cx="203180" cy="23409"/>
          </a:xfrm>
          <a:prstGeom prst="rect">
            <a:avLst/>
          </a:prstGeom>
          <a:solidFill>
            <a:srgbClr val="1C6151"/>
          </a:solidFill>
          <a:ln/>
        </p:spPr>
      </p:sp>
      <p:sp>
        <p:nvSpPr>
          <p:cNvPr id="5" name="Text 3"/>
          <p:cNvSpPr txBox="1"/>
          <p:nvPr/>
        </p:nvSpPr>
        <p:spPr>
          <a:xfrm>
            <a:off x="1828800" y="408462"/>
            <a:ext cx="1131844"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C6151"/>
                </a:solidFill>
                <a:latin typeface="Calibri" pitchFamily="34" charset="0"/>
                <a:ea typeface="Calibri" pitchFamily="34" charset="-122"/>
                <a:cs typeface="Calibri" pitchFamily="34" charset="-120"/>
              </a:rPr>
              <a:t>THE TITLE'S CLAIM</a:t>
            </a:r>
            <a:endParaRPr lang="en-US" sz="831" dirty="0"/>
          </a:p>
        </p:txBody>
      </p:sp>
      <p:sp>
        <p:nvSpPr>
          <p:cNvPr id="6" name="Text 4"/>
          <p:cNvSpPr txBox="1"/>
          <p:nvPr/>
        </p:nvSpPr>
        <p:spPr>
          <a:xfrm>
            <a:off x="1531803" y="646024"/>
            <a:ext cx="8759861"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One model, three tasks — 'beyond a Gaussian denoiser'</a:t>
            </a:r>
            <a:endParaRPr lang="en-US" sz="2831" dirty="0"/>
          </a:p>
        </p:txBody>
      </p:sp>
      <p:sp>
        <p:nvSpPr>
          <p:cNvPr id="7" name="Text 5"/>
          <p:cNvSpPr txBox="1"/>
          <p:nvPr/>
        </p:nvSpPr>
        <p:spPr>
          <a:xfrm>
            <a:off x="1531803" y="1161928"/>
            <a:ext cx="6060460" cy="468904"/>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The conceptual leap that gives the paper its name. Reinterpret v, and the identical network, identical loss and identical training procedure solve two problems that are not denoising.</a:t>
            </a:r>
            <a:endParaRPr lang="en-US" sz="1231" dirty="0"/>
          </a:p>
        </p:txBody>
      </p:sp>
      <p:sp>
        <p:nvSpPr>
          <p:cNvPr id="8" name="Shape 6"/>
          <p:cNvSpPr/>
          <p:nvPr/>
        </p:nvSpPr>
        <p:spPr>
          <a:xfrm>
            <a:off x="6580388" y="1849648"/>
            <a:ext cx="7772" cy="3889675"/>
          </a:xfrm>
          <a:prstGeom prst="rect">
            <a:avLst/>
          </a:prstGeom>
          <a:solidFill>
            <a:srgbClr val="DFDBD2"/>
          </a:solidFill>
          <a:ln/>
        </p:spPr>
      </p:sp>
      <p:sp>
        <p:nvSpPr>
          <p:cNvPr id="9" name="Shape 7"/>
          <p:cNvSpPr/>
          <p:nvPr/>
        </p:nvSpPr>
        <p:spPr>
          <a:xfrm>
            <a:off x="1531803" y="1849648"/>
            <a:ext cx="4876678" cy="15636"/>
          </a:xfrm>
          <a:prstGeom prst="rect">
            <a:avLst/>
          </a:prstGeom>
          <a:solidFill>
            <a:srgbClr val="1C6151"/>
          </a:solidFill>
          <a:ln/>
        </p:spPr>
      </p:sp>
      <p:sp>
        <p:nvSpPr>
          <p:cNvPr id="10" name="Text 8"/>
          <p:cNvSpPr txBox="1"/>
          <p:nvPr/>
        </p:nvSpPr>
        <p:spPr>
          <a:xfrm>
            <a:off x="1531803" y="1982694"/>
            <a:ext cx="1610167"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The reinterpretation</a:t>
            </a:r>
            <a:endParaRPr lang="en-US" sz="1354" dirty="0"/>
          </a:p>
        </p:txBody>
      </p:sp>
      <p:sp>
        <p:nvSpPr>
          <p:cNvPr id="11" name="Shape 9"/>
          <p:cNvSpPr/>
          <p:nvPr/>
        </p:nvSpPr>
        <p:spPr>
          <a:xfrm>
            <a:off x="1531803" y="2357232"/>
            <a:ext cx="62545" cy="39045"/>
          </a:xfrm>
          <a:prstGeom prst="rect">
            <a:avLst/>
          </a:prstGeom>
          <a:solidFill>
            <a:srgbClr val="1C6151"/>
          </a:solidFill>
          <a:ln/>
        </p:spPr>
      </p:sp>
      <p:sp>
        <p:nvSpPr>
          <p:cNvPr id="12" name="Text 10"/>
          <p:cNvSpPr txBox="1"/>
          <p:nvPr/>
        </p:nvSpPr>
        <p:spPr>
          <a:xfrm>
            <a:off x="1688074" y="2291761"/>
            <a:ext cx="2116013" cy="216896"/>
          </a:xfrm>
          <a:prstGeom prst="rect">
            <a:avLst/>
          </a:prstGeom>
          <a:noFill/>
          <a:ln/>
        </p:spPr>
        <p:txBody>
          <a:bodyPr wrap="non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Denoising:</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v is AWGN, σ ∈ [0, 55].</a:t>
            </a:r>
            <a:endParaRPr lang="en-US" sz="1138" dirty="0"/>
          </a:p>
        </p:txBody>
      </p:sp>
      <p:sp>
        <p:nvSpPr>
          <p:cNvPr id="13" name="Shape 11"/>
          <p:cNvSpPr/>
          <p:nvPr/>
        </p:nvSpPr>
        <p:spPr>
          <a:xfrm>
            <a:off x="1531803" y="2699126"/>
            <a:ext cx="62545" cy="39045"/>
          </a:xfrm>
          <a:prstGeom prst="rect">
            <a:avLst/>
          </a:prstGeom>
          <a:solidFill>
            <a:srgbClr val="1C6151"/>
          </a:solidFill>
          <a:ln/>
        </p:spPr>
      </p:sp>
      <p:sp>
        <p:nvSpPr>
          <p:cNvPr id="14" name="Text 12"/>
          <p:cNvSpPr txBox="1"/>
          <p:nvPr/>
        </p:nvSpPr>
        <p:spPr>
          <a:xfrm>
            <a:off x="1688074" y="2633746"/>
            <a:ext cx="4754880"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Super-resolution: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if v is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the difference between a ground-truth high-resolution image and the bicubic upsampling of its low-resolution version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same degradation model becomes single-image SR. Scales ×2, ×3, ×4.</a:t>
            </a:r>
            <a:endParaRPr lang="en-US" sz="1138" dirty="0"/>
          </a:p>
        </p:txBody>
      </p:sp>
      <p:sp>
        <p:nvSpPr>
          <p:cNvPr id="15" name="Shape 13"/>
          <p:cNvSpPr/>
          <p:nvPr/>
        </p:nvSpPr>
        <p:spPr>
          <a:xfrm>
            <a:off x="1531803" y="3474811"/>
            <a:ext cx="62545" cy="39045"/>
          </a:xfrm>
          <a:prstGeom prst="rect">
            <a:avLst/>
          </a:prstGeom>
          <a:solidFill>
            <a:srgbClr val="1C6151"/>
          </a:solidFill>
          <a:ln/>
        </p:spPr>
      </p:sp>
      <p:sp>
        <p:nvSpPr>
          <p:cNvPr id="16" name="Text 14"/>
          <p:cNvSpPr txBox="1"/>
          <p:nvPr/>
        </p:nvSpPr>
        <p:spPr>
          <a:xfrm>
            <a:off x="1688074" y="3409340"/>
            <a:ext cx="4754880"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JPEG deblocking:</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if v is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the difference between the original image and its compressed version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model becomes JPEG deblocking. Quality factors 5–99.</a:t>
            </a:r>
            <a:endParaRPr lang="en-US" sz="1138" dirty="0"/>
          </a:p>
        </p:txBody>
      </p:sp>
      <p:sp>
        <p:nvSpPr>
          <p:cNvPr id="17" name="Shape 15"/>
          <p:cNvSpPr/>
          <p:nvPr/>
        </p:nvSpPr>
        <p:spPr>
          <a:xfrm>
            <a:off x="1531803" y="4033601"/>
            <a:ext cx="62545" cy="39045"/>
          </a:xfrm>
          <a:prstGeom prst="rect">
            <a:avLst/>
          </a:prstGeom>
          <a:solidFill>
            <a:srgbClr val="1C6151"/>
          </a:solidFill>
          <a:ln/>
        </p:spPr>
      </p:sp>
      <p:sp>
        <p:nvSpPr>
          <p:cNvPr id="18" name="Text 16"/>
          <p:cNvSpPr txBox="1"/>
          <p:nvPr/>
        </p:nvSpPr>
        <p:spPr>
          <a:xfrm>
            <a:off x="1688074" y="3968130"/>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The paper's conclusion: SISR and JPEG deblocking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are special cases of a 'general' image denoising problem</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even though their v is very different from AWGN.</a:t>
            </a:r>
            <a:endParaRPr lang="en-US" sz="1138" dirty="0"/>
          </a:p>
        </p:txBody>
      </p:sp>
      <p:sp>
        <p:nvSpPr>
          <p:cNvPr id="19" name="Shape 17"/>
          <p:cNvSpPr/>
          <p:nvPr/>
        </p:nvSpPr>
        <p:spPr>
          <a:xfrm>
            <a:off x="6752295" y="1849648"/>
            <a:ext cx="4876678" cy="15636"/>
          </a:xfrm>
          <a:prstGeom prst="rect">
            <a:avLst/>
          </a:prstGeom>
          <a:solidFill>
            <a:srgbClr val="1C6151"/>
          </a:solidFill>
          <a:ln/>
        </p:spPr>
      </p:sp>
      <p:sp>
        <p:nvSpPr>
          <p:cNvPr id="20" name="Text 18"/>
          <p:cNvSpPr txBox="1"/>
          <p:nvPr/>
        </p:nvSpPr>
        <p:spPr>
          <a:xfrm>
            <a:off x="6752295" y="1982694"/>
            <a:ext cx="3320552"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The theoretical permission, and the results</a:t>
            </a:r>
            <a:endParaRPr lang="en-US" sz="1354" dirty="0"/>
          </a:p>
        </p:txBody>
      </p:sp>
      <p:sp>
        <p:nvSpPr>
          <p:cNvPr id="21" name="Shape 19"/>
          <p:cNvSpPr/>
          <p:nvPr/>
        </p:nvSpPr>
        <p:spPr>
          <a:xfrm>
            <a:off x="6752295" y="2357232"/>
            <a:ext cx="62545" cy="39045"/>
          </a:xfrm>
          <a:prstGeom prst="rect">
            <a:avLst/>
          </a:prstGeom>
          <a:solidFill>
            <a:srgbClr val="1C6151"/>
          </a:solidFill>
          <a:ln/>
        </p:spPr>
      </p:sp>
      <p:sp>
        <p:nvSpPr>
          <p:cNvPr id="22" name="Text 20"/>
          <p:cNvSpPr txBox="1"/>
          <p:nvPr/>
        </p:nvSpPr>
        <p:spPr>
          <a:xfrm>
            <a:off x="6908658" y="2291761"/>
            <a:ext cx="4754880" cy="1084387"/>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It is not asserted but derived: from the connection with one-stage TNRD, the residual estimate remains valid whenever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the derivative of the data-fidelity term vanishes at zero</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 condition holding for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many types of noise distributions, e.g. the generalized Gaussian distribution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authors state it is natural to assume it also holds for SISR and JPEG noise.</a:t>
            </a:r>
            <a:endParaRPr lang="en-US" sz="1138" dirty="0"/>
          </a:p>
        </p:txBody>
      </p:sp>
      <p:sp>
        <p:nvSpPr>
          <p:cNvPr id="23" name="Shape 21"/>
          <p:cNvSpPr/>
          <p:nvPr/>
        </p:nvSpPr>
        <p:spPr>
          <a:xfrm>
            <a:off x="6752295" y="3566617"/>
            <a:ext cx="62545" cy="39045"/>
          </a:xfrm>
          <a:prstGeom prst="rect">
            <a:avLst/>
          </a:prstGeom>
          <a:solidFill>
            <a:srgbClr val="1C6151"/>
          </a:solidFill>
          <a:ln/>
        </p:spPr>
      </p:sp>
      <p:sp>
        <p:nvSpPr>
          <p:cNvPr id="24" name="Text 22"/>
          <p:cNvSpPr txBox="1"/>
          <p:nvPr/>
        </p:nvSpPr>
        <p:spPr>
          <a:xfrm>
            <a:off x="6908658" y="3501238"/>
            <a:ext cx="4257172" cy="216896"/>
          </a:xfrm>
          <a:prstGeom prst="rect">
            <a:avLst/>
          </a:prstGeom>
          <a:noFill/>
          <a:ln/>
        </p:spPr>
        <p:txBody>
          <a:bodyPr wrap="non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Denoising, BSD68 σ=25:</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BM3D 28.57, TNRD 28.92 →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DnCNN-3 29.02</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25" name="Shape 23"/>
          <p:cNvSpPr/>
          <p:nvPr/>
        </p:nvSpPr>
        <p:spPr>
          <a:xfrm>
            <a:off x="6752295" y="3908603"/>
            <a:ext cx="62545" cy="39045"/>
          </a:xfrm>
          <a:prstGeom prst="rect">
            <a:avLst/>
          </a:prstGeom>
          <a:solidFill>
            <a:srgbClr val="1C6151"/>
          </a:solidFill>
          <a:ln/>
        </p:spPr>
      </p:sp>
      <p:sp>
        <p:nvSpPr>
          <p:cNvPr id="26" name="Text 24"/>
          <p:cNvSpPr txBox="1"/>
          <p:nvPr/>
        </p:nvSpPr>
        <p:spPr>
          <a:xfrm>
            <a:off x="6908658" y="3843132"/>
            <a:ext cx="4754880"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SR, Set5 ×3:</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TNRD 33.18, VDSR 33.67 →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DnCNN-3 33.75</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Set14 ×3: TNRD 29.43, VDSR 29.77 →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29.81</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27" name="Shape 25"/>
          <p:cNvSpPr/>
          <p:nvPr/>
        </p:nvSpPr>
        <p:spPr>
          <a:xfrm>
            <a:off x="6752295" y="4467393"/>
            <a:ext cx="62545" cy="39045"/>
          </a:xfrm>
          <a:prstGeom prst="rect">
            <a:avLst/>
          </a:prstGeom>
          <a:solidFill>
            <a:srgbClr val="1C6151"/>
          </a:solidFill>
          <a:ln/>
        </p:spPr>
      </p:sp>
      <p:sp>
        <p:nvSpPr>
          <p:cNvPr id="28" name="Text 26"/>
          <p:cNvSpPr txBox="1"/>
          <p:nvPr/>
        </p:nvSpPr>
        <p:spPr>
          <a:xfrm>
            <a:off x="6908658" y="4401922"/>
            <a:ext cx="4754880"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JPEG, Classic5 QF10:</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AR-CNN 29.03, TNRD 29.28 →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DnCNN-3 29.40</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LIVE1 QF20: AR-CNN 31.29, TNRD 31.46 →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31.59</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29" name="Shape 27"/>
          <p:cNvSpPr/>
          <p:nvPr/>
        </p:nvSpPr>
        <p:spPr>
          <a:xfrm>
            <a:off x="6752295" y="5026182"/>
            <a:ext cx="62545" cy="39045"/>
          </a:xfrm>
          <a:prstGeom prst="rect">
            <a:avLst/>
          </a:prstGeom>
          <a:solidFill>
            <a:srgbClr val="1C6151"/>
          </a:solidFill>
          <a:ln/>
        </p:spPr>
      </p:sp>
      <p:sp>
        <p:nvSpPr>
          <p:cNvPr id="30" name="Text 28"/>
          <p:cNvSpPr txBox="1"/>
          <p:nvPr/>
        </p:nvSpPr>
        <p:spPr>
          <a:xfrm>
            <a:off x="6908658" y="4960711"/>
            <a:ext cx="4754880"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Reproduce the hedge.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paper says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to the best of our knowledge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none of the existing methods had been reported for handling these three tasks with only a single model. Overstating priority is exactly what a defence punishes.</a:t>
            </a:r>
            <a:endParaRPr lang="en-US" sz="1138" dirty="0"/>
          </a:p>
        </p:txBody>
      </p:sp>
      <p:sp>
        <p:nvSpPr>
          <p:cNvPr id="31" name="Text 29"/>
          <p:cNvSpPr txBox="1"/>
          <p:nvPr/>
        </p:nvSpPr>
        <p:spPr>
          <a:xfrm>
            <a:off x="9720895" y="6237031"/>
            <a:ext cx="1908170"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DnCNN17 §III-D, Table V — values as printed</a:t>
            </a:r>
            <a:endParaRPr lang="en-US" sz="800" dirty="0"/>
          </a:p>
        </p:txBody>
      </p:sp>
      <p:sp>
        <p:nvSpPr>
          <p:cNvPr id="32" name="Shape 30"/>
          <p:cNvSpPr/>
          <p:nvPr/>
        </p:nvSpPr>
        <p:spPr>
          <a:xfrm>
            <a:off x="1531803" y="6537411"/>
            <a:ext cx="10097262" cy="7772"/>
          </a:xfrm>
          <a:prstGeom prst="rect">
            <a:avLst/>
          </a:prstGeom>
          <a:solidFill>
            <a:srgbClr val="C9C4B9"/>
          </a:solidFill>
          <a:ln/>
        </p:spPr>
      </p:sp>
      <p:sp>
        <p:nvSpPr>
          <p:cNvPr id="33" name="Shape 31"/>
          <p:cNvSpPr/>
          <p:nvPr/>
        </p:nvSpPr>
        <p:spPr>
          <a:xfrm>
            <a:off x="6580388" y="6525707"/>
            <a:ext cx="1121694" cy="31272"/>
          </a:xfrm>
          <a:prstGeom prst="rect">
            <a:avLst/>
          </a:prstGeom>
          <a:solidFill>
            <a:srgbClr val="1C6151"/>
          </a:solidFill>
          <a:ln/>
        </p:spPr>
      </p:sp>
      <p:sp>
        <p:nvSpPr>
          <p:cNvPr id="34" name="Shape 32"/>
          <p:cNvSpPr/>
          <p:nvPr/>
        </p:nvSpPr>
        <p:spPr>
          <a:xfrm>
            <a:off x="1531803" y="6498366"/>
            <a:ext cx="7772" cy="39045"/>
          </a:xfrm>
          <a:prstGeom prst="rect">
            <a:avLst/>
          </a:prstGeom>
          <a:solidFill>
            <a:srgbClr val="C9C4B9"/>
          </a:solidFill>
          <a:ln/>
        </p:spPr>
      </p:sp>
      <p:sp>
        <p:nvSpPr>
          <p:cNvPr id="35" name="Text 33"/>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6" name="Shape 34"/>
          <p:cNvSpPr/>
          <p:nvPr/>
        </p:nvSpPr>
        <p:spPr>
          <a:xfrm>
            <a:off x="5458511" y="6498366"/>
            <a:ext cx="7772" cy="39045"/>
          </a:xfrm>
          <a:prstGeom prst="rect">
            <a:avLst/>
          </a:prstGeom>
          <a:solidFill>
            <a:srgbClr val="C9C4B9"/>
          </a:solidFill>
          <a:ln/>
        </p:spPr>
      </p:sp>
      <p:sp>
        <p:nvSpPr>
          <p:cNvPr id="37" name="Text 35"/>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8" name="Shape 36"/>
          <p:cNvSpPr/>
          <p:nvPr/>
        </p:nvSpPr>
        <p:spPr>
          <a:xfrm>
            <a:off x="7141738" y="6498366"/>
            <a:ext cx="7772" cy="39045"/>
          </a:xfrm>
          <a:prstGeom prst="rect">
            <a:avLst/>
          </a:prstGeom>
          <a:solidFill>
            <a:srgbClr val="C9C4B9"/>
          </a:solidFill>
          <a:ln/>
        </p:spPr>
      </p:sp>
      <p:sp>
        <p:nvSpPr>
          <p:cNvPr id="39" name="Text 37"/>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40" name="Shape 38"/>
          <p:cNvSpPr/>
          <p:nvPr/>
        </p:nvSpPr>
        <p:spPr>
          <a:xfrm>
            <a:off x="9945654" y="6498366"/>
            <a:ext cx="7772" cy="39045"/>
          </a:xfrm>
          <a:prstGeom prst="rect">
            <a:avLst/>
          </a:prstGeom>
          <a:solidFill>
            <a:srgbClr val="C9C4B9"/>
          </a:solidFill>
          <a:ln/>
        </p:spPr>
      </p:sp>
      <p:sp>
        <p:nvSpPr>
          <p:cNvPr id="41" name="Text 39"/>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42" name="Shape 40"/>
          <p:cNvSpPr/>
          <p:nvPr/>
        </p:nvSpPr>
        <p:spPr>
          <a:xfrm>
            <a:off x="11628973" y="6498366"/>
            <a:ext cx="7772" cy="39045"/>
          </a:xfrm>
          <a:prstGeom prst="rect">
            <a:avLst/>
          </a:prstGeom>
          <a:solidFill>
            <a:srgbClr val="C9C4B9"/>
          </a:solidFill>
          <a:ln/>
        </p:spPr>
      </p:sp>
      <p:sp>
        <p:nvSpPr>
          <p:cNvPr id="43" name="Text 41"/>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6067"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41</a:t>
            </a:r>
            <a:endParaRPr lang="en-US" sz="2545" dirty="0"/>
          </a:p>
        </p:txBody>
      </p:sp>
      <p:sp>
        <p:nvSpPr>
          <p:cNvPr id="3" name="Text 1"/>
          <p:cNvSpPr txBox="1"/>
          <p:nvPr/>
        </p:nvSpPr>
        <p:spPr>
          <a:xfrm rot="16200000">
            <a:off x="-339608" y="3428909"/>
            <a:ext cx="609630"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1C6151"/>
                </a:solidFill>
                <a:latin typeface="Calibri" pitchFamily="34" charset="0"/>
                <a:ea typeface="Calibri" pitchFamily="34" charset="-122"/>
                <a:cs typeface="Calibri" pitchFamily="34" charset="-120"/>
              </a:rPr>
              <a:t>DEEP CNN</a:t>
            </a:r>
            <a:endParaRPr lang="en-US" sz="694" dirty="0"/>
          </a:p>
        </p:txBody>
      </p:sp>
      <p:sp>
        <p:nvSpPr>
          <p:cNvPr id="4" name="Shape 2"/>
          <p:cNvSpPr/>
          <p:nvPr/>
        </p:nvSpPr>
        <p:spPr>
          <a:xfrm>
            <a:off x="1439540" y="439735"/>
            <a:ext cx="190927" cy="22037"/>
          </a:xfrm>
          <a:prstGeom prst="rect">
            <a:avLst/>
          </a:prstGeom>
          <a:solidFill>
            <a:srgbClr val="1C6151"/>
          </a:solidFill>
          <a:ln/>
        </p:spPr>
      </p:sp>
      <p:sp>
        <p:nvSpPr>
          <p:cNvPr id="5" name="Text 3"/>
          <p:cNvSpPr txBox="1"/>
          <p:nvPr/>
        </p:nvSpPr>
        <p:spPr>
          <a:xfrm>
            <a:off x="1718615" y="390266"/>
            <a:ext cx="833384"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C6151"/>
                </a:solidFill>
                <a:latin typeface="Calibri" pitchFamily="34" charset="0"/>
                <a:ea typeface="Calibri" pitchFamily="34" charset="-122"/>
                <a:cs typeface="Calibri" pitchFamily="34" charset="-120"/>
              </a:rPr>
              <a:t>BOTTLENECK 2</a:t>
            </a:r>
            <a:endParaRPr lang="en-US" sz="781" dirty="0"/>
          </a:p>
        </p:txBody>
      </p:sp>
      <p:sp>
        <p:nvSpPr>
          <p:cNvPr id="6" name="Text 4"/>
          <p:cNvSpPr txBox="1"/>
          <p:nvPr/>
        </p:nvSpPr>
        <p:spPr>
          <a:xfrm>
            <a:off x="1439540" y="869686"/>
            <a:ext cx="6895125"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What DnCNN settled, and the bill it left behind</a:t>
            </a:r>
            <a:endParaRPr lang="en-US" sz="2660" dirty="0"/>
          </a:p>
        </p:txBody>
      </p:sp>
      <p:sp>
        <p:nvSpPr>
          <p:cNvPr id="7" name="Text 5"/>
          <p:cNvSpPr txBox="1"/>
          <p:nvPr/>
        </p:nvSpPr>
        <p:spPr>
          <a:xfrm>
            <a:off x="1439540" y="161702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DnCNN closed bottleneck 1 completely. It removed test-time optimisation, removed hand-tuned constants, removed the per-noise-level model, and made denoising real-time. In doing so it created a new dependency that the next era spent seven years attacking.</a:t>
            </a:r>
            <a:endParaRPr lang="en-US" sz="1157" dirty="0"/>
          </a:p>
        </p:txBody>
      </p:sp>
      <p:sp>
        <p:nvSpPr>
          <p:cNvPr id="8" name="Shape 6"/>
          <p:cNvSpPr/>
          <p:nvPr/>
        </p:nvSpPr>
        <p:spPr>
          <a:xfrm>
            <a:off x="1439540" y="2746218"/>
            <a:ext cx="4950104" cy="14722"/>
          </a:xfrm>
          <a:prstGeom prst="rect">
            <a:avLst/>
          </a:prstGeom>
          <a:solidFill>
            <a:srgbClr val="1C6151"/>
          </a:solidFill>
          <a:ln/>
        </p:spPr>
      </p:sp>
      <p:sp>
        <p:nvSpPr>
          <p:cNvPr id="9" name="Text 7"/>
          <p:cNvSpPr txBox="1"/>
          <p:nvPr/>
        </p:nvSpPr>
        <p:spPr>
          <a:xfrm>
            <a:off x="1439540" y="2878348"/>
            <a:ext cx="426476"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C6151"/>
                </a:solidFill>
                <a:latin typeface="Calibri" pitchFamily="34" charset="0"/>
                <a:ea typeface="Calibri" pitchFamily="34" charset="-122"/>
                <a:cs typeface="Calibri" pitchFamily="34" charset="-120"/>
              </a:rPr>
              <a:t>SETTLED</a:t>
            </a:r>
            <a:endParaRPr lang="en-US" sz="665" dirty="0"/>
          </a:p>
        </p:txBody>
      </p:sp>
      <p:sp>
        <p:nvSpPr>
          <p:cNvPr id="10" name="Text 8"/>
          <p:cNvSpPr txBox="1"/>
          <p:nvPr/>
        </p:nvSpPr>
        <p:spPr>
          <a:xfrm>
            <a:off x="1439540" y="3047512"/>
            <a:ext cx="1021933"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Test-time cost</a:t>
            </a:r>
            <a:endParaRPr lang="en-US" sz="1272" dirty="0"/>
          </a:p>
        </p:txBody>
      </p:sp>
      <p:sp>
        <p:nvSpPr>
          <p:cNvPr id="11" name="Text 9"/>
          <p:cNvSpPr txBox="1"/>
          <p:nvPr/>
        </p:nvSpPr>
        <p:spPr>
          <a:xfrm>
            <a:off x="1439540" y="3336828"/>
            <a:ext cx="4984577" cy="379385"/>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One forward pass. 0.060 s for a 512×512 image. WNNM's 773 s is gone and never comes back — every method after 2017 is a feed-forward network.</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endParaRPr lang="en-US" sz="954" dirty="0"/>
          </a:p>
        </p:txBody>
      </p:sp>
      <p:sp>
        <p:nvSpPr>
          <p:cNvPr id="12" name="Shape 10"/>
          <p:cNvSpPr/>
          <p:nvPr/>
        </p:nvSpPr>
        <p:spPr>
          <a:xfrm>
            <a:off x="6712793" y="2746218"/>
            <a:ext cx="4950104" cy="14722"/>
          </a:xfrm>
          <a:prstGeom prst="rect">
            <a:avLst/>
          </a:prstGeom>
          <a:solidFill>
            <a:srgbClr val="1C6151"/>
          </a:solidFill>
          <a:ln/>
        </p:spPr>
      </p:sp>
      <p:sp>
        <p:nvSpPr>
          <p:cNvPr id="13" name="Text 11"/>
          <p:cNvSpPr txBox="1"/>
          <p:nvPr/>
        </p:nvSpPr>
        <p:spPr>
          <a:xfrm>
            <a:off x="6712793" y="2878348"/>
            <a:ext cx="426476"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C6151"/>
                </a:solidFill>
                <a:latin typeface="Calibri" pitchFamily="34" charset="0"/>
                <a:ea typeface="Calibri" pitchFamily="34" charset="-122"/>
                <a:cs typeface="Calibri" pitchFamily="34" charset="-120"/>
              </a:rPr>
              <a:t>SETTLED</a:t>
            </a:r>
            <a:endParaRPr lang="en-US" sz="665" dirty="0"/>
          </a:p>
        </p:txBody>
      </p:sp>
      <p:sp>
        <p:nvSpPr>
          <p:cNvPr id="14" name="Text 12"/>
          <p:cNvSpPr txBox="1"/>
          <p:nvPr/>
        </p:nvSpPr>
        <p:spPr>
          <a:xfrm>
            <a:off x="6712793" y="3047512"/>
            <a:ext cx="1139068"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Blind operation</a:t>
            </a:r>
            <a:endParaRPr lang="en-US" sz="1272" dirty="0"/>
          </a:p>
        </p:txBody>
      </p:sp>
      <p:sp>
        <p:nvSpPr>
          <p:cNvPr id="15" name="Text 13"/>
          <p:cNvSpPr txBox="1"/>
          <p:nvPr/>
        </p:nvSpPr>
        <p:spPr>
          <a:xfrm>
            <a:off x="6712793" y="3336828"/>
            <a:ext cx="4984577" cy="36841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DnCNN-B</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needs no σ estimate. The workaround of estimating noise first and loading a matching model — which made the result hostage to the estimate — is obsolete.</a:t>
            </a:r>
            <a:endParaRPr lang="en-US" sz="954" dirty="0"/>
          </a:p>
        </p:txBody>
      </p:sp>
      <p:sp>
        <p:nvSpPr>
          <p:cNvPr id="16" name="Shape 14"/>
          <p:cNvSpPr/>
          <p:nvPr/>
        </p:nvSpPr>
        <p:spPr>
          <a:xfrm>
            <a:off x="1439540" y="3965296"/>
            <a:ext cx="4950104" cy="14722"/>
          </a:xfrm>
          <a:prstGeom prst="rect">
            <a:avLst/>
          </a:prstGeom>
          <a:solidFill>
            <a:srgbClr val="1C6151"/>
          </a:solidFill>
          <a:ln/>
        </p:spPr>
      </p:sp>
      <p:sp>
        <p:nvSpPr>
          <p:cNvPr id="17" name="Text 15"/>
          <p:cNvSpPr txBox="1"/>
          <p:nvPr/>
        </p:nvSpPr>
        <p:spPr>
          <a:xfrm>
            <a:off x="1439540" y="4097335"/>
            <a:ext cx="440649"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C6151"/>
                </a:solidFill>
                <a:latin typeface="Calibri" pitchFamily="34" charset="0"/>
                <a:ea typeface="Calibri" pitchFamily="34" charset="-122"/>
                <a:cs typeface="Calibri" pitchFamily="34" charset="-120"/>
              </a:rPr>
              <a:t>THE BILL</a:t>
            </a:r>
            <a:endParaRPr lang="en-US" sz="665" dirty="0"/>
          </a:p>
        </p:txBody>
      </p:sp>
      <p:sp>
        <p:nvSpPr>
          <p:cNvPr id="18" name="Text 16"/>
          <p:cNvSpPr txBox="1"/>
          <p:nvPr/>
        </p:nvSpPr>
        <p:spPr>
          <a:xfrm>
            <a:off x="1439540" y="4266590"/>
            <a:ext cx="1257300"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Paired clean data</a:t>
            </a:r>
            <a:endParaRPr lang="en-US" sz="1272" dirty="0"/>
          </a:p>
        </p:txBody>
      </p:sp>
      <p:sp>
        <p:nvSpPr>
          <p:cNvPr id="19" name="Text 17"/>
          <p:cNvSpPr txBox="1"/>
          <p:nvPr/>
        </p:nvSpPr>
        <p:spPr>
          <a:xfrm>
            <a:off x="1439540" y="4555907"/>
            <a:ext cx="4984577" cy="563545"/>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The loss is ‖ℛ(y) − (y − x)‖². It requires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x</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DnCNN's</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400 clean images plus synthetic noise are cheap for natural photographs and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impossible</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for fluorescence microscopy, cryo-electron microscopy, MRI, or astronomy, where a clean ground truth does not exist and cannot be acquired.</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[2]</a:t>
            </a:r>
            <a:endParaRPr lang="en-US" sz="954" dirty="0"/>
          </a:p>
        </p:txBody>
      </p:sp>
      <p:sp>
        <p:nvSpPr>
          <p:cNvPr id="20" name="Shape 18"/>
          <p:cNvSpPr/>
          <p:nvPr/>
        </p:nvSpPr>
        <p:spPr>
          <a:xfrm>
            <a:off x="6712793" y="3965296"/>
            <a:ext cx="4950104" cy="14722"/>
          </a:xfrm>
          <a:prstGeom prst="rect">
            <a:avLst/>
          </a:prstGeom>
          <a:solidFill>
            <a:srgbClr val="1C6151"/>
          </a:solidFill>
          <a:ln/>
        </p:spPr>
      </p:sp>
      <p:sp>
        <p:nvSpPr>
          <p:cNvPr id="21" name="Text 19"/>
          <p:cNvSpPr txBox="1"/>
          <p:nvPr/>
        </p:nvSpPr>
        <p:spPr>
          <a:xfrm>
            <a:off x="6712793" y="4097335"/>
            <a:ext cx="440649"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C6151"/>
                </a:solidFill>
                <a:latin typeface="Calibri" pitchFamily="34" charset="0"/>
                <a:ea typeface="Calibri" pitchFamily="34" charset="-122"/>
                <a:cs typeface="Calibri" pitchFamily="34" charset="-120"/>
              </a:rPr>
              <a:t>THE BILL</a:t>
            </a:r>
            <a:endParaRPr lang="en-US" sz="665" dirty="0"/>
          </a:p>
        </p:txBody>
      </p:sp>
      <p:sp>
        <p:nvSpPr>
          <p:cNvPr id="22" name="Text 20"/>
          <p:cNvSpPr txBox="1"/>
          <p:nvPr/>
        </p:nvSpPr>
        <p:spPr>
          <a:xfrm>
            <a:off x="6712793" y="4266590"/>
            <a:ext cx="1727027"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The local receptive field</a:t>
            </a:r>
            <a:endParaRPr lang="en-US" sz="1272" dirty="0"/>
          </a:p>
        </p:txBody>
      </p:sp>
      <p:sp>
        <p:nvSpPr>
          <p:cNvPr id="23" name="Text 21"/>
          <p:cNvSpPr txBox="1"/>
          <p:nvPr/>
        </p:nvSpPr>
        <p:spPr>
          <a:xfrm>
            <a:off x="6712793" y="4555907"/>
            <a:ext cx="4984577" cy="36841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35×35 pixels. Barbara's scarf, −0.71 dB against BM3D.</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non-local self-similarity prior that BM3D and WNNM exploited for free is simply unavailable to a stack of 3×3 convolutions.</a:t>
            </a:r>
            <a:endParaRPr lang="en-US" sz="954" dirty="0"/>
          </a:p>
        </p:txBody>
      </p:sp>
      <p:sp>
        <p:nvSpPr>
          <p:cNvPr id="24" name="Shape 22"/>
          <p:cNvSpPr/>
          <p:nvPr/>
        </p:nvSpPr>
        <p:spPr>
          <a:xfrm>
            <a:off x="1439540" y="5574274"/>
            <a:ext cx="10223358" cy="14722"/>
          </a:xfrm>
          <a:prstGeom prst="rect">
            <a:avLst/>
          </a:prstGeom>
          <a:solidFill>
            <a:srgbClr val="1C6151"/>
          </a:solidFill>
          <a:ln/>
        </p:spPr>
      </p:sp>
      <p:sp>
        <p:nvSpPr>
          <p:cNvPr id="25" name="Text 23"/>
          <p:cNvSpPr txBox="1"/>
          <p:nvPr/>
        </p:nvSpPr>
        <p:spPr>
          <a:xfrm>
            <a:off x="1439540" y="5704667"/>
            <a:ext cx="10278953" cy="374538"/>
          </a:xfrm>
          <a:prstGeom prst="rect">
            <a:avLst/>
          </a:prstGeom>
          <a:noFill/>
          <a:ln/>
        </p:spPr>
        <p:txBody>
          <a:bodyPr wrap="squar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The 2018 fork.</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These two debts were attacked independently and almost simultaneously, by different communities, with different methods — and they never merged. Parts IV and V follow one branch each.</a:t>
            </a:r>
            <a:endParaRPr lang="en-US" sz="983" dirty="0"/>
          </a:p>
        </p:txBody>
      </p:sp>
      <p:sp>
        <p:nvSpPr>
          <p:cNvPr id="26" name="Text 24"/>
          <p:cNvSpPr txBox="1"/>
          <p:nvPr/>
        </p:nvSpPr>
        <p:spPr>
          <a:xfrm>
            <a:off x="6847027" y="6285494"/>
            <a:ext cx="4815870"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reading, grounded in DnCNN17 §III-A Eq. (1), Table I and Table III 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N2V19 §1 on the unavailability of ground truth</a:t>
            </a:r>
            <a:endParaRPr lang="en-US" sz="556" dirty="0"/>
          </a:p>
        </p:txBody>
      </p:sp>
      <p:sp>
        <p:nvSpPr>
          <p:cNvPr id="27" name="Shape 25"/>
          <p:cNvSpPr/>
          <p:nvPr/>
        </p:nvSpPr>
        <p:spPr>
          <a:xfrm>
            <a:off x="1439540" y="6556705"/>
            <a:ext cx="10223358" cy="7315"/>
          </a:xfrm>
          <a:prstGeom prst="rect">
            <a:avLst/>
          </a:prstGeom>
          <a:solidFill>
            <a:srgbClr val="C9C4B9"/>
          </a:solidFill>
          <a:ln/>
        </p:spPr>
      </p:sp>
      <p:sp>
        <p:nvSpPr>
          <p:cNvPr id="28" name="Shape 26"/>
          <p:cNvSpPr/>
          <p:nvPr/>
        </p:nvSpPr>
        <p:spPr>
          <a:xfrm>
            <a:off x="6551219" y="6545732"/>
            <a:ext cx="1135776" cy="29352"/>
          </a:xfrm>
          <a:prstGeom prst="rect">
            <a:avLst/>
          </a:prstGeom>
          <a:solidFill>
            <a:srgbClr val="1C6151"/>
          </a:solidFill>
          <a:ln/>
        </p:spPr>
      </p:sp>
      <p:sp>
        <p:nvSpPr>
          <p:cNvPr id="29" name="Shape 27"/>
          <p:cNvSpPr/>
          <p:nvPr/>
        </p:nvSpPr>
        <p:spPr>
          <a:xfrm>
            <a:off x="1439540" y="6519946"/>
            <a:ext cx="7315" cy="36759"/>
          </a:xfrm>
          <a:prstGeom prst="rect">
            <a:avLst/>
          </a:prstGeom>
          <a:solidFill>
            <a:srgbClr val="C9C4B9"/>
          </a:solidFill>
          <a:ln/>
        </p:spPr>
      </p:sp>
      <p:sp>
        <p:nvSpPr>
          <p:cNvPr id="30" name="Text 28"/>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1" name="Shape 29"/>
          <p:cNvSpPr/>
          <p:nvPr/>
        </p:nvSpPr>
        <p:spPr>
          <a:xfrm>
            <a:off x="5415351" y="6519946"/>
            <a:ext cx="7315" cy="36759"/>
          </a:xfrm>
          <a:prstGeom prst="rect">
            <a:avLst/>
          </a:prstGeom>
          <a:solidFill>
            <a:srgbClr val="C9C4B9"/>
          </a:solidFill>
          <a:ln/>
        </p:spPr>
      </p:sp>
      <p:sp>
        <p:nvSpPr>
          <p:cNvPr id="32" name="Text 30"/>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3" name="Shape 31"/>
          <p:cNvSpPr/>
          <p:nvPr/>
        </p:nvSpPr>
        <p:spPr>
          <a:xfrm>
            <a:off x="7119610" y="6519946"/>
            <a:ext cx="7315" cy="36759"/>
          </a:xfrm>
          <a:prstGeom prst="rect">
            <a:avLst/>
          </a:prstGeom>
          <a:solidFill>
            <a:srgbClr val="C9C4B9"/>
          </a:solidFill>
          <a:ln/>
        </p:spPr>
      </p:sp>
      <p:sp>
        <p:nvSpPr>
          <p:cNvPr id="34" name="Text 32"/>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5" name="Shape 33"/>
          <p:cNvSpPr/>
          <p:nvPr/>
        </p:nvSpPr>
        <p:spPr>
          <a:xfrm>
            <a:off x="9958639" y="6519946"/>
            <a:ext cx="7315" cy="36759"/>
          </a:xfrm>
          <a:prstGeom prst="rect">
            <a:avLst/>
          </a:prstGeom>
          <a:solidFill>
            <a:srgbClr val="C9C4B9"/>
          </a:solidFill>
          <a:ln/>
        </p:spPr>
      </p:sp>
      <p:sp>
        <p:nvSpPr>
          <p:cNvPr id="36" name="Text 34"/>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7" name="Shape 35"/>
          <p:cNvSpPr/>
          <p:nvPr/>
        </p:nvSpPr>
        <p:spPr>
          <a:xfrm>
            <a:off x="11662898" y="6519946"/>
            <a:ext cx="7315" cy="36759"/>
          </a:xfrm>
          <a:prstGeom prst="rect">
            <a:avLst/>
          </a:prstGeom>
          <a:solidFill>
            <a:srgbClr val="C9C4B9"/>
          </a:solidFill>
          <a:ln/>
        </p:spPr>
      </p:sp>
      <p:sp>
        <p:nvSpPr>
          <p:cNvPr id="38" name="Text 36"/>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1024860"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7E3247"/>
                </a:solidFill>
                <a:latin typeface="Cambria" pitchFamily="34" charset="0"/>
                <a:ea typeface="Cambria" pitchFamily="34" charset="-122"/>
                <a:cs typeface="Cambria" pitchFamily="34" charset="-120"/>
              </a:rPr>
              <a:t>IV</a:t>
            </a:r>
            <a:endParaRPr lang="en-US" sz="8416" dirty="0"/>
          </a:p>
        </p:txBody>
      </p:sp>
      <p:sp>
        <p:nvSpPr>
          <p:cNvPr id="4" name="Shape 2"/>
          <p:cNvSpPr/>
          <p:nvPr/>
        </p:nvSpPr>
        <p:spPr>
          <a:xfrm>
            <a:off x="434249" y="1663294"/>
            <a:ext cx="1002091" cy="33376"/>
          </a:xfrm>
          <a:prstGeom prst="rect">
            <a:avLst/>
          </a:prstGeom>
          <a:solidFill>
            <a:srgbClr val="7E3247"/>
          </a:solidFill>
          <a:ln/>
        </p:spPr>
      </p:sp>
      <p:sp>
        <p:nvSpPr>
          <p:cNvPr id="5" name="Text 3"/>
          <p:cNvSpPr txBox="1"/>
          <p:nvPr/>
        </p:nvSpPr>
        <p:spPr>
          <a:xfrm>
            <a:off x="434249" y="1910273"/>
            <a:ext cx="2483236" cy="798911"/>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The Data Branch</a:t>
            </a:r>
            <a:endParaRPr lang="en-US" sz="3025" dirty="0"/>
          </a:p>
        </p:txBody>
      </p:sp>
      <p:sp>
        <p:nvSpPr>
          <p:cNvPr id="6" name="Shape 4"/>
          <p:cNvSpPr/>
          <p:nvPr/>
        </p:nvSpPr>
        <p:spPr>
          <a:xfrm>
            <a:off x="434249" y="3088386"/>
            <a:ext cx="217079" cy="25055"/>
          </a:xfrm>
          <a:prstGeom prst="rect">
            <a:avLst/>
          </a:prstGeom>
          <a:solidFill>
            <a:srgbClr val="8E877B"/>
          </a:solidFill>
          <a:ln/>
        </p:spPr>
      </p:sp>
      <p:sp>
        <p:nvSpPr>
          <p:cNvPr id="7" name="Text 5"/>
          <p:cNvSpPr txBox="1"/>
          <p:nvPr/>
        </p:nvSpPr>
        <p:spPr>
          <a:xfrm>
            <a:off x="751545" y="3032150"/>
            <a:ext cx="2416485"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PART IV · 2018 – 2025 · BRANCH ONE</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7E3247"/>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273396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Noise2Noise — clean targets are unnecessary</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7E3247"/>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2987619"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Noise2Void — a second noisy copy is unnecessary</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7E3247"/>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233519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ZS-N2N — a training set is unnecessary</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7E3247"/>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2710739"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P2N — discarding information is unnecessary</a:t>
            </a:r>
            <a:endParaRPr lang="en-US" sz="1118" dirty="0"/>
          </a:p>
        </p:txBody>
      </p:sp>
      <p:sp>
        <p:nvSpPr>
          <p:cNvPr id="23" name="Shape 21"/>
          <p:cNvSpPr/>
          <p:nvPr/>
        </p:nvSpPr>
        <p:spPr>
          <a:xfrm>
            <a:off x="5526999" y="3479018"/>
            <a:ext cx="6146963" cy="8321"/>
          </a:xfrm>
          <a:prstGeom prst="rect">
            <a:avLst/>
          </a:prstGeom>
          <a:solidFill>
            <a:srgbClr val="DFDBD2"/>
          </a:solidFill>
          <a:ln/>
        </p:spPr>
      </p:sp>
      <p:sp>
        <p:nvSpPr>
          <p:cNvPr id="24" name="Text 22"/>
          <p:cNvSpPr txBox="1"/>
          <p:nvPr/>
        </p:nvSpPr>
        <p:spPr>
          <a:xfrm>
            <a:off x="5526999" y="3173700"/>
            <a:ext cx="173279" cy="165964"/>
          </a:xfrm>
          <a:prstGeom prst="rect">
            <a:avLst/>
          </a:prstGeom>
          <a:noFill/>
          <a:ln/>
        </p:spPr>
        <p:txBody>
          <a:bodyPr wrap="none" lIns="0" tIns="0" rIns="0" bIns="0" rtlCol="0" anchor="t"/>
          <a:lstStyle/>
          <a:p>
            <a:pPr algn="l" indent="0" marL="0">
              <a:lnSpc>
                <a:spcPts val="1307"/>
              </a:lnSpc>
              <a:buNone/>
            </a:pPr>
            <a:r>
              <a:rPr kern="0" lang="en-US" sz="921" b="1" dirty="0">
                <a:solidFill>
                  <a:srgbClr val="7E3247"/>
                </a:solidFill>
                <a:latin typeface="Cambria" pitchFamily="34" charset="0"/>
                <a:ea typeface="Cambria" pitchFamily="34" charset="-122"/>
                <a:cs typeface="Cambria" pitchFamily="34" charset="-120"/>
              </a:rPr>
              <a:t>05</a:t>
            </a:r>
            <a:endParaRPr lang="en-US" sz="921" dirty="0"/>
          </a:p>
        </p:txBody>
      </p:sp>
      <p:sp>
        <p:nvSpPr>
          <p:cNvPr id="25" name="Text 23"/>
          <p:cNvSpPr txBox="1"/>
          <p:nvPr/>
        </p:nvSpPr>
        <p:spPr>
          <a:xfrm>
            <a:off x="5894405" y="3155869"/>
            <a:ext cx="3524006"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through-line: the network never moved, the target did</a:t>
            </a:r>
            <a:endParaRPr lang="en-US" sz="1118" dirty="0"/>
          </a:p>
        </p:txBody>
      </p:sp>
      <p:sp>
        <p:nvSpPr>
          <p:cNvPr id="26" name="Text 24"/>
          <p:cNvSpPr txBox="1"/>
          <p:nvPr/>
        </p:nvSpPr>
        <p:spPr>
          <a:xfrm>
            <a:off x="5526999" y="3733404"/>
            <a:ext cx="4363608" cy="628284"/>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Seven years spent removing the clean image from the training signal, one requirement at a time — while the network stayed almost exactly where DnCNN left it.</a:t>
            </a:r>
            <a:endParaRPr lang="en-US" sz="1085" dirty="0"/>
          </a:p>
        </p:txBody>
      </p:sp>
      <p:sp>
        <p:nvSpPr>
          <p:cNvPr id="27" name="Text 25"/>
          <p:cNvSpPr txBox="1"/>
          <p:nvPr/>
        </p:nvSpPr>
        <p:spPr>
          <a:xfrm>
            <a:off x="10272278" y="6461790"/>
            <a:ext cx="1318108"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§4 (training paradigms)</a:t>
            </a:r>
            <a:endParaRPr lang="en-US" sz="85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51130"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43</a:t>
            </a:r>
            <a:endParaRPr lang="en-US" sz="2400" dirty="0"/>
          </a:p>
        </p:txBody>
      </p:sp>
      <p:sp>
        <p:nvSpPr>
          <p:cNvPr id="3" name="Text 1"/>
          <p:cNvSpPr txBox="1"/>
          <p:nvPr/>
        </p:nvSpPr>
        <p:spPr>
          <a:xfrm rot="16200000">
            <a:off x="-317480" y="3428909"/>
            <a:ext cx="789676" cy="97018"/>
          </a:xfrm>
          <a:prstGeom prst="rect">
            <a:avLst/>
          </a:prstGeom>
          <a:noFill/>
          <a:ln/>
        </p:spPr>
        <p:txBody>
          <a:bodyPr wrap="none" lIns="0" tIns="0" rIns="0" bIns="0" rtlCol="0" anchor="ctr"/>
          <a:lstStyle/>
          <a:p>
            <a:pPr algn="ctr" indent="0" marL="0">
              <a:lnSpc>
                <a:spcPts val="799"/>
              </a:lnSpc>
              <a:buNone/>
            </a:pPr>
            <a:r>
              <a:rPr lang="en-US" sz="655" b="1" spc="164" kern="0" dirty="0">
                <a:solidFill>
                  <a:srgbClr val="7E3247"/>
                </a:solidFill>
                <a:latin typeface="Calibri" pitchFamily="34" charset="0"/>
                <a:ea typeface="Calibri" pitchFamily="34" charset="-122"/>
                <a:cs typeface="Calibri" pitchFamily="34" charset="-120"/>
              </a:rPr>
              <a:t>DATA BRANCH</a:t>
            </a:r>
            <a:endParaRPr lang="en-US" sz="655" dirty="0"/>
          </a:p>
        </p:txBody>
      </p:sp>
      <p:sp>
        <p:nvSpPr>
          <p:cNvPr id="4" name="Shape 2"/>
          <p:cNvSpPr/>
          <p:nvPr/>
        </p:nvSpPr>
        <p:spPr>
          <a:xfrm>
            <a:off x="1357701" y="408737"/>
            <a:ext cx="180137" cy="20757"/>
          </a:xfrm>
          <a:prstGeom prst="rect">
            <a:avLst/>
          </a:prstGeom>
          <a:solidFill>
            <a:srgbClr val="7E3247"/>
          </a:solidFill>
          <a:ln/>
        </p:spPr>
      </p:sp>
      <p:sp>
        <p:nvSpPr>
          <p:cNvPr id="5" name="Text 3"/>
          <p:cNvSpPr txBox="1"/>
          <p:nvPr/>
        </p:nvSpPr>
        <p:spPr>
          <a:xfrm>
            <a:off x="1620957" y="362011"/>
            <a:ext cx="728228"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7E3247"/>
                </a:solidFill>
                <a:latin typeface="Calibri" pitchFamily="34" charset="0"/>
                <a:ea typeface="Calibri" pitchFamily="34" charset="-122"/>
                <a:cs typeface="Calibri" pitchFamily="34" charset="-120"/>
              </a:rPr>
              <a:t>NOISE2NOISE</a:t>
            </a:r>
            <a:endParaRPr lang="en-US" sz="736" dirty="0"/>
          </a:p>
        </p:txBody>
      </p:sp>
      <p:sp>
        <p:nvSpPr>
          <p:cNvPr id="6" name="Text 4"/>
          <p:cNvSpPr txBox="1"/>
          <p:nvPr/>
        </p:nvSpPr>
        <p:spPr>
          <a:xfrm>
            <a:off x="1357701" y="572597"/>
            <a:ext cx="7728966"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The statistical argument that removed the clean image</a:t>
            </a:r>
            <a:endParaRPr lang="en-US" sz="2509" dirty="0"/>
          </a:p>
        </p:txBody>
      </p:sp>
      <p:sp>
        <p:nvSpPr>
          <p:cNvPr id="7" name="Text 5"/>
          <p:cNvSpPr txBox="1"/>
          <p:nvPr/>
        </p:nvSpPr>
        <p:spPr>
          <a:xfrm>
            <a:off x="1357701" y="1029889"/>
            <a:ext cx="5371734" cy="623438"/>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Lehtinen, Munkberg, Hasselgren, Laine, Karras, Aittala and Aila, ICML 2018 (NVIDIA). The paper applies </a:t>
            </a:r>
            <a:pPr algn="l" indent="0" marL="0">
              <a:lnSpc>
                <a:spcPts val="1636"/>
              </a:lnSpc>
              <a:buNone/>
            </a:pPr>
            <a:r>
              <a:rPr kern="0" lang="en-US" sz="1091" i="1" dirty="0">
                <a:solidFill>
                  <a:srgbClr val="5A554D"/>
                </a:solidFill>
                <a:latin typeface="Calibri" pitchFamily="34" charset="0"/>
                <a:ea typeface="Calibri" pitchFamily="34" charset="-122"/>
                <a:cs typeface="Calibri" pitchFamily="34" charset="-120"/>
              </a:rPr>
              <a:t>basic statistical reasoning</a:t>
            </a:r>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 and reaches a conclusion that sounds impossible: you can learn to restore images by looking only at corrupted examples.</a:t>
            </a:r>
            <a:endParaRPr lang="en-US" sz="1091" dirty="0"/>
          </a:p>
        </p:txBody>
      </p:sp>
      <p:sp>
        <p:nvSpPr>
          <p:cNvPr id="8" name="Shape 6"/>
          <p:cNvSpPr/>
          <p:nvPr/>
        </p:nvSpPr>
        <p:spPr>
          <a:xfrm>
            <a:off x="1357701" y="1847271"/>
            <a:ext cx="10335189" cy="960943"/>
          </a:xfrm>
          <a:prstGeom prst="rect">
            <a:avLst/>
          </a:prstGeom>
          <a:solidFill>
            <a:srgbClr val="F1EBEA"/>
          </a:solidFill>
          <a:ln/>
        </p:spPr>
      </p:sp>
      <p:sp>
        <p:nvSpPr>
          <p:cNvPr id="9" name="Shape 7"/>
          <p:cNvSpPr/>
          <p:nvPr/>
        </p:nvSpPr>
        <p:spPr>
          <a:xfrm>
            <a:off x="1357701" y="1847271"/>
            <a:ext cx="27706" cy="960943"/>
          </a:xfrm>
          <a:prstGeom prst="rect">
            <a:avLst/>
          </a:prstGeom>
          <a:solidFill>
            <a:srgbClr val="7E3247"/>
          </a:solidFill>
          <a:ln/>
        </p:spPr>
      </p:sp>
      <p:pic>
        <p:nvPicPr>
          <p:cNvPr id="10" name="Image 0" descr="\arg\min_{z}\ \mathbb{E}_{y}\big\{L(z,y)\big\} \quad\text{with}\quad L(z,y) = (z-y)^{2}\quad\Longrightarrow\quad z = \mathbb{E}_{y}\{y\}">    </p:cNvPr>
          <p:cNvPicPr>
            <a:picLocks noChangeAspect="1"/>
          </p:cNvPicPr>
          <p:nvPr/>
        </p:nvPicPr>
        <p:blipFill>
          <a:blip r:embed="rId1"/>
          <a:stretch>
            <a:fillRect/>
          </a:stretch>
        </p:blipFill>
        <p:spPr>
          <a:xfrm>
            <a:off x="1551645" y="1965046"/>
            <a:ext cx="8325429" cy="502463"/>
          </a:xfrm>
          <a:prstGeom prst="rect">
            <a:avLst/>
          </a:prstGeom>
        </p:spPr>
      </p:pic>
      <p:sp>
        <p:nvSpPr>
          <p:cNvPr id="11" name="Text 8"/>
          <p:cNvSpPr txBox="1"/>
          <p:nvPr/>
        </p:nvSpPr>
        <p:spPr>
          <a:xfrm>
            <a:off x="1551645" y="2535997"/>
            <a:ext cx="4269791" cy="153802"/>
          </a:xfrm>
          <a:prstGeom prst="rect">
            <a:avLst/>
          </a:prstGeom>
          <a:noFill/>
          <a:ln/>
        </p:spPr>
        <p:txBody>
          <a:bodyPr wrap="none" lIns="0" tIns="0" rIns="0" bIns="0" rtlCol="0" anchor="t"/>
          <a:lstStyle/>
          <a:p>
            <a:pPr algn="l" indent="0" marL="0">
              <a:lnSpc>
                <a:spcPts val="1211"/>
              </a:lnSpc>
              <a:buNone/>
            </a:pPr>
            <a:r>
              <a:rPr kern="0" lang="en-US" sz="818" i="1" dirty="0">
                <a:solidFill>
                  <a:srgbClr val="5A554D"/>
                </a:solidFill>
                <a:latin typeface="Calibri" pitchFamily="34" charset="0"/>
                <a:ea typeface="Calibri" pitchFamily="34" charset="-122"/>
                <a:cs typeface="Calibri" pitchFamily="34" charset="-120"/>
              </a:rPr>
              <a:t>the L2 minimiser of a set of observations is their arithmetic mean. The L1 minimiser is the median.</a:t>
            </a:r>
            <a:endParaRPr lang="en-US" sz="818" dirty="0"/>
          </a:p>
        </p:txBody>
      </p:sp>
      <p:sp>
        <p:nvSpPr>
          <p:cNvPr id="12" name="Shape 9"/>
          <p:cNvSpPr/>
          <p:nvPr/>
        </p:nvSpPr>
        <p:spPr>
          <a:xfrm>
            <a:off x="1357701" y="2912090"/>
            <a:ext cx="10335189" cy="1176741"/>
          </a:xfrm>
          <a:prstGeom prst="rect">
            <a:avLst/>
          </a:prstGeom>
          <a:solidFill>
            <a:srgbClr val="F1EBEA"/>
          </a:solidFill>
          <a:ln/>
        </p:spPr>
      </p:sp>
      <p:sp>
        <p:nvSpPr>
          <p:cNvPr id="13" name="Shape 10"/>
          <p:cNvSpPr/>
          <p:nvPr/>
        </p:nvSpPr>
        <p:spPr>
          <a:xfrm>
            <a:off x="1357701" y="2912090"/>
            <a:ext cx="27706" cy="1176741"/>
          </a:xfrm>
          <a:prstGeom prst="rect">
            <a:avLst/>
          </a:prstGeom>
          <a:solidFill>
            <a:srgbClr val="7E3247"/>
          </a:solidFill>
          <a:ln/>
        </p:spPr>
      </p:sp>
      <p:pic>
        <p:nvPicPr>
          <p:cNvPr id="14" name="Image 1" descr="\arg\min_{\theta}\ \sum_{i} L\big(f_{\theta}(\hat{x}_{i}),\; \hat{y}_{i}\big)\qquad\text{subject to}\qquad \mathbb{E}\big\{\hat{y}_{i} \mid \hat{x}_{i}\big\} = y_{i}">    </p:cNvPr>
          <p:cNvPicPr>
            <a:picLocks noChangeAspect="1"/>
          </p:cNvPicPr>
          <p:nvPr/>
        </p:nvPicPr>
        <p:blipFill>
          <a:blip r:embed="rId2"/>
          <a:stretch>
            <a:fillRect/>
          </a:stretch>
        </p:blipFill>
        <p:spPr>
          <a:xfrm>
            <a:off x="1551645" y="3029864"/>
            <a:ext cx="7339340" cy="718261"/>
          </a:xfrm>
          <a:prstGeom prst="rect">
            <a:avLst/>
          </a:prstGeom>
        </p:spPr>
      </p:pic>
      <p:sp>
        <p:nvSpPr>
          <p:cNvPr id="15" name="Text 11"/>
          <p:cNvSpPr txBox="1"/>
          <p:nvPr/>
        </p:nvSpPr>
        <p:spPr>
          <a:xfrm>
            <a:off x="1551645" y="3816706"/>
            <a:ext cx="5436840" cy="153802"/>
          </a:xfrm>
          <a:prstGeom prst="rect">
            <a:avLst/>
          </a:prstGeom>
          <a:noFill/>
          <a:ln/>
        </p:spPr>
        <p:txBody>
          <a:bodyPr wrap="none" lIns="0" tIns="0" rIns="0" bIns="0" rtlCol="0" anchor="t"/>
          <a:lstStyle/>
          <a:p>
            <a:pPr algn="l" indent="0" marL="0">
              <a:lnSpc>
                <a:spcPts val="1211"/>
              </a:lnSpc>
              <a:buNone/>
            </a:pPr>
            <a:r>
              <a:rPr kern="0" lang="en-US" sz="818" i="1" dirty="0">
                <a:solidFill>
                  <a:srgbClr val="5A554D"/>
                </a:solidFill>
                <a:latin typeface="Calibri" pitchFamily="34" charset="0"/>
                <a:ea typeface="Calibri" pitchFamily="34" charset="-122"/>
                <a:cs typeface="Calibri" pitchFamily="34" charset="-120"/>
              </a:rPr>
              <a:t>Equation (6) — both inputs and targets are drawn from a corrupted distribution, conditioned on the unobserved clean target</a:t>
            </a:r>
            <a:endParaRPr lang="en-US" sz="818" dirty="0"/>
          </a:p>
        </p:txBody>
      </p:sp>
      <p:sp>
        <p:nvSpPr>
          <p:cNvPr id="16" name="Shape 12"/>
          <p:cNvSpPr/>
          <p:nvPr/>
        </p:nvSpPr>
        <p:spPr>
          <a:xfrm>
            <a:off x="1357701" y="4192707"/>
            <a:ext cx="10335189" cy="6949"/>
          </a:xfrm>
          <a:prstGeom prst="rect">
            <a:avLst/>
          </a:prstGeom>
          <a:solidFill>
            <a:srgbClr val="DFDBD2"/>
          </a:solidFill>
          <a:ln/>
        </p:spPr>
      </p:sp>
      <p:sp>
        <p:nvSpPr>
          <p:cNvPr id="17" name="Text 13"/>
          <p:cNvSpPr txBox="1"/>
          <p:nvPr/>
        </p:nvSpPr>
        <p:spPr>
          <a:xfrm>
            <a:off x="1357701" y="4317431"/>
            <a:ext cx="124084"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01</a:t>
            </a:r>
            <a:endParaRPr lang="en-US" sz="655" dirty="0"/>
          </a:p>
        </p:txBody>
      </p:sp>
      <p:sp>
        <p:nvSpPr>
          <p:cNvPr id="18" name="Text 14"/>
          <p:cNvSpPr txBox="1"/>
          <p:nvPr/>
        </p:nvSpPr>
        <p:spPr>
          <a:xfrm>
            <a:off x="1648663" y="4307921"/>
            <a:ext cx="10098359" cy="384414"/>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The argument.</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On expectation the estimate is unchanged if targets are replaced by random numbers with matching expectations — so targets may be corrupted by zero-mean noise </a:t>
            </a:r>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without changing what the network learns</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a:t>
            </a:r>
            <a:endParaRPr lang="en-US" sz="1009" dirty="0"/>
          </a:p>
        </p:txBody>
      </p:sp>
      <p:sp>
        <p:nvSpPr>
          <p:cNvPr id="19" name="Text 15"/>
          <p:cNvSpPr txBox="1"/>
          <p:nvPr/>
        </p:nvSpPr>
        <p:spPr>
          <a:xfrm>
            <a:off x="1357701" y="4812670"/>
            <a:ext cx="128016"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02</a:t>
            </a:r>
            <a:endParaRPr lang="en-US" sz="655" dirty="0"/>
          </a:p>
        </p:txBody>
      </p:sp>
      <p:sp>
        <p:nvSpPr>
          <p:cNvPr id="20" name="Text 16"/>
          <p:cNvSpPr txBox="1"/>
          <p:nvPr/>
        </p:nvSpPr>
        <p:spPr>
          <a:xfrm>
            <a:off x="1648663" y="4803160"/>
            <a:ext cx="8002737"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Given infinite data the solution equals clean-target training.</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For finite data the extra variance shrinks with the sample count rather than persisting.</a:t>
            </a:r>
            <a:endParaRPr lang="en-US" sz="1009" dirty="0"/>
          </a:p>
        </p:txBody>
      </p:sp>
      <p:sp>
        <p:nvSpPr>
          <p:cNvPr id="21" name="Text 17"/>
          <p:cNvSpPr txBox="1"/>
          <p:nvPr/>
        </p:nvSpPr>
        <p:spPr>
          <a:xfrm>
            <a:off x="1357701" y="5115794"/>
            <a:ext cx="128107"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03</a:t>
            </a:r>
            <a:endParaRPr lang="en-US" sz="655" dirty="0"/>
          </a:p>
        </p:txBody>
      </p:sp>
      <p:sp>
        <p:nvSpPr>
          <p:cNvPr id="22" name="Text 18"/>
          <p:cNvSpPr txBox="1"/>
          <p:nvPr/>
        </p:nvSpPr>
        <p:spPr>
          <a:xfrm>
            <a:off x="1648663" y="5106284"/>
            <a:ext cx="5387919"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Not required:</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no likelihood model of the corruption, no density model of the clean image manifold.</a:t>
            </a:r>
            <a:endParaRPr lang="en-US" sz="1009" dirty="0"/>
          </a:p>
        </p:txBody>
      </p:sp>
      <p:sp>
        <p:nvSpPr>
          <p:cNvPr id="23" name="Text 19"/>
          <p:cNvSpPr txBox="1"/>
          <p:nvPr/>
        </p:nvSpPr>
        <p:spPr>
          <a:xfrm>
            <a:off x="1357701" y="5418826"/>
            <a:ext cx="131948"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04</a:t>
            </a:r>
            <a:endParaRPr lang="en-US" sz="655" dirty="0"/>
          </a:p>
        </p:txBody>
      </p:sp>
      <p:sp>
        <p:nvSpPr>
          <p:cNvPr id="24" name="Text 20"/>
          <p:cNvSpPr txBox="1"/>
          <p:nvPr/>
        </p:nvSpPr>
        <p:spPr>
          <a:xfrm>
            <a:off x="1648663" y="5409316"/>
            <a:ext cx="9292864"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Why it is physically natural.</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A long, noise-free exposure is the average of short noisy ones — so two short exposures of one scene are exactly the pair the theorem asks for.</a:t>
            </a:r>
            <a:endParaRPr lang="en-US" sz="1009" dirty="0"/>
          </a:p>
        </p:txBody>
      </p:sp>
      <p:sp>
        <p:nvSpPr>
          <p:cNvPr id="25" name="Text 21"/>
          <p:cNvSpPr txBox="1"/>
          <p:nvPr/>
        </p:nvSpPr>
        <p:spPr>
          <a:xfrm>
            <a:off x="1357701" y="5721858"/>
            <a:ext cx="129113"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05</a:t>
            </a:r>
            <a:endParaRPr lang="en-US" sz="655" dirty="0"/>
          </a:p>
        </p:txBody>
      </p:sp>
      <p:sp>
        <p:nvSpPr>
          <p:cNvPr id="26" name="Text 22"/>
          <p:cNvSpPr txBox="1"/>
          <p:nvPr/>
        </p:nvSpPr>
        <p:spPr>
          <a:xfrm>
            <a:off x="1648663" y="5712348"/>
            <a:ext cx="5417180"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The loss chooses the estimator.</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L2 recovers the mean; L1 the median, tolerating up to 50% outliers.</a:t>
            </a:r>
            <a:endParaRPr lang="en-US" sz="1009" dirty="0"/>
          </a:p>
        </p:txBody>
      </p:sp>
      <p:sp>
        <p:nvSpPr>
          <p:cNvPr id="27" name="Text 23"/>
          <p:cNvSpPr txBox="1"/>
          <p:nvPr/>
        </p:nvSpPr>
        <p:spPr>
          <a:xfrm>
            <a:off x="10865907" y="6307623"/>
            <a:ext cx="827075" cy="109819"/>
          </a:xfrm>
          <a:prstGeom prst="rect">
            <a:avLst/>
          </a:prstGeom>
          <a:noFill/>
          <a:ln/>
        </p:spPr>
        <p:txBody>
          <a:bodyPr wrap="none" lIns="0" tIns="0" rIns="0" bIns="0" rtlCol="0" anchor="t"/>
          <a:lstStyle/>
          <a:p>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N2N18 §2, Eq. (2)–(6)</a:t>
            </a:r>
            <a:endParaRPr lang="en-US" sz="709" dirty="0"/>
          </a:p>
        </p:txBody>
      </p:sp>
      <p:sp>
        <p:nvSpPr>
          <p:cNvPr id="28" name="Shape 24"/>
          <p:cNvSpPr/>
          <p:nvPr/>
        </p:nvSpPr>
        <p:spPr>
          <a:xfrm>
            <a:off x="1357701" y="6573804"/>
            <a:ext cx="10335189" cy="6949"/>
          </a:xfrm>
          <a:prstGeom prst="rect">
            <a:avLst/>
          </a:prstGeom>
          <a:solidFill>
            <a:srgbClr val="C9C4B9"/>
          </a:solidFill>
          <a:ln/>
        </p:spPr>
      </p:sp>
      <p:sp>
        <p:nvSpPr>
          <p:cNvPr id="29" name="Shape 25"/>
          <p:cNvSpPr/>
          <p:nvPr/>
        </p:nvSpPr>
        <p:spPr>
          <a:xfrm>
            <a:off x="7673462" y="6563472"/>
            <a:ext cx="4019337" cy="27706"/>
          </a:xfrm>
          <a:prstGeom prst="rect">
            <a:avLst/>
          </a:prstGeom>
          <a:solidFill>
            <a:srgbClr val="7E3247"/>
          </a:solidFill>
          <a:ln/>
        </p:spPr>
      </p:sp>
      <p:sp>
        <p:nvSpPr>
          <p:cNvPr id="30" name="Shape 26"/>
          <p:cNvSpPr/>
          <p:nvPr/>
        </p:nvSpPr>
        <p:spPr>
          <a:xfrm>
            <a:off x="1357701" y="6539149"/>
            <a:ext cx="6949" cy="34656"/>
          </a:xfrm>
          <a:prstGeom prst="rect">
            <a:avLst/>
          </a:prstGeom>
          <a:solidFill>
            <a:srgbClr val="C9C4B9"/>
          </a:solidFill>
          <a:ln/>
        </p:spPr>
      </p:sp>
      <p:sp>
        <p:nvSpPr>
          <p:cNvPr id="31" name="Text 27"/>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32" name="Shape 28"/>
          <p:cNvSpPr/>
          <p:nvPr/>
        </p:nvSpPr>
        <p:spPr>
          <a:xfrm>
            <a:off x="5377038" y="6539149"/>
            <a:ext cx="6949" cy="34656"/>
          </a:xfrm>
          <a:prstGeom prst="rect">
            <a:avLst/>
          </a:prstGeom>
          <a:solidFill>
            <a:srgbClr val="C9C4B9"/>
          </a:solidFill>
          <a:ln/>
        </p:spPr>
      </p:sp>
      <p:sp>
        <p:nvSpPr>
          <p:cNvPr id="33" name="Text 29"/>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34" name="Shape 30"/>
          <p:cNvSpPr/>
          <p:nvPr/>
        </p:nvSpPr>
        <p:spPr>
          <a:xfrm>
            <a:off x="7099950" y="6539149"/>
            <a:ext cx="6949" cy="34656"/>
          </a:xfrm>
          <a:prstGeom prst="rect">
            <a:avLst/>
          </a:prstGeom>
          <a:solidFill>
            <a:srgbClr val="C9C4B9"/>
          </a:solidFill>
          <a:ln/>
        </p:spPr>
      </p:sp>
      <p:sp>
        <p:nvSpPr>
          <p:cNvPr id="35" name="Text 31"/>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36" name="Shape 32"/>
          <p:cNvSpPr/>
          <p:nvPr/>
        </p:nvSpPr>
        <p:spPr>
          <a:xfrm>
            <a:off x="9970069" y="6539149"/>
            <a:ext cx="6949" cy="34656"/>
          </a:xfrm>
          <a:prstGeom prst="rect">
            <a:avLst/>
          </a:prstGeom>
          <a:solidFill>
            <a:srgbClr val="C9C4B9"/>
          </a:solidFill>
          <a:ln/>
        </p:spPr>
      </p:sp>
      <p:sp>
        <p:nvSpPr>
          <p:cNvPr id="37" name="Text 33"/>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38" name="Shape 34"/>
          <p:cNvSpPr/>
          <p:nvPr/>
        </p:nvSpPr>
        <p:spPr>
          <a:xfrm>
            <a:off x="11692981" y="6539149"/>
            <a:ext cx="6949" cy="34656"/>
          </a:xfrm>
          <a:prstGeom prst="rect">
            <a:avLst/>
          </a:prstGeom>
          <a:solidFill>
            <a:srgbClr val="C9C4B9"/>
          </a:solidFill>
          <a:ln/>
        </p:spPr>
      </p:sp>
      <p:sp>
        <p:nvSpPr>
          <p:cNvPr id="39" name="Text 35"/>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86883"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44</a:t>
            </a:r>
            <a:endParaRPr lang="en-US" sz="2545" dirty="0"/>
          </a:p>
        </p:txBody>
      </p:sp>
      <p:sp>
        <p:nvSpPr>
          <p:cNvPr id="3" name="Text 1"/>
          <p:cNvSpPr txBox="1"/>
          <p:nvPr/>
        </p:nvSpPr>
        <p:spPr>
          <a:xfrm rot="16200000">
            <a:off x="-336591" y="3428909"/>
            <a:ext cx="837225"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E3247"/>
                </a:solidFill>
                <a:latin typeface="Calibri" pitchFamily="34" charset="0"/>
                <a:ea typeface="Calibri" pitchFamily="34" charset="-122"/>
                <a:cs typeface="Calibri" pitchFamily="34" charset="-120"/>
              </a:rPr>
              <a:t>DATA BRANCH</a:t>
            </a:r>
            <a:endParaRPr lang="en-US" sz="694" dirty="0"/>
          </a:p>
        </p:txBody>
      </p:sp>
      <p:sp>
        <p:nvSpPr>
          <p:cNvPr id="4" name="Shape 2"/>
          <p:cNvSpPr/>
          <p:nvPr/>
        </p:nvSpPr>
        <p:spPr>
          <a:xfrm>
            <a:off x="1439540" y="433334"/>
            <a:ext cx="190927" cy="22037"/>
          </a:xfrm>
          <a:prstGeom prst="rect">
            <a:avLst/>
          </a:prstGeom>
          <a:solidFill>
            <a:srgbClr val="7E3247"/>
          </a:solidFill>
          <a:ln/>
        </p:spPr>
      </p:sp>
      <p:sp>
        <p:nvSpPr>
          <p:cNvPr id="5" name="Text 3"/>
          <p:cNvSpPr txBox="1"/>
          <p:nvPr/>
        </p:nvSpPr>
        <p:spPr>
          <a:xfrm>
            <a:off x="1718615" y="383865"/>
            <a:ext cx="1276502"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E3247"/>
                </a:solidFill>
                <a:latin typeface="Calibri" pitchFamily="34" charset="0"/>
                <a:ea typeface="Calibri" pitchFamily="34" charset="-122"/>
                <a:cs typeface="Calibri" pitchFamily="34" charset="-120"/>
              </a:rPr>
              <a:t>NOISE2NOISE RESULTS</a:t>
            </a:r>
            <a:endParaRPr lang="en-US" sz="781" dirty="0"/>
          </a:p>
        </p:txBody>
      </p:sp>
      <p:sp>
        <p:nvSpPr>
          <p:cNvPr id="6" name="Text 4"/>
          <p:cNvSpPr txBox="1"/>
          <p:nvPr/>
        </p:nvSpPr>
        <p:spPr>
          <a:xfrm>
            <a:off x="1439540" y="607070"/>
            <a:ext cx="555196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Noisy targets cost essentially nothing</a:t>
            </a:r>
            <a:endParaRPr lang="en-US" sz="2660" dirty="0"/>
          </a:p>
        </p:txBody>
      </p:sp>
      <p:sp>
        <p:nvSpPr>
          <p:cNvPr id="7" name="Text 5"/>
          <p:cNvSpPr txBox="1"/>
          <p:nvPr/>
        </p:nvSpPr>
        <p:spPr>
          <a:xfrm>
            <a:off x="1439540" y="1091885"/>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PSNR on three test sets for three noise types, from Table 1. In each pair, </a:t>
            </a:r>
            <a:pPr algn="l" indent="0" marL="0">
              <a:lnSpc>
                <a:spcPts val="1735"/>
              </a:lnSpc>
              <a:buNone/>
            </a:pPr>
            <a:r>
              <a:rPr kern="0" lang="en-US" sz="1157" i="1" dirty="0">
                <a:solidFill>
                  <a:srgbClr val="5A554D"/>
                </a:solidFill>
                <a:latin typeface="Calibri" pitchFamily="34" charset="0"/>
                <a:ea typeface="Calibri" pitchFamily="34" charset="-122"/>
                <a:cs typeface="Calibri" pitchFamily="34" charset="-120"/>
              </a:rPr>
              <a:t>clean</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is conventional supervised training and </a:t>
            </a:r>
            <a:pPr algn="l" indent="0" marL="0">
              <a:lnSpc>
                <a:spcPts val="1735"/>
              </a:lnSpc>
              <a:buNone/>
            </a:pPr>
            <a:r>
              <a:rPr kern="0" lang="en-US" sz="1157" i="1" dirty="0">
                <a:solidFill>
                  <a:srgbClr val="5A554D"/>
                </a:solidFill>
                <a:latin typeface="Calibri" pitchFamily="34" charset="0"/>
                <a:ea typeface="Calibri" pitchFamily="34" charset="-122"/>
                <a:cs typeface="Calibri" pitchFamily="34" charset="-120"/>
              </a:rPr>
              <a:t>noisy</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is the same network trained on corrupted targets only.</a:t>
            </a:r>
            <a:endParaRPr lang="en-US" sz="1157" dirty="0"/>
          </a:p>
        </p:txBody>
      </p:sp>
      <p:sp>
        <p:nvSpPr>
          <p:cNvPr id="8" name="Shape 6"/>
          <p:cNvSpPr/>
          <p:nvPr/>
        </p:nvSpPr>
        <p:spPr>
          <a:xfrm>
            <a:off x="3299704" y="1738183"/>
            <a:ext cx="6503030" cy="2056394"/>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9" name="Shape 7"/>
          <p:cNvSpPr/>
          <p:nvPr/>
        </p:nvSpPr>
        <p:spPr>
          <a:xfrm>
            <a:off x="3299704" y="1738183"/>
            <a:ext cx="6503030" cy="7315"/>
          </a:xfrm>
          <a:prstGeom prst="rect">
            <a:avLst/>
          </a:prstGeom>
          <a:solidFill>
            <a:srgbClr val="C9C4B9"/>
          </a:solidFill>
          <a:ln/>
        </p:spPr>
      </p:sp>
      <p:sp>
        <p:nvSpPr>
          <p:cNvPr id="10" name="Shape 8"/>
          <p:cNvSpPr/>
          <p:nvPr/>
        </p:nvSpPr>
        <p:spPr>
          <a:xfrm>
            <a:off x="3299704" y="3787262"/>
            <a:ext cx="6503030" cy="7315"/>
          </a:xfrm>
          <a:prstGeom prst="rect">
            <a:avLst/>
          </a:prstGeom>
          <a:solidFill>
            <a:srgbClr val="C9C4B9"/>
          </a:solidFill>
          <a:ln/>
        </p:spPr>
      </p:sp>
      <p:sp>
        <p:nvSpPr>
          <p:cNvPr id="11" name="Shape 9"/>
          <p:cNvSpPr/>
          <p:nvPr/>
        </p:nvSpPr>
        <p:spPr>
          <a:xfrm>
            <a:off x="3299704" y="1738183"/>
            <a:ext cx="7315" cy="2056394"/>
          </a:xfrm>
          <a:prstGeom prst="rect">
            <a:avLst/>
          </a:prstGeom>
          <a:solidFill>
            <a:srgbClr val="C9C4B9"/>
          </a:solidFill>
          <a:ln/>
        </p:spPr>
      </p:sp>
      <p:sp>
        <p:nvSpPr>
          <p:cNvPr id="12" name="Shape 10"/>
          <p:cNvSpPr/>
          <p:nvPr/>
        </p:nvSpPr>
        <p:spPr>
          <a:xfrm>
            <a:off x="9795327" y="1738183"/>
            <a:ext cx="7315" cy="2056394"/>
          </a:xfrm>
          <a:prstGeom prst="rect">
            <a:avLst/>
          </a:prstGeom>
          <a:solidFill>
            <a:srgbClr val="C9C4B9"/>
          </a:solidFill>
          <a:ln/>
        </p:spPr>
      </p:sp>
      <p:pic>
        <p:nvPicPr>
          <p:cNvPr id="13" name="Image 0" descr="Denoising PSNR on Kodak as training progresses: networks trained on noisy targets (orange) track clean-target training (blue) almost exactly, for white and correlated Gaussian noise alike.">    </p:cNvPr>
          <p:cNvPicPr>
            <a:picLocks noChangeAspect="1"/>
          </p:cNvPicPr>
          <p:nvPr/>
        </p:nvPicPr>
        <p:blipFill>
          <a:blip r:embed="rId1"/>
          <a:stretch>
            <a:fillRect/>
          </a:stretch>
        </p:blipFill>
        <p:spPr>
          <a:xfrm>
            <a:off x="3409889" y="1848368"/>
            <a:ext cx="6282660" cy="1836115"/>
          </a:xfrm>
          <a:prstGeom prst="rect">
            <a:avLst/>
          </a:prstGeom>
        </p:spPr>
      </p:pic>
      <p:sp>
        <p:nvSpPr>
          <p:cNvPr id="14" name="Text 11"/>
          <p:cNvSpPr txBox="1"/>
          <p:nvPr/>
        </p:nvSpPr>
        <p:spPr>
          <a:xfrm>
            <a:off x="3225637" y="3895253"/>
            <a:ext cx="6651071" cy="287853"/>
          </a:xfrm>
          <a:prstGeom prst="rect">
            <a:avLst/>
          </a:prstGeom>
          <a:noFill/>
          <a:ln/>
        </p:spPr>
        <p:txBody>
          <a:bodyPr wrap="squar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Denoising PSNR on Kodak as training progresses: networks trained on noisy targets (orange) track clean-target training (blue) almost exactly, for white and correlated Gaussian noise alike. [N2N18 · Fig. 1]</a:t>
            </a:r>
            <a:endParaRPr lang="en-US" sz="81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439540" y="4376227"/>
          <a:ext cx="9144000" cy="914400"/>
        </p:xfrm>
        <a:graphic>
          <a:graphicData uri="http://schemas.openxmlformats.org/drawingml/2006/table">
            <a:tbl>
              <a:tblPr/>
              <a:tblGrid>
                <a:gridCol w="976762"/>
                <a:gridCol w="2052737"/>
                <a:gridCol w="763798"/>
                <a:gridCol w="745419"/>
                <a:gridCol w="1960931"/>
                <a:gridCol w="767456"/>
                <a:gridCol w="2188616"/>
                <a:gridCol w="767456"/>
              </a:tblGrid>
              <a:tr h="242407">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TEST SET</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GAUSSIAN Σ=25 CLEAN</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NOISY</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POISSON Λ=30 CLEAN</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NOISY</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BERNOULLI P=0.5 CLEAN</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NOISY</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7E3247"/>
                      </a:solidFill>
                      <a:prstDash val="solid"/>
                      <a:round/>
                      <a:headEnd type="none" w="med" len="med"/>
                      <a:tailEnd type="none" w="med" len="med"/>
                    </a:lnB>
                  </a:tcPr>
                </a:tc>
              </a:tr>
              <a:tr h="304770">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Kodak</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32.50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32.48</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31.82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31.52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31.50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33.01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33.17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BSD300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31.07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31.06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30.34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30.18</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30.16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31.04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31.16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Set14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31.31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31.28</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30.50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30.07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30.06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31.51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31.72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Average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F0E9E8"/>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31.63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F0E9E8"/>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31.61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F0E9E8"/>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30.89</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F0E9E8"/>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30.59</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F0E9E8"/>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30.57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F0E9E8"/>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31.85</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F0E9E8"/>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32.02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F0E9E8"/>
                    </a:solidFill>
                  </a:tcPr>
                </a:tc>
              </a:tr>
            </a:tbl>
          </a:graphicData>
        </a:graphic>
      </p:graphicFrame>
      <p:sp>
        <p:nvSpPr>
          <p:cNvPr id="16" name="Text 12"/>
          <p:cNvSpPr txBox="1"/>
          <p:nvPr/>
        </p:nvSpPr>
        <p:spPr>
          <a:xfrm>
            <a:off x="10030236" y="6274430"/>
            <a:ext cx="1632661"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N2N18 Table 1, §3.1 — values as printed</a:t>
            </a:r>
            <a:endParaRPr lang="en-US" sz="752" dirty="0"/>
          </a:p>
        </p:txBody>
      </p:sp>
      <p:sp>
        <p:nvSpPr>
          <p:cNvPr id="17" name="Shape 13"/>
          <p:cNvSpPr/>
          <p:nvPr/>
        </p:nvSpPr>
        <p:spPr>
          <a:xfrm>
            <a:off x="1439540" y="6556705"/>
            <a:ext cx="10223358" cy="7315"/>
          </a:xfrm>
          <a:prstGeom prst="rect">
            <a:avLst/>
          </a:prstGeom>
          <a:solidFill>
            <a:srgbClr val="C9C4B9"/>
          </a:solidFill>
          <a:ln/>
        </p:spPr>
      </p:sp>
      <p:sp>
        <p:nvSpPr>
          <p:cNvPr id="18" name="Shape 14"/>
          <p:cNvSpPr/>
          <p:nvPr/>
        </p:nvSpPr>
        <p:spPr>
          <a:xfrm>
            <a:off x="7686904" y="6545732"/>
            <a:ext cx="3975811" cy="29352"/>
          </a:xfrm>
          <a:prstGeom prst="rect">
            <a:avLst/>
          </a:prstGeom>
          <a:solidFill>
            <a:srgbClr val="7E3247"/>
          </a:solidFill>
          <a:ln/>
        </p:spPr>
      </p:sp>
      <p:sp>
        <p:nvSpPr>
          <p:cNvPr id="19" name="Shape 15"/>
          <p:cNvSpPr/>
          <p:nvPr/>
        </p:nvSpPr>
        <p:spPr>
          <a:xfrm>
            <a:off x="1439540" y="6519946"/>
            <a:ext cx="7315" cy="36759"/>
          </a:xfrm>
          <a:prstGeom prst="rect">
            <a:avLst/>
          </a:prstGeom>
          <a:solidFill>
            <a:srgbClr val="C9C4B9"/>
          </a:solidFill>
          <a:ln/>
        </p:spPr>
      </p:sp>
      <p:sp>
        <p:nvSpPr>
          <p:cNvPr id="20" name="Text 16"/>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1" name="Shape 17"/>
          <p:cNvSpPr/>
          <p:nvPr/>
        </p:nvSpPr>
        <p:spPr>
          <a:xfrm>
            <a:off x="5415351" y="6519946"/>
            <a:ext cx="7315" cy="36759"/>
          </a:xfrm>
          <a:prstGeom prst="rect">
            <a:avLst/>
          </a:prstGeom>
          <a:solidFill>
            <a:srgbClr val="C9C4B9"/>
          </a:solidFill>
          <a:ln/>
        </p:spPr>
      </p:sp>
      <p:sp>
        <p:nvSpPr>
          <p:cNvPr id="22" name="Text 18"/>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3" name="Shape 19"/>
          <p:cNvSpPr/>
          <p:nvPr/>
        </p:nvSpPr>
        <p:spPr>
          <a:xfrm>
            <a:off x="7119610" y="6519946"/>
            <a:ext cx="7315" cy="36759"/>
          </a:xfrm>
          <a:prstGeom prst="rect">
            <a:avLst/>
          </a:prstGeom>
          <a:solidFill>
            <a:srgbClr val="C9C4B9"/>
          </a:solidFill>
          <a:ln/>
        </p:spPr>
      </p:sp>
      <p:sp>
        <p:nvSpPr>
          <p:cNvPr id="24" name="Text 20"/>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25" name="Shape 21"/>
          <p:cNvSpPr/>
          <p:nvPr/>
        </p:nvSpPr>
        <p:spPr>
          <a:xfrm>
            <a:off x="9958639" y="6519946"/>
            <a:ext cx="7315" cy="36759"/>
          </a:xfrm>
          <a:prstGeom prst="rect">
            <a:avLst/>
          </a:prstGeom>
          <a:solidFill>
            <a:srgbClr val="C9C4B9"/>
          </a:solidFill>
          <a:ln/>
        </p:spPr>
      </p:sp>
      <p:sp>
        <p:nvSpPr>
          <p:cNvPr id="26" name="Text 22"/>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7" name="Shape 23"/>
          <p:cNvSpPr/>
          <p:nvPr/>
        </p:nvSpPr>
        <p:spPr>
          <a:xfrm>
            <a:off x="11662898" y="6519946"/>
            <a:ext cx="7315" cy="36759"/>
          </a:xfrm>
          <a:prstGeom prst="rect">
            <a:avLst/>
          </a:prstGeom>
          <a:solidFill>
            <a:srgbClr val="C9C4B9"/>
          </a:solidFill>
          <a:ln/>
        </p:spPr>
      </p:sp>
      <p:sp>
        <p:nvSpPr>
          <p:cNvPr id="28" name="Text 24"/>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39826"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44</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1451427"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NOISE2NOISE RESULTS</a:t>
            </a:r>
            <a:endParaRPr lang="en-US" sz="888" dirty="0"/>
          </a:p>
        </p:txBody>
      </p:sp>
      <p:sp>
        <p:nvSpPr>
          <p:cNvPr id="6" name="Text 4"/>
          <p:cNvSpPr txBox="1"/>
          <p:nvPr/>
        </p:nvSpPr>
        <p:spPr>
          <a:xfrm>
            <a:off x="3449757"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6312560"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Noisy targets cost essentially nothing</a:t>
            </a:r>
            <a:endParaRPr lang="en-US" sz="3025" dirty="0"/>
          </a:p>
        </p:txBody>
      </p:sp>
      <p:sp>
        <p:nvSpPr>
          <p:cNvPr id="8" name="Shape 6"/>
          <p:cNvSpPr/>
          <p:nvPr/>
        </p:nvSpPr>
        <p:spPr>
          <a:xfrm>
            <a:off x="1636685" y="1341699"/>
            <a:ext cx="9953793" cy="16734"/>
          </a:xfrm>
          <a:prstGeom prst="rect">
            <a:avLst/>
          </a:prstGeom>
          <a:solidFill>
            <a:srgbClr val="7E3247"/>
          </a:solidFill>
          <a:ln/>
        </p:spPr>
      </p:sp>
      <p:sp>
        <p:nvSpPr>
          <p:cNvPr id="9" name="Text 7"/>
          <p:cNvSpPr txBox="1"/>
          <p:nvPr/>
        </p:nvSpPr>
        <p:spPr>
          <a:xfrm>
            <a:off x="1636685" y="1489923"/>
            <a:ext cx="10010303" cy="638800"/>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The gap between clean-target and noisy-target training is 0.02 dB on Gaussian noise and 0.02 dB on Poisson.</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For Bernoulli noise the noisy-target model is </a:t>
            </a:r>
            <a:pPr algn="l" indent="0" marL="0">
              <a:lnSpc>
                <a:spcPts val="1677"/>
              </a:lnSpc>
              <a:buNone/>
            </a:pPr>
            <a:r>
              <a:rPr kern="0" lang="en-US" sz="1118" i="1" dirty="0">
                <a:solidFill>
                  <a:srgbClr val="33302B"/>
                </a:solidFill>
                <a:latin typeface="Calibri" pitchFamily="34" charset="0"/>
                <a:ea typeface="Calibri" pitchFamily="34" charset="-122"/>
                <a:cs typeface="Calibri" pitchFamily="34" charset="-120"/>
              </a:rPr>
              <a:t>better</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Setting the deep-learning requirement for clean data aside costs about one fiftieth of the margin DnCNN gained over BM3D. Training used 256×256 crops from the 50 000 ImageNet validation images with σ randomised per example in [0, 50] — i.e. blind denoising.</a:t>
            </a:r>
            <a:endParaRPr lang="en-US" sz="1118" dirty="0"/>
          </a:p>
        </p:txBody>
      </p:sp>
      <p:sp>
        <p:nvSpPr>
          <p:cNvPr id="10" name="Text 8"/>
          <p:cNvSpPr txBox="1"/>
          <p:nvPr/>
        </p:nvSpPr>
        <p:spPr>
          <a:xfrm>
            <a:off x="9734154" y="6194511"/>
            <a:ext cx="1856323"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N2N18 Table 1, §3.1 — values as printed</a:t>
            </a:r>
            <a:endParaRPr lang="en-US" sz="855" dirty="0"/>
          </a:p>
        </p:txBody>
      </p:sp>
      <p:sp>
        <p:nvSpPr>
          <p:cNvPr id="11" name="Shape 9"/>
          <p:cNvSpPr/>
          <p:nvPr/>
        </p:nvSpPr>
        <p:spPr>
          <a:xfrm>
            <a:off x="1636685" y="6515466"/>
            <a:ext cx="9953793" cy="8321"/>
          </a:xfrm>
          <a:prstGeom prst="rect">
            <a:avLst/>
          </a:prstGeom>
          <a:solidFill>
            <a:srgbClr val="C9C4B9"/>
          </a:solidFill>
          <a:ln/>
        </p:spPr>
      </p:sp>
      <p:sp>
        <p:nvSpPr>
          <p:cNvPr id="12" name="Shape 10"/>
          <p:cNvSpPr/>
          <p:nvPr/>
        </p:nvSpPr>
        <p:spPr>
          <a:xfrm>
            <a:off x="7719365" y="6502938"/>
            <a:ext cx="3870930" cy="33376"/>
          </a:xfrm>
          <a:prstGeom prst="rect">
            <a:avLst/>
          </a:prstGeom>
          <a:solidFill>
            <a:srgbClr val="7E3247"/>
          </a:solidFill>
          <a:ln/>
        </p:spPr>
      </p:sp>
      <p:sp>
        <p:nvSpPr>
          <p:cNvPr id="13" name="Shape 11"/>
          <p:cNvSpPr/>
          <p:nvPr/>
        </p:nvSpPr>
        <p:spPr>
          <a:xfrm>
            <a:off x="1636685" y="6473678"/>
            <a:ext cx="8321" cy="41788"/>
          </a:xfrm>
          <a:prstGeom prst="rect">
            <a:avLst/>
          </a:prstGeom>
          <a:solidFill>
            <a:srgbClr val="C9C4B9"/>
          </a:solidFill>
          <a:ln/>
        </p:spPr>
      </p:sp>
      <p:sp>
        <p:nvSpPr>
          <p:cNvPr id="14" name="Text 12"/>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5" name="Shape 13"/>
          <p:cNvSpPr/>
          <p:nvPr/>
        </p:nvSpPr>
        <p:spPr>
          <a:xfrm>
            <a:off x="5507706" y="6473678"/>
            <a:ext cx="8321" cy="41788"/>
          </a:xfrm>
          <a:prstGeom prst="rect">
            <a:avLst/>
          </a:prstGeom>
          <a:solidFill>
            <a:srgbClr val="C9C4B9"/>
          </a:solidFill>
          <a:ln/>
        </p:spPr>
      </p:sp>
      <p:sp>
        <p:nvSpPr>
          <p:cNvPr id="16" name="Text 14"/>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7" name="Shape 15"/>
          <p:cNvSpPr/>
          <p:nvPr/>
        </p:nvSpPr>
        <p:spPr>
          <a:xfrm>
            <a:off x="7166884" y="6473678"/>
            <a:ext cx="8321" cy="41788"/>
          </a:xfrm>
          <a:prstGeom prst="rect">
            <a:avLst/>
          </a:prstGeom>
          <a:solidFill>
            <a:srgbClr val="C9C4B9"/>
          </a:solidFill>
          <a:ln/>
        </p:spPr>
      </p:sp>
      <p:sp>
        <p:nvSpPr>
          <p:cNvPr id="18" name="Text 16"/>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9" name="Shape 17"/>
          <p:cNvSpPr/>
          <p:nvPr/>
        </p:nvSpPr>
        <p:spPr>
          <a:xfrm>
            <a:off x="9931024" y="6473678"/>
            <a:ext cx="8321" cy="41788"/>
          </a:xfrm>
          <a:prstGeom prst="rect">
            <a:avLst/>
          </a:prstGeom>
          <a:solidFill>
            <a:srgbClr val="C9C4B9"/>
          </a:solidFill>
          <a:ln/>
        </p:spPr>
      </p:sp>
      <p:sp>
        <p:nvSpPr>
          <p:cNvPr id="20" name="Text 18"/>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1" name="Shape 19"/>
          <p:cNvSpPr/>
          <p:nvPr/>
        </p:nvSpPr>
        <p:spPr>
          <a:xfrm>
            <a:off x="11590477" y="6473678"/>
            <a:ext cx="8321" cy="41788"/>
          </a:xfrm>
          <a:prstGeom prst="rect">
            <a:avLst/>
          </a:prstGeom>
          <a:solidFill>
            <a:srgbClr val="C9C4B9"/>
          </a:solidFill>
          <a:ln/>
        </p:spPr>
      </p:sp>
      <p:sp>
        <p:nvSpPr>
          <p:cNvPr id="22" name="Text 20"/>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766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45</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815462"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NOISE2VOID</a:t>
            </a:r>
            <a:endParaRPr lang="en-US" sz="888" dirty="0"/>
          </a:p>
        </p:txBody>
      </p:sp>
      <p:sp>
        <p:nvSpPr>
          <p:cNvPr id="6" name="Text 4"/>
          <p:cNvSpPr txBox="1"/>
          <p:nvPr/>
        </p:nvSpPr>
        <p:spPr>
          <a:xfrm>
            <a:off x="1636685" y="690281"/>
            <a:ext cx="943651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Blind-spot networks — removing the second noisy copy</a:t>
            </a:r>
            <a:endParaRPr lang="en-US" sz="3025" dirty="0"/>
          </a:p>
        </p:txBody>
      </p:sp>
      <p:sp>
        <p:nvSpPr>
          <p:cNvPr id="7" name="Text 5"/>
          <p:cNvSpPr txBox="1"/>
          <p:nvPr/>
        </p:nvSpPr>
        <p:spPr>
          <a:xfrm>
            <a:off x="1636685" y="1241481"/>
            <a:ext cx="6475598" cy="1002091"/>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Krull, Buchholz and Jug, CVPR 2019 (MPI-CBG Dresden). Noise2Noise still needs </a:t>
            </a:r>
            <a:pPr algn="l" indent="0" marL="0">
              <a:lnSpc>
                <a:spcPts val="1973"/>
              </a:lnSpc>
              <a:buNone/>
            </a:pPr>
            <a:r>
              <a:rPr kern="0" lang="en-US" sz="1315" i="1" dirty="0">
                <a:solidFill>
                  <a:srgbClr val="5A554D"/>
                </a:solidFill>
                <a:latin typeface="Calibri" pitchFamily="34" charset="0"/>
                <a:ea typeface="Calibri" pitchFamily="34" charset="-122"/>
                <a:cs typeface="Calibri" pitchFamily="34" charset="-120"/>
              </a:rPr>
              <a:t>two independent noisy observations of the same scene</a:t>
            </a:r>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 For a fixed specimen under a microscope that is often two acquisitions; for a moving world, or a single archival image, it is nothing. N2V removes it.</a:t>
            </a:r>
            <a:endParaRPr lang="en-US" sz="1315" dirty="0"/>
          </a:p>
        </p:txBody>
      </p:sp>
      <p:sp>
        <p:nvSpPr>
          <p:cNvPr id="8" name="Shape 6"/>
          <p:cNvSpPr/>
          <p:nvPr/>
        </p:nvSpPr>
        <p:spPr>
          <a:xfrm>
            <a:off x="3381908" y="2477384"/>
            <a:ext cx="6463254" cy="2814066"/>
          </a:xfrm>
          <a:prstGeom prst="rect">
            <a:avLst/>
          </a:prstGeom>
          <a:solidFill>
            <a:srgbClr val="FFFFFF"/>
          </a:solidFill>
          <a:ln/>
          <a:effectLst>
            <a:outerShdw sx="100000" sy="100000" kx="0" ky="0" algn="bl" rotWithShape="0" blurRad="25052" dist="8350" dir="5400000">
              <a:srgbClr val="14120F">
                <a:alpha val="12000"/>
              </a:srgbClr>
            </a:outerShdw>
          </a:effectLst>
        </p:spPr>
      </p:sp>
      <p:sp>
        <p:nvSpPr>
          <p:cNvPr id="9" name="Shape 7"/>
          <p:cNvSpPr/>
          <p:nvPr/>
        </p:nvSpPr>
        <p:spPr>
          <a:xfrm>
            <a:off x="3381908" y="2477384"/>
            <a:ext cx="6463254" cy="8321"/>
          </a:xfrm>
          <a:prstGeom prst="rect">
            <a:avLst/>
          </a:prstGeom>
          <a:solidFill>
            <a:srgbClr val="C9C4B9"/>
          </a:solidFill>
          <a:ln/>
        </p:spPr>
      </p:sp>
      <p:sp>
        <p:nvSpPr>
          <p:cNvPr id="10" name="Shape 8"/>
          <p:cNvSpPr/>
          <p:nvPr/>
        </p:nvSpPr>
        <p:spPr>
          <a:xfrm>
            <a:off x="3381908" y="5283129"/>
            <a:ext cx="6463254" cy="8321"/>
          </a:xfrm>
          <a:prstGeom prst="rect">
            <a:avLst/>
          </a:prstGeom>
          <a:solidFill>
            <a:srgbClr val="C9C4B9"/>
          </a:solidFill>
          <a:ln/>
        </p:spPr>
      </p:sp>
      <p:sp>
        <p:nvSpPr>
          <p:cNvPr id="11" name="Shape 9"/>
          <p:cNvSpPr/>
          <p:nvPr/>
        </p:nvSpPr>
        <p:spPr>
          <a:xfrm>
            <a:off x="3381908" y="2477384"/>
            <a:ext cx="8321" cy="2814066"/>
          </a:xfrm>
          <a:prstGeom prst="rect">
            <a:avLst/>
          </a:prstGeom>
          <a:solidFill>
            <a:srgbClr val="C9C4B9"/>
          </a:solidFill>
          <a:ln/>
        </p:spPr>
      </p:sp>
      <p:sp>
        <p:nvSpPr>
          <p:cNvPr id="12" name="Shape 10"/>
          <p:cNvSpPr/>
          <p:nvPr/>
        </p:nvSpPr>
        <p:spPr>
          <a:xfrm>
            <a:off x="9836841" y="2477384"/>
            <a:ext cx="8321" cy="2814066"/>
          </a:xfrm>
          <a:prstGeom prst="rect">
            <a:avLst/>
          </a:prstGeom>
          <a:solidFill>
            <a:srgbClr val="C9C4B9"/>
          </a:solidFill>
          <a:ln/>
        </p:spPr>
      </p:sp>
      <p:pic>
        <p:nvPicPr>
          <p:cNvPr id="13" name="Image 0" descr="The three training schemes side by side: conventional noisy/clean pairs, Noise2Noise's noisy/noisy pairs, and Noise2Void's single noisy image with a blind spot.">    </p:cNvPr>
          <p:cNvPicPr>
            <a:picLocks noChangeAspect="1"/>
          </p:cNvPicPr>
          <p:nvPr/>
        </p:nvPicPr>
        <p:blipFill>
          <a:blip r:embed="rId1"/>
          <a:stretch>
            <a:fillRect/>
          </a:stretch>
        </p:blipFill>
        <p:spPr>
          <a:xfrm>
            <a:off x="3507181" y="2602565"/>
            <a:ext cx="6212799" cy="2563612"/>
          </a:xfrm>
          <a:prstGeom prst="rect">
            <a:avLst/>
          </a:prstGeom>
        </p:spPr>
      </p:pic>
      <p:sp>
        <p:nvSpPr>
          <p:cNvPr id="14" name="Text 11"/>
          <p:cNvSpPr txBox="1"/>
          <p:nvPr/>
        </p:nvSpPr>
        <p:spPr>
          <a:xfrm>
            <a:off x="2832445" y="5405841"/>
            <a:ext cx="7562179" cy="327264"/>
          </a:xfrm>
          <a:prstGeom prst="rect">
            <a:avLst/>
          </a:prstGeom>
          <a:noFill/>
          <a:ln/>
        </p:spPr>
        <p:txBody>
          <a:bodyPr wrap="square" lIns="0" tIns="0" rIns="0" bIns="0" rtlCol="0" anchor="t"/>
          <a:lstStyle/>
          <a:p>
            <a:pPr algn="ctr" indent="0" marL="0">
              <a:lnSpc>
                <a:spcPts val="1289"/>
              </a:lnSpc>
              <a:buNone/>
            </a:pPr>
            <a:r>
              <a:rPr kern="0" lang="en-US" sz="921" i="1" dirty="0">
                <a:solidFill>
                  <a:srgbClr val="8A847A"/>
                </a:solidFill>
                <a:latin typeface="Calibri" pitchFamily="34" charset="0"/>
                <a:ea typeface="Calibri" pitchFamily="34" charset="-122"/>
                <a:cs typeface="Calibri" pitchFamily="34" charset="-120"/>
              </a:rPr>
              <a:t>The three training schemes side by side: conventional noisy/clean pairs, Noise2Noise's noisy/noisy pairs, and Noise2Void's single noisy image with a blind spot. [N2V19 · Fig. 1]</a:t>
            </a:r>
            <a:endParaRPr lang="en-US" sz="921" dirty="0"/>
          </a:p>
        </p:txBody>
      </p:sp>
      <p:sp>
        <p:nvSpPr>
          <p:cNvPr id="15" name="Text 12"/>
          <p:cNvSpPr txBox="1"/>
          <p:nvPr/>
        </p:nvSpPr>
        <p:spPr>
          <a:xfrm>
            <a:off x="9949861" y="6194511"/>
            <a:ext cx="1640525"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N2V19 §3.1, §3.4, §3.5, Fig. 2, Fig. 3</a:t>
            </a:r>
            <a:endParaRPr lang="en-US" sz="855" dirty="0"/>
          </a:p>
        </p:txBody>
      </p:sp>
      <p:sp>
        <p:nvSpPr>
          <p:cNvPr id="16" name="Shape 13"/>
          <p:cNvSpPr/>
          <p:nvPr/>
        </p:nvSpPr>
        <p:spPr>
          <a:xfrm>
            <a:off x="1636685" y="6515466"/>
            <a:ext cx="9953793" cy="8321"/>
          </a:xfrm>
          <a:prstGeom prst="rect">
            <a:avLst/>
          </a:prstGeom>
          <a:solidFill>
            <a:srgbClr val="C9C4B9"/>
          </a:solidFill>
          <a:ln/>
        </p:spPr>
      </p:sp>
      <p:sp>
        <p:nvSpPr>
          <p:cNvPr id="17" name="Shape 14"/>
          <p:cNvSpPr/>
          <p:nvPr/>
        </p:nvSpPr>
        <p:spPr>
          <a:xfrm>
            <a:off x="7719365" y="6502938"/>
            <a:ext cx="3870930" cy="33376"/>
          </a:xfrm>
          <a:prstGeom prst="rect">
            <a:avLst/>
          </a:prstGeom>
          <a:solidFill>
            <a:srgbClr val="7E3247"/>
          </a:solidFill>
          <a:ln/>
        </p:spPr>
      </p:sp>
      <p:sp>
        <p:nvSpPr>
          <p:cNvPr id="18" name="Shape 15"/>
          <p:cNvSpPr/>
          <p:nvPr/>
        </p:nvSpPr>
        <p:spPr>
          <a:xfrm>
            <a:off x="1636685" y="6473678"/>
            <a:ext cx="8321" cy="41788"/>
          </a:xfrm>
          <a:prstGeom prst="rect">
            <a:avLst/>
          </a:prstGeom>
          <a:solidFill>
            <a:srgbClr val="C9C4B9"/>
          </a:solidFill>
          <a:ln/>
        </p:spPr>
      </p:sp>
      <p:sp>
        <p:nvSpPr>
          <p:cNvPr id="19" name="Text 16"/>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0" name="Shape 17"/>
          <p:cNvSpPr/>
          <p:nvPr/>
        </p:nvSpPr>
        <p:spPr>
          <a:xfrm>
            <a:off x="5507706" y="6473678"/>
            <a:ext cx="8321" cy="41788"/>
          </a:xfrm>
          <a:prstGeom prst="rect">
            <a:avLst/>
          </a:prstGeom>
          <a:solidFill>
            <a:srgbClr val="C9C4B9"/>
          </a:solidFill>
          <a:ln/>
        </p:spPr>
      </p:sp>
      <p:sp>
        <p:nvSpPr>
          <p:cNvPr id="21" name="Text 18"/>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2" name="Shape 19"/>
          <p:cNvSpPr/>
          <p:nvPr/>
        </p:nvSpPr>
        <p:spPr>
          <a:xfrm>
            <a:off x="7166884" y="6473678"/>
            <a:ext cx="8321" cy="41788"/>
          </a:xfrm>
          <a:prstGeom prst="rect">
            <a:avLst/>
          </a:prstGeom>
          <a:solidFill>
            <a:srgbClr val="C9C4B9"/>
          </a:solidFill>
          <a:ln/>
        </p:spPr>
      </p:sp>
      <p:sp>
        <p:nvSpPr>
          <p:cNvPr id="23" name="Text 20"/>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4" name="Shape 21"/>
          <p:cNvSpPr/>
          <p:nvPr/>
        </p:nvSpPr>
        <p:spPr>
          <a:xfrm>
            <a:off x="9931024" y="6473678"/>
            <a:ext cx="8321" cy="41788"/>
          </a:xfrm>
          <a:prstGeom prst="rect">
            <a:avLst/>
          </a:prstGeom>
          <a:solidFill>
            <a:srgbClr val="C9C4B9"/>
          </a:solidFill>
          <a:ln/>
        </p:spPr>
      </p:sp>
      <p:sp>
        <p:nvSpPr>
          <p:cNvPr id="25" name="Text 22"/>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6" name="Shape 23"/>
          <p:cNvSpPr/>
          <p:nvPr/>
        </p:nvSpPr>
        <p:spPr>
          <a:xfrm>
            <a:off x="11590477" y="6473678"/>
            <a:ext cx="8321" cy="41788"/>
          </a:xfrm>
          <a:prstGeom prst="rect">
            <a:avLst/>
          </a:prstGeom>
          <a:solidFill>
            <a:srgbClr val="C9C4B9"/>
          </a:solidFill>
          <a:ln/>
        </p:spPr>
      </p:sp>
      <p:sp>
        <p:nvSpPr>
          <p:cNvPr id="27" name="Text 24"/>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766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45</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815462"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NOISE2VOID</a:t>
            </a:r>
            <a:endParaRPr lang="en-US" sz="888" dirty="0"/>
          </a:p>
        </p:txBody>
      </p:sp>
      <p:sp>
        <p:nvSpPr>
          <p:cNvPr id="6" name="Text 4"/>
          <p:cNvSpPr txBox="1"/>
          <p:nvPr/>
        </p:nvSpPr>
        <p:spPr>
          <a:xfrm>
            <a:off x="2819552"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943651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Blind-spot networks — removing the second noisy copy</a:t>
            </a:r>
            <a:endParaRPr lang="en-US" sz="3025" dirty="0"/>
          </a:p>
        </p:txBody>
      </p:sp>
      <p:sp>
        <p:nvSpPr>
          <p:cNvPr id="8" name="Shape 6"/>
          <p:cNvSpPr/>
          <p:nvPr/>
        </p:nvSpPr>
        <p:spPr>
          <a:xfrm>
            <a:off x="1636685" y="1241481"/>
            <a:ext cx="9953793" cy="1287658"/>
          </a:xfrm>
          <a:prstGeom prst="rect">
            <a:avLst/>
          </a:prstGeom>
          <a:solidFill>
            <a:srgbClr val="F1EBEA"/>
          </a:solidFill>
          <a:ln/>
        </p:spPr>
      </p:sp>
      <p:sp>
        <p:nvSpPr>
          <p:cNvPr id="9" name="Shape 7"/>
          <p:cNvSpPr/>
          <p:nvPr/>
        </p:nvSpPr>
        <p:spPr>
          <a:xfrm>
            <a:off x="1636685" y="1241481"/>
            <a:ext cx="33376" cy="1287658"/>
          </a:xfrm>
          <a:prstGeom prst="rect">
            <a:avLst/>
          </a:prstGeom>
          <a:solidFill>
            <a:srgbClr val="7E3247"/>
          </a:solidFill>
          <a:ln/>
        </p:spPr>
      </p:sp>
      <p:pic>
        <p:nvPicPr>
          <p:cNvPr id="10" name="Image 0" descr="p(s,n) = p(s)\,p(n \mid s), \quad p(n \mid s) = \prod_{i} p(n_{i} \mid s_{i}),\quad \mathbb{E}[n_{i}] = 0 \;\Longrightarrow\; \mathbb{E}[x_{i}] = s_{i}">    </p:cNvPr>
          <p:cNvPicPr>
            <a:picLocks noChangeAspect="1"/>
          </p:cNvPicPr>
          <p:nvPr/>
        </p:nvPicPr>
        <p:blipFill>
          <a:blip r:embed="rId1"/>
          <a:stretch>
            <a:fillRect/>
          </a:stretch>
        </p:blipFill>
        <p:spPr>
          <a:xfrm>
            <a:off x="1870497" y="1383396"/>
            <a:ext cx="9519544" cy="734995"/>
          </a:xfrm>
          <a:prstGeom prst="rect">
            <a:avLst/>
          </a:prstGeom>
        </p:spPr>
      </p:pic>
      <p:sp>
        <p:nvSpPr>
          <p:cNvPr id="11" name="Text 8"/>
          <p:cNvSpPr txBox="1"/>
          <p:nvPr/>
        </p:nvSpPr>
        <p:spPr>
          <a:xfrm>
            <a:off x="1870497" y="2201052"/>
            <a:ext cx="8841516" cy="185349"/>
          </a:xfrm>
          <a:prstGeom prst="rect">
            <a:avLst/>
          </a:prstGeom>
          <a:noFill/>
          <a:ln/>
        </p:spPr>
        <p:txBody>
          <a:bodyPr wrap="none" lIns="0" tIns="0" rIns="0" bIns="0" rtlCol="0" anchor="t"/>
          <a:lstStyle/>
          <a:p>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the two assumptions: (i) the signal is </a:t>
            </a:r>
            <a:pPr algn="l" indent="0" marL="0">
              <a:lnSpc>
                <a:spcPts val="1460"/>
              </a:lnSpc>
              <a:buNone/>
            </a:pPr>
            <a:r>
              <a:rPr kern="0" lang="en-US" sz="986" b="1" i="1" dirty="0">
                <a:solidFill>
                  <a:srgbClr val="14120F"/>
                </a:solidFill>
                <a:latin typeface="Calibri" pitchFamily="34" charset="0"/>
                <a:ea typeface="Calibri" pitchFamily="34" charset="-122"/>
                <a:cs typeface="Calibri" pitchFamily="34" charset="-120"/>
              </a:rPr>
              <a:t>not</a:t>
            </a:r>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 pixel-wise independent, p(s_i|s_j) ≠ p(s_i); (ii) the noise </a:t>
            </a:r>
            <a:pPr algn="l" indent="0" marL="0">
              <a:lnSpc>
                <a:spcPts val="1460"/>
              </a:lnSpc>
              <a:buNone/>
            </a:pPr>
            <a:r>
              <a:rPr kern="0" lang="en-US" sz="986" b="1" i="1" dirty="0">
                <a:solidFill>
                  <a:srgbClr val="14120F"/>
                </a:solidFill>
                <a:latin typeface="Calibri" pitchFamily="34" charset="0"/>
                <a:ea typeface="Calibri" pitchFamily="34" charset="-122"/>
                <a:cs typeface="Calibri" pitchFamily="34" charset="-120"/>
              </a:rPr>
              <a:t>is</a:t>
            </a:r>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 conditionally pixel-wise independent given the signal, and zero-mean</a:t>
            </a:r>
            <a:endParaRPr lang="en-US" sz="986" dirty="0"/>
          </a:p>
        </p:txBody>
      </p:sp>
      <p:sp>
        <p:nvSpPr>
          <p:cNvPr id="12" name="Shape 9"/>
          <p:cNvSpPr/>
          <p:nvPr/>
        </p:nvSpPr>
        <p:spPr>
          <a:xfrm>
            <a:off x="1636685" y="2654412"/>
            <a:ext cx="9953793" cy="8321"/>
          </a:xfrm>
          <a:prstGeom prst="rect">
            <a:avLst/>
          </a:prstGeom>
          <a:solidFill>
            <a:srgbClr val="DFDBD2"/>
          </a:solidFill>
          <a:ln/>
        </p:spPr>
      </p:sp>
      <p:sp>
        <p:nvSpPr>
          <p:cNvPr id="13" name="Text 10"/>
          <p:cNvSpPr txBox="1"/>
          <p:nvPr/>
        </p:nvSpPr>
        <p:spPr>
          <a:xfrm>
            <a:off x="1636685" y="2804739"/>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4" name="Text 11"/>
          <p:cNvSpPr txBox="1"/>
          <p:nvPr/>
        </p:nvSpPr>
        <p:spPr>
          <a:xfrm>
            <a:off x="1987448" y="2793218"/>
            <a:ext cx="7272863"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problem.</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Same noisy image as input and target degenerates — the identity has zero loss and does nothing.</a:t>
            </a:r>
            <a:endParaRPr lang="en-US" sz="1216" dirty="0"/>
          </a:p>
        </p:txBody>
      </p:sp>
      <p:sp>
        <p:nvSpPr>
          <p:cNvPr id="15" name="Text 12"/>
          <p:cNvSpPr txBox="1"/>
          <p:nvPr/>
        </p:nvSpPr>
        <p:spPr>
          <a:xfrm>
            <a:off x="1636685" y="3170042"/>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6" name="Text 13"/>
          <p:cNvSpPr txBox="1"/>
          <p:nvPr/>
        </p:nvSpPr>
        <p:spPr>
          <a:xfrm>
            <a:off x="1987448" y="3158612"/>
            <a:ext cx="5805343"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fix:</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blind spot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prediction for pixel i uses its neighbourhood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except pixel i itself</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17" name="Text 14"/>
          <p:cNvSpPr txBox="1"/>
          <p:nvPr/>
        </p:nvSpPr>
        <p:spPr>
          <a:xfrm>
            <a:off x="1636685" y="3535345"/>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18" name="Text 15"/>
          <p:cNvSpPr txBox="1"/>
          <p:nvPr/>
        </p:nvSpPr>
        <p:spPr>
          <a:xfrm>
            <a:off x="1987448" y="3523915"/>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Why it cannot learn the identity.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Given conditional pixel-wise independence, neighbours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carry no information about n_i</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signal does have dependencies, so it can still be estimated. Signal learnable, noise not.</a:t>
            </a:r>
            <a:endParaRPr lang="en-US" sz="1216" dirty="0"/>
          </a:p>
        </p:txBody>
      </p:sp>
      <p:sp>
        <p:nvSpPr>
          <p:cNvPr id="19" name="Text 16"/>
          <p:cNvSpPr txBox="1"/>
          <p:nvPr/>
        </p:nvSpPr>
        <p:spPr>
          <a:xfrm>
            <a:off x="1636685" y="4132448"/>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20" name="Text 17"/>
          <p:cNvSpPr txBox="1"/>
          <p:nvPr/>
        </p:nvSpPr>
        <p:spPr>
          <a:xfrm>
            <a:off x="1987448" y="4120926"/>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implementation is a trick.</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N2V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replaces the centre value of each patch with a randomly selected value from the surrounding area</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and scores the loss only there.</a:t>
            </a:r>
            <a:endParaRPr lang="en-US" sz="1216" dirty="0"/>
          </a:p>
        </p:txBody>
      </p:sp>
      <p:sp>
        <p:nvSpPr>
          <p:cNvPr id="21" name="Text 18"/>
          <p:cNvSpPr txBox="1"/>
          <p:nvPr/>
        </p:nvSpPr>
        <p:spPr>
          <a:xfrm>
            <a:off x="1636685" y="4729460"/>
            <a:ext cx="15563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05</a:t>
            </a:r>
            <a:endParaRPr lang="en-US" sz="789" dirty="0"/>
          </a:p>
        </p:txBody>
      </p:sp>
      <p:sp>
        <p:nvSpPr>
          <p:cNvPr id="22" name="Text 19"/>
          <p:cNvSpPr txBox="1"/>
          <p:nvPr/>
        </p:nvSpPr>
        <p:spPr>
          <a:xfrm>
            <a:off x="1987448" y="4718030"/>
            <a:ext cx="4755063"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Efficiency: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64 pixels masked per 64×64 patch — 1.6% — rather than one.</a:t>
            </a:r>
            <a:endParaRPr lang="en-US" sz="1216" dirty="0"/>
          </a:p>
        </p:txBody>
      </p:sp>
      <p:sp>
        <p:nvSpPr>
          <p:cNvPr id="23" name="Text 20"/>
          <p:cNvSpPr txBox="1"/>
          <p:nvPr/>
        </p:nvSpPr>
        <p:spPr>
          <a:xfrm>
            <a:off x="9949861" y="6194511"/>
            <a:ext cx="1640525"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N2V19 §3.1, §3.4, §3.5, Fig. 2, Fig. 3</a:t>
            </a:r>
            <a:endParaRPr lang="en-US" sz="855" dirty="0"/>
          </a:p>
        </p:txBody>
      </p:sp>
      <p:sp>
        <p:nvSpPr>
          <p:cNvPr id="24" name="Shape 21"/>
          <p:cNvSpPr/>
          <p:nvPr/>
        </p:nvSpPr>
        <p:spPr>
          <a:xfrm>
            <a:off x="1636685" y="6515466"/>
            <a:ext cx="9953793" cy="8321"/>
          </a:xfrm>
          <a:prstGeom prst="rect">
            <a:avLst/>
          </a:prstGeom>
          <a:solidFill>
            <a:srgbClr val="C9C4B9"/>
          </a:solidFill>
          <a:ln/>
        </p:spPr>
      </p:sp>
      <p:sp>
        <p:nvSpPr>
          <p:cNvPr id="25" name="Shape 22"/>
          <p:cNvSpPr/>
          <p:nvPr/>
        </p:nvSpPr>
        <p:spPr>
          <a:xfrm>
            <a:off x="7719365" y="6502938"/>
            <a:ext cx="3870930" cy="33376"/>
          </a:xfrm>
          <a:prstGeom prst="rect">
            <a:avLst/>
          </a:prstGeom>
          <a:solidFill>
            <a:srgbClr val="7E3247"/>
          </a:solidFill>
          <a:ln/>
        </p:spPr>
      </p:sp>
      <p:sp>
        <p:nvSpPr>
          <p:cNvPr id="26" name="Shape 23"/>
          <p:cNvSpPr/>
          <p:nvPr/>
        </p:nvSpPr>
        <p:spPr>
          <a:xfrm>
            <a:off x="1636685" y="6473678"/>
            <a:ext cx="8321" cy="41788"/>
          </a:xfrm>
          <a:prstGeom prst="rect">
            <a:avLst/>
          </a:prstGeom>
          <a:solidFill>
            <a:srgbClr val="C9C4B9"/>
          </a:solidFill>
          <a:ln/>
        </p:spPr>
      </p:sp>
      <p:sp>
        <p:nvSpPr>
          <p:cNvPr id="27" name="Text 24"/>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8" name="Shape 25"/>
          <p:cNvSpPr/>
          <p:nvPr/>
        </p:nvSpPr>
        <p:spPr>
          <a:xfrm>
            <a:off x="5507706" y="6473678"/>
            <a:ext cx="8321" cy="41788"/>
          </a:xfrm>
          <a:prstGeom prst="rect">
            <a:avLst/>
          </a:prstGeom>
          <a:solidFill>
            <a:srgbClr val="C9C4B9"/>
          </a:solidFill>
          <a:ln/>
        </p:spPr>
      </p:sp>
      <p:sp>
        <p:nvSpPr>
          <p:cNvPr id="29" name="Text 26"/>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0" name="Shape 27"/>
          <p:cNvSpPr/>
          <p:nvPr/>
        </p:nvSpPr>
        <p:spPr>
          <a:xfrm>
            <a:off x="7166884" y="6473678"/>
            <a:ext cx="8321" cy="41788"/>
          </a:xfrm>
          <a:prstGeom prst="rect">
            <a:avLst/>
          </a:prstGeom>
          <a:solidFill>
            <a:srgbClr val="C9C4B9"/>
          </a:solidFill>
          <a:ln/>
        </p:spPr>
      </p:sp>
      <p:sp>
        <p:nvSpPr>
          <p:cNvPr id="31" name="Text 28"/>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2" name="Shape 29"/>
          <p:cNvSpPr/>
          <p:nvPr/>
        </p:nvSpPr>
        <p:spPr>
          <a:xfrm>
            <a:off x="9931024" y="6473678"/>
            <a:ext cx="8321" cy="41788"/>
          </a:xfrm>
          <a:prstGeom prst="rect">
            <a:avLst/>
          </a:prstGeom>
          <a:solidFill>
            <a:srgbClr val="C9C4B9"/>
          </a:solidFill>
          <a:ln/>
        </p:spPr>
      </p:sp>
      <p:sp>
        <p:nvSpPr>
          <p:cNvPr id="33" name="Text 30"/>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4" name="Shape 31"/>
          <p:cNvSpPr/>
          <p:nvPr/>
        </p:nvSpPr>
        <p:spPr>
          <a:xfrm>
            <a:off x="11590477" y="6473678"/>
            <a:ext cx="8321" cy="41788"/>
          </a:xfrm>
          <a:prstGeom prst="rect">
            <a:avLst/>
          </a:prstGeom>
          <a:solidFill>
            <a:srgbClr val="C9C4B9"/>
          </a:solidFill>
          <a:ln/>
        </p:spPr>
      </p:sp>
      <p:sp>
        <p:nvSpPr>
          <p:cNvPr id="35" name="Text 32"/>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79933"/>
            <a:ext cx="434340"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46</a:t>
            </a:r>
            <a:endParaRPr lang="en-US" sz="2893" dirty="0"/>
          </a:p>
        </p:txBody>
      </p:sp>
      <p:sp>
        <p:nvSpPr>
          <p:cNvPr id="3" name="Text 1"/>
          <p:cNvSpPr txBox="1"/>
          <p:nvPr/>
        </p:nvSpPr>
        <p:spPr>
          <a:xfrm rot="16200000">
            <a:off x="-382676" y="3437230"/>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269474"/>
            <a:ext cx="217079" cy="25055"/>
          </a:xfrm>
          <a:prstGeom prst="rect">
            <a:avLst/>
          </a:prstGeom>
          <a:solidFill>
            <a:srgbClr val="7E3247"/>
          </a:solidFill>
          <a:ln/>
        </p:spPr>
      </p:sp>
      <p:sp>
        <p:nvSpPr>
          <p:cNvPr id="5" name="Text 3"/>
          <p:cNvSpPr txBox="1"/>
          <p:nvPr/>
        </p:nvSpPr>
        <p:spPr>
          <a:xfrm>
            <a:off x="1953981" y="213238"/>
            <a:ext cx="1968246"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THE PRICE OF THE BLIND SPOT</a:t>
            </a:r>
            <a:endParaRPr lang="en-US" sz="888" dirty="0"/>
          </a:p>
        </p:txBody>
      </p:sp>
      <p:sp>
        <p:nvSpPr>
          <p:cNvPr id="6" name="Text 4"/>
          <p:cNvSpPr txBox="1"/>
          <p:nvPr/>
        </p:nvSpPr>
        <p:spPr>
          <a:xfrm>
            <a:off x="1636685" y="494233"/>
            <a:ext cx="6562923"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What self-supervision costs, measured</a:t>
            </a:r>
            <a:endParaRPr lang="en-US" sz="3025" dirty="0"/>
          </a:p>
        </p:txBody>
      </p:sp>
      <p:sp>
        <p:nvSpPr>
          <p:cNvPr id="7" name="Text 5"/>
          <p:cNvSpPr txBox="1"/>
          <p:nvPr/>
        </p:nvSpPr>
        <p:spPr>
          <a:xfrm>
            <a:off x="1636685" y="1095908"/>
            <a:ext cx="5183825" cy="601218"/>
          </a:xfrm>
          <a:prstGeom prst="rect">
            <a:avLst/>
          </a:prstGeom>
          <a:noFill/>
          <a:ln/>
        </p:spPr>
        <p:txBody>
          <a:bodyPr wrap="square" lIns="0" tIns="0" rIns="0" bIns="0" rtlCol="0" anchor="t"/>
          <a:lstStyle/>
          <a:p>
            <a:pPr algn="l" indent="0" marL="0">
              <a:lnSpc>
                <a:spcPts val="1578"/>
              </a:lnSpc>
              <a:buNone/>
            </a:pPr>
            <a:r>
              <a:rPr kern="0" lang="en-US" sz="1052" dirty="0">
                <a:solidFill>
                  <a:srgbClr val="5A554D"/>
                </a:solidFill>
                <a:latin typeface="Calibri" pitchFamily="34" charset="0"/>
                <a:ea typeface="Calibri" pitchFamily="34" charset="-122"/>
                <a:cs typeface="Calibri" pitchFamily="34" charset="-120"/>
              </a:rPr>
              <a:t>Four training regimes, one network family, one dataset: BSD68 with σ = 25 Gaussian noise, trained on 400 grayscale images at 180×180 — deliberately the same protocol DnCNN used. The ladder shows exactly what each removed requirement costs.</a:t>
            </a:r>
            <a:endParaRPr lang="en-US" sz="1052" dirty="0"/>
          </a:p>
        </p:txBody>
      </p:sp>
      <p:sp>
        <p:nvSpPr>
          <p:cNvPr id="8" name="Shape 6"/>
          <p:cNvSpPr/>
          <p:nvPr/>
        </p:nvSpPr>
        <p:spPr>
          <a:xfrm>
            <a:off x="1636685" y="1989734"/>
            <a:ext cx="9953793" cy="16734"/>
          </a:xfrm>
          <a:prstGeom prst="rect">
            <a:avLst/>
          </a:prstGeom>
          <a:solidFill>
            <a:srgbClr val="14120F"/>
          </a:solidFill>
          <a:ln/>
        </p:spPr>
      </p:sp>
      <p:sp>
        <p:nvSpPr>
          <p:cNvPr id="9" name="Text 7"/>
          <p:cNvSpPr txBox="1"/>
          <p:nvPr/>
        </p:nvSpPr>
        <p:spPr>
          <a:xfrm>
            <a:off x="1636685" y="2173437"/>
            <a:ext cx="1140074"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7E3247"/>
                </a:solidFill>
                <a:latin typeface="Cambria" pitchFamily="34" charset="0"/>
                <a:ea typeface="Cambria" pitchFamily="34" charset="-122"/>
                <a:cs typeface="Cambria" pitchFamily="34" charset="-120"/>
              </a:rPr>
              <a:t>29.06</a:t>
            </a:r>
            <a:endParaRPr lang="en-US" sz="3945" dirty="0"/>
          </a:p>
        </p:txBody>
      </p:sp>
      <p:sp>
        <p:nvSpPr>
          <p:cNvPr id="10" name="Text 8"/>
          <p:cNvSpPr txBox="1"/>
          <p:nvPr/>
        </p:nvSpPr>
        <p:spPr>
          <a:xfrm>
            <a:off x="1636685" y="2773650"/>
            <a:ext cx="1796613" cy="127376"/>
          </a:xfrm>
          <a:prstGeom prst="rect">
            <a:avLst/>
          </a:prstGeom>
          <a:noFill/>
          <a:ln/>
        </p:spPr>
        <p:txBody>
          <a:bodyPr wrap="non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TRADITIONAL · CLEAN TARGETS</a:t>
            </a:r>
            <a:endParaRPr lang="en-US" sz="822" dirty="0"/>
          </a:p>
        </p:txBody>
      </p:sp>
      <p:sp>
        <p:nvSpPr>
          <p:cNvPr id="11" name="Text 9"/>
          <p:cNvSpPr txBox="1"/>
          <p:nvPr/>
        </p:nvSpPr>
        <p:spPr>
          <a:xfrm>
            <a:off x="1636685" y="2977926"/>
            <a:ext cx="2263597" cy="406085"/>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Supervised U-Net, depth 2, 96 initial feature maps. The ceiling.</a:t>
            </a:r>
            <a:endParaRPr lang="en-US" sz="1052" dirty="0"/>
          </a:p>
        </p:txBody>
      </p:sp>
      <p:sp>
        <p:nvSpPr>
          <p:cNvPr id="12" name="Shape 10"/>
          <p:cNvSpPr/>
          <p:nvPr/>
        </p:nvSpPr>
        <p:spPr>
          <a:xfrm>
            <a:off x="4125133" y="2173437"/>
            <a:ext cx="8321" cy="1395923"/>
          </a:xfrm>
          <a:prstGeom prst="rect">
            <a:avLst/>
          </a:prstGeom>
          <a:solidFill>
            <a:srgbClr val="DFDBD2"/>
          </a:solidFill>
          <a:ln/>
        </p:spPr>
      </p:sp>
      <p:sp>
        <p:nvSpPr>
          <p:cNvPr id="13" name="Text 11"/>
          <p:cNvSpPr txBox="1"/>
          <p:nvPr/>
        </p:nvSpPr>
        <p:spPr>
          <a:xfrm>
            <a:off x="4383999" y="2173437"/>
            <a:ext cx="1162660"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7E3247"/>
                </a:solidFill>
                <a:latin typeface="Cambria" pitchFamily="34" charset="0"/>
                <a:ea typeface="Cambria" pitchFamily="34" charset="-122"/>
                <a:cs typeface="Cambria" pitchFamily="34" charset="-120"/>
              </a:rPr>
              <a:t>28.86</a:t>
            </a:r>
            <a:endParaRPr lang="en-US" sz="3945" dirty="0"/>
          </a:p>
        </p:txBody>
      </p:sp>
      <p:sp>
        <p:nvSpPr>
          <p:cNvPr id="14" name="Text 12"/>
          <p:cNvSpPr txBox="1"/>
          <p:nvPr/>
        </p:nvSpPr>
        <p:spPr>
          <a:xfrm>
            <a:off x="4383999" y="2773650"/>
            <a:ext cx="1607881" cy="127376"/>
          </a:xfrm>
          <a:prstGeom prst="rect">
            <a:avLst/>
          </a:prstGeom>
          <a:noFill/>
          <a:ln/>
        </p:spPr>
        <p:txBody>
          <a:bodyPr wrap="non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NOISE2NOISE · NOISY PAIRS</a:t>
            </a:r>
            <a:endParaRPr lang="en-US" sz="822" dirty="0"/>
          </a:p>
        </p:txBody>
      </p:sp>
      <p:sp>
        <p:nvSpPr>
          <p:cNvPr id="15" name="Text 13"/>
          <p:cNvSpPr txBox="1"/>
          <p:nvPr/>
        </p:nvSpPr>
        <p:spPr>
          <a:xfrm>
            <a:off x="4383999" y="2977926"/>
            <a:ext cx="2003725" cy="406085"/>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−0.20 dB for giving up the clean image.</a:t>
            </a:r>
            <a:endParaRPr lang="en-US" sz="1052" dirty="0"/>
          </a:p>
        </p:txBody>
      </p:sp>
      <p:sp>
        <p:nvSpPr>
          <p:cNvPr id="16" name="Shape 14"/>
          <p:cNvSpPr/>
          <p:nvPr/>
        </p:nvSpPr>
        <p:spPr>
          <a:xfrm>
            <a:off x="6613581" y="2173437"/>
            <a:ext cx="8321" cy="1395923"/>
          </a:xfrm>
          <a:prstGeom prst="rect">
            <a:avLst/>
          </a:prstGeom>
          <a:solidFill>
            <a:srgbClr val="DFDBD2"/>
          </a:solidFill>
          <a:ln/>
        </p:spPr>
      </p:sp>
      <p:sp>
        <p:nvSpPr>
          <p:cNvPr id="17" name="Text 15"/>
          <p:cNvSpPr txBox="1"/>
          <p:nvPr/>
        </p:nvSpPr>
        <p:spPr>
          <a:xfrm>
            <a:off x="6872448" y="2173437"/>
            <a:ext cx="1142543"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7E3247"/>
                </a:solidFill>
                <a:latin typeface="Cambria" pitchFamily="34" charset="0"/>
                <a:ea typeface="Cambria" pitchFamily="34" charset="-122"/>
                <a:cs typeface="Cambria" pitchFamily="34" charset="-120"/>
              </a:rPr>
              <a:t>28.59</a:t>
            </a:r>
            <a:endParaRPr lang="en-US" sz="3945" dirty="0"/>
          </a:p>
        </p:txBody>
      </p:sp>
      <p:sp>
        <p:nvSpPr>
          <p:cNvPr id="18" name="Text 16"/>
          <p:cNvSpPr txBox="1"/>
          <p:nvPr/>
        </p:nvSpPr>
        <p:spPr>
          <a:xfrm>
            <a:off x="6872448" y="2773650"/>
            <a:ext cx="1651132" cy="127376"/>
          </a:xfrm>
          <a:prstGeom prst="rect">
            <a:avLst/>
          </a:prstGeom>
          <a:noFill/>
          <a:ln/>
        </p:spPr>
        <p:txBody>
          <a:bodyPr wrap="non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BM3D · NO TRAINING AT ALL</a:t>
            </a:r>
            <a:endParaRPr lang="en-US" sz="822" dirty="0"/>
          </a:p>
        </p:txBody>
      </p:sp>
      <p:sp>
        <p:nvSpPr>
          <p:cNvPr id="19" name="Text 17"/>
          <p:cNvSpPr txBox="1"/>
          <p:nvPr/>
        </p:nvSpPr>
        <p:spPr>
          <a:xfrm>
            <a:off x="6872448" y="2977926"/>
            <a:ext cx="2003725" cy="406085"/>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The classical zero-shot baseline, seventeen years old.</a:t>
            </a:r>
            <a:endParaRPr lang="en-US" sz="1052" dirty="0"/>
          </a:p>
        </p:txBody>
      </p:sp>
      <p:sp>
        <p:nvSpPr>
          <p:cNvPr id="20" name="Shape 18"/>
          <p:cNvSpPr/>
          <p:nvPr/>
        </p:nvSpPr>
        <p:spPr>
          <a:xfrm>
            <a:off x="9102029" y="2173437"/>
            <a:ext cx="8321" cy="1395923"/>
          </a:xfrm>
          <a:prstGeom prst="rect">
            <a:avLst/>
          </a:prstGeom>
          <a:solidFill>
            <a:srgbClr val="DFDBD2"/>
          </a:solidFill>
          <a:ln/>
        </p:spPr>
      </p:sp>
      <p:sp>
        <p:nvSpPr>
          <p:cNvPr id="21" name="Text 19"/>
          <p:cNvSpPr txBox="1"/>
          <p:nvPr/>
        </p:nvSpPr>
        <p:spPr>
          <a:xfrm>
            <a:off x="9360896" y="2173437"/>
            <a:ext cx="1060338" cy="475945"/>
          </a:xfrm>
          <a:prstGeom prst="rect">
            <a:avLst/>
          </a:prstGeom>
          <a:noFill/>
          <a:ln/>
        </p:spPr>
        <p:txBody>
          <a:bodyPr wrap="none" lIns="0" tIns="0" rIns="0" bIns="0" rtlCol="0" anchor="t"/>
          <a:lstStyle/>
          <a:p>
            <a:pPr algn="l" indent="0" marL="0">
              <a:lnSpc>
                <a:spcPts val="3748"/>
              </a:lnSpc>
              <a:buNone/>
            </a:pPr>
            <a:r>
              <a:rPr lang="en-US" sz="3945" b="1" spc="-131" kern="0" dirty="0">
                <a:solidFill>
                  <a:srgbClr val="7E3247"/>
                </a:solidFill>
                <a:latin typeface="Cambria" pitchFamily="34" charset="0"/>
                <a:ea typeface="Cambria" pitchFamily="34" charset="-122"/>
                <a:cs typeface="Cambria" pitchFamily="34" charset="-120"/>
              </a:rPr>
              <a:t>27.71</a:t>
            </a:r>
            <a:endParaRPr lang="en-US" sz="3945" dirty="0"/>
          </a:p>
        </p:txBody>
      </p:sp>
      <p:sp>
        <p:nvSpPr>
          <p:cNvPr id="22" name="Text 20"/>
          <p:cNvSpPr txBox="1"/>
          <p:nvPr/>
        </p:nvSpPr>
        <p:spPr>
          <a:xfrm>
            <a:off x="9360896" y="2773650"/>
            <a:ext cx="2003725" cy="252557"/>
          </a:xfrm>
          <a:prstGeom prst="rect">
            <a:avLst/>
          </a:prstGeom>
          <a:noFill/>
          <a:ln/>
        </p:spPr>
        <p:txBody>
          <a:bodyPr wrap="square" lIns="0" tIns="0" rIns="0" bIns="0" rtlCol="0" anchor="t"/>
          <a:lstStyle/>
          <a:p>
            <a:pPr algn="l" indent="0" marL="0">
              <a:lnSpc>
                <a:spcPts val="1003"/>
              </a:lnSpc>
              <a:buNone/>
            </a:pPr>
            <a:r>
              <a:rPr lang="en-US" sz="822" b="1" spc="105" kern="0" dirty="0">
                <a:solidFill>
                  <a:srgbClr val="14120F"/>
                </a:solidFill>
                <a:latin typeface="Calibri" pitchFamily="34" charset="0"/>
                <a:ea typeface="Calibri" pitchFamily="34" charset="-122"/>
                <a:cs typeface="Calibri" pitchFamily="34" charset="-120"/>
              </a:rPr>
              <a:t>NOISE2VOID · SINGLE NOISY IMAGES</a:t>
            </a:r>
            <a:endParaRPr lang="en-US" sz="822" dirty="0"/>
          </a:p>
        </p:txBody>
      </p:sp>
      <p:sp>
        <p:nvSpPr>
          <p:cNvPr id="23" name="Text 21"/>
          <p:cNvSpPr txBox="1"/>
          <p:nvPr/>
        </p:nvSpPr>
        <p:spPr>
          <a:xfrm>
            <a:off x="9360896" y="3103199"/>
            <a:ext cx="2003725" cy="406085"/>
          </a:xfrm>
          <a:prstGeom prst="rect">
            <a:avLst/>
          </a:prstGeom>
          <a:noFill/>
          <a:ln/>
        </p:spPr>
        <p:txBody>
          <a:bodyPr wrap="square" lIns="0" tIns="0" rIns="0" bIns="0" rtlCol="0" anchor="t"/>
          <a:lstStyle/>
          <a:p>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−1.35 dB from supervised, and 0.88 dB </a:t>
            </a:r>
            <a:pPr algn="l" indent="0" marL="0">
              <a:lnSpc>
                <a:spcPts val="1599"/>
              </a:lnSpc>
              <a:buNone/>
            </a:pPr>
            <a:r>
              <a:rPr kern="0" lang="en-US" sz="1052" b="1" dirty="0">
                <a:solidFill>
                  <a:srgbClr val="33302B"/>
                </a:solidFill>
                <a:latin typeface="Calibri" pitchFamily="34" charset="0"/>
                <a:ea typeface="Calibri" pitchFamily="34" charset="-122"/>
                <a:cs typeface="Calibri" pitchFamily="34" charset="-120"/>
              </a:rPr>
              <a:t>below</a:t>
            </a:r>
            <a:pPr algn="l" indent="0" marL="0">
              <a:lnSpc>
                <a:spcPts val="1599"/>
              </a:lnSpc>
              <a:buNone/>
            </a:pPr>
            <a:r>
              <a:rPr kern="0" lang="en-US" sz="1052" dirty="0">
                <a:solidFill>
                  <a:srgbClr val="33302B"/>
                </a:solidFill>
                <a:latin typeface="Calibri" pitchFamily="34" charset="0"/>
                <a:ea typeface="Calibri" pitchFamily="34" charset="-122"/>
                <a:cs typeface="Calibri" pitchFamily="34" charset="-120"/>
              </a:rPr>
              <a:t> BM3D in N2V's own table.</a:t>
            </a:r>
            <a:endParaRPr lang="en-US" sz="1052" dirty="0"/>
          </a:p>
        </p:txBody>
      </p:sp>
      <p:sp>
        <p:nvSpPr>
          <p:cNvPr id="24" name="Shape 22"/>
          <p:cNvSpPr/>
          <p:nvPr/>
        </p:nvSpPr>
        <p:spPr>
          <a:xfrm>
            <a:off x="1636685" y="3769888"/>
            <a:ext cx="9953793" cy="8321"/>
          </a:xfrm>
          <a:prstGeom prst="rect">
            <a:avLst/>
          </a:prstGeom>
          <a:solidFill>
            <a:srgbClr val="DFDBD2"/>
          </a:solidFill>
          <a:ln/>
        </p:spPr>
      </p:sp>
      <p:sp>
        <p:nvSpPr>
          <p:cNvPr id="25" name="Text 23"/>
          <p:cNvSpPr txBox="1"/>
          <p:nvPr/>
        </p:nvSpPr>
        <p:spPr>
          <a:xfrm>
            <a:off x="1636685" y="3920124"/>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26" name="Text 24"/>
          <p:cNvSpPr txBox="1"/>
          <p:nvPr/>
        </p:nvSpPr>
        <p:spPr>
          <a:xfrm>
            <a:off x="1987448" y="3908694"/>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Read the ladder honestly, and say it before you are asked.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On natural images with plentiful clean data, N2V is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worse than a 2007 algorithm</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paper does not hide this — it states that its performance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only drops moderately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and notes it still outperforms BM3D on its other benchmarks.</a:t>
            </a:r>
            <a:endParaRPr lang="en-US" sz="1216" dirty="0"/>
          </a:p>
        </p:txBody>
      </p:sp>
      <p:sp>
        <p:nvSpPr>
          <p:cNvPr id="27" name="Text 25"/>
          <p:cNvSpPr txBox="1"/>
          <p:nvPr/>
        </p:nvSpPr>
        <p:spPr>
          <a:xfrm>
            <a:off x="1636685" y="4517227"/>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28" name="Text 26"/>
          <p:cNvSpPr txBox="1"/>
          <p:nvPr/>
        </p:nvSpPr>
        <p:spPr>
          <a:xfrm>
            <a:off x="1987448" y="4505706"/>
            <a:ext cx="9658167" cy="6952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So why does N2V matter?</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Because the comparison above is the one case where the alternatives exist. The paper's real argument is the three biomedical datasets where they do not: cryo-TEM, and two Cell Tracking Challenge sets. For CTC-MSC and CTC-N2DH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only single noisy images exist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so neither traditional nor N2N training is applicable — and the ground-truth column in the paper's figure is literally captioned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does not exist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29" name="Text 27"/>
          <p:cNvSpPr txBox="1"/>
          <p:nvPr/>
        </p:nvSpPr>
        <p:spPr>
          <a:xfrm>
            <a:off x="1636685" y="5346040"/>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30" name="Text 28"/>
          <p:cNvSpPr txBox="1"/>
          <p:nvPr/>
        </p:nvSpPr>
        <p:spPr>
          <a:xfrm>
            <a:off x="1987448" y="5334518"/>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correct framing for the defence.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Self-supervision is not a quality technique. It is an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availability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technique. It trades PSNR for applicability, and in the domains it targets, the alternative is not a lower score — it is no denoiser at all.</a:t>
            </a:r>
            <a:endParaRPr lang="en-US" sz="1216" dirty="0"/>
          </a:p>
        </p:txBody>
      </p:sp>
      <p:sp>
        <p:nvSpPr>
          <p:cNvPr id="31" name="Text 29"/>
          <p:cNvSpPr txBox="1"/>
          <p:nvPr/>
        </p:nvSpPr>
        <p:spPr>
          <a:xfrm>
            <a:off x="9560601" y="6194511"/>
            <a:ext cx="2029877"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N2V19 §4.1, Fig. 4 — PSNR values as printed</a:t>
            </a:r>
            <a:endParaRPr lang="en-US" sz="855" dirty="0"/>
          </a:p>
        </p:txBody>
      </p:sp>
      <p:sp>
        <p:nvSpPr>
          <p:cNvPr id="32" name="Shape 30"/>
          <p:cNvSpPr/>
          <p:nvPr/>
        </p:nvSpPr>
        <p:spPr>
          <a:xfrm>
            <a:off x="1636685" y="6515466"/>
            <a:ext cx="9953793" cy="8321"/>
          </a:xfrm>
          <a:prstGeom prst="rect">
            <a:avLst/>
          </a:prstGeom>
          <a:solidFill>
            <a:srgbClr val="C9C4B9"/>
          </a:solidFill>
          <a:ln/>
        </p:spPr>
      </p:sp>
      <p:sp>
        <p:nvSpPr>
          <p:cNvPr id="33" name="Shape 31"/>
          <p:cNvSpPr/>
          <p:nvPr/>
        </p:nvSpPr>
        <p:spPr>
          <a:xfrm>
            <a:off x="7719365" y="6502938"/>
            <a:ext cx="3870930" cy="33376"/>
          </a:xfrm>
          <a:prstGeom prst="rect">
            <a:avLst/>
          </a:prstGeom>
          <a:solidFill>
            <a:srgbClr val="7E3247"/>
          </a:solidFill>
          <a:ln/>
        </p:spPr>
      </p:sp>
      <p:sp>
        <p:nvSpPr>
          <p:cNvPr id="34" name="Shape 32"/>
          <p:cNvSpPr/>
          <p:nvPr/>
        </p:nvSpPr>
        <p:spPr>
          <a:xfrm>
            <a:off x="1636685" y="6473678"/>
            <a:ext cx="8321" cy="41788"/>
          </a:xfrm>
          <a:prstGeom prst="rect">
            <a:avLst/>
          </a:prstGeom>
          <a:solidFill>
            <a:srgbClr val="C9C4B9"/>
          </a:solidFill>
          <a:ln/>
        </p:spPr>
      </p:sp>
      <p:sp>
        <p:nvSpPr>
          <p:cNvPr id="35" name="Text 33"/>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36" name="Shape 34"/>
          <p:cNvSpPr/>
          <p:nvPr/>
        </p:nvSpPr>
        <p:spPr>
          <a:xfrm>
            <a:off x="5507706" y="6473678"/>
            <a:ext cx="8321" cy="41788"/>
          </a:xfrm>
          <a:prstGeom prst="rect">
            <a:avLst/>
          </a:prstGeom>
          <a:solidFill>
            <a:srgbClr val="C9C4B9"/>
          </a:solidFill>
          <a:ln/>
        </p:spPr>
      </p:sp>
      <p:sp>
        <p:nvSpPr>
          <p:cNvPr id="37" name="Text 35"/>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8" name="Shape 36"/>
          <p:cNvSpPr/>
          <p:nvPr/>
        </p:nvSpPr>
        <p:spPr>
          <a:xfrm>
            <a:off x="7166884" y="6473678"/>
            <a:ext cx="8321" cy="41788"/>
          </a:xfrm>
          <a:prstGeom prst="rect">
            <a:avLst/>
          </a:prstGeom>
          <a:solidFill>
            <a:srgbClr val="C9C4B9"/>
          </a:solidFill>
          <a:ln/>
        </p:spPr>
      </p:sp>
      <p:sp>
        <p:nvSpPr>
          <p:cNvPr id="39" name="Text 37"/>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40" name="Shape 38"/>
          <p:cNvSpPr/>
          <p:nvPr/>
        </p:nvSpPr>
        <p:spPr>
          <a:xfrm>
            <a:off x="9931024" y="6473678"/>
            <a:ext cx="8321" cy="41788"/>
          </a:xfrm>
          <a:prstGeom prst="rect">
            <a:avLst/>
          </a:prstGeom>
          <a:solidFill>
            <a:srgbClr val="C9C4B9"/>
          </a:solidFill>
          <a:ln/>
        </p:spPr>
      </p:sp>
      <p:sp>
        <p:nvSpPr>
          <p:cNvPr id="41" name="Text 39"/>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42" name="Shape 40"/>
          <p:cNvSpPr/>
          <p:nvPr/>
        </p:nvSpPr>
        <p:spPr>
          <a:xfrm>
            <a:off x="11590477" y="6473678"/>
            <a:ext cx="8321" cy="41788"/>
          </a:xfrm>
          <a:prstGeom prst="rect">
            <a:avLst/>
          </a:prstGeom>
          <a:solidFill>
            <a:srgbClr val="C9C4B9"/>
          </a:solidFill>
          <a:ln/>
        </p:spPr>
      </p:sp>
      <p:sp>
        <p:nvSpPr>
          <p:cNvPr id="43" name="Text 41"/>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67772"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47</a:t>
            </a:r>
            <a:endParaRPr lang="en-US" sz="2545" dirty="0"/>
          </a:p>
        </p:txBody>
      </p:sp>
      <p:sp>
        <p:nvSpPr>
          <p:cNvPr id="3" name="Text 1"/>
          <p:cNvSpPr txBox="1"/>
          <p:nvPr/>
        </p:nvSpPr>
        <p:spPr>
          <a:xfrm rot="16200000">
            <a:off x="-336591" y="3428909"/>
            <a:ext cx="837225"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E3247"/>
                </a:solidFill>
                <a:latin typeface="Calibri" pitchFamily="34" charset="0"/>
                <a:ea typeface="Calibri" pitchFamily="34" charset="-122"/>
                <a:cs typeface="Calibri" pitchFamily="34" charset="-120"/>
              </a:rPr>
              <a:t>DATA BRANCH</a:t>
            </a:r>
            <a:endParaRPr lang="en-US" sz="694" dirty="0"/>
          </a:p>
        </p:txBody>
      </p:sp>
      <p:sp>
        <p:nvSpPr>
          <p:cNvPr id="4" name="Shape 2"/>
          <p:cNvSpPr/>
          <p:nvPr/>
        </p:nvSpPr>
        <p:spPr>
          <a:xfrm>
            <a:off x="1439540" y="433334"/>
            <a:ext cx="190927" cy="22037"/>
          </a:xfrm>
          <a:prstGeom prst="rect">
            <a:avLst/>
          </a:prstGeom>
          <a:solidFill>
            <a:srgbClr val="7E3247"/>
          </a:solidFill>
          <a:ln/>
        </p:spPr>
      </p:sp>
      <p:sp>
        <p:nvSpPr>
          <p:cNvPr id="5" name="Text 3"/>
          <p:cNvSpPr txBox="1"/>
          <p:nvPr/>
        </p:nvSpPr>
        <p:spPr>
          <a:xfrm>
            <a:off x="1718615" y="383865"/>
            <a:ext cx="442112"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E3247"/>
                </a:solidFill>
                <a:latin typeface="Calibri" pitchFamily="34" charset="0"/>
                <a:ea typeface="Calibri" pitchFamily="34" charset="-122"/>
                <a:cs typeface="Calibri" pitchFamily="34" charset="-120"/>
              </a:rPr>
              <a:t>ZS-N2N</a:t>
            </a:r>
            <a:endParaRPr lang="en-US" sz="781" dirty="0"/>
          </a:p>
        </p:txBody>
      </p:sp>
      <p:sp>
        <p:nvSpPr>
          <p:cNvPr id="6" name="Text 4"/>
          <p:cNvSpPr txBox="1"/>
          <p:nvPr/>
        </p:nvSpPr>
        <p:spPr>
          <a:xfrm>
            <a:off x="1439540" y="607070"/>
            <a:ext cx="699653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Zero-shot — removing the training set entirely</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Mansour and Heckel, CVPR 2023 (TU Munich / Rice). N2V still needs a </a:t>
            </a:r>
            <a:pPr algn="l" indent="0" marL="0">
              <a:lnSpc>
                <a:spcPts val="1735"/>
              </a:lnSpc>
              <a:buNone/>
            </a:pPr>
            <a:r>
              <a:rPr kern="0" lang="en-US" sz="1157" i="1" dirty="0">
                <a:solidFill>
                  <a:srgbClr val="5A554D"/>
                </a:solidFill>
                <a:latin typeface="Calibri" pitchFamily="34" charset="0"/>
                <a:ea typeface="Calibri" pitchFamily="34" charset="-122"/>
                <a:cs typeface="Calibri" pitchFamily="34" charset="-120"/>
              </a:rPr>
              <a:t>body of noisy data to train on</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ZS-N2N needs one image: the one you want to denoise. It has no training set, no pretraining, and about 20 000 parameters.</a:t>
            </a:r>
            <a:endParaRPr lang="en-US" sz="1157" dirty="0"/>
          </a:p>
        </p:txBody>
      </p:sp>
      <p:sp>
        <p:nvSpPr>
          <p:cNvPr id="8" name="Shape 6"/>
          <p:cNvSpPr/>
          <p:nvPr/>
        </p:nvSpPr>
        <p:spPr>
          <a:xfrm>
            <a:off x="3650468" y="1958553"/>
            <a:ext cx="5801411" cy="2056394"/>
          </a:xfrm>
          <a:prstGeom prst="rect">
            <a:avLst/>
          </a:prstGeom>
          <a:solidFill>
            <a:srgbClr val="FFFFFF"/>
          </a:solidFill>
          <a:ln/>
          <a:effectLst>
            <a:outerShdw sx="100000" sy="100000" kx="0" ky="0" algn="bl" rotWithShape="0" blurRad="22033" dist="7344" dir="5400000">
              <a:srgbClr val="14120F">
                <a:alpha val="12000"/>
              </a:srgbClr>
            </a:outerShdw>
          </a:effectLst>
        </p:spPr>
      </p:sp>
      <p:sp>
        <p:nvSpPr>
          <p:cNvPr id="9" name="Shape 7"/>
          <p:cNvSpPr/>
          <p:nvPr/>
        </p:nvSpPr>
        <p:spPr>
          <a:xfrm>
            <a:off x="3650468" y="1958553"/>
            <a:ext cx="5801411" cy="7315"/>
          </a:xfrm>
          <a:prstGeom prst="rect">
            <a:avLst/>
          </a:prstGeom>
          <a:solidFill>
            <a:srgbClr val="C9C4B9"/>
          </a:solidFill>
          <a:ln/>
        </p:spPr>
      </p:sp>
      <p:sp>
        <p:nvSpPr>
          <p:cNvPr id="10" name="Shape 8"/>
          <p:cNvSpPr/>
          <p:nvPr/>
        </p:nvSpPr>
        <p:spPr>
          <a:xfrm>
            <a:off x="3650468" y="4007632"/>
            <a:ext cx="5801411" cy="7315"/>
          </a:xfrm>
          <a:prstGeom prst="rect">
            <a:avLst/>
          </a:prstGeom>
          <a:solidFill>
            <a:srgbClr val="C9C4B9"/>
          </a:solidFill>
          <a:ln/>
        </p:spPr>
      </p:sp>
      <p:sp>
        <p:nvSpPr>
          <p:cNvPr id="11" name="Shape 9"/>
          <p:cNvSpPr/>
          <p:nvPr/>
        </p:nvSpPr>
        <p:spPr>
          <a:xfrm>
            <a:off x="3650468" y="1958553"/>
            <a:ext cx="7315" cy="2056394"/>
          </a:xfrm>
          <a:prstGeom prst="rect">
            <a:avLst/>
          </a:prstGeom>
          <a:solidFill>
            <a:srgbClr val="C9C4B9"/>
          </a:solidFill>
          <a:ln/>
        </p:spPr>
      </p:sp>
      <p:sp>
        <p:nvSpPr>
          <p:cNvPr id="12" name="Shape 10"/>
          <p:cNvSpPr/>
          <p:nvPr/>
        </p:nvSpPr>
        <p:spPr>
          <a:xfrm>
            <a:off x="9444563" y="1958553"/>
            <a:ext cx="7315" cy="2056394"/>
          </a:xfrm>
          <a:prstGeom prst="rect">
            <a:avLst/>
          </a:prstGeom>
          <a:solidFill>
            <a:srgbClr val="C9C4B9"/>
          </a:solidFill>
          <a:ln/>
        </p:spPr>
      </p:sp>
      <p:pic>
        <p:nvPicPr>
          <p:cNvPr id="13" name="Image 0" descr="ZS-N2N's own benchmark: PSNR against noise level for Gaussian and Poisson noise, and quality against wall-clock time on CPU and GPU, against DIP, S2S and BM3D.">    </p:cNvPr>
          <p:cNvPicPr>
            <a:picLocks noChangeAspect="1"/>
          </p:cNvPicPr>
          <p:nvPr/>
        </p:nvPicPr>
        <p:blipFill>
          <a:blip r:embed="rId1"/>
          <a:stretch>
            <a:fillRect/>
          </a:stretch>
        </p:blipFill>
        <p:spPr>
          <a:xfrm>
            <a:off x="3760653" y="2068739"/>
            <a:ext cx="5581040" cy="1836115"/>
          </a:xfrm>
          <a:prstGeom prst="rect">
            <a:avLst/>
          </a:prstGeom>
        </p:spPr>
      </p:pic>
      <p:sp>
        <p:nvSpPr>
          <p:cNvPr id="14" name="Text 11"/>
          <p:cNvSpPr txBox="1"/>
          <p:nvPr/>
        </p:nvSpPr>
        <p:spPr>
          <a:xfrm>
            <a:off x="3225637" y="4115623"/>
            <a:ext cx="6651071" cy="287853"/>
          </a:xfrm>
          <a:prstGeom prst="rect">
            <a:avLst/>
          </a:prstGeom>
          <a:noFill/>
          <a:ln/>
        </p:spPr>
        <p:txBody>
          <a:bodyPr wrap="square" lIns="0" tIns="0" rIns="0" bIns="0" rtlCol="0" anchor="t"/>
          <a:lstStyle/>
          <a:p>
            <a:pPr algn="ctr" indent="0" marL="0">
              <a:lnSpc>
                <a:spcPts val="1133"/>
              </a:lnSpc>
              <a:buNone/>
            </a:pPr>
            <a:r>
              <a:rPr kern="0" lang="en-US" sz="810" i="1" dirty="0">
                <a:solidFill>
                  <a:srgbClr val="8A847A"/>
                </a:solidFill>
                <a:latin typeface="Calibri" pitchFamily="34" charset="0"/>
                <a:ea typeface="Calibri" pitchFamily="34" charset="-122"/>
                <a:cs typeface="Calibri" pitchFamily="34" charset="-120"/>
              </a:rPr>
              <a:t>ZS-N2N's own benchmark: PSNR against noise level for Gaussian and Poisson noise, and quality against wall-clock time on CPU and GPU, against DIP, S2S and BM3D. [ZS-N2N23 · Fig. 1]</a:t>
            </a:r>
            <a:endParaRPr lang="en-US" sz="810" dirty="0"/>
          </a:p>
        </p:txBody>
      </p:sp>
      <p:sp>
        <p:nvSpPr>
          <p:cNvPr id="15" name="Shape 12"/>
          <p:cNvSpPr/>
          <p:nvPr/>
        </p:nvSpPr>
        <p:spPr>
          <a:xfrm>
            <a:off x="1439540" y="4596597"/>
            <a:ext cx="10223358" cy="1330909"/>
          </a:xfrm>
          <a:prstGeom prst="rect">
            <a:avLst/>
          </a:prstGeom>
          <a:solidFill>
            <a:srgbClr val="F1EBEA"/>
          </a:solidFill>
          <a:ln/>
        </p:spPr>
      </p:sp>
      <p:sp>
        <p:nvSpPr>
          <p:cNvPr id="16" name="Shape 13"/>
          <p:cNvSpPr/>
          <p:nvPr/>
        </p:nvSpPr>
        <p:spPr>
          <a:xfrm>
            <a:off x="1439540" y="4596597"/>
            <a:ext cx="29352" cy="1330909"/>
          </a:xfrm>
          <a:prstGeom prst="rect">
            <a:avLst/>
          </a:prstGeom>
          <a:solidFill>
            <a:srgbClr val="7E3247"/>
          </a:solidFill>
          <a:ln/>
        </p:spPr>
      </p:sp>
      <p:pic>
        <p:nvPicPr>
          <p:cNvPr id="17" name="Image 1" descr="D_{1} = y \circledast k_{1},\ \ k_{1} = \begin{pmatrix} 0 &amp; \tfrac{1}{2} \\[2pt] \tfrac{1}{2} &amp; 0 \end{pmatrix}\qquad D_{2} = y \circledast k_{2},\ \ k_{2} = \begin{pmatrix} \tfrac{1}{2} &amp; 0 \\[2pt] 0 &amp; \tfrac{1}{2} \end{pmatrix}\qquad (\text{stride } 2)">    </p:cNvPr>
          <p:cNvPicPr>
            <a:picLocks noChangeAspect="1"/>
          </p:cNvPicPr>
          <p:nvPr/>
        </p:nvPicPr>
        <p:blipFill>
          <a:blip r:embed="rId2"/>
          <a:stretch>
            <a:fillRect/>
          </a:stretch>
        </p:blipFill>
        <p:spPr>
          <a:xfrm>
            <a:off x="1645188" y="4721413"/>
            <a:ext cx="9817364" cy="844814"/>
          </a:xfrm>
          <a:prstGeom prst="rect">
            <a:avLst/>
          </a:prstGeom>
        </p:spPr>
      </p:pic>
      <p:sp>
        <p:nvSpPr>
          <p:cNvPr id="18" name="Text 14"/>
          <p:cNvSpPr txBox="1"/>
          <p:nvPr/>
        </p:nvSpPr>
        <p:spPr>
          <a:xfrm>
            <a:off x="1645188" y="5638922"/>
            <a:ext cx="4182100"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the </a:t>
            </a:r>
            <a:pPr algn="l" indent="0" marL="0">
              <a:lnSpc>
                <a:spcPts val="1284"/>
              </a:lnSpc>
              <a:buNone/>
            </a:pPr>
            <a:r>
              <a:rPr kern="0" lang="en-US" sz="867" b="1" i="1" dirty="0">
                <a:solidFill>
                  <a:srgbClr val="14120F"/>
                </a:solidFill>
                <a:latin typeface="Calibri" pitchFamily="34" charset="0"/>
                <a:ea typeface="Calibri" pitchFamily="34" charset="-122"/>
                <a:cs typeface="Calibri" pitchFamily="34" charset="-120"/>
              </a:rPr>
              <a:t>pair downsampler</a:t>
            </a:r>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 — each 2×2 block splits into its diagonal and anti-diagonal average</a:t>
            </a:r>
            <a:endParaRPr lang="en-US" sz="867" dirty="0"/>
          </a:p>
        </p:txBody>
      </p:sp>
      <p:sp>
        <p:nvSpPr>
          <p:cNvPr id="19" name="Text 15"/>
          <p:cNvSpPr txBox="1"/>
          <p:nvPr/>
        </p:nvSpPr>
        <p:spPr>
          <a:xfrm>
            <a:off x="10527579" y="6274430"/>
            <a:ext cx="1135319"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ZS-N2N23 §3, Eq. (2)–(6), §4</a:t>
            </a:r>
            <a:endParaRPr lang="en-US" sz="752" dirty="0"/>
          </a:p>
        </p:txBody>
      </p:sp>
      <p:sp>
        <p:nvSpPr>
          <p:cNvPr id="20" name="Shape 16"/>
          <p:cNvSpPr/>
          <p:nvPr/>
        </p:nvSpPr>
        <p:spPr>
          <a:xfrm>
            <a:off x="1439540" y="6556705"/>
            <a:ext cx="10223358" cy="7315"/>
          </a:xfrm>
          <a:prstGeom prst="rect">
            <a:avLst/>
          </a:prstGeom>
          <a:solidFill>
            <a:srgbClr val="C9C4B9"/>
          </a:solidFill>
          <a:ln/>
        </p:spPr>
      </p:sp>
      <p:sp>
        <p:nvSpPr>
          <p:cNvPr id="21" name="Shape 17"/>
          <p:cNvSpPr/>
          <p:nvPr/>
        </p:nvSpPr>
        <p:spPr>
          <a:xfrm>
            <a:off x="7686904" y="6545732"/>
            <a:ext cx="3975811" cy="29352"/>
          </a:xfrm>
          <a:prstGeom prst="rect">
            <a:avLst/>
          </a:prstGeom>
          <a:solidFill>
            <a:srgbClr val="7E3247"/>
          </a:solidFill>
          <a:ln/>
        </p:spPr>
      </p:sp>
      <p:sp>
        <p:nvSpPr>
          <p:cNvPr id="22" name="Shape 18"/>
          <p:cNvSpPr/>
          <p:nvPr/>
        </p:nvSpPr>
        <p:spPr>
          <a:xfrm>
            <a:off x="1439540" y="6519946"/>
            <a:ext cx="7315" cy="36759"/>
          </a:xfrm>
          <a:prstGeom prst="rect">
            <a:avLst/>
          </a:prstGeom>
          <a:solidFill>
            <a:srgbClr val="C9C4B9"/>
          </a:solidFill>
          <a:ln/>
        </p:spPr>
      </p:sp>
      <p:sp>
        <p:nvSpPr>
          <p:cNvPr id="23" name="Text 19"/>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4" name="Shape 20"/>
          <p:cNvSpPr/>
          <p:nvPr/>
        </p:nvSpPr>
        <p:spPr>
          <a:xfrm>
            <a:off x="5415351" y="6519946"/>
            <a:ext cx="7315" cy="36759"/>
          </a:xfrm>
          <a:prstGeom prst="rect">
            <a:avLst/>
          </a:prstGeom>
          <a:solidFill>
            <a:srgbClr val="C9C4B9"/>
          </a:solidFill>
          <a:ln/>
        </p:spPr>
      </p:sp>
      <p:sp>
        <p:nvSpPr>
          <p:cNvPr id="25" name="Text 21"/>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6" name="Shape 22"/>
          <p:cNvSpPr/>
          <p:nvPr/>
        </p:nvSpPr>
        <p:spPr>
          <a:xfrm>
            <a:off x="7119610" y="6519946"/>
            <a:ext cx="7315" cy="36759"/>
          </a:xfrm>
          <a:prstGeom prst="rect">
            <a:avLst/>
          </a:prstGeom>
          <a:solidFill>
            <a:srgbClr val="C9C4B9"/>
          </a:solidFill>
          <a:ln/>
        </p:spPr>
      </p:sp>
      <p:sp>
        <p:nvSpPr>
          <p:cNvPr id="27" name="Text 23"/>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28" name="Shape 24"/>
          <p:cNvSpPr/>
          <p:nvPr/>
        </p:nvSpPr>
        <p:spPr>
          <a:xfrm>
            <a:off x="9958639" y="6519946"/>
            <a:ext cx="7315" cy="36759"/>
          </a:xfrm>
          <a:prstGeom prst="rect">
            <a:avLst/>
          </a:prstGeom>
          <a:solidFill>
            <a:srgbClr val="C9C4B9"/>
          </a:solidFill>
          <a:ln/>
        </p:spPr>
      </p:sp>
      <p:sp>
        <p:nvSpPr>
          <p:cNvPr id="29" name="Text 25"/>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0" name="Shape 26"/>
          <p:cNvSpPr/>
          <p:nvPr/>
        </p:nvSpPr>
        <p:spPr>
          <a:xfrm>
            <a:off x="11662898" y="6519946"/>
            <a:ext cx="7315" cy="36759"/>
          </a:xfrm>
          <a:prstGeom prst="rect">
            <a:avLst/>
          </a:prstGeom>
          <a:solidFill>
            <a:srgbClr val="C9C4B9"/>
          </a:solidFill>
          <a:ln/>
        </p:spPr>
      </p:sp>
      <p:sp>
        <p:nvSpPr>
          <p:cNvPr id="31" name="Text 27"/>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815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47</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502737"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ZS-N2N</a:t>
            </a:r>
            <a:endParaRPr lang="en-US" sz="888" dirty="0"/>
          </a:p>
        </p:txBody>
      </p:sp>
      <p:sp>
        <p:nvSpPr>
          <p:cNvPr id="6" name="Text 4"/>
          <p:cNvSpPr txBox="1"/>
          <p:nvPr/>
        </p:nvSpPr>
        <p:spPr>
          <a:xfrm>
            <a:off x="2506828"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7955006"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Zero-shot — removing the training set entirely</a:t>
            </a:r>
            <a:endParaRPr lang="en-US" sz="3025" dirty="0"/>
          </a:p>
        </p:txBody>
      </p:sp>
      <p:sp>
        <p:nvSpPr>
          <p:cNvPr id="8" name="Shape 6"/>
          <p:cNvSpPr/>
          <p:nvPr/>
        </p:nvSpPr>
        <p:spPr>
          <a:xfrm>
            <a:off x="1636685" y="1241481"/>
            <a:ext cx="9953793" cy="1241572"/>
          </a:xfrm>
          <a:prstGeom prst="rect">
            <a:avLst/>
          </a:prstGeom>
          <a:solidFill>
            <a:srgbClr val="F1EBEA"/>
          </a:solidFill>
          <a:ln/>
        </p:spPr>
      </p:sp>
      <p:sp>
        <p:nvSpPr>
          <p:cNvPr id="9" name="Shape 7"/>
          <p:cNvSpPr/>
          <p:nvPr/>
        </p:nvSpPr>
        <p:spPr>
          <a:xfrm>
            <a:off x="1636685" y="1241481"/>
            <a:ext cx="33376" cy="1241572"/>
          </a:xfrm>
          <a:prstGeom prst="rect">
            <a:avLst/>
          </a:prstGeom>
          <a:solidFill>
            <a:srgbClr val="7E3247"/>
          </a:solidFill>
          <a:ln/>
        </p:spPr>
      </p:sp>
      <p:pic>
        <p:nvPicPr>
          <p:cNvPr id="10" name="Image 0" descr="L_{\mathrm{res}} \;=\; \tfrac{1}{2}\Big( \big\lVert D_{1} - f_{\theta}(D_{1}) - D_{2} \big\rVert^{2}\;+\; \big\lVert D_{2} - f_{\theta}(D_{2}) - D_{1} \big\rVert^{2} \Big)">    </p:cNvPr>
          <p:cNvPicPr>
            <a:picLocks noChangeAspect="1"/>
          </p:cNvPicPr>
          <p:nvPr/>
        </p:nvPicPr>
        <p:blipFill>
          <a:blip r:embed="rId1"/>
          <a:stretch>
            <a:fillRect/>
          </a:stretch>
        </p:blipFill>
        <p:spPr>
          <a:xfrm>
            <a:off x="1870497" y="1383396"/>
            <a:ext cx="8862090" cy="688909"/>
          </a:xfrm>
          <a:prstGeom prst="rect">
            <a:avLst/>
          </a:prstGeom>
        </p:spPr>
      </p:pic>
      <p:sp>
        <p:nvSpPr>
          <p:cNvPr id="11" name="Text 8"/>
          <p:cNvSpPr txBox="1"/>
          <p:nvPr/>
        </p:nvSpPr>
        <p:spPr>
          <a:xfrm>
            <a:off x="1870497" y="2155058"/>
            <a:ext cx="4607022" cy="185349"/>
          </a:xfrm>
          <a:prstGeom prst="rect">
            <a:avLst/>
          </a:prstGeom>
          <a:noFill/>
          <a:ln/>
        </p:spPr>
        <p:txBody>
          <a:bodyPr wrap="none" lIns="0" tIns="0" rIns="0" bIns="0" rtlCol="0" anchor="t"/>
          <a:lstStyle/>
          <a:p>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symmetric </a:t>
            </a:r>
            <a:pPr algn="l" indent="0" marL="0">
              <a:lnSpc>
                <a:spcPts val="1460"/>
              </a:lnSpc>
              <a:buNone/>
            </a:pPr>
            <a:r>
              <a:rPr kern="0" lang="en-US" sz="986" b="1" i="1" dirty="0">
                <a:solidFill>
                  <a:srgbClr val="14120F"/>
                </a:solidFill>
                <a:latin typeface="Calibri" pitchFamily="34" charset="0"/>
                <a:ea typeface="Calibri" pitchFamily="34" charset="-122"/>
                <a:cs typeface="Calibri" pitchFamily="34" charset="-120"/>
              </a:rPr>
              <a:t>residual</a:t>
            </a:r>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 loss — f_θ predicts the noise, exactly as DnCNN does, six years later</a:t>
            </a:r>
            <a:endParaRPr lang="en-US" sz="986" dirty="0"/>
          </a:p>
        </p:txBody>
      </p:sp>
      <p:sp>
        <p:nvSpPr>
          <p:cNvPr id="12" name="Shape 9"/>
          <p:cNvSpPr/>
          <p:nvPr/>
        </p:nvSpPr>
        <p:spPr>
          <a:xfrm>
            <a:off x="1636685" y="2608326"/>
            <a:ext cx="9953793" cy="1083381"/>
          </a:xfrm>
          <a:prstGeom prst="rect">
            <a:avLst/>
          </a:prstGeom>
          <a:solidFill>
            <a:srgbClr val="F1EBEA"/>
          </a:solidFill>
          <a:ln/>
        </p:spPr>
      </p:sp>
      <p:sp>
        <p:nvSpPr>
          <p:cNvPr id="13" name="Shape 10"/>
          <p:cNvSpPr/>
          <p:nvPr/>
        </p:nvSpPr>
        <p:spPr>
          <a:xfrm>
            <a:off x="1636685" y="2608326"/>
            <a:ext cx="33376" cy="1083381"/>
          </a:xfrm>
          <a:prstGeom prst="rect">
            <a:avLst/>
          </a:prstGeom>
          <a:solidFill>
            <a:srgbClr val="7E3247"/>
          </a:solidFill>
          <a:ln/>
        </p:spPr>
      </p:sp>
      <p:pic>
        <p:nvPicPr>
          <p:cNvPr id="14" name="Image 1" descr="L_{\mathrm{cons}} \;=\; \tfrac{1}{2}\Big( \big\lVert D_{1} - f_{\theta}(D_{1}) - D_{1}\big(y - f_{\theta}(y)\big) \big\rVert^{2}\;+\; \big\lVert D_{2} - f_{\theta}(D_{2}) - D_{2}\big(y - f_{\theta}(y)\big) \big\rVert^{2} \Big)">    </p:cNvPr>
          <p:cNvPicPr>
            <a:picLocks noChangeAspect="1"/>
          </p:cNvPicPr>
          <p:nvPr/>
        </p:nvPicPr>
        <p:blipFill>
          <a:blip r:embed="rId2"/>
          <a:stretch>
            <a:fillRect/>
          </a:stretch>
        </p:blipFill>
        <p:spPr>
          <a:xfrm>
            <a:off x="1870497" y="2750332"/>
            <a:ext cx="9519544" cy="530626"/>
          </a:xfrm>
          <a:prstGeom prst="rect">
            <a:avLst/>
          </a:prstGeom>
        </p:spPr>
      </p:pic>
      <p:sp>
        <p:nvSpPr>
          <p:cNvPr id="15" name="Text 11"/>
          <p:cNvSpPr txBox="1"/>
          <p:nvPr/>
        </p:nvSpPr>
        <p:spPr>
          <a:xfrm>
            <a:off x="1870497" y="3363620"/>
            <a:ext cx="4512381" cy="185349"/>
          </a:xfrm>
          <a:prstGeom prst="rect">
            <a:avLst/>
          </a:prstGeom>
          <a:noFill/>
          <a:ln/>
        </p:spPr>
        <p:txBody>
          <a:bodyPr wrap="none" lIns="0" tIns="0" rIns="0" bIns="0" rtlCol="0" anchor="t"/>
          <a:lstStyle/>
          <a:p>
            <a:pPr algn="l" indent="0" marL="0">
              <a:lnSpc>
                <a:spcPts val="1460"/>
              </a:lnSpc>
              <a:buNone/>
            </a:pPr>
            <a:r>
              <a:rPr kern="0" lang="en-US" sz="986" b="1" i="1" dirty="0">
                <a:solidFill>
                  <a:srgbClr val="14120F"/>
                </a:solidFill>
                <a:latin typeface="Calibri" pitchFamily="34" charset="0"/>
                <a:ea typeface="Calibri" pitchFamily="34" charset="-122"/>
                <a:cs typeface="Calibri" pitchFamily="34" charset="-120"/>
              </a:rPr>
              <a:t>consistency</a:t>
            </a:r>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 — denoise-then-downsample must agree with downsample-then-denoise</a:t>
            </a:r>
            <a:endParaRPr lang="en-US" sz="986" dirty="0"/>
          </a:p>
        </p:txBody>
      </p:sp>
      <p:sp>
        <p:nvSpPr>
          <p:cNvPr id="16" name="Shape 12"/>
          <p:cNvSpPr/>
          <p:nvPr/>
        </p:nvSpPr>
        <p:spPr>
          <a:xfrm>
            <a:off x="1636685" y="3816980"/>
            <a:ext cx="9953793" cy="8321"/>
          </a:xfrm>
          <a:prstGeom prst="rect">
            <a:avLst/>
          </a:prstGeom>
          <a:solidFill>
            <a:srgbClr val="DFDBD2"/>
          </a:solidFill>
          <a:ln/>
        </p:spPr>
      </p:sp>
      <p:sp>
        <p:nvSpPr>
          <p:cNvPr id="17" name="Text 13"/>
          <p:cNvSpPr txBox="1"/>
          <p:nvPr/>
        </p:nvSpPr>
        <p:spPr>
          <a:xfrm>
            <a:off x="1636685" y="3967216"/>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8" name="Text 14"/>
          <p:cNvSpPr txBox="1"/>
          <p:nvPr/>
        </p:nvSpPr>
        <p:spPr>
          <a:xfrm>
            <a:off x="1987448" y="3955786"/>
            <a:ext cx="8514984"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Minimise L = L_res + L_cons on that one image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then estimate x̂ = y − f_θ̂(y). Only θ is optimised; D₁ and D₂ are fixed convolutions.</a:t>
            </a:r>
            <a:endParaRPr lang="en-US" sz="1216" dirty="0"/>
          </a:p>
        </p:txBody>
      </p:sp>
      <p:sp>
        <p:nvSpPr>
          <p:cNvPr id="19" name="Text 15"/>
          <p:cNvSpPr txBox="1"/>
          <p:nvPr/>
        </p:nvSpPr>
        <p:spPr>
          <a:xfrm>
            <a:off x="1636685" y="4332610"/>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20" name="Text 16"/>
          <p:cNvSpPr txBox="1"/>
          <p:nvPr/>
        </p:nvSpPr>
        <p:spPr>
          <a:xfrm>
            <a:off x="1987448" y="4321089"/>
            <a:ext cx="8286933"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Why the pair is valid.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Nearby clean pixels are correlated while noise is not, so the pair has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similar signal but independent noise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21" name="Text 17"/>
          <p:cNvSpPr txBox="1"/>
          <p:nvPr/>
        </p:nvSpPr>
        <p:spPr>
          <a:xfrm>
            <a:off x="1636685" y="4697913"/>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22" name="Text 18"/>
          <p:cNvSpPr txBox="1"/>
          <p:nvPr/>
        </p:nvSpPr>
        <p:spPr>
          <a:xfrm>
            <a:off x="1987448" y="4686483"/>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Why consistency matters.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residual loss only sees half resolution; the consistency term is the only one that sees the full image, and it removes the need for early stopping.</a:t>
            </a:r>
            <a:endParaRPr lang="en-US" sz="1216" dirty="0"/>
          </a:p>
        </p:txBody>
      </p:sp>
      <p:sp>
        <p:nvSpPr>
          <p:cNvPr id="23" name="Text 19"/>
          <p:cNvSpPr txBox="1"/>
          <p:nvPr/>
        </p:nvSpPr>
        <p:spPr>
          <a:xfrm>
            <a:off x="1636685" y="5295016"/>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24" name="Text 20"/>
          <p:cNvSpPr txBox="1"/>
          <p:nvPr/>
        </p:nvSpPr>
        <p:spPr>
          <a:xfrm>
            <a:off x="1987448" y="5283495"/>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network:</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two 3×3 operators and one 1×1 —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 20 K parameters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a minute on CPU. A U-Net overfits and does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much worse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For scale, Self2Self needs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1.2 hours for one 256×256 image on a GPU</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25" name="Text 21"/>
          <p:cNvSpPr txBox="1"/>
          <p:nvPr/>
        </p:nvSpPr>
        <p:spPr>
          <a:xfrm>
            <a:off x="10299619" y="6194511"/>
            <a:ext cx="1290767"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ZS-N2N23 §3, Eq. (2)–(6), §4</a:t>
            </a:r>
            <a:endParaRPr lang="en-US" sz="855" dirty="0"/>
          </a:p>
        </p:txBody>
      </p:sp>
      <p:sp>
        <p:nvSpPr>
          <p:cNvPr id="26" name="Shape 22"/>
          <p:cNvSpPr/>
          <p:nvPr/>
        </p:nvSpPr>
        <p:spPr>
          <a:xfrm>
            <a:off x="1636685" y="6515466"/>
            <a:ext cx="9953793" cy="8321"/>
          </a:xfrm>
          <a:prstGeom prst="rect">
            <a:avLst/>
          </a:prstGeom>
          <a:solidFill>
            <a:srgbClr val="C9C4B9"/>
          </a:solidFill>
          <a:ln/>
        </p:spPr>
      </p:sp>
      <p:sp>
        <p:nvSpPr>
          <p:cNvPr id="27" name="Shape 23"/>
          <p:cNvSpPr/>
          <p:nvPr/>
        </p:nvSpPr>
        <p:spPr>
          <a:xfrm>
            <a:off x="7719365" y="6502938"/>
            <a:ext cx="3870930" cy="33376"/>
          </a:xfrm>
          <a:prstGeom prst="rect">
            <a:avLst/>
          </a:prstGeom>
          <a:solidFill>
            <a:srgbClr val="7E3247"/>
          </a:solidFill>
          <a:ln/>
        </p:spPr>
      </p:sp>
      <p:sp>
        <p:nvSpPr>
          <p:cNvPr id="28" name="Shape 24"/>
          <p:cNvSpPr/>
          <p:nvPr/>
        </p:nvSpPr>
        <p:spPr>
          <a:xfrm>
            <a:off x="1636685" y="6473678"/>
            <a:ext cx="8321" cy="41788"/>
          </a:xfrm>
          <a:prstGeom prst="rect">
            <a:avLst/>
          </a:prstGeom>
          <a:solidFill>
            <a:srgbClr val="C9C4B9"/>
          </a:solidFill>
          <a:ln/>
        </p:spPr>
      </p:sp>
      <p:sp>
        <p:nvSpPr>
          <p:cNvPr id="29" name="Text 25"/>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30" name="Shape 26"/>
          <p:cNvSpPr/>
          <p:nvPr/>
        </p:nvSpPr>
        <p:spPr>
          <a:xfrm>
            <a:off x="5507706" y="6473678"/>
            <a:ext cx="8321" cy="41788"/>
          </a:xfrm>
          <a:prstGeom prst="rect">
            <a:avLst/>
          </a:prstGeom>
          <a:solidFill>
            <a:srgbClr val="C9C4B9"/>
          </a:solidFill>
          <a:ln/>
        </p:spPr>
      </p:sp>
      <p:sp>
        <p:nvSpPr>
          <p:cNvPr id="31" name="Text 27"/>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2" name="Shape 28"/>
          <p:cNvSpPr/>
          <p:nvPr/>
        </p:nvSpPr>
        <p:spPr>
          <a:xfrm>
            <a:off x="7166884" y="6473678"/>
            <a:ext cx="8321" cy="41788"/>
          </a:xfrm>
          <a:prstGeom prst="rect">
            <a:avLst/>
          </a:prstGeom>
          <a:solidFill>
            <a:srgbClr val="C9C4B9"/>
          </a:solidFill>
          <a:ln/>
        </p:spPr>
      </p:sp>
      <p:sp>
        <p:nvSpPr>
          <p:cNvPr id="33" name="Text 29"/>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4" name="Shape 30"/>
          <p:cNvSpPr/>
          <p:nvPr/>
        </p:nvSpPr>
        <p:spPr>
          <a:xfrm>
            <a:off x="9931024" y="6473678"/>
            <a:ext cx="8321" cy="41788"/>
          </a:xfrm>
          <a:prstGeom prst="rect">
            <a:avLst/>
          </a:prstGeom>
          <a:solidFill>
            <a:srgbClr val="C9C4B9"/>
          </a:solidFill>
          <a:ln/>
        </p:spPr>
      </p:sp>
      <p:sp>
        <p:nvSpPr>
          <p:cNvPr id="35" name="Text 31"/>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6" name="Shape 32"/>
          <p:cNvSpPr/>
          <p:nvPr/>
        </p:nvSpPr>
        <p:spPr>
          <a:xfrm>
            <a:off x="11590477" y="6473678"/>
            <a:ext cx="8321" cy="41788"/>
          </a:xfrm>
          <a:prstGeom prst="rect">
            <a:avLst/>
          </a:prstGeom>
          <a:solidFill>
            <a:srgbClr val="C9C4B9"/>
          </a:solidFill>
          <a:ln/>
        </p:spPr>
      </p:sp>
      <p:sp>
        <p:nvSpPr>
          <p:cNvPr id="37" name="Text 33"/>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40924"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48</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294254"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P2N</a:t>
            </a:r>
            <a:endParaRPr lang="en-US" sz="888" dirty="0"/>
          </a:p>
        </p:txBody>
      </p:sp>
      <p:sp>
        <p:nvSpPr>
          <p:cNvPr id="6" name="Text 4"/>
          <p:cNvSpPr txBox="1"/>
          <p:nvPr/>
        </p:nvSpPr>
        <p:spPr>
          <a:xfrm>
            <a:off x="1636685" y="690281"/>
            <a:ext cx="8764981"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Positive2Negative — removing the information loss</a:t>
            </a:r>
            <a:endParaRPr lang="en-US" sz="3025" dirty="0"/>
          </a:p>
        </p:txBody>
      </p:sp>
      <p:sp>
        <p:nvSpPr>
          <p:cNvPr id="7" name="Text 5"/>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Li, Wang, Xu, Zhu, Lu and Huang, CVPR 2025. Every self-supervised method so far pays for its training signal by </a:t>
            </a:r>
            <a:pPr algn="l" indent="0" marL="0">
              <a:lnSpc>
                <a:spcPts val="1973"/>
              </a:lnSpc>
              <a:buNone/>
            </a:pPr>
            <a:r>
              <a:rPr kern="0" lang="en-US" sz="1315" i="1" dirty="0">
                <a:solidFill>
                  <a:srgbClr val="5A554D"/>
                </a:solidFill>
                <a:latin typeface="Calibri" pitchFamily="34" charset="0"/>
                <a:ea typeface="Calibri" pitchFamily="34" charset="-122"/>
                <a:cs typeface="Calibri" pitchFamily="34" charset="-120"/>
              </a:rPr>
              <a:t>throwing information away</a:t>
            </a:r>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 N2V blinds a pixel, ZS-N2N halves the resolution. P2N's claim is that neither sacrifice is necessary.</a:t>
            </a:r>
            <a:endParaRPr lang="en-US" sz="1315" dirty="0"/>
          </a:p>
        </p:txBody>
      </p:sp>
      <p:sp>
        <p:nvSpPr>
          <p:cNvPr id="8" name="Shape 6"/>
          <p:cNvSpPr/>
          <p:nvPr/>
        </p:nvSpPr>
        <p:spPr>
          <a:xfrm>
            <a:off x="4867808" y="2226838"/>
            <a:ext cx="3491454" cy="2338121"/>
          </a:xfrm>
          <a:prstGeom prst="rect">
            <a:avLst/>
          </a:prstGeom>
          <a:solidFill>
            <a:srgbClr val="FFFFFF"/>
          </a:solidFill>
          <a:ln/>
          <a:effectLst>
            <a:outerShdw sx="100000" sy="100000" kx="0" ky="0" algn="bl" rotWithShape="0" blurRad="25052" dist="8350" dir="5400000">
              <a:srgbClr val="14120F">
                <a:alpha val="12000"/>
              </a:srgbClr>
            </a:outerShdw>
          </a:effectLst>
        </p:spPr>
      </p:sp>
      <p:sp>
        <p:nvSpPr>
          <p:cNvPr id="9" name="Shape 7"/>
          <p:cNvSpPr/>
          <p:nvPr/>
        </p:nvSpPr>
        <p:spPr>
          <a:xfrm>
            <a:off x="4867808" y="2226838"/>
            <a:ext cx="3491454" cy="8321"/>
          </a:xfrm>
          <a:prstGeom prst="rect">
            <a:avLst/>
          </a:prstGeom>
          <a:solidFill>
            <a:srgbClr val="C9C4B9"/>
          </a:solidFill>
          <a:ln/>
        </p:spPr>
      </p:sp>
      <p:sp>
        <p:nvSpPr>
          <p:cNvPr id="10" name="Shape 8"/>
          <p:cNvSpPr/>
          <p:nvPr/>
        </p:nvSpPr>
        <p:spPr>
          <a:xfrm>
            <a:off x="4867808" y="4556638"/>
            <a:ext cx="3491454" cy="8321"/>
          </a:xfrm>
          <a:prstGeom prst="rect">
            <a:avLst/>
          </a:prstGeom>
          <a:solidFill>
            <a:srgbClr val="C9C4B9"/>
          </a:solidFill>
          <a:ln/>
        </p:spPr>
      </p:sp>
      <p:sp>
        <p:nvSpPr>
          <p:cNvPr id="11" name="Shape 9"/>
          <p:cNvSpPr/>
          <p:nvPr/>
        </p:nvSpPr>
        <p:spPr>
          <a:xfrm>
            <a:off x="4867808" y="2226838"/>
            <a:ext cx="8321" cy="2338121"/>
          </a:xfrm>
          <a:prstGeom prst="rect">
            <a:avLst/>
          </a:prstGeom>
          <a:solidFill>
            <a:srgbClr val="C9C4B9"/>
          </a:solidFill>
          <a:ln/>
        </p:spPr>
      </p:sp>
      <p:sp>
        <p:nvSpPr>
          <p:cNvPr id="12" name="Shape 10"/>
          <p:cNvSpPr/>
          <p:nvPr/>
        </p:nvSpPr>
        <p:spPr>
          <a:xfrm>
            <a:off x="8350849" y="2226838"/>
            <a:ext cx="8321" cy="2338121"/>
          </a:xfrm>
          <a:prstGeom prst="rect">
            <a:avLst/>
          </a:prstGeom>
          <a:solidFill>
            <a:srgbClr val="C9C4B9"/>
          </a:solidFill>
          <a:ln/>
        </p:spPr>
      </p:sp>
      <p:pic>
        <p:nvPicPr>
          <p:cNvPr id="13" name="Image 0" descr="The information-lossy barrier, made visible: ZS-N2N, MASH and ATBSN all lose fine text and fabric structure that P2N's renoise-and-agree supervision preserves.">    </p:cNvPr>
          <p:cNvPicPr>
            <a:picLocks noChangeAspect="1"/>
          </p:cNvPicPr>
          <p:nvPr/>
        </p:nvPicPr>
        <p:blipFill>
          <a:blip r:embed="rId1"/>
          <a:stretch>
            <a:fillRect/>
          </a:stretch>
        </p:blipFill>
        <p:spPr>
          <a:xfrm>
            <a:off x="4993081" y="2352111"/>
            <a:ext cx="3240908" cy="2087575"/>
          </a:xfrm>
          <a:prstGeom prst="rect">
            <a:avLst/>
          </a:prstGeom>
        </p:spPr>
      </p:pic>
      <p:sp>
        <p:nvSpPr>
          <p:cNvPr id="14" name="Text 11"/>
          <p:cNvSpPr txBox="1"/>
          <p:nvPr/>
        </p:nvSpPr>
        <p:spPr>
          <a:xfrm>
            <a:off x="2832445" y="4679351"/>
            <a:ext cx="7562179" cy="327264"/>
          </a:xfrm>
          <a:prstGeom prst="rect">
            <a:avLst/>
          </a:prstGeom>
          <a:noFill/>
          <a:ln/>
        </p:spPr>
        <p:txBody>
          <a:bodyPr wrap="square" lIns="0" tIns="0" rIns="0" bIns="0" rtlCol="0" anchor="t"/>
          <a:lstStyle/>
          <a:p>
            <a:pPr algn="ctr" indent="0" marL="0">
              <a:lnSpc>
                <a:spcPts val="1289"/>
              </a:lnSpc>
              <a:buNone/>
            </a:pPr>
            <a:r>
              <a:rPr kern="0" lang="en-US" sz="921" i="1" dirty="0">
                <a:solidFill>
                  <a:srgbClr val="8A847A"/>
                </a:solidFill>
                <a:latin typeface="Calibri" pitchFamily="34" charset="0"/>
                <a:ea typeface="Calibri" pitchFamily="34" charset="-122"/>
                <a:cs typeface="Calibri" pitchFamily="34" charset="-120"/>
              </a:rPr>
              <a:t>The information-lossy barrier, made visible: ZS-N2N, MASH and ATBSN all lose fine text and fabric structure that P2N's renoise-and-agree supervision preserves. [P2N25 · Fig. 2]</a:t>
            </a:r>
            <a:endParaRPr lang="en-US" sz="921" dirty="0"/>
          </a:p>
        </p:txBody>
      </p:sp>
      <p:sp>
        <p:nvSpPr>
          <p:cNvPr id="15" name="Text 12"/>
          <p:cNvSpPr txBox="1"/>
          <p:nvPr/>
        </p:nvSpPr>
        <p:spPr>
          <a:xfrm>
            <a:off x="5938662" y="6207039"/>
            <a:ext cx="5651815"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P2N25 (CVPR 2025, pp. 17924–17934; arXiv:2412.16460) 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repository `github.com/Li-Tong-621/P2N-plus` [measured]</a:t>
            </a:r>
            <a:endParaRPr lang="en-US" sz="633" dirty="0"/>
          </a:p>
        </p:txBody>
      </p:sp>
      <p:sp>
        <p:nvSpPr>
          <p:cNvPr id="16" name="Shape 13"/>
          <p:cNvSpPr/>
          <p:nvPr/>
        </p:nvSpPr>
        <p:spPr>
          <a:xfrm>
            <a:off x="1636685" y="6515466"/>
            <a:ext cx="9953793" cy="8321"/>
          </a:xfrm>
          <a:prstGeom prst="rect">
            <a:avLst/>
          </a:prstGeom>
          <a:solidFill>
            <a:srgbClr val="C9C4B9"/>
          </a:solidFill>
          <a:ln/>
        </p:spPr>
      </p:sp>
      <p:sp>
        <p:nvSpPr>
          <p:cNvPr id="17" name="Shape 14"/>
          <p:cNvSpPr/>
          <p:nvPr/>
        </p:nvSpPr>
        <p:spPr>
          <a:xfrm>
            <a:off x="7719365" y="6502938"/>
            <a:ext cx="3870930" cy="33376"/>
          </a:xfrm>
          <a:prstGeom prst="rect">
            <a:avLst/>
          </a:prstGeom>
          <a:solidFill>
            <a:srgbClr val="7E3247"/>
          </a:solidFill>
          <a:ln/>
        </p:spPr>
      </p:sp>
      <p:sp>
        <p:nvSpPr>
          <p:cNvPr id="18" name="Shape 15"/>
          <p:cNvSpPr/>
          <p:nvPr/>
        </p:nvSpPr>
        <p:spPr>
          <a:xfrm>
            <a:off x="1636685" y="6473678"/>
            <a:ext cx="8321" cy="41788"/>
          </a:xfrm>
          <a:prstGeom prst="rect">
            <a:avLst/>
          </a:prstGeom>
          <a:solidFill>
            <a:srgbClr val="C9C4B9"/>
          </a:solidFill>
          <a:ln/>
        </p:spPr>
      </p:sp>
      <p:sp>
        <p:nvSpPr>
          <p:cNvPr id="19" name="Text 16"/>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0" name="Shape 17"/>
          <p:cNvSpPr/>
          <p:nvPr/>
        </p:nvSpPr>
        <p:spPr>
          <a:xfrm>
            <a:off x="5507706" y="6473678"/>
            <a:ext cx="8321" cy="41788"/>
          </a:xfrm>
          <a:prstGeom prst="rect">
            <a:avLst/>
          </a:prstGeom>
          <a:solidFill>
            <a:srgbClr val="C9C4B9"/>
          </a:solidFill>
          <a:ln/>
        </p:spPr>
      </p:sp>
      <p:sp>
        <p:nvSpPr>
          <p:cNvPr id="21" name="Text 18"/>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2" name="Shape 19"/>
          <p:cNvSpPr/>
          <p:nvPr/>
        </p:nvSpPr>
        <p:spPr>
          <a:xfrm>
            <a:off x="7166884" y="6473678"/>
            <a:ext cx="8321" cy="41788"/>
          </a:xfrm>
          <a:prstGeom prst="rect">
            <a:avLst/>
          </a:prstGeom>
          <a:solidFill>
            <a:srgbClr val="C9C4B9"/>
          </a:solidFill>
          <a:ln/>
        </p:spPr>
      </p:sp>
      <p:sp>
        <p:nvSpPr>
          <p:cNvPr id="23" name="Text 20"/>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4" name="Shape 21"/>
          <p:cNvSpPr/>
          <p:nvPr/>
        </p:nvSpPr>
        <p:spPr>
          <a:xfrm>
            <a:off x="9931024" y="6473678"/>
            <a:ext cx="8321" cy="41788"/>
          </a:xfrm>
          <a:prstGeom prst="rect">
            <a:avLst/>
          </a:prstGeom>
          <a:solidFill>
            <a:srgbClr val="C9C4B9"/>
          </a:solidFill>
          <a:ln/>
        </p:spPr>
      </p:sp>
      <p:sp>
        <p:nvSpPr>
          <p:cNvPr id="25" name="Text 22"/>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6" name="Shape 23"/>
          <p:cNvSpPr/>
          <p:nvPr/>
        </p:nvSpPr>
        <p:spPr>
          <a:xfrm>
            <a:off x="11590477" y="6473678"/>
            <a:ext cx="8321" cy="41788"/>
          </a:xfrm>
          <a:prstGeom prst="rect">
            <a:avLst/>
          </a:prstGeom>
          <a:solidFill>
            <a:srgbClr val="C9C4B9"/>
          </a:solidFill>
          <a:ln/>
        </p:spPr>
      </p:sp>
      <p:sp>
        <p:nvSpPr>
          <p:cNvPr id="27" name="Text 24"/>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412577"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48</a:t>
            </a:r>
            <a:endParaRPr lang="en-US" sz="2708" dirty="0"/>
          </a:p>
        </p:txBody>
      </p:sp>
      <p:sp>
        <p:nvSpPr>
          <p:cNvPr id="3" name="Text 1"/>
          <p:cNvSpPr txBox="1"/>
          <p:nvPr/>
        </p:nvSpPr>
        <p:spPr>
          <a:xfrm rot="16200000">
            <a:off x="-358170" y="3428909"/>
            <a:ext cx="890900"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7E3247"/>
                </a:solidFill>
                <a:latin typeface="Calibri" pitchFamily="34" charset="0"/>
                <a:ea typeface="Calibri" pitchFamily="34" charset="-122"/>
                <a:cs typeface="Calibri" pitchFamily="34" charset="-120"/>
              </a:rPr>
              <a:t>DATA BRANCH</a:t>
            </a:r>
            <a:endParaRPr lang="en-US" sz="738" dirty="0"/>
          </a:p>
        </p:txBody>
      </p:sp>
      <p:sp>
        <p:nvSpPr>
          <p:cNvPr id="4" name="Shape 2"/>
          <p:cNvSpPr/>
          <p:nvPr/>
        </p:nvSpPr>
        <p:spPr>
          <a:xfrm>
            <a:off x="1531803" y="461132"/>
            <a:ext cx="203180" cy="23409"/>
          </a:xfrm>
          <a:prstGeom prst="rect">
            <a:avLst/>
          </a:prstGeom>
          <a:solidFill>
            <a:srgbClr val="7E3247"/>
          </a:solidFill>
          <a:ln/>
        </p:spPr>
      </p:sp>
      <p:sp>
        <p:nvSpPr>
          <p:cNvPr id="5" name="Text 3"/>
          <p:cNvSpPr txBox="1"/>
          <p:nvPr/>
        </p:nvSpPr>
        <p:spPr>
          <a:xfrm>
            <a:off x="1828800" y="408462"/>
            <a:ext cx="275326"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7E3247"/>
                </a:solidFill>
                <a:latin typeface="Calibri" pitchFamily="34" charset="0"/>
                <a:ea typeface="Calibri" pitchFamily="34" charset="-122"/>
                <a:cs typeface="Calibri" pitchFamily="34" charset="-120"/>
              </a:rPr>
              <a:t>P2N</a:t>
            </a:r>
            <a:endParaRPr lang="en-US" sz="831" dirty="0"/>
          </a:p>
        </p:txBody>
      </p:sp>
      <p:sp>
        <p:nvSpPr>
          <p:cNvPr id="6" name="Text 4"/>
          <p:cNvSpPr txBox="1"/>
          <p:nvPr/>
        </p:nvSpPr>
        <p:spPr>
          <a:xfrm>
            <a:off x="2151035" y="408462"/>
            <a:ext cx="81299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7E3247"/>
                </a:solidFill>
                <a:latin typeface="Calibri" pitchFamily="34" charset="0"/>
                <a:ea typeface="Calibri" pitchFamily="34" charset="-122"/>
                <a:cs typeface="Calibri" pitchFamily="34" charset="-120"/>
              </a:rPr>
              <a:t>· CONTINUED</a:t>
            </a:r>
            <a:endParaRPr lang="en-US" sz="831" dirty="0"/>
          </a:p>
        </p:txBody>
      </p:sp>
      <p:sp>
        <p:nvSpPr>
          <p:cNvPr id="7" name="Text 5"/>
          <p:cNvSpPr txBox="1"/>
          <p:nvPr/>
        </p:nvSpPr>
        <p:spPr>
          <a:xfrm>
            <a:off x="1531803" y="646024"/>
            <a:ext cx="8203082"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Positive2Negative — removing the information loss</a:t>
            </a:r>
            <a:endParaRPr lang="en-US" sz="2831" dirty="0"/>
          </a:p>
        </p:txBody>
      </p:sp>
      <p:sp>
        <p:nvSpPr>
          <p:cNvPr id="8" name="Shape 6"/>
          <p:cNvSpPr/>
          <p:nvPr/>
        </p:nvSpPr>
        <p:spPr>
          <a:xfrm>
            <a:off x="6580388" y="1161928"/>
            <a:ext cx="7772" cy="3238988"/>
          </a:xfrm>
          <a:prstGeom prst="rect">
            <a:avLst/>
          </a:prstGeom>
          <a:solidFill>
            <a:srgbClr val="DFDBD2"/>
          </a:solidFill>
          <a:ln/>
        </p:spPr>
      </p:sp>
      <p:sp>
        <p:nvSpPr>
          <p:cNvPr id="9" name="Shape 7"/>
          <p:cNvSpPr/>
          <p:nvPr/>
        </p:nvSpPr>
        <p:spPr>
          <a:xfrm>
            <a:off x="1531803" y="1161928"/>
            <a:ext cx="4876678" cy="15636"/>
          </a:xfrm>
          <a:prstGeom prst="rect">
            <a:avLst/>
          </a:prstGeom>
          <a:solidFill>
            <a:srgbClr val="7E3247"/>
          </a:solidFill>
          <a:ln/>
        </p:spPr>
      </p:sp>
      <p:sp>
        <p:nvSpPr>
          <p:cNvPr id="10" name="Text 8"/>
          <p:cNvSpPr txBox="1"/>
          <p:nvPr/>
        </p:nvSpPr>
        <p:spPr>
          <a:xfrm>
            <a:off x="1531803" y="1306678"/>
            <a:ext cx="1793687"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The two mechanisms</a:t>
            </a:r>
            <a:pPr algn="l" indent="0" marL="0">
              <a:lnSpc>
                <a:spcPts val="1598"/>
              </a:lnSpc>
              <a:buNone/>
            </a:pPr>
            <a:r>
              <a:rPr lang="en-US" sz="1002" b="1" spc="-25" kern="0" dirty="0">
                <a:solidFill>
                  <a:srgbClr val="C0451A"/>
                </a:solidFill>
                <a:latin typeface="Cambria" pitchFamily="34" charset="0"/>
                <a:ea typeface="Cambria" pitchFamily="34" charset="-122"/>
                <a:cs typeface="Cambria" pitchFamily="34" charset="-120"/>
              </a:rPr>
              <a:t>[1]</a:t>
            </a:r>
            <a:endParaRPr lang="en-US" sz="1354" dirty="0"/>
          </a:p>
        </p:txBody>
      </p:sp>
      <p:sp>
        <p:nvSpPr>
          <p:cNvPr id="11" name="Shape 9"/>
          <p:cNvSpPr/>
          <p:nvPr/>
        </p:nvSpPr>
        <p:spPr>
          <a:xfrm>
            <a:off x="1531803" y="1669512"/>
            <a:ext cx="62545" cy="39045"/>
          </a:xfrm>
          <a:prstGeom prst="rect">
            <a:avLst/>
          </a:prstGeom>
          <a:solidFill>
            <a:srgbClr val="7E3247"/>
          </a:solidFill>
          <a:ln/>
        </p:spPr>
      </p:sp>
      <p:sp>
        <p:nvSpPr>
          <p:cNvPr id="12" name="Text 10"/>
          <p:cNvSpPr txBox="1"/>
          <p:nvPr/>
        </p:nvSpPr>
        <p:spPr>
          <a:xfrm>
            <a:off x="1688074" y="1604040"/>
            <a:ext cx="4754880" cy="867491"/>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RDC — Renoised Data Construction.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Denoise the image once, estimate the noise, then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add that estimated noise back</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with a plus and with a minus, producing y⁺ and y⁻. Both retain the full resolution and every pixel of the original.</a:t>
            </a:r>
            <a:endParaRPr lang="en-US" sz="1138" dirty="0"/>
          </a:p>
        </p:txBody>
      </p:sp>
      <p:sp>
        <p:nvSpPr>
          <p:cNvPr id="13" name="Shape 11"/>
          <p:cNvSpPr/>
          <p:nvPr/>
        </p:nvSpPr>
        <p:spPr>
          <a:xfrm>
            <a:off x="1531803" y="2662093"/>
            <a:ext cx="62545" cy="39045"/>
          </a:xfrm>
          <a:prstGeom prst="rect">
            <a:avLst/>
          </a:prstGeom>
          <a:solidFill>
            <a:srgbClr val="7E3247"/>
          </a:solidFill>
          <a:ln/>
        </p:spPr>
      </p:sp>
      <p:sp>
        <p:nvSpPr>
          <p:cNvPr id="14" name="Text 12"/>
          <p:cNvSpPr txBox="1"/>
          <p:nvPr/>
        </p:nvSpPr>
        <p:spPr>
          <a:xfrm>
            <a:off x="1688074" y="2596622"/>
            <a:ext cx="4754880"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DCS — Denoised Consistency Supervision.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Denoise y⁺ and y⁻ and train the two results to agree. The supervision signal is the disagreement between two renoised views of the same image.</a:t>
            </a:r>
            <a:endParaRPr lang="en-US" sz="1138" dirty="0"/>
          </a:p>
        </p:txBody>
      </p:sp>
      <p:sp>
        <p:nvSpPr>
          <p:cNvPr id="15" name="Shape 13"/>
          <p:cNvSpPr/>
          <p:nvPr/>
        </p:nvSpPr>
        <p:spPr>
          <a:xfrm>
            <a:off x="1531803" y="3437687"/>
            <a:ext cx="62545" cy="39045"/>
          </a:xfrm>
          <a:prstGeom prst="rect">
            <a:avLst/>
          </a:prstGeom>
          <a:solidFill>
            <a:srgbClr val="7E3247"/>
          </a:solidFill>
          <a:ln/>
        </p:spPr>
      </p:sp>
      <p:sp>
        <p:nvSpPr>
          <p:cNvPr id="16" name="Text 14"/>
          <p:cNvSpPr txBox="1"/>
          <p:nvPr/>
        </p:nvSpPr>
        <p:spPr>
          <a:xfrm>
            <a:off x="1688074" y="3372216"/>
            <a:ext cx="4754880" cy="65059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Nothing is masked. Nothing is downsampled. The barrier the title names —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the information-lossy barrier in self-supervised single image denoising</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is the masking-and-downsampling tax that N2V and ZS-N2N both pay.</a:t>
            </a:r>
            <a:endParaRPr lang="en-US" sz="1138" dirty="0"/>
          </a:p>
        </p:txBody>
      </p:sp>
      <p:sp>
        <p:nvSpPr>
          <p:cNvPr id="17" name="Shape 15"/>
          <p:cNvSpPr/>
          <p:nvPr/>
        </p:nvSpPr>
        <p:spPr>
          <a:xfrm>
            <a:off x="6752295" y="1161928"/>
            <a:ext cx="4876678" cy="15636"/>
          </a:xfrm>
          <a:prstGeom prst="rect">
            <a:avLst/>
          </a:prstGeom>
          <a:solidFill>
            <a:srgbClr val="7E3247"/>
          </a:solidFill>
          <a:ln/>
        </p:spPr>
      </p:sp>
      <p:sp>
        <p:nvSpPr>
          <p:cNvPr id="18" name="Text 16"/>
          <p:cNvSpPr txBox="1"/>
          <p:nvPr/>
        </p:nvSpPr>
        <p:spPr>
          <a:xfrm>
            <a:off x="6752295" y="1294882"/>
            <a:ext cx="3877879"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Why this is a </a:t>
            </a:r>
            <a:pPr algn="l" indent="0" marL="0">
              <a:lnSpc>
                <a:spcPts val="1598"/>
              </a:lnSpc>
              <a:buNone/>
            </a:pPr>
            <a:r>
              <a:rPr lang="en-US" sz="1354" b="1" i="1" spc="-25" kern="0" dirty="0">
                <a:solidFill>
                  <a:srgbClr val="14120F"/>
                </a:solidFill>
                <a:latin typeface="Cambria" pitchFamily="34" charset="0"/>
                <a:ea typeface="Cambria" pitchFamily="34" charset="-122"/>
                <a:cs typeface="Cambria" pitchFamily="34" charset="-120"/>
              </a:rPr>
              <a:t>supervision</a:t>
            </a:r>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 change, not a loss change</a:t>
            </a:r>
            <a:endParaRPr lang="en-US" sz="1354" dirty="0"/>
          </a:p>
        </p:txBody>
      </p:sp>
      <p:sp>
        <p:nvSpPr>
          <p:cNvPr id="19" name="Shape 17"/>
          <p:cNvSpPr/>
          <p:nvPr/>
        </p:nvSpPr>
        <p:spPr>
          <a:xfrm>
            <a:off x="6752295" y="1669512"/>
            <a:ext cx="62545" cy="39045"/>
          </a:xfrm>
          <a:prstGeom prst="rect">
            <a:avLst/>
          </a:prstGeom>
          <a:solidFill>
            <a:srgbClr val="7E3247"/>
          </a:solidFill>
          <a:ln/>
        </p:spPr>
      </p:sp>
      <p:sp>
        <p:nvSpPr>
          <p:cNvPr id="20" name="Text 18"/>
          <p:cNvSpPr txBox="1"/>
          <p:nvPr/>
        </p:nvSpPr>
        <p:spPr>
          <a:xfrm>
            <a:off x="6908658" y="1604040"/>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This distinction matters and it is easy to get wrong. P2N does not merely swap one loss function for another.</a:t>
            </a:r>
            <a:endParaRPr lang="en-US" sz="1138" dirty="0"/>
          </a:p>
        </p:txBody>
      </p:sp>
      <p:sp>
        <p:nvSpPr>
          <p:cNvPr id="21" name="Shape 19"/>
          <p:cNvSpPr/>
          <p:nvPr/>
        </p:nvSpPr>
        <p:spPr>
          <a:xfrm>
            <a:off x="6752295" y="2228301"/>
            <a:ext cx="62545" cy="39045"/>
          </a:xfrm>
          <a:prstGeom prst="rect">
            <a:avLst/>
          </a:prstGeom>
          <a:solidFill>
            <a:srgbClr val="7E3247"/>
          </a:solidFill>
          <a:ln/>
        </p:spPr>
      </p:sp>
      <p:sp>
        <p:nvSpPr>
          <p:cNvPr id="22" name="Text 20"/>
          <p:cNvSpPr txBox="1"/>
          <p:nvPr/>
        </p:nvSpPr>
        <p:spPr>
          <a:xfrm>
            <a:off x="6908658" y="2162830"/>
            <a:ext cx="4754880"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It changes what goes into the network.</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inputs y⁺ and y⁻ are constructed from the model's own output — they do not exist until the model has run once.</a:t>
            </a:r>
            <a:endParaRPr lang="en-US" sz="1138" dirty="0"/>
          </a:p>
        </p:txBody>
      </p:sp>
      <p:sp>
        <p:nvSpPr>
          <p:cNvPr id="23" name="Shape 21"/>
          <p:cNvSpPr/>
          <p:nvPr/>
        </p:nvSpPr>
        <p:spPr>
          <a:xfrm>
            <a:off x="6752295" y="2787091"/>
            <a:ext cx="62545" cy="39045"/>
          </a:xfrm>
          <a:prstGeom prst="rect">
            <a:avLst/>
          </a:prstGeom>
          <a:solidFill>
            <a:srgbClr val="7E3247"/>
          </a:solidFill>
          <a:ln/>
        </p:spPr>
      </p:sp>
      <p:sp>
        <p:nvSpPr>
          <p:cNvPr id="24" name="Text 22"/>
          <p:cNvSpPr txBox="1"/>
          <p:nvPr/>
        </p:nvSpPr>
        <p:spPr>
          <a:xfrm>
            <a:off x="6908658" y="2721620"/>
            <a:ext cx="4754880" cy="44933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It changes how many forward passes there are.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Three, not one: denoise y, then denoise y⁺, then denoise y⁻.</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[2]</a:t>
            </a:r>
            <a:endParaRPr lang="en-US" sz="1138" dirty="0"/>
          </a:p>
        </p:txBody>
      </p:sp>
      <p:sp>
        <p:nvSpPr>
          <p:cNvPr id="25" name="Shape 23"/>
          <p:cNvSpPr/>
          <p:nvPr/>
        </p:nvSpPr>
        <p:spPr>
          <a:xfrm>
            <a:off x="6752295" y="3345881"/>
            <a:ext cx="62545" cy="39045"/>
          </a:xfrm>
          <a:prstGeom prst="rect">
            <a:avLst/>
          </a:prstGeom>
          <a:solidFill>
            <a:srgbClr val="7E3247"/>
          </a:solidFill>
          <a:ln/>
        </p:spPr>
      </p:sp>
      <p:sp>
        <p:nvSpPr>
          <p:cNvPr id="26" name="Text 24"/>
          <p:cNvSpPr txBox="1"/>
          <p:nvPr/>
        </p:nvSpPr>
        <p:spPr>
          <a:xfrm>
            <a:off x="6908658" y="3280410"/>
            <a:ext cx="4754880"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It changes which pair is scored.</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comparison is output-against-output, not output-against-target.</a:t>
            </a:r>
            <a:endParaRPr lang="en-US" sz="1138" dirty="0"/>
          </a:p>
        </p:txBody>
      </p:sp>
      <p:sp>
        <p:nvSpPr>
          <p:cNvPr id="27" name="Shape 25"/>
          <p:cNvSpPr/>
          <p:nvPr/>
        </p:nvSpPr>
        <p:spPr>
          <a:xfrm>
            <a:off x="6752295" y="3904671"/>
            <a:ext cx="62545" cy="39045"/>
          </a:xfrm>
          <a:prstGeom prst="rect">
            <a:avLst/>
          </a:prstGeom>
          <a:solidFill>
            <a:srgbClr val="7E3247"/>
          </a:solidFill>
          <a:ln/>
        </p:spPr>
      </p:sp>
      <p:sp>
        <p:nvSpPr>
          <p:cNvPr id="28" name="Text 26"/>
          <p:cNvSpPr txBox="1"/>
          <p:nvPr/>
        </p:nvSpPr>
        <p:spPr>
          <a:xfrm>
            <a:off x="6908658" y="3839200"/>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 loss function scores a fixed prediction against a fixed target. P2N rewrites the whole training signal — what is shown, how many times, and what is compared.</a:t>
            </a:r>
            <a:endParaRPr lang="en-US" sz="1138" dirty="0"/>
          </a:p>
        </p:txBody>
      </p:sp>
      <p:sp>
        <p:nvSpPr>
          <p:cNvPr id="29" name="Shape 27"/>
          <p:cNvSpPr/>
          <p:nvPr/>
        </p:nvSpPr>
        <p:spPr>
          <a:xfrm>
            <a:off x="1531803" y="4619732"/>
            <a:ext cx="10097262" cy="15636"/>
          </a:xfrm>
          <a:prstGeom prst="rect">
            <a:avLst/>
          </a:prstGeom>
          <a:solidFill>
            <a:srgbClr val="7E3247"/>
          </a:solidFill>
          <a:ln/>
        </p:spPr>
      </p:sp>
      <p:sp>
        <p:nvSpPr>
          <p:cNvPr id="30" name="Text 28"/>
          <p:cNvSpPr txBox="1"/>
          <p:nvPr/>
        </p:nvSpPr>
        <p:spPr>
          <a:xfrm>
            <a:off x="1531803" y="4758446"/>
            <a:ext cx="10153223" cy="41367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And the architecture?</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Unchanged. The network class in the official repository is literally named </a:t>
            </a:r>
            <a:pPr algn="l" indent="0" marL="0">
              <a:lnSpc>
                <a:spcPts val="1569"/>
              </a:lnSpc>
              <a:buNone/>
            </a:pPr>
            <a:r>
              <a:rPr kern="0" lang="en-US" sz="942" dirty="0">
                <a:solidFill>
                  <a:srgbClr val="145A66"/>
                </a:solidFill>
                <a:latin typeface="Consolas" pitchFamily="34" charset="0"/>
                <a:ea typeface="Consolas" pitchFamily="34" charset="-122"/>
                <a:cs typeface="Consolas" pitchFamily="34" charset="-120"/>
              </a:rPr>
              <a:t>UNet_n2n_un</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and matches the 2018 Noise2Noise channel widths exactly. P2N+ adds one optional module, Symmetric Prior Injection. Seven years of progress on this branch, and the network is the same one. </a:t>
            </a:r>
            <a:pPr algn="l" indent="0" marL="0">
              <a:lnSpc>
                <a:spcPts val="1569"/>
              </a:lnSpc>
              <a:buNone/>
            </a:pPr>
            <a:r>
              <a:rPr kern="0" lang="en-US" sz="942" dirty="0">
                <a:solidFill>
                  <a:srgbClr val="145A66"/>
                </a:solidFill>
                <a:latin typeface="Consolas" pitchFamily="34" charset="0"/>
                <a:ea typeface="Consolas" pitchFamily="34" charset="-122"/>
                <a:cs typeface="Consolas" pitchFamily="34" charset="-120"/>
              </a:rPr>
              <a:t>[measured — P2N-plus, commit 8a117db]</a:t>
            </a:r>
            <a:endParaRPr lang="en-US" sz="1046" dirty="0"/>
          </a:p>
        </p:txBody>
      </p:sp>
      <p:sp>
        <p:nvSpPr>
          <p:cNvPr id="31" name="Text 29"/>
          <p:cNvSpPr txBox="1"/>
          <p:nvPr/>
        </p:nvSpPr>
        <p:spPr>
          <a:xfrm>
            <a:off x="6339444" y="6248827"/>
            <a:ext cx="5289530"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P2N25 (CVPR 2025, pp. 17924–17934; arXiv:2412.16460) 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repository `github.com/Li-Tong-621/P2N-plus` [measured]</a:t>
            </a:r>
            <a:endParaRPr lang="en-US" sz="592" dirty="0"/>
          </a:p>
        </p:txBody>
      </p:sp>
      <p:sp>
        <p:nvSpPr>
          <p:cNvPr id="32" name="Shape 30"/>
          <p:cNvSpPr/>
          <p:nvPr/>
        </p:nvSpPr>
        <p:spPr>
          <a:xfrm>
            <a:off x="1531803" y="6537411"/>
            <a:ext cx="10097262" cy="7772"/>
          </a:xfrm>
          <a:prstGeom prst="rect">
            <a:avLst/>
          </a:prstGeom>
          <a:solidFill>
            <a:srgbClr val="C9C4B9"/>
          </a:solidFill>
          <a:ln/>
        </p:spPr>
      </p:sp>
      <p:sp>
        <p:nvSpPr>
          <p:cNvPr id="33" name="Shape 31"/>
          <p:cNvSpPr/>
          <p:nvPr/>
        </p:nvSpPr>
        <p:spPr>
          <a:xfrm>
            <a:off x="7702083" y="6525707"/>
            <a:ext cx="3926799" cy="31272"/>
          </a:xfrm>
          <a:prstGeom prst="rect">
            <a:avLst/>
          </a:prstGeom>
          <a:solidFill>
            <a:srgbClr val="7E3247"/>
          </a:solidFill>
          <a:ln/>
        </p:spPr>
      </p:sp>
      <p:sp>
        <p:nvSpPr>
          <p:cNvPr id="34" name="Shape 32"/>
          <p:cNvSpPr/>
          <p:nvPr/>
        </p:nvSpPr>
        <p:spPr>
          <a:xfrm>
            <a:off x="1531803" y="6498366"/>
            <a:ext cx="7772" cy="39045"/>
          </a:xfrm>
          <a:prstGeom prst="rect">
            <a:avLst/>
          </a:prstGeom>
          <a:solidFill>
            <a:srgbClr val="C9C4B9"/>
          </a:solidFill>
          <a:ln/>
        </p:spPr>
      </p:sp>
      <p:sp>
        <p:nvSpPr>
          <p:cNvPr id="35" name="Text 33"/>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6" name="Shape 34"/>
          <p:cNvSpPr/>
          <p:nvPr/>
        </p:nvSpPr>
        <p:spPr>
          <a:xfrm>
            <a:off x="5458511" y="6498366"/>
            <a:ext cx="7772" cy="39045"/>
          </a:xfrm>
          <a:prstGeom prst="rect">
            <a:avLst/>
          </a:prstGeom>
          <a:solidFill>
            <a:srgbClr val="C9C4B9"/>
          </a:solidFill>
          <a:ln/>
        </p:spPr>
      </p:sp>
      <p:sp>
        <p:nvSpPr>
          <p:cNvPr id="37" name="Text 35"/>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8" name="Shape 36"/>
          <p:cNvSpPr/>
          <p:nvPr/>
        </p:nvSpPr>
        <p:spPr>
          <a:xfrm>
            <a:off x="7141738" y="6498366"/>
            <a:ext cx="7772" cy="39045"/>
          </a:xfrm>
          <a:prstGeom prst="rect">
            <a:avLst/>
          </a:prstGeom>
          <a:solidFill>
            <a:srgbClr val="C9C4B9"/>
          </a:solidFill>
          <a:ln/>
        </p:spPr>
      </p:sp>
      <p:sp>
        <p:nvSpPr>
          <p:cNvPr id="39" name="Text 37"/>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40" name="Shape 38"/>
          <p:cNvSpPr/>
          <p:nvPr/>
        </p:nvSpPr>
        <p:spPr>
          <a:xfrm>
            <a:off x="9945654" y="6498366"/>
            <a:ext cx="7772" cy="39045"/>
          </a:xfrm>
          <a:prstGeom prst="rect">
            <a:avLst/>
          </a:prstGeom>
          <a:solidFill>
            <a:srgbClr val="C9C4B9"/>
          </a:solidFill>
          <a:ln/>
        </p:spPr>
      </p:sp>
      <p:sp>
        <p:nvSpPr>
          <p:cNvPr id="41" name="Text 39"/>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42" name="Shape 40"/>
          <p:cNvSpPr/>
          <p:nvPr/>
        </p:nvSpPr>
        <p:spPr>
          <a:xfrm>
            <a:off x="11628973" y="6498366"/>
            <a:ext cx="7772" cy="39045"/>
          </a:xfrm>
          <a:prstGeom prst="rect">
            <a:avLst/>
          </a:prstGeom>
          <a:solidFill>
            <a:srgbClr val="C9C4B9"/>
          </a:solidFill>
          <a:ln/>
        </p:spPr>
      </p:sp>
      <p:sp>
        <p:nvSpPr>
          <p:cNvPr id="43" name="Text 41"/>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80665"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49</a:t>
            </a:r>
            <a:endParaRPr lang="en-US" sz="2545" dirty="0"/>
          </a:p>
        </p:txBody>
      </p:sp>
      <p:sp>
        <p:nvSpPr>
          <p:cNvPr id="3" name="Text 1"/>
          <p:cNvSpPr txBox="1"/>
          <p:nvPr/>
        </p:nvSpPr>
        <p:spPr>
          <a:xfrm rot="16200000">
            <a:off x="-336591" y="3428909"/>
            <a:ext cx="837225"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E3247"/>
                </a:solidFill>
                <a:latin typeface="Calibri" pitchFamily="34" charset="0"/>
                <a:ea typeface="Calibri" pitchFamily="34" charset="-122"/>
                <a:cs typeface="Calibri" pitchFamily="34" charset="-120"/>
              </a:rPr>
              <a:t>DATA BRANCH</a:t>
            </a:r>
            <a:endParaRPr lang="en-US" sz="694" dirty="0"/>
          </a:p>
        </p:txBody>
      </p:sp>
      <p:sp>
        <p:nvSpPr>
          <p:cNvPr id="4" name="Shape 2"/>
          <p:cNvSpPr/>
          <p:nvPr/>
        </p:nvSpPr>
        <p:spPr>
          <a:xfrm>
            <a:off x="1439540" y="439735"/>
            <a:ext cx="190927" cy="22037"/>
          </a:xfrm>
          <a:prstGeom prst="rect">
            <a:avLst/>
          </a:prstGeom>
          <a:solidFill>
            <a:srgbClr val="7E3247"/>
          </a:solidFill>
          <a:ln/>
        </p:spPr>
      </p:sp>
      <p:sp>
        <p:nvSpPr>
          <p:cNvPr id="5" name="Text 3"/>
          <p:cNvSpPr txBox="1"/>
          <p:nvPr/>
        </p:nvSpPr>
        <p:spPr>
          <a:xfrm>
            <a:off x="1718615" y="390266"/>
            <a:ext cx="1110630"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E3247"/>
                </a:solidFill>
                <a:latin typeface="Calibri" pitchFamily="34" charset="0"/>
                <a:ea typeface="Calibri" pitchFamily="34" charset="-122"/>
                <a:cs typeface="Calibri" pitchFamily="34" charset="-120"/>
              </a:rPr>
              <a:t>THE THROUGH-LINE</a:t>
            </a:r>
            <a:endParaRPr lang="en-US" sz="781" dirty="0"/>
          </a:p>
        </p:txBody>
      </p:sp>
      <p:sp>
        <p:nvSpPr>
          <p:cNvPr id="6" name="Text 4"/>
          <p:cNvSpPr txBox="1"/>
          <p:nvPr/>
        </p:nvSpPr>
        <p:spPr>
          <a:xfrm>
            <a:off x="1439540" y="869686"/>
            <a:ext cx="627580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The network never moved. The target did.</a:t>
            </a:r>
            <a:endParaRPr lang="en-US" sz="2660" dirty="0"/>
          </a:p>
        </p:txBody>
      </p:sp>
      <p:sp>
        <p:nvSpPr>
          <p:cNvPr id="7" name="Text 5"/>
          <p:cNvSpPr txBox="1"/>
          <p:nvPr/>
        </p:nvSpPr>
        <p:spPr>
          <a:xfrm>
            <a:off x="1439540" y="161702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Four papers, seven years, one branch. Read them as a single sequence and each one removes exactly one requirement its predecessor could not drop — while the backbone stays a U-Net of roughly the 2018 shape throughout.</a:t>
            </a:r>
            <a:endParaRPr lang="en-US" sz="1157" dirty="0"/>
          </a:p>
        </p:txBody>
      </p:sp>
      <p:sp>
        <p:nvSpPr>
          <p:cNvPr id="8" name="Shape 6"/>
          <p:cNvSpPr/>
          <p:nvPr/>
        </p:nvSpPr>
        <p:spPr>
          <a:xfrm>
            <a:off x="1439540" y="2746218"/>
            <a:ext cx="4950104" cy="14722"/>
          </a:xfrm>
          <a:prstGeom prst="rect">
            <a:avLst/>
          </a:prstGeom>
          <a:solidFill>
            <a:srgbClr val="7E3247"/>
          </a:solidFill>
          <a:ln/>
        </p:spPr>
      </p:sp>
      <p:sp>
        <p:nvSpPr>
          <p:cNvPr id="9" name="Text 7"/>
          <p:cNvSpPr txBox="1"/>
          <p:nvPr/>
        </p:nvSpPr>
        <p:spPr>
          <a:xfrm>
            <a:off x="1439540" y="2878348"/>
            <a:ext cx="265359"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7E3247"/>
                </a:solidFill>
                <a:latin typeface="Calibri" pitchFamily="34" charset="0"/>
                <a:ea typeface="Calibri" pitchFamily="34" charset="-122"/>
                <a:cs typeface="Calibri" pitchFamily="34" charset="-120"/>
              </a:rPr>
              <a:t>2018</a:t>
            </a:r>
            <a:endParaRPr lang="en-US" sz="665" dirty="0"/>
          </a:p>
        </p:txBody>
      </p:sp>
      <p:sp>
        <p:nvSpPr>
          <p:cNvPr id="10" name="Text 8"/>
          <p:cNvSpPr txBox="1"/>
          <p:nvPr/>
        </p:nvSpPr>
        <p:spPr>
          <a:xfrm>
            <a:off x="1439540" y="3058485"/>
            <a:ext cx="1036747"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Noise2Noise</a:t>
            </a:r>
            <a:pPr algn="l" indent="0" marL="0">
              <a:lnSpc>
                <a:spcPts val="1501"/>
              </a:lnSpc>
              <a:buNone/>
            </a:pPr>
            <a:r>
              <a:rPr lang="en-US" sz="941" b="1" spc="-23" kern="0" dirty="0">
                <a:solidFill>
                  <a:srgbClr val="C0451A"/>
                </a:solidFill>
                <a:latin typeface="Cambria" pitchFamily="34" charset="0"/>
                <a:ea typeface="Cambria" pitchFamily="34" charset="-122"/>
                <a:cs typeface="Cambria" pitchFamily="34" charset="-120"/>
              </a:rPr>
              <a:t>[1]</a:t>
            </a:r>
            <a:endParaRPr lang="en-US" sz="1272" dirty="0"/>
          </a:p>
        </p:txBody>
      </p:sp>
      <p:sp>
        <p:nvSpPr>
          <p:cNvPr id="11" name="Text 9"/>
          <p:cNvSpPr txBox="1"/>
          <p:nvPr/>
        </p:nvSpPr>
        <p:spPr>
          <a:xfrm>
            <a:off x="1439540" y="3336828"/>
            <a:ext cx="4984577" cy="552572"/>
          </a:xfrm>
          <a:prstGeom prst="rect">
            <a:avLst/>
          </a:prstGeom>
          <a:noFill/>
          <a:ln/>
        </p:spPr>
        <p:txBody>
          <a:bodyPr wrap="square" lIns="0" tIns="0" rIns="0" bIns="0" rtlCol="0" anchor="t"/>
          <a:lstStyle/>
          <a:p>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Target:</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 second noisy photograph of the same scene.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Requirement removed:</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clean image.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Cost:</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you must capture the scene twice, which rules out anything that moves and every archival image.</a:t>
            </a:r>
            <a:endParaRPr lang="en-US" sz="954" dirty="0"/>
          </a:p>
        </p:txBody>
      </p:sp>
      <p:sp>
        <p:nvSpPr>
          <p:cNvPr id="12" name="Shape 10"/>
          <p:cNvSpPr/>
          <p:nvPr/>
        </p:nvSpPr>
        <p:spPr>
          <a:xfrm>
            <a:off x="6712793" y="2746218"/>
            <a:ext cx="4950104" cy="14722"/>
          </a:xfrm>
          <a:prstGeom prst="rect">
            <a:avLst/>
          </a:prstGeom>
          <a:solidFill>
            <a:srgbClr val="7E3247"/>
          </a:solidFill>
          <a:ln/>
        </p:spPr>
      </p:sp>
      <p:sp>
        <p:nvSpPr>
          <p:cNvPr id="13" name="Text 11"/>
          <p:cNvSpPr txBox="1"/>
          <p:nvPr/>
        </p:nvSpPr>
        <p:spPr>
          <a:xfrm>
            <a:off x="6712793" y="2878348"/>
            <a:ext cx="265359"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7E3247"/>
                </a:solidFill>
                <a:latin typeface="Calibri" pitchFamily="34" charset="0"/>
                <a:ea typeface="Calibri" pitchFamily="34" charset="-122"/>
                <a:cs typeface="Calibri" pitchFamily="34" charset="-120"/>
              </a:rPr>
              <a:t>2019</a:t>
            </a:r>
            <a:endParaRPr lang="en-US" sz="665" dirty="0"/>
          </a:p>
        </p:txBody>
      </p:sp>
      <p:sp>
        <p:nvSpPr>
          <p:cNvPr id="14" name="Text 12"/>
          <p:cNvSpPr txBox="1"/>
          <p:nvPr/>
        </p:nvSpPr>
        <p:spPr>
          <a:xfrm>
            <a:off x="6712793" y="3058485"/>
            <a:ext cx="974293"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Noise2Void</a:t>
            </a:r>
            <a:pPr algn="l" indent="0" marL="0">
              <a:lnSpc>
                <a:spcPts val="1501"/>
              </a:lnSpc>
              <a:buNone/>
            </a:pPr>
            <a:r>
              <a:rPr lang="en-US" sz="941" b="1" spc="-23" kern="0" dirty="0">
                <a:solidFill>
                  <a:srgbClr val="C0451A"/>
                </a:solidFill>
                <a:latin typeface="Cambria" pitchFamily="34" charset="0"/>
                <a:ea typeface="Cambria" pitchFamily="34" charset="-122"/>
                <a:cs typeface="Cambria" pitchFamily="34" charset="-120"/>
              </a:rPr>
              <a:t>[2]</a:t>
            </a:r>
            <a:endParaRPr lang="en-US" sz="1272" dirty="0"/>
          </a:p>
        </p:txBody>
      </p:sp>
      <p:sp>
        <p:nvSpPr>
          <p:cNvPr id="15" name="Text 13"/>
          <p:cNvSpPr txBox="1"/>
          <p:nvPr/>
        </p:nvSpPr>
        <p:spPr>
          <a:xfrm>
            <a:off x="6712793" y="3336828"/>
            <a:ext cx="4984577" cy="552572"/>
          </a:xfrm>
          <a:prstGeom prst="rect">
            <a:avLst/>
          </a:prstGeom>
          <a:noFill/>
          <a:ln/>
        </p:spPr>
        <p:txBody>
          <a:bodyPr wrap="square" lIns="0" tIns="0" rIns="0" bIns="0" rtlCol="0" anchor="t"/>
          <a:lstStyle/>
          <a:p>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Target:</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masked pixel's own original value.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Requirement removed:</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second copy.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Cost:</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1.6% of pixels are blinded per patch, and the noise must be spatially independent — which excludes correlated real noise.</a:t>
            </a:r>
            <a:endParaRPr lang="en-US" sz="954" dirty="0"/>
          </a:p>
        </p:txBody>
      </p:sp>
      <p:sp>
        <p:nvSpPr>
          <p:cNvPr id="16" name="Shape 14"/>
          <p:cNvSpPr/>
          <p:nvPr/>
        </p:nvSpPr>
        <p:spPr>
          <a:xfrm>
            <a:off x="1439540" y="4149456"/>
            <a:ext cx="4950104" cy="14722"/>
          </a:xfrm>
          <a:prstGeom prst="rect">
            <a:avLst/>
          </a:prstGeom>
          <a:solidFill>
            <a:srgbClr val="7E3247"/>
          </a:solidFill>
          <a:ln/>
        </p:spPr>
      </p:sp>
      <p:sp>
        <p:nvSpPr>
          <p:cNvPr id="17" name="Text 15"/>
          <p:cNvSpPr txBox="1"/>
          <p:nvPr/>
        </p:nvSpPr>
        <p:spPr>
          <a:xfrm>
            <a:off x="1439540" y="4281587"/>
            <a:ext cx="265359"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7E3247"/>
                </a:solidFill>
                <a:latin typeface="Calibri" pitchFamily="34" charset="0"/>
                <a:ea typeface="Calibri" pitchFamily="34" charset="-122"/>
                <a:cs typeface="Calibri" pitchFamily="34" charset="-120"/>
              </a:rPr>
              <a:t>2023</a:t>
            </a:r>
            <a:endParaRPr lang="en-US" sz="665" dirty="0"/>
          </a:p>
        </p:txBody>
      </p:sp>
      <p:sp>
        <p:nvSpPr>
          <p:cNvPr id="18" name="Text 16"/>
          <p:cNvSpPr txBox="1"/>
          <p:nvPr/>
        </p:nvSpPr>
        <p:spPr>
          <a:xfrm>
            <a:off x="1439540" y="4461723"/>
            <a:ext cx="693481"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ZS-N2N</a:t>
            </a:r>
            <a:pPr algn="l" indent="0" marL="0">
              <a:lnSpc>
                <a:spcPts val="1501"/>
              </a:lnSpc>
              <a:buNone/>
            </a:pPr>
            <a:r>
              <a:rPr lang="en-US" sz="941" b="1" spc="-23" kern="0" dirty="0">
                <a:solidFill>
                  <a:srgbClr val="C0451A"/>
                </a:solidFill>
                <a:latin typeface="Cambria" pitchFamily="34" charset="0"/>
                <a:ea typeface="Cambria" pitchFamily="34" charset="-122"/>
                <a:cs typeface="Cambria" pitchFamily="34" charset="-120"/>
              </a:rPr>
              <a:t>[3]</a:t>
            </a:r>
            <a:endParaRPr lang="en-US" sz="1272" dirty="0"/>
          </a:p>
        </p:txBody>
      </p:sp>
      <p:sp>
        <p:nvSpPr>
          <p:cNvPr id="19" name="Text 17"/>
          <p:cNvSpPr txBox="1"/>
          <p:nvPr/>
        </p:nvSpPr>
        <p:spPr>
          <a:xfrm>
            <a:off x="1439540" y="4740067"/>
            <a:ext cx="4984577" cy="368412"/>
          </a:xfrm>
          <a:prstGeom prst="rect">
            <a:avLst/>
          </a:prstGeom>
          <a:noFill/>
          <a:ln/>
        </p:spPr>
        <p:txBody>
          <a:bodyPr wrap="square" lIns="0" tIns="0" rIns="0" bIns="0" rtlCol="0" anchor="t"/>
          <a:lstStyle/>
          <a:p>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Target:</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other diagonal of the same 2×2 block.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Requirement removed:</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training set.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Cost:</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half the spatial resolution during training, plus a per-image optimisation of 1–2 K steps.</a:t>
            </a:r>
            <a:endParaRPr lang="en-US" sz="954" dirty="0"/>
          </a:p>
        </p:txBody>
      </p:sp>
      <p:sp>
        <p:nvSpPr>
          <p:cNvPr id="20" name="Shape 18"/>
          <p:cNvSpPr/>
          <p:nvPr/>
        </p:nvSpPr>
        <p:spPr>
          <a:xfrm>
            <a:off x="6712793" y="4149456"/>
            <a:ext cx="4950104" cy="14722"/>
          </a:xfrm>
          <a:prstGeom prst="rect">
            <a:avLst/>
          </a:prstGeom>
          <a:solidFill>
            <a:srgbClr val="7E3247"/>
          </a:solidFill>
          <a:ln/>
        </p:spPr>
      </p:sp>
      <p:sp>
        <p:nvSpPr>
          <p:cNvPr id="21" name="Text 19"/>
          <p:cNvSpPr txBox="1"/>
          <p:nvPr/>
        </p:nvSpPr>
        <p:spPr>
          <a:xfrm>
            <a:off x="6712793" y="4281587"/>
            <a:ext cx="265359"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7E3247"/>
                </a:solidFill>
                <a:latin typeface="Calibri" pitchFamily="34" charset="0"/>
                <a:ea typeface="Calibri" pitchFamily="34" charset="-122"/>
                <a:cs typeface="Calibri" pitchFamily="34" charset="-120"/>
              </a:rPr>
              <a:t>2025</a:t>
            </a:r>
            <a:endParaRPr lang="en-US" sz="665" dirty="0"/>
          </a:p>
        </p:txBody>
      </p:sp>
      <p:sp>
        <p:nvSpPr>
          <p:cNvPr id="22" name="Text 20"/>
          <p:cNvSpPr txBox="1"/>
          <p:nvPr/>
        </p:nvSpPr>
        <p:spPr>
          <a:xfrm>
            <a:off x="6712793" y="4461723"/>
            <a:ext cx="476494"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P2N</a:t>
            </a:r>
            <a:pPr algn="l" indent="0" marL="0">
              <a:lnSpc>
                <a:spcPts val="1501"/>
              </a:lnSpc>
              <a:buNone/>
            </a:pPr>
            <a:r>
              <a:rPr lang="en-US" sz="941" b="1" spc="-23" kern="0" dirty="0">
                <a:solidFill>
                  <a:srgbClr val="C0451A"/>
                </a:solidFill>
                <a:latin typeface="Cambria" pitchFamily="34" charset="0"/>
                <a:ea typeface="Cambria" pitchFamily="34" charset="-122"/>
                <a:cs typeface="Cambria" pitchFamily="34" charset="-120"/>
              </a:rPr>
              <a:t>[4]</a:t>
            </a:r>
            <a:endParaRPr lang="en-US" sz="1272" dirty="0"/>
          </a:p>
        </p:txBody>
      </p:sp>
      <p:sp>
        <p:nvSpPr>
          <p:cNvPr id="23" name="Text 21"/>
          <p:cNvSpPr txBox="1"/>
          <p:nvPr/>
        </p:nvSpPr>
        <p:spPr>
          <a:xfrm>
            <a:off x="6712793" y="4740067"/>
            <a:ext cx="4984577" cy="368412"/>
          </a:xfrm>
          <a:prstGeom prst="rect">
            <a:avLst/>
          </a:prstGeom>
          <a:noFill/>
          <a:ln/>
        </p:spPr>
        <p:txBody>
          <a:bodyPr wrap="square" lIns="0" tIns="0" rIns="0" bIns="0" rtlCol="0" anchor="t"/>
          <a:lstStyle/>
          <a:p>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Target:</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model's own output on a renoised copy.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Requirement removed:</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information loss itself.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Cost:</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three forward passes per step, and per-image test-time optimisation.</a:t>
            </a:r>
            <a:endParaRPr lang="en-US" sz="954" dirty="0"/>
          </a:p>
        </p:txBody>
      </p:sp>
      <p:sp>
        <p:nvSpPr>
          <p:cNvPr id="24" name="Shape 22"/>
          <p:cNvSpPr/>
          <p:nvPr/>
        </p:nvSpPr>
        <p:spPr>
          <a:xfrm>
            <a:off x="1439540" y="5574274"/>
            <a:ext cx="10223358" cy="14722"/>
          </a:xfrm>
          <a:prstGeom prst="rect">
            <a:avLst/>
          </a:prstGeom>
          <a:solidFill>
            <a:srgbClr val="7E3247"/>
          </a:solidFill>
          <a:ln/>
        </p:spPr>
      </p:sp>
      <p:sp>
        <p:nvSpPr>
          <p:cNvPr id="25" name="Text 23"/>
          <p:cNvSpPr txBox="1"/>
          <p:nvPr/>
        </p:nvSpPr>
        <p:spPr>
          <a:xfrm>
            <a:off x="1439540" y="5704667"/>
            <a:ext cx="10278953" cy="374538"/>
          </a:xfrm>
          <a:prstGeom prst="rect">
            <a:avLst/>
          </a:prstGeom>
          <a:noFill/>
          <a:ln/>
        </p:spPr>
        <p:txBody>
          <a:bodyPr wrap="squar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The arc in one sentence:</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the prior moved out of the algorithm and into the weights in 2017 — and then, on this branch, partly back </a:t>
            </a:r>
            <a:pPr algn="l" indent="0" marL="0">
              <a:lnSpc>
                <a:spcPts val="1475"/>
              </a:lnSpc>
              <a:buNone/>
            </a:pPr>
            <a:r>
              <a:rPr kern="0" lang="en-US" sz="983" i="1" dirty="0">
                <a:solidFill>
                  <a:srgbClr val="33302B"/>
                </a:solidFill>
                <a:latin typeface="Calibri" pitchFamily="34" charset="0"/>
                <a:ea typeface="Calibri" pitchFamily="34" charset="-122"/>
                <a:cs typeface="Calibri" pitchFamily="34" charset="-120"/>
              </a:rPr>
              <a:t>out</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of the weights and into a per-image optimisation that needs no clean data at all. The classical era's test-time optimisation has returned, but the thing being optimised is now a network, not a pixel grid.</a:t>
            </a:r>
            <a:endParaRPr lang="en-US" sz="983" dirty="0"/>
          </a:p>
        </p:txBody>
      </p:sp>
      <p:sp>
        <p:nvSpPr>
          <p:cNvPr id="26" name="Text 24"/>
          <p:cNvSpPr txBox="1"/>
          <p:nvPr/>
        </p:nvSpPr>
        <p:spPr>
          <a:xfrm>
            <a:off x="8027883" y="6285494"/>
            <a:ext cx="3635014"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N2N18 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N2V19 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ZS-N2N23 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[4]</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P2N25 — each paper's own stated requirement</a:t>
            </a:r>
            <a:endParaRPr lang="en-US" sz="556" dirty="0"/>
          </a:p>
        </p:txBody>
      </p:sp>
      <p:sp>
        <p:nvSpPr>
          <p:cNvPr id="27" name="Shape 25"/>
          <p:cNvSpPr/>
          <p:nvPr/>
        </p:nvSpPr>
        <p:spPr>
          <a:xfrm>
            <a:off x="1439540" y="6556705"/>
            <a:ext cx="10223358" cy="7315"/>
          </a:xfrm>
          <a:prstGeom prst="rect">
            <a:avLst/>
          </a:prstGeom>
          <a:solidFill>
            <a:srgbClr val="C9C4B9"/>
          </a:solidFill>
          <a:ln/>
        </p:spPr>
      </p:sp>
      <p:sp>
        <p:nvSpPr>
          <p:cNvPr id="28" name="Shape 26"/>
          <p:cNvSpPr/>
          <p:nvPr/>
        </p:nvSpPr>
        <p:spPr>
          <a:xfrm>
            <a:off x="7686904" y="6545732"/>
            <a:ext cx="3975811" cy="29352"/>
          </a:xfrm>
          <a:prstGeom prst="rect">
            <a:avLst/>
          </a:prstGeom>
          <a:solidFill>
            <a:srgbClr val="7E3247"/>
          </a:solidFill>
          <a:ln/>
        </p:spPr>
      </p:sp>
      <p:sp>
        <p:nvSpPr>
          <p:cNvPr id="29" name="Shape 27"/>
          <p:cNvSpPr/>
          <p:nvPr/>
        </p:nvSpPr>
        <p:spPr>
          <a:xfrm>
            <a:off x="1439540" y="6519946"/>
            <a:ext cx="7315" cy="36759"/>
          </a:xfrm>
          <a:prstGeom prst="rect">
            <a:avLst/>
          </a:prstGeom>
          <a:solidFill>
            <a:srgbClr val="C9C4B9"/>
          </a:solidFill>
          <a:ln/>
        </p:spPr>
      </p:sp>
      <p:sp>
        <p:nvSpPr>
          <p:cNvPr id="30" name="Text 28"/>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1" name="Shape 29"/>
          <p:cNvSpPr/>
          <p:nvPr/>
        </p:nvSpPr>
        <p:spPr>
          <a:xfrm>
            <a:off x="5415351" y="6519946"/>
            <a:ext cx="7315" cy="36759"/>
          </a:xfrm>
          <a:prstGeom prst="rect">
            <a:avLst/>
          </a:prstGeom>
          <a:solidFill>
            <a:srgbClr val="C9C4B9"/>
          </a:solidFill>
          <a:ln/>
        </p:spPr>
      </p:sp>
      <p:sp>
        <p:nvSpPr>
          <p:cNvPr id="32" name="Text 30"/>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3" name="Shape 31"/>
          <p:cNvSpPr/>
          <p:nvPr/>
        </p:nvSpPr>
        <p:spPr>
          <a:xfrm>
            <a:off x="7119610" y="6519946"/>
            <a:ext cx="7315" cy="36759"/>
          </a:xfrm>
          <a:prstGeom prst="rect">
            <a:avLst/>
          </a:prstGeom>
          <a:solidFill>
            <a:srgbClr val="C9C4B9"/>
          </a:solidFill>
          <a:ln/>
        </p:spPr>
      </p:sp>
      <p:sp>
        <p:nvSpPr>
          <p:cNvPr id="34" name="Text 32"/>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5" name="Shape 33"/>
          <p:cNvSpPr/>
          <p:nvPr/>
        </p:nvSpPr>
        <p:spPr>
          <a:xfrm>
            <a:off x="9958639" y="6519946"/>
            <a:ext cx="7315" cy="36759"/>
          </a:xfrm>
          <a:prstGeom prst="rect">
            <a:avLst/>
          </a:prstGeom>
          <a:solidFill>
            <a:srgbClr val="C9C4B9"/>
          </a:solidFill>
          <a:ln/>
        </p:spPr>
      </p:sp>
      <p:sp>
        <p:nvSpPr>
          <p:cNvPr id="36" name="Text 34"/>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7" name="Shape 35"/>
          <p:cNvSpPr/>
          <p:nvPr/>
        </p:nvSpPr>
        <p:spPr>
          <a:xfrm>
            <a:off x="11662898" y="6519946"/>
            <a:ext cx="7315" cy="36759"/>
          </a:xfrm>
          <a:prstGeom prst="rect">
            <a:avLst/>
          </a:prstGeom>
          <a:solidFill>
            <a:srgbClr val="C9C4B9"/>
          </a:solidFill>
          <a:ln/>
        </p:spPr>
      </p:sp>
      <p:sp>
        <p:nvSpPr>
          <p:cNvPr id="38" name="Text 36"/>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683971"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C0451A"/>
                </a:solidFill>
                <a:latin typeface="Cambria" pitchFamily="34" charset="0"/>
                <a:ea typeface="Cambria" pitchFamily="34" charset="-122"/>
                <a:cs typeface="Cambria" pitchFamily="34" charset="-120"/>
              </a:rPr>
              <a:t>V</a:t>
            </a:r>
            <a:endParaRPr lang="en-US" sz="8416" dirty="0"/>
          </a:p>
        </p:txBody>
      </p:sp>
      <p:sp>
        <p:nvSpPr>
          <p:cNvPr id="4" name="Shape 2"/>
          <p:cNvSpPr/>
          <p:nvPr/>
        </p:nvSpPr>
        <p:spPr>
          <a:xfrm>
            <a:off x="434249" y="1663294"/>
            <a:ext cx="1002091" cy="33376"/>
          </a:xfrm>
          <a:prstGeom prst="rect">
            <a:avLst/>
          </a:prstGeom>
          <a:solidFill>
            <a:srgbClr val="C0451A"/>
          </a:solidFill>
          <a:ln/>
        </p:spPr>
      </p:sp>
      <p:sp>
        <p:nvSpPr>
          <p:cNvPr id="5" name="Text 3"/>
          <p:cNvSpPr txBox="1"/>
          <p:nvPr/>
        </p:nvSpPr>
        <p:spPr>
          <a:xfrm>
            <a:off x="434249" y="1910273"/>
            <a:ext cx="2483236" cy="1198230"/>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The Architecture Branch</a:t>
            </a:r>
            <a:endParaRPr lang="en-US" sz="3025" dirty="0"/>
          </a:p>
        </p:txBody>
      </p:sp>
      <p:sp>
        <p:nvSpPr>
          <p:cNvPr id="6" name="Shape 4"/>
          <p:cNvSpPr/>
          <p:nvPr/>
        </p:nvSpPr>
        <p:spPr>
          <a:xfrm>
            <a:off x="434249" y="3487796"/>
            <a:ext cx="217079" cy="25055"/>
          </a:xfrm>
          <a:prstGeom prst="rect">
            <a:avLst/>
          </a:prstGeom>
          <a:solidFill>
            <a:srgbClr val="8E877B"/>
          </a:solidFill>
          <a:ln/>
        </p:spPr>
      </p:sp>
      <p:sp>
        <p:nvSpPr>
          <p:cNvPr id="7" name="Text 5"/>
          <p:cNvSpPr txBox="1"/>
          <p:nvPr/>
        </p:nvSpPr>
        <p:spPr>
          <a:xfrm>
            <a:off x="751545" y="3431560"/>
            <a:ext cx="2396917"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PART V · 2021 – 2024 · BRANCH TWO</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207358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Bottleneck 3, stated with evidence</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1990283"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Attention, and why it does not fit</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2368570"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Restormer — attention across channels</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2108881"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NAFNet — is any of this necessary?</a:t>
            </a:r>
            <a:endParaRPr lang="en-US" sz="1118" dirty="0"/>
          </a:p>
        </p:txBody>
      </p:sp>
      <p:sp>
        <p:nvSpPr>
          <p:cNvPr id="23" name="Shape 21"/>
          <p:cNvSpPr/>
          <p:nvPr/>
        </p:nvSpPr>
        <p:spPr>
          <a:xfrm>
            <a:off x="5526999" y="3479018"/>
            <a:ext cx="6146963" cy="8321"/>
          </a:xfrm>
          <a:prstGeom prst="rect">
            <a:avLst/>
          </a:prstGeom>
          <a:solidFill>
            <a:srgbClr val="DFDBD2"/>
          </a:solidFill>
          <a:ln/>
        </p:spPr>
      </p:sp>
      <p:sp>
        <p:nvSpPr>
          <p:cNvPr id="24" name="Text 22"/>
          <p:cNvSpPr txBox="1"/>
          <p:nvPr/>
        </p:nvSpPr>
        <p:spPr>
          <a:xfrm>
            <a:off x="5526999" y="3173700"/>
            <a:ext cx="173279"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05</a:t>
            </a:r>
            <a:endParaRPr lang="en-US" sz="921" dirty="0"/>
          </a:p>
        </p:txBody>
      </p:sp>
      <p:sp>
        <p:nvSpPr>
          <p:cNvPr id="25" name="Text 23"/>
          <p:cNvSpPr txBox="1"/>
          <p:nvPr/>
        </p:nvSpPr>
        <p:spPr>
          <a:xfrm>
            <a:off x="5894405" y="3155869"/>
            <a:ext cx="2383384"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SCUNet — fix the data, not the network</a:t>
            </a:r>
            <a:endParaRPr lang="en-US" sz="1118" dirty="0"/>
          </a:p>
        </p:txBody>
      </p:sp>
      <p:sp>
        <p:nvSpPr>
          <p:cNvPr id="26" name="Shape 24"/>
          <p:cNvSpPr/>
          <p:nvPr/>
        </p:nvSpPr>
        <p:spPr>
          <a:xfrm>
            <a:off x="5526999" y="3922593"/>
            <a:ext cx="6146963" cy="8321"/>
          </a:xfrm>
          <a:prstGeom prst="rect">
            <a:avLst/>
          </a:prstGeom>
          <a:solidFill>
            <a:srgbClr val="DFDBD2"/>
          </a:solidFill>
          <a:ln/>
        </p:spPr>
      </p:sp>
      <p:sp>
        <p:nvSpPr>
          <p:cNvPr id="27" name="Text 25"/>
          <p:cNvSpPr txBox="1"/>
          <p:nvPr/>
        </p:nvSpPr>
        <p:spPr>
          <a:xfrm>
            <a:off x="5526999" y="3617275"/>
            <a:ext cx="175382"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06</a:t>
            </a:r>
            <a:endParaRPr lang="en-US" sz="921" dirty="0"/>
          </a:p>
        </p:txBody>
      </p:sp>
      <p:sp>
        <p:nvSpPr>
          <p:cNvPr id="28" name="Text 26"/>
          <p:cNvSpPr txBox="1"/>
          <p:nvPr/>
        </p:nvSpPr>
        <p:spPr>
          <a:xfrm>
            <a:off x="5894405" y="3599536"/>
            <a:ext cx="2326234"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MambaIR — linear-time global context</a:t>
            </a:r>
            <a:endParaRPr lang="en-US" sz="1118" dirty="0"/>
          </a:p>
        </p:txBody>
      </p:sp>
      <p:sp>
        <p:nvSpPr>
          <p:cNvPr id="29" name="Shape 27"/>
          <p:cNvSpPr/>
          <p:nvPr/>
        </p:nvSpPr>
        <p:spPr>
          <a:xfrm>
            <a:off x="5526999" y="4366260"/>
            <a:ext cx="6146963" cy="8321"/>
          </a:xfrm>
          <a:prstGeom prst="rect">
            <a:avLst/>
          </a:prstGeom>
          <a:solidFill>
            <a:srgbClr val="DFDBD2"/>
          </a:solidFill>
          <a:ln/>
        </p:spPr>
      </p:sp>
      <p:sp>
        <p:nvSpPr>
          <p:cNvPr id="30" name="Text 28"/>
          <p:cNvSpPr txBox="1"/>
          <p:nvPr/>
        </p:nvSpPr>
        <p:spPr>
          <a:xfrm>
            <a:off x="5526999" y="4060942"/>
            <a:ext cx="170261" cy="165964"/>
          </a:xfrm>
          <a:prstGeom prst="rect">
            <a:avLst/>
          </a:prstGeom>
          <a:noFill/>
          <a:ln/>
        </p:spPr>
        <p:txBody>
          <a:bodyPr wrap="none" lIns="0" tIns="0" rIns="0" bIns="0" rtlCol="0" anchor="t"/>
          <a:lstStyle/>
          <a:p>
            <a:pPr algn="l" indent="0" marL="0">
              <a:lnSpc>
                <a:spcPts val="1307"/>
              </a:lnSpc>
              <a:buNone/>
            </a:pPr>
            <a:r>
              <a:rPr kern="0" lang="en-US" sz="921" b="1" dirty="0">
                <a:solidFill>
                  <a:srgbClr val="C0451A"/>
                </a:solidFill>
                <a:latin typeface="Cambria" pitchFamily="34" charset="0"/>
                <a:ea typeface="Cambria" pitchFamily="34" charset="-122"/>
                <a:cs typeface="Cambria" pitchFamily="34" charset="-120"/>
              </a:rPr>
              <a:t>07</a:t>
            </a:r>
            <a:endParaRPr lang="en-US" sz="921" dirty="0"/>
          </a:p>
        </p:txBody>
      </p:sp>
      <p:sp>
        <p:nvSpPr>
          <p:cNvPr id="31" name="Text 29"/>
          <p:cNvSpPr txBox="1"/>
          <p:nvPr/>
        </p:nvSpPr>
        <p:spPr>
          <a:xfrm>
            <a:off x="5894405" y="4043111"/>
            <a:ext cx="1548536"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Three competing answers</a:t>
            </a:r>
            <a:endParaRPr lang="en-US" sz="1118" dirty="0"/>
          </a:p>
        </p:txBody>
      </p:sp>
      <p:sp>
        <p:nvSpPr>
          <p:cNvPr id="32" name="Text 30"/>
          <p:cNvSpPr txBox="1"/>
          <p:nvPr/>
        </p:nvSpPr>
        <p:spPr>
          <a:xfrm>
            <a:off x="5526999" y="4620646"/>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The other half of the fork. Same supervision as DnCNN, same paired data, same loss family — and a complete replacement of the 3×3 convolution.</a:t>
            </a:r>
            <a:endParaRPr lang="en-US" sz="1085" dirty="0"/>
          </a:p>
        </p:txBody>
      </p:sp>
      <p:sp>
        <p:nvSpPr>
          <p:cNvPr id="33" name="Text 31"/>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§4</a:t>
            </a:r>
            <a:endParaRPr lang="en-US" sz="85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67680"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51</a:t>
            </a:r>
            <a:endParaRPr lang="en-US" sz="2708" dirty="0"/>
          </a:p>
        </p:txBody>
      </p:sp>
      <p:sp>
        <p:nvSpPr>
          <p:cNvPr id="3" name="Text 1"/>
          <p:cNvSpPr txBox="1"/>
          <p:nvPr/>
        </p:nvSpPr>
        <p:spPr>
          <a:xfrm rot="16200000">
            <a:off x="-360731" y="3428909"/>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461132"/>
            <a:ext cx="203180" cy="23409"/>
          </a:xfrm>
          <a:prstGeom prst="rect">
            <a:avLst/>
          </a:prstGeom>
          <a:solidFill>
            <a:srgbClr val="C0451A"/>
          </a:solidFill>
          <a:ln/>
        </p:spPr>
      </p:sp>
      <p:sp>
        <p:nvSpPr>
          <p:cNvPr id="5" name="Text 3"/>
          <p:cNvSpPr txBox="1"/>
          <p:nvPr/>
        </p:nvSpPr>
        <p:spPr>
          <a:xfrm>
            <a:off x="1828800" y="408462"/>
            <a:ext cx="886785"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BOTTLENECK 3</a:t>
            </a:r>
            <a:endParaRPr lang="en-US" sz="831" dirty="0"/>
          </a:p>
        </p:txBody>
      </p:sp>
      <p:sp>
        <p:nvSpPr>
          <p:cNvPr id="6" name="Text 4"/>
          <p:cNvSpPr txBox="1"/>
          <p:nvPr/>
        </p:nvSpPr>
        <p:spPr>
          <a:xfrm>
            <a:off x="1531803" y="646024"/>
            <a:ext cx="9594251"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Convolution cannot see far enough — and here is the receipt</a:t>
            </a:r>
            <a:endParaRPr lang="en-US" sz="2831" dirty="0"/>
          </a:p>
        </p:txBody>
      </p:sp>
      <p:sp>
        <p:nvSpPr>
          <p:cNvPr id="7" name="Text 5"/>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The third bottleneck is the only one visible in DnCNN's own results table, three years before anyone could address it. Two independent pieces of evidence, taken from two papers five years apart, say the same thing.</a:t>
            </a:r>
            <a:endParaRPr lang="en-US" sz="1231" dirty="0"/>
          </a:p>
        </p:txBody>
      </p:sp>
      <p:sp>
        <p:nvSpPr>
          <p:cNvPr id="8" name="Shape 6"/>
          <p:cNvSpPr/>
          <p:nvPr/>
        </p:nvSpPr>
        <p:spPr>
          <a:xfrm>
            <a:off x="6580388" y="2084100"/>
            <a:ext cx="7772" cy="3113989"/>
          </a:xfrm>
          <a:prstGeom prst="rect">
            <a:avLst/>
          </a:prstGeom>
          <a:solidFill>
            <a:srgbClr val="DFDBD2"/>
          </a:solidFill>
          <a:ln/>
        </p:spPr>
      </p:sp>
      <p:sp>
        <p:nvSpPr>
          <p:cNvPr id="9" name="Shape 7"/>
          <p:cNvSpPr/>
          <p:nvPr/>
        </p:nvSpPr>
        <p:spPr>
          <a:xfrm>
            <a:off x="1531803" y="2084100"/>
            <a:ext cx="4876678" cy="15636"/>
          </a:xfrm>
          <a:prstGeom prst="rect">
            <a:avLst/>
          </a:prstGeom>
          <a:solidFill>
            <a:srgbClr val="C0451A"/>
          </a:solidFill>
          <a:ln/>
        </p:spPr>
      </p:sp>
      <p:sp>
        <p:nvSpPr>
          <p:cNvPr id="10" name="Text 8"/>
          <p:cNvSpPr txBox="1"/>
          <p:nvPr/>
        </p:nvSpPr>
        <p:spPr>
          <a:xfrm>
            <a:off x="1531803" y="2228850"/>
            <a:ext cx="2268169"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Evidence 1 — Barbara, 2017</a:t>
            </a:r>
            <a:pPr algn="l" indent="0" marL="0">
              <a:lnSpc>
                <a:spcPts val="1598"/>
              </a:lnSpc>
              <a:buNone/>
            </a:pPr>
            <a:r>
              <a:rPr lang="en-US" sz="1002" b="1" spc="-25" kern="0" dirty="0">
                <a:solidFill>
                  <a:srgbClr val="C0451A"/>
                </a:solidFill>
                <a:latin typeface="Cambria" pitchFamily="34" charset="0"/>
                <a:ea typeface="Cambria" pitchFamily="34" charset="-122"/>
                <a:cs typeface="Cambria" pitchFamily="34" charset="-120"/>
              </a:rPr>
              <a:t>[1]</a:t>
            </a:r>
            <a:endParaRPr lang="en-US" sz="1354" dirty="0"/>
          </a:p>
        </p:txBody>
      </p:sp>
      <p:sp>
        <p:nvSpPr>
          <p:cNvPr id="11" name="Shape 9"/>
          <p:cNvSpPr/>
          <p:nvPr/>
        </p:nvSpPr>
        <p:spPr>
          <a:xfrm>
            <a:off x="1531803" y="2591684"/>
            <a:ext cx="62545" cy="39045"/>
          </a:xfrm>
          <a:prstGeom prst="rect">
            <a:avLst/>
          </a:prstGeom>
          <a:solidFill>
            <a:srgbClr val="C0451A"/>
          </a:solidFill>
          <a:ln/>
        </p:spPr>
      </p:sp>
      <p:sp>
        <p:nvSpPr>
          <p:cNvPr id="12" name="Text 10"/>
          <p:cNvSpPr txBox="1"/>
          <p:nvPr/>
        </p:nvSpPr>
        <p:spPr>
          <a:xfrm>
            <a:off x="1688074" y="2526304"/>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DnCNN-S loses to BM3D by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0.71 dB</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and to WNNM by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1.24 dB</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on Barbara at σ = 25.</a:t>
            </a:r>
            <a:endParaRPr lang="en-US" sz="1138" dirty="0"/>
          </a:p>
        </p:txBody>
      </p:sp>
      <p:sp>
        <p:nvSpPr>
          <p:cNvPr id="13" name="Shape 11"/>
          <p:cNvSpPr/>
          <p:nvPr/>
        </p:nvSpPr>
        <p:spPr>
          <a:xfrm>
            <a:off x="1531803" y="3150474"/>
            <a:ext cx="62545" cy="39045"/>
          </a:xfrm>
          <a:prstGeom prst="rect">
            <a:avLst/>
          </a:prstGeom>
          <a:solidFill>
            <a:srgbClr val="C0451A"/>
          </a:solidFill>
          <a:ln/>
        </p:spPr>
      </p:sp>
      <p:sp>
        <p:nvSpPr>
          <p:cNvPr id="14" name="Text 12"/>
          <p:cNvSpPr txBox="1"/>
          <p:nvPr/>
        </p:nvSpPr>
        <p:spPr>
          <a:xfrm>
            <a:off x="1688074" y="3085003"/>
            <a:ext cx="4754880" cy="65059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The paper's own explanation: DnCNN fails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on exactly the two images dominated by repetitive structures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because those images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meet well with the non-local similarity prior</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15" name="Shape 13"/>
          <p:cNvSpPr/>
          <p:nvPr/>
        </p:nvSpPr>
        <p:spPr>
          <a:xfrm>
            <a:off x="1531803" y="3926159"/>
            <a:ext cx="62545" cy="39045"/>
          </a:xfrm>
          <a:prstGeom prst="rect">
            <a:avLst/>
          </a:prstGeom>
          <a:solidFill>
            <a:srgbClr val="C0451A"/>
          </a:solidFill>
          <a:ln/>
        </p:spPr>
      </p:sp>
      <p:sp>
        <p:nvSpPr>
          <p:cNvPr id="16" name="Text 14"/>
          <p:cNvSpPr txBox="1"/>
          <p:nvPr/>
        </p:nvSpPr>
        <p:spPr>
          <a:xfrm>
            <a:off x="1688074" y="3860688"/>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DnCNN's receptive field is 35×35. WNNM's effective patch size is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361×361</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ten times wider in each direction.</a:t>
            </a:r>
            <a:endParaRPr lang="en-US" sz="1138" dirty="0"/>
          </a:p>
        </p:txBody>
      </p:sp>
      <p:sp>
        <p:nvSpPr>
          <p:cNvPr id="17" name="Shape 15"/>
          <p:cNvSpPr/>
          <p:nvPr/>
        </p:nvSpPr>
        <p:spPr>
          <a:xfrm>
            <a:off x="1531803" y="4484949"/>
            <a:ext cx="62545" cy="39045"/>
          </a:xfrm>
          <a:prstGeom prst="rect">
            <a:avLst/>
          </a:prstGeom>
          <a:solidFill>
            <a:srgbClr val="C0451A"/>
          </a:solidFill>
          <a:ln/>
        </p:spPr>
      </p:sp>
      <p:sp>
        <p:nvSpPr>
          <p:cNvPr id="18" name="Text 16"/>
          <p:cNvSpPr txBox="1"/>
          <p:nvPr/>
        </p:nvSpPr>
        <p:spPr>
          <a:xfrm>
            <a:off x="1688074" y="4419478"/>
            <a:ext cx="4754880" cy="65059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The scarf's stripes have near-identical twins two hundred pixels away. DnCNN cannot see them. There is no amount of training that fixes a structural blindness.</a:t>
            </a:r>
            <a:endParaRPr lang="en-US" sz="1138" dirty="0"/>
          </a:p>
        </p:txBody>
      </p:sp>
      <p:sp>
        <p:nvSpPr>
          <p:cNvPr id="19" name="Shape 17"/>
          <p:cNvSpPr/>
          <p:nvPr/>
        </p:nvSpPr>
        <p:spPr>
          <a:xfrm>
            <a:off x="6752295" y="2084100"/>
            <a:ext cx="4876678" cy="15636"/>
          </a:xfrm>
          <a:prstGeom prst="rect">
            <a:avLst/>
          </a:prstGeom>
          <a:solidFill>
            <a:srgbClr val="C0451A"/>
          </a:solidFill>
          <a:ln/>
        </p:spPr>
      </p:sp>
      <p:sp>
        <p:nvSpPr>
          <p:cNvPr id="20" name="Text 18"/>
          <p:cNvSpPr txBox="1"/>
          <p:nvPr/>
        </p:nvSpPr>
        <p:spPr>
          <a:xfrm>
            <a:off x="6752295" y="2228850"/>
            <a:ext cx="2413833"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Evidence 2 — Urban100, 2022</a:t>
            </a:r>
            <a:pPr algn="l" indent="0" marL="0">
              <a:lnSpc>
                <a:spcPts val="1598"/>
              </a:lnSpc>
              <a:buNone/>
            </a:pPr>
            <a:r>
              <a:rPr lang="en-US" sz="1002" b="1" spc="-25" kern="0" dirty="0">
                <a:solidFill>
                  <a:srgbClr val="C0451A"/>
                </a:solidFill>
                <a:latin typeface="Cambria" pitchFamily="34" charset="0"/>
                <a:ea typeface="Cambria" pitchFamily="34" charset="-122"/>
                <a:cs typeface="Cambria" pitchFamily="34" charset="-120"/>
              </a:rPr>
              <a:t>[2]</a:t>
            </a:r>
            <a:endParaRPr lang="en-US" sz="1354" dirty="0"/>
          </a:p>
        </p:txBody>
      </p:sp>
      <p:sp>
        <p:nvSpPr>
          <p:cNvPr id="21" name="Shape 19"/>
          <p:cNvSpPr/>
          <p:nvPr/>
        </p:nvSpPr>
        <p:spPr>
          <a:xfrm>
            <a:off x="6752295" y="2591684"/>
            <a:ext cx="62545" cy="39045"/>
          </a:xfrm>
          <a:prstGeom prst="rect">
            <a:avLst/>
          </a:prstGeom>
          <a:solidFill>
            <a:srgbClr val="C0451A"/>
          </a:solidFill>
          <a:ln/>
        </p:spPr>
      </p:sp>
      <p:sp>
        <p:nvSpPr>
          <p:cNvPr id="22" name="Text 20"/>
          <p:cNvSpPr txBox="1"/>
          <p:nvPr/>
        </p:nvSpPr>
        <p:spPr>
          <a:xfrm>
            <a:off x="6908658" y="2526304"/>
            <a:ext cx="4754880" cy="65059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Urban100 is 100 photographs of buildings: windows, balconies and railings repeating identically across the whole frame. It is Barbara's scarf at dataset scale.</a:t>
            </a:r>
            <a:endParaRPr lang="en-US" sz="1138" dirty="0"/>
          </a:p>
        </p:txBody>
      </p:sp>
      <p:sp>
        <p:nvSpPr>
          <p:cNvPr id="23" name="Shape 21"/>
          <p:cNvSpPr/>
          <p:nvPr/>
        </p:nvSpPr>
        <p:spPr>
          <a:xfrm>
            <a:off x="6752295" y="3367369"/>
            <a:ext cx="62545" cy="39045"/>
          </a:xfrm>
          <a:prstGeom prst="rect">
            <a:avLst/>
          </a:prstGeom>
          <a:solidFill>
            <a:srgbClr val="C0451A"/>
          </a:solidFill>
          <a:ln/>
        </p:spPr>
      </p:sp>
      <p:sp>
        <p:nvSpPr>
          <p:cNvPr id="24" name="Text 22"/>
          <p:cNvSpPr txBox="1"/>
          <p:nvPr/>
        </p:nvSpPr>
        <p:spPr>
          <a:xfrm>
            <a:off x="6908658" y="3301898"/>
            <a:ext cx="4261927" cy="216896"/>
          </a:xfrm>
          <a:prstGeom prst="rect">
            <a:avLst/>
          </a:prstGeom>
          <a:noFill/>
          <a:ln/>
        </p:spPr>
        <p:txBody>
          <a:bodyPr wrap="non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Grayscale σ = 50: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DnCNN 26.35 → Restormer 28.33</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 gap of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1.98 dB</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25" name="Shape 23"/>
          <p:cNvSpPr/>
          <p:nvPr/>
        </p:nvSpPr>
        <p:spPr>
          <a:xfrm>
            <a:off x="6752295" y="3709264"/>
            <a:ext cx="62545" cy="39045"/>
          </a:xfrm>
          <a:prstGeom prst="rect">
            <a:avLst/>
          </a:prstGeom>
          <a:solidFill>
            <a:srgbClr val="C0451A"/>
          </a:solidFill>
          <a:ln/>
        </p:spPr>
      </p:sp>
      <p:sp>
        <p:nvSpPr>
          <p:cNvPr id="26" name="Text 24"/>
          <p:cNvSpPr txBox="1"/>
          <p:nvPr/>
        </p:nvSpPr>
        <p:spPr>
          <a:xfrm>
            <a:off x="6908658" y="3643793"/>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On BSD68 — ordinary natural images, little repetition — the same two models are 26.23 and 29.62: a gap of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0.39 dB</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27" name="Shape 25"/>
          <p:cNvSpPr/>
          <p:nvPr/>
        </p:nvSpPr>
        <p:spPr>
          <a:xfrm>
            <a:off x="6752295" y="4268053"/>
            <a:ext cx="62545" cy="39045"/>
          </a:xfrm>
          <a:prstGeom prst="rect">
            <a:avLst/>
          </a:prstGeom>
          <a:solidFill>
            <a:srgbClr val="C0451A"/>
          </a:solidFill>
          <a:ln/>
        </p:spPr>
      </p:sp>
      <p:sp>
        <p:nvSpPr>
          <p:cNvPr id="28" name="Text 26"/>
          <p:cNvSpPr txBox="1"/>
          <p:nvPr/>
        </p:nvSpPr>
        <p:spPr>
          <a:xfrm>
            <a:off x="6908658" y="4202582"/>
            <a:ext cx="4754880"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gap is five times larger on the dataset made of repetition.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That ratio is the cleanest single measurement of bottleneck 3 in the literature, and it is computed from one table.</a:t>
            </a:r>
            <a:endParaRPr lang="en-US" sz="1138" dirty="0"/>
          </a:p>
        </p:txBody>
      </p:sp>
      <p:sp>
        <p:nvSpPr>
          <p:cNvPr id="29" name="Shape 27"/>
          <p:cNvSpPr/>
          <p:nvPr/>
        </p:nvSpPr>
        <p:spPr>
          <a:xfrm>
            <a:off x="1531803" y="5416906"/>
            <a:ext cx="10097262" cy="15636"/>
          </a:xfrm>
          <a:prstGeom prst="rect">
            <a:avLst/>
          </a:prstGeom>
          <a:solidFill>
            <a:srgbClr val="C0451A"/>
          </a:solidFill>
          <a:ln/>
        </p:spPr>
      </p:sp>
      <p:sp>
        <p:nvSpPr>
          <p:cNvPr id="30" name="Text 28"/>
          <p:cNvSpPr txBox="1"/>
          <p:nvPr/>
        </p:nvSpPr>
        <p:spPr>
          <a:xfrm>
            <a:off x="1531803" y="5555620"/>
            <a:ext cx="10153223" cy="398587"/>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Restate the bottleneck.</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 3×3 convolution aggregates a 3×3 neighbourhood. Stacking d of them without pooling reaches (2d+1)×(2d+1) — growth is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linear in depth</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and therefore ruinously expensive. Reaching 361×361 the DnCNN way needs 180 layers. The architecture branch is the search for an operator whose reach is not bought by depth.</a:t>
            </a:r>
            <a:endParaRPr lang="en-US" sz="1046" dirty="0"/>
          </a:p>
        </p:txBody>
      </p:sp>
      <p:sp>
        <p:nvSpPr>
          <p:cNvPr id="31" name="Text 29"/>
          <p:cNvSpPr txBox="1"/>
          <p:nvPr/>
        </p:nvSpPr>
        <p:spPr>
          <a:xfrm>
            <a:off x="7550109" y="6248827"/>
            <a:ext cx="4078864"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DnCNN17 Table III, Table I, §IV-C 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Restormer22 Table 4 — Urban100 and BSD68 columns</a:t>
            </a:r>
            <a:endParaRPr lang="en-US" sz="592" dirty="0"/>
          </a:p>
        </p:txBody>
      </p:sp>
      <p:sp>
        <p:nvSpPr>
          <p:cNvPr id="32" name="Shape 30"/>
          <p:cNvSpPr/>
          <p:nvPr/>
        </p:nvSpPr>
        <p:spPr>
          <a:xfrm>
            <a:off x="1531803" y="6537411"/>
            <a:ext cx="10097262" cy="7772"/>
          </a:xfrm>
          <a:prstGeom prst="rect">
            <a:avLst/>
          </a:prstGeom>
          <a:solidFill>
            <a:srgbClr val="C9C4B9"/>
          </a:solidFill>
          <a:ln/>
        </p:spPr>
      </p:sp>
      <p:sp>
        <p:nvSpPr>
          <p:cNvPr id="33" name="Shape 31"/>
          <p:cNvSpPr/>
          <p:nvPr/>
        </p:nvSpPr>
        <p:spPr>
          <a:xfrm>
            <a:off x="9385310" y="6525707"/>
            <a:ext cx="1683228" cy="31272"/>
          </a:xfrm>
          <a:prstGeom prst="rect">
            <a:avLst/>
          </a:prstGeom>
          <a:solidFill>
            <a:srgbClr val="C0451A"/>
          </a:solidFill>
          <a:ln/>
        </p:spPr>
      </p:sp>
      <p:sp>
        <p:nvSpPr>
          <p:cNvPr id="34" name="Shape 32"/>
          <p:cNvSpPr/>
          <p:nvPr/>
        </p:nvSpPr>
        <p:spPr>
          <a:xfrm>
            <a:off x="1531803" y="6498366"/>
            <a:ext cx="7772" cy="39045"/>
          </a:xfrm>
          <a:prstGeom prst="rect">
            <a:avLst/>
          </a:prstGeom>
          <a:solidFill>
            <a:srgbClr val="C9C4B9"/>
          </a:solidFill>
          <a:ln/>
        </p:spPr>
      </p:sp>
      <p:sp>
        <p:nvSpPr>
          <p:cNvPr id="35" name="Text 33"/>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6" name="Shape 34"/>
          <p:cNvSpPr/>
          <p:nvPr/>
        </p:nvSpPr>
        <p:spPr>
          <a:xfrm>
            <a:off x="5458511" y="6498366"/>
            <a:ext cx="7772" cy="39045"/>
          </a:xfrm>
          <a:prstGeom prst="rect">
            <a:avLst/>
          </a:prstGeom>
          <a:solidFill>
            <a:srgbClr val="C9C4B9"/>
          </a:solidFill>
          <a:ln/>
        </p:spPr>
      </p:sp>
      <p:sp>
        <p:nvSpPr>
          <p:cNvPr id="37" name="Text 35"/>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8" name="Shape 36"/>
          <p:cNvSpPr/>
          <p:nvPr/>
        </p:nvSpPr>
        <p:spPr>
          <a:xfrm>
            <a:off x="7141738" y="6498366"/>
            <a:ext cx="7772" cy="39045"/>
          </a:xfrm>
          <a:prstGeom prst="rect">
            <a:avLst/>
          </a:prstGeom>
          <a:solidFill>
            <a:srgbClr val="C9C4B9"/>
          </a:solidFill>
          <a:ln/>
        </p:spPr>
      </p:sp>
      <p:sp>
        <p:nvSpPr>
          <p:cNvPr id="39" name="Text 37"/>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40" name="Shape 38"/>
          <p:cNvSpPr/>
          <p:nvPr/>
        </p:nvSpPr>
        <p:spPr>
          <a:xfrm>
            <a:off x="9945654" y="6498366"/>
            <a:ext cx="7772" cy="39045"/>
          </a:xfrm>
          <a:prstGeom prst="rect">
            <a:avLst/>
          </a:prstGeom>
          <a:solidFill>
            <a:srgbClr val="C9C4B9"/>
          </a:solidFill>
          <a:ln/>
        </p:spPr>
      </p:sp>
      <p:sp>
        <p:nvSpPr>
          <p:cNvPr id="41" name="Text 39"/>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42" name="Shape 40"/>
          <p:cNvSpPr/>
          <p:nvPr/>
        </p:nvSpPr>
        <p:spPr>
          <a:xfrm>
            <a:off x="11628973" y="6498366"/>
            <a:ext cx="7772" cy="39045"/>
          </a:xfrm>
          <a:prstGeom prst="rect">
            <a:avLst/>
          </a:prstGeom>
          <a:solidFill>
            <a:srgbClr val="C9C4B9"/>
          </a:solidFill>
          <a:ln/>
        </p:spPr>
      </p:sp>
      <p:sp>
        <p:nvSpPr>
          <p:cNvPr id="43" name="Text 41"/>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61371"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52</a:t>
            </a:r>
            <a:endParaRPr lang="en-US" sz="2545" dirty="0"/>
          </a:p>
        </p:txBody>
      </p:sp>
      <p:sp>
        <p:nvSpPr>
          <p:cNvPr id="3" name="Text 1"/>
          <p:cNvSpPr txBox="1"/>
          <p:nvPr/>
        </p:nvSpPr>
        <p:spPr>
          <a:xfrm rot="16200000">
            <a:off x="-338968" y="3428909"/>
            <a:ext cx="881299"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C0451A"/>
                </a:solidFill>
                <a:latin typeface="Calibri" pitchFamily="34" charset="0"/>
                <a:ea typeface="Calibri" pitchFamily="34" charset="-122"/>
                <a:cs typeface="Calibri" pitchFamily="34" charset="-120"/>
              </a:rPr>
              <a:t>ARCHITECTURE</a:t>
            </a:r>
            <a:endParaRPr lang="en-US" sz="694" dirty="0"/>
          </a:p>
        </p:txBody>
      </p:sp>
      <p:sp>
        <p:nvSpPr>
          <p:cNvPr id="4" name="Shape 2"/>
          <p:cNvSpPr/>
          <p:nvPr/>
        </p:nvSpPr>
        <p:spPr>
          <a:xfrm>
            <a:off x="1439540" y="433334"/>
            <a:ext cx="190927" cy="22037"/>
          </a:xfrm>
          <a:prstGeom prst="rect">
            <a:avLst/>
          </a:prstGeom>
          <a:solidFill>
            <a:srgbClr val="C0451A"/>
          </a:solidFill>
          <a:ln/>
        </p:spPr>
      </p:sp>
      <p:sp>
        <p:nvSpPr>
          <p:cNvPr id="5" name="Text 3"/>
          <p:cNvSpPr txBox="1"/>
          <p:nvPr/>
        </p:nvSpPr>
        <p:spPr>
          <a:xfrm>
            <a:off x="1718615" y="383865"/>
            <a:ext cx="662757"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C0451A"/>
                </a:solidFill>
                <a:latin typeface="Calibri" pitchFamily="34" charset="0"/>
                <a:ea typeface="Calibri" pitchFamily="34" charset="-122"/>
                <a:cs typeface="Calibri" pitchFamily="34" charset="-120"/>
              </a:rPr>
              <a:t>ATTENTION</a:t>
            </a:r>
            <a:endParaRPr lang="en-US" sz="781" dirty="0"/>
          </a:p>
        </p:txBody>
      </p:sp>
      <p:sp>
        <p:nvSpPr>
          <p:cNvPr id="6" name="Text 4"/>
          <p:cNvSpPr txBox="1"/>
          <p:nvPr/>
        </p:nvSpPr>
        <p:spPr>
          <a:xfrm>
            <a:off x="1439540" y="607070"/>
            <a:ext cx="8144835"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Self-attention — the obvious fix, and why it does not fit</a:t>
            </a:r>
            <a:endParaRPr lang="en-US" sz="2660" dirty="0"/>
          </a:p>
        </p:txBody>
      </p:sp>
      <p:sp>
        <p:nvSpPr>
          <p:cNvPr id="7" name="Text 5"/>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Attention was invented for sequences and lets any element consult any other in a single operation. That is exactly the property bottleneck 3 needs. Its cost is exactly what makes it unusable on images.</a:t>
            </a:r>
            <a:endParaRPr lang="en-US" sz="1157" dirty="0"/>
          </a:p>
        </p:txBody>
      </p:sp>
      <p:sp>
        <p:nvSpPr>
          <p:cNvPr id="8" name="Shape 6"/>
          <p:cNvSpPr/>
          <p:nvPr/>
        </p:nvSpPr>
        <p:spPr>
          <a:xfrm>
            <a:off x="1439540" y="1958553"/>
            <a:ext cx="10223358" cy="1285006"/>
          </a:xfrm>
          <a:prstGeom prst="rect">
            <a:avLst/>
          </a:prstGeom>
          <a:solidFill>
            <a:srgbClr val="F6ECE7"/>
          </a:solidFill>
          <a:ln/>
        </p:spPr>
      </p:sp>
      <p:sp>
        <p:nvSpPr>
          <p:cNvPr id="9" name="Shape 7"/>
          <p:cNvSpPr/>
          <p:nvPr/>
        </p:nvSpPr>
        <p:spPr>
          <a:xfrm>
            <a:off x="1439540" y="1958553"/>
            <a:ext cx="29352" cy="1285006"/>
          </a:xfrm>
          <a:prstGeom prst="rect">
            <a:avLst/>
          </a:prstGeom>
          <a:solidFill>
            <a:srgbClr val="C0451A"/>
          </a:solidFill>
          <a:ln/>
        </p:spPr>
      </p:sp>
      <p:pic>
        <p:nvPicPr>
          <p:cNvPr id="10" name="Image 0" descr="\mathrm{Attention}(Q,K,V) \;=\; \mathrm{softmax}\!\left(\frac{QK^{\!\top}}{\sqrt{d_{k}}}\right) V">    </p:cNvPr>
          <p:cNvPicPr>
            <a:picLocks noChangeAspect="1"/>
          </p:cNvPicPr>
          <p:nvPr/>
        </p:nvPicPr>
        <p:blipFill>
          <a:blip r:embed="rId1"/>
          <a:stretch>
            <a:fillRect/>
          </a:stretch>
        </p:blipFill>
        <p:spPr>
          <a:xfrm>
            <a:off x="1645188" y="2083369"/>
            <a:ext cx="5601797" cy="798911"/>
          </a:xfrm>
          <a:prstGeom prst="rect">
            <a:avLst/>
          </a:prstGeom>
        </p:spPr>
      </p:pic>
      <p:sp>
        <p:nvSpPr>
          <p:cNvPr id="11" name="Text 8"/>
          <p:cNvSpPr txBox="1"/>
          <p:nvPr/>
        </p:nvSpPr>
        <p:spPr>
          <a:xfrm>
            <a:off x="1645188" y="2955066"/>
            <a:ext cx="5105735"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Q, K, V — query, key and value projections of the input · the softmax produces one weight per pair of elements</a:t>
            </a:r>
            <a:endParaRPr lang="en-US" sz="867" dirty="0"/>
          </a:p>
        </p:txBody>
      </p:sp>
      <p:sp>
        <p:nvSpPr>
          <p:cNvPr id="12" name="Shape 9"/>
          <p:cNvSpPr/>
          <p:nvPr/>
        </p:nvSpPr>
        <p:spPr>
          <a:xfrm>
            <a:off x="1439540" y="3353745"/>
            <a:ext cx="10223358" cy="908091"/>
          </a:xfrm>
          <a:prstGeom prst="rect">
            <a:avLst/>
          </a:prstGeom>
          <a:solidFill>
            <a:srgbClr val="F6ECE7"/>
          </a:solidFill>
          <a:ln/>
        </p:spPr>
      </p:sp>
      <p:sp>
        <p:nvSpPr>
          <p:cNvPr id="13" name="Shape 10"/>
          <p:cNvSpPr/>
          <p:nvPr/>
        </p:nvSpPr>
        <p:spPr>
          <a:xfrm>
            <a:off x="1439540" y="3353745"/>
            <a:ext cx="29352" cy="908091"/>
          </a:xfrm>
          <a:prstGeom prst="rect">
            <a:avLst/>
          </a:prstGeom>
          <a:solidFill>
            <a:srgbClr val="C0451A"/>
          </a:solidFill>
          <a:ln/>
        </p:spPr>
      </p:sp>
      <p:pic>
        <p:nvPicPr>
          <p:cNvPr id="14" name="Image 1" descr="\text{cost} \;=\; O\big(W^{2}H^{2}\big) \qquad \text{for a } W \times H \text{ image}">    </p:cNvPr>
          <p:cNvPicPr>
            <a:picLocks noChangeAspect="1"/>
          </p:cNvPicPr>
          <p:nvPr/>
        </p:nvPicPr>
        <p:blipFill>
          <a:blip r:embed="rId2"/>
          <a:stretch>
            <a:fillRect/>
          </a:stretch>
        </p:blipFill>
        <p:spPr>
          <a:xfrm>
            <a:off x="1645188" y="3478560"/>
            <a:ext cx="5624474" cy="421996"/>
          </a:xfrm>
          <a:prstGeom prst="rect">
            <a:avLst/>
          </a:prstGeom>
        </p:spPr>
      </p:pic>
      <p:sp>
        <p:nvSpPr>
          <p:cNvPr id="15" name="Text 11"/>
          <p:cNvSpPr txBox="1"/>
          <p:nvPr/>
        </p:nvSpPr>
        <p:spPr>
          <a:xfrm>
            <a:off x="1645188" y="3973251"/>
            <a:ext cx="4005712"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the key–query dot-product interaction grows </a:t>
            </a:r>
            <a:pPr algn="l" indent="0" marL="0">
              <a:lnSpc>
                <a:spcPts val="1284"/>
              </a:lnSpc>
              <a:buNone/>
            </a:pPr>
            <a:r>
              <a:rPr kern="0" lang="en-US" sz="867" b="1" i="1" dirty="0">
                <a:solidFill>
                  <a:srgbClr val="14120F"/>
                </a:solidFill>
                <a:latin typeface="Calibri" pitchFamily="34" charset="0"/>
                <a:ea typeface="Calibri" pitchFamily="34" charset="-122"/>
                <a:cs typeface="Calibri" pitchFamily="34" charset="-120"/>
              </a:rPr>
              <a:t>quadratically with the spatial resolution</a:t>
            </a:r>
            <a:endParaRPr lang="en-US" sz="867" dirty="0"/>
          </a:p>
        </p:txBody>
      </p:sp>
      <p:sp>
        <p:nvSpPr>
          <p:cNvPr id="16" name="Shape 12"/>
          <p:cNvSpPr/>
          <p:nvPr/>
        </p:nvSpPr>
        <p:spPr>
          <a:xfrm>
            <a:off x="1439540" y="4372021"/>
            <a:ext cx="10223358" cy="7315"/>
          </a:xfrm>
          <a:prstGeom prst="rect">
            <a:avLst/>
          </a:prstGeom>
          <a:solidFill>
            <a:srgbClr val="DFDBD2"/>
          </a:solidFill>
          <a:ln/>
        </p:spPr>
      </p:sp>
      <p:sp>
        <p:nvSpPr>
          <p:cNvPr id="17" name="Text 13"/>
          <p:cNvSpPr txBox="1"/>
          <p:nvPr/>
        </p:nvSpPr>
        <p:spPr>
          <a:xfrm>
            <a:off x="1439540" y="4504152"/>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8" name="Text 14"/>
          <p:cNvSpPr txBox="1"/>
          <p:nvPr/>
        </p:nvSpPr>
        <p:spPr>
          <a:xfrm>
            <a:off x="1747967" y="4494093"/>
            <a:ext cx="9969246" cy="42227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numbers make the problem concrete.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 256×256 image has 65 536 spatial positions, so the attention matrix holds ≈ 4.3 × 10⁹ entries. A ViT at 224×224 with 16×16 patches has 196 tokens. Restoration and classification are not the same problem.</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[1]</a:t>
            </a:r>
            <a:endParaRPr lang="en-US" sz="1070" dirty="0"/>
          </a:p>
        </p:txBody>
      </p:sp>
      <p:sp>
        <p:nvSpPr>
          <p:cNvPr id="19" name="Text 15"/>
          <p:cNvSpPr txBox="1"/>
          <p:nvPr/>
        </p:nvSpPr>
        <p:spPr>
          <a:xfrm>
            <a:off x="1439540" y="5029291"/>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20" name="Text 16"/>
          <p:cNvSpPr txBox="1"/>
          <p:nvPr/>
        </p:nvSpPr>
        <p:spPr>
          <a:xfrm>
            <a:off x="1747967" y="5019233"/>
            <a:ext cx="8293517"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Restormer</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[2]</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 states the constraint directly:</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it is infeasible to apply SA on most image restoration tasks that often involve high-resolution images.</a:t>
            </a:r>
            <a:endParaRPr lang="en-US" sz="1070" dirty="0"/>
          </a:p>
        </p:txBody>
      </p:sp>
      <p:sp>
        <p:nvSpPr>
          <p:cNvPr id="21" name="Text 17"/>
          <p:cNvSpPr txBox="1"/>
          <p:nvPr/>
        </p:nvSpPr>
        <p:spPr>
          <a:xfrm>
            <a:off x="1439540" y="5350612"/>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22" name="Text 18"/>
          <p:cNvSpPr txBox="1"/>
          <p:nvPr/>
        </p:nvSpPr>
        <p:spPr>
          <a:xfrm>
            <a:off x="1747967" y="5340553"/>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Fix 1 — restrict the window.</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SwinIR</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[3]</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attends inside fixed local windows, shifting them between layers. Restormer's</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[2]</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objection is structural: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restricting the spatial extent of SA is contradictory to the goal of capturing the true long-range pixel relationships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a:t>
            </a:r>
            <a:endParaRPr lang="en-US" sz="1070" dirty="0"/>
          </a:p>
        </p:txBody>
      </p:sp>
      <p:sp>
        <p:nvSpPr>
          <p:cNvPr id="23" name="Text 19"/>
          <p:cNvSpPr txBox="1"/>
          <p:nvPr/>
        </p:nvSpPr>
        <p:spPr>
          <a:xfrm>
            <a:off x="7198431" y="6285494"/>
            <a:ext cx="4464467"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Vaswani et al., NeurIPS 2017 (standard formulation) 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Restormer22 §1, §3.1 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SCUNet23 §1 on SwinIR</a:t>
            </a:r>
            <a:endParaRPr lang="en-US" sz="556" dirty="0"/>
          </a:p>
        </p:txBody>
      </p:sp>
      <p:sp>
        <p:nvSpPr>
          <p:cNvPr id="24" name="Shape 20"/>
          <p:cNvSpPr/>
          <p:nvPr/>
        </p:nvSpPr>
        <p:spPr>
          <a:xfrm>
            <a:off x="1439540" y="6556705"/>
            <a:ext cx="10223358" cy="7315"/>
          </a:xfrm>
          <a:prstGeom prst="rect">
            <a:avLst/>
          </a:prstGeom>
          <a:solidFill>
            <a:srgbClr val="C9C4B9"/>
          </a:solidFill>
          <a:ln/>
        </p:spPr>
      </p:sp>
      <p:sp>
        <p:nvSpPr>
          <p:cNvPr id="25" name="Shape 21"/>
          <p:cNvSpPr/>
          <p:nvPr/>
        </p:nvSpPr>
        <p:spPr>
          <a:xfrm>
            <a:off x="9391162" y="6545732"/>
            <a:ext cx="1704167" cy="29352"/>
          </a:xfrm>
          <a:prstGeom prst="rect">
            <a:avLst/>
          </a:prstGeom>
          <a:solidFill>
            <a:srgbClr val="C0451A"/>
          </a:solidFill>
          <a:ln/>
        </p:spPr>
      </p:sp>
      <p:sp>
        <p:nvSpPr>
          <p:cNvPr id="26" name="Shape 22"/>
          <p:cNvSpPr/>
          <p:nvPr/>
        </p:nvSpPr>
        <p:spPr>
          <a:xfrm>
            <a:off x="1439540" y="6519946"/>
            <a:ext cx="7315" cy="36759"/>
          </a:xfrm>
          <a:prstGeom prst="rect">
            <a:avLst/>
          </a:prstGeom>
          <a:solidFill>
            <a:srgbClr val="C9C4B9"/>
          </a:solidFill>
          <a:ln/>
        </p:spPr>
      </p:sp>
      <p:sp>
        <p:nvSpPr>
          <p:cNvPr id="27" name="Text 23"/>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8" name="Shape 24"/>
          <p:cNvSpPr/>
          <p:nvPr/>
        </p:nvSpPr>
        <p:spPr>
          <a:xfrm>
            <a:off x="5415351" y="6519946"/>
            <a:ext cx="7315" cy="36759"/>
          </a:xfrm>
          <a:prstGeom prst="rect">
            <a:avLst/>
          </a:prstGeom>
          <a:solidFill>
            <a:srgbClr val="C9C4B9"/>
          </a:solidFill>
          <a:ln/>
        </p:spPr>
      </p:sp>
      <p:sp>
        <p:nvSpPr>
          <p:cNvPr id="29" name="Text 25"/>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0" name="Shape 26"/>
          <p:cNvSpPr/>
          <p:nvPr/>
        </p:nvSpPr>
        <p:spPr>
          <a:xfrm>
            <a:off x="7119610" y="6519946"/>
            <a:ext cx="7315" cy="36759"/>
          </a:xfrm>
          <a:prstGeom prst="rect">
            <a:avLst/>
          </a:prstGeom>
          <a:solidFill>
            <a:srgbClr val="C9C4B9"/>
          </a:solidFill>
          <a:ln/>
        </p:spPr>
      </p:sp>
      <p:sp>
        <p:nvSpPr>
          <p:cNvPr id="31" name="Text 27"/>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2" name="Shape 28"/>
          <p:cNvSpPr/>
          <p:nvPr/>
        </p:nvSpPr>
        <p:spPr>
          <a:xfrm>
            <a:off x="9958639" y="6519946"/>
            <a:ext cx="7315" cy="36759"/>
          </a:xfrm>
          <a:prstGeom prst="rect">
            <a:avLst/>
          </a:prstGeom>
          <a:solidFill>
            <a:srgbClr val="C9C4B9"/>
          </a:solidFill>
          <a:ln/>
        </p:spPr>
      </p:sp>
      <p:sp>
        <p:nvSpPr>
          <p:cNvPr id="33" name="Text 29"/>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4" name="Shape 30"/>
          <p:cNvSpPr/>
          <p:nvPr/>
        </p:nvSpPr>
        <p:spPr>
          <a:xfrm>
            <a:off x="11662898" y="6519946"/>
            <a:ext cx="7315" cy="36759"/>
          </a:xfrm>
          <a:prstGeom prst="rect">
            <a:avLst/>
          </a:prstGeom>
          <a:solidFill>
            <a:srgbClr val="C9C4B9"/>
          </a:solidFill>
          <a:ln/>
        </p:spPr>
      </p:sp>
      <p:sp>
        <p:nvSpPr>
          <p:cNvPr id="35" name="Text 31"/>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0840"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52</a:t>
            </a:r>
            <a:endParaRPr lang="en-US" sz="2893" dirty="0"/>
          </a:p>
        </p:txBody>
      </p:sp>
      <p:sp>
        <p:nvSpPr>
          <p:cNvPr id="3" name="Text 1"/>
          <p:cNvSpPr txBox="1"/>
          <p:nvPr/>
        </p:nvSpPr>
        <p:spPr>
          <a:xfrm rot="16200000">
            <a:off x="-385420" y="3428909"/>
            <a:ext cx="1002091"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C0451A"/>
                </a:solidFill>
                <a:latin typeface="Calibri" pitchFamily="34" charset="0"/>
                <a:ea typeface="Calibri" pitchFamily="34" charset="-122"/>
                <a:cs typeface="Calibri" pitchFamily="34" charset="-120"/>
              </a:rPr>
              <a:t>ARCHITECTURE</a:t>
            </a:r>
            <a:endParaRPr lang="en-US" sz="789" dirty="0"/>
          </a:p>
        </p:txBody>
      </p:sp>
      <p:sp>
        <p:nvSpPr>
          <p:cNvPr id="4" name="Shape 2"/>
          <p:cNvSpPr/>
          <p:nvPr/>
        </p:nvSpPr>
        <p:spPr>
          <a:xfrm>
            <a:off x="1636685" y="492679"/>
            <a:ext cx="217079" cy="25055"/>
          </a:xfrm>
          <a:prstGeom prst="rect">
            <a:avLst/>
          </a:prstGeom>
          <a:solidFill>
            <a:srgbClr val="C0451A"/>
          </a:solidFill>
          <a:ln/>
        </p:spPr>
      </p:sp>
      <p:sp>
        <p:nvSpPr>
          <p:cNvPr id="5" name="Text 3"/>
          <p:cNvSpPr txBox="1"/>
          <p:nvPr/>
        </p:nvSpPr>
        <p:spPr>
          <a:xfrm>
            <a:off x="1953981" y="436443"/>
            <a:ext cx="753466"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ATTENTION</a:t>
            </a:r>
            <a:endParaRPr lang="en-US" sz="888" dirty="0"/>
          </a:p>
        </p:txBody>
      </p:sp>
      <p:sp>
        <p:nvSpPr>
          <p:cNvPr id="6" name="Text 4"/>
          <p:cNvSpPr txBox="1"/>
          <p:nvPr/>
        </p:nvSpPr>
        <p:spPr>
          <a:xfrm>
            <a:off x="2757648"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9260495"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Self-attention — the obvious fix, and why it does not fit</a:t>
            </a:r>
            <a:endParaRPr lang="en-US" sz="3025" dirty="0"/>
          </a:p>
        </p:txBody>
      </p:sp>
      <p:sp>
        <p:nvSpPr>
          <p:cNvPr id="8" name="Shape 6"/>
          <p:cNvSpPr/>
          <p:nvPr/>
        </p:nvSpPr>
        <p:spPr>
          <a:xfrm>
            <a:off x="1636685" y="1241481"/>
            <a:ext cx="9953793" cy="8321"/>
          </a:xfrm>
          <a:prstGeom prst="rect">
            <a:avLst/>
          </a:prstGeom>
          <a:solidFill>
            <a:srgbClr val="DFDBD2"/>
          </a:solidFill>
          <a:ln/>
        </p:spPr>
      </p:sp>
      <p:sp>
        <p:nvSpPr>
          <p:cNvPr id="9" name="Text 7"/>
          <p:cNvSpPr txBox="1"/>
          <p:nvPr/>
        </p:nvSpPr>
        <p:spPr>
          <a:xfrm>
            <a:off x="1636685" y="1391808"/>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10" name="Text 8"/>
          <p:cNvSpPr txBox="1"/>
          <p:nvPr/>
        </p:nvSpPr>
        <p:spPr>
          <a:xfrm>
            <a:off x="1987448" y="1380287"/>
            <a:ext cx="7123908"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Fix 2 — change the axis.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If 65 536 positions are unaffordable, attend over the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channels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instead. There are 48.</a:t>
            </a:r>
            <a:endParaRPr lang="en-US" sz="1216" dirty="0"/>
          </a:p>
        </p:txBody>
      </p:sp>
      <p:sp>
        <p:nvSpPr>
          <p:cNvPr id="11" name="Text 9"/>
          <p:cNvSpPr txBox="1"/>
          <p:nvPr/>
        </p:nvSpPr>
        <p:spPr>
          <a:xfrm>
            <a:off x="1636685" y="1757111"/>
            <a:ext cx="15563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05</a:t>
            </a:r>
            <a:endParaRPr lang="en-US" sz="789" dirty="0"/>
          </a:p>
        </p:txBody>
      </p:sp>
      <p:sp>
        <p:nvSpPr>
          <p:cNvPr id="12" name="Text 10"/>
          <p:cNvSpPr txBox="1"/>
          <p:nvPr/>
        </p:nvSpPr>
        <p:spPr>
          <a:xfrm>
            <a:off x="1987448" y="1745681"/>
            <a:ext cx="9305849"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Fix 3 — abandon attention.</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NAFNet argues the gains were never attention's; MambaIR replaces it with a recurrence linear in sequence length.</a:t>
            </a:r>
            <a:endParaRPr lang="en-US" sz="1216" dirty="0"/>
          </a:p>
        </p:txBody>
      </p:sp>
      <p:sp>
        <p:nvSpPr>
          <p:cNvPr id="13" name="Text 11"/>
          <p:cNvSpPr txBox="1"/>
          <p:nvPr/>
        </p:nvSpPr>
        <p:spPr>
          <a:xfrm>
            <a:off x="6514368" y="6207039"/>
            <a:ext cx="5076109"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Vaswani et al., NeurIPS 2017 (standard formulation) 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Restormer22 §1, §3.1 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[3]</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SCUNet23 §1 on SwinIR</a:t>
            </a:r>
            <a:endParaRPr lang="en-US" sz="633" dirty="0"/>
          </a:p>
        </p:txBody>
      </p:sp>
      <p:sp>
        <p:nvSpPr>
          <p:cNvPr id="14" name="Shape 12"/>
          <p:cNvSpPr/>
          <p:nvPr/>
        </p:nvSpPr>
        <p:spPr>
          <a:xfrm>
            <a:off x="1636685" y="6515466"/>
            <a:ext cx="9953793" cy="8321"/>
          </a:xfrm>
          <a:prstGeom prst="rect">
            <a:avLst/>
          </a:prstGeom>
          <a:solidFill>
            <a:srgbClr val="C9C4B9"/>
          </a:solidFill>
          <a:ln/>
        </p:spPr>
      </p:sp>
      <p:sp>
        <p:nvSpPr>
          <p:cNvPr id="15" name="Shape 13"/>
          <p:cNvSpPr/>
          <p:nvPr/>
        </p:nvSpPr>
        <p:spPr>
          <a:xfrm>
            <a:off x="9378635" y="6502938"/>
            <a:ext cx="1659270" cy="33376"/>
          </a:xfrm>
          <a:prstGeom prst="rect">
            <a:avLst/>
          </a:prstGeom>
          <a:solidFill>
            <a:srgbClr val="C0451A"/>
          </a:solidFill>
          <a:ln/>
        </p:spPr>
      </p:sp>
      <p:sp>
        <p:nvSpPr>
          <p:cNvPr id="16" name="Shape 14"/>
          <p:cNvSpPr/>
          <p:nvPr/>
        </p:nvSpPr>
        <p:spPr>
          <a:xfrm>
            <a:off x="1636685" y="6473678"/>
            <a:ext cx="8321" cy="41788"/>
          </a:xfrm>
          <a:prstGeom prst="rect">
            <a:avLst/>
          </a:prstGeom>
          <a:solidFill>
            <a:srgbClr val="C9C4B9"/>
          </a:solidFill>
          <a:ln/>
        </p:spPr>
      </p:sp>
      <p:sp>
        <p:nvSpPr>
          <p:cNvPr id="17" name="Text 15"/>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8" name="Shape 16"/>
          <p:cNvSpPr/>
          <p:nvPr/>
        </p:nvSpPr>
        <p:spPr>
          <a:xfrm>
            <a:off x="5507706" y="6473678"/>
            <a:ext cx="8321" cy="41788"/>
          </a:xfrm>
          <a:prstGeom prst="rect">
            <a:avLst/>
          </a:prstGeom>
          <a:solidFill>
            <a:srgbClr val="C9C4B9"/>
          </a:solidFill>
          <a:ln/>
        </p:spPr>
      </p:sp>
      <p:sp>
        <p:nvSpPr>
          <p:cNvPr id="19" name="Text 17"/>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0" name="Shape 18"/>
          <p:cNvSpPr/>
          <p:nvPr/>
        </p:nvSpPr>
        <p:spPr>
          <a:xfrm>
            <a:off x="7166884" y="6473678"/>
            <a:ext cx="8321" cy="41788"/>
          </a:xfrm>
          <a:prstGeom prst="rect">
            <a:avLst/>
          </a:prstGeom>
          <a:solidFill>
            <a:srgbClr val="C9C4B9"/>
          </a:solidFill>
          <a:ln/>
        </p:spPr>
      </p:sp>
      <p:sp>
        <p:nvSpPr>
          <p:cNvPr id="21" name="Text 19"/>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2" name="Shape 20"/>
          <p:cNvSpPr/>
          <p:nvPr/>
        </p:nvSpPr>
        <p:spPr>
          <a:xfrm>
            <a:off x="9931024" y="6473678"/>
            <a:ext cx="8321" cy="41788"/>
          </a:xfrm>
          <a:prstGeom prst="rect">
            <a:avLst/>
          </a:prstGeom>
          <a:solidFill>
            <a:srgbClr val="C9C4B9"/>
          </a:solidFill>
          <a:ln/>
        </p:spPr>
      </p:sp>
      <p:sp>
        <p:nvSpPr>
          <p:cNvPr id="23" name="Text 21"/>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4" name="Shape 22"/>
          <p:cNvSpPr/>
          <p:nvPr/>
        </p:nvSpPr>
        <p:spPr>
          <a:xfrm>
            <a:off x="11590477" y="6473678"/>
            <a:ext cx="8321" cy="41788"/>
          </a:xfrm>
          <a:prstGeom prst="rect">
            <a:avLst/>
          </a:prstGeom>
          <a:solidFill>
            <a:srgbClr val="C9C4B9"/>
          </a:solidFill>
          <a:ln/>
        </p:spPr>
      </p:sp>
      <p:sp>
        <p:nvSpPr>
          <p:cNvPr id="25" name="Text 23"/>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41071"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53</a:t>
            </a:r>
            <a:endParaRPr lang="en-US" sz="2400" dirty="0"/>
          </a:p>
        </p:txBody>
      </p:sp>
      <p:sp>
        <p:nvSpPr>
          <p:cNvPr id="3" name="Text 1"/>
          <p:cNvSpPr txBox="1"/>
          <p:nvPr/>
        </p:nvSpPr>
        <p:spPr>
          <a:xfrm rot="16200000">
            <a:off x="-319766" y="3428909"/>
            <a:ext cx="831281" cy="97018"/>
          </a:xfrm>
          <a:prstGeom prst="rect">
            <a:avLst/>
          </a:prstGeom>
          <a:noFill/>
          <a:ln/>
        </p:spPr>
        <p:txBody>
          <a:bodyPr wrap="none" lIns="0" tIns="0" rIns="0" bIns="0" rtlCol="0" anchor="ctr"/>
          <a:lstStyle/>
          <a:p>
            <a:pPr algn="ctr" indent="0" marL="0">
              <a:lnSpc>
                <a:spcPts val="799"/>
              </a:lnSpc>
              <a:buNone/>
            </a:pPr>
            <a:r>
              <a:rPr lang="en-US" sz="655" b="1" spc="164" kern="0" dirty="0">
                <a:solidFill>
                  <a:srgbClr val="C0451A"/>
                </a:solidFill>
                <a:latin typeface="Calibri" pitchFamily="34" charset="0"/>
                <a:ea typeface="Calibri" pitchFamily="34" charset="-122"/>
                <a:cs typeface="Calibri" pitchFamily="34" charset="-120"/>
              </a:rPr>
              <a:t>ARCHITECTURE</a:t>
            </a:r>
            <a:endParaRPr lang="en-US" sz="655" dirty="0"/>
          </a:p>
        </p:txBody>
      </p:sp>
      <p:sp>
        <p:nvSpPr>
          <p:cNvPr id="4" name="Shape 2"/>
          <p:cNvSpPr/>
          <p:nvPr/>
        </p:nvSpPr>
        <p:spPr>
          <a:xfrm>
            <a:off x="1357701" y="408737"/>
            <a:ext cx="180137" cy="20757"/>
          </a:xfrm>
          <a:prstGeom prst="rect">
            <a:avLst/>
          </a:prstGeom>
          <a:solidFill>
            <a:srgbClr val="C0451A"/>
          </a:solidFill>
          <a:ln/>
        </p:spPr>
      </p:sp>
      <p:sp>
        <p:nvSpPr>
          <p:cNvPr id="5" name="Text 3"/>
          <p:cNvSpPr txBox="1"/>
          <p:nvPr/>
        </p:nvSpPr>
        <p:spPr>
          <a:xfrm>
            <a:off x="1620957" y="362011"/>
            <a:ext cx="1372514"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C0451A"/>
                </a:solidFill>
                <a:latin typeface="Calibri" pitchFamily="34" charset="0"/>
                <a:ea typeface="Calibri" pitchFamily="34" charset="-122"/>
                <a:cs typeface="Calibri" pitchFamily="34" charset="-120"/>
              </a:rPr>
              <a:t>RESTORMER, PART 1 OF 3</a:t>
            </a:r>
            <a:endParaRPr lang="en-US" sz="736" dirty="0"/>
          </a:p>
        </p:txBody>
      </p:sp>
      <p:sp>
        <p:nvSpPr>
          <p:cNvPr id="6" name="Text 4"/>
          <p:cNvSpPr txBox="1"/>
          <p:nvPr/>
        </p:nvSpPr>
        <p:spPr>
          <a:xfrm>
            <a:off x="1357701" y="572597"/>
            <a:ext cx="7056516"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MDTA — self-attention across channels, not pixels</a:t>
            </a:r>
            <a:endParaRPr lang="en-US" sz="2509" dirty="0"/>
          </a:p>
        </p:txBody>
      </p:sp>
      <p:sp>
        <p:nvSpPr>
          <p:cNvPr id="7" name="Text 5"/>
          <p:cNvSpPr txBox="1"/>
          <p:nvPr/>
        </p:nvSpPr>
        <p:spPr>
          <a:xfrm>
            <a:off x="1357701" y="1029889"/>
            <a:ext cx="5371734" cy="623438"/>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Zamir, Arora, Khan, Hayat, Khan and Yang, CVPR 2022. The key design: apply self-attention across the feature dimension rather than the spatial dimension, so the attention map is C×C instead of HW×HW.</a:t>
            </a:r>
            <a:endParaRPr lang="en-US" sz="1091" dirty="0"/>
          </a:p>
        </p:txBody>
      </p:sp>
      <p:sp>
        <p:nvSpPr>
          <p:cNvPr id="8" name="Shape 6"/>
          <p:cNvSpPr/>
          <p:nvPr/>
        </p:nvSpPr>
        <p:spPr>
          <a:xfrm>
            <a:off x="1357701" y="1847271"/>
            <a:ext cx="10335189" cy="882853"/>
          </a:xfrm>
          <a:prstGeom prst="rect">
            <a:avLst/>
          </a:prstGeom>
          <a:solidFill>
            <a:srgbClr val="F6ECE7"/>
          </a:solidFill>
          <a:ln/>
        </p:spPr>
      </p:sp>
      <p:sp>
        <p:nvSpPr>
          <p:cNvPr id="9" name="Shape 7"/>
          <p:cNvSpPr/>
          <p:nvPr/>
        </p:nvSpPr>
        <p:spPr>
          <a:xfrm>
            <a:off x="1357701" y="1847271"/>
            <a:ext cx="27706" cy="882853"/>
          </a:xfrm>
          <a:prstGeom prst="rect">
            <a:avLst/>
          </a:prstGeom>
          <a:solidFill>
            <a:srgbClr val="C0451A"/>
          </a:solidFill>
          <a:ln/>
        </p:spPr>
      </p:sp>
      <p:pic>
        <p:nvPicPr>
          <p:cNvPr id="10" name="Image 0" descr="Q = W_{d}^{Q}\,W_{p}^{Q}\,Y, \qquad K = W_{d}^{K}\,W_{p}^{K}\,Y, \qquad V = W_{d}^{V}\,W_{p}^{V}\,Y">    </p:cNvPr>
          <p:cNvPicPr>
            <a:picLocks noChangeAspect="1"/>
          </p:cNvPicPr>
          <p:nvPr/>
        </p:nvPicPr>
        <p:blipFill>
          <a:blip r:embed="rId1"/>
          <a:stretch>
            <a:fillRect/>
          </a:stretch>
        </p:blipFill>
        <p:spPr>
          <a:xfrm>
            <a:off x="1551645" y="1965046"/>
            <a:ext cx="7068129" cy="424373"/>
          </a:xfrm>
          <a:prstGeom prst="rect">
            <a:avLst/>
          </a:prstGeom>
        </p:spPr>
      </p:pic>
      <p:sp>
        <p:nvSpPr>
          <p:cNvPr id="11" name="Text 8"/>
          <p:cNvSpPr txBox="1"/>
          <p:nvPr/>
        </p:nvSpPr>
        <p:spPr>
          <a:xfrm>
            <a:off x="1551645" y="2457999"/>
            <a:ext cx="6255593" cy="153802"/>
          </a:xfrm>
          <a:prstGeom prst="rect">
            <a:avLst/>
          </a:prstGeom>
          <a:noFill/>
          <a:ln/>
        </p:spPr>
        <p:txBody>
          <a:bodyPr wrap="none" lIns="0" tIns="0" rIns="0" bIns="0" rtlCol="0" anchor="t"/>
          <a:lstStyle/>
          <a:p>
            <a:pPr algn="l" indent="0" marL="0">
              <a:lnSpc>
                <a:spcPts val="1211"/>
              </a:lnSpc>
              <a:buNone/>
            </a:pPr>
            <a:r>
              <a:rPr kern="0" lang="en-US" sz="818" i="1" dirty="0">
                <a:solidFill>
                  <a:srgbClr val="5A554D"/>
                </a:solidFill>
                <a:latin typeface="Calibri" pitchFamily="34" charset="0"/>
                <a:ea typeface="Calibri" pitchFamily="34" charset="-122"/>
                <a:cs typeface="Calibri" pitchFamily="34" charset="-120"/>
              </a:rPr>
              <a:t>Wᵖ — 1×1 point-wise convolution aggregating cross-channel context · Wᵈ — 3×3 depth-wise convolution encoding channel-wise spatial context</a:t>
            </a:r>
            <a:endParaRPr lang="en-US" sz="818" dirty="0"/>
          </a:p>
        </p:txBody>
      </p:sp>
      <p:sp>
        <p:nvSpPr>
          <p:cNvPr id="12" name="Shape 9"/>
          <p:cNvSpPr/>
          <p:nvPr/>
        </p:nvSpPr>
        <p:spPr>
          <a:xfrm>
            <a:off x="1357701" y="2834091"/>
            <a:ext cx="10335189" cy="1376263"/>
          </a:xfrm>
          <a:prstGeom prst="rect">
            <a:avLst/>
          </a:prstGeom>
          <a:solidFill>
            <a:srgbClr val="F6ECE7"/>
          </a:solidFill>
          <a:ln/>
        </p:spPr>
      </p:sp>
      <p:sp>
        <p:nvSpPr>
          <p:cNvPr id="13" name="Shape 10"/>
          <p:cNvSpPr/>
          <p:nvPr/>
        </p:nvSpPr>
        <p:spPr>
          <a:xfrm>
            <a:off x="1357701" y="2834091"/>
            <a:ext cx="27706" cy="1376263"/>
          </a:xfrm>
          <a:prstGeom prst="rect">
            <a:avLst/>
          </a:prstGeom>
          <a:solidFill>
            <a:srgbClr val="C0451A"/>
          </a:solidFill>
          <a:ln/>
        </p:spPr>
      </p:sp>
      <p:pic>
        <p:nvPicPr>
          <p:cNvPr id="14" name="Image 1" descr="\mathrm{Attention}(\hat{Q},\hat{K},\hat{V}) \;=\; \hat{V}\cdot\mathrm{softmax}\!\left(\frac{\hat{K}\hat{Q}^{\!\top}}{\alpha}\right)">    </p:cNvPr>
          <p:cNvPicPr>
            <a:picLocks noChangeAspect="1"/>
          </p:cNvPicPr>
          <p:nvPr/>
        </p:nvPicPr>
        <p:blipFill>
          <a:blip r:embed="rId2"/>
          <a:stretch>
            <a:fillRect/>
          </a:stretch>
        </p:blipFill>
        <p:spPr>
          <a:xfrm>
            <a:off x="1551645" y="2951775"/>
            <a:ext cx="5489326" cy="917692"/>
          </a:xfrm>
          <a:prstGeom prst="rect">
            <a:avLst/>
          </a:prstGeom>
        </p:spPr>
      </p:pic>
      <p:sp>
        <p:nvSpPr>
          <p:cNvPr id="15" name="Text 11"/>
          <p:cNvSpPr txBox="1"/>
          <p:nvPr/>
        </p:nvSpPr>
        <p:spPr>
          <a:xfrm>
            <a:off x="1551645" y="3938138"/>
            <a:ext cx="6253490" cy="153802"/>
          </a:xfrm>
          <a:prstGeom prst="rect">
            <a:avLst/>
          </a:prstGeom>
          <a:noFill/>
          <a:ln/>
        </p:spPr>
        <p:txBody>
          <a:bodyPr wrap="none" lIns="0" tIns="0" rIns="0" bIns="0" rtlCol="0" anchor="t"/>
          <a:lstStyle/>
          <a:p>
            <a:pPr algn="l" indent="0" marL="0">
              <a:lnSpc>
                <a:spcPts val="1211"/>
              </a:lnSpc>
              <a:buNone/>
            </a:pPr>
            <a:r>
              <a:rPr kern="0" lang="en-US" sz="818" i="1" dirty="0">
                <a:solidFill>
                  <a:srgbClr val="5A554D"/>
                </a:solidFill>
                <a:latin typeface="Calibri" pitchFamily="34" charset="0"/>
                <a:ea typeface="Calibri" pitchFamily="34" charset="-122"/>
                <a:cs typeface="Calibri" pitchFamily="34" charset="-120"/>
              </a:rPr>
              <a:t>Q̂, K̂, V̂ reshaped so the dot product yields a C×C transposed-attention map — cross-covariance across channels, not pairwise pixel interactions</a:t>
            </a:r>
            <a:endParaRPr lang="en-US" sz="818" dirty="0"/>
          </a:p>
        </p:txBody>
      </p:sp>
      <p:sp>
        <p:nvSpPr>
          <p:cNvPr id="16" name="Shape 12"/>
          <p:cNvSpPr/>
          <p:nvPr/>
        </p:nvSpPr>
        <p:spPr>
          <a:xfrm>
            <a:off x="1357701" y="4314139"/>
            <a:ext cx="10335189" cy="6949"/>
          </a:xfrm>
          <a:prstGeom prst="rect">
            <a:avLst/>
          </a:prstGeom>
          <a:solidFill>
            <a:srgbClr val="DFDBD2"/>
          </a:solidFill>
          <a:ln/>
        </p:spPr>
      </p:sp>
      <p:sp>
        <p:nvSpPr>
          <p:cNvPr id="17" name="Text 13"/>
          <p:cNvSpPr txBox="1"/>
          <p:nvPr/>
        </p:nvSpPr>
        <p:spPr>
          <a:xfrm>
            <a:off x="1357701" y="4438863"/>
            <a:ext cx="124084"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01</a:t>
            </a:r>
            <a:endParaRPr lang="en-US" sz="655" dirty="0"/>
          </a:p>
        </p:txBody>
      </p:sp>
      <p:sp>
        <p:nvSpPr>
          <p:cNvPr id="18" name="Text 14"/>
          <p:cNvSpPr txBox="1"/>
          <p:nvPr/>
        </p:nvSpPr>
        <p:spPr>
          <a:xfrm>
            <a:off x="1648663" y="4429354"/>
            <a:ext cx="8041965"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Linear complexity.</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The attention matrix is C/k × C/k per head, independent of H and W. At level 1, C = 48 — a 48×48 matrix whatever the image size.</a:t>
            </a:r>
            <a:endParaRPr lang="en-US" sz="1009" dirty="0"/>
          </a:p>
        </p:txBody>
      </p:sp>
      <p:sp>
        <p:nvSpPr>
          <p:cNvPr id="19" name="Text 15"/>
          <p:cNvSpPr txBox="1"/>
          <p:nvPr/>
        </p:nvSpPr>
        <p:spPr>
          <a:xfrm>
            <a:off x="1357701" y="4741896"/>
            <a:ext cx="128016"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02</a:t>
            </a:r>
            <a:endParaRPr lang="en-US" sz="655" dirty="0"/>
          </a:p>
        </p:txBody>
      </p:sp>
      <p:sp>
        <p:nvSpPr>
          <p:cNvPr id="20" name="Text 16"/>
          <p:cNvSpPr txBox="1"/>
          <p:nvPr/>
        </p:nvSpPr>
        <p:spPr>
          <a:xfrm>
            <a:off x="1648663" y="4732386"/>
            <a:ext cx="10098359" cy="384414"/>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What the global context is.</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Rather than pairwise pixel interactions, MDTA computes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cross-covariance across feature channels</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Each channel is a global descriptor, so weighting them by mutual covariance encodes image-wide relationships.</a:t>
            </a:r>
            <a:endParaRPr lang="en-US" sz="1009" dirty="0"/>
          </a:p>
        </p:txBody>
      </p:sp>
      <p:sp>
        <p:nvSpPr>
          <p:cNvPr id="21" name="Text 17"/>
          <p:cNvSpPr txBox="1"/>
          <p:nvPr/>
        </p:nvSpPr>
        <p:spPr>
          <a:xfrm>
            <a:off x="1357701" y="5237226"/>
            <a:ext cx="128107"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03</a:t>
            </a:r>
            <a:endParaRPr lang="en-US" sz="655" dirty="0"/>
          </a:p>
        </p:txBody>
      </p:sp>
      <p:sp>
        <p:nvSpPr>
          <p:cNvPr id="22" name="Text 18"/>
          <p:cNvSpPr txBox="1"/>
          <p:nvPr/>
        </p:nvSpPr>
        <p:spPr>
          <a:xfrm>
            <a:off x="1648663" y="5227716"/>
            <a:ext cx="8850935"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The depth-wise convolutions are not decoration.</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The paper calls local context mixing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an important feature</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removing it drops Urban100 σ=50 from 29.43 to 29.28.</a:t>
            </a:r>
            <a:endParaRPr lang="en-US" sz="1009" dirty="0"/>
          </a:p>
        </p:txBody>
      </p:sp>
      <p:sp>
        <p:nvSpPr>
          <p:cNvPr id="23" name="Text 19"/>
          <p:cNvSpPr txBox="1"/>
          <p:nvPr/>
        </p:nvSpPr>
        <p:spPr>
          <a:xfrm>
            <a:off x="1357701" y="5540258"/>
            <a:ext cx="131948"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04</a:t>
            </a:r>
            <a:endParaRPr lang="en-US" sz="655" dirty="0"/>
          </a:p>
        </p:txBody>
      </p:sp>
      <p:sp>
        <p:nvSpPr>
          <p:cNvPr id="24" name="Text 20"/>
          <p:cNvSpPr txBox="1"/>
          <p:nvPr/>
        </p:nvSpPr>
        <p:spPr>
          <a:xfrm>
            <a:off x="1648663" y="5530748"/>
            <a:ext cx="7546818" cy="192207"/>
          </a:xfrm>
          <a:prstGeom prst="rect">
            <a:avLst/>
          </a:prstGeom>
          <a:noFill/>
          <a:ln/>
        </p:spPr>
        <p:txBody>
          <a:bodyPr wrap="non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Two claims:</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it brings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the complimentary strength of convolution operation</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into the pipeline, and global relationships are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implicitly modeled</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a:t>
            </a:r>
            <a:endParaRPr lang="en-US" sz="1009" dirty="0"/>
          </a:p>
        </p:txBody>
      </p:sp>
      <p:sp>
        <p:nvSpPr>
          <p:cNvPr id="25" name="Text 21"/>
          <p:cNvSpPr txBox="1"/>
          <p:nvPr/>
        </p:nvSpPr>
        <p:spPr>
          <a:xfrm>
            <a:off x="10557022" y="6307623"/>
            <a:ext cx="1135868" cy="109819"/>
          </a:xfrm>
          <a:prstGeom prst="rect">
            <a:avLst/>
          </a:prstGeom>
          <a:noFill/>
          <a:ln/>
        </p:spPr>
        <p:txBody>
          <a:bodyPr wrap="none" lIns="0" tIns="0" rIns="0" bIns="0" rtlCol="0" anchor="t"/>
          <a:lstStyle/>
          <a:p>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Restormer22 §1, §3.1, Table 7</a:t>
            </a:r>
            <a:endParaRPr lang="en-US" sz="709" dirty="0"/>
          </a:p>
        </p:txBody>
      </p:sp>
      <p:sp>
        <p:nvSpPr>
          <p:cNvPr id="26" name="Shape 22"/>
          <p:cNvSpPr/>
          <p:nvPr/>
        </p:nvSpPr>
        <p:spPr>
          <a:xfrm>
            <a:off x="1357701" y="6573804"/>
            <a:ext cx="10335189" cy="6949"/>
          </a:xfrm>
          <a:prstGeom prst="rect">
            <a:avLst/>
          </a:prstGeom>
          <a:solidFill>
            <a:srgbClr val="C9C4B9"/>
          </a:solidFill>
          <a:ln/>
        </p:spPr>
      </p:sp>
      <p:sp>
        <p:nvSpPr>
          <p:cNvPr id="27" name="Shape 23"/>
          <p:cNvSpPr/>
          <p:nvPr/>
        </p:nvSpPr>
        <p:spPr>
          <a:xfrm>
            <a:off x="9396374" y="6563472"/>
            <a:ext cx="1722821" cy="27706"/>
          </a:xfrm>
          <a:prstGeom prst="rect">
            <a:avLst/>
          </a:prstGeom>
          <a:solidFill>
            <a:srgbClr val="C0451A"/>
          </a:solidFill>
          <a:ln/>
        </p:spPr>
      </p:sp>
      <p:sp>
        <p:nvSpPr>
          <p:cNvPr id="28" name="Shape 24"/>
          <p:cNvSpPr/>
          <p:nvPr/>
        </p:nvSpPr>
        <p:spPr>
          <a:xfrm>
            <a:off x="1357701" y="6539149"/>
            <a:ext cx="6949" cy="34656"/>
          </a:xfrm>
          <a:prstGeom prst="rect">
            <a:avLst/>
          </a:prstGeom>
          <a:solidFill>
            <a:srgbClr val="C9C4B9"/>
          </a:solidFill>
          <a:ln/>
        </p:spPr>
      </p:sp>
      <p:sp>
        <p:nvSpPr>
          <p:cNvPr id="29" name="Text 25"/>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30" name="Shape 26"/>
          <p:cNvSpPr/>
          <p:nvPr/>
        </p:nvSpPr>
        <p:spPr>
          <a:xfrm>
            <a:off x="5377038" y="6539149"/>
            <a:ext cx="6949" cy="34656"/>
          </a:xfrm>
          <a:prstGeom prst="rect">
            <a:avLst/>
          </a:prstGeom>
          <a:solidFill>
            <a:srgbClr val="C9C4B9"/>
          </a:solidFill>
          <a:ln/>
        </p:spPr>
      </p:sp>
      <p:sp>
        <p:nvSpPr>
          <p:cNvPr id="31" name="Text 27"/>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32" name="Shape 28"/>
          <p:cNvSpPr/>
          <p:nvPr/>
        </p:nvSpPr>
        <p:spPr>
          <a:xfrm>
            <a:off x="7099950" y="6539149"/>
            <a:ext cx="6949" cy="34656"/>
          </a:xfrm>
          <a:prstGeom prst="rect">
            <a:avLst/>
          </a:prstGeom>
          <a:solidFill>
            <a:srgbClr val="C9C4B9"/>
          </a:solidFill>
          <a:ln/>
        </p:spPr>
      </p:sp>
      <p:sp>
        <p:nvSpPr>
          <p:cNvPr id="33" name="Text 29"/>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34" name="Shape 30"/>
          <p:cNvSpPr/>
          <p:nvPr/>
        </p:nvSpPr>
        <p:spPr>
          <a:xfrm>
            <a:off x="9970069" y="6539149"/>
            <a:ext cx="6949" cy="34656"/>
          </a:xfrm>
          <a:prstGeom prst="rect">
            <a:avLst/>
          </a:prstGeom>
          <a:solidFill>
            <a:srgbClr val="C9C4B9"/>
          </a:solidFill>
          <a:ln/>
        </p:spPr>
      </p:sp>
      <p:sp>
        <p:nvSpPr>
          <p:cNvPr id="35" name="Text 31"/>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36" name="Shape 32"/>
          <p:cNvSpPr/>
          <p:nvPr/>
        </p:nvSpPr>
        <p:spPr>
          <a:xfrm>
            <a:off x="11692981" y="6539149"/>
            <a:ext cx="6949" cy="34656"/>
          </a:xfrm>
          <a:prstGeom prst="rect">
            <a:avLst/>
          </a:prstGeom>
          <a:solidFill>
            <a:srgbClr val="C9C4B9"/>
          </a:solidFill>
          <a:ln/>
        </p:spPr>
      </p:sp>
      <p:sp>
        <p:nvSpPr>
          <p:cNvPr id="37" name="Text 33"/>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76184"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54</a:t>
            </a:r>
            <a:endParaRPr lang="en-US" sz="2545" dirty="0"/>
          </a:p>
        </p:txBody>
      </p:sp>
      <p:sp>
        <p:nvSpPr>
          <p:cNvPr id="3" name="Text 1"/>
          <p:cNvSpPr txBox="1"/>
          <p:nvPr/>
        </p:nvSpPr>
        <p:spPr>
          <a:xfrm rot="16200000">
            <a:off x="-338968" y="3428909"/>
            <a:ext cx="881299"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C0451A"/>
                </a:solidFill>
                <a:latin typeface="Calibri" pitchFamily="34" charset="0"/>
                <a:ea typeface="Calibri" pitchFamily="34" charset="-122"/>
                <a:cs typeface="Calibri" pitchFamily="34" charset="-120"/>
              </a:rPr>
              <a:t>ARCHITECTURE</a:t>
            </a:r>
            <a:endParaRPr lang="en-US" sz="694" dirty="0"/>
          </a:p>
        </p:txBody>
      </p:sp>
      <p:sp>
        <p:nvSpPr>
          <p:cNvPr id="4" name="Shape 2"/>
          <p:cNvSpPr/>
          <p:nvPr/>
        </p:nvSpPr>
        <p:spPr>
          <a:xfrm>
            <a:off x="1439540" y="433334"/>
            <a:ext cx="190927" cy="22037"/>
          </a:xfrm>
          <a:prstGeom prst="rect">
            <a:avLst/>
          </a:prstGeom>
          <a:solidFill>
            <a:srgbClr val="C0451A"/>
          </a:solidFill>
          <a:ln/>
        </p:spPr>
      </p:sp>
      <p:sp>
        <p:nvSpPr>
          <p:cNvPr id="5" name="Text 3"/>
          <p:cNvSpPr txBox="1"/>
          <p:nvPr/>
        </p:nvSpPr>
        <p:spPr>
          <a:xfrm>
            <a:off x="1718615" y="383865"/>
            <a:ext cx="1455176"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C0451A"/>
                </a:solidFill>
                <a:latin typeface="Calibri" pitchFamily="34" charset="0"/>
                <a:ea typeface="Calibri" pitchFamily="34" charset="-122"/>
                <a:cs typeface="Calibri" pitchFamily="34" charset="-120"/>
              </a:rPr>
              <a:t>RESTORMER, PART 2 OF 3</a:t>
            </a:r>
            <a:endParaRPr lang="en-US" sz="781" dirty="0"/>
          </a:p>
        </p:txBody>
      </p:sp>
      <p:sp>
        <p:nvSpPr>
          <p:cNvPr id="6" name="Text 4"/>
          <p:cNvSpPr txBox="1"/>
          <p:nvPr/>
        </p:nvSpPr>
        <p:spPr>
          <a:xfrm>
            <a:off x="1439540" y="607070"/>
            <a:ext cx="4645884"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GDFN and progressive learning</a:t>
            </a:r>
            <a:endParaRPr lang="en-US" sz="2660" dirty="0"/>
          </a:p>
        </p:txBody>
      </p:sp>
      <p:sp>
        <p:nvSpPr>
          <p:cNvPr id="7" name="Text 5"/>
          <p:cNvSpPr txBox="1"/>
          <p:nvPr/>
        </p:nvSpPr>
        <p:spPr>
          <a:xfrm>
            <a:off x="1439540" y="1091885"/>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second half of the Transformer block, and a training strategy that is worth as much as an architectural change.</a:t>
            </a:r>
            <a:endParaRPr lang="en-US" sz="1157" dirty="0"/>
          </a:p>
        </p:txBody>
      </p:sp>
      <p:sp>
        <p:nvSpPr>
          <p:cNvPr id="8" name="Shape 6"/>
          <p:cNvSpPr/>
          <p:nvPr/>
        </p:nvSpPr>
        <p:spPr>
          <a:xfrm>
            <a:off x="1439540" y="1738183"/>
            <a:ext cx="10223358" cy="917600"/>
          </a:xfrm>
          <a:prstGeom prst="rect">
            <a:avLst/>
          </a:prstGeom>
          <a:solidFill>
            <a:srgbClr val="F6ECE7"/>
          </a:solidFill>
          <a:ln/>
        </p:spPr>
      </p:sp>
      <p:sp>
        <p:nvSpPr>
          <p:cNvPr id="9" name="Shape 7"/>
          <p:cNvSpPr/>
          <p:nvPr/>
        </p:nvSpPr>
        <p:spPr>
          <a:xfrm>
            <a:off x="1439540" y="1738183"/>
            <a:ext cx="29352" cy="917600"/>
          </a:xfrm>
          <a:prstGeom prst="rect">
            <a:avLst/>
          </a:prstGeom>
          <a:solidFill>
            <a:srgbClr val="C0451A"/>
          </a:solidFill>
          <a:ln/>
        </p:spPr>
      </p:sp>
      <p:pic>
        <p:nvPicPr>
          <p:cNvPr id="10" name="Image 0" descr="\mathrm{Gate}(X) \;=\; \phi\big(W_{d}^{1}\,W_{p}^{1}\,\mathrm{LN}(X)\big)\ \odot\ \big(W_{d}^{2}\,W_{p}^{2}\,\mathrm{LN}(X)\big)">    </p:cNvPr>
          <p:cNvPicPr>
            <a:picLocks noChangeAspect="1"/>
          </p:cNvPicPr>
          <p:nvPr/>
        </p:nvPicPr>
        <p:blipFill>
          <a:blip r:embed="rId1"/>
          <a:stretch>
            <a:fillRect/>
          </a:stretch>
        </p:blipFill>
        <p:spPr>
          <a:xfrm>
            <a:off x="1645188" y="1863090"/>
            <a:ext cx="6876654" cy="431505"/>
          </a:xfrm>
          <a:prstGeom prst="rect">
            <a:avLst/>
          </a:prstGeom>
        </p:spPr>
      </p:pic>
      <p:sp>
        <p:nvSpPr>
          <p:cNvPr id="11" name="Text 8"/>
          <p:cNvSpPr txBox="1"/>
          <p:nvPr/>
        </p:nvSpPr>
        <p:spPr>
          <a:xfrm>
            <a:off x="1645188" y="2367290"/>
            <a:ext cx="6794541" cy="163038"/>
          </a:xfrm>
          <a:prstGeom prst="rect">
            <a:avLst/>
          </a:prstGeom>
          <a:noFill/>
          <a:ln/>
        </p:spPr>
        <p:txBody>
          <a:bodyPr wrap="none" lIns="0" tIns="0" rIns="0" bIns="0" rtlCol="0" anchor="t"/>
          <a:lstStyle/>
          <a:p>
            <a:pPr algn="l" indent="0" marL="0">
              <a:lnSpc>
                <a:spcPts val="1284"/>
              </a:lnSpc>
              <a:buNone/>
            </a:pPr>
            <a:r>
              <a:rPr kern="0" lang="en-US" sz="867" i="1" dirty="0">
                <a:solidFill>
                  <a:srgbClr val="5A554D"/>
                </a:solidFill>
                <a:latin typeface="Calibri" pitchFamily="34" charset="0"/>
                <a:ea typeface="Calibri" pitchFamily="34" charset="-122"/>
                <a:cs typeface="Calibri" pitchFamily="34" charset="-120"/>
              </a:rPr>
              <a:t>the gated-Dconv feed-forward network: two parallel projections, one passed through GELU (φ), multiplied element-wise · expansion factor γ = 2.66</a:t>
            </a:r>
            <a:endParaRPr lang="en-US" sz="867" dirty="0"/>
          </a:p>
        </p:txBody>
      </p:sp>
      <p:sp>
        <p:nvSpPr>
          <p:cNvPr id="12" name="Shape 9"/>
          <p:cNvSpPr/>
          <p:nvPr/>
        </p:nvSpPr>
        <p:spPr>
          <a:xfrm>
            <a:off x="1439540" y="2765969"/>
            <a:ext cx="10223358" cy="7315"/>
          </a:xfrm>
          <a:prstGeom prst="rect">
            <a:avLst/>
          </a:prstGeom>
          <a:solidFill>
            <a:srgbClr val="DFDBD2"/>
          </a:solidFill>
          <a:ln/>
        </p:spPr>
      </p:sp>
      <p:sp>
        <p:nvSpPr>
          <p:cNvPr id="13" name="Text 10"/>
          <p:cNvSpPr txBox="1"/>
          <p:nvPr/>
        </p:nvSpPr>
        <p:spPr>
          <a:xfrm>
            <a:off x="1439540" y="2898191"/>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4" name="Text 11"/>
          <p:cNvSpPr txBox="1"/>
          <p:nvPr/>
        </p:nvSpPr>
        <p:spPr>
          <a:xfrm>
            <a:off x="1747967" y="2888041"/>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role of the gate.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 standard feed-forward network is two linear layers with a nonlinearity between them. GDFN replaces the first with a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gating mechanism</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 the element-wise product of two projections, one GELU-activated. The gate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controls which complementary features should flow forward</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allowing later layers to focus on more refined attributes.</a:t>
            </a:r>
            <a:endParaRPr lang="en-US" sz="1070" dirty="0"/>
          </a:p>
        </p:txBody>
      </p:sp>
      <p:sp>
        <p:nvSpPr>
          <p:cNvPr id="15" name="Text 12"/>
          <p:cNvSpPr txBox="1"/>
          <p:nvPr/>
        </p:nvSpPr>
        <p:spPr>
          <a:xfrm>
            <a:off x="1439540" y="3423331"/>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16" name="Text 13"/>
          <p:cNvSpPr txBox="1"/>
          <p:nvPr/>
        </p:nvSpPr>
        <p:spPr>
          <a:xfrm>
            <a:off x="1747967" y="3413181"/>
            <a:ext cx="8087868"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Ablation value.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Gating alone gives +0.12 dB over conventional FN; adding depth-wise convolution to it gives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+0.26 dB</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at σ = 50 on Urban100.</a:t>
            </a:r>
            <a:endParaRPr lang="en-US" sz="1070" dirty="0"/>
          </a:p>
        </p:txBody>
      </p:sp>
      <p:sp>
        <p:nvSpPr>
          <p:cNvPr id="17" name="Text 14"/>
          <p:cNvSpPr txBox="1"/>
          <p:nvPr/>
        </p:nvSpPr>
        <p:spPr>
          <a:xfrm>
            <a:off x="1439540" y="3744651"/>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18" name="Text 15"/>
          <p:cNvSpPr txBox="1"/>
          <p:nvPr/>
        </p:nvSpPr>
        <p:spPr>
          <a:xfrm>
            <a:off x="1747967" y="3734501"/>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Progressive learning.</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network trains on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small patches and large batches in early epochs, and gradually large image patches and small batches in later epochs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Concretely: begin at 128² with batch 64, then step through (160², 40), (192², 32), (256², 16), (320², 8), (384², 8) at iterations 92 K, 156 K, 204 K, 240 K, 276 K.</a:t>
            </a:r>
            <a:endParaRPr lang="en-US" sz="1070" dirty="0"/>
          </a:p>
        </p:txBody>
      </p:sp>
      <p:sp>
        <p:nvSpPr>
          <p:cNvPr id="19" name="Text 16"/>
          <p:cNvSpPr txBox="1"/>
          <p:nvPr/>
        </p:nvSpPr>
        <p:spPr>
          <a:xfrm>
            <a:off x="1439540" y="4269699"/>
            <a:ext cx="139903"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04</a:t>
            </a:r>
            <a:endParaRPr lang="en-US" sz="694" dirty="0"/>
          </a:p>
        </p:txBody>
      </p:sp>
      <p:sp>
        <p:nvSpPr>
          <p:cNvPr id="20" name="Text 17"/>
          <p:cNvSpPr txBox="1"/>
          <p:nvPr/>
        </p:nvSpPr>
        <p:spPr>
          <a:xfrm>
            <a:off x="1747967" y="4259641"/>
            <a:ext cx="9969246"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Why it helps.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It is curriculum learning — start with an easier task and move to a harder one where preserving fine structure and texture is required. Because a model trained on mixed-size patches sees more context distributions, it performs better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at test time on images of different resolutions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which is the normal case in restoration. Batch size falls as patch size rises so the time per optimisation step stays roughly constant.</a:t>
            </a:r>
            <a:endParaRPr lang="en-US" sz="1070" dirty="0"/>
          </a:p>
        </p:txBody>
      </p:sp>
      <p:sp>
        <p:nvSpPr>
          <p:cNvPr id="21" name="Text 18"/>
          <p:cNvSpPr txBox="1"/>
          <p:nvPr/>
        </p:nvSpPr>
        <p:spPr>
          <a:xfrm>
            <a:off x="1439540" y="4998659"/>
            <a:ext cx="136886"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05</a:t>
            </a:r>
            <a:endParaRPr lang="en-US" sz="694" dirty="0"/>
          </a:p>
        </p:txBody>
      </p:sp>
      <p:sp>
        <p:nvSpPr>
          <p:cNvPr id="22" name="Text 19"/>
          <p:cNvSpPr txBox="1"/>
          <p:nvPr/>
        </p:nvSpPr>
        <p:spPr>
          <a:xfrm>
            <a:off x="1747967" y="4988601"/>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Full training recipe.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4-level encoder–decoder; blocks [4, 6, 6, 8]; heads [1, 2, 4, 8]; channels [48, 96, 192, 384]; 4 refinement blocks; AdamW (β₁ 0.9, β₂ 0.999, weight decay 1e⁻⁴);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L1 loss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300 K iterations; LR 3e⁻⁴ → 1e⁻⁶ by cosine annealing; horizontal and vertical flips only.</a:t>
            </a:r>
            <a:endParaRPr lang="en-US" sz="1070" dirty="0"/>
          </a:p>
        </p:txBody>
      </p:sp>
      <p:sp>
        <p:nvSpPr>
          <p:cNvPr id="23" name="Text 20"/>
          <p:cNvSpPr txBox="1"/>
          <p:nvPr/>
        </p:nvSpPr>
        <p:spPr>
          <a:xfrm>
            <a:off x="8929390" y="6274430"/>
            <a:ext cx="2733507"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Restormer22 §3.2, §3.3, §4 Implementation Details, Table 7, Table 9</a:t>
            </a:r>
            <a:endParaRPr lang="en-US" sz="752" dirty="0"/>
          </a:p>
        </p:txBody>
      </p:sp>
      <p:sp>
        <p:nvSpPr>
          <p:cNvPr id="24" name="Shape 21"/>
          <p:cNvSpPr/>
          <p:nvPr/>
        </p:nvSpPr>
        <p:spPr>
          <a:xfrm>
            <a:off x="1439540" y="6556705"/>
            <a:ext cx="10223358" cy="7315"/>
          </a:xfrm>
          <a:prstGeom prst="rect">
            <a:avLst/>
          </a:prstGeom>
          <a:solidFill>
            <a:srgbClr val="C9C4B9"/>
          </a:solidFill>
          <a:ln/>
        </p:spPr>
      </p:sp>
      <p:sp>
        <p:nvSpPr>
          <p:cNvPr id="25" name="Shape 22"/>
          <p:cNvSpPr/>
          <p:nvPr/>
        </p:nvSpPr>
        <p:spPr>
          <a:xfrm>
            <a:off x="9391162" y="6545732"/>
            <a:ext cx="1704167" cy="29352"/>
          </a:xfrm>
          <a:prstGeom prst="rect">
            <a:avLst/>
          </a:prstGeom>
          <a:solidFill>
            <a:srgbClr val="C0451A"/>
          </a:solidFill>
          <a:ln/>
        </p:spPr>
      </p:sp>
      <p:sp>
        <p:nvSpPr>
          <p:cNvPr id="26" name="Shape 23"/>
          <p:cNvSpPr/>
          <p:nvPr/>
        </p:nvSpPr>
        <p:spPr>
          <a:xfrm>
            <a:off x="1439540" y="6519946"/>
            <a:ext cx="7315" cy="36759"/>
          </a:xfrm>
          <a:prstGeom prst="rect">
            <a:avLst/>
          </a:prstGeom>
          <a:solidFill>
            <a:srgbClr val="C9C4B9"/>
          </a:solidFill>
          <a:ln/>
        </p:spPr>
      </p:sp>
      <p:sp>
        <p:nvSpPr>
          <p:cNvPr id="27" name="Text 24"/>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8" name="Shape 25"/>
          <p:cNvSpPr/>
          <p:nvPr/>
        </p:nvSpPr>
        <p:spPr>
          <a:xfrm>
            <a:off x="5415351" y="6519946"/>
            <a:ext cx="7315" cy="36759"/>
          </a:xfrm>
          <a:prstGeom prst="rect">
            <a:avLst/>
          </a:prstGeom>
          <a:solidFill>
            <a:srgbClr val="C9C4B9"/>
          </a:solidFill>
          <a:ln/>
        </p:spPr>
      </p:sp>
      <p:sp>
        <p:nvSpPr>
          <p:cNvPr id="29" name="Text 26"/>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0" name="Shape 27"/>
          <p:cNvSpPr/>
          <p:nvPr/>
        </p:nvSpPr>
        <p:spPr>
          <a:xfrm>
            <a:off x="7119610" y="6519946"/>
            <a:ext cx="7315" cy="36759"/>
          </a:xfrm>
          <a:prstGeom prst="rect">
            <a:avLst/>
          </a:prstGeom>
          <a:solidFill>
            <a:srgbClr val="C9C4B9"/>
          </a:solidFill>
          <a:ln/>
        </p:spPr>
      </p:sp>
      <p:sp>
        <p:nvSpPr>
          <p:cNvPr id="31" name="Text 28"/>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2" name="Shape 29"/>
          <p:cNvSpPr/>
          <p:nvPr/>
        </p:nvSpPr>
        <p:spPr>
          <a:xfrm>
            <a:off x="9958639" y="6519946"/>
            <a:ext cx="7315" cy="36759"/>
          </a:xfrm>
          <a:prstGeom prst="rect">
            <a:avLst/>
          </a:prstGeom>
          <a:solidFill>
            <a:srgbClr val="C9C4B9"/>
          </a:solidFill>
          <a:ln/>
        </p:spPr>
      </p:sp>
      <p:sp>
        <p:nvSpPr>
          <p:cNvPr id="33" name="Text 30"/>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4" name="Shape 31"/>
          <p:cNvSpPr/>
          <p:nvPr/>
        </p:nvSpPr>
        <p:spPr>
          <a:xfrm>
            <a:off x="11662898" y="6519946"/>
            <a:ext cx="7315" cy="36759"/>
          </a:xfrm>
          <a:prstGeom prst="rect">
            <a:avLst/>
          </a:prstGeom>
          <a:solidFill>
            <a:srgbClr val="C9C4B9"/>
          </a:solidFill>
          <a:ln/>
        </p:spPr>
      </p:sp>
      <p:sp>
        <p:nvSpPr>
          <p:cNvPr id="35" name="Text 32"/>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8894"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55</a:t>
            </a:r>
            <a:endParaRPr lang="en-US" sz="2708" dirty="0"/>
          </a:p>
        </p:txBody>
      </p:sp>
      <p:sp>
        <p:nvSpPr>
          <p:cNvPr id="3" name="Text 1"/>
          <p:cNvSpPr txBox="1"/>
          <p:nvPr/>
        </p:nvSpPr>
        <p:spPr>
          <a:xfrm rot="16200000">
            <a:off x="-360731" y="3428909"/>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461132"/>
            <a:ext cx="203180" cy="23409"/>
          </a:xfrm>
          <a:prstGeom prst="rect">
            <a:avLst/>
          </a:prstGeom>
          <a:solidFill>
            <a:srgbClr val="C0451A"/>
          </a:solidFill>
          <a:ln/>
        </p:spPr>
      </p:sp>
      <p:sp>
        <p:nvSpPr>
          <p:cNvPr id="5" name="Text 3"/>
          <p:cNvSpPr txBox="1"/>
          <p:nvPr/>
        </p:nvSpPr>
        <p:spPr>
          <a:xfrm>
            <a:off x="1828800" y="408462"/>
            <a:ext cx="1548445"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RESTORMER, PART 3 OF 3</a:t>
            </a:r>
            <a:endParaRPr lang="en-US" sz="831" dirty="0"/>
          </a:p>
        </p:txBody>
      </p:sp>
      <p:sp>
        <p:nvSpPr>
          <p:cNvPr id="6" name="Text 4"/>
          <p:cNvSpPr txBox="1"/>
          <p:nvPr/>
        </p:nvSpPr>
        <p:spPr>
          <a:xfrm>
            <a:off x="1531803" y="646024"/>
            <a:ext cx="5955030"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The ablation that isolates every claim</a:t>
            </a:r>
            <a:endParaRPr lang="en-US" sz="2831" dirty="0"/>
          </a:p>
        </p:txBody>
      </p:sp>
      <p:sp>
        <p:nvSpPr>
          <p:cNvPr id="7" name="Text 5"/>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Colour denoising models trained on 128×128 patches for 100 K iterations, tested on Urban100. FLOPs and inference time at 256×256. This is the table to point at when asked whether the components actually do anything.</a:t>
            </a:r>
            <a:endParaRPr lang="en-US" sz="1231"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1531803" y="2084100"/>
          <a:ext cx="9144000" cy="914400"/>
        </p:xfrm>
        <a:graphic>
          <a:graphicData uri="http://schemas.openxmlformats.org/drawingml/2006/table">
            <a:tbl>
              <a:tblPr/>
              <a:tblGrid>
                <a:gridCol w="4126413"/>
                <a:gridCol w="1375440"/>
                <a:gridCol w="1672438"/>
                <a:gridCol w="973013"/>
                <a:gridCol w="976854"/>
                <a:gridCol w="973013"/>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NETWORK COMPONENT</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FLOPS (B)</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PARAMS (M)</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Σ=15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Σ=25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Σ=50</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 Baseline — UNet with Resblocks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83.4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24.53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34.42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32.18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29.11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(b) MTA + FN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83.7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24.84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34.66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32.39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29.28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 MDTA + FN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85.3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25.02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34.72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32.48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29.43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(e) MTA + DFN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85.8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25.08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34.68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32.45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29.42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(f) MTA + GDFN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86.2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25.12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34.77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32.56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29.54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(g) MDTA + GDFN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87.7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25.31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34.82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32.61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29.62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Concat (no 1×1)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25.65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29.66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Refinement stage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141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26.12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29.71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531803" y="5131979"/>
            <a:ext cx="10097262" cy="15636"/>
          </a:xfrm>
          <a:prstGeom prst="rect">
            <a:avLst/>
          </a:prstGeom>
          <a:solidFill>
            <a:srgbClr val="C0451A"/>
          </a:solidFill>
          <a:ln/>
        </p:spPr>
      </p:sp>
      <p:sp>
        <p:nvSpPr>
          <p:cNvPr id="10" name="Text 7"/>
          <p:cNvSpPr txBox="1"/>
          <p:nvPr/>
        </p:nvSpPr>
        <p:spPr>
          <a:xfrm>
            <a:off x="1531803" y="5270693"/>
            <a:ext cx="10153223" cy="59783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Total contribution of the Transformer block: +0.51 dB over the baseline at σ = 50</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for a 5% increase in FLOPs. MDTA alone contributes +0.32 dB; GDFN alone contributes +0.26 dB over standard FN. Note also the deeper-versus-wider finding: at matched budget a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deep-narrow</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model is more accurate, while a wide-shallow one runs faster through better parallelisation. Restormer ships deep-narrow.</a:t>
            </a:r>
            <a:endParaRPr lang="en-US" sz="1046" dirty="0"/>
          </a:p>
        </p:txBody>
      </p:sp>
      <p:sp>
        <p:nvSpPr>
          <p:cNvPr id="11" name="Text 8"/>
          <p:cNvSpPr txBox="1"/>
          <p:nvPr/>
        </p:nvSpPr>
        <p:spPr>
          <a:xfrm>
            <a:off x="9094440" y="6237031"/>
            <a:ext cx="2534625"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Restormer22 Table 7, Table 8, Table 10 — values as printed</a:t>
            </a:r>
            <a:endParaRPr lang="en-US" sz="800" dirty="0"/>
          </a:p>
        </p:txBody>
      </p:sp>
      <p:sp>
        <p:nvSpPr>
          <p:cNvPr id="12" name="Shape 9"/>
          <p:cNvSpPr/>
          <p:nvPr/>
        </p:nvSpPr>
        <p:spPr>
          <a:xfrm>
            <a:off x="1531803" y="6537411"/>
            <a:ext cx="10097262" cy="7772"/>
          </a:xfrm>
          <a:prstGeom prst="rect">
            <a:avLst/>
          </a:prstGeom>
          <a:solidFill>
            <a:srgbClr val="C9C4B9"/>
          </a:solidFill>
          <a:ln/>
        </p:spPr>
      </p:sp>
      <p:sp>
        <p:nvSpPr>
          <p:cNvPr id="13" name="Shape 10"/>
          <p:cNvSpPr/>
          <p:nvPr/>
        </p:nvSpPr>
        <p:spPr>
          <a:xfrm>
            <a:off x="9385310" y="6525707"/>
            <a:ext cx="1683228" cy="31272"/>
          </a:xfrm>
          <a:prstGeom prst="rect">
            <a:avLst/>
          </a:prstGeom>
          <a:solidFill>
            <a:srgbClr val="C0451A"/>
          </a:solidFill>
          <a:ln/>
        </p:spPr>
      </p:sp>
      <p:sp>
        <p:nvSpPr>
          <p:cNvPr id="14" name="Shape 11"/>
          <p:cNvSpPr/>
          <p:nvPr/>
        </p:nvSpPr>
        <p:spPr>
          <a:xfrm>
            <a:off x="1531803" y="6498366"/>
            <a:ext cx="7772" cy="39045"/>
          </a:xfrm>
          <a:prstGeom prst="rect">
            <a:avLst/>
          </a:prstGeom>
          <a:solidFill>
            <a:srgbClr val="C9C4B9"/>
          </a:solidFill>
          <a:ln/>
        </p:spPr>
      </p:sp>
      <p:sp>
        <p:nvSpPr>
          <p:cNvPr id="15" name="Text 12"/>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6" name="Shape 13"/>
          <p:cNvSpPr/>
          <p:nvPr/>
        </p:nvSpPr>
        <p:spPr>
          <a:xfrm>
            <a:off x="5458511" y="6498366"/>
            <a:ext cx="7772" cy="39045"/>
          </a:xfrm>
          <a:prstGeom prst="rect">
            <a:avLst/>
          </a:prstGeom>
          <a:solidFill>
            <a:srgbClr val="C9C4B9"/>
          </a:solidFill>
          <a:ln/>
        </p:spPr>
      </p:sp>
      <p:sp>
        <p:nvSpPr>
          <p:cNvPr id="17" name="Text 14"/>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8" name="Shape 15"/>
          <p:cNvSpPr/>
          <p:nvPr/>
        </p:nvSpPr>
        <p:spPr>
          <a:xfrm>
            <a:off x="7141738" y="6498366"/>
            <a:ext cx="7772" cy="39045"/>
          </a:xfrm>
          <a:prstGeom prst="rect">
            <a:avLst/>
          </a:prstGeom>
          <a:solidFill>
            <a:srgbClr val="C9C4B9"/>
          </a:solidFill>
          <a:ln/>
        </p:spPr>
      </p:sp>
      <p:sp>
        <p:nvSpPr>
          <p:cNvPr id="19" name="Text 16"/>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0" name="Shape 17"/>
          <p:cNvSpPr/>
          <p:nvPr/>
        </p:nvSpPr>
        <p:spPr>
          <a:xfrm>
            <a:off x="9945654" y="6498366"/>
            <a:ext cx="7772" cy="39045"/>
          </a:xfrm>
          <a:prstGeom prst="rect">
            <a:avLst/>
          </a:prstGeom>
          <a:solidFill>
            <a:srgbClr val="C9C4B9"/>
          </a:solidFill>
          <a:ln/>
        </p:spPr>
      </p:sp>
      <p:sp>
        <p:nvSpPr>
          <p:cNvPr id="21" name="Text 18"/>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2" name="Shape 19"/>
          <p:cNvSpPr/>
          <p:nvPr/>
        </p:nvSpPr>
        <p:spPr>
          <a:xfrm>
            <a:off x="11628973" y="6498366"/>
            <a:ext cx="7772" cy="39045"/>
          </a:xfrm>
          <a:prstGeom prst="rect">
            <a:avLst/>
          </a:prstGeom>
          <a:solidFill>
            <a:srgbClr val="C9C4B9"/>
          </a:solidFill>
          <a:ln/>
        </p:spPr>
      </p:sp>
      <p:sp>
        <p:nvSpPr>
          <p:cNvPr id="23" name="Text 20"/>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95112"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56</a:t>
            </a:r>
            <a:endParaRPr lang="en-US" sz="2708" dirty="0"/>
          </a:p>
        </p:txBody>
      </p:sp>
      <p:sp>
        <p:nvSpPr>
          <p:cNvPr id="3" name="Text 1"/>
          <p:cNvSpPr txBox="1"/>
          <p:nvPr/>
        </p:nvSpPr>
        <p:spPr>
          <a:xfrm rot="16200000">
            <a:off x="-360731" y="3428909"/>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461132"/>
            <a:ext cx="203180" cy="23409"/>
          </a:xfrm>
          <a:prstGeom prst="rect">
            <a:avLst/>
          </a:prstGeom>
          <a:solidFill>
            <a:srgbClr val="C0451A"/>
          </a:solidFill>
          <a:ln/>
        </p:spPr>
      </p:sp>
      <p:sp>
        <p:nvSpPr>
          <p:cNvPr id="5" name="Text 3"/>
          <p:cNvSpPr txBox="1"/>
          <p:nvPr/>
        </p:nvSpPr>
        <p:spPr>
          <a:xfrm>
            <a:off x="1828800" y="408462"/>
            <a:ext cx="1275039"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RESTORMER RESULTS</a:t>
            </a:r>
            <a:endParaRPr lang="en-US" sz="831" dirty="0"/>
          </a:p>
        </p:txBody>
      </p:sp>
      <p:sp>
        <p:nvSpPr>
          <p:cNvPr id="6" name="Text 4"/>
          <p:cNvSpPr txBox="1"/>
          <p:nvPr/>
        </p:nvSpPr>
        <p:spPr>
          <a:xfrm>
            <a:off x="1531803" y="646024"/>
            <a:ext cx="7471562"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Gaussian denoising — and the shape of the win</a:t>
            </a:r>
            <a:endParaRPr lang="en-US" sz="2831" dirty="0"/>
          </a:p>
        </p:txBody>
      </p:sp>
      <p:sp>
        <p:nvSpPr>
          <p:cNvPr id="7" name="Text 5"/>
          <p:cNvSpPr txBox="1"/>
          <p:nvPr/>
        </p:nvSpPr>
        <p:spPr>
          <a:xfrm>
            <a:off x="1531803" y="1161928"/>
            <a:ext cx="6060460" cy="468904"/>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Grayscale PSNR from Table 4. The top block is a </a:t>
            </a:r>
            <a:pPr algn="l" indent="0" marL="0">
              <a:lnSpc>
                <a:spcPts val="1846"/>
              </a:lnSpc>
              <a:buNone/>
            </a:pPr>
            <a:r>
              <a:rPr kern="0" lang="en-US" sz="1231" i="1" dirty="0">
                <a:solidFill>
                  <a:srgbClr val="5A554D"/>
                </a:solidFill>
                <a:latin typeface="Calibri" pitchFamily="34" charset="0"/>
                <a:ea typeface="Calibri" pitchFamily="34" charset="-122"/>
                <a:cs typeface="Calibri" pitchFamily="34" charset="-120"/>
              </a:rPr>
              <a:t>single model handling all noise levels</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the bottom block is a </a:t>
            </a:r>
            <a:pPr algn="l" indent="0" marL="0">
              <a:lnSpc>
                <a:spcPts val="1846"/>
              </a:lnSpc>
              <a:buNone/>
            </a:pPr>
            <a:r>
              <a:rPr kern="0" lang="en-US" sz="1231" i="1" dirty="0">
                <a:solidFill>
                  <a:srgbClr val="5A554D"/>
                </a:solidFill>
                <a:latin typeface="Calibri" pitchFamily="34" charset="0"/>
                <a:ea typeface="Calibri" pitchFamily="34" charset="-122"/>
                <a:cs typeface="Calibri" pitchFamily="34" charset="-120"/>
              </a:rPr>
              <a:t>separate model per noise level</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Restormer leads both.</a:t>
            </a:r>
            <a:endParaRPr lang="en-US" sz="1231"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1531803" y="1849648"/>
          <a:ext cx="9144000" cy="914400"/>
        </p:xfrm>
        <a:graphic>
          <a:graphicData uri="http://schemas.openxmlformats.org/drawingml/2006/table">
            <a:tbl>
              <a:tblPr/>
              <a:tblGrid>
                <a:gridCol w="1789664"/>
                <a:gridCol w="1160556"/>
                <a:gridCol w="738561"/>
                <a:gridCol w="734629"/>
                <a:gridCol w="1195761"/>
                <a:gridCol w="738561"/>
                <a:gridCol w="734629"/>
                <a:gridCol w="1527871"/>
                <a:gridCol w="738561"/>
                <a:gridCol w="738561"/>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SET12 Σ=15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Σ=25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Σ=50</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BSD68 Σ=15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Σ=25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Σ=50</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URBAN100 Σ=15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Σ=25</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Σ=50</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DnCNN (2017)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32.67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30.35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27.18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31.62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29.16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26.23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32.28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29.80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26.35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FFDNet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32.75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30.43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27.32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31.63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29.19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26.29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32.40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29.90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26.50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IRCNN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32.76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30.37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27.12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31.63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29.15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26.19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32.46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29.80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26.22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DRUNet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33.25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30.94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27.90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31.91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29.48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26.59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33.44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31.11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27.96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Restormer</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(single)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33.35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31.04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28.01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31.95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29.51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26.62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33.67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31.39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28.33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NLRN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33.16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30.80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27.64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31.88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29.41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26.47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33.45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30.94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27.49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SwinIR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33.36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31.01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27.91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31.97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29.50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26.58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33.70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31.30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27.98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Restormer</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(per-σ)</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33.42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31.08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28.00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31.96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29.52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26.62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33.79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31.46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28.29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r>
            </a:tbl>
          </a:graphicData>
        </a:graphic>
      </p:graphicFrame>
      <p:sp>
        <p:nvSpPr>
          <p:cNvPr id="9" name="Shape 6"/>
          <p:cNvSpPr/>
          <p:nvPr/>
        </p:nvSpPr>
        <p:spPr>
          <a:xfrm>
            <a:off x="1531803" y="4897526"/>
            <a:ext cx="10097262" cy="15636"/>
          </a:xfrm>
          <a:prstGeom prst="rect">
            <a:avLst/>
          </a:prstGeom>
          <a:solidFill>
            <a:srgbClr val="C0451A"/>
          </a:solidFill>
          <a:ln/>
        </p:spPr>
      </p:sp>
      <p:sp>
        <p:nvSpPr>
          <p:cNvPr id="10" name="Text 7"/>
          <p:cNvSpPr txBox="1"/>
          <p:nvPr/>
        </p:nvSpPr>
        <p:spPr>
          <a:xfrm>
            <a:off x="1531803" y="5036241"/>
            <a:ext cx="10153223" cy="59783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Read across the row, not down the column.</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From DnCNN to Restormer, BSD68 σ=50 moves 26.23 → 26.62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+0.39 dB</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while Urban100 σ=50 moves 26.35 → 28.33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+1.98 dB</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The architecture branch did not make denoising uniformly better. It made denoising better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specifically where non-locality matters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 which is exactly what it set out to do. Efficiency note: Restormer has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3.14× fewer FLOPs and runs 13× faster</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than SwinIR, and unlike DRUNet it requires no noise-level map as input.</a:t>
            </a:r>
            <a:endParaRPr lang="en-US" sz="1046" dirty="0"/>
          </a:p>
        </p:txBody>
      </p:sp>
      <p:sp>
        <p:nvSpPr>
          <p:cNvPr id="11" name="Text 8"/>
          <p:cNvSpPr txBox="1"/>
          <p:nvPr/>
        </p:nvSpPr>
        <p:spPr>
          <a:xfrm>
            <a:off x="9636404" y="6237031"/>
            <a:ext cx="1992569"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Restormer22 Table 4, §4.4 — values as printed</a:t>
            </a:r>
            <a:endParaRPr lang="en-US" sz="800" dirty="0"/>
          </a:p>
        </p:txBody>
      </p:sp>
      <p:sp>
        <p:nvSpPr>
          <p:cNvPr id="12" name="Shape 9"/>
          <p:cNvSpPr/>
          <p:nvPr/>
        </p:nvSpPr>
        <p:spPr>
          <a:xfrm>
            <a:off x="1531803" y="6537411"/>
            <a:ext cx="10097262" cy="7772"/>
          </a:xfrm>
          <a:prstGeom prst="rect">
            <a:avLst/>
          </a:prstGeom>
          <a:solidFill>
            <a:srgbClr val="C9C4B9"/>
          </a:solidFill>
          <a:ln/>
        </p:spPr>
      </p:sp>
      <p:sp>
        <p:nvSpPr>
          <p:cNvPr id="13" name="Shape 10"/>
          <p:cNvSpPr/>
          <p:nvPr/>
        </p:nvSpPr>
        <p:spPr>
          <a:xfrm>
            <a:off x="9385310" y="6525707"/>
            <a:ext cx="1683228" cy="31272"/>
          </a:xfrm>
          <a:prstGeom prst="rect">
            <a:avLst/>
          </a:prstGeom>
          <a:solidFill>
            <a:srgbClr val="C0451A"/>
          </a:solidFill>
          <a:ln/>
        </p:spPr>
      </p:sp>
      <p:sp>
        <p:nvSpPr>
          <p:cNvPr id="14" name="Shape 11"/>
          <p:cNvSpPr/>
          <p:nvPr/>
        </p:nvSpPr>
        <p:spPr>
          <a:xfrm>
            <a:off x="1531803" y="6498366"/>
            <a:ext cx="7772" cy="39045"/>
          </a:xfrm>
          <a:prstGeom prst="rect">
            <a:avLst/>
          </a:prstGeom>
          <a:solidFill>
            <a:srgbClr val="C9C4B9"/>
          </a:solidFill>
          <a:ln/>
        </p:spPr>
      </p:sp>
      <p:sp>
        <p:nvSpPr>
          <p:cNvPr id="15" name="Text 12"/>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6" name="Shape 13"/>
          <p:cNvSpPr/>
          <p:nvPr/>
        </p:nvSpPr>
        <p:spPr>
          <a:xfrm>
            <a:off x="5458511" y="6498366"/>
            <a:ext cx="7772" cy="39045"/>
          </a:xfrm>
          <a:prstGeom prst="rect">
            <a:avLst/>
          </a:prstGeom>
          <a:solidFill>
            <a:srgbClr val="C9C4B9"/>
          </a:solidFill>
          <a:ln/>
        </p:spPr>
      </p:sp>
      <p:sp>
        <p:nvSpPr>
          <p:cNvPr id="17" name="Text 14"/>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8" name="Shape 15"/>
          <p:cNvSpPr/>
          <p:nvPr/>
        </p:nvSpPr>
        <p:spPr>
          <a:xfrm>
            <a:off x="7141738" y="6498366"/>
            <a:ext cx="7772" cy="39045"/>
          </a:xfrm>
          <a:prstGeom prst="rect">
            <a:avLst/>
          </a:prstGeom>
          <a:solidFill>
            <a:srgbClr val="C9C4B9"/>
          </a:solidFill>
          <a:ln/>
        </p:spPr>
      </p:sp>
      <p:sp>
        <p:nvSpPr>
          <p:cNvPr id="19" name="Text 16"/>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0" name="Shape 17"/>
          <p:cNvSpPr/>
          <p:nvPr/>
        </p:nvSpPr>
        <p:spPr>
          <a:xfrm>
            <a:off x="9945654" y="6498366"/>
            <a:ext cx="7772" cy="39045"/>
          </a:xfrm>
          <a:prstGeom prst="rect">
            <a:avLst/>
          </a:prstGeom>
          <a:solidFill>
            <a:srgbClr val="C9C4B9"/>
          </a:solidFill>
          <a:ln/>
        </p:spPr>
      </p:sp>
      <p:sp>
        <p:nvSpPr>
          <p:cNvPr id="21" name="Text 18"/>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2" name="Shape 19"/>
          <p:cNvSpPr/>
          <p:nvPr/>
        </p:nvSpPr>
        <p:spPr>
          <a:xfrm>
            <a:off x="11628973" y="6498366"/>
            <a:ext cx="7772" cy="39045"/>
          </a:xfrm>
          <a:prstGeom prst="rect">
            <a:avLst/>
          </a:prstGeom>
          <a:solidFill>
            <a:srgbClr val="C9C4B9"/>
          </a:solidFill>
          <a:ln/>
        </p:spPr>
      </p:sp>
      <p:sp>
        <p:nvSpPr>
          <p:cNvPr id="23" name="Text 20"/>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0025"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57</a:t>
            </a:r>
            <a:endParaRPr lang="en-US" sz="2708" dirty="0"/>
          </a:p>
        </p:txBody>
      </p:sp>
      <p:sp>
        <p:nvSpPr>
          <p:cNvPr id="3" name="Text 1"/>
          <p:cNvSpPr txBox="1"/>
          <p:nvPr/>
        </p:nvSpPr>
        <p:spPr>
          <a:xfrm rot="16200000">
            <a:off x="-360731" y="3428909"/>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461132"/>
            <a:ext cx="203180" cy="23409"/>
          </a:xfrm>
          <a:prstGeom prst="rect">
            <a:avLst/>
          </a:prstGeom>
          <a:solidFill>
            <a:srgbClr val="C0451A"/>
          </a:solidFill>
          <a:ln/>
        </p:spPr>
      </p:sp>
      <p:sp>
        <p:nvSpPr>
          <p:cNvPr id="5" name="Text 3"/>
          <p:cNvSpPr txBox="1"/>
          <p:nvPr/>
        </p:nvSpPr>
        <p:spPr>
          <a:xfrm>
            <a:off x="1828800" y="408462"/>
            <a:ext cx="1297899"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NAFNET, PART 1 OF 2</a:t>
            </a:r>
            <a:endParaRPr lang="en-US" sz="831" dirty="0"/>
          </a:p>
        </p:txBody>
      </p:sp>
      <p:sp>
        <p:nvSpPr>
          <p:cNvPr id="6" name="Text 4"/>
          <p:cNvSpPr txBox="1"/>
          <p:nvPr/>
        </p:nvSpPr>
        <p:spPr>
          <a:xfrm>
            <a:off x="1531803" y="646024"/>
            <a:ext cx="10192908"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NAFNet — the paper that asked whether any of this is necessary</a:t>
            </a:r>
            <a:endParaRPr lang="en-US" sz="2831" dirty="0"/>
          </a:p>
        </p:txBody>
      </p:sp>
      <p:sp>
        <p:nvSpPr>
          <p:cNvPr id="7" name="Text 5"/>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Chen, Chu, Zhang and Sun, ECCV 2022 (MEGVII). While everyone else added mechanisms, this paper removed them, and reached a higher number. Its two derivations are the most elegant reasoning in the modern half of this deck.</a:t>
            </a:r>
            <a:endParaRPr lang="en-US" sz="1231" dirty="0"/>
          </a:p>
        </p:txBody>
      </p:sp>
      <p:sp>
        <p:nvSpPr>
          <p:cNvPr id="8" name="Shape 6"/>
          <p:cNvSpPr/>
          <p:nvPr/>
        </p:nvSpPr>
        <p:spPr>
          <a:xfrm>
            <a:off x="5109759" y="2084100"/>
            <a:ext cx="2941168" cy="2188251"/>
          </a:xfrm>
          <a:prstGeom prst="rect">
            <a:avLst/>
          </a:prstGeom>
          <a:solidFill>
            <a:srgbClr val="FFFFFF"/>
          </a:solidFill>
          <a:ln/>
          <a:effectLst>
            <a:outerShdw sx="100000" sy="100000" kx="0" ky="0" algn="bl" rotWithShape="0" blurRad="23445" dist="7816" dir="5400000">
              <a:srgbClr val="14120F">
                <a:alpha val="12000"/>
              </a:srgbClr>
            </a:outerShdw>
          </a:effectLst>
        </p:spPr>
      </p:sp>
      <p:sp>
        <p:nvSpPr>
          <p:cNvPr id="9" name="Shape 7"/>
          <p:cNvSpPr/>
          <p:nvPr/>
        </p:nvSpPr>
        <p:spPr>
          <a:xfrm>
            <a:off x="5109759" y="2084100"/>
            <a:ext cx="2941168" cy="7772"/>
          </a:xfrm>
          <a:prstGeom prst="rect">
            <a:avLst/>
          </a:prstGeom>
          <a:solidFill>
            <a:srgbClr val="C9C4B9"/>
          </a:solidFill>
          <a:ln/>
        </p:spPr>
      </p:sp>
      <p:sp>
        <p:nvSpPr>
          <p:cNvPr id="10" name="Shape 8"/>
          <p:cNvSpPr/>
          <p:nvPr/>
        </p:nvSpPr>
        <p:spPr>
          <a:xfrm>
            <a:off x="5109759" y="4264487"/>
            <a:ext cx="2941168" cy="7772"/>
          </a:xfrm>
          <a:prstGeom prst="rect">
            <a:avLst/>
          </a:prstGeom>
          <a:solidFill>
            <a:srgbClr val="C9C4B9"/>
          </a:solidFill>
          <a:ln/>
        </p:spPr>
      </p:sp>
      <p:sp>
        <p:nvSpPr>
          <p:cNvPr id="11" name="Shape 9"/>
          <p:cNvSpPr/>
          <p:nvPr/>
        </p:nvSpPr>
        <p:spPr>
          <a:xfrm>
            <a:off x="5109759" y="2084100"/>
            <a:ext cx="7772" cy="2188251"/>
          </a:xfrm>
          <a:prstGeom prst="rect">
            <a:avLst/>
          </a:prstGeom>
          <a:solidFill>
            <a:srgbClr val="C9C4B9"/>
          </a:solidFill>
          <a:ln/>
        </p:spPr>
      </p:sp>
      <p:sp>
        <p:nvSpPr>
          <p:cNvPr id="12" name="Shape 10"/>
          <p:cNvSpPr/>
          <p:nvPr/>
        </p:nvSpPr>
        <p:spPr>
          <a:xfrm>
            <a:off x="8043154" y="2084100"/>
            <a:ext cx="7772" cy="2188251"/>
          </a:xfrm>
          <a:prstGeom prst="rect">
            <a:avLst/>
          </a:prstGeom>
          <a:solidFill>
            <a:srgbClr val="C9C4B9"/>
          </a:solidFill>
          <a:ln/>
        </p:spPr>
      </p:sp>
      <p:pic>
        <p:nvPicPr>
          <p:cNvPr id="13" name="Image 0" descr="The lineage the paper derives in one figure: the Restormer transformer block simplified step by step — ReLU in place of softmax attention, then GELU with channel attention, then NAFNet's SimpleGate and SCA.">    </p:cNvPr>
          <p:cNvPicPr>
            <a:picLocks noChangeAspect="1"/>
          </p:cNvPicPr>
          <p:nvPr/>
        </p:nvPicPr>
        <p:blipFill>
          <a:blip r:embed="rId1"/>
          <a:stretch>
            <a:fillRect/>
          </a:stretch>
        </p:blipFill>
        <p:spPr>
          <a:xfrm>
            <a:off x="5226985" y="2201327"/>
            <a:ext cx="2706715" cy="1953798"/>
          </a:xfrm>
          <a:prstGeom prst="rect">
            <a:avLst/>
          </a:prstGeom>
        </p:spPr>
      </p:pic>
      <p:sp>
        <p:nvSpPr>
          <p:cNvPr id="14" name="Text 11"/>
          <p:cNvSpPr txBox="1"/>
          <p:nvPr/>
        </p:nvSpPr>
        <p:spPr>
          <a:xfrm>
            <a:off x="3041660" y="4379427"/>
            <a:ext cx="7077456" cy="306324"/>
          </a:xfrm>
          <a:prstGeom prst="rect">
            <a:avLst/>
          </a:prstGeom>
          <a:noFill/>
          <a:ln/>
        </p:spPr>
        <p:txBody>
          <a:bodyPr wrap="square" lIns="0" tIns="0" rIns="0" bIns="0" rtlCol="0" anchor="t"/>
          <a:lstStyle/>
          <a:p>
            <a:pPr algn="ctr" indent="0" marL="0">
              <a:lnSpc>
                <a:spcPts val="1206"/>
              </a:lnSpc>
              <a:buNone/>
            </a:pPr>
            <a:r>
              <a:rPr kern="0" lang="en-US" sz="862" i="1" dirty="0">
                <a:solidFill>
                  <a:srgbClr val="8A847A"/>
                </a:solidFill>
                <a:latin typeface="Calibri" pitchFamily="34" charset="0"/>
                <a:ea typeface="Calibri" pitchFamily="34" charset="-122"/>
                <a:cs typeface="Calibri" pitchFamily="34" charset="-120"/>
              </a:rPr>
              <a:t>The lineage the paper derives in one figure: the Restormer transformer block simplified step by step — ReLU in place of softmax attention, then GELU with channel attention, then NAFNet's SimpleGate and SCA. [NAFNet22 · Fig. 3]</a:t>
            </a:r>
            <a:endParaRPr lang="en-US" sz="862" dirty="0"/>
          </a:p>
        </p:txBody>
      </p:sp>
      <p:sp>
        <p:nvSpPr>
          <p:cNvPr id="15" name="Shape 12"/>
          <p:cNvSpPr/>
          <p:nvPr/>
        </p:nvSpPr>
        <p:spPr>
          <a:xfrm>
            <a:off x="1531803" y="4891217"/>
            <a:ext cx="10097262" cy="966612"/>
          </a:xfrm>
          <a:prstGeom prst="rect">
            <a:avLst/>
          </a:prstGeom>
          <a:solidFill>
            <a:srgbClr val="F6ECE7"/>
          </a:solidFill>
          <a:ln/>
        </p:spPr>
      </p:sp>
      <p:sp>
        <p:nvSpPr>
          <p:cNvPr id="16" name="Shape 13"/>
          <p:cNvSpPr/>
          <p:nvPr/>
        </p:nvSpPr>
        <p:spPr>
          <a:xfrm>
            <a:off x="1531803" y="4891217"/>
            <a:ext cx="31272" cy="966612"/>
          </a:xfrm>
          <a:prstGeom prst="rect">
            <a:avLst/>
          </a:prstGeom>
          <a:solidFill>
            <a:srgbClr val="C0451A"/>
          </a:solidFill>
          <a:ln/>
        </p:spPr>
      </p:sp>
      <p:pic>
        <p:nvPicPr>
          <p:cNvPr id="17" name="Image 1" descr="\mathrm{GLU}(X,f,g,\sigma) \;=\; f(X) \odot \sigma\big(g(X)\big)\qquad\qquad \mathrm{GELU}(x) \;=\; x\,\Phi(x)">    </p:cNvPr>
          <p:cNvPicPr>
            <a:picLocks noChangeAspect="1"/>
          </p:cNvPicPr>
          <p:nvPr/>
        </p:nvPicPr>
        <p:blipFill>
          <a:blip r:embed="rId2"/>
          <a:stretch>
            <a:fillRect/>
          </a:stretch>
        </p:blipFill>
        <p:spPr>
          <a:xfrm>
            <a:off x="1750619" y="5024079"/>
            <a:ext cx="9241475" cy="449336"/>
          </a:xfrm>
          <a:prstGeom prst="rect">
            <a:avLst/>
          </a:prstGeom>
        </p:spPr>
      </p:pic>
      <p:sp>
        <p:nvSpPr>
          <p:cNvPr id="18" name="Text 14"/>
          <p:cNvSpPr txBox="1"/>
          <p:nvPr/>
        </p:nvSpPr>
        <p:spPr>
          <a:xfrm>
            <a:off x="1750619" y="5550774"/>
            <a:ext cx="3172145" cy="173462"/>
          </a:xfrm>
          <a:prstGeom prst="rect">
            <a:avLst/>
          </a:prstGeom>
          <a:noFill/>
          <a:ln/>
        </p:spPr>
        <p:txBody>
          <a:bodyPr wrap="none" lIns="0" tIns="0" rIns="0" bIns="0" rtlCol="0" anchor="t"/>
          <a:lstStyle/>
          <a:p>
            <a:pPr algn="l" indent="0" marL="0">
              <a:lnSpc>
                <a:spcPts val="1366"/>
              </a:lnSpc>
              <a:buNone/>
            </a:pPr>
            <a:r>
              <a:rPr kern="0" lang="en-US" sz="923" i="1" dirty="0">
                <a:solidFill>
                  <a:srgbClr val="5A554D"/>
                </a:solidFill>
                <a:latin typeface="Calibri" pitchFamily="34" charset="0"/>
                <a:ea typeface="Calibri" pitchFamily="34" charset="-122"/>
                <a:cs typeface="Calibri" pitchFamily="34" charset="-120"/>
              </a:rPr>
              <a:t>the gated linear unit, and GELU — Φ is the standard normal CDF</a:t>
            </a:r>
            <a:endParaRPr lang="en-US" sz="923" dirty="0"/>
          </a:p>
        </p:txBody>
      </p:sp>
      <p:sp>
        <p:nvSpPr>
          <p:cNvPr id="19" name="Text 15"/>
          <p:cNvSpPr txBox="1"/>
          <p:nvPr/>
        </p:nvSpPr>
        <p:spPr>
          <a:xfrm>
            <a:off x="10559400" y="6237031"/>
            <a:ext cx="1069574"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NAFNet22 §4, Eq. (1)–(7)</a:t>
            </a:r>
            <a:endParaRPr lang="en-US" sz="800" dirty="0"/>
          </a:p>
        </p:txBody>
      </p:sp>
      <p:sp>
        <p:nvSpPr>
          <p:cNvPr id="20" name="Shape 16"/>
          <p:cNvSpPr/>
          <p:nvPr/>
        </p:nvSpPr>
        <p:spPr>
          <a:xfrm>
            <a:off x="1531803" y="6537411"/>
            <a:ext cx="10097262" cy="7772"/>
          </a:xfrm>
          <a:prstGeom prst="rect">
            <a:avLst/>
          </a:prstGeom>
          <a:solidFill>
            <a:srgbClr val="C9C4B9"/>
          </a:solidFill>
          <a:ln/>
        </p:spPr>
      </p:sp>
      <p:sp>
        <p:nvSpPr>
          <p:cNvPr id="21" name="Shape 17"/>
          <p:cNvSpPr/>
          <p:nvPr/>
        </p:nvSpPr>
        <p:spPr>
          <a:xfrm>
            <a:off x="9385310" y="6525707"/>
            <a:ext cx="1683228" cy="31272"/>
          </a:xfrm>
          <a:prstGeom prst="rect">
            <a:avLst/>
          </a:prstGeom>
          <a:solidFill>
            <a:srgbClr val="C0451A"/>
          </a:solidFill>
          <a:ln/>
        </p:spPr>
      </p:sp>
      <p:sp>
        <p:nvSpPr>
          <p:cNvPr id="22" name="Shape 18"/>
          <p:cNvSpPr/>
          <p:nvPr/>
        </p:nvSpPr>
        <p:spPr>
          <a:xfrm>
            <a:off x="1531803" y="6498366"/>
            <a:ext cx="7772" cy="39045"/>
          </a:xfrm>
          <a:prstGeom prst="rect">
            <a:avLst/>
          </a:prstGeom>
          <a:solidFill>
            <a:srgbClr val="C9C4B9"/>
          </a:solidFill>
          <a:ln/>
        </p:spPr>
      </p:sp>
      <p:sp>
        <p:nvSpPr>
          <p:cNvPr id="23" name="Text 19"/>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4" name="Shape 20"/>
          <p:cNvSpPr/>
          <p:nvPr/>
        </p:nvSpPr>
        <p:spPr>
          <a:xfrm>
            <a:off x="5458511" y="6498366"/>
            <a:ext cx="7772" cy="39045"/>
          </a:xfrm>
          <a:prstGeom prst="rect">
            <a:avLst/>
          </a:prstGeom>
          <a:solidFill>
            <a:srgbClr val="C9C4B9"/>
          </a:solidFill>
          <a:ln/>
        </p:spPr>
      </p:sp>
      <p:sp>
        <p:nvSpPr>
          <p:cNvPr id="25" name="Text 21"/>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26" name="Shape 22"/>
          <p:cNvSpPr/>
          <p:nvPr/>
        </p:nvSpPr>
        <p:spPr>
          <a:xfrm>
            <a:off x="7141738" y="6498366"/>
            <a:ext cx="7772" cy="39045"/>
          </a:xfrm>
          <a:prstGeom prst="rect">
            <a:avLst/>
          </a:prstGeom>
          <a:solidFill>
            <a:srgbClr val="C9C4B9"/>
          </a:solidFill>
          <a:ln/>
        </p:spPr>
      </p:sp>
      <p:sp>
        <p:nvSpPr>
          <p:cNvPr id="27" name="Text 23"/>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8" name="Shape 24"/>
          <p:cNvSpPr/>
          <p:nvPr/>
        </p:nvSpPr>
        <p:spPr>
          <a:xfrm>
            <a:off x="9945654" y="6498366"/>
            <a:ext cx="7772" cy="39045"/>
          </a:xfrm>
          <a:prstGeom prst="rect">
            <a:avLst/>
          </a:prstGeom>
          <a:solidFill>
            <a:srgbClr val="C9C4B9"/>
          </a:solidFill>
          <a:ln/>
        </p:spPr>
      </p:sp>
      <p:sp>
        <p:nvSpPr>
          <p:cNvPr id="29" name="Text 25"/>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0" name="Shape 26"/>
          <p:cNvSpPr/>
          <p:nvPr/>
        </p:nvSpPr>
        <p:spPr>
          <a:xfrm>
            <a:off x="11628973" y="6498366"/>
            <a:ext cx="7772" cy="39045"/>
          </a:xfrm>
          <a:prstGeom prst="rect">
            <a:avLst/>
          </a:prstGeom>
          <a:solidFill>
            <a:srgbClr val="C9C4B9"/>
          </a:solidFill>
          <a:ln/>
        </p:spPr>
      </p:sp>
      <p:sp>
        <p:nvSpPr>
          <p:cNvPr id="31" name="Text 27"/>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0608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57</a:t>
            </a:r>
            <a:endParaRPr lang="en-US" sz="2893" dirty="0"/>
          </a:p>
        </p:txBody>
      </p:sp>
      <p:sp>
        <p:nvSpPr>
          <p:cNvPr id="3" name="Text 1"/>
          <p:cNvSpPr txBox="1"/>
          <p:nvPr/>
        </p:nvSpPr>
        <p:spPr>
          <a:xfrm rot="16200000">
            <a:off x="-385420" y="3428909"/>
            <a:ext cx="1002091"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C0451A"/>
                </a:solidFill>
                <a:latin typeface="Calibri" pitchFamily="34" charset="0"/>
                <a:ea typeface="Calibri" pitchFamily="34" charset="-122"/>
                <a:cs typeface="Calibri" pitchFamily="34" charset="-120"/>
              </a:rPr>
              <a:t>ARCHITECTURE</a:t>
            </a:r>
            <a:endParaRPr lang="en-US" sz="789" dirty="0"/>
          </a:p>
        </p:txBody>
      </p:sp>
      <p:sp>
        <p:nvSpPr>
          <p:cNvPr id="4" name="Shape 2"/>
          <p:cNvSpPr/>
          <p:nvPr/>
        </p:nvSpPr>
        <p:spPr>
          <a:xfrm>
            <a:off x="1636685" y="492679"/>
            <a:ext cx="217079" cy="25055"/>
          </a:xfrm>
          <a:prstGeom prst="rect">
            <a:avLst/>
          </a:prstGeom>
          <a:solidFill>
            <a:srgbClr val="C0451A"/>
          </a:solidFill>
          <a:ln/>
        </p:spPr>
      </p:sp>
      <p:sp>
        <p:nvSpPr>
          <p:cNvPr id="5" name="Text 3"/>
          <p:cNvSpPr txBox="1"/>
          <p:nvPr/>
        </p:nvSpPr>
        <p:spPr>
          <a:xfrm>
            <a:off x="1953981" y="436443"/>
            <a:ext cx="138677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NAFNET, PART 1 OF 2</a:t>
            </a:r>
            <a:endParaRPr lang="en-US" sz="888" dirty="0"/>
          </a:p>
        </p:txBody>
      </p:sp>
      <p:sp>
        <p:nvSpPr>
          <p:cNvPr id="6" name="Text 4"/>
          <p:cNvSpPr txBox="1"/>
          <p:nvPr/>
        </p:nvSpPr>
        <p:spPr>
          <a:xfrm>
            <a:off x="3387669"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10010303" cy="829635"/>
          </a:xfrm>
          <a:prstGeom prst="rect">
            <a:avLst/>
          </a:prstGeom>
          <a:noFill/>
          <a:ln/>
        </p:spPr>
        <p:txBody>
          <a:bodyPr wrap="squar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NAFNet — the paper that asked whether any of this is necessary</a:t>
            </a:r>
            <a:endParaRPr lang="en-US" sz="3025" dirty="0"/>
          </a:p>
        </p:txBody>
      </p:sp>
      <p:sp>
        <p:nvSpPr>
          <p:cNvPr id="8" name="Shape 6"/>
          <p:cNvSpPr/>
          <p:nvPr/>
        </p:nvSpPr>
        <p:spPr>
          <a:xfrm>
            <a:off x="1636685" y="1656253"/>
            <a:ext cx="9953793" cy="925098"/>
          </a:xfrm>
          <a:prstGeom prst="rect">
            <a:avLst/>
          </a:prstGeom>
          <a:solidFill>
            <a:srgbClr val="F6ECE7"/>
          </a:solidFill>
          <a:ln/>
        </p:spPr>
      </p:sp>
      <p:sp>
        <p:nvSpPr>
          <p:cNvPr id="9" name="Shape 7"/>
          <p:cNvSpPr/>
          <p:nvPr/>
        </p:nvSpPr>
        <p:spPr>
          <a:xfrm>
            <a:off x="1636685" y="1656253"/>
            <a:ext cx="33376" cy="925098"/>
          </a:xfrm>
          <a:prstGeom prst="rect">
            <a:avLst/>
          </a:prstGeom>
          <a:solidFill>
            <a:srgbClr val="C0451A"/>
          </a:solidFill>
          <a:ln/>
        </p:spPr>
      </p:sp>
      <p:pic>
        <p:nvPicPr>
          <p:cNvPr id="10" name="Image 0" descr="\Longrightarrow\quad \mathrm{GELU}\ \text{is a special case of GLU, with}\ f, g = \mathrm{id}\ \text{and}\ \sigma = \Phi">    </p:cNvPr>
          <p:cNvPicPr>
            <a:picLocks noChangeAspect="1"/>
          </p:cNvPicPr>
          <p:nvPr/>
        </p:nvPicPr>
        <p:blipFill>
          <a:blip r:embed="rId1"/>
          <a:stretch>
            <a:fillRect/>
          </a:stretch>
        </p:blipFill>
        <p:spPr>
          <a:xfrm>
            <a:off x="1870497" y="1798259"/>
            <a:ext cx="9519544" cy="372344"/>
          </a:xfrm>
          <a:prstGeom prst="rect">
            <a:avLst/>
          </a:prstGeom>
        </p:spPr>
      </p:pic>
      <p:sp>
        <p:nvSpPr>
          <p:cNvPr id="11" name="Text 8"/>
          <p:cNvSpPr txBox="1"/>
          <p:nvPr/>
        </p:nvSpPr>
        <p:spPr>
          <a:xfrm>
            <a:off x="1870497" y="2253264"/>
            <a:ext cx="5041727" cy="185349"/>
          </a:xfrm>
          <a:prstGeom prst="rect">
            <a:avLst/>
          </a:prstGeom>
          <a:noFill/>
          <a:ln/>
        </p:spPr>
        <p:txBody>
          <a:bodyPr wrap="none" lIns="0" tIns="0" rIns="0" bIns="0" rtlCol="0" anchor="t"/>
          <a:lstStyle/>
          <a:p>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which suggests GLU is a </a:t>
            </a:r>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generalisation of activation functions</a:t>
            </a:r>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 — and that it might replace them</a:t>
            </a:r>
            <a:endParaRPr lang="en-US" sz="986" dirty="0"/>
          </a:p>
        </p:txBody>
      </p:sp>
      <p:sp>
        <p:nvSpPr>
          <p:cNvPr id="12" name="Shape 9"/>
          <p:cNvSpPr/>
          <p:nvPr/>
        </p:nvSpPr>
        <p:spPr>
          <a:xfrm>
            <a:off x="1636685" y="2706624"/>
            <a:ext cx="9953793" cy="959663"/>
          </a:xfrm>
          <a:prstGeom prst="rect">
            <a:avLst/>
          </a:prstGeom>
          <a:solidFill>
            <a:srgbClr val="F6ECE7"/>
          </a:solidFill>
          <a:ln/>
        </p:spPr>
      </p:sp>
      <p:sp>
        <p:nvSpPr>
          <p:cNvPr id="13" name="Shape 10"/>
          <p:cNvSpPr/>
          <p:nvPr/>
        </p:nvSpPr>
        <p:spPr>
          <a:xfrm>
            <a:off x="1636685" y="2706624"/>
            <a:ext cx="33376" cy="959663"/>
          </a:xfrm>
          <a:prstGeom prst="rect">
            <a:avLst/>
          </a:prstGeom>
          <a:solidFill>
            <a:srgbClr val="C0451A"/>
          </a:solidFill>
          <a:ln/>
        </p:spPr>
      </p:sp>
      <p:pic>
        <p:nvPicPr>
          <p:cNvPr id="14" name="Image 1" descr="\mathrm{SimpleGate}(X,Y) \;=\; X \odot Y">    </p:cNvPr>
          <p:cNvPicPr>
            <a:picLocks noChangeAspect="1"/>
          </p:cNvPicPr>
          <p:nvPr/>
        </p:nvPicPr>
        <p:blipFill>
          <a:blip r:embed="rId2"/>
          <a:stretch>
            <a:fillRect/>
          </a:stretch>
        </p:blipFill>
        <p:spPr>
          <a:xfrm>
            <a:off x="1870497" y="2848539"/>
            <a:ext cx="4414540" cy="406999"/>
          </a:xfrm>
          <a:prstGeom prst="rect">
            <a:avLst/>
          </a:prstGeom>
        </p:spPr>
      </p:pic>
      <p:sp>
        <p:nvSpPr>
          <p:cNvPr id="15" name="Text 11"/>
          <p:cNvSpPr txBox="1"/>
          <p:nvPr/>
        </p:nvSpPr>
        <p:spPr>
          <a:xfrm>
            <a:off x="1870497" y="3338200"/>
            <a:ext cx="5935462" cy="185349"/>
          </a:xfrm>
          <a:prstGeom prst="rect">
            <a:avLst/>
          </a:prstGeom>
          <a:noFill/>
          <a:ln/>
        </p:spPr>
        <p:txBody>
          <a:bodyPr wrap="none" lIns="0" tIns="0" rIns="0" bIns="0" rtlCol="0" anchor="t"/>
          <a:lstStyle/>
          <a:p>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split the feature map in half along the channel axis and multiply the halves. That is the entire activation function.</a:t>
            </a:r>
            <a:endParaRPr lang="en-US" sz="986" dirty="0"/>
          </a:p>
        </p:txBody>
      </p:sp>
      <p:sp>
        <p:nvSpPr>
          <p:cNvPr id="16" name="Shape 12"/>
          <p:cNvSpPr/>
          <p:nvPr/>
        </p:nvSpPr>
        <p:spPr>
          <a:xfrm>
            <a:off x="1636685" y="3791468"/>
            <a:ext cx="9953793" cy="8321"/>
          </a:xfrm>
          <a:prstGeom prst="rect">
            <a:avLst/>
          </a:prstGeom>
          <a:solidFill>
            <a:srgbClr val="DFDBD2"/>
          </a:solidFill>
          <a:ln/>
        </p:spPr>
      </p:sp>
      <p:sp>
        <p:nvSpPr>
          <p:cNvPr id="17" name="Text 13"/>
          <p:cNvSpPr txBox="1"/>
          <p:nvPr/>
        </p:nvSpPr>
        <p:spPr>
          <a:xfrm>
            <a:off x="1636685" y="3941796"/>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8" name="Text 14"/>
          <p:cNvSpPr txBox="1"/>
          <p:nvPr/>
        </p:nvSpPr>
        <p:spPr>
          <a:xfrm>
            <a:off x="1987448" y="3930366"/>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key observation.</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GLU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itself contains nonlinearity and does not depend on σ</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 f(X) ⊙ g(X) is nonlinear because a product of two linear maps is not linear. So the gate alone supplies it.</a:t>
            </a:r>
            <a:endParaRPr lang="en-US" sz="1216" dirty="0"/>
          </a:p>
        </p:txBody>
      </p:sp>
      <p:sp>
        <p:nvSpPr>
          <p:cNvPr id="19" name="Text 15"/>
          <p:cNvSpPr txBox="1"/>
          <p:nvPr/>
        </p:nvSpPr>
        <p:spPr>
          <a:xfrm>
            <a:off x="1636685" y="4538899"/>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20" name="Text 16"/>
          <p:cNvSpPr txBox="1"/>
          <p:nvPr/>
        </p:nvSpPr>
        <p:spPr>
          <a:xfrm>
            <a:off x="1987448" y="4527377"/>
            <a:ext cx="9103401"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Compare implementations.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GELU needs 0.5x(1 + tanh[√(2/π)(x + 0.044715x³)]). SimpleGate is one element-wise multiplication —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That's all</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a:t>
            </a:r>
            <a:endParaRPr lang="en-US" sz="1216" dirty="0"/>
          </a:p>
        </p:txBody>
      </p:sp>
      <p:sp>
        <p:nvSpPr>
          <p:cNvPr id="21" name="Text 17"/>
          <p:cNvSpPr txBox="1"/>
          <p:nvPr/>
        </p:nvSpPr>
        <p:spPr>
          <a:xfrm>
            <a:off x="1636685" y="4904202"/>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22" name="Text 18"/>
          <p:cNvSpPr txBox="1"/>
          <p:nvPr/>
        </p:nvSpPr>
        <p:spPr>
          <a:xfrm>
            <a:off x="1987448" y="4892772"/>
            <a:ext cx="8742578"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Applied again to channel attention</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CA(X) = X ∗ Ψ(X) reduces to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SCA(X) = X ∗ W pool(X)</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one pooling, one 1×1, no Sigmoid, no ReLU.</a:t>
            </a:r>
            <a:endParaRPr lang="en-US" sz="1216" dirty="0"/>
          </a:p>
        </p:txBody>
      </p:sp>
      <p:sp>
        <p:nvSpPr>
          <p:cNvPr id="23" name="Text 19"/>
          <p:cNvSpPr txBox="1"/>
          <p:nvPr/>
        </p:nvSpPr>
        <p:spPr>
          <a:xfrm>
            <a:off x="1636685" y="5269504"/>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24" name="Text 20"/>
          <p:cNvSpPr txBox="1"/>
          <p:nvPr/>
        </p:nvSpPr>
        <p:spPr>
          <a:xfrm>
            <a:off x="1987448" y="5258074"/>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The result.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No activation functions anywhere — </a:t>
            </a:r>
            <a:pPr algn="l" indent="0" marL="0">
              <a:lnSpc>
                <a:spcPts val="1825"/>
              </a:lnSpc>
              <a:buNone/>
            </a:pPr>
            <a:r>
              <a:rPr kern="0" lang="en-US" sz="1216" i="1" dirty="0">
                <a:solidFill>
                  <a:srgbClr val="33302B"/>
                </a:solidFill>
                <a:latin typeface="Calibri" pitchFamily="34" charset="0"/>
                <a:ea typeface="Calibri" pitchFamily="34" charset="-122"/>
                <a:cs typeface="Calibri" pitchFamily="34" charset="-120"/>
              </a:rPr>
              <a:t>the first work demonstrating that the nonlinear activation functions may not be necessary for SOTA computer vision methods.</a:t>
            </a:r>
            <a:endParaRPr lang="en-US" sz="1216" dirty="0"/>
          </a:p>
        </p:txBody>
      </p:sp>
      <p:sp>
        <p:nvSpPr>
          <p:cNvPr id="25" name="Text 21"/>
          <p:cNvSpPr txBox="1"/>
          <p:nvPr/>
        </p:nvSpPr>
        <p:spPr>
          <a:xfrm>
            <a:off x="10447660" y="6194511"/>
            <a:ext cx="1142817"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NAFNet22 §4, Eq. (1)–(7)</a:t>
            </a:r>
            <a:endParaRPr lang="en-US" sz="855" dirty="0"/>
          </a:p>
        </p:txBody>
      </p:sp>
      <p:sp>
        <p:nvSpPr>
          <p:cNvPr id="26" name="Shape 22"/>
          <p:cNvSpPr/>
          <p:nvPr/>
        </p:nvSpPr>
        <p:spPr>
          <a:xfrm>
            <a:off x="1636685" y="6515466"/>
            <a:ext cx="9953793" cy="8321"/>
          </a:xfrm>
          <a:prstGeom prst="rect">
            <a:avLst/>
          </a:prstGeom>
          <a:solidFill>
            <a:srgbClr val="C9C4B9"/>
          </a:solidFill>
          <a:ln/>
        </p:spPr>
      </p:sp>
      <p:sp>
        <p:nvSpPr>
          <p:cNvPr id="27" name="Shape 23"/>
          <p:cNvSpPr/>
          <p:nvPr/>
        </p:nvSpPr>
        <p:spPr>
          <a:xfrm>
            <a:off x="9378635" y="6502938"/>
            <a:ext cx="1659270" cy="33376"/>
          </a:xfrm>
          <a:prstGeom prst="rect">
            <a:avLst/>
          </a:prstGeom>
          <a:solidFill>
            <a:srgbClr val="C0451A"/>
          </a:solidFill>
          <a:ln/>
        </p:spPr>
      </p:sp>
      <p:sp>
        <p:nvSpPr>
          <p:cNvPr id="28" name="Shape 24"/>
          <p:cNvSpPr/>
          <p:nvPr/>
        </p:nvSpPr>
        <p:spPr>
          <a:xfrm>
            <a:off x="1636685" y="6473678"/>
            <a:ext cx="8321" cy="41788"/>
          </a:xfrm>
          <a:prstGeom prst="rect">
            <a:avLst/>
          </a:prstGeom>
          <a:solidFill>
            <a:srgbClr val="C9C4B9"/>
          </a:solidFill>
          <a:ln/>
        </p:spPr>
      </p:sp>
      <p:sp>
        <p:nvSpPr>
          <p:cNvPr id="29" name="Text 25"/>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30" name="Shape 26"/>
          <p:cNvSpPr/>
          <p:nvPr/>
        </p:nvSpPr>
        <p:spPr>
          <a:xfrm>
            <a:off x="5507706" y="6473678"/>
            <a:ext cx="8321" cy="41788"/>
          </a:xfrm>
          <a:prstGeom prst="rect">
            <a:avLst/>
          </a:prstGeom>
          <a:solidFill>
            <a:srgbClr val="C9C4B9"/>
          </a:solidFill>
          <a:ln/>
        </p:spPr>
      </p:sp>
      <p:sp>
        <p:nvSpPr>
          <p:cNvPr id="31" name="Text 27"/>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2" name="Shape 28"/>
          <p:cNvSpPr/>
          <p:nvPr/>
        </p:nvSpPr>
        <p:spPr>
          <a:xfrm>
            <a:off x="7166884" y="6473678"/>
            <a:ext cx="8321" cy="41788"/>
          </a:xfrm>
          <a:prstGeom prst="rect">
            <a:avLst/>
          </a:prstGeom>
          <a:solidFill>
            <a:srgbClr val="C9C4B9"/>
          </a:solidFill>
          <a:ln/>
        </p:spPr>
      </p:sp>
      <p:sp>
        <p:nvSpPr>
          <p:cNvPr id="33" name="Text 29"/>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4" name="Shape 30"/>
          <p:cNvSpPr/>
          <p:nvPr/>
        </p:nvSpPr>
        <p:spPr>
          <a:xfrm>
            <a:off x="9931024" y="6473678"/>
            <a:ext cx="8321" cy="41788"/>
          </a:xfrm>
          <a:prstGeom prst="rect">
            <a:avLst/>
          </a:prstGeom>
          <a:solidFill>
            <a:srgbClr val="C9C4B9"/>
          </a:solidFill>
          <a:ln/>
        </p:spPr>
      </p:sp>
      <p:sp>
        <p:nvSpPr>
          <p:cNvPr id="35" name="Text 31"/>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6" name="Shape 32"/>
          <p:cNvSpPr/>
          <p:nvPr/>
        </p:nvSpPr>
        <p:spPr>
          <a:xfrm>
            <a:off x="11590477" y="6473678"/>
            <a:ext cx="8321" cy="41788"/>
          </a:xfrm>
          <a:prstGeom prst="rect">
            <a:avLst/>
          </a:prstGeom>
          <a:solidFill>
            <a:srgbClr val="C9C4B9"/>
          </a:solidFill>
          <a:ln/>
        </p:spPr>
      </p:sp>
      <p:sp>
        <p:nvSpPr>
          <p:cNvPr id="37" name="Text 33"/>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401422"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58</a:t>
            </a:r>
            <a:endParaRPr lang="en-US" sz="2708" dirty="0"/>
          </a:p>
        </p:txBody>
      </p:sp>
      <p:sp>
        <p:nvSpPr>
          <p:cNvPr id="3" name="Text 1"/>
          <p:cNvSpPr txBox="1"/>
          <p:nvPr/>
        </p:nvSpPr>
        <p:spPr>
          <a:xfrm rot="16200000">
            <a:off x="-360731" y="3428909"/>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461132"/>
            <a:ext cx="203180" cy="23409"/>
          </a:xfrm>
          <a:prstGeom prst="rect">
            <a:avLst/>
          </a:prstGeom>
          <a:solidFill>
            <a:srgbClr val="C0451A"/>
          </a:solidFill>
          <a:ln/>
        </p:spPr>
      </p:sp>
      <p:sp>
        <p:nvSpPr>
          <p:cNvPr id="5" name="Text 3"/>
          <p:cNvSpPr txBox="1"/>
          <p:nvPr/>
        </p:nvSpPr>
        <p:spPr>
          <a:xfrm>
            <a:off x="1828800" y="408462"/>
            <a:ext cx="1297899"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NAFNET, PART 2 OF 2</a:t>
            </a:r>
            <a:endParaRPr lang="en-US" sz="831" dirty="0"/>
          </a:p>
        </p:txBody>
      </p:sp>
      <p:sp>
        <p:nvSpPr>
          <p:cNvPr id="6" name="Text 4"/>
          <p:cNvSpPr txBox="1"/>
          <p:nvPr/>
        </p:nvSpPr>
        <p:spPr>
          <a:xfrm>
            <a:off x="1531803" y="646024"/>
            <a:ext cx="9652498"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The ablation ladder — every rung is a controlled experiment</a:t>
            </a:r>
            <a:endParaRPr lang="en-US" sz="2831" dirty="0"/>
          </a:p>
        </p:txBody>
      </p:sp>
      <p:sp>
        <p:nvSpPr>
          <p:cNvPr id="7" name="Text 5"/>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Starting from PlainNet — convolution, ReLU, shortcut, in a single-stage U-Net — each row changes exactly one thing. All at a ≈16 GMAC budget, 256×256 patches, batch 32, 200 K iterations, Adam, PSNR loss.</a:t>
            </a:r>
            <a:endParaRPr lang="en-US" sz="1231"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1531803" y="2084100"/>
          <a:ext cx="9144000" cy="914400"/>
        </p:xfrm>
        <a:graphic>
          <a:graphicData uri="http://schemas.openxmlformats.org/drawingml/2006/table">
            <a:tbl>
              <a:tblPr/>
              <a:tblGrid>
                <a:gridCol w="832287"/>
                <a:gridCol w="4540636"/>
                <a:gridCol w="2172614"/>
                <a:gridCol w="2551633"/>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CHANGE MADE</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SIDD (DENOISING)</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GOPRO (DEBLURRING)</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C0451A"/>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PlainNet — conv + ReLU + shortcut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39.29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28.51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LayerNorm (enables 10× learning rate)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39.73 (+0.44)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31.90 (+3.39)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ReLU → GELU</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39.71 (−0.02)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32.11 (+0.21)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Channel Attention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39.85 (+0.14)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32.35 (+0.24)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GELU → </a:t>
                      </a:r>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SimpleGate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39.93 (+0.08)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32.76 (+0.41)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CA → </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SCA</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39.96 (+0.03)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32.85 (+0.09)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F5EBE4"/>
                    </a:solidFill>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Final NAFNet at full capacity</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40.30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33.69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531803" y="4811573"/>
            <a:ext cx="10097262" cy="15636"/>
          </a:xfrm>
          <a:prstGeom prst="rect">
            <a:avLst/>
          </a:prstGeom>
          <a:solidFill>
            <a:srgbClr val="C0451A"/>
          </a:solidFill>
          <a:ln/>
        </p:spPr>
      </p:sp>
      <p:sp>
        <p:nvSpPr>
          <p:cNvPr id="10" name="Text 7"/>
          <p:cNvSpPr txBox="1"/>
          <p:nvPr/>
        </p:nvSpPr>
        <p:spPr>
          <a:xfrm>
            <a:off x="1531803" y="4950287"/>
            <a:ext cx="10153223" cy="797174"/>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Three readings.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 The largest single gain is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LayerNorm</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worth +0.44 dB on denoising and +3.39 dB on deblurring — not because normalisation is magic but because it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stabilises training at a ten-times larger learning rate</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The architecture did not improve; the optimisation did. (b) Both simplifications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improved</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results — SimpleGate beats GELU, SCA beats CA. (c) The headline: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40.30 dB on SIDD, exceeding the previous state of the art by 0.28 dB with less than half its computational cost</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and 36.69 dB on GoPro, exceeding the previous best by 0.38 dB with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8.4%</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of its cost.</a:t>
            </a:r>
            <a:endParaRPr lang="en-US" sz="1046" dirty="0"/>
          </a:p>
        </p:txBody>
      </p:sp>
      <p:sp>
        <p:nvSpPr>
          <p:cNvPr id="11" name="Text 8"/>
          <p:cNvSpPr txBox="1"/>
          <p:nvPr/>
        </p:nvSpPr>
        <p:spPr>
          <a:xfrm>
            <a:off x="9364096" y="6237031"/>
            <a:ext cx="2264877"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NAFNet22 §3.3–3.6, §4, abstract — values as printed</a:t>
            </a:r>
            <a:endParaRPr lang="en-US" sz="800" dirty="0"/>
          </a:p>
        </p:txBody>
      </p:sp>
      <p:sp>
        <p:nvSpPr>
          <p:cNvPr id="12" name="Shape 9"/>
          <p:cNvSpPr/>
          <p:nvPr/>
        </p:nvSpPr>
        <p:spPr>
          <a:xfrm>
            <a:off x="1531803" y="6537411"/>
            <a:ext cx="10097262" cy="7772"/>
          </a:xfrm>
          <a:prstGeom prst="rect">
            <a:avLst/>
          </a:prstGeom>
          <a:solidFill>
            <a:srgbClr val="C9C4B9"/>
          </a:solidFill>
          <a:ln/>
        </p:spPr>
      </p:sp>
      <p:sp>
        <p:nvSpPr>
          <p:cNvPr id="13" name="Shape 10"/>
          <p:cNvSpPr/>
          <p:nvPr/>
        </p:nvSpPr>
        <p:spPr>
          <a:xfrm>
            <a:off x="9385310" y="6525707"/>
            <a:ext cx="1683228" cy="31272"/>
          </a:xfrm>
          <a:prstGeom prst="rect">
            <a:avLst/>
          </a:prstGeom>
          <a:solidFill>
            <a:srgbClr val="C0451A"/>
          </a:solidFill>
          <a:ln/>
        </p:spPr>
      </p:sp>
      <p:sp>
        <p:nvSpPr>
          <p:cNvPr id="14" name="Shape 11"/>
          <p:cNvSpPr/>
          <p:nvPr/>
        </p:nvSpPr>
        <p:spPr>
          <a:xfrm>
            <a:off x="1531803" y="6498366"/>
            <a:ext cx="7772" cy="39045"/>
          </a:xfrm>
          <a:prstGeom prst="rect">
            <a:avLst/>
          </a:prstGeom>
          <a:solidFill>
            <a:srgbClr val="C9C4B9"/>
          </a:solidFill>
          <a:ln/>
        </p:spPr>
      </p:sp>
      <p:sp>
        <p:nvSpPr>
          <p:cNvPr id="15" name="Text 12"/>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6" name="Shape 13"/>
          <p:cNvSpPr/>
          <p:nvPr/>
        </p:nvSpPr>
        <p:spPr>
          <a:xfrm>
            <a:off x="5458511" y="6498366"/>
            <a:ext cx="7772" cy="39045"/>
          </a:xfrm>
          <a:prstGeom prst="rect">
            <a:avLst/>
          </a:prstGeom>
          <a:solidFill>
            <a:srgbClr val="C9C4B9"/>
          </a:solidFill>
          <a:ln/>
        </p:spPr>
      </p:sp>
      <p:sp>
        <p:nvSpPr>
          <p:cNvPr id="17" name="Text 14"/>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8" name="Shape 15"/>
          <p:cNvSpPr/>
          <p:nvPr/>
        </p:nvSpPr>
        <p:spPr>
          <a:xfrm>
            <a:off x="7141738" y="6498366"/>
            <a:ext cx="7772" cy="39045"/>
          </a:xfrm>
          <a:prstGeom prst="rect">
            <a:avLst/>
          </a:prstGeom>
          <a:solidFill>
            <a:srgbClr val="C9C4B9"/>
          </a:solidFill>
          <a:ln/>
        </p:spPr>
      </p:sp>
      <p:sp>
        <p:nvSpPr>
          <p:cNvPr id="19" name="Text 16"/>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0" name="Shape 17"/>
          <p:cNvSpPr/>
          <p:nvPr/>
        </p:nvSpPr>
        <p:spPr>
          <a:xfrm>
            <a:off x="9945654" y="6498366"/>
            <a:ext cx="7772" cy="39045"/>
          </a:xfrm>
          <a:prstGeom prst="rect">
            <a:avLst/>
          </a:prstGeom>
          <a:solidFill>
            <a:srgbClr val="C9C4B9"/>
          </a:solidFill>
          <a:ln/>
        </p:spPr>
      </p:sp>
      <p:sp>
        <p:nvSpPr>
          <p:cNvPr id="21" name="Text 18"/>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2" name="Shape 19"/>
          <p:cNvSpPr/>
          <p:nvPr/>
        </p:nvSpPr>
        <p:spPr>
          <a:xfrm>
            <a:off x="11628973" y="6498366"/>
            <a:ext cx="7772" cy="39045"/>
          </a:xfrm>
          <a:prstGeom prst="rect">
            <a:avLst/>
          </a:prstGeom>
          <a:solidFill>
            <a:srgbClr val="C9C4B9"/>
          </a:solidFill>
          <a:ln/>
        </p:spPr>
      </p:sp>
      <p:sp>
        <p:nvSpPr>
          <p:cNvPr id="23" name="Text 20"/>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0807"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59</a:t>
            </a:r>
            <a:endParaRPr lang="en-US" sz="2893" dirty="0"/>
          </a:p>
        </p:txBody>
      </p:sp>
      <p:sp>
        <p:nvSpPr>
          <p:cNvPr id="3" name="Text 1"/>
          <p:cNvSpPr txBox="1"/>
          <p:nvPr/>
        </p:nvSpPr>
        <p:spPr>
          <a:xfrm rot="16200000">
            <a:off x="-385420" y="3428909"/>
            <a:ext cx="1002091"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C0451A"/>
                </a:solidFill>
                <a:latin typeface="Calibri" pitchFamily="34" charset="0"/>
                <a:ea typeface="Calibri" pitchFamily="34" charset="-122"/>
                <a:cs typeface="Calibri" pitchFamily="34" charset="-120"/>
              </a:rPr>
              <a:t>ARCHITECTURE</a:t>
            </a:r>
            <a:endParaRPr lang="en-US" sz="789" dirty="0"/>
          </a:p>
        </p:txBody>
      </p:sp>
      <p:sp>
        <p:nvSpPr>
          <p:cNvPr id="4" name="Shape 2"/>
          <p:cNvSpPr/>
          <p:nvPr/>
        </p:nvSpPr>
        <p:spPr>
          <a:xfrm>
            <a:off x="1636685" y="492679"/>
            <a:ext cx="217079" cy="25055"/>
          </a:xfrm>
          <a:prstGeom prst="rect">
            <a:avLst/>
          </a:prstGeom>
          <a:solidFill>
            <a:srgbClr val="C0451A"/>
          </a:solidFill>
          <a:ln/>
        </p:spPr>
      </p:sp>
      <p:sp>
        <p:nvSpPr>
          <p:cNvPr id="5" name="Text 3"/>
          <p:cNvSpPr txBox="1"/>
          <p:nvPr/>
        </p:nvSpPr>
        <p:spPr>
          <a:xfrm>
            <a:off x="1953981" y="436443"/>
            <a:ext cx="52696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SCUNET</a:t>
            </a:r>
            <a:endParaRPr lang="en-US" sz="888" dirty="0"/>
          </a:p>
        </p:txBody>
      </p:sp>
      <p:sp>
        <p:nvSpPr>
          <p:cNvPr id="6" name="Text 4"/>
          <p:cNvSpPr txBox="1"/>
          <p:nvPr/>
        </p:nvSpPr>
        <p:spPr>
          <a:xfrm>
            <a:off x="1636685" y="690281"/>
            <a:ext cx="892280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SCUNet — fix the training data, not only the network</a:t>
            </a:r>
            <a:endParaRPr lang="en-US" sz="3025" dirty="0"/>
          </a:p>
        </p:txBody>
      </p:sp>
      <p:sp>
        <p:nvSpPr>
          <p:cNvPr id="7" name="Text 5"/>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Zhang, Li, Liang, Cao, Zhang, Tang, Fan, Timofte and Van Gool, </a:t>
            </a:r>
            <a:pPr algn="l" indent="0" marL="0">
              <a:lnSpc>
                <a:spcPts val="1973"/>
              </a:lnSpc>
              <a:buNone/>
            </a:pPr>
            <a:r>
              <a:rPr kern="0" lang="en-US" sz="1315" i="1" dirty="0">
                <a:solidFill>
                  <a:srgbClr val="5A554D"/>
                </a:solidFill>
                <a:latin typeface="Calibri" pitchFamily="34" charset="0"/>
                <a:ea typeface="Calibri" pitchFamily="34" charset="-122"/>
                <a:cs typeface="Calibri" pitchFamily="34" charset="-120"/>
              </a:rPr>
              <a:t>Machine Intelligence Research</a:t>
            </a:r>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 20(6), 2023 (ETH Zürich). Same first author as DnCNN, six years later, attacking the assumption DnCNN made rather than the architecture DnCNN built.</a:t>
            </a:r>
            <a:endParaRPr lang="en-US" sz="1315" dirty="0"/>
          </a:p>
        </p:txBody>
      </p:sp>
      <p:sp>
        <p:nvSpPr>
          <p:cNvPr id="8" name="Shape 6"/>
          <p:cNvSpPr/>
          <p:nvPr/>
        </p:nvSpPr>
        <p:spPr>
          <a:xfrm>
            <a:off x="1636867" y="2226838"/>
            <a:ext cx="9953335" cy="2570470"/>
          </a:xfrm>
          <a:prstGeom prst="rect">
            <a:avLst/>
          </a:prstGeom>
          <a:solidFill>
            <a:srgbClr val="FFFFFF"/>
          </a:solidFill>
          <a:ln/>
          <a:effectLst>
            <a:outerShdw sx="100000" sy="100000" kx="0" ky="0" algn="bl" rotWithShape="0" blurRad="25052" dist="8350" dir="5400000">
              <a:srgbClr val="14120F">
                <a:alpha val="12000"/>
              </a:srgbClr>
            </a:outerShdw>
          </a:effectLst>
        </p:spPr>
      </p:sp>
      <p:sp>
        <p:nvSpPr>
          <p:cNvPr id="9" name="Shape 7"/>
          <p:cNvSpPr/>
          <p:nvPr/>
        </p:nvSpPr>
        <p:spPr>
          <a:xfrm>
            <a:off x="1636867" y="2226838"/>
            <a:ext cx="9953335" cy="8321"/>
          </a:xfrm>
          <a:prstGeom prst="rect">
            <a:avLst/>
          </a:prstGeom>
          <a:solidFill>
            <a:srgbClr val="C9C4B9"/>
          </a:solidFill>
          <a:ln/>
        </p:spPr>
      </p:sp>
      <p:sp>
        <p:nvSpPr>
          <p:cNvPr id="10" name="Shape 8"/>
          <p:cNvSpPr/>
          <p:nvPr/>
        </p:nvSpPr>
        <p:spPr>
          <a:xfrm>
            <a:off x="1636867" y="4788987"/>
            <a:ext cx="9953335" cy="8321"/>
          </a:xfrm>
          <a:prstGeom prst="rect">
            <a:avLst/>
          </a:prstGeom>
          <a:solidFill>
            <a:srgbClr val="C9C4B9"/>
          </a:solidFill>
          <a:ln/>
        </p:spPr>
      </p:sp>
      <p:sp>
        <p:nvSpPr>
          <p:cNvPr id="11" name="Shape 9"/>
          <p:cNvSpPr/>
          <p:nvPr/>
        </p:nvSpPr>
        <p:spPr>
          <a:xfrm>
            <a:off x="1636867" y="2226838"/>
            <a:ext cx="8321" cy="2570470"/>
          </a:xfrm>
          <a:prstGeom prst="rect">
            <a:avLst/>
          </a:prstGeom>
          <a:solidFill>
            <a:srgbClr val="C9C4B9"/>
          </a:solidFill>
          <a:ln/>
        </p:spPr>
      </p:sp>
      <p:sp>
        <p:nvSpPr>
          <p:cNvPr id="12" name="Shape 10"/>
          <p:cNvSpPr/>
          <p:nvPr/>
        </p:nvSpPr>
        <p:spPr>
          <a:xfrm>
            <a:off x="11581882" y="2226838"/>
            <a:ext cx="8321" cy="2570470"/>
          </a:xfrm>
          <a:prstGeom prst="rect">
            <a:avLst/>
          </a:prstGeom>
          <a:solidFill>
            <a:srgbClr val="C9C4B9"/>
          </a:solidFill>
          <a:ln/>
        </p:spPr>
      </p:sp>
      <p:pic>
        <p:nvPicPr>
          <p:cNvPr id="13" name="Image 0" descr="The Swin-Conv-UNet pipeline: a noisy image passes through strided SC blocks (Swin Transformer + residual convolution in parallel) on the way down, and transposed-convolution SC blocks on the way back up, with a global residual connection.">    </p:cNvPr>
          <p:cNvPicPr>
            <a:picLocks noChangeAspect="1"/>
          </p:cNvPicPr>
          <p:nvPr/>
        </p:nvPicPr>
        <p:blipFill>
          <a:blip r:embed="rId1"/>
          <a:stretch>
            <a:fillRect/>
          </a:stretch>
        </p:blipFill>
        <p:spPr>
          <a:xfrm>
            <a:off x="1762049" y="2352111"/>
            <a:ext cx="9702881" cy="2320016"/>
          </a:xfrm>
          <a:prstGeom prst="rect">
            <a:avLst/>
          </a:prstGeom>
        </p:spPr>
      </p:pic>
      <p:sp>
        <p:nvSpPr>
          <p:cNvPr id="14" name="Text 11"/>
          <p:cNvSpPr txBox="1"/>
          <p:nvPr/>
        </p:nvSpPr>
        <p:spPr>
          <a:xfrm>
            <a:off x="2832445" y="4911791"/>
            <a:ext cx="7562179" cy="327264"/>
          </a:xfrm>
          <a:prstGeom prst="rect">
            <a:avLst/>
          </a:prstGeom>
          <a:noFill/>
          <a:ln/>
        </p:spPr>
        <p:txBody>
          <a:bodyPr wrap="square" lIns="0" tIns="0" rIns="0" bIns="0" rtlCol="0" anchor="t"/>
          <a:lstStyle/>
          <a:p>
            <a:pPr algn="ctr" indent="0" marL="0">
              <a:lnSpc>
                <a:spcPts val="1289"/>
              </a:lnSpc>
              <a:buNone/>
            </a:pPr>
            <a:r>
              <a:rPr kern="0" lang="en-US" sz="921" i="1" dirty="0">
                <a:solidFill>
                  <a:srgbClr val="8A847A"/>
                </a:solidFill>
                <a:latin typeface="Calibri" pitchFamily="34" charset="0"/>
                <a:ea typeface="Calibri" pitchFamily="34" charset="-122"/>
                <a:cs typeface="Calibri" pitchFamily="34" charset="-120"/>
              </a:rPr>
              <a:t>The Swin-Conv-UNet pipeline: a noisy image passes through strided SC blocks (Swin Transformer + residual convolution in parallel) on the way down, and transposed-convolution SC blocks on the way back up, with a global residual connection. [SCUNet23 · Fig. 1]</a:t>
            </a:r>
            <a:endParaRPr lang="en-US" sz="921" dirty="0"/>
          </a:p>
        </p:txBody>
      </p:sp>
      <p:sp>
        <p:nvSpPr>
          <p:cNvPr id="15" name="Text 12"/>
          <p:cNvSpPr txBox="1"/>
          <p:nvPr/>
        </p:nvSpPr>
        <p:spPr>
          <a:xfrm>
            <a:off x="7223120" y="6207039"/>
            <a:ext cx="4367357"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SCUNet23 abstract, §1, §3.1, §3.2, Fig. 1 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parameter count [measured], commit 52e440a</a:t>
            </a:r>
            <a:endParaRPr lang="en-US" sz="633" dirty="0"/>
          </a:p>
        </p:txBody>
      </p:sp>
      <p:sp>
        <p:nvSpPr>
          <p:cNvPr id="16" name="Shape 13"/>
          <p:cNvSpPr/>
          <p:nvPr/>
        </p:nvSpPr>
        <p:spPr>
          <a:xfrm>
            <a:off x="1636685" y="6515466"/>
            <a:ext cx="9953793" cy="8321"/>
          </a:xfrm>
          <a:prstGeom prst="rect">
            <a:avLst/>
          </a:prstGeom>
          <a:solidFill>
            <a:srgbClr val="C9C4B9"/>
          </a:solidFill>
          <a:ln/>
        </p:spPr>
      </p:sp>
      <p:sp>
        <p:nvSpPr>
          <p:cNvPr id="17" name="Shape 14"/>
          <p:cNvSpPr/>
          <p:nvPr/>
        </p:nvSpPr>
        <p:spPr>
          <a:xfrm>
            <a:off x="9378635" y="6502938"/>
            <a:ext cx="1659270" cy="33376"/>
          </a:xfrm>
          <a:prstGeom prst="rect">
            <a:avLst/>
          </a:prstGeom>
          <a:solidFill>
            <a:srgbClr val="C0451A"/>
          </a:solidFill>
          <a:ln/>
        </p:spPr>
      </p:sp>
      <p:sp>
        <p:nvSpPr>
          <p:cNvPr id="18" name="Shape 15"/>
          <p:cNvSpPr/>
          <p:nvPr/>
        </p:nvSpPr>
        <p:spPr>
          <a:xfrm>
            <a:off x="1636685" y="6473678"/>
            <a:ext cx="8321" cy="41788"/>
          </a:xfrm>
          <a:prstGeom prst="rect">
            <a:avLst/>
          </a:prstGeom>
          <a:solidFill>
            <a:srgbClr val="C9C4B9"/>
          </a:solidFill>
          <a:ln/>
        </p:spPr>
      </p:sp>
      <p:sp>
        <p:nvSpPr>
          <p:cNvPr id="19" name="Text 16"/>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0" name="Shape 17"/>
          <p:cNvSpPr/>
          <p:nvPr/>
        </p:nvSpPr>
        <p:spPr>
          <a:xfrm>
            <a:off x="5507706" y="6473678"/>
            <a:ext cx="8321" cy="41788"/>
          </a:xfrm>
          <a:prstGeom prst="rect">
            <a:avLst/>
          </a:prstGeom>
          <a:solidFill>
            <a:srgbClr val="C9C4B9"/>
          </a:solidFill>
          <a:ln/>
        </p:spPr>
      </p:sp>
      <p:sp>
        <p:nvSpPr>
          <p:cNvPr id="21" name="Text 18"/>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2" name="Shape 19"/>
          <p:cNvSpPr/>
          <p:nvPr/>
        </p:nvSpPr>
        <p:spPr>
          <a:xfrm>
            <a:off x="7166884" y="6473678"/>
            <a:ext cx="8321" cy="41788"/>
          </a:xfrm>
          <a:prstGeom prst="rect">
            <a:avLst/>
          </a:prstGeom>
          <a:solidFill>
            <a:srgbClr val="C9C4B9"/>
          </a:solidFill>
          <a:ln/>
        </p:spPr>
      </p:sp>
      <p:sp>
        <p:nvSpPr>
          <p:cNvPr id="23" name="Text 20"/>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4" name="Shape 21"/>
          <p:cNvSpPr/>
          <p:nvPr/>
        </p:nvSpPr>
        <p:spPr>
          <a:xfrm>
            <a:off x="9931024" y="6473678"/>
            <a:ext cx="8321" cy="41788"/>
          </a:xfrm>
          <a:prstGeom prst="rect">
            <a:avLst/>
          </a:prstGeom>
          <a:solidFill>
            <a:srgbClr val="C9C4B9"/>
          </a:solidFill>
          <a:ln/>
        </p:spPr>
      </p:sp>
      <p:sp>
        <p:nvSpPr>
          <p:cNvPr id="25" name="Text 22"/>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6" name="Shape 23"/>
          <p:cNvSpPr/>
          <p:nvPr/>
        </p:nvSpPr>
        <p:spPr>
          <a:xfrm>
            <a:off x="11590477" y="6473678"/>
            <a:ext cx="8321" cy="41788"/>
          </a:xfrm>
          <a:prstGeom prst="rect">
            <a:avLst/>
          </a:prstGeom>
          <a:solidFill>
            <a:srgbClr val="C9C4B9"/>
          </a:solidFill>
          <a:ln/>
        </p:spPr>
      </p:sp>
      <p:sp>
        <p:nvSpPr>
          <p:cNvPr id="27" name="Text 24"/>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93832"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59</a:t>
            </a:r>
            <a:endParaRPr lang="en-US" sz="2708" dirty="0"/>
          </a:p>
        </p:txBody>
      </p:sp>
      <p:sp>
        <p:nvSpPr>
          <p:cNvPr id="3" name="Text 1"/>
          <p:cNvSpPr txBox="1"/>
          <p:nvPr/>
        </p:nvSpPr>
        <p:spPr>
          <a:xfrm rot="16200000">
            <a:off x="-360731" y="3428909"/>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461132"/>
            <a:ext cx="203180" cy="23409"/>
          </a:xfrm>
          <a:prstGeom prst="rect">
            <a:avLst/>
          </a:prstGeom>
          <a:solidFill>
            <a:srgbClr val="C0451A"/>
          </a:solidFill>
          <a:ln/>
        </p:spPr>
      </p:sp>
      <p:sp>
        <p:nvSpPr>
          <p:cNvPr id="5" name="Text 3"/>
          <p:cNvSpPr txBox="1"/>
          <p:nvPr/>
        </p:nvSpPr>
        <p:spPr>
          <a:xfrm>
            <a:off x="1828800" y="408462"/>
            <a:ext cx="493227"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SCUNET</a:t>
            </a:r>
            <a:endParaRPr lang="en-US" sz="831" dirty="0"/>
          </a:p>
        </p:txBody>
      </p:sp>
      <p:sp>
        <p:nvSpPr>
          <p:cNvPr id="6" name="Text 4"/>
          <p:cNvSpPr txBox="1"/>
          <p:nvPr/>
        </p:nvSpPr>
        <p:spPr>
          <a:xfrm>
            <a:off x="2368845" y="408462"/>
            <a:ext cx="81299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 CONTINUED</a:t>
            </a:r>
            <a:endParaRPr lang="en-US" sz="831" dirty="0"/>
          </a:p>
        </p:txBody>
      </p:sp>
      <p:sp>
        <p:nvSpPr>
          <p:cNvPr id="7" name="Text 5"/>
          <p:cNvSpPr txBox="1"/>
          <p:nvPr/>
        </p:nvSpPr>
        <p:spPr>
          <a:xfrm>
            <a:off x="1531803" y="646024"/>
            <a:ext cx="8350758"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SCUNet — fix the training data, not only the network</a:t>
            </a:r>
            <a:endParaRPr lang="en-US" sz="2831" dirty="0"/>
          </a:p>
        </p:txBody>
      </p:sp>
      <p:sp>
        <p:nvSpPr>
          <p:cNvPr id="8" name="Shape 6"/>
          <p:cNvSpPr/>
          <p:nvPr/>
        </p:nvSpPr>
        <p:spPr>
          <a:xfrm>
            <a:off x="6580388" y="1161928"/>
            <a:ext cx="7772" cy="3547689"/>
          </a:xfrm>
          <a:prstGeom prst="rect">
            <a:avLst/>
          </a:prstGeom>
          <a:solidFill>
            <a:srgbClr val="DFDBD2"/>
          </a:solidFill>
          <a:ln/>
        </p:spPr>
      </p:sp>
      <p:sp>
        <p:nvSpPr>
          <p:cNvPr id="9" name="Shape 7"/>
          <p:cNvSpPr/>
          <p:nvPr/>
        </p:nvSpPr>
        <p:spPr>
          <a:xfrm>
            <a:off x="1531803" y="1161928"/>
            <a:ext cx="4876678" cy="15636"/>
          </a:xfrm>
          <a:prstGeom prst="rect">
            <a:avLst/>
          </a:prstGeom>
          <a:solidFill>
            <a:srgbClr val="C0451A"/>
          </a:solidFill>
          <a:ln/>
        </p:spPr>
      </p:sp>
      <p:sp>
        <p:nvSpPr>
          <p:cNvPr id="10" name="Text 8"/>
          <p:cNvSpPr txBox="1"/>
          <p:nvPr/>
        </p:nvSpPr>
        <p:spPr>
          <a:xfrm>
            <a:off x="1531803" y="1306678"/>
            <a:ext cx="2582266"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Half one — the swin-conv block</a:t>
            </a:r>
            <a:pPr algn="l" indent="0" marL="0">
              <a:lnSpc>
                <a:spcPts val="1598"/>
              </a:lnSpc>
              <a:buNone/>
            </a:pPr>
            <a:r>
              <a:rPr lang="en-US" sz="1002" b="1" spc="-25" kern="0" dirty="0">
                <a:solidFill>
                  <a:srgbClr val="C0451A"/>
                </a:solidFill>
                <a:latin typeface="Cambria" pitchFamily="34" charset="0"/>
                <a:ea typeface="Cambria" pitchFamily="34" charset="-122"/>
                <a:cs typeface="Cambria" pitchFamily="34" charset="-120"/>
              </a:rPr>
              <a:t>[1]</a:t>
            </a:r>
            <a:endParaRPr lang="en-US" sz="1354" dirty="0"/>
          </a:p>
        </p:txBody>
      </p:sp>
      <p:sp>
        <p:nvSpPr>
          <p:cNvPr id="11" name="Shape 9"/>
          <p:cNvSpPr/>
          <p:nvPr/>
        </p:nvSpPr>
        <p:spPr>
          <a:xfrm>
            <a:off x="1531803" y="1669512"/>
            <a:ext cx="62545" cy="39045"/>
          </a:xfrm>
          <a:prstGeom prst="rect">
            <a:avLst/>
          </a:prstGeom>
          <a:solidFill>
            <a:srgbClr val="C0451A"/>
          </a:solidFill>
          <a:ln/>
        </p:spPr>
      </p:sp>
      <p:sp>
        <p:nvSpPr>
          <p:cNvPr id="12" name="Text 10"/>
          <p:cNvSpPr txBox="1"/>
          <p:nvPr/>
        </p:nvSpPr>
        <p:spPr>
          <a:xfrm>
            <a:off x="1688074" y="1604040"/>
            <a:ext cx="4754880" cy="650596"/>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The motivation is complementarity: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different methods for image denoising have complementary image prior modeling ability and can be incorporated to boost the performance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13" name="Shape 11"/>
          <p:cNvSpPr/>
          <p:nvPr/>
        </p:nvSpPr>
        <p:spPr>
          <a:xfrm>
            <a:off x="1531803" y="2445197"/>
            <a:ext cx="62545" cy="39045"/>
          </a:xfrm>
          <a:prstGeom prst="rect">
            <a:avLst/>
          </a:prstGeom>
          <a:solidFill>
            <a:srgbClr val="C0451A"/>
          </a:solidFill>
          <a:ln/>
        </p:spPr>
      </p:sp>
      <p:sp>
        <p:nvSpPr>
          <p:cNvPr id="14" name="Text 12"/>
          <p:cNvSpPr txBox="1"/>
          <p:nvPr/>
        </p:nvSpPr>
        <p:spPr>
          <a:xfrm>
            <a:off x="1688074" y="2379726"/>
            <a:ext cx="4754880"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block.</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 1×1 convolution, then split the feature map in two. One half goes to a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Swin Transformer block</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(non-local), the other to a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residual convolutional block</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(local). Concatenate, 1×1, residual connection.</a:t>
            </a:r>
            <a:endParaRPr lang="en-US" sz="1138" dirty="0"/>
          </a:p>
        </p:txBody>
      </p:sp>
      <p:sp>
        <p:nvSpPr>
          <p:cNvPr id="15" name="Shape 13"/>
          <p:cNvSpPr/>
          <p:nvPr/>
        </p:nvSpPr>
        <p:spPr>
          <a:xfrm>
            <a:off x="1531803" y="3220791"/>
            <a:ext cx="62545" cy="39045"/>
          </a:xfrm>
          <a:prstGeom prst="rect">
            <a:avLst/>
          </a:prstGeom>
          <a:solidFill>
            <a:srgbClr val="C0451A"/>
          </a:solidFill>
          <a:ln/>
        </p:spPr>
      </p:sp>
      <p:sp>
        <p:nvSpPr>
          <p:cNvPr id="16" name="Text 14"/>
          <p:cNvSpPr txBox="1"/>
          <p:nvPr/>
        </p:nvSpPr>
        <p:spPr>
          <a:xfrm>
            <a:off x="1688074" y="3155412"/>
            <a:ext cx="4754880" cy="433700"/>
          </a:xfrm>
          <a:prstGeom prst="rect">
            <a:avLst/>
          </a:prstGeom>
          <a:noFill/>
          <a:ln/>
        </p:spPr>
        <p:txBody>
          <a:bodyPr wrap="square" lIns="0" tIns="0" rIns="0" bIns="0" rtlCol="0" anchor="t"/>
          <a:lstStyle/>
          <a:p>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Plug it into a standard UNet backbone. Local and non-local priors run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in parallel</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rather than one replacing the other.</a:t>
            </a:r>
            <a:endParaRPr lang="en-US" sz="1138" dirty="0"/>
          </a:p>
        </p:txBody>
      </p:sp>
      <p:sp>
        <p:nvSpPr>
          <p:cNvPr id="17" name="Shape 15"/>
          <p:cNvSpPr/>
          <p:nvPr/>
        </p:nvSpPr>
        <p:spPr>
          <a:xfrm>
            <a:off x="1531803" y="3779581"/>
            <a:ext cx="62545" cy="39045"/>
          </a:xfrm>
          <a:prstGeom prst="rect">
            <a:avLst/>
          </a:prstGeom>
          <a:solidFill>
            <a:srgbClr val="C0451A"/>
          </a:solidFill>
          <a:ln/>
        </p:spPr>
      </p:sp>
      <p:sp>
        <p:nvSpPr>
          <p:cNvPr id="18" name="Text 16"/>
          <p:cNvSpPr txBox="1"/>
          <p:nvPr/>
        </p:nvSpPr>
        <p:spPr>
          <a:xfrm>
            <a:off x="1688074" y="3714201"/>
            <a:ext cx="4390949" cy="216896"/>
          </a:xfrm>
          <a:prstGeom prst="rect">
            <a:avLst/>
          </a:prstGeom>
          <a:noFill/>
          <a:ln/>
        </p:spPr>
        <p:txBody>
          <a:bodyPr wrap="non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9.663 M parameters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a third of Restormer's, a twelfth of NAFNet's. </a:t>
            </a:r>
            <a:pPr algn="l" indent="0" marL="0">
              <a:lnSpc>
                <a:spcPts val="1708"/>
              </a:lnSpc>
              <a:buNone/>
            </a:pPr>
            <a:r>
              <a:rPr kern="0" lang="en-US" sz="842" b="1" dirty="0">
                <a:solidFill>
                  <a:srgbClr val="C0451A"/>
                </a:solidFill>
                <a:latin typeface="Calibri" pitchFamily="34" charset="0"/>
                <a:ea typeface="Calibri" pitchFamily="34" charset="-122"/>
                <a:cs typeface="Calibri" pitchFamily="34" charset="-120"/>
              </a:rPr>
              <a:t>[2]</a:t>
            </a:r>
            <a:endParaRPr lang="en-US" sz="1138" dirty="0"/>
          </a:p>
        </p:txBody>
      </p:sp>
      <p:sp>
        <p:nvSpPr>
          <p:cNvPr id="19" name="Shape 17"/>
          <p:cNvSpPr/>
          <p:nvPr/>
        </p:nvSpPr>
        <p:spPr>
          <a:xfrm>
            <a:off x="6752295" y="1161928"/>
            <a:ext cx="4876678" cy="15636"/>
          </a:xfrm>
          <a:prstGeom prst="rect">
            <a:avLst/>
          </a:prstGeom>
          <a:solidFill>
            <a:srgbClr val="C0451A"/>
          </a:solidFill>
          <a:ln/>
        </p:spPr>
      </p:sp>
      <p:sp>
        <p:nvSpPr>
          <p:cNvPr id="20" name="Text 18"/>
          <p:cNvSpPr txBox="1"/>
          <p:nvPr/>
        </p:nvSpPr>
        <p:spPr>
          <a:xfrm>
            <a:off x="6752295" y="1306678"/>
            <a:ext cx="2811231" cy="202905"/>
          </a:xfrm>
          <a:prstGeom prst="rect">
            <a:avLst/>
          </a:prstGeom>
          <a:noFill/>
          <a:ln/>
        </p:spPr>
        <p:txBody>
          <a:bodyPr wrap="none" lIns="0" tIns="0" rIns="0" bIns="0" rtlCol="0" anchor="t"/>
          <a:lstStyle/>
          <a:p>
            <a:pPr algn="l" indent="0" marL="0">
              <a:lnSpc>
                <a:spcPts val="1598"/>
              </a:lnSpc>
              <a:buNone/>
            </a:pPr>
            <a:r>
              <a:rPr lang="en-US" sz="1354" b="1" spc="-25" kern="0" dirty="0">
                <a:solidFill>
                  <a:srgbClr val="14120F"/>
                </a:solidFill>
                <a:latin typeface="Cambria" pitchFamily="34" charset="0"/>
                <a:ea typeface="Cambria" pitchFamily="34" charset="-122"/>
                <a:cs typeface="Cambria" pitchFamily="34" charset="-120"/>
              </a:rPr>
              <a:t>Half two — the degradation model</a:t>
            </a:r>
            <a:pPr algn="l" indent="0" marL="0">
              <a:lnSpc>
                <a:spcPts val="1598"/>
              </a:lnSpc>
              <a:buNone/>
            </a:pPr>
            <a:r>
              <a:rPr lang="en-US" sz="1002" b="1" spc="-25" kern="0" dirty="0">
                <a:solidFill>
                  <a:srgbClr val="C0451A"/>
                </a:solidFill>
                <a:latin typeface="Cambria" pitchFamily="34" charset="0"/>
                <a:ea typeface="Cambria" pitchFamily="34" charset="-122"/>
                <a:cs typeface="Cambria" pitchFamily="34" charset="-120"/>
              </a:rPr>
              <a:t>[1]</a:t>
            </a:r>
            <a:endParaRPr lang="en-US" sz="1354" dirty="0"/>
          </a:p>
        </p:txBody>
      </p:sp>
      <p:sp>
        <p:nvSpPr>
          <p:cNvPr id="21" name="Shape 19"/>
          <p:cNvSpPr/>
          <p:nvPr/>
        </p:nvSpPr>
        <p:spPr>
          <a:xfrm>
            <a:off x="6752295" y="1669512"/>
            <a:ext cx="62545" cy="39045"/>
          </a:xfrm>
          <a:prstGeom prst="rect">
            <a:avLst/>
          </a:prstGeom>
          <a:solidFill>
            <a:srgbClr val="C0451A"/>
          </a:solidFill>
          <a:ln/>
        </p:spPr>
      </p:sp>
      <p:sp>
        <p:nvSpPr>
          <p:cNvPr id="22" name="Text 20"/>
          <p:cNvSpPr txBox="1"/>
          <p:nvPr/>
        </p:nvSpPr>
        <p:spPr>
          <a:xfrm>
            <a:off x="6908658" y="1604040"/>
            <a:ext cx="4754880"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premise, bluntly:</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 model trained by AWGN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performs poorly for most of real images due to noise assumption mismatch</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Nevertheless AWGN removal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is fair to test the effectiveness of different network architecture designs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23" name="Shape 21"/>
          <p:cNvSpPr/>
          <p:nvPr/>
        </p:nvSpPr>
        <p:spPr>
          <a:xfrm>
            <a:off x="6752295" y="2445197"/>
            <a:ext cx="62545" cy="39045"/>
          </a:xfrm>
          <a:prstGeom prst="rect">
            <a:avLst/>
          </a:prstGeom>
          <a:solidFill>
            <a:srgbClr val="C0451A"/>
          </a:solidFill>
          <a:ln/>
        </p:spPr>
      </p:sp>
      <p:sp>
        <p:nvSpPr>
          <p:cNvPr id="24" name="Text 22"/>
          <p:cNvSpPr txBox="1"/>
          <p:nvPr/>
        </p:nvSpPr>
        <p:spPr>
          <a:xfrm>
            <a:off x="6908658" y="2379726"/>
            <a:ext cx="4754880"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So synthesise realistic noise.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pipeline samples Gaussian (3-D generalised, with a 3×3 covariance matrix for R/G/B correlation),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Poisson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speckle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JPEG</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and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camera sensor noise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a:t>
            </a:r>
            <a:endParaRPr lang="en-US" sz="1138" dirty="0"/>
          </a:p>
        </p:txBody>
      </p:sp>
      <p:sp>
        <p:nvSpPr>
          <p:cNvPr id="25" name="Shape 23"/>
          <p:cNvSpPr/>
          <p:nvPr/>
        </p:nvSpPr>
        <p:spPr>
          <a:xfrm>
            <a:off x="6752295" y="3220791"/>
            <a:ext cx="62545" cy="39045"/>
          </a:xfrm>
          <a:prstGeom prst="rect">
            <a:avLst/>
          </a:prstGeom>
          <a:solidFill>
            <a:srgbClr val="C0451A"/>
          </a:solidFill>
          <a:ln/>
        </p:spPr>
      </p:sp>
      <p:sp>
        <p:nvSpPr>
          <p:cNvPr id="26" name="Text 24"/>
          <p:cNvSpPr txBox="1"/>
          <p:nvPr/>
        </p:nvSpPr>
        <p:spPr>
          <a:xfrm>
            <a:off x="6908658" y="3155412"/>
            <a:ext cx="4754880"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Sensor noise goes through a real ISP</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invert a clean image to raw, add read and shot noise there, then run demosaicing, white balance, tone mapping and gamma forward.</a:t>
            </a:r>
            <a:endParaRPr lang="en-US" sz="1138" dirty="0"/>
          </a:p>
        </p:txBody>
      </p:sp>
      <p:sp>
        <p:nvSpPr>
          <p:cNvPr id="27" name="Shape 25"/>
          <p:cNvSpPr/>
          <p:nvPr/>
        </p:nvSpPr>
        <p:spPr>
          <a:xfrm>
            <a:off x="6752295" y="3996477"/>
            <a:ext cx="62545" cy="39045"/>
          </a:xfrm>
          <a:prstGeom prst="rect">
            <a:avLst/>
          </a:prstGeom>
          <a:solidFill>
            <a:srgbClr val="C0451A"/>
          </a:solidFill>
          <a:ln/>
        </p:spPr>
      </p:sp>
      <p:sp>
        <p:nvSpPr>
          <p:cNvPr id="28" name="Text 26"/>
          <p:cNvSpPr txBox="1"/>
          <p:nvPr/>
        </p:nvSpPr>
        <p:spPr>
          <a:xfrm>
            <a:off x="6908658" y="3931006"/>
            <a:ext cx="4754880"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Plus resizing, random shuffling and double degradation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because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upscaling would lead AWGN to be spatially correlated</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and real images may be resized or JPEG compressed repeatedly.</a:t>
            </a:r>
            <a:endParaRPr lang="en-US" sz="1138" dirty="0"/>
          </a:p>
        </p:txBody>
      </p:sp>
      <p:sp>
        <p:nvSpPr>
          <p:cNvPr id="29" name="Shape 27"/>
          <p:cNvSpPr/>
          <p:nvPr/>
        </p:nvSpPr>
        <p:spPr>
          <a:xfrm>
            <a:off x="1531803" y="4928433"/>
            <a:ext cx="10097262" cy="15636"/>
          </a:xfrm>
          <a:prstGeom prst="rect">
            <a:avLst/>
          </a:prstGeom>
          <a:solidFill>
            <a:srgbClr val="C0451A"/>
          </a:solidFill>
          <a:ln/>
        </p:spPr>
      </p:sp>
      <p:sp>
        <p:nvSpPr>
          <p:cNvPr id="30" name="Text 28"/>
          <p:cNvSpPr txBox="1"/>
          <p:nvPr/>
        </p:nvSpPr>
        <p:spPr>
          <a:xfrm>
            <a:off x="1531803" y="5067148"/>
            <a:ext cx="10153223" cy="398587"/>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The lesson worth stating.</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Every other paper in Part V competes on the architecture. SCUNet's four contributions include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a hand-designed noise synthesis model, which can be used to train a general-purpose blind image denoising model</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The distribution you train on is a design surface, and it is the one that most directly attacks the AWGN assumption named on slide 7.</a:t>
            </a:r>
            <a:endParaRPr lang="en-US" sz="1046" dirty="0"/>
          </a:p>
        </p:txBody>
      </p:sp>
      <p:sp>
        <p:nvSpPr>
          <p:cNvPr id="31" name="Text 29"/>
          <p:cNvSpPr txBox="1"/>
          <p:nvPr/>
        </p:nvSpPr>
        <p:spPr>
          <a:xfrm>
            <a:off x="7541605" y="6248827"/>
            <a:ext cx="4087368"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SCUNet23 abstract, §1, §3.1, §3.2, Fig. 1 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parameter count [measured], commit 52e440a</a:t>
            </a:r>
            <a:endParaRPr lang="en-US" sz="592" dirty="0"/>
          </a:p>
        </p:txBody>
      </p:sp>
      <p:sp>
        <p:nvSpPr>
          <p:cNvPr id="32" name="Shape 30"/>
          <p:cNvSpPr/>
          <p:nvPr/>
        </p:nvSpPr>
        <p:spPr>
          <a:xfrm>
            <a:off x="1531803" y="6537411"/>
            <a:ext cx="10097262" cy="7772"/>
          </a:xfrm>
          <a:prstGeom prst="rect">
            <a:avLst/>
          </a:prstGeom>
          <a:solidFill>
            <a:srgbClr val="C9C4B9"/>
          </a:solidFill>
          <a:ln/>
        </p:spPr>
      </p:sp>
      <p:sp>
        <p:nvSpPr>
          <p:cNvPr id="33" name="Shape 31"/>
          <p:cNvSpPr/>
          <p:nvPr/>
        </p:nvSpPr>
        <p:spPr>
          <a:xfrm>
            <a:off x="9385310" y="6525707"/>
            <a:ext cx="1683228" cy="31272"/>
          </a:xfrm>
          <a:prstGeom prst="rect">
            <a:avLst/>
          </a:prstGeom>
          <a:solidFill>
            <a:srgbClr val="C0451A"/>
          </a:solidFill>
          <a:ln/>
        </p:spPr>
      </p:sp>
      <p:sp>
        <p:nvSpPr>
          <p:cNvPr id="34" name="Shape 32"/>
          <p:cNvSpPr/>
          <p:nvPr/>
        </p:nvSpPr>
        <p:spPr>
          <a:xfrm>
            <a:off x="1531803" y="6498366"/>
            <a:ext cx="7772" cy="39045"/>
          </a:xfrm>
          <a:prstGeom prst="rect">
            <a:avLst/>
          </a:prstGeom>
          <a:solidFill>
            <a:srgbClr val="C9C4B9"/>
          </a:solidFill>
          <a:ln/>
        </p:spPr>
      </p:sp>
      <p:sp>
        <p:nvSpPr>
          <p:cNvPr id="35" name="Text 33"/>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6" name="Shape 34"/>
          <p:cNvSpPr/>
          <p:nvPr/>
        </p:nvSpPr>
        <p:spPr>
          <a:xfrm>
            <a:off x="5458511" y="6498366"/>
            <a:ext cx="7772" cy="39045"/>
          </a:xfrm>
          <a:prstGeom prst="rect">
            <a:avLst/>
          </a:prstGeom>
          <a:solidFill>
            <a:srgbClr val="C9C4B9"/>
          </a:solidFill>
          <a:ln/>
        </p:spPr>
      </p:sp>
      <p:sp>
        <p:nvSpPr>
          <p:cNvPr id="37" name="Text 35"/>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8" name="Shape 36"/>
          <p:cNvSpPr/>
          <p:nvPr/>
        </p:nvSpPr>
        <p:spPr>
          <a:xfrm>
            <a:off x="7141738" y="6498366"/>
            <a:ext cx="7772" cy="39045"/>
          </a:xfrm>
          <a:prstGeom prst="rect">
            <a:avLst/>
          </a:prstGeom>
          <a:solidFill>
            <a:srgbClr val="C9C4B9"/>
          </a:solidFill>
          <a:ln/>
        </p:spPr>
      </p:sp>
      <p:sp>
        <p:nvSpPr>
          <p:cNvPr id="39" name="Text 37"/>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40" name="Shape 38"/>
          <p:cNvSpPr/>
          <p:nvPr/>
        </p:nvSpPr>
        <p:spPr>
          <a:xfrm>
            <a:off x="9945654" y="6498366"/>
            <a:ext cx="7772" cy="39045"/>
          </a:xfrm>
          <a:prstGeom prst="rect">
            <a:avLst/>
          </a:prstGeom>
          <a:solidFill>
            <a:srgbClr val="C9C4B9"/>
          </a:solidFill>
          <a:ln/>
        </p:spPr>
      </p:sp>
      <p:sp>
        <p:nvSpPr>
          <p:cNvPr id="41" name="Text 39"/>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42" name="Shape 40"/>
          <p:cNvSpPr/>
          <p:nvPr/>
        </p:nvSpPr>
        <p:spPr>
          <a:xfrm>
            <a:off x="11628973" y="6498366"/>
            <a:ext cx="7772" cy="39045"/>
          </a:xfrm>
          <a:prstGeom prst="rect">
            <a:avLst/>
          </a:prstGeom>
          <a:solidFill>
            <a:srgbClr val="C9C4B9"/>
          </a:solidFill>
          <a:ln/>
        </p:spPr>
      </p:sp>
      <p:sp>
        <p:nvSpPr>
          <p:cNvPr id="43" name="Text 41"/>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99593"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60</a:t>
            </a:r>
            <a:endParaRPr lang="en-US" sz="2708" dirty="0"/>
          </a:p>
        </p:txBody>
      </p:sp>
      <p:sp>
        <p:nvSpPr>
          <p:cNvPr id="3" name="Text 1"/>
          <p:cNvSpPr txBox="1"/>
          <p:nvPr/>
        </p:nvSpPr>
        <p:spPr>
          <a:xfrm rot="16200000">
            <a:off x="-360731" y="3428909"/>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461132"/>
            <a:ext cx="203180" cy="23409"/>
          </a:xfrm>
          <a:prstGeom prst="rect">
            <a:avLst/>
          </a:prstGeom>
          <a:solidFill>
            <a:srgbClr val="C0451A"/>
          </a:solidFill>
          <a:ln/>
        </p:spPr>
      </p:sp>
      <p:sp>
        <p:nvSpPr>
          <p:cNvPr id="5" name="Text 3"/>
          <p:cNvSpPr txBox="1"/>
          <p:nvPr/>
        </p:nvSpPr>
        <p:spPr>
          <a:xfrm>
            <a:off x="1828800" y="408462"/>
            <a:ext cx="1422989"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MAMBAIR, PART 1 OF 2</a:t>
            </a:r>
            <a:endParaRPr lang="en-US" sz="831" dirty="0"/>
          </a:p>
        </p:txBody>
      </p:sp>
      <p:sp>
        <p:nvSpPr>
          <p:cNvPr id="6" name="Text 4"/>
          <p:cNvSpPr txBox="1"/>
          <p:nvPr/>
        </p:nvSpPr>
        <p:spPr>
          <a:xfrm>
            <a:off x="1531803" y="646024"/>
            <a:ext cx="8303301"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State-space models — a third answer to bottleneck 3</a:t>
            </a:r>
            <a:endParaRPr lang="en-US" sz="2831" dirty="0"/>
          </a:p>
        </p:txBody>
      </p:sp>
      <p:sp>
        <p:nvSpPr>
          <p:cNvPr id="7" name="Text 5"/>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Guo, Li, Dai, Ouyang, Ren and Xia, ECCV 2024 (Tsinghua Shenzhen / Shenzhen University / ByteDance). If attention is quadratic and windowed attention surrenders globality, borrow a mechanism from control theory that is global </a:t>
            </a:r>
            <a:pPr algn="l" indent="0" marL="0">
              <a:lnSpc>
                <a:spcPts val="1846"/>
              </a:lnSpc>
              <a:buNone/>
            </a:pPr>
            <a:r>
              <a:rPr kern="0" lang="en-US" sz="1231" i="1" dirty="0">
                <a:solidFill>
                  <a:srgbClr val="5A554D"/>
                </a:solidFill>
                <a:latin typeface="Calibri" pitchFamily="34" charset="0"/>
                <a:ea typeface="Calibri" pitchFamily="34" charset="-122"/>
                <a:cs typeface="Calibri" pitchFamily="34" charset="-120"/>
              </a:rPr>
              <a:t>and</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linear.</a:t>
            </a:r>
            <a:endParaRPr lang="en-US" sz="1231" dirty="0"/>
          </a:p>
        </p:txBody>
      </p:sp>
      <p:sp>
        <p:nvSpPr>
          <p:cNvPr id="8" name="Shape 6"/>
          <p:cNvSpPr/>
          <p:nvPr/>
        </p:nvSpPr>
        <p:spPr>
          <a:xfrm>
            <a:off x="3091769" y="2084100"/>
            <a:ext cx="6977146" cy="2188251"/>
          </a:xfrm>
          <a:prstGeom prst="rect">
            <a:avLst/>
          </a:prstGeom>
          <a:solidFill>
            <a:srgbClr val="FFFFFF"/>
          </a:solidFill>
          <a:ln/>
          <a:effectLst>
            <a:outerShdw sx="100000" sy="100000" kx="0" ky="0" algn="bl" rotWithShape="0" blurRad="23445" dist="7816" dir="5400000">
              <a:srgbClr val="14120F">
                <a:alpha val="12000"/>
              </a:srgbClr>
            </a:outerShdw>
          </a:effectLst>
        </p:spPr>
      </p:sp>
      <p:sp>
        <p:nvSpPr>
          <p:cNvPr id="9" name="Shape 7"/>
          <p:cNvSpPr/>
          <p:nvPr/>
        </p:nvSpPr>
        <p:spPr>
          <a:xfrm>
            <a:off x="3091769" y="2084100"/>
            <a:ext cx="6977146" cy="7772"/>
          </a:xfrm>
          <a:prstGeom prst="rect">
            <a:avLst/>
          </a:prstGeom>
          <a:solidFill>
            <a:srgbClr val="C9C4B9"/>
          </a:solidFill>
          <a:ln/>
        </p:spPr>
      </p:sp>
      <p:sp>
        <p:nvSpPr>
          <p:cNvPr id="10" name="Shape 8"/>
          <p:cNvSpPr/>
          <p:nvPr/>
        </p:nvSpPr>
        <p:spPr>
          <a:xfrm>
            <a:off x="3091769" y="4264487"/>
            <a:ext cx="6977146" cy="7772"/>
          </a:xfrm>
          <a:prstGeom prst="rect">
            <a:avLst/>
          </a:prstGeom>
          <a:solidFill>
            <a:srgbClr val="C9C4B9"/>
          </a:solidFill>
          <a:ln/>
        </p:spPr>
      </p:sp>
      <p:sp>
        <p:nvSpPr>
          <p:cNvPr id="11" name="Shape 9"/>
          <p:cNvSpPr/>
          <p:nvPr/>
        </p:nvSpPr>
        <p:spPr>
          <a:xfrm>
            <a:off x="3091769" y="2084100"/>
            <a:ext cx="7772" cy="2188251"/>
          </a:xfrm>
          <a:prstGeom prst="rect">
            <a:avLst/>
          </a:prstGeom>
          <a:solidFill>
            <a:srgbClr val="C9C4B9"/>
          </a:solidFill>
          <a:ln/>
        </p:spPr>
      </p:sp>
      <p:sp>
        <p:nvSpPr>
          <p:cNvPr id="12" name="Shape 10"/>
          <p:cNvSpPr/>
          <p:nvPr/>
        </p:nvSpPr>
        <p:spPr>
          <a:xfrm>
            <a:off x="10061052" y="2084100"/>
            <a:ext cx="7772" cy="2188251"/>
          </a:xfrm>
          <a:prstGeom prst="rect">
            <a:avLst/>
          </a:prstGeom>
          <a:solidFill>
            <a:srgbClr val="C9C4B9"/>
          </a:solidFill>
          <a:ln/>
        </p:spPr>
      </p:sp>
      <p:pic>
        <p:nvPicPr>
          <p:cNvPr id="13" name="Image 0" descr="Effective receptive field, visualised: CNN backbones (EDSR, RCAN) stay tightly local, Transformers (SwinIR, HAT) spread further, and the Mamba-based backbone activates the widest, most global field.">    </p:cNvPr>
          <p:cNvPicPr>
            <a:picLocks noChangeAspect="1"/>
          </p:cNvPicPr>
          <p:nvPr/>
        </p:nvPicPr>
        <p:blipFill>
          <a:blip r:embed="rId1"/>
          <a:stretch>
            <a:fillRect/>
          </a:stretch>
        </p:blipFill>
        <p:spPr>
          <a:xfrm>
            <a:off x="3208995" y="2201327"/>
            <a:ext cx="6742694" cy="1953798"/>
          </a:xfrm>
          <a:prstGeom prst="rect">
            <a:avLst/>
          </a:prstGeom>
        </p:spPr>
      </p:pic>
      <p:sp>
        <p:nvSpPr>
          <p:cNvPr id="14" name="Text 11"/>
          <p:cNvSpPr txBox="1"/>
          <p:nvPr/>
        </p:nvSpPr>
        <p:spPr>
          <a:xfrm>
            <a:off x="3041660" y="4379427"/>
            <a:ext cx="7077456" cy="306324"/>
          </a:xfrm>
          <a:prstGeom prst="rect">
            <a:avLst/>
          </a:prstGeom>
          <a:noFill/>
          <a:ln/>
        </p:spPr>
        <p:txBody>
          <a:bodyPr wrap="square" lIns="0" tIns="0" rIns="0" bIns="0" rtlCol="0" anchor="t"/>
          <a:lstStyle/>
          <a:p>
            <a:pPr algn="ctr" indent="0" marL="0">
              <a:lnSpc>
                <a:spcPts val="1206"/>
              </a:lnSpc>
              <a:buNone/>
            </a:pPr>
            <a:r>
              <a:rPr kern="0" lang="en-US" sz="862" i="1" dirty="0">
                <a:solidFill>
                  <a:srgbClr val="8A847A"/>
                </a:solidFill>
                <a:latin typeface="Calibri" pitchFamily="34" charset="0"/>
                <a:ea typeface="Calibri" pitchFamily="34" charset="-122"/>
                <a:cs typeface="Calibri" pitchFamily="34" charset="-120"/>
              </a:rPr>
              <a:t>Effective receptive field, visualised: CNN backbones (EDSR, RCAN) stay tightly local, Transformers (SwinIR, HAT) spread further, and the Mamba-based backbone activates the widest, most global field. [MambaIR24 · Fig. 1]</a:t>
            </a:r>
            <a:endParaRPr lang="en-US" sz="862" dirty="0"/>
          </a:p>
        </p:txBody>
      </p:sp>
      <p:sp>
        <p:nvSpPr>
          <p:cNvPr id="15" name="Shape 12"/>
          <p:cNvSpPr/>
          <p:nvPr/>
        </p:nvSpPr>
        <p:spPr>
          <a:xfrm>
            <a:off x="1531803" y="4891217"/>
            <a:ext cx="10097262" cy="907816"/>
          </a:xfrm>
          <a:prstGeom prst="rect">
            <a:avLst/>
          </a:prstGeom>
          <a:solidFill>
            <a:srgbClr val="F6ECE7"/>
          </a:solidFill>
          <a:ln/>
        </p:spPr>
      </p:sp>
      <p:sp>
        <p:nvSpPr>
          <p:cNvPr id="16" name="Shape 13"/>
          <p:cNvSpPr/>
          <p:nvPr/>
        </p:nvSpPr>
        <p:spPr>
          <a:xfrm>
            <a:off x="1531803" y="4891217"/>
            <a:ext cx="31272" cy="907816"/>
          </a:xfrm>
          <a:prstGeom prst="rect">
            <a:avLst/>
          </a:prstGeom>
          <a:solidFill>
            <a:srgbClr val="C0451A"/>
          </a:solidFill>
          <a:ln/>
        </p:spPr>
      </p:sp>
      <p:pic>
        <p:nvPicPr>
          <p:cNvPr id="17" name="Image 1" descr="h'(t) \;=\; A\,h(t) + B\,x(t), \qquad y(t) \;=\; C\,h(t) + D\,x(t)">    </p:cNvPr>
          <p:cNvPicPr>
            <a:picLocks noChangeAspect="1"/>
          </p:cNvPicPr>
          <p:nvPr/>
        </p:nvPicPr>
        <p:blipFill>
          <a:blip r:embed="rId2"/>
          <a:stretch>
            <a:fillRect/>
          </a:stretch>
        </p:blipFill>
        <p:spPr>
          <a:xfrm>
            <a:off x="1750619" y="5024079"/>
            <a:ext cx="7391370" cy="390540"/>
          </a:xfrm>
          <a:prstGeom prst="rect">
            <a:avLst/>
          </a:prstGeom>
        </p:spPr>
      </p:pic>
      <p:sp>
        <p:nvSpPr>
          <p:cNvPr id="18" name="Text 14"/>
          <p:cNvSpPr txBox="1"/>
          <p:nvPr/>
        </p:nvSpPr>
        <p:spPr>
          <a:xfrm>
            <a:off x="1750619" y="5491978"/>
            <a:ext cx="6499464" cy="173462"/>
          </a:xfrm>
          <a:prstGeom prst="rect">
            <a:avLst/>
          </a:prstGeom>
          <a:noFill/>
          <a:ln/>
        </p:spPr>
        <p:txBody>
          <a:bodyPr wrap="none" lIns="0" tIns="0" rIns="0" bIns="0" rtlCol="0" anchor="t"/>
          <a:lstStyle/>
          <a:p>
            <a:pPr algn="l" indent="0" marL="0">
              <a:lnSpc>
                <a:spcPts val="1366"/>
              </a:lnSpc>
              <a:buNone/>
            </a:pPr>
            <a:r>
              <a:rPr kern="0" lang="en-US" sz="923" i="1" dirty="0">
                <a:solidFill>
                  <a:srgbClr val="5A554D"/>
                </a:solidFill>
                <a:latin typeface="Calibri" pitchFamily="34" charset="0"/>
                <a:ea typeface="Calibri" pitchFamily="34" charset="-122"/>
                <a:cs typeface="Calibri" pitchFamily="34" charset="-120"/>
              </a:rPr>
              <a:t>a continuous linear time-invariant system — the S4 formulation. N is the state size; A ∈ R^{N×N}, B ∈ R^{N×1}, C ∈ R^{1×N}, D ∈ R</a:t>
            </a:r>
            <a:endParaRPr lang="en-US" sz="923" dirty="0"/>
          </a:p>
        </p:txBody>
      </p:sp>
      <p:sp>
        <p:nvSpPr>
          <p:cNvPr id="19" name="Text 15"/>
          <p:cNvSpPr txBox="1"/>
          <p:nvPr/>
        </p:nvSpPr>
        <p:spPr>
          <a:xfrm>
            <a:off x="9877806" y="6237031"/>
            <a:ext cx="1751167"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MambaIR24 §3.1, Eq. (1)–(4), §4.3, Fig. 5</a:t>
            </a:r>
            <a:endParaRPr lang="en-US" sz="800" dirty="0"/>
          </a:p>
        </p:txBody>
      </p:sp>
      <p:sp>
        <p:nvSpPr>
          <p:cNvPr id="20" name="Shape 16"/>
          <p:cNvSpPr/>
          <p:nvPr/>
        </p:nvSpPr>
        <p:spPr>
          <a:xfrm>
            <a:off x="1531803" y="6537411"/>
            <a:ext cx="10097262" cy="7772"/>
          </a:xfrm>
          <a:prstGeom prst="rect">
            <a:avLst/>
          </a:prstGeom>
          <a:solidFill>
            <a:srgbClr val="C9C4B9"/>
          </a:solidFill>
          <a:ln/>
        </p:spPr>
      </p:sp>
      <p:sp>
        <p:nvSpPr>
          <p:cNvPr id="21" name="Shape 17"/>
          <p:cNvSpPr/>
          <p:nvPr/>
        </p:nvSpPr>
        <p:spPr>
          <a:xfrm>
            <a:off x="9385310" y="6525707"/>
            <a:ext cx="1683228" cy="31272"/>
          </a:xfrm>
          <a:prstGeom prst="rect">
            <a:avLst/>
          </a:prstGeom>
          <a:solidFill>
            <a:srgbClr val="C0451A"/>
          </a:solidFill>
          <a:ln/>
        </p:spPr>
      </p:sp>
      <p:sp>
        <p:nvSpPr>
          <p:cNvPr id="22" name="Shape 18"/>
          <p:cNvSpPr/>
          <p:nvPr/>
        </p:nvSpPr>
        <p:spPr>
          <a:xfrm>
            <a:off x="1531803" y="6498366"/>
            <a:ext cx="7772" cy="39045"/>
          </a:xfrm>
          <a:prstGeom prst="rect">
            <a:avLst/>
          </a:prstGeom>
          <a:solidFill>
            <a:srgbClr val="C9C4B9"/>
          </a:solidFill>
          <a:ln/>
        </p:spPr>
      </p:sp>
      <p:sp>
        <p:nvSpPr>
          <p:cNvPr id="23" name="Text 19"/>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4" name="Shape 20"/>
          <p:cNvSpPr/>
          <p:nvPr/>
        </p:nvSpPr>
        <p:spPr>
          <a:xfrm>
            <a:off x="5458511" y="6498366"/>
            <a:ext cx="7772" cy="39045"/>
          </a:xfrm>
          <a:prstGeom prst="rect">
            <a:avLst/>
          </a:prstGeom>
          <a:solidFill>
            <a:srgbClr val="C9C4B9"/>
          </a:solidFill>
          <a:ln/>
        </p:spPr>
      </p:sp>
      <p:sp>
        <p:nvSpPr>
          <p:cNvPr id="25" name="Text 21"/>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26" name="Shape 22"/>
          <p:cNvSpPr/>
          <p:nvPr/>
        </p:nvSpPr>
        <p:spPr>
          <a:xfrm>
            <a:off x="7141738" y="6498366"/>
            <a:ext cx="7772" cy="39045"/>
          </a:xfrm>
          <a:prstGeom prst="rect">
            <a:avLst/>
          </a:prstGeom>
          <a:solidFill>
            <a:srgbClr val="C9C4B9"/>
          </a:solidFill>
          <a:ln/>
        </p:spPr>
      </p:sp>
      <p:sp>
        <p:nvSpPr>
          <p:cNvPr id="27" name="Text 23"/>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8" name="Shape 24"/>
          <p:cNvSpPr/>
          <p:nvPr/>
        </p:nvSpPr>
        <p:spPr>
          <a:xfrm>
            <a:off x="9945654" y="6498366"/>
            <a:ext cx="7772" cy="39045"/>
          </a:xfrm>
          <a:prstGeom prst="rect">
            <a:avLst/>
          </a:prstGeom>
          <a:solidFill>
            <a:srgbClr val="C9C4B9"/>
          </a:solidFill>
          <a:ln/>
        </p:spPr>
      </p:sp>
      <p:sp>
        <p:nvSpPr>
          <p:cNvPr id="29" name="Text 25"/>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0" name="Shape 26"/>
          <p:cNvSpPr/>
          <p:nvPr/>
        </p:nvSpPr>
        <p:spPr>
          <a:xfrm>
            <a:off x="11628973" y="6498366"/>
            <a:ext cx="7772" cy="39045"/>
          </a:xfrm>
          <a:prstGeom prst="rect">
            <a:avLst/>
          </a:prstGeom>
          <a:solidFill>
            <a:srgbClr val="C9C4B9"/>
          </a:solidFill>
          <a:ln/>
        </p:spPr>
      </p:sp>
      <p:sp>
        <p:nvSpPr>
          <p:cNvPr id="31" name="Text 27"/>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6933"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60</a:t>
            </a:r>
            <a:endParaRPr lang="en-US" sz="2893" dirty="0"/>
          </a:p>
        </p:txBody>
      </p:sp>
      <p:sp>
        <p:nvSpPr>
          <p:cNvPr id="3" name="Text 1"/>
          <p:cNvSpPr txBox="1"/>
          <p:nvPr/>
        </p:nvSpPr>
        <p:spPr>
          <a:xfrm rot="16200000">
            <a:off x="-385420" y="3428909"/>
            <a:ext cx="1002091"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C0451A"/>
                </a:solidFill>
                <a:latin typeface="Calibri" pitchFamily="34" charset="0"/>
                <a:ea typeface="Calibri" pitchFamily="34" charset="-122"/>
                <a:cs typeface="Calibri" pitchFamily="34" charset="-120"/>
              </a:rPr>
              <a:t>ARCHITECTURE</a:t>
            </a:r>
            <a:endParaRPr lang="en-US" sz="789" dirty="0"/>
          </a:p>
        </p:txBody>
      </p:sp>
      <p:sp>
        <p:nvSpPr>
          <p:cNvPr id="4" name="Shape 2"/>
          <p:cNvSpPr/>
          <p:nvPr/>
        </p:nvSpPr>
        <p:spPr>
          <a:xfrm>
            <a:off x="1636685" y="492679"/>
            <a:ext cx="217079" cy="25055"/>
          </a:xfrm>
          <a:prstGeom prst="rect">
            <a:avLst/>
          </a:prstGeom>
          <a:solidFill>
            <a:srgbClr val="C0451A"/>
          </a:solidFill>
          <a:ln/>
        </p:spPr>
      </p:sp>
      <p:sp>
        <p:nvSpPr>
          <p:cNvPr id="5" name="Text 3"/>
          <p:cNvSpPr txBox="1"/>
          <p:nvPr/>
        </p:nvSpPr>
        <p:spPr>
          <a:xfrm>
            <a:off x="1953981" y="436443"/>
            <a:ext cx="1520464"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MAMBAIR, PART 1 OF 2</a:t>
            </a:r>
            <a:endParaRPr lang="en-US" sz="888" dirty="0"/>
          </a:p>
        </p:txBody>
      </p:sp>
      <p:sp>
        <p:nvSpPr>
          <p:cNvPr id="6" name="Text 4"/>
          <p:cNvSpPr txBox="1"/>
          <p:nvPr/>
        </p:nvSpPr>
        <p:spPr>
          <a:xfrm>
            <a:off x="3516234"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887205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State-space models — a third answer to bottleneck 3</a:t>
            </a:r>
            <a:endParaRPr lang="en-US" sz="3025" dirty="0"/>
          </a:p>
        </p:txBody>
      </p:sp>
      <p:sp>
        <p:nvSpPr>
          <p:cNvPr id="8" name="Shape 6"/>
          <p:cNvSpPr/>
          <p:nvPr/>
        </p:nvSpPr>
        <p:spPr>
          <a:xfrm>
            <a:off x="1636685" y="1241481"/>
            <a:ext cx="9953793" cy="1032723"/>
          </a:xfrm>
          <a:prstGeom prst="rect">
            <a:avLst/>
          </a:prstGeom>
          <a:solidFill>
            <a:srgbClr val="F6ECE7"/>
          </a:solidFill>
          <a:ln/>
        </p:spPr>
      </p:sp>
      <p:sp>
        <p:nvSpPr>
          <p:cNvPr id="9" name="Shape 7"/>
          <p:cNvSpPr/>
          <p:nvPr/>
        </p:nvSpPr>
        <p:spPr>
          <a:xfrm>
            <a:off x="1636685" y="1241481"/>
            <a:ext cx="33376" cy="1032723"/>
          </a:xfrm>
          <a:prstGeom prst="rect">
            <a:avLst/>
          </a:prstGeom>
          <a:solidFill>
            <a:srgbClr val="C0451A"/>
          </a:solidFill>
          <a:ln/>
        </p:spPr>
      </p:sp>
      <p:pic>
        <p:nvPicPr>
          <p:cNvPr id="10" name="Image 0" descr="\bar{A} = \exp(\Delta A), \qquad \bar{B} = (\Delta A)^{-1}\big(\exp(A) - I\big)\cdot \Delta B">    </p:cNvPr>
          <p:cNvPicPr>
            <a:picLocks noChangeAspect="1"/>
          </p:cNvPicPr>
          <p:nvPr/>
        </p:nvPicPr>
        <p:blipFill>
          <a:blip r:embed="rId1"/>
          <a:stretch>
            <a:fillRect/>
          </a:stretch>
        </p:blipFill>
        <p:spPr>
          <a:xfrm>
            <a:off x="1870497" y="1383396"/>
            <a:ext cx="7609271" cy="480060"/>
          </a:xfrm>
          <a:prstGeom prst="rect">
            <a:avLst/>
          </a:prstGeom>
        </p:spPr>
      </p:pic>
      <p:sp>
        <p:nvSpPr>
          <p:cNvPr id="11" name="Text 8"/>
          <p:cNvSpPr txBox="1"/>
          <p:nvPr/>
        </p:nvSpPr>
        <p:spPr>
          <a:xfrm>
            <a:off x="1870497" y="1946118"/>
            <a:ext cx="4214287" cy="185349"/>
          </a:xfrm>
          <a:prstGeom prst="rect">
            <a:avLst/>
          </a:prstGeom>
          <a:noFill/>
          <a:ln/>
        </p:spPr>
        <p:txBody>
          <a:bodyPr wrap="none" lIns="0" tIns="0" rIns="0" bIns="0" rtlCol="0" anchor="t"/>
          <a:lstStyle/>
          <a:p>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Δ is the timescale parameter converting the continuous system to a discrete one</a:t>
            </a:r>
            <a:endParaRPr lang="en-US" sz="986" dirty="0"/>
          </a:p>
        </p:txBody>
      </p:sp>
      <p:sp>
        <p:nvSpPr>
          <p:cNvPr id="12" name="Shape 9"/>
          <p:cNvSpPr/>
          <p:nvPr/>
        </p:nvSpPr>
        <p:spPr>
          <a:xfrm>
            <a:off x="1636685" y="2399477"/>
            <a:ext cx="9953793" cy="859445"/>
          </a:xfrm>
          <a:prstGeom prst="rect">
            <a:avLst/>
          </a:prstGeom>
          <a:solidFill>
            <a:srgbClr val="F6ECE7"/>
          </a:solidFill>
          <a:ln/>
        </p:spPr>
      </p:sp>
      <p:sp>
        <p:nvSpPr>
          <p:cNvPr id="13" name="Shape 10"/>
          <p:cNvSpPr/>
          <p:nvPr/>
        </p:nvSpPr>
        <p:spPr>
          <a:xfrm>
            <a:off x="1636685" y="2399477"/>
            <a:ext cx="33376" cy="859445"/>
          </a:xfrm>
          <a:prstGeom prst="rect">
            <a:avLst/>
          </a:prstGeom>
          <a:solidFill>
            <a:srgbClr val="C0451A"/>
          </a:solidFill>
          <a:ln/>
        </p:spPr>
      </p:sp>
      <p:pic>
        <p:nvPicPr>
          <p:cNvPr id="14" name="Image 1" descr="h_{k} = \bar{A}h_{k-1} + \bar{B}x_{k}, \quad y_{k} = C h_{k} + D x_{k}\qquad\Longleftrightarrow\qquad \bar{K} = \big(C\bar{B},\; C\bar{A}\bar{B},\; \ldots,\; C\bar{A}^{L-1}\bar{B}\big),\quad y = x \circledast \bar{K}">    </p:cNvPr>
          <p:cNvPicPr>
            <a:picLocks noChangeAspect="1"/>
          </p:cNvPicPr>
          <p:nvPr/>
        </p:nvPicPr>
        <p:blipFill>
          <a:blip r:embed="rId2"/>
          <a:stretch>
            <a:fillRect/>
          </a:stretch>
        </p:blipFill>
        <p:spPr>
          <a:xfrm>
            <a:off x="1870497" y="2541392"/>
            <a:ext cx="9519544" cy="306781"/>
          </a:xfrm>
          <a:prstGeom prst="rect">
            <a:avLst/>
          </a:prstGeom>
        </p:spPr>
      </p:pic>
      <p:sp>
        <p:nvSpPr>
          <p:cNvPr id="15" name="Text 11"/>
          <p:cNvSpPr txBox="1"/>
          <p:nvPr/>
        </p:nvSpPr>
        <p:spPr>
          <a:xfrm>
            <a:off x="1870497" y="2930835"/>
            <a:ext cx="6980804" cy="185349"/>
          </a:xfrm>
          <a:prstGeom prst="rect">
            <a:avLst/>
          </a:prstGeom>
          <a:noFill/>
          <a:ln/>
        </p:spPr>
        <p:txBody>
          <a:bodyPr wrap="none" lIns="0" tIns="0" rIns="0" bIns="0" rtlCol="0" anchor="t"/>
          <a:lstStyle/>
          <a:p>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the same model in </a:t>
            </a:r>
            <a:pPr algn="l" indent="0" marL="0">
              <a:lnSpc>
                <a:spcPts val="1460"/>
              </a:lnSpc>
              <a:buNone/>
            </a:pPr>
            <a:r>
              <a:rPr kern="0" lang="en-US" sz="986" b="1" i="1" dirty="0">
                <a:solidFill>
                  <a:srgbClr val="14120F"/>
                </a:solidFill>
                <a:latin typeface="Calibri" pitchFamily="34" charset="0"/>
                <a:ea typeface="Calibri" pitchFamily="34" charset="-122"/>
                <a:cs typeface="Calibri" pitchFamily="34" charset="-120"/>
              </a:rPr>
              <a:t>RNN form</a:t>
            </a:r>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 (sequential, O(L) memory of the whole past) and in </a:t>
            </a:r>
            <a:pPr algn="l" indent="0" marL="0">
              <a:lnSpc>
                <a:spcPts val="1460"/>
              </a:lnSpc>
              <a:buNone/>
            </a:pPr>
            <a:r>
              <a:rPr kern="0" lang="en-US" sz="986" b="1" i="1" dirty="0">
                <a:solidFill>
                  <a:srgbClr val="14120F"/>
                </a:solidFill>
                <a:latin typeface="Calibri" pitchFamily="34" charset="0"/>
                <a:ea typeface="Calibri" pitchFamily="34" charset="-122"/>
                <a:cs typeface="Calibri" pitchFamily="34" charset="-120"/>
              </a:rPr>
              <a:t>CNN form</a:t>
            </a:r>
            <a:pPr algn="l" indent="0" marL="0">
              <a:lnSpc>
                <a:spcPts val="1460"/>
              </a:lnSpc>
              <a:buNone/>
            </a:pPr>
            <a:r>
              <a:rPr kern="0" lang="en-US" sz="986" i="1" dirty="0">
                <a:solidFill>
                  <a:srgbClr val="5A554D"/>
                </a:solidFill>
                <a:latin typeface="Calibri" pitchFamily="34" charset="0"/>
                <a:ea typeface="Calibri" pitchFamily="34" charset="-122"/>
                <a:cs typeface="Calibri" pitchFamily="34" charset="-120"/>
              </a:rPr>
              <a:t> (a single long convolution, parallelisable)</a:t>
            </a:r>
            <a:endParaRPr lang="en-US" sz="986" dirty="0"/>
          </a:p>
        </p:txBody>
      </p:sp>
      <p:sp>
        <p:nvSpPr>
          <p:cNvPr id="16" name="Shape 12"/>
          <p:cNvSpPr/>
          <p:nvPr/>
        </p:nvSpPr>
        <p:spPr>
          <a:xfrm>
            <a:off x="1636685" y="3384194"/>
            <a:ext cx="9953793" cy="8321"/>
          </a:xfrm>
          <a:prstGeom prst="rect">
            <a:avLst/>
          </a:prstGeom>
          <a:solidFill>
            <a:srgbClr val="DFDBD2"/>
          </a:solidFill>
          <a:ln/>
        </p:spPr>
      </p:sp>
      <p:sp>
        <p:nvSpPr>
          <p:cNvPr id="17" name="Text 13"/>
          <p:cNvSpPr txBox="1"/>
          <p:nvPr/>
        </p:nvSpPr>
        <p:spPr>
          <a:xfrm>
            <a:off x="1636685" y="3534430"/>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18" name="Text 14"/>
          <p:cNvSpPr txBox="1"/>
          <p:nvPr/>
        </p:nvSpPr>
        <p:spPr>
          <a:xfrm>
            <a:off x="1987448" y="3523000"/>
            <a:ext cx="9854763"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Why the dual form is the trick.</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recurrence gives an unbounded receptive field; the convolutional form allows parallel training. Mamba keeps both.</a:t>
            </a:r>
            <a:endParaRPr lang="en-US" sz="1216" dirty="0"/>
          </a:p>
        </p:txBody>
      </p:sp>
      <p:sp>
        <p:nvSpPr>
          <p:cNvPr id="19" name="Text 15"/>
          <p:cNvSpPr txBox="1"/>
          <p:nvPr/>
        </p:nvSpPr>
        <p:spPr>
          <a:xfrm>
            <a:off x="1636685" y="3899825"/>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20" name="Text 16"/>
          <p:cNvSpPr txBox="1"/>
          <p:nvPr/>
        </p:nvSpPr>
        <p:spPr>
          <a:xfrm>
            <a:off x="1987448" y="3888303"/>
            <a:ext cx="8951244" cy="231709"/>
          </a:xfrm>
          <a:prstGeom prst="rect">
            <a:avLst/>
          </a:prstGeom>
          <a:noFill/>
          <a:ln/>
        </p:spPr>
        <p:txBody>
          <a:bodyPr wrap="non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What Mamba adds over S4.</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B, C and Δ become </a:t>
            </a:r>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input-dependent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giving content-adaptive behaviour rather than one fixed linear system.</a:t>
            </a:r>
            <a:endParaRPr lang="en-US" sz="1216" dirty="0"/>
          </a:p>
        </p:txBody>
      </p:sp>
      <p:sp>
        <p:nvSpPr>
          <p:cNvPr id="21" name="Text 17"/>
          <p:cNvSpPr txBox="1"/>
          <p:nvPr/>
        </p:nvSpPr>
        <p:spPr>
          <a:xfrm>
            <a:off x="1636685" y="4265127"/>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22" name="Text 18"/>
          <p:cNvSpPr txBox="1"/>
          <p:nvPr/>
        </p:nvSpPr>
        <p:spPr>
          <a:xfrm>
            <a:off x="1987448" y="4253697"/>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Complexity</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is linear in sequence length, so linear in pixel count. The full-attention baseline runs out of memory from 48×48 to 84×84; MambaIR scales like windowed attention with a global field.</a:t>
            </a:r>
            <a:endParaRPr lang="en-US" sz="1216" dirty="0"/>
          </a:p>
        </p:txBody>
      </p:sp>
      <p:sp>
        <p:nvSpPr>
          <p:cNvPr id="23" name="Text 19"/>
          <p:cNvSpPr txBox="1"/>
          <p:nvPr/>
        </p:nvSpPr>
        <p:spPr>
          <a:xfrm>
            <a:off x="9719340" y="6194511"/>
            <a:ext cx="1871137"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MambaIR24 §3.1, Eq. (1)–(4), §4.3, Fig. 5</a:t>
            </a:r>
            <a:endParaRPr lang="en-US" sz="855" dirty="0"/>
          </a:p>
        </p:txBody>
      </p:sp>
      <p:sp>
        <p:nvSpPr>
          <p:cNvPr id="24" name="Shape 20"/>
          <p:cNvSpPr/>
          <p:nvPr/>
        </p:nvSpPr>
        <p:spPr>
          <a:xfrm>
            <a:off x="1636685" y="6515466"/>
            <a:ext cx="9953793" cy="8321"/>
          </a:xfrm>
          <a:prstGeom prst="rect">
            <a:avLst/>
          </a:prstGeom>
          <a:solidFill>
            <a:srgbClr val="C9C4B9"/>
          </a:solidFill>
          <a:ln/>
        </p:spPr>
      </p:sp>
      <p:sp>
        <p:nvSpPr>
          <p:cNvPr id="25" name="Shape 21"/>
          <p:cNvSpPr/>
          <p:nvPr/>
        </p:nvSpPr>
        <p:spPr>
          <a:xfrm>
            <a:off x="9378635" y="6502938"/>
            <a:ext cx="1659270" cy="33376"/>
          </a:xfrm>
          <a:prstGeom prst="rect">
            <a:avLst/>
          </a:prstGeom>
          <a:solidFill>
            <a:srgbClr val="C0451A"/>
          </a:solidFill>
          <a:ln/>
        </p:spPr>
      </p:sp>
      <p:sp>
        <p:nvSpPr>
          <p:cNvPr id="26" name="Shape 22"/>
          <p:cNvSpPr/>
          <p:nvPr/>
        </p:nvSpPr>
        <p:spPr>
          <a:xfrm>
            <a:off x="1636685" y="6473678"/>
            <a:ext cx="8321" cy="41788"/>
          </a:xfrm>
          <a:prstGeom prst="rect">
            <a:avLst/>
          </a:prstGeom>
          <a:solidFill>
            <a:srgbClr val="C9C4B9"/>
          </a:solidFill>
          <a:ln/>
        </p:spPr>
      </p:sp>
      <p:sp>
        <p:nvSpPr>
          <p:cNvPr id="27" name="Text 23"/>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8" name="Shape 24"/>
          <p:cNvSpPr/>
          <p:nvPr/>
        </p:nvSpPr>
        <p:spPr>
          <a:xfrm>
            <a:off x="5507706" y="6473678"/>
            <a:ext cx="8321" cy="41788"/>
          </a:xfrm>
          <a:prstGeom prst="rect">
            <a:avLst/>
          </a:prstGeom>
          <a:solidFill>
            <a:srgbClr val="C9C4B9"/>
          </a:solidFill>
          <a:ln/>
        </p:spPr>
      </p:sp>
      <p:sp>
        <p:nvSpPr>
          <p:cNvPr id="29" name="Text 25"/>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30" name="Shape 26"/>
          <p:cNvSpPr/>
          <p:nvPr/>
        </p:nvSpPr>
        <p:spPr>
          <a:xfrm>
            <a:off x="7166884" y="6473678"/>
            <a:ext cx="8321" cy="41788"/>
          </a:xfrm>
          <a:prstGeom prst="rect">
            <a:avLst/>
          </a:prstGeom>
          <a:solidFill>
            <a:srgbClr val="C9C4B9"/>
          </a:solidFill>
          <a:ln/>
        </p:spPr>
      </p:sp>
      <p:sp>
        <p:nvSpPr>
          <p:cNvPr id="31" name="Text 27"/>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2" name="Shape 28"/>
          <p:cNvSpPr/>
          <p:nvPr/>
        </p:nvSpPr>
        <p:spPr>
          <a:xfrm>
            <a:off x="9931024" y="6473678"/>
            <a:ext cx="8321" cy="41788"/>
          </a:xfrm>
          <a:prstGeom prst="rect">
            <a:avLst/>
          </a:prstGeom>
          <a:solidFill>
            <a:srgbClr val="C9C4B9"/>
          </a:solidFill>
          <a:ln/>
        </p:spPr>
      </p:sp>
      <p:sp>
        <p:nvSpPr>
          <p:cNvPr id="33" name="Text 29"/>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4" name="Shape 30"/>
          <p:cNvSpPr/>
          <p:nvPr/>
        </p:nvSpPr>
        <p:spPr>
          <a:xfrm>
            <a:off x="11590477" y="6473678"/>
            <a:ext cx="8321" cy="41788"/>
          </a:xfrm>
          <a:prstGeom prst="rect">
            <a:avLst/>
          </a:prstGeom>
          <a:solidFill>
            <a:srgbClr val="C9C4B9"/>
          </a:solidFill>
          <a:ln/>
        </p:spPr>
      </p:sp>
      <p:sp>
        <p:nvSpPr>
          <p:cNvPr id="35" name="Text 31"/>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31287"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61</a:t>
            </a:r>
            <a:endParaRPr lang="en-US" sz="2400" dirty="0"/>
          </a:p>
        </p:txBody>
      </p:sp>
      <p:sp>
        <p:nvSpPr>
          <p:cNvPr id="3" name="Text 1"/>
          <p:cNvSpPr txBox="1"/>
          <p:nvPr/>
        </p:nvSpPr>
        <p:spPr>
          <a:xfrm rot="16200000">
            <a:off x="-319766" y="3428909"/>
            <a:ext cx="831281" cy="97018"/>
          </a:xfrm>
          <a:prstGeom prst="rect">
            <a:avLst/>
          </a:prstGeom>
          <a:noFill/>
          <a:ln/>
        </p:spPr>
        <p:txBody>
          <a:bodyPr wrap="none" lIns="0" tIns="0" rIns="0" bIns="0" rtlCol="0" anchor="ctr"/>
          <a:lstStyle/>
          <a:p>
            <a:pPr algn="ctr" indent="0" marL="0">
              <a:lnSpc>
                <a:spcPts val="799"/>
              </a:lnSpc>
              <a:buNone/>
            </a:pPr>
            <a:r>
              <a:rPr lang="en-US" sz="655" b="1" spc="164" kern="0" dirty="0">
                <a:solidFill>
                  <a:srgbClr val="C0451A"/>
                </a:solidFill>
                <a:latin typeface="Calibri" pitchFamily="34" charset="0"/>
                <a:ea typeface="Calibri" pitchFamily="34" charset="-122"/>
                <a:cs typeface="Calibri" pitchFamily="34" charset="-120"/>
              </a:rPr>
              <a:t>ARCHITECTURE</a:t>
            </a:r>
            <a:endParaRPr lang="en-US" sz="655" dirty="0"/>
          </a:p>
        </p:txBody>
      </p:sp>
      <p:sp>
        <p:nvSpPr>
          <p:cNvPr id="4" name="Shape 2"/>
          <p:cNvSpPr/>
          <p:nvPr/>
        </p:nvSpPr>
        <p:spPr>
          <a:xfrm>
            <a:off x="1357701" y="408737"/>
            <a:ext cx="180137" cy="20757"/>
          </a:xfrm>
          <a:prstGeom prst="rect">
            <a:avLst/>
          </a:prstGeom>
          <a:solidFill>
            <a:srgbClr val="C0451A"/>
          </a:solidFill>
          <a:ln/>
        </p:spPr>
      </p:sp>
      <p:sp>
        <p:nvSpPr>
          <p:cNvPr id="5" name="Text 3"/>
          <p:cNvSpPr txBox="1"/>
          <p:nvPr/>
        </p:nvSpPr>
        <p:spPr>
          <a:xfrm>
            <a:off x="1620957" y="362011"/>
            <a:ext cx="1261323"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C0451A"/>
                </a:solidFill>
                <a:latin typeface="Calibri" pitchFamily="34" charset="0"/>
                <a:ea typeface="Calibri" pitchFamily="34" charset="-122"/>
                <a:cs typeface="Calibri" pitchFamily="34" charset="-120"/>
              </a:rPr>
              <a:t>MAMBAIR, PART 2 OF 2</a:t>
            </a:r>
            <a:endParaRPr lang="en-US" sz="736" dirty="0"/>
          </a:p>
        </p:txBody>
      </p:sp>
      <p:sp>
        <p:nvSpPr>
          <p:cNvPr id="6" name="Text 4"/>
          <p:cNvSpPr txBox="1"/>
          <p:nvPr/>
        </p:nvSpPr>
        <p:spPr>
          <a:xfrm>
            <a:off x="1357701" y="572597"/>
            <a:ext cx="5925861"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Adapting a sequence model to a 2-D image</a:t>
            </a:r>
            <a:endParaRPr lang="en-US" sz="2509" dirty="0"/>
          </a:p>
        </p:txBody>
      </p:sp>
      <p:sp>
        <p:nvSpPr>
          <p:cNvPr id="7" name="Text 5"/>
          <p:cNvSpPr txBox="1"/>
          <p:nvPr/>
        </p:nvSpPr>
        <p:spPr>
          <a:xfrm>
            <a:off x="1357701" y="1029889"/>
            <a:ext cx="5371734" cy="623438"/>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Mamba was built for text, which is a line. An image is a plane. The paper's contribution is the set of restoration-specific repairs needed to make the transfer work — and it names the two ways it fails without them.</a:t>
            </a:r>
            <a:endParaRPr lang="en-US" sz="1091" dirty="0"/>
          </a:p>
        </p:txBody>
      </p:sp>
      <p:sp>
        <p:nvSpPr>
          <p:cNvPr id="8" name="Shape 6"/>
          <p:cNvSpPr/>
          <p:nvPr/>
        </p:nvSpPr>
        <p:spPr>
          <a:xfrm>
            <a:off x="6525341" y="1847271"/>
            <a:ext cx="6949" cy="3255447"/>
          </a:xfrm>
          <a:prstGeom prst="rect">
            <a:avLst/>
          </a:prstGeom>
          <a:solidFill>
            <a:srgbClr val="DFDBD2"/>
          </a:solidFill>
          <a:ln/>
        </p:spPr>
      </p:sp>
      <p:sp>
        <p:nvSpPr>
          <p:cNvPr id="9" name="Shape 7"/>
          <p:cNvSpPr/>
          <p:nvPr/>
        </p:nvSpPr>
        <p:spPr>
          <a:xfrm>
            <a:off x="1357701" y="1847271"/>
            <a:ext cx="5015210" cy="13899"/>
          </a:xfrm>
          <a:prstGeom prst="rect">
            <a:avLst/>
          </a:prstGeom>
          <a:solidFill>
            <a:srgbClr val="C0451A"/>
          </a:solidFill>
          <a:ln/>
        </p:spPr>
      </p:sp>
      <p:sp>
        <p:nvSpPr>
          <p:cNvPr id="10" name="Text 8"/>
          <p:cNvSpPr txBox="1"/>
          <p:nvPr/>
        </p:nvSpPr>
        <p:spPr>
          <a:xfrm>
            <a:off x="1357701" y="1975561"/>
            <a:ext cx="1668871"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The two failure modes</a:t>
            </a:r>
            <a:pPr algn="l" indent="0" marL="0">
              <a:lnSpc>
                <a:spcPts val="1416"/>
              </a:lnSpc>
              <a:buNone/>
            </a:pPr>
            <a:r>
              <a:rPr lang="en-US" sz="888" b="1" spc="-22" kern="0" dirty="0">
                <a:solidFill>
                  <a:srgbClr val="C0451A"/>
                </a:solidFill>
                <a:latin typeface="Cambria" pitchFamily="34" charset="0"/>
                <a:ea typeface="Cambria" pitchFamily="34" charset="-122"/>
                <a:cs typeface="Cambria" pitchFamily="34" charset="-120"/>
              </a:rPr>
              <a:t>[1]</a:t>
            </a:r>
            <a:endParaRPr lang="en-US" sz="1200" dirty="0"/>
          </a:p>
        </p:txBody>
      </p:sp>
      <p:sp>
        <p:nvSpPr>
          <p:cNvPr id="11" name="Shape 9"/>
          <p:cNvSpPr/>
          <p:nvPr/>
        </p:nvSpPr>
        <p:spPr>
          <a:xfrm>
            <a:off x="1357701" y="2297156"/>
            <a:ext cx="55413" cy="34656"/>
          </a:xfrm>
          <a:prstGeom prst="rect">
            <a:avLst/>
          </a:prstGeom>
          <a:solidFill>
            <a:srgbClr val="C0451A"/>
          </a:solidFill>
          <a:ln/>
        </p:spPr>
      </p:sp>
      <p:sp>
        <p:nvSpPr>
          <p:cNvPr id="12" name="Text 10"/>
          <p:cNvSpPr txBox="1"/>
          <p:nvPr/>
        </p:nvSpPr>
        <p:spPr>
          <a:xfrm>
            <a:off x="1496233" y="2239183"/>
            <a:ext cx="4910054" cy="576712"/>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Local pixel forgetting.</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To run the state-space equation, the feature map must be flattened into a sequence. Two pixels that are vertically adjacent may land hundreds of steps apart in that sequence, so the model forgets its own neighbourhood.</a:t>
            </a:r>
            <a:endParaRPr lang="en-US" sz="1009" dirty="0"/>
          </a:p>
        </p:txBody>
      </p:sp>
      <p:sp>
        <p:nvSpPr>
          <p:cNvPr id="13" name="Shape 11"/>
          <p:cNvSpPr/>
          <p:nvPr/>
        </p:nvSpPr>
        <p:spPr>
          <a:xfrm>
            <a:off x="1357701" y="2984693"/>
            <a:ext cx="55413" cy="34656"/>
          </a:xfrm>
          <a:prstGeom prst="rect">
            <a:avLst/>
          </a:prstGeom>
          <a:solidFill>
            <a:srgbClr val="C0451A"/>
          </a:solidFill>
          <a:ln/>
        </p:spPr>
      </p:sp>
      <p:sp>
        <p:nvSpPr>
          <p:cNvPr id="14" name="Text 12"/>
          <p:cNvSpPr txBox="1"/>
          <p:nvPr/>
        </p:nvSpPr>
        <p:spPr>
          <a:xfrm>
            <a:off x="1496233" y="2926720"/>
            <a:ext cx="4910054" cy="384414"/>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Channel redundancy.</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The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excessive hidden state number</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produces highly redundant channels, wasting capacity.</a:t>
            </a:r>
            <a:endParaRPr lang="en-US" sz="1009" dirty="0"/>
          </a:p>
        </p:txBody>
      </p:sp>
      <p:sp>
        <p:nvSpPr>
          <p:cNvPr id="15" name="Shape 13"/>
          <p:cNvSpPr/>
          <p:nvPr/>
        </p:nvSpPr>
        <p:spPr>
          <a:xfrm>
            <a:off x="1357701" y="3480024"/>
            <a:ext cx="55413" cy="34656"/>
          </a:xfrm>
          <a:prstGeom prst="rect">
            <a:avLst/>
          </a:prstGeom>
          <a:solidFill>
            <a:srgbClr val="C0451A"/>
          </a:solidFill>
          <a:ln/>
        </p:spPr>
      </p:sp>
      <p:sp>
        <p:nvSpPr>
          <p:cNvPr id="16" name="Text 14"/>
          <p:cNvSpPr txBox="1"/>
          <p:nvPr/>
        </p:nvSpPr>
        <p:spPr>
          <a:xfrm>
            <a:off x="1496233" y="3421959"/>
            <a:ext cx="4910054" cy="576712"/>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The fixes, inside the Residual State Space Block (RSSB):</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a local convolution to restore neighbourhood awareness, and </a:t>
            </a:r>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channel attention</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to suppress redundancy — plus a learnable factor controlling the skip connection.</a:t>
            </a:r>
            <a:endParaRPr lang="en-US" sz="1009" dirty="0"/>
          </a:p>
        </p:txBody>
      </p:sp>
      <p:sp>
        <p:nvSpPr>
          <p:cNvPr id="17" name="Shape 15"/>
          <p:cNvSpPr/>
          <p:nvPr/>
        </p:nvSpPr>
        <p:spPr>
          <a:xfrm>
            <a:off x="1357701" y="4167561"/>
            <a:ext cx="55413" cy="34656"/>
          </a:xfrm>
          <a:prstGeom prst="rect">
            <a:avLst/>
          </a:prstGeom>
          <a:solidFill>
            <a:srgbClr val="C0451A"/>
          </a:solidFill>
          <a:ln/>
        </p:spPr>
      </p:sp>
      <p:sp>
        <p:nvSpPr>
          <p:cNvPr id="18" name="Text 16"/>
          <p:cNvSpPr txBox="1"/>
          <p:nvPr/>
        </p:nvSpPr>
        <p:spPr>
          <a:xfrm>
            <a:off x="1496233" y="4109496"/>
            <a:ext cx="4910054" cy="576712"/>
          </a:xfrm>
          <a:prstGeom prst="rect">
            <a:avLst/>
          </a:prstGeom>
          <a:noFill/>
          <a:ln/>
        </p:spPr>
        <p:txBody>
          <a:bodyPr wrap="square" lIns="0" tIns="0" rIns="0" bIns="0" rtlCol="0" anchor="t"/>
          <a:lstStyle/>
          <a:p>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Ablation: removing the convolution costs Urban100 accuracy (34.15 → 34.04); removing convolution </a:t>
            </a:r>
            <a:pPr algn="l" indent="0" marL="0">
              <a:lnSpc>
                <a:spcPts val="1514"/>
              </a:lnSpc>
              <a:buNone/>
            </a:pPr>
            <a:r>
              <a:rPr kern="0" lang="en-US" sz="1009" i="1" dirty="0">
                <a:solidFill>
                  <a:srgbClr val="33302B"/>
                </a:solidFill>
                <a:latin typeface="Calibri" pitchFamily="34" charset="0"/>
                <a:ea typeface="Calibri" pitchFamily="34" charset="-122"/>
                <a:cs typeface="Calibri" pitchFamily="34" charset="-120"/>
              </a:rPr>
              <a:t>and</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channel attention gives 34.06; replacing the block with an MLP gives 34.22 against the 34.15 baseline configuration.</a:t>
            </a:r>
            <a:endParaRPr lang="en-US" sz="1009" dirty="0"/>
          </a:p>
        </p:txBody>
      </p:sp>
      <p:sp>
        <p:nvSpPr>
          <p:cNvPr id="19" name="Shape 17"/>
          <p:cNvSpPr/>
          <p:nvPr/>
        </p:nvSpPr>
        <p:spPr>
          <a:xfrm>
            <a:off x="6677680" y="1847271"/>
            <a:ext cx="5015210" cy="13899"/>
          </a:xfrm>
          <a:prstGeom prst="rect">
            <a:avLst/>
          </a:prstGeom>
          <a:solidFill>
            <a:srgbClr val="C0451A"/>
          </a:solidFill>
          <a:ln/>
        </p:spPr>
      </p:sp>
      <p:sp>
        <p:nvSpPr>
          <p:cNvPr id="20" name="Text 18"/>
          <p:cNvSpPr txBox="1"/>
          <p:nvPr/>
        </p:nvSpPr>
        <p:spPr>
          <a:xfrm>
            <a:off x="6677680" y="1975561"/>
            <a:ext cx="2313249"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Scanning, structure, and results</a:t>
            </a:r>
            <a:pPr algn="l" indent="0" marL="0">
              <a:lnSpc>
                <a:spcPts val="1416"/>
              </a:lnSpc>
              <a:buNone/>
            </a:pPr>
            <a:r>
              <a:rPr lang="en-US" sz="888" b="1" spc="-22" kern="0" dirty="0">
                <a:solidFill>
                  <a:srgbClr val="C0451A"/>
                </a:solidFill>
                <a:latin typeface="Cambria" pitchFamily="34" charset="0"/>
                <a:ea typeface="Cambria" pitchFamily="34" charset="-122"/>
                <a:cs typeface="Cambria" pitchFamily="34" charset="-120"/>
              </a:rPr>
              <a:t>[1]</a:t>
            </a:r>
            <a:endParaRPr lang="en-US" sz="1200" dirty="0"/>
          </a:p>
        </p:txBody>
      </p:sp>
      <p:sp>
        <p:nvSpPr>
          <p:cNvPr id="21" name="Shape 19"/>
          <p:cNvSpPr/>
          <p:nvPr/>
        </p:nvSpPr>
        <p:spPr>
          <a:xfrm>
            <a:off x="6677680" y="2297156"/>
            <a:ext cx="55413" cy="34656"/>
          </a:xfrm>
          <a:prstGeom prst="rect">
            <a:avLst/>
          </a:prstGeom>
          <a:solidFill>
            <a:srgbClr val="C0451A"/>
          </a:solidFill>
          <a:ln/>
        </p:spPr>
      </p:sp>
      <p:sp>
        <p:nvSpPr>
          <p:cNvPr id="22" name="Text 20"/>
          <p:cNvSpPr txBox="1"/>
          <p:nvPr/>
        </p:nvSpPr>
        <p:spPr>
          <a:xfrm>
            <a:off x="6816303" y="2239183"/>
            <a:ext cx="4910054" cy="576712"/>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Four-directional scan.</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The feature map is unfolded in four directions and the results summed, so no single raster order dominates. Ablation: one-direction 34.06, two-direction 33.96, four-direction (baseline) 34.15 on Urban100.</a:t>
            </a:r>
            <a:endParaRPr lang="en-US" sz="1009" dirty="0"/>
          </a:p>
        </p:txBody>
      </p:sp>
      <p:sp>
        <p:nvSpPr>
          <p:cNvPr id="23" name="Shape 21"/>
          <p:cNvSpPr/>
          <p:nvPr/>
        </p:nvSpPr>
        <p:spPr>
          <a:xfrm>
            <a:off x="6677680" y="2984693"/>
            <a:ext cx="55413" cy="34656"/>
          </a:xfrm>
          <a:prstGeom prst="rect">
            <a:avLst/>
          </a:prstGeom>
          <a:solidFill>
            <a:srgbClr val="C0451A"/>
          </a:solidFill>
          <a:ln/>
        </p:spPr>
      </p:sp>
      <p:sp>
        <p:nvSpPr>
          <p:cNvPr id="24" name="Text 22"/>
          <p:cNvSpPr txBox="1"/>
          <p:nvPr/>
        </p:nvSpPr>
        <p:spPr>
          <a:xfrm>
            <a:off x="6816303" y="2926720"/>
            <a:ext cx="4910054" cy="576712"/>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Three stages</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structurally identical to SwinIR: shallow feature extraction (one 3×3 convolution) → deep feature extraction (stacked RSSBs grouped into RSSGs) → high-quality reconstruction aggregating shallow and deep features.</a:t>
            </a:r>
            <a:endParaRPr lang="en-US" sz="1009" dirty="0"/>
          </a:p>
        </p:txBody>
      </p:sp>
      <p:sp>
        <p:nvSpPr>
          <p:cNvPr id="25" name="Shape 23"/>
          <p:cNvSpPr/>
          <p:nvPr/>
        </p:nvSpPr>
        <p:spPr>
          <a:xfrm>
            <a:off x="6677680" y="3672230"/>
            <a:ext cx="55413" cy="34656"/>
          </a:xfrm>
          <a:prstGeom prst="rect">
            <a:avLst/>
          </a:prstGeom>
          <a:solidFill>
            <a:srgbClr val="C0451A"/>
          </a:solidFill>
          <a:ln/>
        </p:spPr>
      </p:sp>
      <p:sp>
        <p:nvSpPr>
          <p:cNvPr id="26" name="Text 24"/>
          <p:cNvSpPr txBox="1"/>
          <p:nvPr/>
        </p:nvSpPr>
        <p:spPr>
          <a:xfrm>
            <a:off x="6816303" y="3614257"/>
            <a:ext cx="4910054" cy="384414"/>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Colour denoising, Urban100</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(σ = 15/25/50): SwinIR 35.13 / 32.90 / 29.82 · Restormer 35.13 / 32.96 / 30.02 · </a:t>
            </a:r>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MambaIR 35.37 / 33.21 / 30.30</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a:t>
            </a:r>
            <a:endParaRPr lang="en-US" sz="1009" dirty="0"/>
          </a:p>
        </p:txBody>
      </p:sp>
      <p:sp>
        <p:nvSpPr>
          <p:cNvPr id="27" name="Shape 25"/>
          <p:cNvSpPr/>
          <p:nvPr/>
        </p:nvSpPr>
        <p:spPr>
          <a:xfrm>
            <a:off x="6677680" y="4167561"/>
            <a:ext cx="55413" cy="34656"/>
          </a:xfrm>
          <a:prstGeom prst="rect">
            <a:avLst/>
          </a:prstGeom>
          <a:solidFill>
            <a:srgbClr val="C0451A"/>
          </a:solidFill>
          <a:ln/>
        </p:spPr>
      </p:sp>
      <p:sp>
        <p:nvSpPr>
          <p:cNvPr id="28" name="Text 26"/>
          <p:cNvSpPr txBox="1"/>
          <p:nvPr/>
        </p:nvSpPr>
        <p:spPr>
          <a:xfrm>
            <a:off x="6816303" y="4109496"/>
            <a:ext cx="4910054" cy="384414"/>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Real noise:</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SIDD 39.89 dB, DND </a:t>
            </a:r>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40.04 dB</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 the best DND figure in the table, 0.01 dB above Restormer.</a:t>
            </a:r>
            <a:endParaRPr lang="en-US" sz="1009" dirty="0"/>
          </a:p>
        </p:txBody>
      </p:sp>
      <p:sp>
        <p:nvSpPr>
          <p:cNvPr id="29" name="Shape 27"/>
          <p:cNvSpPr/>
          <p:nvPr/>
        </p:nvSpPr>
        <p:spPr>
          <a:xfrm>
            <a:off x="6677680" y="4662800"/>
            <a:ext cx="55413" cy="34656"/>
          </a:xfrm>
          <a:prstGeom prst="rect">
            <a:avLst/>
          </a:prstGeom>
          <a:solidFill>
            <a:srgbClr val="C0451A"/>
          </a:solidFill>
          <a:ln/>
        </p:spPr>
      </p:sp>
      <p:sp>
        <p:nvSpPr>
          <p:cNvPr id="30" name="Text 28"/>
          <p:cNvSpPr txBox="1"/>
          <p:nvPr/>
        </p:nvSpPr>
        <p:spPr>
          <a:xfrm>
            <a:off x="6816303" y="4604827"/>
            <a:ext cx="4910054" cy="384414"/>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Super-resolution</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where the receptive field matters most: MambaIR outperforms SwinIR by </a:t>
            </a:r>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0.41 dB on Manga109 at ×2</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a:t>
            </a:r>
            <a:endParaRPr lang="en-US" sz="1009" dirty="0"/>
          </a:p>
        </p:txBody>
      </p:sp>
      <p:sp>
        <p:nvSpPr>
          <p:cNvPr id="31" name="Shape 29"/>
          <p:cNvSpPr/>
          <p:nvPr/>
        </p:nvSpPr>
        <p:spPr>
          <a:xfrm>
            <a:off x="1357701" y="5296662"/>
            <a:ext cx="10335189" cy="13899"/>
          </a:xfrm>
          <a:prstGeom prst="rect">
            <a:avLst/>
          </a:prstGeom>
          <a:solidFill>
            <a:srgbClr val="C0451A"/>
          </a:solidFill>
          <a:ln/>
        </p:spPr>
      </p:sp>
      <p:sp>
        <p:nvSpPr>
          <p:cNvPr id="32" name="Text 30"/>
          <p:cNvSpPr txBox="1"/>
          <p:nvPr/>
        </p:nvSpPr>
        <p:spPr>
          <a:xfrm>
            <a:off x="1357701" y="5419557"/>
            <a:ext cx="10390419" cy="366674"/>
          </a:xfrm>
          <a:prstGeom prst="rect">
            <a:avLst/>
          </a:prstGeom>
          <a:noFill/>
          <a:ln/>
        </p:spPr>
        <p:txBody>
          <a:bodyPr wrap="square" lIns="0" tIns="0" rIns="0" bIns="0" rtlCol="0" anchor="t"/>
          <a:lstStyle/>
          <a:p>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A Stage 2 finding worth knowing.</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MambaIR's own repository changelog records that published complexity figures computed with </a:t>
            </a:r>
            <a:pPr algn="l" indent="0" marL="0">
              <a:lnSpc>
                <a:spcPts val="1391"/>
              </a:lnSpc>
              <a:buNone/>
            </a:pPr>
            <a:r>
              <a:rPr kern="0" lang="en-US" sz="835" dirty="0">
                <a:solidFill>
                  <a:srgbClr val="145A66"/>
                </a:solidFill>
                <a:latin typeface="Consolas" pitchFamily="34" charset="0"/>
                <a:ea typeface="Consolas" pitchFamily="34" charset="-122"/>
                <a:cs typeface="Consolas" pitchFamily="34" charset="-120"/>
              </a:rPr>
              <a:t>thop</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were wrong and were later corrected. The model also cannot be imported at all without compiled CUDA extensions — </a:t>
            </a:r>
            <a:pPr algn="l" indent="0" marL="0">
              <a:lnSpc>
                <a:spcPts val="1391"/>
              </a:lnSpc>
              <a:buNone/>
            </a:pPr>
            <a:r>
              <a:rPr kern="0" lang="en-US" sz="835" dirty="0">
                <a:solidFill>
                  <a:srgbClr val="145A66"/>
                </a:solidFill>
                <a:latin typeface="Consolas" pitchFamily="34" charset="0"/>
                <a:ea typeface="Consolas" pitchFamily="34" charset="-122"/>
                <a:cs typeface="Consolas" pitchFamily="34" charset="-120"/>
              </a:rPr>
              <a:t>ModuleNotFoundError: mamba_ssm</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That is a deployment fact no paper reports, and it appears again on slide 78. </a:t>
            </a:r>
            <a:pPr algn="l" indent="0" marL="0">
              <a:lnSpc>
                <a:spcPts val="1391"/>
              </a:lnSpc>
              <a:buNone/>
            </a:pPr>
            <a:r>
              <a:rPr kern="0" lang="en-US" sz="835" dirty="0">
                <a:solidFill>
                  <a:srgbClr val="145A66"/>
                </a:solidFill>
                <a:latin typeface="Consolas" pitchFamily="34" charset="0"/>
                <a:ea typeface="Consolas" pitchFamily="34" charset="-122"/>
                <a:cs typeface="Consolas" pitchFamily="34" charset="-120"/>
              </a:rPr>
              <a:t>[measured]</a:t>
            </a:r>
            <a:endParaRPr lang="en-US" sz="927" dirty="0"/>
          </a:p>
        </p:txBody>
      </p:sp>
      <p:sp>
        <p:nvSpPr>
          <p:cNvPr id="33" name="Text 31"/>
          <p:cNvSpPr txBox="1"/>
          <p:nvPr/>
        </p:nvSpPr>
        <p:spPr>
          <a:xfrm>
            <a:off x="7237750" y="6317955"/>
            <a:ext cx="4455231" cy="109819"/>
          </a:xfrm>
          <a:prstGeom prst="rect">
            <a:avLst/>
          </a:prstGeom>
          <a:noFill/>
          <a:ln/>
        </p:spPr>
        <p:txBody>
          <a:bodyPr wrap="none" lIns="0" tIns="0" rIns="0" bIns="0" rtlCol="0" anchor="t"/>
          <a:lstStyle/>
          <a:p>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[1]</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MambaIR24 abstract, §3.2, §4.2, Tables 1, 2, 5, 6 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[2]</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repository `csguoh/MambaIR`, commit 33d7b34 [measured]</a:t>
            </a:r>
            <a:endParaRPr lang="en-US" sz="525" dirty="0"/>
          </a:p>
        </p:txBody>
      </p:sp>
      <p:sp>
        <p:nvSpPr>
          <p:cNvPr id="34" name="Shape 32"/>
          <p:cNvSpPr/>
          <p:nvPr/>
        </p:nvSpPr>
        <p:spPr>
          <a:xfrm>
            <a:off x="1357701" y="6573804"/>
            <a:ext cx="10335189" cy="6949"/>
          </a:xfrm>
          <a:prstGeom prst="rect">
            <a:avLst/>
          </a:prstGeom>
          <a:solidFill>
            <a:srgbClr val="C9C4B9"/>
          </a:solidFill>
          <a:ln/>
        </p:spPr>
      </p:sp>
      <p:sp>
        <p:nvSpPr>
          <p:cNvPr id="35" name="Shape 33"/>
          <p:cNvSpPr/>
          <p:nvPr/>
        </p:nvSpPr>
        <p:spPr>
          <a:xfrm>
            <a:off x="9396374" y="6563472"/>
            <a:ext cx="1722821" cy="27706"/>
          </a:xfrm>
          <a:prstGeom prst="rect">
            <a:avLst/>
          </a:prstGeom>
          <a:solidFill>
            <a:srgbClr val="C0451A"/>
          </a:solidFill>
          <a:ln/>
        </p:spPr>
      </p:sp>
      <p:sp>
        <p:nvSpPr>
          <p:cNvPr id="36" name="Shape 34"/>
          <p:cNvSpPr/>
          <p:nvPr/>
        </p:nvSpPr>
        <p:spPr>
          <a:xfrm>
            <a:off x="1357701" y="6539149"/>
            <a:ext cx="6949" cy="34656"/>
          </a:xfrm>
          <a:prstGeom prst="rect">
            <a:avLst/>
          </a:prstGeom>
          <a:solidFill>
            <a:srgbClr val="C9C4B9"/>
          </a:solidFill>
          <a:ln/>
        </p:spPr>
      </p:sp>
      <p:sp>
        <p:nvSpPr>
          <p:cNvPr id="37" name="Text 35"/>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38" name="Shape 36"/>
          <p:cNvSpPr/>
          <p:nvPr/>
        </p:nvSpPr>
        <p:spPr>
          <a:xfrm>
            <a:off x="5377038" y="6539149"/>
            <a:ext cx="6949" cy="34656"/>
          </a:xfrm>
          <a:prstGeom prst="rect">
            <a:avLst/>
          </a:prstGeom>
          <a:solidFill>
            <a:srgbClr val="C9C4B9"/>
          </a:solidFill>
          <a:ln/>
        </p:spPr>
      </p:sp>
      <p:sp>
        <p:nvSpPr>
          <p:cNvPr id="39" name="Text 37"/>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40" name="Shape 38"/>
          <p:cNvSpPr/>
          <p:nvPr/>
        </p:nvSpPr>
        <p:spPr>
          <a:xfrm>
            <a:off x="7099950" y="6539149"/>
            <a:ext cx="6949" cy="34656"/>
          </a:xfrm>
          <a:prstGeom prst="rect">
            <a:avLst/>
          </a:prstGeom>
          <a:solidFill>
            <a:srgbClr val="C9C4B9"/>
          </a:solidFill>
          <a:ln/>
        </p:spPr>
      </p:sp>
      <p:sp>
        <p:nvSpPr>
          <p:cNvPr id="41" name="Text 39"/>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42" name="Shape 40"/>
          <p:cNvSpPr/>
          <p:nvPr/>
        </p:nvSpPr>
        <p:spPr>
          <a:xfrm>
            <a:off x="9970069" y="6539149"/>
            <a:ext cx="6949" cy="34656"/>
          </a:xfrm>
          <a:prstGeom prst="rect">
            <a:avLst/>
          </a:prstGeom>
          <a:solidFill>
            <a:srgbClr val="C9C4B9"/>
          </a:solidFill>
          <a:ln/>
        </p:spPr>
      </p:sp>
      <p:sp>
        <p:nvSpPr>
          <p:cNvPr id="43" name="Text 41"/>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44" name="Shape 42"/>
          <p:cNvSpPr/>
          <p:nvPr/>
        </p:nvSpPr>
        <p:spPr>
          <a:xfrm>
            <a:off x="11692981" y="6539149"/>
            <a:ext cx="6949" cy="34656"/>
          </a:xfrm>
          <a:prstGeom prst="rect">
            <a:avLst/>
          </a:prstGeom>
          <a:solidFill>
            <a:srgbClr val="C9C4B9"/>
          </a:solidFill>
          <a:ln/>
        </p:spPr>
      </p:sp>
      <p:sp>
        <p:nvSpPr>
          <p:cNvPr id="45" name="Text 43"/>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46283"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62</a:t>
            </a:r>
            <a:endParaRPr lang="en-US" sz="2400" dirty="0"/>
          </a:p>
        </p:txBody>
      </p:sp>
      <p:sp>
        <p:nvSpPr>
          <p:cNvPr id="3" name="Text 1"/>
          <p:cNvSpPr txBox="1"/>
          <p:nvPr/>
        </p:nvSpPr>
        <p:spPr>
          <a:xfrm rot="16200000">
            <a:off x="-319766" y="3428909"/>
            <a:ext cx="831281" cy="97018"/>
          </a:xfrm>
          <a:prstGeom prst="rect">
            <a:avLst/>
          </a:prstGeom>
          <a:noFill/>
          <a:ln/>
        </p:spPr>
        <p:txBody>
          <a:bodyPr wrap="none" lIns="0" tIns="0" rIns="0" bIns="0" rtlCol="0" anchor="ctr"/>
          <a:lstStyle/>
          <a:p>
            <a:pPr algn="ctr" indent="0" marL="0">
              <a:lnSpc>
                <a:spcPts val="799"/>
              </a:lnSpc>
              <a:buNone/>
            </a:pPr>
            <a:r>
              <a:rPr lang="en-US" sz="655" b="1" spc="164" kern="0" dirty="0">
                <a:solidFill>
                  <a:srgbClr val="C0451A"/>
                </a:solidFill>
                <a:latin typeface="Calibri" pitchFamily="34" charset="0"/>
                <a:ea typeface="Calibri" pitchFamily="34" charset="-122"/>
                <a:cs typeface="Calibri" pitchFamily="34" charset="-120"/>
              </a:rPr>
              <a:t>ARCHITECTURE</a:t>
            </a:r>
            <a:endParaRPr lang="en-US" sz="655" dirty="0"/>
          </a:p>
        </p:txBody>
      </p:sp>
      <p:sp>
        <p:nvSpPr>
          <p:cNvPr id="4" name="Shape 2"/>
          <p:cNvSpPr/>
          <p:nvPr/>
        </p:nvSpPr>
        <p:spPr>
          <a:xfrm>
            <a:off x="1357701" y="435346"/>
            <a:ext cx="180137" cy="20757"/>
          </a:xfrm>
          <a:prstGeom prst="rect">
            <a:avLst/>
          </a:prstGeom>
          <a:solidFill>
            <a:srgbClr val="C0451A"/>
          </a:solidFill>
          <a:ln/>
        </p:spPr>
      </p:sp>
      <p:sp>
        <p:nvSpPr>
          <p:cNvPr id="5" name="Text 3"/>
          <p:cNvSpPr txBox="1"/>
          <p:nvPr/>
        </p:nvSpPr>
        <p:spPr>
          <a:xfrm>
            <a:off x="1620957" y="388711"/>
            <a:ext cx="1539575"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C0451A"/>
                </a:solidFill>
                <a:latin typeface="Calibri" pitchFamily="34" charset="0"/>
                <a:ea typeface="Calibri" pitchFamily="34" charset="-122"/>
                <a:cs typeface="Calibri" pitchFamily="34" charset="-120"/>
              </a:rPr>
              <a:t>WHERE THE BRANCH STANDS</a:t>
            </a:r>
            <a:endParaRPr lang="en-US" sz="736" dirty="0"/>
          </a:p>
        </p:txBody>
      </p:sp>
      <p:sp>
        <p:nvSpPr>
          <p:cNvPr id="6" name="Text 4"/>
          <p:cNvSpPr txBox="1"/>
          <p:nvPr/>
        </p:nvSpPr>
        <p:spPr>
          <a:xfrm>
            <a:off x="1357701" y="861365"/>
            <a:ext cx="4877775"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Three live answers, and no winner</a:t>
            </a:r>
            <a:endParaRPr lang="en-US" sz="2509" dirty="0"/>
          </a:p>
        </p:txBody>
      </p:sp>
      <p:sp>
        <p:nvSpPr>
          <p:cNvPr id="7" name="Text 5"/>
          <p:cNvSpPr txBox="1"/>
          <p:nvPr/>
        </p:nvSpPr>
        <p:spPr>
          <a:xfrm>
            <a:off x="1357701" y="1607515"/>
            <a:ext cx="5371734" cy="623438"/>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The honest ending to Part V, and the reason this narrative closes on an open question rather than a conclusion. Each of these is current, each is credible, and they disagree about what the operator should be.</a:t>
            </a:r>
            <a:endParaRPr lang="en-US" sz="1091" dirty="0"/>
          </a:p>
        </p:txBody>
      </p:sp>
      <p:sp>
        <p:nvSpPr>
          <p:cNvPr id="8" name="Shape 6"/>
          <p:cNvSpPr/>
          <p:nvPr/>
        </p:nvSpPr>
        <p:spPr>
          <a:xfrm>
            <a:off x="1357701" y="2713756"/>
            <a:ext cx="5015210" cy="13899"/>
          </a:xfrm>
          <a:prstGeom prst="rect">
            <a:avLst/>
          </a:prstGeom>
          <a:solidFill>
            <a:srgbClr val="C0451A"/>
          </a:solidFill>
          <a:ln/>
        </p:spPr>
      </p:sp>
      <p:sp>
        <p:nvSpPr>
          <p:cNvPr id="9" name="Text 7"/>
          <p:cNvSpPr txBox="1"/>
          <p:nvPr/>
        </p:nvSpPr>
        <p:spPr>
          <a:xfrm>
            <a:off x="1357701" y="2838389"/>
            <a:ext cx="682417" cy="97201"/>
          </a:xfrm>
          <a:prstGeom prst="rect">
            <a:avLst/>
          </a:prstGeom>
          <a:noFill/>
          <a:ln/>
        </p:spPr>
        <p:txBody>
          <a:bodyPr wrap="none" lIns="0" tIns="0" rIns="0" bIns="0" rtlCol="0" anchor="t"/>
          <a:lstStyle/>
          <a:p>
            <a:pPr algn="l" indent="0" marL="0">
              <a:lnSpc>
                <a:spcPts val="765"/>
              </a:lnSpc>
              <a:buNone/>
            </a:pPr>
            <a:r>
              <a:rPr lang="en-US" sz="627" b="1" spc="93" kern="0" dirty="0">
                <a:solidFill>
                  <a:srgbClr val="C0451A"/>
                </a:solidFill>
                <a:latin typeface="Calibri" pitchFamily="34" charset="0"/>
                <a:ea typeface="Calibri" pitchFamily="34" charset="-122"/>
                <a:cs typeface="Calibri" pitchFamily="34" charset="-120"/>
              </a:rPr>
              <a:t>TRANSFORMER</a:t>
            </a:r>
            <a:endParaRPr lang="en-US" sz="627" dirty="0"/>
          </a:p>
        </p:txBody>
      </p:sp>
      <p:sp>
        <p:nvSpPr>
          <p:cNvPr id="10" name="Text 8"/>
          <p:cNvSpPr txBox="1"/>
          <p:nvPr/>
        </p:nvSpPr>
        <p:spPr>
          <a:xfrm>
            <a:off x="1357701" y="2997952"/>
            <a:ext cx="2710282"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Restormer</a:t>
            </a:r>
            <a:pPr algn="l" indent="0" marL="0">
              <a:lnSpc>
                <a:spcPts val="1416"/>
              </a:lnSpc>
              <a:buNone/>
            </a:pPr>
            <a:r>
              <a:rPr lang="en-US" sz="888" b="1" spc="-22" kern="0" dirty="0">
                <a:solidFill>
                  <a:srgbClr val="C0451A"/>
                </a:solidFill>
                <a:latin typeface="Cambria" pitchFamily="34" charset="0"/>
                <a:ea typeface="Cambria" pitchFamily="34" charset="-122"/>
                <a:cs typeface="Cambria" pitchFamily="34" charset="-120"/>
              </a:rPr>
              <a:t>[1]</a:t>
            </a:r>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 — move the attention axis</a:t>
            </a:r>
            <a:endParaRPr lang="en-US" sz="1200" dirty="0"/>
          </a:p>
        </p:txBody>
      </p:sp>
      <p:sp>
        <p:nvSpPr>
          <p:cNvPr id="11" name="Text 9"/>
          <p:cNvSpPr txBox="1"/>
          <p:nvPr/>
        </p:nvSpPr>
        <p:spPr>
          <a:xfrm>
            <a:off x="1357701" y="3270809"/>
            <a:ext cx="5049134" cy="531541"/>
          </a:xfrm>
          <a:prstGeom prst="rect">
            <a:avLst/>
          </a:prstGeom>
          <a:noFill/>
          <a:ln/>
        </p:spPr>
        <p:txBody>
          <a:bodyPr wrap="square" lIns="0" tIns="0" rIns="0" bIns="0" rtlCol="0" anchor="t"/>
          <a:lstStyle/>
          <a:p>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Attend over channels, keep depth-wise convolution for locality. Linear in pixels. </a:t>
            </a:r>
            <a:pPr algn="l" indent="0" marL="0">
              <a:lnSpc>
                <a:spcPts val="1368"/>
              </a:lnSpc>
              <a:buNone/>
            </a:pPr>
            <a:r>
              <a:rPr kern="0" lang="en-US" sz="900" b="1" dirty="0">
                <a:solidFill>
                  <a:srgbClr val="33302B"/>
                </a:solidFill>
                <a:latin typeface="Calibri" pitchFamily="34" charset="0"/>
                <a:ea typeface="Calibri" pitchFamily="34" charset="-122"/>
                <a:cs typeface="Calibri" pitchFamily="34" charset="-120"/>
              </a:rPr>
              <a:t>26.1 M parameters.</a:t>
            </a:r>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 Best-in-class on Gaussian grayscale, first method past 40 dB on both SIDD and DND. Slowest of the three on CPU by a wide margin. </a:t>
            </a:r>
            <a:pPr algn="l" indent="0" marL="0">
              <a:lnSpc>
                <a:spcPts val="1368"/>
              </a:lnSpc>
              <a:buNone/>
            </a:pPr>
            <a:r>
              <a:rPr kern="0" lang="en-US" sz="810" dirty="0">
                <a:solidFill>
                  <a:srgbClr val="145A66"/>
                </a:solidFill>
                <a:latin typeface="Consolas" pitchFamily="34" charset="0"/>
                <a:ea typeface="Consolas" pitchFamily="34" charset="-122"/>
                <a:cs typeface="Consolas" pitchFamily="34" charset="-120"/>
              </a:rPr>
              <a:t>[measured: 10.44 s at 256²]</a:t>
            </a:r>
            <a:pPr algn="l" indent="0" marL="0">
              <a:lnSpc>
                <a:spcPts val="1368"/>
              </a:lnSpc>
              <a:buNone/>
            </a:pPr>
            <a:r>
              <a:rPr kern="0" lang="en-US" sz="666" b="1" dirty="0">
                <a:solidFill>
                  <a:srgbClr val="C0451A"/>
                </a:solidFill>
                <a:latin typeface="Calibri" pitchFamily="34" charset="0"/>
                <a:ea typeface="Calibri" pitchFamily="34" charset="-122"/>
                <a:cs typeface="Calibri" pitchFamily="34" charset="-120"/>
              </a:rPr>
              <a:t>[5]</a:t>
            </a:r>
            <a:endParaRPr lang="en-US" sz="900" dirty="0"/>
          </a:p>
        </p:txBody>
      </p:sp>
      <p:sp>
        <p:nvSpPr>
          <p:cNvPr id="12" name="Shape 10"/>
          <p:cNvSpPr/>
          <p:nvPr/>
        </p:nvSpPr>
        <p:spPr>
          <a:xfrm>
            <a:off x="6677680" y="2713756"/>
            <a:ext cx="5015210" cy="13899"/>
          </a:xfrm>
          <a:prstGeom prst="rect">
            <a:avLst/>
          </a:prstGeom>
          <a:solidFill>
            <a:srgbClr val="C0451A"/>
          </a:solidFill>
          <a:ln/>
        </p:spPr>
      </p:sp>
      <p:sp>
        <p:nvSpPr>
          <p:cNvPr id="13" name="Text 11"/>
          <p:cNvSpPr txBox="1"/>
          <p:nvPr/>
        </p:nvSpPr>
        <p:spPr>
          <a:xfrm>
            <a:off x="6677680" y="2838389"/>
            <a:ext cx="673364" cy="97201"/>
          </a:xfrm>
          <a:prstGeom prst="rect">
            <a:avLst/>
          </a:prstGeom>
          <a:noFill/>
          <a:ln/>
        </p:spPr>
        <p:txBody>
          <a:bodyPr wrap="none" lIns="0" tIns="0" rIns="0" bIns="0" rtlCol="0" anchor="t"/>
          <a:lstStyle/>
          <a:p>
            <a:pPr algn="l" indent="0" marL="0">
              <a:lnSpc>
                <a:spcPts val="765"/>
              </a:lnSpc>
              <a:buNone/>
            </a:pPr>
            <a:r>
              <a:rPr lang="en-US" sz="627" b="1" spc="93" kern="0" dirty="0">
                <a:solidFill>
                  <a:srgbClr val="C0451A"/>
                </a:solidFill>
                <a:latin typeface="Calibri" pitchFamily="34" charset="0"/>
                <a:ea typeface="Calibri" pitchFamily="34" charset="-122"/>
                <a:cs typeface="Calibri" pitchFamily="34" charset="-120"/>
              </a:rPr>
              <a:t>CONVOLUTION</a:t>
            </a:r>
            <a:endParaRPr lang="en-US" sz="627" dirty="0"/>
          </a:p>
        </p:txBody>
      </p:sp>
      <p:sp>
        <p:nvSpPr>
          <p:cNvPr id="14" name="Text 12"/>
          <p:cNvSpPr txBox="1"/>
          <p:nvPr/>
        </p:nvSpPr>
        <p:spPr>
          <a:xfrm>
            <a:off x="6677680" y="2997952"/>
            <a:ext cx="2482139"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NAFNet</a:t>
            </a:r>
            <a:pPr algn="l" indent="0" marL="0">
              <a:lnSpc>
                <a:spcPts val="1416"/>
              </a:lnSpc>
              <a:buNone/>
            </a:pPr>
            <a:r>
              <a:rPr lang="en-US" sz="888" b="1" spc="-22" kern="0" dirty="0">
                <a:solidFill>
                  <a:srgbClr val="C0451A"/>
                </a:solidFill>
                <a:latin typeface="Cambria" pitchFamily="34" charset="0"/>
                <a:ea typeface="Cambria" pitchFamily="34" charset="-122"/>
                <a:cs typeface="Cambria" pitchFamily="34" charset="-120"/>
              </a:rPr>
              <a:t>[2]</a:t>
            </a:r>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 — delete the mechanisms</a:t>
            </a:r>
            <a:endParaRPr lang="en-US" sz="1200" dirty="0"/>
          </a:p>
        </p:txBody>
      </p:sp>
      <p:sp>
        <p:nvSpPr>
          <p:cNvPr id="15" name="Text 13"/>
          <p:cNvSpPr txBox="1"/>
          <p:nvPr/>
        </p:nvSpPr>
        <p:spPr>
          <a:xfrm>
            <a:off x="6677680" y="3270809"/>
            <a:ext cx="5049134" cy="531541"/>
          </a:xfrm>
          <a:prstGeom prst="rect">
            <a:avLst/>
          </a:prstGeom>
          <a:noFill/>
          <a:ln/>
        </p:spPr>
        <p:txBody>
          <a:bodyPr wrap="square" lIns="0" tIns="0" rIns="0" bIns="0" rtlCol="0" anchor="t"/>
          <a:lstStyle/>
          <a:p>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No attention, no activation functions. Claims the gains were never attention's to begin with. </a:t>
            </a:r>
            <a:pPr algn="l" indent="0" marL="0">
              <a:lnSpc>
                <a:spcPts val="1368"/>
              </a:lnSpc>
              <a:buNone/>
            </a:pPr>
            <a:r>
              <a:rPr kern="0" lang="en-US" sz="900" b="1" dirty="0">
                <a:solidFill>
                  <a:srgbClr val="33302B"/>
                </a:solidFill>
                <a:latin typeface="Calibri" pitchFamily="34" charset="0"/>
                <a:ea typeface="Calibri" pitchFamily="34" charset="-122"/>
                <a:cs typeface="Calibri" pitchFamily="34" charset="-120"/>
              </a:rPr>
              <a:t>116.0 M parameters and still 5.5× faster than Restormer on CPU</a:t>
            </a:r>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 because 1×1 and depth-wise convolutions map onto optimised GEMM paths. 40.30 dB on SIDD. </a:t>
            </a:r>
            <a:pPr algn="l" indent="0" marL="0">
              <a:lnSpc>
                <a:spcPts val="1368"/>
              </a:lnSpc>
              <a:buNone/>
            </a:pPr>
            <a:r>
              <a:rPr kern="0" lang="en-US" sz="810" dirty="0">
                <a:solidFill>
                  <a:srgbClr val="145A66"/>
                </a:solidFill>
                <a:latin typeface="Consolas" pitchFamily="34" charset="0"/>
                <a:ea typeface="Consolas" pitchFamily="34" charset="-122"/>
                <a:cs typeface="Consolas" pitchFamily="34" charset="-120"/>
              </a:rPr>
              <a:t>[measured: 1.90 s at 256²]</a:t>
            </a:r>
            <a:pPr algn="l" indent="0" marL="0">
              <a:lnSpc>
                <a:spcPts val="1368"/>
              </a:lnSpc>
              <a:buNone/>
            </a:pPr>
            <a:r>
              <a:rPr kern="0" lang="en-US" sz="666" b="1" dirty="0">
                <a:solidFill>
                  <a:srgbClr val="C0451A"/>
                </a:solidFill>
                <a:latin typeface="Calibri" pitchFamily="34" charset="0"/>
                <a:ea typeface="Calibri" pitchFamily="34" charset="-122"/>
                <a:cs typeface="Calibri" pitchFamily="34" charset="-120"/>
              </a:rPr>
              <a:t>[5]</a:t>
            </a:r>
            <a:endParaRPr lang="en-US" sz="900" dirty="0"/>
          </a:p>
        </p:txBody>
      </p:sp>
      <p:sp>
        <p:nvSpPr>
          <p:cNvPr id="16" name="Shape 14"/>
          <p:cNvSpPr/>
          <p:nvPr/>
        </p:nvSpPr>
        <p:spPr>
          <a:xfrm>
            <a:off x="1357701" y="4061216"/>
            <a:ext cx="5015210" cy="13899"/>
          </a:xfrm>
          <a:prstGeom prst="rect">
            <a:avLst/>
          </a:prstGeom>
          <a:solidFill>
            <a:srgbClr val="C0451A"/>
          </a:solidFill>
          <a:ln/>
        </p:spPr>
      </p:sp>
      <p:sp>
        <p:nvSpPr>
          <p:cNvPr id="17" name="Text 15"/>
          <p:cNvSpPr txBox="1"/>
          <p:nvPr/>
        </p:nvSpPr>
        <p:spPr>
          <a:xfrm>
            <a:off x="1357701" y="4185849"/>
            <a:ext cx="602224" cy="97201"/>
          </a:xfrm>
          <a:prstGeom prst="rect">
            <a:avLst/>
          </a:prstGeom>
          <a:noFill/>
          <a:ln/>
        </p:spPr>
        <p:txBody>
          <a:bodyPr wrap="none" lIns="0" tIns="0" rIns="0" bIns="0" rtlCol="0" anchor="t"/>
          <a:lstStyle/>
          <a:p>
            <a:pPr algn="l" indent="0" marL="0">
              <a:lnSpc>
                <a:spcPts val="765"/>
              </a:lnSpc>
              <a:buNone/>
            </a:pPr>
            <a:r>
              <a:rPr lang="en-US" sz="627" b="1" spc="93" kern="0" dirty="0">
                <a:solidFill>
                  <a:srgbClr val="C0451A"/>
                </a:solidFill>
                <a:latin typeface="Calibri" pitchFamily="34" charset="0"/>
                <a:ea typeface="Calibri" pitchFamily="34" charset="-122"/>
                <a:cs typeface="Calibri" pitchFamily="34" charset="-120"/>
              </a:rPr>
              <a:t>STATE SPACE</a:t>
            </a:r>
            <a:endParaRPr lang="en-US" sz="627" dirty="0"/>
          </a:p>
        </p:txBody>
      </p:sp>
      <p:sp>
        <p:nvSpPr>
          <p:cNvPr id="18" name="Text 16"/>
          <p:cNvSpPr txBox="1"/>
          <p:nvPr/>
        </p:nvSpPr>
        <p:spPr>
          <a:xfrm>
            <a:off x="1357701" y="4345412"/>
            <a:ext cx="2933212"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MambaIR</a:t>
            </a:r>
            <a:pPr algn="l" indent="0" marL="0">
              <a:lnSpc>
                <a:spcPts val="1416"/>
              </a:lnSpc>
              <a:buNone/>
            </a:pPr>
            <a:r>
              <a:rPr lang="en-US" sz="888" b="1" spc="-22" kern="0" dirty="0">
                <a:solidFill>
                  <a:srgbClr val="C0451A"/>
                </a:solidFill>
                <a:latin typeface="Cambria" pitchFamily="34" charset="0"/>
                <a:ea typeface="Cambria" pitchFamily="34" charset="-122"/>
                <a:cs typeface="Cambria" pitchFamily="34" charset="-120"/>
              </a:rPr>
              <a:t>[3]</a:t>
            </a:r>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 — borrow from control theory</a:t>
            </a:r>
            <a:endParaRPr lang="en-US" sz="1200" dirty="0"/>
          </a:p>
        </p:txBody>
      </p:sp>
      <p:sp>
        <p:nvSpPr>
          <p:cNvPr id="19" name="Text 17"/>
          <p:cNvSpPr txBox="1"/>
          <p:nvPr/>
        </p:nvSpPr>
        <p:spPr>
          <a:xfrm>
            <a:off x="1357701" y="4618269"/>
            <a:ext cx="5049134" cy="531541"/>
          </a:xfrm>
          <a:prstGeom prst="rect">
            <a:avLst/>
          </a:prstGeom>
          <a:noFill/>
          <a:ln/>
        </p:spPr>
        <p:txBody>
          <a:bodyPr wrap="square" lIns="0" tIns="0" rIns="0" bIns="0" rtlCol="0" anchor="t"/>
          <a:lstStyle/>
          <a:p>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Global receptive field at linear cost via a selective SSM with four-directional scanning. Best DND result at 40.04 dB. Cannot run without compiled CUDA extensions, which is a genuine deployment constraint rather than a footnote. </a:t>
            </a:r>
            <a:pPr algn="l" indent="0" marL="0">
              <a:lnSpc>
                <a:spcPts val="1368"/>
              </a:lnSpc>
              <a:buNone/>
            </a:pPr>
            <a:r>
              <a:rPr kern="0" lang="en-US" sz="810" dirty="0">
                <a:solidFill>
                  <a:srgbClr val="145A66"/>
                </a:solidFill>
                <a:latin typeface="Consolas" pitchFamily="34" charset="0"/>
                <a:ea typeface="Consolas" pitchFamily="34" charset="-122"/>
                <a:cs typeface="Consolas" pitchFamily="34" charset="-120"/>
              </a:rPr>
              <a:t>[measured: import fails]</a:t>
            </a:r>
            <a:pPr algn="l" indent="0" marL="0">
              <a:lnSpc>
                <a:spcPts val="1368"/>
              </a:lnSpc>
              <a:buNone/>
            </a:pPr>
            <a:r>
              <a:rPr kern="0" lang="en-US" sz="666" b="1" dirty="0">
                <a:solidFill>
                  <a:srgbClr val="C0451A"/>
                </a:solidFill>
                <a:latin typeface="Calibri" pitchFamily="34" charset="0"/>
                <a:ea typeface="Calibri" pitchFamily="34" charset="-122"/>
                <a:cs typeface="Calibri" pitchFamily="34" charset="-120"/>
              </a:rPr>
              <a:t>[5]</a:t>
            </a:r>
            <a:endParaRPr lang="en-US" sz="900" dirty="0"/>
          </a:p>
        </p:txBody>
      </p:sp>
      <p:sp>
        <p:nvSpPr>
          <p:cNvPr id="20" name="Shape 18"/>
          <p:cNvSpPr/>
          <p:nvPr/>
        </p:nvSpPr>
        <p:spPr>
          <a:xfrm>
            <a:off x="6677680" y="4061216"/>
            <a:ext cx="5015210" cy="13899"/>
          </a:xfrm>
          <a:prstGeom prst="rect">
            <a:avLst/>
          </a:prstGeom>
          <a:solidFill>
            <a:srgbClr val="C0451A"/>
          </a:solidFill>
          <a:ln/>
        </p:spPr>
      </p:sp>
      <p:sp>
        <p:nvSpPr>
          <p:cNvPr id="21" name="Text 19"/>
          <p:cNvSpPr txBox="1"/>
          <p:nvPr/>
        </p:nvSpPr>
        <p:spPr>
          <a:xfrm>
            <a:off x="6677680" y="4185849"/>
            <a:ext cx="274960" cy="97201"/>
          </a:xfrm>
          <a:prstGeom prst="rect">
            <a:avLst/>
          </a:prstGeom>
          <a:noFill/>
          <a:ln/>
        </p:spPr>
        <p:txBody>
          <a:bodyPr wrap="none" lIns="0" tIns="0" rIns="0" bIns="0" rtlCol="0" anchor="t"/>
          <a:lstStyle/>
          <a:p>
            <a:pPr algn="l" indent="0" marL="0">
              <a:lnSpc>
                <a:spcPts val="765"/>
              </a:lnSpc>
              <a:buNone/>
            </a:pPr>
            <a:r>
              <a:rPr lang="en-US" sz="627" b="1" spc="93" kern="0" dirty="0">
                <a:solidFill>
                  <a:srgbClr val="C0451A"/>
                </a:solidFill>
                <a:latin typeface="Calibri" pitchFamily="34" charset="0"/>
                <a:ea typeface="Calibri" pitchFamily="34" charset="-122"/>
                <a:cs typeface="Calibri" pitchFamily="34" charset="-120"/>
              </a:rPr>
              <a:t>DATA</a:t>
            </a:r>
            <a:endParaRPr lang="en-US" sz="627" dirty="0"/>
          </a:p>
        </p:txBody>
      </p:sp>
      <p:sp>
        <p:nvSpPr>
          <p:cNvPr id="22" name="Text 20"/>
          <p:cNvSpPr txBox="1"/>
          <p:nvPr/>
        </p:nvSpPr>
        <p:spPr>
          <a:xfrm>
            <a:off x="6677680" y="4345412"/>
            <a:ext cx="3077047"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SCUNet</a:t>
            </a:r>
            <a:pPr algn="l" indent="0" marL="0">
              <a:lnSpc>
                <a:spcPts val="1416"/>
              </a:lnSpc>
              <a:buNone/>
            </a:pPr>
            <a:r>
              <a:rPr lang="en-US" sz="888" b="1" spc="-22" kern="0" dirty="0">
                <a:solidFill>
                  <a:srgbClr val="C0451A"/>
                </a:solidFill>
                <a:latin typeface="Cambria" pitchFamily="34" charset="0"/>
                <a:ea typeface="Cambria" pitchFamily="34" charset="-122"/>
                <a:cs typeface="Cambria" pitchFamily="34" charset="-120"/>
              </a:rPr>
              <a:t>[4]</a:t>
            </a:r>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 — change the training distribution</a:t>
            </a:r>
            <a:endParaRPr lang="en-US" sz="1200" dirty="0"/>
          </a:p>
        </p:txBody>
      </p:sp>
      <p:sp>
        <p:nvSpPr>
          <p:cNvPr id="23" name="Text 21"/>
          <p:cNvSpPr txBox="1"/>
          <p:nvPr/>
        </p:nvSpPr>
        <p:spPr>
          <a:xfrm>
            <a:off x="6677680" y="4618269"/>
            <a:ext cx="5049134" cy="538399"/>
          </a:xfrm>
          <a:prstGeom prst="rect">
            <a:avLst/>
          </a:prstGeom>
          <a:noFill/>
          <a:ln/>
        </p:spPr>
        <p:txBody>
          <a:bodyPr wrap="square" lIns="0" tIns="0" rIns="0" bIns="0" rtlCol="0" anchor="t"/>
          <a:lstStyle/>
          <a:p>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The orthogonal answer, and arguably the most practical. </a:t>
            </a:r>
            <a:pPr algn="l" indent="0" marL="0">
              <a:lnSpc>
                <a:spcPts val="1368"/>
              </a:lnSpc>
              <a:buNone/>
            </a:pPr>
            <a:r>
              <a:rPr kern="0" lang="en-US" sz="900" b="1" dirty="0">
                <a:solidFill>
                  <a:srgbClr val="33302B"/>
                </a:solidFill>
                <a:latin typeface="Calibri" pitchFamily="34" charset="0"/>
                <a:ea typeface="Calibri" pitchFamily="34" charset="-122"/>
                <a:cs typeface="Calibri" pitchFamily="34" charset="-120"/>
              </a:rPr>
              <a:t>9.7 M parameters</a:t>
            </a:r>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 smallest of the four, with a synthetic degradation pipeline built to survive real photographs rather than benchmarks. </a:t>
            </a:r>
            <a:pPr algn="l" indent="0" marL="0">
              <a:lnSpc>
                <a:spcPts val="1368"/>
              </a:lnSpc>
              <a:buNone/>
            </a:pPr>
            <a:r>
              <a:rPr kern="0" lang="en-US" sz="810" dirty="0">
                <a:solidFill>
                  <a:srgbClr val="145A66"/>
                </a:solidFill>
                <a:latin typeface="Consolas" pitchFamily="34" charset="0"/>
                <a:ea typeface="Consolas" pitchFamily="34" charset="-122"/>
                <a:cs typeface="Consolas" pitchFamily="34" charset="-120"/>
              </a:rPr>
              <a:t>[measured: 1.69 s at 256²]</a:t>
            </a:r>
            <a:pPr algn="l" indent="0" marL="0">
              <a:lnSpc>
                <a:spcPts val="1368"/>
              </a:lnSpc>
              <a:buNone/>
            </a:pPr>
            <a:r>
              <a:rPr kern="0" lang="en-US" sz="666" b="1" dirty="0">
                <a:solidFill>
                  <a:srgbClr val="C0451A"/>
                </a:solidFill>
                <a:latin typeface="Calibri" pitchFamily="34" charset="0"/>
                <a:ea typeface="Calibri" pitchFamily="34" charset="-122"/>
                <a:cs typeface="Calibri" pitchFamily="34" charset="-120"/>
              </a:rPr>
              <a:t>[5]</a:t>
            </a:r>
            <a:endParaRPr lang="en-US" sz="900" dirty="0"/>
          </a:p>
        </p:txBody>
      </p:sp>
      <p:sp>
        <p:nvSpPr>
          <p:cNvPr id="24" name="Shape 22"/>
          <p:cNvSpPr/>
          <p:nvPr/>
        </p:nvSpPr>
        <p:spPr>
          <a:xfrm>
            <a:off x="1357701" y="5606095"/>
            <a:ext cx="10335189" cy="13899"/>
          </a:xfrm>
          <a:prstGeom prst="rect">
            <a:avLst/>
          </a:prstGeom>
          <a:solidFill>
            <a:srgbClr val="C0451A"/>
          </a:solidFill>
          <a:ln/>
        </p:spPr>
      </p:sp>
      <p:sp>
        <p:nvSpPr>
          <p:cNvPr id="25" name="Text 23"/>
          <p:cNvSpPr txBox="1"/>
          <p:nvPr/>
        </p:nvSpPr>
        <p:spPr>
          <a:xfrm>
            <a:off x="1357701" y="5728990"/>
            <a:ext cx="10390419" cy="353324"/>
          </a:xfrm>
          <a:prstGeom prst="rect">
            <a:avLst/>
          </a:prstGeom>
          <a:noFill/>
          <a:ln/>
        </p:spPr>
        <p:txBody>
          <a:bodyPr wrap="square" lIns="0" tIns="0" rIns="0" bIns="0" rtlCol="0" anchor="t"/>
          <a:lstStyle/>
          <a:p>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Say this in the defence.</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A narrative that ends 'and then X won' would be false. The field currently holds three architectural answers and one data-side answer to the same bottleneck, published across three years, none of which has displaced the others. That is what an unresolved research question looks like from the inside.</a:t>
            </a:r>
            <a:endParaRPr lang="en-US" sz="927" dirty="0"/>
          </a:p>
        </p:txBody>
      </p:sp>
      <p:sp>
        <p:nvSpPr>
          <p:cNvPr id="26" name="Text 24"/>
          <p:cNvSpPr txBox="1"/>
          <p:nvPr/>
        </p:nvSpPr>
        <p:spPr>
          <a:xfrm>
            <a:off x="6705661" y="6317955"/>
            <a:ext cx="4987320" cy="109819"/>
          </a:xfrm>
          <a:prstGeom prst="rect">
            <a:avLst/>
          </a:prstGeom>
          <a:noFill/>
          <a:ln/>
        </p:spPr>
        <p:txBody>
          <a:bodyPr wrap="none" lIns="0" tIns="0" rIns="0" bIns="0" rtlCol="0" anchor="t"/>
          <a:lstStyle/>
          <a:p>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[1]</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Restormer22 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[2]</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NAFNet22 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[3]</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MambaIR24 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[4]</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SCUNet23 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[5]</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parameter counts and CPU latencies [measured], see slide 77</a:t>
            </a:r>
            <a:endParaRPr lang="en-US" sz="525" dirty="0"/>
          </a:p>
        </p:txBody>
      </p:sp>
      <p:sp>
        <p:nvSpPr>
          <p:cNvPr id="27" name="Shape 25"/>
          <p:cNvSpPr/>
          <p:nvPr/>
        </p:nvSpPr>
        <p:spPr>
          <a:xfrm>
            <a:off x="1357701" y="6573804"/>
            <a:ext cx="10335189" cy="6949"/>
          </a:xfrm>
          <a:prstGeom prst="rect">
            <a:avLst/>
          </a:prstGeom>
          <a:solidFill>
            <a:srgbClr val="C9C4B9"/>
          </a:solidFill>
          <a:ln/>
        </p:spPr>
      </p:sp>
      <p:sp>
        <p:nvSpPr>
          <p:cNvPr id="28" name="Shape 26"/>
          <p:cNvSpPr/>
          <p:nvPr/>
        </p:nvSpPr>
        <p:spPr>
          <a:xfrm>
            <a:off x="9396374" y="6563472"/>
            <a:ext cx="1722821" cy="27706"/>
          </a:xfrm>
          <a:prstGeom prst="rect">
            <a:avLst/>
          </a:prstGeom>
          <a:solidFill>
            <a:srgbClr val="C0451A"/>
          </a:solidFill>
          <a:ln/>
        </p:spPr>
      </p:sp>
      <p:sp>
        <p:nvSpPr>
          <p:cNvPr id="29" name="Shape 27"/>
          <p:cNvSpPr/>
          <p:nvPr/>
        </p:nvSpPr>
        <p:spPr>
          <a:xfrm>
            <a:off x="1357701" y="6539149"/>
            <a:ext cx="6949" cy="34656"/>
          </a:xfrm>
          <a:prstGeom prst="rect">
            <a:avLst/>
          </a:prstGeom>
          <a:solidFill>
            <a:srgbClr val="C9C4B9"/>
          </a:solidFill>
          <a:ln/>
        </p:spPr>
      </p:sp>
      <p:sp>
        <p:nvSpPr>
          <p:cNvPr id="30" name="Text 28"/>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31" name="Shape 29"/>
          <p:cNvSpPr/>
          <p:nvPr/>
        </p:nvSpPr>
        <p:spPr>
          <a:xfrm>
            <a:off x="5377038" y="6539149"/>
            <a:ext cx="6949" cy="34656"/>
          </a:xfrm>
          <a:prstGeom prst="rect">
            <a:avLst/>
          </a:prstGeom>
          <a:solidFill>
            <a:srgbClr val="C9C4B9"/>
          </a:solidFill>
          <a:ln/>
        </p:spPr>
      </p:sp>
      <p:sp>
        <p:nvSpPr>
          <p:cNvPr id="32" name="Text 30"/>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33" name="Shape 31"/>
          <p:cNvSpPr/>
          <p:nvPr/>
        </p:nvSpPr>
        <p:spPr>
          <a:xfrm>
            <a:off x="7099950" y="6539149"/>
            <a:ext cx="6949" cy="34656"/>
          </a:xfrm>
          <a:prstGeom prst="rect">
            <a:avLst/>
          </a:prstGeom>
          <a:solidFill>
            <a:srgbClr val="C9C4B9"/>
          </a:solidFill>
          <a:ln/>
        </p:spPr>
      </p:sp>
      <p:sp>
        <p:nvSpPr>
          <p:cNvPr id="34" name="Text 32"/>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35" name="Shape 33"/>
          <p:cNvSpPr/>
          <p:nvPr/>
        </p:nvSpPr>
        <p:spPr>
          <a:xfrm>
            <a:off x="9970069" y="6539149"/>
            <a:ext cx="6949" cy="34656"/>
          </a:xfrm>
          <a:prstGeom prst="rect">
            <a:avLst/>
          </a:prstGeom>
          <a:solidFill>
            <a:srgbClr val="C9C4B9"/>
          </a:solidFill>
          <a:ln/>
        </p:spPr>
      </p:sp>
      <p:sp>
        <p:nvSpPr>
          <p:cNvPr id="36" name="Text 34"/>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37" name="Shape 35"/>
          <p:cNvSpPr/>
          <p:nvPr/>
        </p:nvSpPr>
        <p:spPr>
          <a:xfrm>
            <a:off x="11692981" y="6539149"/>
            <a:ext cx="6949" cy="34656"/>
          </a:xfrm>
          <a:prstGeom prst="rect">
            <a:avLst/>
          </a:prstGeom>
          <a:solidFill>
            <a:srgbClr val="C9C4B9"/>
          </a:solidFill>
          <a:ln/>
        </p:spPr>
      </p:sp>
      <p:sp>
        <p:nvSpPr>
          <p:cNvPr id="38" name="Text 36"/>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1024860"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14343F"/>
                </a:solidFill>
                <a:latin typeface="Cambria" pitchFamily="34" charset="0"/>
                <a:ea typeface="Cambria" pitchFamily="34" charset="-122"/>
                <a:cs typeface="Cambria" pitchFamily="34" charset="-120"/>
              </a:rPr>
              <a:t>VI</a:t>
            </a:r>
            <a:endParaRPr lang="en-US" sz="8416" dirty="0"/>
          </a:p>
        </p:txBody>
      </p:sp>
      <p:sp>
        <p:nvSpPr>
          <p:cNvPr id="4" name="Shape 2"/>
          <p:cNvSpPr/>
          <p:nvPr/>
        </p:nvSpPr>
        <p:spPr>
          <a:xfrm>
            <a:off x="434249" y="1663294"/>
            <a:ext cx="1002091" cy="33376"/>
          </a:xfrm>
          <a:prstGeom prst="rect">
            <a:avLst/>
          </a:prstGeom>
          <a:solidFill>
            <a:srgbClr val="14343F"/>
          </a:solidFill>
          <a:ln/>
        </p:spPr>
      </p:sp>
      <p:sp>
        <p:nvSpPr>
          <p:cNvPr id="5" name="Text 3"/>
          <p:cNvSpPr txBox="1"/>
          <p:nvPr/>
        </p:nvSpPr>
        <p:spPr>
          <a:xfrm>
            <a:off x="434249" y="1910273"/>
            <a:ext cx="2483236" cy="798911"/>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Engineering Reality</a:t>
            </a:r>
            <a:endParaRPr lang="en-US" sz="3025" dirty="0"/>
          </a:p>
        </p:txBody>
      </p:sp>
      <p:sp>
        <p:nvSpPr>
          <p:cNvPr id="6" name="Shape 4"/>
          <p:cNvSpPr/>
          <p:nvPr/>
        </p:nvSpPr>
        <p:spPr>
          <a:xfrm>
            <a:off x="434249" y="3088386"/>
            <a:ext cx="217079" cy="25055"/>
          </a:xfrm>
          <a:prstGeom prst="rect">
            <a:avLst/>
          </a:prstGeom>
          <a:solidFill>
            <a:srgbClr val="8E877B"/>
          </a:solidFill>
          <a:ln/>
        </p:spPr>
      </p:sp>
      <p:sp>
        <p:nvSpPr>
          <p:cNvPr id="7" name="Text 5"/>
          <p:cNvSpPr txBox="1"/>
          <p:nvPr/>
        </p:nvSpPr>
        <p:spPr>
          <a:xfrm>
            <a:off x="751545" y="3032150"/>
            <a:ext cx="542605"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PART VI</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1434602"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organising question</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1936516"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Repositories, at pinned commits</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1727667"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prior, era by era, in code</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2527310"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Frameworks, configuration, data pipelines</a:t>
            </a:r>
            <a:endParaRPr lang="en-US" sz="1118" dirty="0"/>
          </a:p>
        </p:txBody>
      </p:sp>
      <p:sp>
        <p:nvSpPr>
          <p:cNvPr id="23" name="Shape 21"/>
          <p:cNvSpPr/>
          <p:nvPr/>
        </p:nvSpPr>
        <p:spPr>
          <a:xfrm>
            <a:off x="5526999" y="3479018"/>
            <a:ext cx="6146963" cy="8321"/>
          </a:xfrm>
          <a:prstGeom prst="rect">
            <a:avLst/>
          </a:prstGeom>
          <a:solidFill>
            <a:srgbClr val="DFDBD2"/>
          </a:solidFill>
          <a:ln/>
        </p:spPr>
      </p:sp>
      <p:sp>
        <p:nvSpPr>
          <p:cNvPr id="24" name="Text 22"/>
          <p:cNvSpPr txBox="1"/>
          <p:nvPr/>
        </p:nvSpPr>
        <p:spPr>
          <a:xfrm>
            <a:off x="5526999" y="3173700"/>
            <a:ext cx="173279"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05</a:t>
            </a:r>
            <a:endParaRPr lang="en-US" sz="921" dirty="0"/>
          </a:p>
        </p:txBody>
      </p:sp>
      <p:sp>
        <p:nvSpPr>
          <p:cNvPr id="25" name="Text 23"/>
          <p:cNvSpPr txBox="1"/>
          <p:nvPr/>
        </p:nvSpPr>
        <p:spPr>
          <a:xfrm>
            <a:off x="5894405" y="3155869"/>
            <a:ext cx="1861627"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Losses and pre-trained weights</a:t>
            </a:r>
            <a:endParaRPr lang="en-US" sz="1118" dirty="0"/>
          </a:p>
        </p:txBody>
      </p:sp>
      <p:sp>
        <p:nvSpPr>
          <p:cNvPr id="26" name="Shape 24"/>
          <p:cNvSpPr/>
          <p:nvPr/>
        </p:nvSpPr>
        <p:spPr>
          <a:xfrm>
            <a:off x="5526999" y="3922593"/>
            <a:ext cx="6146963" cy="8321"/>
          </a:xfrm>
          <a:prstGeom prst="rect">
            <a:avLst/>
          </a:prstGeom>
          <a:solidFill>
            <a:srgbClr val="DFDBD2"/>
          </a:solidFill>
          <a:ln/>
        </p:spPr>
      </p:sp>
      <p:sp>
        <p:nvSpPr>
          <p:cNvPr id="27" name="Text 25"/>
          <p:cNvSpPr txBox="1"/>
          <p:nvPr/>
        </p:nvSpPr>
        <p:spPr>
          <a:xfrm>
            <a:off x="5526999" y="3617275"/>
            <a:ext cx="175382"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06</a:t>
            </a:r>
            <a:endParaRPr lang="en-US" sz="921" dirty="0"/>
          </a:p>
        </p:txBody>
      </p:sp>
      <p:sp>
        <p:nvSpPr>
          <p:cNvPr id="28" name="Text 26"/>
          <p:cNvSpPr txBox="1"/>
          <p:nvPr/>
        </p:nvSpPr>
        <p:spPr>
          <a:xfrm>
            <a:off x="5894405" y="3599536"/>
            <a:ext cx="2188342"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What we measured, and what broke</a:t>
            </a:r>
            <a:endParaRPr lang="en-US" sz="1118" dirty="0"/>
          </a:p>
        </p:txBody>
      </p:sp>
      <p:sp>
        <p:nvSpPr>
          <p:cNvPr id="29" name="Text 27"/>
          <p:cNvSpPr txBox="1"/>
          <p:nvPr/>
        </p:nvSpPr>
        <p:spPr>
          <a:xfrm>
            <a:off x="5526999" y="4176979"/>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The same eighteen years, read again — this time from the source files rather than the papers.</a:t>
            </a:r>
            <a:endParaRPr lang="en-US" sz="1085" dirty="0"/>
          </a:p>
        </p:txBody>
      </p:sp>
      <p:sp>
        <p:nvSpPr>
          <p:cNvPr id="30" name="Text 28"/>
          <p:cNvSpPr txBox="1"/>
          <p:nvPr/>
        </p:nvSpPr>
        <p:spPr>
          <a:xfrm>
            <a:off x="9292499" y="6461790"/>
            <a:ext cx="2297979"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§5 · Practical Deep-Dive (Engineering Reality)</a:t>
            </a:r>
            <a:endParaRPr lang="en-US" sz="855"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34340"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64</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815175"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THE ORGANISING QUESTION</a:t>
            </a:r>
            <a:endParaRPr lang="en-US" sz="888" dirty="0"/>
          </a:p>
        </p:txBody>
      </p:sp>
      <p:sp>
        <p:nvSpPr>
          <p:cNvPr id="5" name="Text 3"/>
          <p:cNvSpPr txBox="1"/>
          <p:nvPr/>
        </p:nvSpPr>
        <p:spPr>
          <a:xfrm>
            <a:off x="1636685" y="690281"/>
            <a:ext cx="6835963"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Open the source file. Where is the prior?</a:t>
            </a:r>
            <a:endParaRPr lang="en-US" sz="3025" dirty="0"/>
          </a:p>
        </p:txBody>
      </p:sp>
      <p:sp>
        <p:nvSpPr>
          <p:cNvPr id="6" name="Text 4"/>
          <p:cNvSpPr txBox="1"/>
          <p:nvPr/>
        </p:nvSpPr>
        <p:spPr>
          <a:xfrm>
            <a:off x="1636685" y="1241481"/>
            <a:ext cx="6475598" cy="1002091"/>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Asked of one codebase per era, that single question produces a coherent engineering history instead of a set of disconnected repository summaries — and it answers, in passing, all four things the brief demands of a code deep-dive: structure, framework, data pipeline, and use of pre-trained weights.</a:t>
            </a:r>
            <a:endParaRPr lang="en-US" sz="1315"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1636685" y="2477384"/>
          <a:ext cx="9144000" cy="914400"/>
        </p:xfrm>
        <a:graphic>
          <a:graphicData uri="http://schemas.openxmlformats.org/drawingml/2006/table">
            <a:tbl>
              <a:tblPr/>
              <a:tblGrid>
                <a:gridCol w="1753636"/>
                <a:gridCol w="4325569"/>
                <a:gridCol w="2141891"/>
                <a:gridCol w="1732697"/>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ERA</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OPEN THE FILE, AND YOU FIND…</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WHAT SHIPS TO A USER</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TEST-TIME COST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r>
              <a:tr h="346558">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Classical DIP</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while</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loop and a hand-tuned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weight</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argument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An algorithm</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An optimisation, per image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Deep CNN, 2017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 list comprehension of convolution layers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.pth</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file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One forward pass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Data branch, 2018–2025</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The supervision — what goes in and what it is scored against.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The network stops changing.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.pth</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plus ~50 gradient steps per image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 short optimisation, per image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Architecture branch, 2022–2024</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 new operator replacing the 3×3 convolution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.pth</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and a YAML config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One forward pass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636685" y="4698553"/>
            <a:ext cx="9953793" cy="16734"/>
          </a:xfrm>
          <a:prstGeom prst="rect">
            <a:avLst/>
          </a:prstGeom>
          <a:solidFill>
            <a:srgbClr val="14343F"/>
          </a:solidFill>
          <a:ln/>
        </p:spPr>
      </p:sp>
      <p:sp>
        <p:nvSpPr>
          <p:cNvPr id="9" name="Text 6"/>
          <p:cNvSpPr txBox="1"/>
          <p:nvPr/>
        </p:nvSpPr>
        <p:spPr>
          <a:xfrm>
            <a:off x="1636685" y="4846777"/>
            <a:ext cx="10010303" cy="425836"/>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The arc in one sentence.</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The prior moved out of the algorithm and into the weights — and then, on the data branch, partly back out of the weights and into a per-image optimisation that needs no clean data at all.</a:t>
            </a:r>
            <a:endParaRPr lang="en-US" sz="1118" dirty="0"/>
          </a:p>
        </p:txBody>
      </p:sp>
      <p:sp>
        <p:nvSpPr>
          <p:cNvPr id="10" name="Text 7"/>
          <p:cNvSpPr txBox="1"/>
          <p:nvPr/>
        </p:nvSpPr>
        <p:spPr>
          <a:xfrm>
            <a:off x="9396009" y="6194511"/>
            <a:ext cx="2194469"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reading — the framing used throughout Stage 2</a:t>
            </a:r>
            <a:endParaRPr lang="en-US" sz="855" dirty="0"/>
          </a:p>
        </p:txBody>
      </p:sp>
      <p:sp>
        <p:nvSpPr>
          <p:cNvPr id="11" name="Shape 8"/>
          <p:cNvSpPr/>
          <p:nvPr/>
        </p:nvSpPr>
        <p:spPr>
          <a:xfrm>
            <a:off x="1636685" y="6515466"/>
            <a:ext cx="9953793" cy="8321"/>
          </a:xfrm>
          <a:prstGeom prst="rect">
            <a:avLst/>
          </a:prstGeom>
          <a:solidFill>
            <a:srgbClr val="C9C4B9"/>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95112"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65</a:t>
            </a:r>
            <a:endParaRPr lang="en-US" sz="2708" dirty="0"/>
          </a:p>
        </p:txBody>
      </p:sp>
      <p:sp>
        <p:nvSpPr>
          <p:cNvPr id="3" name="Shape 1"/>
          <p:cNvSpPr/>
          <p:nvPr/>
        </p:nvSpPr>
        <p:spPr>
          <a:xfrm>
            <a:off x="1531803" y="461132"/>
            <a:ext cx="203180" cy="23409"/>
          </a:xfrm>
          <a:prstGeom prst="rect">
            <a:avLst/>
          </a:prstGeom>
          <a:solidFill>
            <a:srgbClr val="14343F"/>
          </a:solidFill>
          <a:ln/>
        </p:spPr>
      </p:sp>
      <p:sp>
        <p:nvSpPr>
          <p:cNvPr id="4" name="Text 2"/>
          <p:cNvSpPr txBox="1"/>
          <p:nvPr/>
        </p:nvSpPr>
        <p:spPr>
          <a:xfrm>
            <a:off x="1828800" y="408462"/>
            <a:ext cx="822046"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PROVENANCE</a:t>
            </a:r>
            <a:endParaRPr lang="en-US" sz="831" dirty="0"/>
          </a:p>
        </p:txBody>
      </p:sp>
      <p:sp>
        <p:nvSpPr>
          <p:cNvPr id="5" name="Text 3"/>
          <p:cNvSpPr txBox="1"/>
          <p:nvPr/>
        </p:nvSpPr>
        <p:spPr>
          <a:xfrm>
            <a:off x="1531803" y="646024"/>
            <a:ext cx="6742786"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Repositories inspected, at pinned commits</a:t>
            </a:r>
            <a:endParaRPr lang="en-US" sz="2831" dirty="0"/>
          </a:p>
        </p:txBody>
      </p:sp>
      <p:sp>
        <p:nvSpPr>
          <p:cNvPr id="6" name="Text 4"/>
          <p:cNvSpPr txBox="1"/>
          <p:nvPr/>
        </p:nvSpPr>
        <p:spPr>
          <a:xfrm>
            <a:off x="1531803" y="1161928"/>
            <a:ext cx="6060460" cy="484541"/>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Every code claim in this part was read from these trees at these commits. Pinning matters: </a:t>
            </a:r>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main</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moves, and a claim about a moving branch is not reproducible.</a:t>
            </a:r>
            <a:endParaRPr lang="en-US" sz="1231"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1531803" y="1857421"/>
          <a:ext cx="9144000" cy="914400"/>
        </p:xfrm>
        <a:graphic>
          <a:graphicData uri="http://schemas.openxmlformats.org/drawingml/2006/table">
            <a:tbl>
              <a:tblPr/>
              <a:tblGrid>
                <a:gridCol w="2606406"/>
                <a:gridCol w="3243285"/>
                <a:gridCol w="1363736"/>
                <a:gridCol w="2883835"/>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REPOSITORY</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COMMIT</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FRAMEWORK</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Total variation (classical exemplar)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scikit-image</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0.26.0, from PyPI</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released version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NumPy</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DnCNN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github.com/cszn/DnCNN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e93b278…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MatConvNet (MATLAB) + PyTorch port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DnCNN, SCUNet weights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github.com/cszn/KAIR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fc1732f…</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Noise2Noise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github.com/NVlabs/noise2noise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7355519…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TensorFlow</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Restormer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github.com/swz30/Restormer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68dc6ac…</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 + BasicSR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NAFNet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github.com/megvii-research/NAFNet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2b4af71…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 + BasicSR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SCUNet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github.com/cszn/SCUNet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52e440a…</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MambaIR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github.com/csguoh/MambaIR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33d7b34…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 + </a:t>
                      </a:r>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mamba_ssm</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CUDA ext.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P2N+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github.com/Li-Tong-621/P2N-plus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8a117db…</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531803" y="5225796"/>
            <a:ext cx="10097262" cy="15636"/>
          </a:xfrm>
          <a:prstGeom prst="rect">
            <a:avLst/>
          </a:prstGeom>
          <a:solidFill>
            <a:srgbClr val="14343F"/>
          </a:solidFill>
          <a:ln/>
        </p:spPr>
      </p:sp>
      <p:sp>
        <p:nvSpPr>
          <p:cNvPr id="9" name="Text 6"/>
          <p:cNvSpPr txBox="1"/>
          <p:nvPr/>
        </p:nvSpPr>
        <p:spPr>
          <a:xfrm>
            <a:off x="1531803" y="5364510"/>
            <a:ext cx="10153223" cy="398587"/>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Two provenance notes that matter and are not in any paper.</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ZS-N2N has no GitHub repository at all — it was released solely as a Colab notebook. WNNM has only a third-party mirror, with no README and no licence. The availability of reference code is itself uneven across the field, and it is an obstacle to reproduction that citation counts do not show.</a:t>
            </a:r>
            <a:endParaRPr lang="en-US" sz="1046" dirty="0"/>
          </a:p>
        </p:txBody>
      </p:sp>
      <p:sp>
        <p:nvSpPr>
          <p:cNvPr id="10" name="Text 7"/>
          <p:cNvSpPr txBox="1"/>
          <p:nvPr/>
        </p:nvSpPr>
        <p:spPr>
          <a:xfrm>
            <a:off x="9476933" y="6237031"/>
            <a:ext cx="2152132"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measured — repositories cloned and read, Stage 2</a:t>
            </a:r>
            <a:endParaRPr lang="en-US" sz="800" dirty="0"/>
          </a:p>
        </p:txBody>
      </p:sp>
      <p:sp>
        <p:nvSpPr>
          <p:cNvPr id="11" name="Shape 8"/>
          <p:cNvSpPr/>
          <p:nvPr/>
        </p:nvSpPr>
        <p:spPr>
          <a:xfrm>
            <a:off x="1531803" y="6537411"/>
            <a:ext cx="10097262" cy="7772"/>
          </a:xfrm>
          <a:prstGeom prst="rect">
            <a:avLst/>
          </a:prstGeom>
          <a:solidFill>
            <a:srgbClr val="C9C4B9"/>
          </a:solidFill>
          <a:ln/>
        </p:spPr>
      </p:sp>
      <p:sp>
        <p:nvSpPr>
          <p:cNvPr id="12" name="Shape 9"/>
          <p:cNvSpPr/>
          <p:nvPr/>
        </p:nvSpPr>
        <p:spPr>
          <a:xfrm>
            <a:off x="1531803" y="6498366"/>
            <a:ext cx="7772" cy="39045"/>
          </a:xfrm>
          <a:prstGeom prst="rect">
            <a:avLst/>
          </a:prstGeom>
          <a:solidFill>
            <a:srgbClr val="C9C4B9"/>
          </a:solidFill>
          <a:ln/>
        </p:spPr>
      </p:sp>
      <p:sp>
        <p:nvSpPr>
          <p:cNvPr id="13" name="Text 10"/>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4" name="Shape 11"/>
          <p:cNvSpPr/>
          <p:nvPr/>
        </p:nvSpPr>
        <p:spPr>
          <a:xfrm>
            <a:off x="5458511" y="6498366"/>
            <a:ext cx="7772" cy="39045"/>
          </a:xfrm>
          <a:prstGeom prst="rect">
            <a:avLst/>
          </a:prstGeom>
          <a:solidFill>
            <a:srgbClr val="C9C4B9"/>
          </a:solidFill>
          <a:ln/>
        </p:spPr>
      </p:sp>
      <p:sp>
        <p:nvSpPr>
          <p:cNvPr id="15" name="Text 12"/>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6" name="Shape 13"/>
          <p:cNvSpPr/>
          <p:nvPr/>
        </p:nvSpPr>
        <p:spPr>
          <a:xfrm>
            <a:off x="7141738" y="6498366"/>
            <a:ext cx="7772" cy="39045"/>
          </a:xfrm>
          <a:prstGeom prst="rect">
            <a:avLst/>
          </a:prstGeom>
          <a:solidFill>
            <a:srgbClr val="C9C4B9"/>
          </a:solidFill>
          <a:ln/>
        </p:spPr>
      </p:sp>
      <p:sp>
        <p:nvSpPr>
          <p:cNvPr id="17" name="Text 14"/>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18" name="Shape 15"/>
          <p:cNvSpPr/>
          <p:nvPr/>
        </p:nvSpPr>
        <p:spPr>
          <a:xfrm>
            <a:off x="9945654" y="6498366"/>
            <a:ext cx="7772" cy="39045"/>
          </a:xfrm>
          <a:prstGeom prst="rect">
            <a:avLst/>
          </a:prstGeom>
          <a:solidFill>
            <a:srgbClr val="C9C4B9"/>
          </a:solidFill>
          <a:ln/>
        </p:spPr>
      </p:sp>
      <p:sp>
        <p:nvSpPr>
          <p:cNvPr id="19" name="Text 16"/>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0" name="Shape 17"/>
          <p:cNvSpPr/>
          <p:nvPr/>
        </p:nvSpPr>
        <p:spPr>
          <a:xfrm>
            <a:off x="11628973" y="6498366"/>
            <a:ext cx="7772" cy="39045"/>
          </a:xfrm>
          <a:prstGeom prst="rect">
            <a:avLst/>
          </a:prstGeom>
          <a:solidFill>
            <a:srgbClr val="C9C4B9"/>
          </a:solidFill>
          <a:ln/>
        </p:spPr>
      </p:sp>
      <p:sp>
        <p:nvSpPr>
          <p:cNvPr id="21" name="Text 18"/>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401422"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66</a:t>
            </a:r>
            <a:endParaRPr lang="en-US" sz="2708" dirty="0"/>
          </a:p>
        </p:txBody>
      </p:sp>
      <p:sp>
        <p:nvSpPr>
          <p:cNvPr id="3" name="Text 1"/>
          <p:cNvSpPr txBox="1"/>
          <p:nvPr/>
        </p:nvSpPr>
        <p:spPr>
          <a:xfrm rot="16200000">
            <a:off x="-360274" y="3428909"/>
            <a:ext cx="930036"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7C5E2A"/>
                </a:solidFill>
                <a:latin typeface="Calibri" pitchFamily="34" charset="0"/>
                <a:ea typeface="Calibri" pitchFamily="34" charset="-122"/>
                <a:cs typeface="Calibri" pitchFamily="34" charset="-120"/>
              </a:rPr>
              <a:t>CLASSICAL DIP</a:t>
            </a:r>
            <a:endParaRPr lang="en-US" sz="738" dirty="0"/>
          </a:p>
        </p:txBody>
      </p:sp>
      <p:sp>
        <p:nvSpPr>
          <p:cNvPr id="4" name="Shape 2"/>
          <p:cNvSpPr/>
          <p:nvPr/>
        </p:nvSpPr>
        <p:spPr>
          <a:xfrm>
            <a:off x="1531803" y="461132"/>
            <a:ext cx="203180" cy="23409"/>
          </a:xfrm>
          <a:prstGeom prst="rect">
            <a:avLst/>
          </a:prstGeom>
          <a:solidFill>
            <a:srgbClr val="7C5E2A"/>
          </a:solidFill>
          <a:ln/>
        </p:spPr>
      </p:sp>
      <p:sp>
        <p:nvSpPr>
          <p:cNvPr id="5" name="Text 3"/>
          <p:cNvSpPr txBox="1"/>
          <p:nvPr/>
        </p:nvSpPr>
        <p:spPr>
          <a:xfrm>
            <a:off x="1828800" y="408462"/>
            <a:ext cx="877641"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7C5E2A"/>
                </a:solidFill>
                <a:latin typeface="Calibri" pitchFamily="34" charset="0"/>
                <a:ea typeface="Calibri" pitchFamily="34" charset="-122"/>
                <a:cs typeface="Calibri" pitchFamily="34" charset="-120"/>
              </a:rPr>
              <a:t>ERA I IN CODE</a:t>
            </a:r>
            <a:endParaRPr lang="en-US" sz="831" dirty="0"/>
          </a:p>
        </p:txBody>
      </p:sp>
      <p:sp>
        <p:nvSpPr>
          <p:cNvPr id="6" name="Text 4"/>
          <p:cNvSpPr txBox="1"/>
          <p:nvPr/>
        </p:nvSpPr>
        <p:spPr>
          <a:xfrm>
            <a:off x="1531803" y="646024"/>
            <a:ext cx="7347661"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The classical prior is a while loop you can read</a:t>
            </a:r>
            <a:endParaRPr lang="en-US" sz="2831" dirty="0"/>
          </a:p>
        </p:txBody>
      </p:sp>
      <p:sp>
        <p:nvSpPr>
          <p:cNvPr id="7" name="Text 5"/>
          <p:cNvSpPr txBox="1"/>
          <p:nvPr/>
        </p:nvSpPr>
        <p:spPr>
          <a:xfrm>
            <a:off x="1531803" y="1177564"/>
            <a:ext cx="6060460" cy="461132"/>
          </a:xfrm>
          <a:prstGeom prst="rect">
            <a:avLst/>
          </a:prstGeom>
          <a:noFill/>
          <a:ln/>
        </p:spPr>
        <p:txBody>
          <a:bodyPr wrap="square" lIns="0" tIns="0" rIns="0" bIns="0" rtlCol="0" anchor="t"/>
          <a:lstStyle/>
          <a:p>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scikit-image 0.26.0</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a:t>
            </a:r>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restoration/_denoise.py</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a:t>
            </a:r>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denoise_tv_chambolle</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The structure below is the Chambolle projection algorithm as implemented there.</a:t>
            </a:r>
            <a:endParaRPr lang="en-US" sz="1108" dirty="0"/>
          </a:p>
        </p:txBody>
      </p:sp>
      <p:sp>
        <p:nvSpPr>
          <p:cNvPr id="8" name="Shape 6"/>
          <p:cNvSpPr/>
          <p:nvPr/>
        </p:nvSpPr>
        <p:spPr>
          <a:xfrm>
            <a:off x="1531803" y="1857421"/>
            <a:ext cx="5098512" cy="4017051"/>
          </a:xfrm>
          <a:prstGeom prst="rect">
            <a:avLst/>
          </a:prstGeom>
          <a:solidFill>
            <a:srgbClr val="F2F0E9"/>
          </a:solidFill>
          <a:ln/>
        </p:spPr>
      </p:sp>
      <p:sp>
        <p:nvSpPr>
          <p:cNvPr id="9" name="Shape 7"/>
          <p:cNvSpPr/>
          <p:nvPr/>
        </p:nvSpPr>
        <p:spPr>
          <a:xfrm>
            <a:off x="1531803" y="1857421"/>
            <a:ext cx="5098512" cy="23409"/>
          </a:xfrm>
          <a:prstGeom prst="rect">
            <a:avLst/>
          </a:prstGeom>
          <a:solidFill>
            <a:srgbClr val="7C5E2A"/>
          </a:solidFill>
          <a:ln/>
        </p:spPr>
      </p:sp>
      <p:sp>
        <p:nvSpPr>
          <p:cNvPr id="10" name="Text 8"/>
          <p:cNvSpPr txBox="1"/>
          <p:nvPr/>
        </p:nvSpPr>
        <p:spPr>
          <a:xfrm>
            <a:off x="1688074" y="2008022"/>
            <a:ext cx="2030334" cy="128748"/>
          </a:xfrm>
          <a:prstGeom prst="rect">
            <a:avLst/>
          </a:prstGeom>
          <a:noFill/>
          <a:ln/>
        </p:spPr>
        <p:txBody>
          <a:bodyPr wrap="none" lIns="0" tIns="0" rIns="0" bIns="0" rtlCol="0" anchor="t"/>
          <a:lstStyle/>
          <a:p>
            <a:pPr algn="l" indent="0" marL="0">
              <a:lnSpc>
                <a:spcPts val="1014"/>
              </a:lnSpc>
              <a:buNone/>
            </a:pPr>
            <a:r>
              <a:rPr kern="0" lang="en-US" sz="831" i="1" dirty="0">
                <a:solidFill>
                  <a:srgbClr val="8A847A"/>
                </a:solidFill>
                <a:latin typeface="Calibri" pitchFamily="34" charset="0"/>
                <a:ea typeface="Calibri" pitchFamily="34" charset="-122"/>
                <a:cs typeface="Calibri" pitchFamily="34" charset="-120"/>
              </a:rPr>
              <a:t>skimage/restoration/_denoise.py — structure</a:t>
            </a:r>
            <a:endParaRPr lang="en-US" sz="831" dirty="0"/>
          </a:p>
        </p:txBody>
      </p:sp>
      <p:sp>
        <p:nvSpPr>
          <p:cNvPr id="11" name="Text 9"/>
          <p:cNvSpPr txBox="1"/>
          <p:nvPr/>
        </p:nvSpPr>
        <p:spPr>
          <a:xfrm>
            <a:off x="1906890" y="2229673"/>
            <a:ext cx="159471" cy="3516874"/>
          </a:xfrm>
          <a:prstGeom prst="rect">
            <a:avLst/>
          </a:prstGeom>
          <a:noFill/>
          <a:ln/>
        </p:spPr>
        <p:txBody>
          <a:bodyPr wrap="none" lIns="0" tIns="0" rIns="0" bIns="0" rtlCol="0" anchor="t"/>
          <a:lstStyle/>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2</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3</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4</a:t>
            </a:r>
            <a:endParaRPr lang="en-US" sz="738" dirty="0"/>
          </a:p>
          <a:p>
            <a:pPr algn="r" indent="0" marL="0">
              <a:lnSpc>
                <a:spcPts val="1154"/>
              </a:lnSpc>
              <a:buNone/>
            </a:pPr>
            <a:r>
              <a:rPr kern="0" lang="en-US" sz="738" b="1" dirty="0">
                <a:solidFill>
                  <a:srgbClr val="B5AFA4"/>
                </a:solidFill>
                <a:latin typeface="Consolas" pitchFamily="34" charset="0"/>
                <a:ea typeface="Consolas" pitchFamily="34" charset="-122"/>
                <a:cs typeface="Consolas" pitchFamily="34" charset="-120"/>
              </a:rPr>
              <a:t>5</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6</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7</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8</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9</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10</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11</a:t>
            </a:r>
            <a:endParaRPr lang="en-US" sz="738" dirty="0"/>
          </a:p>
          <a:p>
            <a:pPr algn="r" indent="0" marL="0">
              <a:lnSpc>
                <a:spcPts val="1154"/>
              </a:lnSpc>
              <a:buNone/>
            </a:pPr>
            <a:r>
              <a:rPr kern="0" lang="en-US" sz="738" b="1" dirty="0">
                <a:solidFill>
                  <a:srgbClr val="B5AFA4"/>
                </a:solidFill>
                <a:latin typeface="Consolas" pitchFamily="34" charset="0"/>
                <a:ea typeface="Consolas" pitchFamily="34" charset="-122"/>
                <a:cs typeface="Consolas" pitchFamily="34" charset="-120"/>
              </a:rPr>
              <a:t>12</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13</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14</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15</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16</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17</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18</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19</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20</a:t>
            </a:r>
            <a:endParaRPr lang="en-US" sz="738" dirty="0"/>
          </a:p>
          <a:p>
            <a:pPr algn="r" indent="0" marL="0">
              <a:lnSpc>
                <a:spcPts val="1154"/>
              </a:lnSpc>
              <a:buNone/>
            </a:pPr>
            <a:r>
              <a:rPr kern="0" lang="en-US" sz="738" b="1" dirty="0">
                <a:solidFill>
                  <a:srgbClr val="B5AFA4"/>
                </a:solidFill>
                <a:latin typeface="Consolas" pitchFamily="34" charset="0"/>
                <a:ea typeface="Consolas" pitchFamily="34" charset="-122"/>
                <a:cs typeface="Consolas" pitchFamily="34" charset="-120"/>
              </a:rPr>
              <a:t>21</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22</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23</a:t>
            </a:r>
            <a:endParaRPr lang="en-US" sz="738" dirty="0"/>
          </a:p>
          <a:p>
            <a:pPr algn="r" indent="0" marL="0">
              <a:lnSpc>
                <a:spcPts val="1154"/>
              </a:lnSpc>
              <a:buNone/>
            </a:pPr>
            <a:r>
              <a:rPr kern="0" lang="en-US" sz="738" dirty="0">
                <a:solidFill>
                  <a:srgbClr val="B5AFA4"/>
                </a:solidFill>
                <a:latin typeface="Consolas" pitchFamily="34" charset="0"/>
                <a:ea typeface="Consolas" pitchFamily="34" charset="-122"/>
                <a:cs typeface="Consolas" pitchFamily="34" charset="-120"/>
              </a:rPr>
              <a:t>24</a:t>
            </a:r>
            <a:endParaRPr lang="en-US" sz="738" dirty="0"/>
          </a:p>
        </p:txBody>
      </p:sp>
      <p:sp>
        <p:nvSpPr>
          <p:cNvPr id="12" name="Text 10"/>
          <p:cNvSpPr txBox="1"/>
          <p:nvPr/>
        </p:nvSpPr>
        <p:spPr>
          <a:xfrm>
            <a:off x="1953798" y="2229673"/>
            <a:ext cx="4694712" cy="3516874"/>
          </a:xfrm>
          <a:prstGeom prst="rect">
            <a:avLst/>
          </a:prstGeom>
          <a:noFill/>
          <a:ln/>
        </p:spPr>
        <p:txBody>
          <a:bodyPr wrap="none" lIns="0" tIns="0" rIns="0" bIns="0" rtlCol="0" anchor="t"/>
          <a:lstStyle/>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def _denoise_tv_chambolle_nd(image, weight=0.1, eps=2.e-4, max_num_iter=200):</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p    = np.zeros((image.ndim,) + image.shape, dtype=...)  # dual variable</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g    = np.zeros_like(p)</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i = 0</a:t>
            </a:r>
            <a:endParaRPr lang="en-US" sz="769" dirty="0"/>
          </a:p>
          <a:p>
            <a:pPr algn="l" indent="0" marL="0">
              <a:lnSpc>
                <a:spcPts val="1154"/>
              </a:lnSpc>
              <a:buNone/>
            </a:pPr>
            <a:r>
              <a:rPr kern="0" lang="en-US" sz="769" b="1" dirty="0">
                <a:solidFill>
                  <a:srgbClr val="7C5E2A"/>
                </a:solidFill>
                <a:latin typeface="Consolas" pitchFamily="34" charset="0"/>
                <a:ea typeface="Consolas" pitchFamily="34" charset="-122"/>
                <a:cs typeface="Consolas" pitchFamily="34" charset="-120"/>
              </a:rPr>
              <a:t>    while i &lt; max_num_iter:                # ← the entire 'training'</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d = -p.sum(0)                 # divergence of the dual field</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out = image + d</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E = (d ** 2).sum()</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norm = np.sqrt((g ** 2).sum(axis=0))[np.newaxis, ...]</a:t>
            </a:r>
            <a:endParaRPr lang="en-US" sz="769" dirty="0"/>
          </a:p>
          <a:p>
            <a:pPr algn="l" indent="0" marL="0">
              <a:lnSpc>
                <a:spcPts val="1154"/>
              </a:lnSpc>
              <a:buNone/>
            </a:pPr>
            <a:r>
              <a:rPr kern="0" lang="en-US" sz="769" b="1" dirty="0">
                <a:solidFill>
                  <a:srgbClr val="7C5E2A"/>
                </a:solidFill>
                <a:latin typeface="Consolas" pitchFamily="34" charset="0"/>
                <a:ea typeface="Consolas" pitchFamily="34" charset="-122"/>
                <a:cs typeface="Consolas" pitchFamily="34" charset="-120"/>
              </a:rPr>
              <a:t>        E += weight * norm.sum()     # ← λ·Φ(x), the prior, one line</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tau = 1. / (2. * image.ndim)</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norm = norm * tau / weight</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norm += 1.</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p = p - tau * g</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p /= norm                    # projection onto the dual ball</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E /= float(image.size)</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if i == 0: E_init = E; E_previous = E</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else:</a:t>
            </a:r>
            <a:endParaRPr lang="en-US" sz="769" dirty="0"/>
          </a:p>
          <a:p>
            <a:pPr algn="l" indent="0" marL="0">
              <a:lnSpc>
                <a:spcPts val="1154"/>
              </a:lnSpc>
              <a:buNone/>
            </a:pPr>
            <a:r>
              <a:rPr kern="0" lang="en-US" sz="769" b="1" dirty="0">
                <a:solidFill>
                  <a:srgbClr val="7C5E2A"/>
                </a:solidFill>
                <a:latin typeface="Consolas" pitchFamily="34" charset="0"/>
                <a:ea typeface="Consolas" pitchFamily="34" charset="-122"/>
                <a:cs typeface="Consolas" pitchFamily="34" charset="-120"/>
              </a:rPr>
              <a:t>            if np.abs(E_previous - E) &lt; eps * E_init:  break  # ← convergence</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else: E_previous = E</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i += 1</a:t>
            </a:r>
            <a:endParaRPr lang="en-US" sz="769" dirty="0"/>
          </a:p>
          <a:p>
            <a:pPr algn="l" indent="0" marL="0">
              <a:lnSpc>
                <a:spcPts val="1154"/>
              </a:lnSpc>
              <a:buNone/>
            </a:pPr>
            <a:r>
              <a:rPr kern="0" lang="en-US" sz="769" dirty="0">
                <a:solidFill>
                  <a:srgbClr val="211F1B"/>
                </a:solidFill>
                <a:latin typeface="Consolas" pitchFamily="34" charset="0"/>
                <a:ea typeface="Consolas" pitchFamily="34" charset="-122"/>
                <a:cs typeface="Consolas" pitchFamily="34" charset="-120"/>
              </a:rPr>
              <a:t>    return out</a:t>
            </a:r>
            <a:endParaRPr lang="en-US" sz="769" dirty="0"/>
          </a:p>
        </p:txBody>
      </p:sp>
      <p:sp>
        <p:nvSpPr>
          <p:cNvPr id="13" name="Shape 11"/>
          <p:cNvSpPr/>
          <p:nvPr/>
        </p:nvSpPr>
        <p:spPr>
          <a:xfrm>
            <a:off x="6927312" y="1857421"/>
            <a:ext cx="7772" cy="4017051"/>
          </a:xfrm>
          <a:prstGeom prst="rect">
            <a:avLst/>
          </a:prstGeom>
          <a:solidFill>
            <a:srgbClr val="DFDBD2"/>
          </a:solidFill>
          <a:ln/>
        </p:spPr>
      </p:sp>
      <p:sp>
        <p:nvSpPr>
          <p:cNvPr id="14" name="Shape 12"/>
          <p:cNvSpPr/>
          <p:nvPr/>
        </p:nvSpPr>
        <p:spPr>
          <a:xfrm>
            <a:off x="7232081" y="1857421"/>
            <a:ext cx="4396801" cy="7772"/>
          </a:xfrm>
          <a:prstGeom prst="rect">
            <a:avLst/>
          </a:prstGeom>
          <a:solidFill>
            <a:srgbClr val="DFDBD2"/>
          </a:solidFill>
          <a:ln/>
        </p:spPr>
      </p:sp>
      <p:sp>
        <p:nvSpPr>
          <p:cNvPr id="15" name="Text 13"/>
          <p:cNvSpPr txBox="1"/>
          <p:nvPr/>
        </p:nvSpPr>
        <p:spPr>
          <a:xfrm>
            <a:off x="7232081" y="1998147"/>
            <a:ext cx="139903"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01</a:t>
            </a:r>
            <a:endParaRPr lang="en-US" sz="738" dirty="0"/>
          </a:p>
        </p:txBody>
      </p:sp>
      <p:sp>
        <p:nvSpPr>
          <p:cNvPr id="16" name="Text 14"/>
          <p:cNvSpPr txBox="1"/>
          <p:nvPr/>
        </p:nvSpPr>
        <p:spPr>
          <a:xfrm>
            <a:off x="7560351" y="1987357"/>
            <a:ext cx="4100444" cy="1345814"/>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Four things are visible on one screen, and they characterise the entire era.</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(1)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weight</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is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λ — the prior's strength is a function argument a human passes. (2)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norm.sum()</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is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Φ(x) = ‖∇x‖₁ — the prior itself, in one line of arithmetic you can read and differentiate by hand. (3) The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while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loop is the test-time optimisation. (4) The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break</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on relative energy change is the stopping criterion.</a:t>
            </a:r>
            <a:endParaRPr lang="en-US" sz="1138" dirty="0"/>
          </a:p>
        </p:txBody>
      </p:sp>
      <p:sp>
        <p:nvSpPr>
          <p:cNvPr id="17" name="Text 15"/>
          <p:cNvSpPr txBox="1"/>
          <p:nvPr/>
        </p:nvSpPr>
        <p:spPr>
          <a:xfrm>
            <a:off x="7232081" y="3463016"/>
            <a:ext cx="144475"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02</a:t>
            </a:r>
            <a:endParaRPr lang="en-US" sz="738" dirty="0"/>
          </a:p>
        </p:txBody>
      </p:sp>
      <p:sp>
        <p:nvSpPr>
          <p:cNvPr id="18" name="Text 16"/>
          <p:cNvSpPr txBox="1"/>
          <p:nvPr/>
        </p:nvSpPr>
        <p:spPr>
          <a:xfrm>
            <a:off x="7560351" y="3452226"/>
            <a:ext cx="4100444"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Nothing persists.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There is no state, no file, no checkpoint. Call the function on a second image and every one of these iterations runs again from scratch. That is bottleneck 1, expressed as control flow.</a:t>
            </a:r>
            <a:endParaRPr lang="en-US" sz="1138" dirty="0"/>
          </a:p>
        </p:txBody>
      </p:sp>
      <p:sp>
        <p:nvSpPr>
          <p:cNvPr id="19" name="Text 17"/>
          <p:cNvSpPr txBox="1"/>
          <p:nvPr/>
        </p:nvSpPr>
        <p:spPr>
          <a:xfrm>
            <a:off x="7232081" y="4238610"/>
            <a:ext cx="144567"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03</a:t>
            </a:r>
            <a:endParaRPr lang="en-US" sz="738" dirty="0"/>
          </a:p>
        </p:txBody>
      </p:sp>
      <p:sp>
        <p:nvSpPr>
          <p:cNvPr id="20" name="Text 18"/>
          <p:cNvSpPr txBox="1"/>
          <p:nvPr/>
        </p:nvSpPr>
        <p:spPr>
          <a:xfrm>
            <a:off x="7560351" y="4227911"/>
            <a:ext cx="4100444"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contrast to hold in mind for the next slide.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Here the prior is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readable and untrainable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In three slides it becomes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trainable and unreadable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That trade is the whole of the deep era.</a:t>
            </a:r>
            <a:endParaRPr lang="en-US" sz="1138" dirty="0"/>
          </a:p>
        </p:txBody>
      </p:sp>
      <p:sp>
        <p:nvSpPr>
          <p:cNvPr id="21" name="Text 19"/>
          <p:cNvSpPr txBox="1"/>
          <p:nvPr/>
        </p:nvSpPr>
        <p:spPr>
          <a:xfrm>
            <a:off x="8828989" y="6229259"/>
            <a:ext cx="2799984"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measured — </a:t>
            </a:r>
            <a:pPr algn="r" indent="0" marL="0">
              <a:lnSpc>
                <a:spcPts val="976"/>
              </a:lnSpc>
              <a:buNone/>
            </a:pPr>
            <a:r>
              <a:rPr kern="0" lang="en-US" sz="720" i="1" dirty="0">
                <a:solidFill>
                  <a:srgbClr val="145A66"/>
                </a:solidFill>
                <a:latin typeface="Consolas" pitchFamily="34" charset="0"/>
                <a:ea typeface="Consolas" pitchFamily="34" charset="-122"/>
                <a:cs typeface="Consolas" pitchFamily="34" charset="-120"/>
              </a:rPr>
              <a:t>scikit-image</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0.26.0, installed from PyPI and read</a:t>
            </a:r>
            <a:endParaRPr lang="en-US" sz="800" dirty="0"/>
          </a:p>
        </p:txBody>
      </p:sp>
      <p:sp>
        <p:nvSpPr>
          <p:cNvPr id="22" name="Shape 20"/>
          <p:cNvSpPr/>
          <p:nvPr/>
        </p:nvSpPr>
        <p:spPr>
          <a:xfrm>
            <a:off x="1531803" y="6537411"/>
            <a:ext cx="10097262" cy="7772"/>
          </a:xfrm>
          <a:prstGeom prst="rect">
            <a:avLst/>
          </a:prstGeom>
          <a:solidFill>
            <a:srgbClr val="C9C4B9"/>
          </a:solidFill>
          <a:ln/>
        </p:spPr>
      </p:sp>
      <p:sp>
        <p:nvSpPr>
          <p:cNvPr id="23" name="Shape 21"/>
          <p:cNvSpPr/>
          <p:nvPr/>
        </p:nvSpPr>
        <p:spPr>
          <a:xfrm>
            <a:off x="1531803" y="6525707"/>
            <a:ext cx="3926799" cy="31272"/>
          </a:xfrm>
          <a:prstGeom prst="rect">
            <a:avLst/>
          </a:prstGeom>
          <a:solidFill>
            <a:srgbClr val="7C5E2A"/>
          </a:solidFill>
          <a:ln/>
        </p:spPr>
      </p:sp>
      <p:sp>
        <p:nvSpPr>
          <p:cNvPr id="24" name="Shape 22"/>
          <p:cNvSpPr/>
          <p:nvPr/>
        </p:nvSpPr>
        <p:spPr>
          <a:xfrm>
            <a:off x="1531803" y="6498366"/>
            <a:ext cx="7772" cy="39045"/>
          </a:xfrm>
          <a:prstGeom prst="rect">
            <a:avLst/>
          </a:prstGeom>
          <a:solidFill>
            <a:srgbClr val="C9C4B9"/>
          </a:solidFill>
          <a:ln/>
        </p:spPr>
      </p:sp>
      <p:sp>
        <p:nvSpPr>
          <p:cNvPr id="25" name="Text 23"/>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6" name="Shape 24"/>
          <p:cNvSpPr/>
          <p:nvPr/>
        </p:nvSpPr>
        <p:spPr>
          <a:xfrm>
            <a:off x="5458511" y="6498366"/>
            <a:ext cx="7772" cy="39045"/>
          </a:xfrm>
          <a:prstGeom prst="rect">
            <a:avLst/>
          </a:prstGeom>
          <a:solidFill>
            <a:srgbClr val="C9C4B9"/>
          </a:solidFill>
          <a:ln/>
        </p:spPr>
      </p:sp>
      <p:sp>
        <p:nvSpPr>
          <p:cNvPr id="27" name="Text 25"/>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28" name="Shape 26"/>
          <p:cNvSpPr/>
          <p:nvPr/>
        </p:nvSpPr>
        <p:spPr>
          <a:xfrm>
            <a:off x="7141738" y="6498366"/>
            <a:ext cx="7772" cy="39045"/>
          </a:xfrm>
          <a:prstGeom prst="rect">
            <a:avLst/>
          </a:prstGeom>
          <a:solidFill>
            <a:srgbClr val="C9C4B9"/>
          </a:solidFill>
          <a:ln/>
        </p:spPr>
      </p:sp>
      <p:sp>
        <p:nvSpPr>
          <p:cNvPr id="29" name="Text 27"/>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0" name="Shape 28"/>
          <p:cNvSpPr/>
          <p:nvPr/>
        </p:nvSpPr>
        <p:spPr>
          <a:xfrm>
            <a:off x="9945654" y="6498366"/>
            <a:ext cx="7772" cy="39045"/>
          </a:xfrm>
          <a:prstGeom prst="rect">
            <a:avLst/>
          </a:prstGeom>
          <a:solidFill>
            <a:srgbClr val="C9C4B9"/>
          </a:solidFill>
          <a:ln/>
        </p:spPr>
      </p:sp>
      <p:sp>
        <p:nvSpPr>
          <p:cNvPr id="31" name="Text 29"/>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2" name="Shape 30"/>
          <p:cNvSpPr/>
          <p:nvPr/>
        </p:nvSpPr>
        <p:spPr>
          <a:xfrm>
            <a:off x="11628973" y="6498366"/>
            <a:ext cx="7772" cy="39045"/>
          </a:xfrm>
          <a:prstGeom prst="rect">
            <a:avLst/>
          </a:prstGeom>
          <a:solidFill>
            <a:srgbClr val="C9C4B9"/>
          </a:solidFill>
          <a:ln/>
        </p:spPr>
      </p:sp>
      <p:sp>
        <p:nvSpPr>
          <p:cNvPr id="33" name="Text 31"/>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6243"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67</a:t>
            </a:r>
            <a:endParaRPr lang="en-US" sz="2708" dirty="0"/>
          </a:p>
        </p:txBody>
      </p:sp>
      <p:sp>
        <p:nvSpPr>
          <p:cNvPr id="3" name="Text 1"/>
          <p:cNvSpPr txBox="1"/>
          <p:nvPr/>
        </p:nvSpPr>
        <p:spPr>
          <a:xfrm rot="16200000">
            <a:off x="-361371" y="3428909"/>
            <a:ext cx="648675"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1C6151"/>
                </a:solidFill>
                <a:latin typeface="Calibri" pitchFamily="34" charset="0"/>
                <a:ea typeface="Calibri" pitchFamily="34" charset="-122"/>
                <a:cs typeface="Calibri" pitchFamily="34" charset="-120"/>
              </a:rPr>
              <a:t>DEEP CNN</a:t>
            </a:r>
            <a:endParaRPr lang="en-US" sz="738" dirty="0"/>
          </a:p>
        </p:txBody>
      </p:sp>
      <p:sp>
        <p:nvSpPr>
          <p:cNvPr id="4" name="Shape 2"/>
          <p:cNvSpPr/>
          <p:nvPr/>
        </p:nvSpPr>
        <p:spPr>
          <a:xfrm>
            <a:off x="1531803" y="461132"/>
            <a:ext cx="203180" cy="23409"/>
          </a:xfrm>
          <a:prstGeom prst="rect">
            <a:avLst/>
          </a:prstGeom>
          <a:solidFill>
            <a:srgbClr val="1C6151"/>
          </a:solidFill>
          <a:ln/>
        </p:spPr>
      </p:sp>
      <p:sp>
        <p:nvSpPr>
          <p:cNvPr id="5" name="Text 3"/>
          <p:cNvSpPr txBox="1"/>
          <p:nvPr/>
        </p:nvSpPr>
        <p:spPr>
          <a:xfrm>
            <a:off x="1828800" y="408462"/>
            <a:ext cx="922081"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C6151"/>
                </a:solidFill>
                <a:latin typeface="Calibri" pitchFamily="34" charset="0"/>
                <a:ea typeface="Calibri" pitchFamily="34" charset="-122"/>
                <a:cs typeface="Calibri" pitchFamily="34" charset="-120"/>
              </a:rPr>
              <a:t>ERA II IN CODE</a:t>
            </a:r>
            <a:endParaRPr lang="en-US" sz="831" dirty="0"/>
          </a:p>
        </p:txBody>
      </p:sp>
      <p:sp>
        <p:nvSpPr>
          <p:cNvPr id="6" name="Text 4"/>
          <p:cNvSpPr txBox="1"/>
          <p:nvPr/>
        </p:nvSpPr>
        <p:spPr>
          <a:xfrm>
            <a:off x="1531803" y="646024"/>
            <a:ext cx="4896612"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DnCNN is a list comprehension</a:t>
            </a:r>
            <a:endParaRPr lang="en-US" sz="2831" dirty="0"/>
          </a:p>
        </p:txBody>
      </p:sp>
      <p:sp>
        <p:nvSpPr>
          <p:cNvPr id="7" name="Text 5"/>
          <p:cNvSpPr txBox="1"/>
          <p:nvPr/>
        </p:nvSpPr>
        <p:spPr>
          <a:xfrm>
            <a:off x="1531803" y="1177564"/>
            <a:ext cx="6060460" cy="461132"/>
          </a:xfrm>
          <a:prstGeom prst="rect">
            <a:avLst/>
          </a:prstGeom>
          <a:noFill/>
          <a:ln/>
        </p:spPr>
        <p:txBody>
          <a:bodyPr wrap="square" lIns="0" tIns="0" rIns="0" bIns="0" rtlCol="0" anchor="t"/>
          <a:lstStyle/>
          <a:p>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cszn/KAIR</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a:t>
            </a:r>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models/network_dncnn.py</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The reference PyTorch implementation, by DnCNN's own first author. Verbatim.</a:t>
            </a:r>
            <a:endParaRPr lang="en-US" sz="1108" dirty="0"/>
          </a:p>
        </p:txBody>
      </p:sp>
      <p:sp>
        <p:nvSpPr>
          <p:cNvPr id="8" name="Shape 6"/>
          <p:cNvSpPr/>
          <p:nvPr/>
        </p:nvSpPr>
        <p:spPr>
          <a:xfrm>
            <a:off x="1531803" y="1857421"/>
            <a:ext cx="5098512" cy="4170487"/>
          </a:xfrm>
          <a:prstGeom prst="rect">
            <a:avLst/>
          </a:prstGeom>
          <a:solidFill>
            <a:srgbClr val="F2F0E9"/>
          </a:solidFill>
          <a:ln/>
        </p:spPr>
      </p:sp>
      <p:sp>
        <p:nvSpPr>
          <p:cNvPr id="9" name="Shape 7"/>
          <p:cNvSpPr/>
          <p:nvPr/>
        </p:nvSpPr>
        <p:spPr>
          <a:xfrm>
            <a:off x="1531803" y="1857421"/>
            <a:ext cx="5098512" cy="23409"/>
          </a:xfrm>
          <a:prstGeom prst="rect">
            <a:avLst/>
          </a:prstGeom>
          <a:solidFill>
            <a:srgbClr val="1C6151"/>
          </a:solidFill>
          <a:ln/>
        </p:spPr>
      </p:sp>
      <p:sp>
        <p:nvSpPr>
          <p:cNvPr id="10" name="Text 8"/>
          <p:cNvSpPr txBox="1"/>
          <p:nvPr/>
        </p:nvSpPr>
        <p:spPr>
          <a:xfrm>
            <a:off x="1688074" y="2008022"/>
            <a:ext cx="1439631" cy="128748"/>
          </a:xfrm>
          <a:prstGeom prst="rect">
            <a:avLst/>
          </a:prstGeom>
          <a:noFill/>
          <a:ln/>
        </p:spPr>
        <p:txBody>
          <a:bodyPr wrap="none" lIns="0" tIns="0" rIns="0" bIns="0" rtlCol="0" anchor="t"/>
          <a:lstStyle/>
          <a:p>
            <a:pPr algn="l" indent="0" marL="0">
              <a:lnSpc>
                <a:spcPts val="1014"/>
              </a:lnSpc>
              <a:buNone/>
            </a:pPr>
            <a:r>
              <a:rPr kern="0" lang="en-US" sz="831" i="1" dirty="0">
                <a:solidFill>
                  <a:srgbClr val="8A847A"/>
                </a:solidFill>
                <a:latin typeface="Calibri" pitchFamily="34" charset="0"/>
                <a:ea typeface="Calibri" pitchFamily="34" charset="-122"/>
                <a:cs typeface="Calibri" pitchFamily="34" charset="-120"/>
              </a:rPr>
              <a:t>KAIR/models/network_dncnn.py</a:t>
            </a:r>
            <a:endParaRPr lang="en-US" sz="831" dirty="0"/>
          </a:p>
        </p:txBody>
      </p:sp>
      <p:sp>
        <p:nvSpPr>
          <p:cNvPr id="11" name="Text 9"/>
          <p:cNvSpPr txBox="1"/>
          <p:nvPr/>
        </p:nvSpPr>
        <p:spPr>
          <a:xfrm>
            <a:off x="1906890" y="2220895"/>
            <a:ext cx="159471" cy="2790017"/>
          </a:xfrm>
          <a:prstGeom prst="rect">
            <a:avLst/>
          </a:prstGeom>
          <a:noFill/>
          <a:ln/>
        </p:spPr>
        <p:txBody>
          <a:bodyPr wrap="none" lIns="0" tIns="0" rIns="0" bIns="0" rtlCol="0" anchor="t"/>
          <a:lstStyle/>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1</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2</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3</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4</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5</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6</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7</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8</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9</a:t>
            </a:r>
            <a:endParaRPr lang="en-US" sz="738" dirty="0"/>
          </a:p>
          <a:p>
            <a:pPr algn="r" indent="0" marL="0">
              <a:lnSpc>
                <a:spcPts val="1292"/>
              </a:lnSpc>
              <a:buNone/>
            </a:pPr>
            <a:r>
              <a:rPr kern="0" lang="en-US" sz="738" b="1" dirty="0">
                <a:solidFill>
                  <a:srgbClr val="B5AFA4"/>
                </a:solidFill>
                <a:latin typeface="Consolas" pitchFamily="34" charset="0"/>
                <a:ea typeface="Consolas" pitchFamily="34" charset="-122"/>
                <a:cs typeface="Consolas" pitchFamily="34" charset="-120"/>
              </a:rPr>
              <a:t>10</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11</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12</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13</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14</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15</a:t>
            </a:r>
            <a:endParaRPr lang="en-US" sz="738" dirty="0"/>
          </a:p>
          <a:p>
            <a:pPr algn="r" indent="0" marL="0">
              <a:lnSpc>
                <a:spcPts val="1292"/>
              </a:lnSpc>
              <a:buNone/>
            </a:pPr>
            <a:r>
              <a:rPr kern="0" lang="en-US" sz="738" dirty="0">
                <a:solidFill>
                  <a:srgbClr val="B5AFA4"/>
                </a:solidFill>
                <a:latin typeface="Consolas" pitchFamily="34" charset="0"/>
                <a:ea typeface="Consolas" pitchFamily="34" charset="-122"/>
                <a:cs typeface="Consolas" pitchFamily="34" charset="-120"/>
              </a:rPr>
              <a:t>16</a:t>
            </a:r>
            <a:endParaRPr lang="en-US" sz="738" dirty="0"/>
          </a:p>
          <a:p>
            <a:pPr algn="r" indent="0" marL="0">
              <a:lnSpc>
                <a:spcPts val="1292"/>
              </a:lnSpc>
              <a:buNone/>
            </a:pPr>
            <a:r>
              <a:rPr kern="0" lang="en-US" sz="738" b="1" dirty="0">
                <a:solidFill>
                  <a:srgbClr val="B5AFA4"/>
                </a:solidFill>
                <a:latin typeface="Consolas" pitchFamily="34" charset="0"/>
                <a:ea typeface="Consolas" pitchFamily="34" charset="-122"/>
                <a:cs typeface="Consolas" pitchFamily="34" charset="-120"/>
              </a:rPr>
              <a:t>17</a:t>
            </a:r>
            <a:endParaRPr lang="en-US" sz="738" dirty="0"/>
          </a:p>
        </p:txBody>
      </p:sp>
      <p:sp>
        <p:nvSpPr>
          <p:cNvPr id="12" name="Text 10"/>
          <p:cNvSpPr txBox="1"/>
          <p:nvPr/>
        </p:nvSpPr>
        <p:spPr>
          <a:xfrm>
            <a:off x="1953798" y="2228667"/>
            <a:ext cx="4643415" cy="2790017"/>
          </a:xfrm>
          <a:prstGeom prst="rect">
            <a:avLst/>
          </a:prstGeom>
          <a:noFill/>
          <a:ln/>
        </p:spPr>
        <p:txBody>
          <a:bodyPr wrap="none" lIns="0" tIns="0" rIns="0" bIns="0" rtlCol="0" anchor="t"/>
          <a:lstStyle/>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class DnCNN(nn.Module):</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def __init__(self, in_nc=1, out_nc=1, nc=64, nb=17,</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act_mode='BR'):</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super(DnCNN, self).__init__()</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assert 'R' in act_mode or 'L' in act_mode</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bias = True</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m_head = B.conv(in_nc, nc, mode='C'+act_mode[-1], bias=bias)</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m_body = [B.conv(nc, nc, mode='C'+act_mode, bias=bias)</a:t>
            </a:r>
            <a:endParaRPr lang="en-US" sz="862" dirty="0"/>
          </a:p>
          <a:p>
            <a:pPr algn="l" indent="0" marL="0">
              <a:lnSpc>
                <a:spcPts val="1292"/>
              </a:lnSpc>
              <a:buNone/>
            </a:pPr>
            <a:r>
              <a:rPr kern="0" lang="en-US" sz="862" b="1" dirty="0">
                <a:solidFill>
                  <a:srgbClr val="1C6151"/>
                </a:solidFill>
                <a:latin typeface="Consolas" pitchFamily="34" charset="0"/>
                <a:ea typeface="Consolas" pitchFamily="34" charset="-122"/>
                <a:cs typeface="Consolas" pitchFamily="34" charset="-120"/>
              </a:rPr>
              <a:t>                  for _ in range(nb-2)]        # ← the whole network</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m_tail = B.conv(nc, out_nc, mode='C', bias=bias)</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self.model = B.sequential(m_head, *m_body, m_tail)</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def forward(self, x):</a:t>
            </a:r>
            <a:endParaRPr lang="en-US" sz="862" dirty="0"/>
          </a:p>
          <a:p>
            <a:pPr algn="l" indent="0" marL="0">
              <a:lnSpc>
                <a:spcPts val="1292"/>
              </a:lnSpc>
              <a:buNone/>
            </a:pPr>
            <a:r>
              <a:rPr kern="0" lang="en-US" sz="862" dirty="0">
                <a:solidFill>
                  <a:srgbClr val="211F1B"/>
                </a:solidFill>
                <a:latin typeface="Consolas" pitchFamily="34" charset="0"/>
                <a:ea typeface="Consolas" pitchFamily="34" charset="-122"/>
                <a:cs typeface="Consolas" pitchFamily="34" charset="-120"/>
              </a:rPr>
              <a:t>        n = self.model(x)</a:t>
            </a:r>
            <a:endParaRPr lang="en-US" sz="862" dirty="0"/>
          </a:p>
          <a:p>
            <a:pPr algn="l" indent="0" marL="0">
              <a:lnSpc>
                <a:spcPts val="1292"/>
              </a:lnSpc>
              <a:buNone/>
            </a:pPr>
            <a:r>
              <a:rPr kern="0" lang="en-US" sz="862" b="1" dirty="0">
                <a:solidFill>
                  <a:srgbClr val="1C6151"/>
                </a:solidFill>
                <a:latin typeface="Consolas" pitchFamily="34" charset="0"/>
                <a:ea typeface="Consolas" pitchFamily="34" charset="-122"/>
                <a:cs typeface="Consolas" pitchFamily="34" charset="-120"/>
              </a:rPr>
              <a:t>        return x-n                             # ← residual learning</a:t>
            </a:r>
            <a:endParaRPr lang="en-US" sz="862" dirty="0"/>
          </a:p>
        </p:txBody>
      </p:sp>
      <p:sp>
        <p:nvSpPr>
          <p:cNvPr id="13" name="Shape 11"/>
          <p:cNvSpPr/>
          <p:nvPr/>
        </p:nvSpPr>
        <p:spPr>
          <a:xfrm>
            <a:off x="6927312" y="1857421"/>
            <a:ext cx="7772" cy="4170487"/>
          </a:xfrm>
          <a:prstGeom prst="rect">
            <a:avLst/>
          </a:prstGeom>
          <a:solidFill>
            <a:srgbClr val="DFDBD2"/>
          </a:solidFill>
          <a:ln/>
        </p:spPr>
      </p:sp>
      <p:sp>
        <p:nvSpPr>
          <p:cNvPr id="14" name="Shape 12"/>
          <p:cNvSpPr/>
          <p:nvPr/>
        </p:nvSpPr>
        <p:spPr>
          <a:xfrm>
            <a:off x="7232081" y="1857421"/>
            <a:ext cx="4396801" cy="7772"/>
          </a:xfrm>
          <a:prstGeom prst="rect">
            <a:avLst/>
          </a:prstGeom>
          <a:solidFill>
            <a:srgbClr val="DFDBD2"/>
          </a:solidFill>
          <a:ln/>
        </p:spPr>
      </p:sp>
      <p:sp>
        <p:nvSpPr>
          <p:cNvPr id="15" name="Text 13"/>
          <p:cNvSpPr txBox="1"/>
          <p:nvPr/>
        </p:nvSpPr>
        <p:spPr>
          <a:xfrm>
            <a:off x="7232081" y="1998147"/>
            <a:ext cx="139903"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01</a:t>
            </a:r>
            <a:endParaRPr lang="en-US" sz="738" dirty="0"/>
          </a:p>
        </p:txBody>
      </p:sp>
      <p:sp>
        <p:nvSpPr>
          <p:cNvPr id="16" name="Text 14"/>
          <p:cNvSpPr txBox="1"/>
          <p:nvPr/>
        </p:nvSpPr>
        <p:spPr>
          <a:xfrm>
            <a:off x="7560351" y="1987357"/>
            <a:ext cx="4100444" cy="886785"/>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architecture is one line.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m_body</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is a list comprehension of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nb-2</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identical blocks. The three layer types from slide 32 are literally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m_head</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m_body</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m_tail</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There is no architectural cleverness to read because there is none in the paper.</a:t>
            </a:r>
            <a:endParaRPr lang="en-US" sz="1138" dirty="0"/>
          </a:p>
        </p:txBody>
      </p:sp>
      <p:sp>
        <p:nvSpPr>
          <p:cNvPr id="17" name="Text 15"/>
          <p:cNvSpPr txBox="1"/>
          <p:nvPr/>
        </p:nvSpPr>
        <p:spPr>
          <a:xfrm>
            <a:off x="7232081" y="3009930"/>
            <a:ext cx="144475"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02</a:t>
            </a:r>
            <a:endParaRPr lang="en-US" sz="738" dirty="0"/>
          </a:p>
        </p:txBody>
      </p:sp>
      <p:sp>
        <p:nvSpPr>
          <p:cNvPr id="18" name="Text 16"/>
          <p:cNvSpPr txBox="1"/>
          <p:nvPr/>
        </p:nvSpPr>
        <p:spPr>
          <a:xfrm>
            <a:off x="7560351" y="2999232"/>
            <a:ext cx="4100444" cy="89638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mode='C'+act_mode is the whole layer grammar.</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'CBR'</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Convolution → BatchNorm → ReLU for the body;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'CR'</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Convolution → ReLU for the head;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'C'</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Convolution alone for the tail. Exactly the paper's Fig. 1, encoded as a three-character string.</a:t>
            </a:r>
            <a:endParaRPr lang="en-US" sz="1138" dirty="0"/>
          </a:p>
        </p:txBody>
      </p:sp>
      <p:sp>
        <p:nvSpPr>
          <p:cNvPr id="19" name="Text 17"/>
          <p:cNvSpPr txBox="1"/>
          <p:nvPr/>
        </p:nvSpPr>
        <p:spPr>
          <a:xfrm>
            <a:off x="7232081" y="4031407"/>
            <a:ext cx="144567"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03</a:t>
            </a:r>
            <a:endParaRPr lang="en-US" sz="738" dirty="0"/>
          </a:p>
        </p:txBody>
      </p:sp>
      <p:sp>
        <p:nvSpPr>
          <p:cNvPr id="20" name="Text 18"/>
          <p:cNvSpPr txBox="1"/>
          <p:nvPr/>
        </p:nvSpPr>
        <p:spPr>
          <a:xfrm>
            <a:off x="7560351" y="4020708"/>
            <a:ext cx="4100444" cy="1093988"/>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return x-n is the paper's central idea, a single subtraction.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Note the subtlety: the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paper's network</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outputs v̂, and the subtraction happens outside. KAIR folds the subtraction inside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forward</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so the module returns the clean image. The residual mapping is still what the weights learn — only the boundary of the module moved.</a:t>
            </a:r>
            <a:endParaRPr lang="en-US" sz="1138" dirty="0"/>
          </a:p>
        </p:txBody>
      </p:sp>
      <p:sp>
        <p:nvSpPr>
          <p:cNvPr id="21" name="Text 19"/>
          <p:cNvSpPr txBox="1"/>
          <p:nvPr/>
        </p:nvSpPr>
        <p:spPr>
          <a:xfrm>
            <a:off x="7232081" y="5250485"/>
            <a:ext cx="148864"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04</a:t>
            </a:r>
            <a:endParaRPr lang="en-US" sz="738" dirty="0"/>
          </a:p>
        </p:txBody>
      </p:sp>
      <p:sp>
        <p:nvSpPr>
          <p:cNvPr id="22" name="Text 20"/>
          <p:cNvSpPr txBox="1"/>
          <p:nvPr/>
        </p:nvSpPr>
        <p:spPr>
          <a:xfrm>
            <a:off x="7560351" y="5239695"/>
            <a:ext cx="4100444" cy="660288"/>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Where is the prior?</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Nowhere in this file. It is in the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.pth</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checkpoint this class will load. The file describes a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shape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prior is the tensor poured into it. This is the moment the prior stops being readable.</a:t>
            </a:r>
            <a:endParaRPr lang="en-US" sz="1138" dirty="0"/>
          </a:p>
        </p:txBody>
      </p:sp>
      <p:sp>
        <p:nvSpPr>
          <p:cNvPr id="23" name="Text 21"/>
          <p:cNvSpPr txBox="1"/>
          <p:nvPr/>
        </p:nvSpPr>
        <p:spPr>
          <a:xfrm>
            <a:off x="8750076" y="6229259"/>
            <a:ext cx="2878897"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measured — </a:t>
            </a:r>
            <a:pPr algn="r" indent="0" marL="0">
              <a:lnSpc>
                <a:spcPts val="976"/>
              </a:lnSpc>
              <a:buNone/>
            </a:pPr>
            <a:r>
              <a:rPr kern="0" lang="en-US" sz="720" i="1" dirty="0">
                <a:solidFill>
                  <a:srgbClr val="145A66"/>
                </a:solidFill>
                <a:latin typeface="Consolas" pitchFamily="34" charset="0"/>
                <a:ea typeface="Consolas" pitchFamily="34" charset="-122"/>
                <a:cs typeface="Consolas" pitchFamily="34" charset="-120"/>
              </a:rPr>
              <a:t>cszn/KAIR</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a:t>
            </a:r>
            <a:pPr algn="r" indent="0" marL="0">
              <a:lnSpc>
                <a:spcPts val="976"/>
              </a:lnSpc>
              <a:buNone/>
            </a:pPr>
            <a:r>
              <a:rPr kern="0" lang="en-US" sz="720" i="1" dirty="0">
                <a:solidFill>
                  <a:srgbClr val="145A66"/>
                </a:solidFill>
                <a:latin typeface="Consolas" pitchFamily="34" charset="0"/>
                <a:ea typeface="Consolas" pitchFamily="34" charset="-122"/>
                <a:cs typeface="Consolas" pitchFamily="34" charset="-120"/>
              </a:rPr>
              <a:t>models/network_dncnn.py</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verbatim</a:t>
            </a:r>
            <a:endParaRPr lang="en-US" sz="800" dirty="0"/>
          </a:p>
        </p:txBody>
      </p:sp>
      <p:sp>
        <p:nvSpPr>
          <p:cNvPr id="24" name="Shape 22"/>
          <p:cNvSpPr/>
          <p:nvPr/>
        </p:nvSpPr>
        <p:spPr>
          <a:xfrm>
            <a:off x="1531803" y="6537411"/>
            <a:ext cx="10097262" cy="7772"/>
          </a:xfrm>
          <a:prstGeom prst="rect">
            <a:avLst/>
          </a:prstGeom>
          <a:solidFill>
            <a:srgbClr val="C9C4B9"/>
          </a:solidFill>
          <a:ln/>
        </p:spPr>
      </p:sp>
      <p:sp>
        <p:nvSpPr>
          <p:cNvPr id="25" name="Shape 23"/>
          <p:cNvSpPr/>
          <p:nvPr/>
        </p:nvSpPr>
        <p:spPr>
          <a:xfrm>
            <a:off x="6580388" y="6525707"/>
            <a:ext cx="1121694" cy="31272"/>
          </a:xfrm>
          <a:prstGeom prst="rect">
            <a:avLst/>
          </a:prstGeom>
          <a:solidFill>
            <a:srgbClr val="1C6151"/>
          </a:solidFill>
          <a:ln/>
        </p:spPr>
      </p:sp>
      <p:sp>
        <p:nvSpPr>
          <p:cNvPr id="26" name="Shape 24"/>
          <p:cNvSpPr/>
          <p:nvPr/>
        </p:nvSpPr>
        <p:spPr>
          <a:xfrm>
            <a:off x="1531803" y="6498366"/>
            <a:ext cx="7772" cy="39045"/>
          </a:xfrm>
          <a:prstGeom prst="rect">
            <a:avLst/>
          </a:prstGeom>
          <a:solidFill>
            <a:srgbClr val="C9C4B9"/>
          </a:solidFill>
          <a:ln/>
        </p:spPr>
      </p:sp>
      <p:sp>
        <p:nvSpPr>
          <p:cNvPr id="27" name="Text 25"/>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8" name="Shape 26"/>
          <p:cNvSpPr/>
          <p:nvPr/>
        </p:nvSpPr>
        <p:spPr>
          <a:xfrm>
            <a:off x="5458511" y="6498366"/>
            <a:ext cx="7772" cy="39045"/>
          </a:xfrm>
          <a:prstGeom prst="rect">
            <a:avLst/>
          </a:prstGeom>
          <a:solidFill>
            <a:srgbClr val="C9C4B9"/>
          </a:solidFill>
          <a:ln/>
        </p:spPr>
      </p:sp>
      <p:sp>
        <p:nvSpPr>
          <p:cNvPr id="29" name="Text 27"/>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0" name="Shape 28"/>
          <p:cNvSpPr/>
          <p:nvPr/>
        </p:nvSpPr>
        <p:spPr>
          <a:xfrm>
            <a:off x="7141738" y="6498366"/>
            <a:ext cx="7772" cy="39045"/>
          </a:xfrm>
          <a:prstGeom prst="rect">
            <a:avLst/>
          </a:prstGeom>
          <a:solidFill>
            <a:srgbClr val="C9C4B9"/>
          </a:solidFill>
          <a:ln/>
        </p:spPr>
      </p:sp>
      <p:sp>
        <p:nvSpPr>
          <p:cNvPr id="31" name="Text 29"/>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2" name="Shape 30"/>
          <p:cNvSpPr/>
          <p:nvPr/>
        </p:nvSpPr>
        <p:spPr>
          <a:xfrm>
            <a:off x="9945654" y="6498366"/>
            <a:ext cx="7772" cy="39045"/>
          </a:xfrm>
          <a:prstGeom prst="rect">
            <a:avLst/>
          </a:prstGeom>
          <a:solidFill>
            <a:srgbClr val="C9C4B9"/>
          </a:solidFill>
          <a:ln/>
        </p:spPr>
      </p:sp>
      <p:sp>
        <p:nvSpPr>
          <p:cNvPr id="33" name="Text 31"/>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4" name="Shape 32"/>
          <p:cNvSpPr/>
          <p:nvPr/>
        </p:nvSpPr>
        <p:spPr>
          <a:xfrm>
            <a:off x="11628973" y="6498366"/>
            <a:ext cx="7772" cy="39045"/>
          </a:xfrm>
          <a:prstGeom prst="rect">
            <a:avLst/>
          </a:prstGeom>
          <a:solidFill>
            <a:srgbClr val="C9C4B9"/>
          </a:solidFill>
          <a:ln/>
        </p:spPr>
      </p:sp>
      <p:sp>
        <p:nvSpPr>
          <p:cNvPr id="35" name="Text 33"/>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82951"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68</a:t>
            </a:r>
            <a:endParaRPr lang="en-US" sz="2545" dirty="0"/>
          </a:p>
        </p:txBody>
      </p:sp>
      <p:sp>
        <p:nvSpPr>
          <p:cNvPr id="3" name="Text 1"/>
          <p:cNvSpPr txBox="1"/>
          <p:nvPr/>
        </p:nvSpPr>
        <p:spPr>
          <a:xfrm rot="16200000">
            <a:off x="-336591" y="3428909"/>
            <a:ext cx="837225"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7E3247"/>
                </a:solidFill>
                <a:latin typeface="Calibri" pitchFamily="34" charset="0"/>
                <a:ea typeface="Calibri" pitchFamily="34" charset="-122"/>
                <a:cs typeface="Calibri" pitchFamily="34" charset="-120"/>
              </a:rPr>
              <a:t>DATA BRANCH</a:t>
            </a:r>
            <a:endParaRPr lang="en-US" sz="694" dirty="0"/>
          </a:p>
        </p:txBody>
      </p:sp>
      <p:sp>
        <p:nvSpPr>
          <p:cNvPr id="4" name="Shape 2"/>
          <p:cNvSpPr/>
          <p:nvPr/>
        </p:nvSpPr>
        <p:spPr>
          <a:xfrm>
            <a:off x="1439540" y="433334"/>
            <a:ext cx="190927" cy="22037"/>
          </a:xfrm>
          <a:prstGeom prst="rect">
            <a:avLst/>
          </a:prstGeom>
          <a:solidFill>
            <a:srgbClr val="7E3247"/>
          </a:solidFill>
          <a:ln/>
        </p:spPr>
      </p:sp>
      <p:sp>
        <p:nvSpPr>
          <p:cNvPr id="5" name="Text 3"/>
          <p:cNvSpPr txBox="1"/>
          <p:nvPr/>
        </p:nvSpPr>
        <p:spPr>
          <a:xfrm>
            <a:off x="1718615" y="383865"/>
            <a:ext cx="1570573"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7E3247"/>
                </a:solidFill>
                <a:latin typeface="Calibri" pitchFamily="34" charset="0"/>
                <a:ea typeface="Calibri" pitchFamily="34" charset="-122"/>
                <a:cs typeface="Calibri" pitchFamily="34" charset="-120"/>
              </a:rPr>
              <a:t>THE DATA BRANCH IN CODE</a:t>
            </a:r>
            <a:endParaRPr lang="en-US" sz="781" dirty="0"/>
          </a:p>
        </p:txBody>
      </p:sp>
      <p:sp>
        <p:nvSpPr>
          <p:cNvPr id="6" name="Text 4"/>
          <p:cNvSpPr txBox="1"/>
          <p:nvPr/>
        </p:nvSpPr>
        <p:spPr>
          <a:xfrm>
            <a:off x="1439540" y="607070"/>
            <a:ext cx="9439717"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Noise2Noise is an if-statement, and P2N is three forward passes</a:t>
            </a:r>
            <a:endParaRPr lang="en-US" sz="2660" dirty="0"/>
          </a:p>
        </p:txBody>
      </p:sp>
      <p:sp>
        <p:nvSpPr>
          <p:cNvPr id="7" name="Text 5"/>
          <p:cNvSpPr txBox="1"/>
          <p:nvPr/>
        </p:nvSpPr>
        <p:spPr>
          <a:xfrm>
            <a:off x="1439540" y="1091885"/>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strongest evidence that the data branch is a supervision story rather than an architecture story is that its code contains almost no architecture.</a:t>
            </a:r>
            <a:endParaRPr lang="en-US" sz="1157" dirty="0"/>
          </a:p>
        </p:txBody>
      </p:sp>
      <p:sp>
        <p:nvSpPr>
          <p:cNvPr id="8" name="Shape 6"/>
          <p:cNvSpPr/>
          <p:nvPr/>
        </p:nvSpPr>
        <p:spPr>
          <a:xfrm>
            <a:off x="6551219" y="1738183"/>
            <a:ext cx="7315" cy="2962656"/>
          </a:xfrm>
          <a:prstGeom prst="rect">
            <a:avLst/>
          </a:prstGeom>
          <a:solidFill>
            <a:srgbClr val="DFDBD2"/>
          </a:solidFill>
          <a:ln/>
        </p:spPr>
      </p:sp>
      <p:sp>
        <p:nvSpPr>
          <p:cNvPr id="9" name="Shape 7"/>
          <p:cNvSpPr/>
          <p:nvPr/>
        </p:nvSpPr>
        <p:spPr>
          <a:xfrm>
            <a:off x="1439540" y="1738183"/>
            <a:ext cx="4950104" cy="14722"/>
          </a:xfrm>
          <a:prstGeom prst="rect">
            <a:avLst/>
          </a:prstGeom>
          <a:solidFill>
            <a:srgbClr val="7E3247"/>
          </a:solidFill>
          <a:ln/>
        </p:spPr>
      </p:sp>
      <p:sp>
        <p:nvSpPr>
          <p:cNvPr id="10" name="Text 8"/>
          <p:cNvSpPr txBox="1"/>
          <p:nvPr/>
        </p:nvSpPr>
        <p:spPr>
          <a:xfrm>
            <a:off x="1439540" y="1874246"/>
            <a:ext cx="2181667"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Noise2Noise, 2018 — NVlabs</a:t>
            </a:r>
            <a:pPr algn="l" indent="0" marL="0">
              <a:lnSpc>
                <a:spcPts val="1501"/>
              </a:lnSpc>
              <a:buNone/>
            </a:pPr>
            <a:r>
              <a:rPr lang="en-US" sz="941" b="1" spc="-23" kern="0" dirty="0">
                <a:solidFill>
                  <a:srgbClr val="C0451A"/>
                </a:solidFill>
                <a:latin typeface="Cambria" pitchFamily="34" charset="0"/>
                <a:ea typeface="Cambria" pitchFamily="34" charset="-122"/>
                <a:cs typeface="Cambria" pitchFamily="34" charset="-120"/>
              </a:rPr>
              <a:t>[1]</a:t>
            </a:r>
            <a:endParaRPr lang="en-US" sz="1272" dirty="0"/>
          </a:p>
        </p:txBody>
      </p:sp>
      <p:sp>
        <p:nvSpPr>
          <p:cNvPr id="11" name="Shape 9"/>
          <p:cNvSpPr/>
          <p:nvPr/>
        </p:nvSpPr>
        <p:spPr>
          <a:xfrm>
            <a:off x="1439540" y="2215225"/>
            <a:ext cx="58796" cy="36759"/>
          </a:xfrm>
          <a:prstGeom prst="rect">
            <a:avLst/>
          </a:prstGeom>
          <a:solidFill>
            <a:srgbClr val="7E3247"/>
          </a:solidFill>
          <a:ln/>
        </p:spPr>
      </p:sp>
      <p:sp>
        <p:nvSpPr>
          <p:cNvPr id="12" name="Text 10"/>
          <p:cNvSpPr txBox="1"/>
          <p:nvPr/>
        </p:nvSpPr>
        <p:spPr>
          <a:xfrm>
            <a:off x="1586393" y="2153778"/>
            <a:ext cx="4837176" cy="611459"/>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repository is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TensorFlow</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 the last major denoiser released outside PyTorch. Everything in Part V and everything after 2019 in Part IV is PyTorch. The migration is visible as a single dated boundary in the field's source history.</a:t>
            </a:r>
            <a:endParaRPr lang="en-US" sz="1070" dirty="0"/>
          </a:p>
        </p:txBody>
      </p:sp>
      <p:sp>
        <p:nvSpPr>
          <p:cNvPr id="13" name="Shape 11"/>
          <p:cNvSpPr/>
          <p:nvPr/>
        </p:nvSpPr>
        <p:spPr>
          <a:xfrm>
            <a:off x="1439540" y="2944185"/>
            <a:ext cx="58796" cy="36759"/>
          </a:xfrm>
          <a:prstGeom prst="rect">
            <a:avLst/>
          </a:prstGeom>
          <a:solidFill>
            <a:srgbClr val="7E3247"/>
          </a:solidFill>
          <a:ln/>
        </p:spPr>
      </p:sp>
      <p:sp>
        <p:nvSpPr>
          <p:cNvPr id="14" name="Text 12"/>
          <p:cNvSpPr txBox="1"/>
          <p:nvPr/>
        </p:nvSpPr>
        <p:spPr>
          <a:xfrm>
            <a:off x="1586393" y="2882646"/>
            <a:ext cx="4837176" cy="611459"/>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change from supervised training is structurally one branch: the target tensor is either the clean image or a second noisy image. The network, the optimiser, the schedule and the loss are untouched.</a:t>
            </a:r>
            <a:endParaRPr lang="en-US" sz="1070" dirty="0"/>
          </a:p>
        </p:txBody>
      </p:sp>
      <p:sp>
        <p:nvSpPr>
          <p:cNvPr id="15" name="Shape 13"/>
          <p:cNvSpPr/>
          <p:nvPr/>
        </p:nvSpPr>
        <p:spPr>
          <a:xfrm>
            <a:off x="1439540" y="3673145"/>
            <a:ext cx="58796" cy="36759"/>
          </a:xfrm>
          <a:prstGeom prst="rect">
            <a:avLst/>
          </a:prstGeom>
          <a:solidFill>
            <a:srgbClr val="7E3247"/>
          </a:solidFill>
          <a:ln/>
        </p:spPr>
      </p:sp>
      <p:sp>
        <p:nvSpPr>
          <p:cNvPr id="16" name="Text 14"/>
          <p:cNvSpPr txBox="1"/>
          <p:nvPr/>
        </p:nvSpPr>
        <p:spPr>
          <a:xfrm>
            <a:off x="1586393" y="3611606"/>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theorem from slide 43 costs one conditional.</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That asymmetry — a substantial statistical result, a trivial code change — is the whole reason the paper landed.</a:t>
            </a:r>
            <a:endParaRPr lang="en-US" sz="1070" dirty="0"/>
          </a:p>
        </p:txBody>
      </p:sp>
      <p:sp>
        <p:nvSpPr>
          <p:cNvPr id="17" name="Shape 15"/>
          <p:cNvSpPr/>
          <p:nvPr/>
        </p:nvSpPr>
        <p:spPr>
          <a:xfrm>
            <a:off x="6712793" y="1738183"/>
            <a:ext cx="4950104" cy="14722"/>
          </a:xfrm>
          <a:prstGeom prst="rect">
            <a:avLst/>
          </a:prstGeom>
          <a:solidFill>
            <a:srgbClr val="7E3247"/>
          </a:solidFill>
          <a:ln/>
        </p:spPr>
      </p:sp>
      <p:sp>
        <p:nvSpPr>
          <p:cNvPr id="18" name="Text 16"/>
          <p:cNvSpPr txBox="1"/>
          <p:nvPr/>
        </p:nvSpPr>
        <p:spPr>
          <a:xfrm>
            <a:off x="6712793" y="1874246"/>
            <a:ext cx="2012777"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P2N+, 2025 — Li-Tong-621</a:t>
            </a:r>
            <a:pPr algn="l" indent="0" marL="0">
              <a:lnSpc>
                <a:spcPts val="1501"/>
              </a:lnSpc>
              <a:buNone/>
            </a:pPr>
            <a:r>
              <a:rPr lang="en-US" sz="941" b="1" spc="-23" kern="0" dirty="0">
                <a:solidFill>
                  <a:srgbClr val="C0451A"/>
                </a:solidFill>
                <a:latin typeface="Cambria" pitchFamily="34" charset="0"/>
                <a:ea typeface="Cambria" pitchFamily="34" charset="-122"/>
                <a:cs typeface="Cambria" pitchFamily="34" charset="-120"/>
              </a:rPr>
              <a:t>[1]</a:t>
            </a:r>
            <a:endParaRPr lang="en-US" sz="1272" dirty="0"/>
          </a:p>
        </p:txBody>
      </p:sp>
      <p:sp>
        <p:nvSpPr>
          <p:cNvPr id="19" name="Shape 17"/>
          <p:cNvSpPr/>
          <p:nvPr/>
        </p:nvSpPr>
        <p:spPr>
          <a:xfrm>
            <a:off x="6712793" y="2215225"/>
            <a:ext cx="58796" cy="36759"/>
          </a:xfrm>
          <a:prstGeom prst="rect">
            <a:avLst/>
          </a:prstGeom>
          <a:solidFill>
            <a:srgbClr val="7E3247"/>
          </a:solidFill>
          <a:ln/>
        </p:spPr>
      </p:sp>
      <p:sp>
        <p:nvSpPr>
          <p:cNvPr id="20" name="Text 18"/>
          <p:cNvSpPr txBox="1"/>
          <p:nvPr/>
        </p:nvSpPr>
        <p:spPr>
          <a:xfrm>
            <a:off x="6859646" y="2153778"/>
            <a:ext cx="4837176" cy="611459"/>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network class is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UNet_n2n_un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and its channel widths match the 2018 Noise2Noise U-Net exactly. Seven years on, the backbone is named after its predecessor.</a:t>
            </a:r>
            <a:endParaRPr lang="en-US" sz="1070" dirty="0"/>
          </a:p>
        </p:txBody>
      </p:sp>
      <p:sp>
        <p:nvSpPr>
          <p:cNvPr id="21" name="Shape 19"/>
          <p:cNvSpPr/>
          <p:nvPr/>
        </p:nvSpPr>
        <p:spPr>
          <a:xfrm>
            <a:off x="6712793" y="2944185"/>
            <a:ext cx="58796" cy="36759"/>
          </a:xfrm>
          <a:prstGeom prst="rect">
            <a:avLst/>
          </a:prstGeom>
          <a:solidFill>
            <a:srgbClr val="7E3247"/>
          </a:solidFill>
          <a:ln/>
        </p:spPr>
      </p:sp>
      <p:sp>
        <p:nvSpPr>
          <p:cNvPr id="22" name="Text 20"/>
          <p:cNvSpPr txBox="1"/>
          <p:nvPr/>
        </p:nvSpPr>
        <p:spPr>
          <a:xfrm>
            <a:off x="6859646" y="2882646"/>
            <a:ext cx="4837176" cy="629564"/>
          </a:xfrm>
          <a:prstGeom prst="rect">
            <a:avLst/>
          </a:prstGeom>
          <a:noFill/>
          <a:ln/>
        </p:spPr>
        <p:txBody>
          <a:bodyPr wrap="square" lIns="0" tIns="0" rIns="0" bIns="0" rtlCol="0" anchor="t"/>
          <a:lstStyle/>
          <a:p>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noise_estimation_loss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does not merely score an output — it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constructs the inputs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run the model on y, estimate the noise, add it back with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and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then run the model twice more and compare the two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outputs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a:t>
            </a:r>
            <a:endParaRPr lang="en-US" sz="963" dirty="0"/>
          </a:p>
        </p:txBody>
      </p:sp>
      <p:sp>
        <p:nvSpPr>
          <p:cNvPr id="23" name="Shape 21"/>
          <p:cNvSpPr/>
          <p:nvPr/>
        </p:nvSpPr>
        <p:spPr>
          <a:xfrm>
            <a:off x="6712793" y="3691250"/>
            <a:ext cx="58796" cy="36759"/>
          </a:xfrm>
          <a:prstGeom prst="rect">
            <a:avLst/>
          </a:prstGeom>
          <a:solidFill>
            <a:srgbClr val="7E3247"/>
          </a:solidFill>
          <a:ln/>
        </p:spPr>
      </p:sp>
      <p:sp>
        <p:nvSpPr>
          <p:cNvPr id="24" name="Text 22"/>
          <p:cNvSpPr txBox="1"/>
          <p:nvPr/>
        </p:nvSpPr>
        <p:spPr>
          <a:xfrm>
            <a:off x="6859646" y="3629711"/>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Three forward passes per step</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and passes two and three operate on tensors that did not exist before pass one. This is why calling P2N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a new loss function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is wrong.</a:t>
            </a:r>
            <a:endParaRPr lang="en-US" sz="1070" dirty="0"/>
          </a:p>
        </p:txBody>
      </p:sp>
      <p:sp>
        <p:nvSpPr>
          <p:cNvPr id="25" name="Shape 23"/>
          <p:cNvSpPr/>
          <p:nvPr/>
        </p:nvSpPr>
        <p:spPr>
          <a:xfrm>
            <a:off x="6712793" y="4216390"/>
            <a:ext cx="58796" cy="36759"/>
          </a:xfrm>
          <a:prstGeom prst="rect">
            <a:avLst/>
          </a:prstGeom>
          <a:solidFill>
            <a:srgbClr val="7E3247"/>
          </a:solidFill>
          <a:ln/>
        </p:spPr>
      </p:sp>
      <p:sp>
        <p:nvSpPr>
          <p:cNvPr id="26" name="Text 24"/>
          <p:cNvSpPr txBox="1"/>
          <p:nvPr/>
        </p:nvSpPr>
        <p:spPr>
          <a:xfrm>
            <a:off x="6859646" y="4154851"/>
            <a:ext cx="4837176" cy="431414"/>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One function implements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all</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competing self-supervised paradigms behind a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--mode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flag. The whole data branch fits in one file.</a:t>
            </a:r>
            <a:endParaRPr lang="en-US" sz="1070" dirty="0"/>
          </a:p>
        </p:txBody>
      </p:sp>
      <p:sp>
        <p:nvSpPr>
          <p:cNvPr id="27" name="Shape 25"/>
          <p:cNvSpPr/>
          <p:nvPr/>
        </p:nvSpPr>
        <p:spPr>
          <a:xfrm>
            <a:off x="1439540" y="4906488"/>
            <a:ext cx="10223358" cy="14722"/>
          </a:xfrm>
          <a:prstGeom prst="rect">
            <a:avLst/>
          </a:prstGeom>
          <a:solidFill>
            <a:srgbClr val="7E3247"/>
          </a:solidFill>
          <a:ln/>
        </p:spPr>
      </p:sp>
      <p:sp>
        <p:nvSpPr>
          <p:cNvPr id="28" name="Text 26"/>
          <p:cNvSpPr txBox="1"/>
          <p:nvPr/>
        </p:nvSpPr>
        <p:spPr>
          <a:xfrm>
            <a:off x="1439540" y="5036881"/>
            <a:ext cx="10278953" cy="565099"/>
          </a:xfrm>
          <a:prstGeom prst="rect">
            <a:avLst/>
          </a:prstGeom>
          <a:noFill/>
          <a:ln/>
        </p:spPr>
        <p:txBody>
          <a:bodyPr wrap="squar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A caveat we found in the code and would not overstate.</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Two of those </a:t>
            </a:r>
            <a:pPr algn="l" indent="0" marL="0">
              <a:lnSpc>
                <a:spcPts val="1475"/>
              </a:lnSpc>
              <a:buNone/>
            </a:pPr>
            <a:r>
              <a:rPr kern="0" lang="en-US" sz="885" dirty="0">
                <a:solidFill>
                  <a:srgbClr val="145A66"/>
                </a:solidFill>
                <a:latin typeface="Consolas" pitchFamily="34" charset="0"/>
                <a:ea typeface="Consolas" pitchFamily="34" charset="-122"/>
                <a:cs typeface="Consolas" pitchFamily="34" charset="-120"/>
              </a:rPr>
              <a:t>--mode</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branches feed RDC-constructed data to Noise2Void and Noise2Noise. The paper itself states this data is unsuitable for them, because the noise in RDC-constructed images is </a:t>
            </a:r>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correlated</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which collapses their training. Those branches are a documented negative result, not a fair comparison — and reading the flag table without reading the paper would lead you to the opposite conclusion.</a:t>
            </a:r>
            <a:endParaRPr lang="en-US" sz="983" dirty="0"/>
          </a:p>
        </p:txBody>
      </p:sp>
      <p:sp>
        <p:nvSpPr>
          <p:cNvPr id="29" name="Text 27"/>
          <p:cNvSpPr txBox="1"/>
          <p:nvPr/>
        </p:nvSpPr>
        <p:spPr>
          <a:xfrm>
            <a:off x="6242152" y="6285494"/>
            <a:ext cx="5420746"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measured — `NVlabs/noise2noise` commit 7355519; `Li-Tong-621/P2N-plus` commit 8a117db 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P2N25 on RDC data unsuitability</a:t>
            </a:r>
            <a:endParaRPr lang="en-US" sz="556" dirty="0"/>
          </a:p>
        </p:txBody>
      </p:sp>
      <p:sp>
        <p:nvSpPr>
          <p:cNvPr id="30" name="Shape 28"/>
          <p:cNvSpPr/>
          <p:nvPr/>
        </p:nvSpPr>
        <p:spPr>
          <a:xfrm>
            <a:off x="1439540" y="6556705"/>
            <a:ext cx="10223358" cy="7315"/>
          </a:xfrm>
          <a:prstGeom prst="rect">
            <a:avLst/>
          </a:prstGeom>
          <a:solidFill>
            <a:srgbClr val="C9C4B9"/>
          </a:solidFill>
          <a:ln/>
        </p:spPr>
      </p:sp>
      <p:sp>
        <p:nvSpPr>
          <p:cNvPr id="31" name="Shape 29"/>
          <p:cNvSpPr/>
          <p:nvPr/>
        </p:nvSpPr>
        <p:spPr>
          <a:xfrm>
            <a:off x="7686904" y="6545732"/>
            <a:ext cx="3975811" cy="29352"/>
          </a:xfrm>
          <a:prstGeom prst="rect">
            <a:avLst/>
          </a:prstGeom>
          <a:solidFill>
            <a:srgbClr val="7E3247"/>
          </a:solidFill>
          <a:ln/>
        </p:spPr>
      </p:sp>
      <p:sp>
        <p:nvSpPr>
          <p:cNvPr id="32" name="Shape 30"/>
          <p:cNvSpPr/>
          <p:nvPr/>
        </p:nvSpPr>
        <p:spPr>
          <a:xfrm>
            <a:off x="1439540" y="6519946"/>
            <a:ext cx="7315" cy="36759"/>
          </a:xfrm>
          <a:prstGeom prst="rect">
            <a:avLst/>
          </a:prstGeom>
          <a:solidFill>
            <a:srgbClr val="C9C4B9"/>
          </a:solidFill>
          <a:ln/>
        </p:spPr>
      </p:sp>
      <p:sp>
        <p:nvSpPr>
          <p:cNvPr id="33" name="Text 31"/>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4" name="Shape 32"/>
          <p:cNvSpPr/>
          <p:nvPr/>
        </p:nvSpPr>
        <p:spPr>
          <a:xfrm>
            <a:off x="5415351" y="6519946"/>
            <a:ext cx="7315" cy="36759"/>
          </a:xfrm>
          <a:prstGeom prst="rect">
            <a:avLst/>
          </a:prstGeom>
          <a:solidFill>
            <a:srgbClr val="C9C4B9"/>
          </a:solidFill>
          <a:ln/>
        </p:spPr>
      </p:sp>
      <p:sp>
        <p:nvSpPr>
          <p:cNvPr id="35" name="Text 33"/>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6" name="Shape 34"/>
          <p:cNvSpPr/>
          <p:nvPr/>
        </p:nvSpPr>
        <p:spPr>
          <a:xfrm>
            <a:off x="7119610" y="6519946"/>
            <a:ext cx="7315" cy="36759"/>
          </a:xfrm>
          <a:prstGeom prst="rect">
            <a:avLst/>
          </a:prstGeom>
          <a:solidFill>
            <a:srgbClr val="C9C4B9"/>
          </a:solidFill>
          <a:ln/>
        </p:spPr>
      </p:sp>
      <p:sp>
        <p:nvSpPr>
          <p:cNvPr id="37" name="Text 35"/>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8" name="Shape 36"/>
          <p:cNvSpPr/>
          <p:nvPr/>
        </p:nvSpPr>
        <p:spPr>
          <a:xfrm>
            <a:off x="9958639" y="6519946"/>
            <a:ext cx="7315" cy="36759"/>
          </a:xfrm>
          <a:prstGeom prst="rect">
            <a:avLst/>
          </a:prstGeom>
          <a:solidFill>
            <a:srgbClr val="C9C4B9"/>
          </a:solidFill>
          <a:ln/>
        </p:spPr>
      </p:sp>
      <p:sp>
        <p:nvSpPr>
          <p:cNvPr id="39" name="Text 37"/>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40" name="Shape 38"/>
          <p:cNvSpPr/>
          <p:nvPr/>
        </p:nvSpPr>
        <p:spPr>
          <a:xfrm>
            <a:off x="11662898" y="6519946"/>
            <a:ext cx="7315" cy="36759"/>
          </a:xfrm>
          <a:prstGeom prst="rect">
            <a:avLst/>
          </a:prstGeom>
          <a:solidFill>
            <a:srgbClr val="C9C4B9"/>
          </a:solidFill>
          <a:ln/>
        </p:spPr>
      </p:sp>
      <p:sp>
        <p:nvSpPr>
          <p:cNvPr id="41" name="Text 39"/>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54513"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69</a:t>
            </a:r>
            <a:endParaRPr lang="en-US" sz="2400" dirty="0"/>
          </a:p>
        </p:txBody>
      </p:sp>
      <p:sp>
        <p:nvSpPr>
          <p:cNvPr id="3" name="Text 1"/>
          <p:cNvSpPr txBox="1"/>
          <p:nvPr/>
        </p:nvSpPr>
        <p:spPr>
          <a:xfrm rot="16200000">
            <a:off x="-319766" y="3428909"/>
            <a:ext cx="831281" cy="97018"/>
          </a:xfrm>
          <a:prstGeom prst="rect">
            <a:avLst/>
          </a:prstGeom>
          <a:noFill/>
          <a:ln/>
        </p:spPr>
        <p:txBody>
          <a:bodyPr wrap="none" lIns="0" tIns="0" rIns="0" bIns="0" rtlCol="0" anchor="ctr"/>
          <a:lstStyle/>
          <a:p>
            <a:pPr algn="ctr" indent="0" marL="0">
              <a:lnSpc>
                <a:spcPts val="799"/>
              </a:lnSpc>
              <a:buNone/>
            </a:pPr>
            <a:r>
              <a:rPr lang="en-US" sz="655" b="1" spc="164" kern="0" dirty="0">
                <a:solidFill>
                  <a:srgbClr val="C0451A"/>
                </a:solidFill>
                <a:latin typeface="Calibri" pitchFamily="34" charset="0"/>
                <a:ea typeface="Calibri" pitchFamily="34" charset="-122"/>
                <a:cs typeface="Calibri" pitchFamily="34" charset="-120"/>
              </a:rPr>
              <a:t>ARCHITECTURE</a:t>
            </a:r>
            <a:endParaRPr lang="en-US" sz="655" dirty="0"/>
          </a:p>
        </p:txBody>
      </p:sp>
      <p:sp>
        <p:nvSpPr>
          <p:cNvPr id="4" name="Shape 2"/>
          <p:cNvSpPr/>
          <p:nvPr/>
        </p:nvSpPr>
        <p:spPr>
          <a:xfrm>
            <a:off x="1357701" y="408737"/>
            <a:ext cx="180137" cy="20757"/>
          </a:xfrm>
          <a:prstGeom prst="rect">
            <a:avLst/>
          </a:prstGeom>
          <a:solidFill>
            <a:srgbClr val="C0451A"/>
          </a:solidFill>
          <a:ln/>
        </p:spPr>
      </p:sp>
      <p:sp>
        <p:nvSpPr>
          <p:cNvPr id="5" name="Text 3"/>
          <p:cNvSpPr txBox="1"/>
          <p:nvPr/>
        </p:nvSpPr>
        <p:spPr>
          <a:xfrm>
            <a:off x="1620957" y="362011"/>
            <a:ext cx="2354397"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C0451A"/>
                </a:solidFill>
                <a:latin typeface="Calibri" pitchFamily="34" charset="0"/>
                <a:ea typeface="Calibri" pitchFamily="34" charset="-122"/>
                <a:cs typeface="Calibri" pitchFamily="34" charset="-120"/>
              </a:rPr>
              <a:t>WHERE RESTORMER'S ATTENTION IS LINEAR</a:t>
            </a:r>
            <a:endParaRPr lang="en-US" sz="736" dirty="0"/>
          </a:p>
        </p:txBody>
      </p:sp>
      <p:sp>
        <p:nvSpPr>
          <p:cNvPr id="6" name="Text 4"/>
          <p:cNvSpPr txBox="1"/>
          <p:nvPr/>
        </p:nvSpPr>
        <p:spPr>
          <a:xfrm>
            <a:off x="1357701" y="572597"/>
            <a:ext cx="8952982"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One </a:t>
            </a:r>
            <a:pPr algn="l" indent="0" marL="0">
              <a:lnSpc>
                <a:spcPts val="2710"/>
              </a:lnSpc>
              <a:buNone/>
            </a:pPr>
            <a:r>
              <a:rPr lang="en-US" sz="2258" b="1" spc="-60" kern="0" dirty="0">
                <a:solidFill>
                  <a:srgbClr val="145A66"/>
                </a:solidFill>
                <a:latin typeface="Consolas" pitchFamily="34" charset="0"/>
                <a:ea typeface="Consolas" pitchFamily="34" charset="-122"/>
                <a:cs typeface="Consolas" pitchFamily="34" charset="-120"/>
              </a:rPr>
              <a:t>rearrange</a:t>
            </a:r>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 is the difference between O(HW·HW) and O(C·C)</a:t>
            </a:r>
            <a:endParaRPr lang="en-US" sz="2509" dirty="0"/>
          </a:p>
        </p:txBody>
      </p:sp>
      <p:sp>
        <p:nvSpPr>
          <p:cNvPr id="7" name="Text 5"/>
          <p:cNvSpPr txBox="1"/>
          <p:nvPr/>
        </p:nvSpPr>
        <p:spPr>
          <a:xfrm>
            <a:off x="1357701" y="1051011"/>
            <a:ext cx="5371734" cy="623438"/>
          </a:xfrm>
          <a:prstGeom prst="rect">
            <a:avLst/>
          </a:prstGeom>
          <a:noFill/>
          <a:ln/>
        </p:spPr>
        <p:txBody>
          <a:bodyPr wrap="square" lIns="0" tIns="0" rIns="0" bIns="0" rtlCol="0" anchor="t"/>
          <a:lstStyle/>
          <a:p>
            <a:pPr algn="l" indent="0" marL="0">
              <a:lnSpc>
                <a:spcPts val="1636"/>
              </a:lnSpc>
              <a:buNone/>
            </a:pPr>
            <a:r>
              <a:rPr kern="0" lang="en-US" sz="982" dirty="0">
                <a:solidFill>
                  <a:srgbClr val="145A66"/>
                </a:solidFill>
                <a:latin typeface="Consolas" pitchFamily="34" charset="0"/>
                <a:ea typeface="Consolas" pitchFamily="34" charset="-122"/>
                <a:cs typeface="Consolas" pitchFamily="34" charset="-120"/>
              </a:rPr>
              <a:t>swz30/Restormer</a:t>
            </a:r>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 </a:t>
            </a:r>
            <a:pPr algn="l" indent="0" marL="0">
              <a:lnSpc>
                <a:spcPts val="1636"/>
              </a:lnSpc>
              <a:buNone/>
            </a:pPr>
            <a:r>
              <a:rPr kern="0" lang="en-US" sz="982" dirty="0">
                <a:solidFill>
                  <a:srgbClr val="145A66"/>
                </a:solidFill>
                <a:latin typeface="Consolas" pitchFamily="34" charset="0"/>
                <a:ea typeface="Consolas" pitchFamily="34" charset="-122"/>
                <a:cs typeface="Consolas" pitchFamily="34" charset="-120"/>
              </a:rPr>
              <a:t>basicsr/models/archs/restormer_arch.py</a:t>
            </a:r>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 </a:t>
            </a:r>
            <a:pPr algn="l" indent="0" marL="0">
              <a:lnSpc>
                <a:spcPts val="1636"/>
              </a:lnSpc>
              <a:buNone/>
            </a:pPr>
            <a:r>
              <a:rPr kern="0" lang="en-US" sz="982" dirty="0">
                <a:solidFill>
                  <a:srgbClr val="145A66"/>
                </a:solidFill>
                <a:latin typeface="Consolas" pitchFamily="34" charset="0"/>
                <a:ea typeface="Consolas" pitchFamily="34" charset="-122"/>
                <a:cs typeface="Consolas" pitchFamily="34" charset="-120"/>
              </a:rPr>
              <a:t>Attention.forward</a:t>
            </a:r>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 Verbatim. The claim of linear complexity is not in a comment — it is in the tensor layout.</a:t>
            </a:r>
            <a:endParaRPr lang="en-US" sz="982" dirty="0"/>
          </a:p>
        </p:txBody>
      </p:sp>
      <p:sp>
        <p:nvSpPr>
          <p:cNvPr id="8" name="Shape 6"/>
          <p:cNvSpPr/>
          <p:nvPr/>
        </p:nvSpPr>
        <p:spPr>
          <a:xfrm>
            <a:off x="1357701" y="1868394"/>
            <a:ext cx="5218664" cy="3790279"/>
          </a:xfrm>
          <a:prstGeom prst="rect">
            <a:avLst/>
          </a:prstGeom>
          <a:solidFill>
            <a:srgbClr val="F2F0E9"/>
          </a:solidFill>
          <a:ln/>
        </p:spPr>
      </p:sp>
      <p:sp>
        <p:nvSpPr>
          <p:cNvPr id="9" name="Shape 7"/>
          <p:cNvSpPr/>
          <p:nvPr/>
        </p:nvSpPr>
        <p:spPr>
          <a:xfrm>
            <a:off x="1357701" y="1868394"/>
            <a:ext cx="5218664" cy="20757"/>
          </a:xfrm>
          <a:prstGeom prst="rect">
            <a:avLst/>
          </a:prstGeom>
          <a:solidFill>
            <a:srgbClr val="C0451A"/>
          </a:solidFill>
          <a:ln/>
        </p:spPr>
      </p:sp>
      <p:sp>
        <p:nvSpPr>
          <p:cNvPr id="10" name="Text 8"/>
          <p:cNvSpPr txBox="1"/>
          <p:nvPr/>
        </p:nvSpPr>
        <p:spPr>
          <a:xfrm>
            <a:off x="1496233" y="2001804"/>
            <a:ext cx="2057949" cy="114117"/>
          </a:xfrm>
          <a:prstGeom prst="rect">
            <a:avLst/>
          </a:prstGeom>
          <a:noFill/>
          <a:ln/>
        </p:spPr>
        <p:txBody>
          <a:bodyPr wrap="none" lIns="0" tIns="0" rIns="0" bIns="0" rtlCol="0" anchor="t"/>
          <a:lstStyle/>
          <a:p>
            <a:pPr algn="l" indent="0" marL="0">
              <a:lnSpc>
                <a:spcPts val="898"/>
              </a:lnSpc>
              <a:buNone/>
            </a:pPr>
            <a:r>
              <a:rPr kern="0" lang="en-US" sz="736" i="1" dirty="0">
                <a:solidFill>
                  <a:srgbClr val="8A847A"/>
                </a:solidFill>
                <a:latin typeface="Calibri" pitchFamily="34" charset="0"/>
                <a:ea typeface="Calibri" pitchFamily="34" charset="-122"/>
                <a:cs typeface="Calibri" pitchFamily="34" charset="-120"/>
              </a:rPr>
              <a:t>Restormer/basicsr/models/archs/restormer_arch.py</a:t>
            </a:r>
            <a:endParaRPr lang="en-US" sz="736" dirty="0"/>
          </a:p>
        </p:txBody>
      </p:sp>
      <p:sp>
        <p:nvSpPr>
          <p:cNvPr id="11" name="Text 9"/>
          <p:cNvSpPr txBox="1"/>
          <p:nvPr/>
        </p:nvSpPr>
        <p:spPr>
          <a:xfrm>
            <a:off x="1690177" y="2190445"/>
            <a:ext cx="141366" cy="2909346"/>
          </a:xfrm>
          <a:prstGeom prst="rect">
            <a:avLst/>
          </a:prstGeom>
          <a:noFill/>
          <a:ln/>
        </p:spPr>
        <p:txBody>
          <a:bodyPr wrap="none" lIns="0" tIns="0" rIns="0" bIns="0" rtlCol="0" anchor="t"/>
          <a:lstStyle/>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2</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3</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4</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5</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6</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7</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8</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9</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10</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11</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12</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13</a:t>
            </a:r>
            <a:endParaRPr lang="en-US" sz="655" dirty="0"/>
          </a:p>
          <a:p>
            <a:pPr algn="r" indent="0" marL="0">
              <a:lnSpc>
                <a:spcPts val="1145"/>
              </a:lnSpc>
              <a:buNone/>
            </a:pPr>
            <a:r>
              <a:rPr kern="0" lang="en-US" sz="655" b="1" dirty="0">
                <a:solidFill>
                  <a:srgbClr val="B5AFA4"/>
                </a:solidFill>
                <a:latin typeface="Consolas" pitchFamily="34" charset="0"/>
                <a:ea typeface="Consolas" pitchFamily="34" charset="-122"/>
                <a:cs typeface="Consolas" pitchFamily="34" charset="-120"/>
              </a:rPr>
              <a:t>14</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15</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16</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17</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18</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19</a:t>
            </a:r>
            <a:endParaRPr lang="en-US" sz="655" dirty="0"/>
          </a:p>
          <a:p>
            <a:pPr algn="r" indent="0" marL="0">
              <a:lnSpc>
                <a:spcPts val="1145"/>
              </a:lnSpc>
              <a:buNone/>
            </a:pPr>
            <a:r>
              <a:rPr kern="0" lang="en-US" sz="655" dirty="0">
                <a:solidFill>
                  <a:srgbClr val="B5AFA4"/>
                </a:solidFill>
                <a:latin typeface="Consolas" pitchFamily="34" charset="0"/>
                <a:ea typeface="Consolas" pitchFamily="34" charset="-122"/>
                <a:cs typeface="Consolas" pitchFamily="34" charset="-120"/>
              </a:rPr>
              <a:t>20</a:t>
            </a:r>
            <a:endParaRPr lang="en-US" sz="655" dirty="0"/>
          </a:p>
        </p:txBody>
      </p:sp>
      <p:sp>
        <p:nvSpPr>
          <p:cNvPr id="12" name="Text 10"/>
          <p:cNvSpPr txBox="1"/>
          <p:nvPr/>
        </p:nvSpPr>
        <p:spPr>
          <a:xfrm>
            <a:off x="1731782" y="2197395"/>
            <a:ext cx="4842022" cy="2909346"/>
          </a:xfrm>
          <a:prstGeom prst="rect">
            <a:avLst/>
          </a:prstGeom>
          <a:noFill/>
          <a:ln/>
        </p:spPr>
        <p:txBody>
          <a:bodyPr wrap="none" lIns="0" tIns="0" rIns="0" bIns="0" rtlCol="0" anchor="t"/>
          <a:lstStyle/>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def forward(self, x):</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b,c,h,w = x.shape</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qkv = self.qkv_dwconv(self.qkv(x))  # 1x1 conv, then 3x3 depth-wise</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q,k,v = qkv.chunk(3, dim=1)</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q = rearrange(q, 'b (head c) h w -&gt; b head c (h w)', head=self.num_heads)</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k = rearrange(k, 'b (head c) h w -&gt; b head c (h w)', head=self.num_heads)</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v = rearrange(v, 'b (head c) h w -&gt; b head c (h w)', head=self.num_heads)</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q = torch.nn.functional.normalize(q, dim=-1)</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k = torch.nn.functional.normalize(k, dim=-1)</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a:t>
            </a:r>
            <a:endParaRPr lang="en-US" sz="764" dirty="0"/>
          </a:p>
          <a:p>
            <a:pPr algn="l" indent="0" marL="0">
              <a:lnSpc>
                <a:spcPts val="1145"/>
              </a:lnSpc>
              <a:buNone/>
            </a:pPr>
            <a:r>
              <a:rPr kern="0" lang="en-US" sz="764" b="1" dirty="0">
                <a:solidFill>
                  <a:srgbClr val="C0451A"/>
                </a:solidFill>
                <a:latin typeface="Consolas" pitchFamily="34" charset="0"/>
                <a:ea typeface="Consolas" pitchFamily="34" charset="-122"/>
                <a:cs typeface="Consolas" pitchFamily="34" charset="-120"/>
              </a:rPr>
              <a:t>    attn = (q @ k.transpose(-2, -1)) * self.temperature  # ← (C/head) x (C/head)</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attn = attn.softmax(dim=-1)</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out = (attn @ v)</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out = rearrange(out, 'b head c (h w) -&gt; b (head c) h w',</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head=self.num_heads, h=h, w=w)</a:t>
            </a:r>
            <a:endParaRPr lang="en-US" sz="764" dirty="0"/>
          </a:p>
          <a:p>
            <a:pPr algn="l" indent="0" marL="0">
              <a:lnSpc>
                <a:spcPts val="1145"/>
              </a:lnSpc>
              <a:buNone/>
            </a:pPr>
            <a:r>
              <a:rPr kern="0" lang="en-US" sz="764" dirty="0">
                <a:solidFill>
                  <a:srgbClr val="211F1B"/>
                </a:solidFill>
                <a:latin typeface="Consolas" pitchFamily="34" charset="0"/>
                <a:ea typeface="Consolas" pitchFamily="34" charset="-122"/>
                <a:cs typeface="Consolas" pitchFamily="34" charset="-120"/>
              </a:rPr>
              <a:t>    return self.project_out(out)</a:t>
            </a:r>
            <a:endParaRPr lang="en-US" sz="764" dirty="0"/>
          </a:p>
        </p:txBody>
      </p:sp>
      <p:sp>
        <p:nvSpPr>
          <p:cNvPr id="13" name="Shape 11"/>
          <p:cNvSpPr/>
          <p:nvPr/>
        </p:nvSpPr>
        <p:spPr>
          <a:xfrm>
            <a:off x="6839621" y="1868394"/>
            <a:ext cx="6949" cy="3790279"/>
          </a:xfrm>
          <a:prstGeom prst="rect">
            <a:avLst/>
          </a:prstGeom>
          <a:solidFill>
            <a:srgbClr val="DFDBD2"/>
          </a:solidFill>
          <a:ln/>
        </p:spPr>
      </p:sp>
      <p:sp>
        <p:nvSpPr>
          <p:cNvPr id="14" name="Shape 12"/>
          <p:cNvSpPr/>
          <p:nvPr/>
        </p:nvSpPr>
        <p:spPr>
          <a:xfrm>
            <a:off x="7109826" y="1868394"/>
            <a:ext cx="4583156" cy="6949"/>
          </a:xfrm>
          <a:prstGeom prst="rect">
            <a:avLst/>
          </a:prstGeom>
          <a:solidFill>
            <a:srgbClr val="DFDBD2"/>
          </a:solidFill>
          <a:ln/>
        </p:spPr>
      </p:sp>
      <p:sp>
        <p:nvSpPr>
          <p:cNvPr id="15" name="Text 13"/>
          <p:cNvSpPr txBox="1"/>
          <p:nvPr/>
        </p:nvSpPr>
        <p:spPr>
          <a:xfrm>
            <a:off x="7109826" y="1993026"/>
            <a:ext cx="124084"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01</a:t>
            </a:r>
            <a:endParaRPr lang="en-US" sz="655" dirty="0"/>
          </a:p>
        </p:txBody>
      </p:sp>
      <p:sp>
        <p:nvSpPr>
          <p:cNvPr id="16" name="Text 14"/>
          <p:cNvSpPr txBox="1"/>
          <p:nvPr/>
        </p:nvSpPr>
        <p:spPr>
          <a:xfrm>
            <a:off x="7400696" y="1983516"/>
            <a:ext cx="4323192" cy="585216"/>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Read the einops pattern.</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a:t>
            </a:r>
            <a:pPr algn="l" indent="0" marL="0">
              <a:lnSpc>
                <a:spcPts val="1514"/>
              </a:lnSpc>
              <a:buNone/>
            </a:pPr>
            <a:r>
              <a:rPr kern="0" lang="en-US" sz="908" dirty="0">
                <a:solidFill>
                  <a:srgbClr val="145A66"/>
                </a:solidFill>
                <a:latin typeface="Consolas" pitchFamily="34" charset="0"/>
                <a:ea typeface="Consolas" pitchFamily="34" charset="-122"/>
                <a:cs typeface="Consolas" pitchFamily="34" charset="-120"/>
              </a:rPr>
              <a:t>'b (head c) h w -&gt; b head c (h w)'</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puts </a:t>
            </a:r>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pixels on the last axis and channels second-to-last</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In standard spatial attention it is the other way round.</a:t>
            </a:r>
            <a:endParaRPr lang="en-US" sz="1009" dirty="0"/>
          </a:p>
        </p:txBody>
      </p:sp>
      <p:sp>
        <p:nvSpPr>
          <p:cNvPr id="17" name="Text 15"/>
          <p:cNvSpPr txBox="1"/>
          <p:nvPr/>
        </p:nvSpPr>
        <p:spPr>
          <a:xfrm>
            <a:off x="7109826" y="2689159"/>
            <a:ext cx="128016"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02</a:t>
            </a:r>
            <a:endParaRPr lang="en-US" sz="655" dirty="0"/>
          </a:p>
        </p:txBody>
      </p:sp>
      <p:sp>
        <p:nvSpPr>
          <p:cNvPr id="18" name="Text 16"/>
          <p:cNvSpPr txBox="1"/>
          <p:nvPr/>
        </p:nvSpPr>
        <p:spPr>
          <a:xfrm>
            <a:off x="7400696" y="2679558"/>
            <a:ext cx="4323192" cy="768919"/>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Therefore q @ k.transpose(-2,-1) has shape (C/head) × (C/head)</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not (HW) × (HW). At level 1 with dim = 48 and 1 head, that is a 48×48 matrix regardless of whether the image is 256×256 or 4000×3000. The paper's linear-complexity claim is exactly this line.</a:t>
            </a:r>
            <a:endParaRPr lang="en-US" sz="1009" dirty="0"/>
          </a:p>
        </p:txBody>
      </p:sp>
      <p:sp>
        <p:nvSpPr>
          <p:cNvPr id="19" name="Text 17"/>
          <p:cNvSpPr txBox="1"/>
          <p:nvPr/>
        </p:nvSpPr>
        <p:spPr>
          <a:xfrm>
            <a:off x="7109826" y="3568903"/>
            <a:ext cx="128107"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03</a:t>
            </a:r>
            <a:endParaRPr lang="en-US" sz="655" dirty="0"/>
          </a:p>
        </p:txBody>
      </p:sp>
      <p:sp>
        <p:nvSpPr>
          <p:cNvPr id="20" name="Text 18"/>
          <p:cNvSpPr txBox="1"/>
          <p:nvPr/>
        </p:nvSpPr>
        <p:spPr>
          <a:xfrm>
            <a:off x="7400696" y="3559302"/>
            <a:ext cx="4323192" cy="585216"/>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F.normalize along the pixel axis</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makes the product a cosine similarity between channels — the cross-covariance the paper describes — and </a:t>
            </a:r>
            <a:pPr algn="l" indent="0" marL="0">
              <a:lnSpc>
                <a:spcPts val="1514"/>
              </a:lnSpc>
              <a:buNone/>
            </a:pPr>
            <a:r>
              <a:rPr kern="0" lang="en-US" sz="908" dirty="0">
                <a:solidFill>
                  <a:srgbClr val="145A66"/>
                </a:solidFill>
                <a:latin typeface="Consolas" pitchFamily="34" charset="0"/>
                <a:ea typeface="Consolas" pitchFamily="34" charset="-122"/>
                <a:cs typeface="Consolas" pitchFamily="34" charset="-120"/>
              </a:rPr>
              <a:t>self.temperature</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is a learned per-head scale replacing the fixed 1/√d_k.</a:t>
            </a:r>
            <a:endParaRPr lang="en-US" sz="1009" dirty="0"/>
          </a:p>
        </p:txBody>
      </p:sp>
      <p:sp>
        <p:nvSpPr>
          <p:cNvPr id="21" name="Text 19"/>
          <p:cNvSpPr txBox="1"/>
          <p:nvPr/>
        </p:nvSpPr>
        <p:spPr>
          <a:xfrm>
            <a:off x="7109826" y="4264944"/>
            <a:ext cx="131948"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04</a:t>
            </a:r>
            <a:endParaRPr lang="en-US" sz="655" dirty="0"/>
          </a:p>
        </p:txBody>
      </p:sp>
      <p:sp>
        <p:nvSpPr>
          <p:cNvPr id="22" name="Text 20"/>
          <p:cNvSpPr txBox="1"/>
          <p:nvPr/>
        </p:nvSpPr>
        <p:spPr>
          <a:xfrm>
            <a:off x="7400696" y="4255435"/>
            <a:ext cx="4323192" cy="585216"/>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qkv_dwconv is the locality the paper insists on</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and the ablation on slide 55 measures its worth at 0.15 dB. Removing one </a:t>
            </a:r>
            <a:pPr algn="l" indent="0" marL="0">
              <a:lnSpc>
                <a:spcPts val="1514"/>
              </a:lnSpc>
              <a:buNone/>
            </a:pPr>
            <a:r>
              <a:rPr kern="0" lang="en-US" sz="908" dirty="0">
                <a:solidFill>
                  <a:srgbClr val="145A66"/>
                </a:solidFill>
                <a:latin typeface="Consolas" pitchFamily="34" charset="0"/>
                <a:ea typeface="Consolas" pitchFamily="34" charset="-122"/>
                <a:cs typeface="Consolas" pitchFamily="34" charset="-120"/>
              </a:rPr>
              <a:t>groups=dim ∗ 3</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convolution costs more than most architectural papers gain.</a:t>
            </a:r>
            <a:endParaRPr lang="en-US" sz="1009" dirty="0"/>
          </a:p>
        </p:txBody>
      </p:sp>
      <p:sp>
        <p:nvSpPr>
          <p:cNvPr id="23" name="Text 21"/>
          <p:cNvSpPr txBox="1"/>
          <p:nvPr/>
        </p:nvSpPr>
        <p:spPr>
          <a:xfrm>
            <a:off x="7109826" y="4960986"/>
            <a:ext cx="129113" cy="124724"/>
          </a:xfrm>
          <a:prstGeom prst="rect">
            <a:avLst/>
          </a:prstGeom>
          <a:noFill/>
          <a:ln/>
        </p:spPr>
        <p:txBody>
          <a:bodyPr wrap="none" lIns="0" tIns="0" rIns="0" bIns="0" rtlCol="0" anchor="t"/>
          <a:lstStyle/>
          <a:p>
            <a:pPr algn="l" indent="0" marL="0">
              <a:lnSpc>
                <a:spcPts val="982"/>
              </a:lnSpc>
              <a:buNone/>
            </a:pPr>
            <a:r>
              <a:rPr kern="0" lang="en-US" sz="655" b="1" dirty="0">
                <a:solidFill>
                  <a:srgbClr val="8A847A"/>
                </a:solidFill>
                <a:latin typeface="Cambria" pitchFamily="34" charset="0"/>
                <a:ea typeface="Cambria" pitchFamily="34" charset="-122"/>
                <a:cs typeface="Cambria" pitchFamily="34" charset="-120"/>
              </a:rPr>
              <a:t>05</a:t>
            </a:r>
            <a:endParaRPr lang="en-US" sz="655" dirty="0"/>
          </a:p>
        </p:txBody>
      </p:sp>
      <p:sp>
        <p:nvSpPr>
          <p:cNvPr id="24" name="Text 22"/>
          <p:cNvSpPr txBox="1"/>
          <p:nvPr/>
        </p:nvSpPr>
        <p:spPr>
          <a:xfrm>
            <a:off x="7400696" y="4951476"/>
            <a:ext cx="4323192" cy="585216"/>
          </a:xfrm>
          <a:prstGeom prst="rect">
            <a:avLst/>
          </a:prstGeom>
          <a:noFill/>
          <a:ln/>
        </p:spPr>
        <p:txBody>
          <a:bodyPr wrap="square" lIns="0" tIns="0" rIns="0" bIns="0" rtlCol="0" anchor="t"/>
          <a:lstStyle/>
          <a:p>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Why it is nonetheless slow on CPU.</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Three </a:t>
            </a:r>
            <a:pPr algn="l" indent="0" marL="0">
              <a:lnSpc>
                <a:spcPts val="1514"/>
              </a:lnSpc>
              <a:buNone/>
            </a:pPr>
            <a:r>
              <a:rPr kern="0" lang="en-US" sz="908" dirty="0">
                <a:solidFill>
                  <a:srgbClr val="145A66"/>
                </a:solidFill>
                <a:latin typeface="Consolas" pitchFamily="34" charset="0"/>
                <a:ea typeface="Consolas" pitchFamily="34" charset="-122"/>
                <a:cs typeface="Consolas" pitchFamily="34" charset="-120"/>
              </a:rPr>
              <a:t>rearrange</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calls force tensor-layout changes, and attention matmuls are poorly served by a CPU backend. Measured: </a:t>
            </a:r>
            <a:pPr algn="l" indent="0" marL="0">
              <a:lnSpc>
                <a:spcPts val="1514"/>
              </a:lnSpc>
              <a:buNone/>
            </a:pPr>
            <a:r>
              <a:rPr kern="0" lang="en-US" sz="1009" b="1" dirty="0">
                <a:solidFill>
                  <a:srgbClr val="14120F"/>
                </a:solidFill>
                <a:latin typeface="Calibri" pitchFamily="34" charset="0"/>
                <a:ea typeface="Calibri" pitchFamily="34" charset="-122"/>
                <a:cs typeface="Calibri" pitchFamily="34" charset="-120"/>
              </a:rPr>
              <a:t>10.44 s at 256×256</a:t>
            </a:r>
            <a:pPr algn="l" indent="0" marL="0">
              <a:lnSpc>
                <a:spcPts val="1514"/>
              </a:lnSpc>
              <a:buNone/>
            </a:pPr>
            <a:r>
              <a:rPr kern="0" lang="en-US" sz="1009" dirty="0">
                <a:solidFill>
                  <a:srgbClr val="33302B"/>
                </a:solidFill>
                <a:latin typeface="Calibri" pitchFamily="34" charset="0"/>
                <a:ea typeface="Calibri" pitchFamily="34" charset="-122"/>
                <a:cs typeface="Calibri" pitchFamily="34" charset="-120"/>
              </a:rPr>
              <a:t>, the slowest model we ran. </a:t>
            </a:r>
            <a:pPr algn="l" indent="0" marL="0">
              <a:lnSpc>
                <a:spcPts val="1514"/>
              </a:lnSpc>
              <a:buNone/>
            </a:pPr>
            <a:r>
              <a:rPr kern="0" lang="en-US" sz="908" dirty="0">
                <a:solidFill>
                  <a:srgbClr val="145A66"/>
                </a:solidFill>
                <a:latin typeface="Consolas" pitchFamily="34" charset="0"/>
                <a:ea typeface="Consolas" pitchFamily="34" charset="-122"/>
                <a:cs typeface="Consolas" pitchFamily="34" charset="-120"/>
              </a:rPr>
              <a:t>[measured]</a:t>
            </a:r>
            <a:endParaRPr lang="en-US" sz="1009" dirty="0"/>
          </a:p>
        </p:txBody>
      </p:sp>
      <p:sp>
        <p:nvSpPr>
          <p:cNvPr id="25" name="Text 23"/>
          <p:cNvSpPr txBox="1"/>
          <p:nvPr/>
        </p:nvSpPr>
        <p:spPr>
          <a:xfrm>
            <a:off x="8237647" y="6300673"/>
            <a:ext cx="3455335" cy="109819"/>
          </a:xfrm>
          <a:prstGeom prst="rect">
            <a:avLst/>
          </a:prstGeom>
          <a:noFill/>
          <a:ln/>
        </p:spPr>
        <p:txBody>
          <a:bodyPr wrap="none" lIns="0" tIns="0" rIns="0" bIns="0" rtlCol="0" anchor="t"/>
          <a:lstStyle/>
          <a:p>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measured — </a:t>
            </a:r>
            <a:pPr algn="r" indent="0" marL="0">
              <a:lnSpc>
                <a:spcPts val="865"/>
              </a:lnSpc>
              <a:buNone/>
            </a:pPr>
            <a:r>
              <a:rPr kern="0" lang="en-US" sz="638" i="1" dirty="0">
                <a:solidFill>
                  <a:srgbClr val="145A66"/>
                </a:solidFill>
                <a:latin typeface="Consolas" pitchFamily="34" charset="0"/>
                <a:ea typeface="Consolas" pitchFamily="34" charset="-122"/>
                <a:cs typeface="Consolas" pitchFamily="34" charset="-120"/>
              </a:rPr>
              <a:t>swz30/Restormer</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a:t>
            </a:r>
            <a:pPr algn="r" indent="0" marL="0">
              <a:lnSpc>
                <a:spcPts val="865"/>
              </a:lnSpc>
              <a:buNone/>
            </a:pPr>
            <a:r>
              <a:rPr kern="0" lang="en-US" sz="638" i="1" dirty="0">
                <a:solidFill>
                  <a:srgbClr val="145A66"/>
                </a:solidFill>
                <a:latin typeface="Consolas" pitchFamily="34" charset="0"/>
                <a:ea typeface="Consolas" pitchFamily="34" charset="-122"/>
                <a:cs typeface="Consolas" pitchFamily="34" charset="-120"/>
              </a:rPr>
              <a:t>restormer_arch.py</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a:t>
            </a:r>
            <a:pPr algn="r" indent="0" marL="0">
              <a:lnSpc>
                <a:spcPts val="865"/>
              </a:lnSpc>
              <a:buNone/>
            </a:pPr>
            <a:r>
              <a:rPr kern="0" lang="en-US" sz="638" i="1" dirty="0">
                <a:solidFill>
                  <a:srgbClr val="145A66"/>
                </a:solidFill>
                <a:latin typeface="Consolas" pitchFamily="34" charset="0"/>
                <a:ea typeface="Consolas" pitchFamily="34" charset="-122"/>
                <a:cs typeface="Consolas" pitchFamily="34" charset="-120"/>
              </a:rPr>
              <a:t>Attention.forward</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verbatim</a:t>
            </a:r>
            <a:endParaRPr lang="en-US" sz="709" dirty="0"/>
          </a:p>
        </p:txBody>
      </p:sp>
      <p:sp>
        <p:nvSpPr>
          <p:cNvPr id="26" name="Shape 24"/>
          <p:cNvSpPr/>
          <p:nvPr/>
        </p:nvSpPr>
        <p:spPr>
          <a:xfrm>
            <a:off x="1357701" y="6573804"/>
            <a:ext cx="10335189" cy="6949"/>
          </a:xfrm>
          <a:prstGeom prst="rect">
            <a:avLst/>
          </a:prstGeom>
          <a:solidFill>
            <a:srgbClr val="C9C4B9"/>
          </a:solidFill>
          <a:ln/>
        </p:spPr>
      </p:sp>
      <p:sp>
        <p:nvSpPr>
          <p:cNvPr id="27" name="Shape 25"/>
          <p:cNvSpPr/>
          <p:nvPr/>
        </p:nvSpPr>
        <p:spPr>
          <a:xfrm>
            <a:off x="9396374" y="6563472"/>
            <a:ext cx="1722821" cy="27706"/>
          </a:xfrm>
          <a:prstGeom prst="rect">
            <a:avLst/>
          </a:prstGeom>
          <a:solidFill>
            <a:srgbClr val="C0451A"/>
          </a:solidFill>
          <a:ln/>
        </p:spPr>
      </p:sp>
      <p:sp>
        <p:nvSpPr>
          <p:cNvPr id="28" name="Shape 26"/>
          <p:cNvSpPr/>
          <p:nvPr/>
        </p:nvSpPr>
        <p:spPr>
          <a:xfrm>
            <a:off x="1357701" y="6539149"/>
            <a:ext cx="6949" cy="34656"/>
          </a:xfrm>
          <a:prstGeom prst="rect">
            <a:avLst/>
          </a:prstGeom>
          <a:solidFill>
            <a:srgbClr val="C9C4B9"/>
          </a:solidFill>
          <a:ln/>
        </p:spPr>
      </p:sp>
      <p:sp>
        <p:nvSpPr>
          <p:cNvPr id="29" name="Text 27"/>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30" name="Shape 28"/>
          <p:cNvSpPr/>
          <p:nvPr/>
        </p:nvSpPr>
        <p:spPr>
          <a:xfrm>
            <a:off x="5377038" y="6539149"/>
            <a:ext cx="6949" cy="34656"/>
          </a:xfrm>
          <a:prstGeom prst="rect">
            <a:avLst/>
          </a:prstGeom>
          <a:solidFill>
            <a:srgbClr val="C9C4B9"/>
          </a:solidFill>
          <a:ln/>
        </p:spPr>
      </p:sp>
      <p:sp>
        <p:nvSpPr>
          <p:cNvPr id="31" name="Text 29"/>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32" name="Shape 30"/>
          <p:cNvSpPr/>
          <p:nvPr/>
        </p:nvSpPr>
        <p:spPr>
          <a:xfrm>
            <a:off x="7099950" y="6539149"/>
            <a:ext cx="6949" cy="34656"/>
          </a:xfrm>
          <a:prstGeom prst="rect">
            <a:avLst/>
          </a:prstGeom>
          <a:solidFill>
            <a:srgbClr val="C9C4B9"/>
          </a:solidFill>
          <a:ln/>
        </p:spPr>
      </p:sp>
      <p:sp>
        <p:nvSpPr>
          <p:cNvPr id="33" name="Text 31"/>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34" name="Shape 32"/>
          <p:cNvSpPr/>
          <p:nvPr/>
        </p:nvSpPr>
        <p:spPr>
          <a:xfrm>
            <a:off x="9970069" y="6539149"/>
            <a:ext cx="6949" cy="34656"/>
          </a:xfrm>
          <a:prstGeom prst="rect">
            <a:avLst/>
          </a:prstGeom>
          <a:solidFill>
            <a:srgbClr val="C9C4B9"/>
          </a:solidFill>
          <a:ln/>
        </p:spPr>
      </p:sp>
      <p:sp>
        <p:nvSpPr>
          <p:cNvPr id="35" name="Text 33"/>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36" name="Shape 34"/>
          <p:cNvSpPr/>
          <p:nvPr/>
        </p:nvSpPr>
        <p:spPr>
          <a:xfrm>
            <a:off x="11692981" y="6539149"/>
            <a:ext cx="6949" cy="34656"/>
          </a:xfrm>
          <a:prstGeom prst="rect">
            <a:avLst/>
          </a:prstGeom>
          <a:solidFill>
            <a:srgbClr val="C9C4B9"/>
          </a:solidFill>
          <a:ln/>
        </p:spPr>
      </p:sp>
      <p:sp>
        <p:nvSpPr>
          <p:cNvPr id="37" name="Text 35"/>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61371"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70</a:t>
            </a:r>
            <a:endParaRPr lang="en-US" sz="2545" dirty="0"/>
          </a:p>
        </p:txBody>
      </p:sp>
      <p:sp>
        <p:nvSpPr>
          <p:cNvPr id="3" name="Text 1"/>
          <p:cNvSpPr txBox="1"/>
          <p:nvPr/>
        </p:nvSpPr>
        <p:spPr>
          <a:xfrm rot="16200000">
            <a:off x="-338968" y="3428909"/>
            <a:ext cx="881299" cy="102779"/>
          </a:xfrm>
          <a:prstGeom prst="rect">
            <a:avLst/>
          </a:prstGeom>
          <a:noFill/>
          <a:ln/>
        </p:spPr>
        <p:txBody>
          <a:bodyPr wrap="none" lIns="0" tIns="0" rIns="0" bIns="0" rtlCol="0" anchor="ctr"/>
          <a:lstStyle/>
          <a:p>
            <a:pPr algn="ctr" indent="0" marL="0">
              <a:lnSpc>
                <a:spcPts val="847"/>
              </a:lnSpc>
              <a:buNone/>
            </a:pPr>
            <a:r>
              <a:rPr lang="en-US" sz="694" b="1" spc="173" kern="0" dirty="0">
                <a:solidFill>
                  <a:srgbClr val="C0451A"/>
                </a:solidFill>
                <a:latin typeface="Calibri" pitchFamily="34" charset="0"/>
                <a:ea typeface="Calibri" pitchFamily="34" charset="-122"/>
                <a:cs typeface="Calibri" pitchFamily="34" charset="-120"/>
              </a:rPr>
              <a:t>ARCHITECTURE</a:t>
            </a:r>
            <a:endParaRPr lang="en-US" sz="694" dirty="0"/>
          </a:p>
        </p:txBody>
      </p:sp>
      <p:sp>
        <p:nvSpPr>
          <p:cNvPr id="4" name="Shape 2"/>
          <p:cNvSpPr/>
          <p:nvPr/>
        </p:nvSpPr>
        <p:spPr>
          <a:xfrm>
            <a:off x="1439540" y="433334"/>
            <a:ext cx="190927" cy="22037"/>
          </a:xfrm>
          <a:prstGeom prst="rect">
            <a:avLst/>
          </a:prstGeom>
          <a:solidFill>
            <a:srgbClr val="C0451A"/>
          </a:solidFill>
          <a:ln/>
        </p:spPr>
      </p:sp>
      <p:sp>
        <p:nvSpPr>
          <p:cNvPr id="5" name="Text 3"/>
          <p:cNvSpPr txBox="1"/>
          <p:nvPr/>
        </p:nvSpPr>
        <p:spPr>
          <a:xfrm>
            <a:off x="1718615" y="383865"/>
            <a:ext cx="2490277"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C0451A"/>
                </a:solidFill>
                <a:latin typeface="Calibri" pitchFamily="34" charset="0"/>
                <a:ea typeface="Calibri" pitchFamily="34" charset="-122"/>
                <a:cs typeface="Calibri" pitchFamily="34" charset="-120"/>
              </a:rPr>
              <a:t>NAFNET'S SIMPLIFICATIONS, IN FOUR LINES</a:t>
            </a:r>
            <a:endParaRPr lang="en-US" sz="781" dirty="0"/>
          </a:p>
        </p:txBody>
      </p:sp>
      <p:sp>
        <p:nvSpPr>
          <p:cNvPr id="6" name="Text 4"/>
          <p:cNvSpPr txBox="1"/>
          <p:nvPr/>
        </p:nvSpPr>
        <p:spPr>
          <a:xfrm>
            <a:off x="1439540" y="607070"/>
            <a:ext cx="8264164"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SimpleGate and SCA are smaller than their descriptions</a:t>
            </a:r>
            <a:endParaRPr lang="en-US" sz="2660" dirty="0"/>
          </a:p>
        </p:txBody>
      </p:sp>
      <p:sp>
        <p:nvSpPr>
          <p:cNvPr id="7" name="Text 5"/>
          <p:cNvSpPr txBox="1"/>
          <p:nvPr/>
        </p:nvSpPr>
        <p:spPr>
          <a:xfrm>
            <a:off x="1439540" y="1106607"/>
            <a:ext cx="5695340" cy="433334"/>
          </a:xfrm>
          <a:prstGeom prst="rect">
            <a:avLst/>
          </a:prstGeom>
          <a:noFill/>
          <a:ln/>
        </p:spPr>
        <p:txBody>
          <a:bodyPr wrap="square" lIns="0" tIns="0" rIns="0" bIns="0" rtlCol="0" anchor="t"/>
          <a:lstStyle/>
          <a:p>
            <a:pPr algn="l" indent="0" marL="0">
              <a:lnSpc>
                <a:spcPts val="1735"/>
              </a:lnSpc>
              <a:buNone/>
            </a:pPr>
            <a:r>
              <a:rPr kern="0" lang="en-US" sz="1041" dirty="0">
                <a:solidFill>
                  <a:srgbClr val="145A66"/>
                </a:solidFill>
                <a:latin typeface="Consolas" pitchFamily="34" charset="0"/>
                <a:ea typeface="Consolas" pitchFamily="34" charset="-122"/>
                <a:cs typeface="Consolas" pitchFamily="34" charset="-120"/>
              </a:rPr>
              <a:t>megvii-research/NAFNet</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a:t>
            </a:r>
            <a:pPr algn="l" indent="0" marL="0">
              <a:lnSpc>
                <a:spcPts val="1735"/>
              </a:lnSpc>
              <a:buNone/>
            </a:pPr>
            <a:r>
              <a:rPr kern="0" lang="en-US" sz="1041" dirty="0">
                <a:solidFill>
                  <a:srgbClr val="145A66"/>
                </a:solidFill>
                <a:latin typeface="Consolas" pitchFamily="34" charset="0"/>
                <a:ea typeface="Consolas" pitchFamily="34" charset="-122"/>
                <a:cs typeface="Consolas" pitchFamily="34" charset="-120"/>
              </a:rPr>
              <a:t>basicsr/models/archs/NAFNet_arch.py</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Verbatim. The paper spends two pages deriving these; the implementation is four lines and a </a:t>
            </a:r>
            <a:pPr algn="l" indent="0" marL="0">
              <a:lnSpc>
                <a:spcPts val="1735"/>
              </a:lnSpc>
              <a:buNone/>
            </a:pPr>
            <a:r>
              <a:rPr kern="0" lang="en-US" sz="1041" dirty="0">
                <a:solidFill>
                  <a:srgbClr val="145A66"/>
                </a:solidFill>
                <a:latin typeface="Consolas" pitchFamily="34" charset="0"/>
                <a:ea typeface="Consolas" pitchFamily="34" charset="-122"/>
                <a:cs typeface="Consolas" pitchFamily="34" charset="-120"/>
              </a:rPr>
              <a:t>Sequential</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a:t>
            </a:r>
            <a:endParaRPr lang="en-US" sz="1041" dirty="0"/>
          </a:p>
        </p:txBody>
      </p:sp>
      <p:sp>
        <p:nvSpPr>
          <p:cNvPr id="8" name="Shape 6"/>
          <p:cNvSpPr/>
          <p:nvPr/>
        </p:nvSpPr>
        <p:spPr>
          <a:xfrm>
            <a:off x="1439540" y="1752905"/>
            <a:ext cx="5162337" cy="4231477"/>
          </a:xfrm>
          <a:prstGeom prst="rect">
            <a:avLst/>
          </a:prstGeom>
          <a:solidFill>
            <a:srgbClr val="F2F0E9"/>
          </a:solidFill>
          <a:ln/>
        </p:spPr>
      </p:sp>
      <p:sp>
        <p:nvSpPr>
          <p:cNvPr id="9" name="Shape 7"/>
          <p:cNvSpPr/>
          <p:nvPr/>
        </p:nvSpPr>
        <p:spPr>
          <a:xfrm>
            <a:off x="1439540" y="1752905"/>
            <a:ext cx="5162337" cy="22037"/>
          </a:xfrm>
          <a:prstGeom prst="rect">
            <a:avLst/>
          </a:prstGeom>
          <a:solidFill>
            <a:srgbClr val="C0451A"/>
          </a:solidFill>
          <a:ln/>
        </p:spPr>
      </p:sp>
      <p:sp>
        <p:nvSpPr>
          <p:cNvPr id="10" name="Text 8"/>
          <p:cNvSpPr txBox="1"/>
          <p:nvPr/>
        </p:nvSpPr>
        <p:spPr>
          <a:xfrm>
            <a:off x="1586393" y="1894362"/>
            <a:ext cx="1981413" cy="120975"/>
          </a:xfrm>
          <a:prstGeom prst="rect">
            <a:avLst/>
          </a:prstGeom>
          <a:noFill/>
          <a:ln/>
        </p:spPr>
        <p:txBody>
          <a:bodyPr wrap="none" lIns="0" tIns="0" rIns="0" bIns="0" rtlCol="0" anchor="t"/>
          <a:lstStyle/>
          <a:p>
            <a:pPr algn="l" indent="0" marL="0">
              <a:lnSpc>
                <a:spcPts val="952"/>
              </a:lnSpc>
              <a:buNone/>
            </a:pPr>
            <a:r>
              <a:rPr kern="0" lang="en-US" sz="781" i="1" dirty="0">
                <a:solidFill>
                  <a:srgbClr val="8A847A"/>
                </a:solidFill>
                <a:latin typeface="Calibri" pitchFamily="34" charset="0"/>
                <a:ea typeface="Calibri" pitchFamily="34" charset="-122"/>
                <a:cs typeface="Calibri" pitchFamily="34" charset="-120"/>
              </a:rPr>
              <a:t>NAFNet/basicsr/models/archs/NAFNet_arch.py</a:t>
            </a:r>
            <a:endParaRPr lang="en-US" sz="781" dirty="0"/>
          </a:p>
        </p:txBody>
      </p:sp>
      <p:sp>
        <p:nvSpPr>
          <p:cNvPr id="11" name="Text 9"/>
          <p:cNvSpPr txBox="1"/>
          <p:nvPr/>
        </p:nvSpPr>
        <p:spPr>
          <a:xfrm>
            <a:off x="1792041" y="2094433"/>
            <a:ext cx="149870" cy="2930378"/>
          </a:xfrm>
          <a:prstGeom prst="rect">
            <a:avLst/>
          </a:prstGeom>
          <a:noFill/>
          <a:ln/>
        </p:spPr>
        <p:txBody>
          <a:bodyPr wrap="none" lIns="0" tIns="0" rIns="0" bIns="0" rtlCol="0" anchor="t"/>
          <a:lstStyle/>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1</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2</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3</a:t>
            </a:r>
            <a:endParaRPr lang="en-US" sz="694" dirty="0"/>
          </a:p>
          <a:p>
            <a:pPr algn="r" indent="0" marL="0">
              <a:lnSpc>
                <a:spcPts val="1214"/>
              </a:lnSpc>
              <a:buNone/>
            </a:pPr>
            <a:r>
              <a:rPr kern="0" lang="en-US" sz="694" b="1" dirty="0">
                <a:solidFill>
                  <a:srgbClr val="B5AFA4"/>
                </a:solidFill>
                <a:latin typeface="Consolas" pitchFamily="34" charset="0"/>
                <a:ea typeface="Consolas" pitchFamily="34" charset="-122"/>
                <a:cs typeface="Consolas" pitchFamily="34" charset="-120"/>
              </a:rPr>
              <a:t>4</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5</a:t>
            </a:r>
            <a:endParaRPr lang="en-US" sz="694" dirty="0"/>
          </a:p>
          <a:p>
            <a:pPr algn="r" indent="0" marL="0">
              <a:lnSpc>
                <a:spcPts val="1214"/>
              </a:lnSpc>
              <a:buNone/>
            </a:pPr>
            <a:r>
              <a:rPr kern="0" lang="en-US" sz="694" b="1" dirty="0">
                <a:solidFill>
                  <a:srgbClr val="B5AFA4"/>
                </a:solidFill>
                <a:latin typeface="Consolas" pitchFamily="34" charset="0"/>
                <a:ea typeface="Consolas" pitchFamily="34" charset="-122"/>
                <a:cs typeface="Consolas" pitchFamily="34" charset="-120"/>
              </a:rPr>
              <a:t>6</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7</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8</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9</a:t>
            </a:r>
            <a:endParaRPr lang="en-US" sz="694" dirty="0"/>
          </a:p>
          <a:p>
            <a:pPr algn="r" indent="0" marL="0">
              <a:lnSpc>
                <a:spcPts val="1214"/>
              </a:lnSpc>
              <a:buNone/>
            </a:pPr>
            <a:r>
              <a:rPr kern="0" lang="en-US" sz="694" b="1" dirty="0">
                <a:solidFill>
                  <a:srgbClr val="B5AFA4"/>
                </a:solidFill>
                <a:latin typeface="Consolas" pitchFamily="34" charset="0"/>
                <a:ea typeface="Consolas" pitchFamily="34" charset="-122"/>
                <a:cs typeface="Consolas" pitchFamily="34" charset="-120"/>
              </a:rPr>
              <a:t>10</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11</a:t>
            </a:r>
            <a:endParaRPr lang="en-US" sz="694" dirty="0"/>
          </a:p>
          <a:p>
            <a:pPr algn="r" indent="0" marL="0">
              <a:lnSpc>
                <a:spcPts val="1214"/>
              </a:lnSpc>
              <a:buNone/>
            </a:pPr>
            <a:r>
              <a:rPr kern="0" lang="en-US" sz="694" b="1" dirty="0">
                <a:solidFill>
                  <a:srgbClr val="B5AFA4"/>
                </a:solidFill>
                <a:latin typeface="Consolas" pitchFamily="34" charset="0"/>
                <a:ea typeface="Consolas" pitchFamily="34" charset="-122"/>
                <a:cs typeface="Consolas" pitchFamily="34" charset="-120"/>
              </a:rPr>
              <a:t>12</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13</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14</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15</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16</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17</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18</a:t>
            </a:r>
            <a:endParaRPr lang="en-US" sz="694" dirty="0"/>
          </a:p>
          <a:p>
            <a:pPr algn="r" indent="0" marL="0">
              <a:lnSpc>
                <a:spcPts val="1214"/>
              </a:lnSpc>
              <a:buNone/>
            </a:pPr>
            <a:r>
              <a:rPr kern="0" lang="en-US" sz="694" dirty="0">
                <a:solidFill>
                  <a:srgbClr val="B5AFA4"/>
                </a:solidFill>
                <a:latin typeface="Consolas" pitchFamily="34" charset="0"/>
                <a:ea typeface="Consolas" pitchFamily="34" charset="-122"/>
                <a:cs typeface="Consolas" pitchFamily="34" charset="-120"/>
              </a:rPr>
              <a:t>19</a:t>
            </a:r>
            <a:endParaRPr lang="en-US" sz="694" dirty="0"/>
          </a:p>
        </p:txBody>
      </p:sp>
      <p:sp>
        <p:nvSpPr>
          <p:cNvPr id="12" name="Text 10"/>
          <p:cNvSpPr txBox="1"/>
          <p:nvPr/>
        </p:nvSpPr>
        <p:spPr>
          <a:xfrm>
            <a:off x="1836115" y="2101748"/>
            <a:ext cx="4748662" cy="2930378"/>
          </a:xfrm>
          <a:prstGeom prst="rect">
            <a:avLst/>
          </a:prstGeom>
          <a:noFill/>
          <a:ln/>
        </p:spPr>
        <p:txBody>
          <a:bodyPr wrap="none" lIns="0" tIns="0" rIns="0" bIns="0" rtlCol="0" anchor="t"/>
          <a:lstStyle/>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class SimpleGate(nn.Module):</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    def forward(self, x):</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        x1, x2 = x.chunk(2, dim=1)</a:t>
            </a:r>
            <a:endParaRPr lang="en-US" sz="810" dirty="0"/>
          </a:p>
          <a:p>
            <a:pPr algn="l" indent="0" marL="0">
              <a:lnSpc>
                <a:spcPts val="1214"/>
              </a:lnSpc>
              <a:buNone/>
            </a:pPr>
            <a:r>
              <a:rPr kern="0" lang="en-US" sz="810" b="1" dirty="0">
                <a:solidFill>
                  <a:srgbClr val="C0451A"/>
                </a:solidFill>
                <a:latin typeface="Consolas" pitchFamily="34" charset="0"/>
                <a:ea typeface="Consolas" pitchFamily="34" charset="-122"/>
                <a:cs typeface="Consolas" pitchFamily="34" charset="-120"/>
              </a:rPr>
              <a:t>        return x1 * x2                  # ← replaces GELU entirely</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 </a:t>
            </a:r>
            <a:endParaRPr lang="en-US" sz="810" dirty="0"/>
          </a:p>
          <a:p>
            <a:pPr algn="l" indent="0" marL="0">
              <a:lnSpc>
                <a:spcPts val="1214"/>
              </a:lnSpc>
              <a:buNone/>
            </a:pPr>
            <a:r>
              <a:rPr kern="0" lang="en-US" sz="810" b="1" dirty="0">
                <a:solidFill>
                  <a:srgbClr val="C0451A"/>
                </a:solidFill>
                <a:latin typeface="Consolas" pitchFamily="34" charset="0"/>
                <a:ea typeface="Consolas" pitchFamily="34" charset="-122"/>
                <a:cs typeface="Consolas" pitchFamily="34" charset="-120"/>
              </a:rPr>
              <a:t># Simplified Channel Attention, inside NAFBlock.__init__:</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self.sca = nn.Sequential(</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    nn.AdaptiveAvgPool2d(1),</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    nn.Conv2d(dw_channel // 2, dw_channel // 2, kernel_size=1, bias=True),</a:t>
            </a:r>
            <a:endParaRPr lang="en-US" sz="810" dirty="0"/>
          </a:p>
          <a:p>
            <a:pPr algn="l" indent="0" marL="0">
              <a:lnSpc>
                <a:spcPts val="1214"/>
              </a:lnSpc>
              <a:buNone/>
            </a:pPr>
            <a:r>
              <a:rPr kern="0" lang="en-US" sz="810" b="1" dirty="0">
                <a:solidFill>
                  <a:srgbClr val="C0451A"/>
                </a:solidFill>
                <a:latin typeface="Consolas" pitchFamily="34" charset="0"/>
                <a:ea typeface="Consolas" pitchFamily="34" charset="-122"/>
                <a:cs typeface="Consolas" pitchFamily="34" charset="-120"/>
              </a:rPr>
              <a:t>)                                       # ← no ReLU, no Sigmoid</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 </a:t>
            </a:r>
            <a:endParaRPr lang="en-US" sz="810" dirty="0"/>
          </a:p>
          <a:p>
            <a:pPr algn="l" indent="0" marL="0">
              <a:lnSpc>
                <a:spcPts val="1214"/>
              </a:lnSpc>
              <a:buNone/>
            </a:pPr>
            <a:r>
              <a:rPr kern="0" lang="en-US" sz="810" b="1" dirty="0">
                <a:solidFill>
                  <a:srgbClr val="C0451A"/>
                </a:solidFill>
                <a:latin typeface="Consolas" pitchFamily="34" charset="0"/>
                <a:ea typeface="Consolas" pitchFamily="34" charset="-122"/>
                <a:cs typeface="Consolas" pitchFamily="34" charset="-120"/>
              </a:rPr>
              <a:t># NAFBlock.forward, first half:</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x = self.norm1(inp)</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x = self.conv1(x)                       # 1x1, expand</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x = self.conv2(x)               # 3x3 depth-wise (groups=dw_channel)</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x = self.sg(x)                     # SimpleGate: halves the channels</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x = x * self.sca(x)                     # SCA</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x = self.conv3(x)                       # 1x1, project back</a:t>
            </a:r>
            <a:endParaRPr lang="en-US" sz="810" dirty="0"/>
          </a:p>
          <a:p>
            <a:pPr algn="l" indent="0" marL="0">
              <a:lnSpc>
                <a:spcPts val="1214"/>
              </a:lnSpc>
              <a:buNone/>
            </a:pPr>
            <a:r>
              <a:rPr kern="0" lang="en-US" sz="810" dirty="0">
                <a:solidFill>
                  <a:srgbClr val="211F1B"/>
                </a:solidFill>
                <a:latin typeface="Consolas" pitchFamily="34" charset="0"/>
                <a:ea typeface="Consolas" pitchFamily="34" charset="-122"/>
                <a:cs typeface="Consolas" pitchFamily="34" charset="-120"/>
              </a:rPr>
              <a:t>y = inp + x * self.beta                 # learned residual scale</a:t>
            </a:r>
            <a:endParaRPr lang="en-US" sz="810" dirty="0"/>
          </a:p>
        </p:txBody>
      </p:sp>
      <p:sp>
        <p:nvSpPr>
          <p:cNvPr id="13" name="Shape 11"/>
          <p:cNvSpPr/>
          <p:nvPr/>
        </p:nvSpPr>
        <p:spPr>
          <a:xfrm>
            <a:off x="6880860" y="1752905"/>
            <a:ext cx="7315" cy="4231477"/>
          </a:xfrm>
          <a:prstGeom prst="rect">
            <a:avLst/>
          </a:prstGeom>
          <a:solidFill>
            <a:srgbClr val="DFDBD2"/>
          </a:solidFill>
          <a:ln/>
        </p:spPr>
      </p:sp>
      <p:sp>
        <p:nvSpPr>
          <p:cNvPr id="14" name="Shape 12"/>
          <p:cNvSpPr/>
          <p:nvPr/>
        </p:nvSpPr>
        <p:spPr>
          <a:xfrm>
            <a:off x="7167342" y="1752905"/>
            <a:ext cx="4495556" cy="7315"/>
          </a:xfrm>
          <a:prstGeom prst="rect">
            <a:avLst/>
          </a:prstGeom>
          <a:solidFill>
            <a:srgbClr val="DFDBD2"/>
          </a:solidFill>
          <a:ln/>
        </p:spPr>
      </p:sp>
      <p:sp>
        <p:nvSpPr>
          <p:cNvPr id="15" name="Text 13"/>
          <p:cNvSpPr txBox="1"/>
          <p:nvPr/>
        </p:nvSpPr>
        <p:spPr>
          <a:xfrm>
            <a:off x="7167342" y="1885127"/>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16" name="Text 14"/>
          <p:cNvSpPr txBox="1"/>
          <p:nvPr/>
        </p:nvSpPr>
        <p:spPr>
          <a:xfrm>
            <a:off x="7475769" y="1874977"/>
            <a:ext cx="4218584" cy="824332"/>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x.chunk(2, dim=1) then x1 ∗ x2.</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Compare with GELU's implementation: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0.5x(1+tanh[√(2/π)(x+0.044715x³)])</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paper's claim that the activation is unnecessary is not rhetoric — the replacement is genuinely a channel split and a multiply.</a:t>
            </a:r>
            <a:endParaRPr lang="en-US" sz="1070" dirty="0"/>
          </a:p>
        </p:txBody>
      </p:sp>
      <p:sp>
        <p:nvSpPr>
          <p:cNvPr id="17" name="Text 15"/>
          <p:cNvSpPr txBox="1"/>
          <p:nvPr/>
        </p:nvSpPr>
        <p:spPr>
          <a:xfrm>
            <a:off x="7167342" y="2826868"/>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18" name="Text 16"/>
          <p:cNvSpPr txBox="1"/>
          <p:nvPr/>
        </p:nvSpPr>
        <p:spPr>
          <a:xfrm>
            <a:off x="7475769" y="2816809"/>
            <a:ext cx="4218584"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self.sca contains no nonlinearity at all.</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Compare to standard channel attention, which is pool → 1×1 → ReLU → 1×1 → Sigmoid. Two activations removed, and slide 58 measures the result as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+0.03 dB</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not a loss.</a:t>
            </a:r>
            <a:endParaRPr lang="en-US" sz="1070" dirty="0"/>
          </a:p>
        </p:txBody>
      </p:sp>
      <p:sp>
        <p:nvSpPr>
          <p:cNvPr id="19" name="Text 17"/>
          <p:cNvSpPr txBox="1"/>
          <p:nvPr/>
        </p:nvSpPr>
        <p:spPr>
          <a:xfrm>
            <a:off x="7167342" y="3555827"/>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20" name="Text 18"/>
          <p:cNvSpPr txBox="1"/>
          <p:nvPr/>
        </p:nvSpPr>
        <p:spPr>
          <a:xfrm>
            <a:off x="7475769" y="3545769"/>
            <a:ext cx="4218584" cy="833384"/>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self.beta and self.gamma are learned scalars initialised to zero</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skip-init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which means the block starts as an identity and training decides how much of it to switch on. This is a stability device, not an architectural claim, and it does not appear in the paper's block diagram.</a:t>
            </a:r>
            <a:endParaRPr lang="en-US" sz="1070" dirty="0"/>
          </a:p>
        </p:txBody>
      </p:sp>
      <p:sp>
        <p:nvSpPr>
          <p:cNvPr id="21" name="Text 19"/>
          <p:cNvSpPr txBox="1"/>
          <p:nvPr/>
        </p:nvSpPr>
        <p:spPr>
          <a:xfrm>
            <a:off x="7167342" y="4506712"/>
            <a:ext cx="139903"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04</a:t>
            </a:r>
            <a:endParaRPr lang="en-US" sz="694" dirty="0"/>
          </a:p>
        </p:txBody>
      </p:sp>
      <p:sp>
        <p:nvSpPr>
          <p:cNvPr id="22" name="Text 20"/>
          <p:cNvSpPr txBox="1"/>
          <p:nvPr/>
        </p:nvSpPr>
        <p:spPr>
          <a:xfrm>
            <a:off x="7475769" y="4496562"/>
            <a:ext cx="4218584" cy="620512"/>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Where the parameters live.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Width doubles per level, so the 12 middle blocks run at 1024 channels; each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NAFBlock</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costs roughly 7c², giving 12 × 7 × 1024² ≈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88 M of the 116 M total in the bottleneck alone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[measured]</a:t>
            </a:r>
            <a:endParaRPr lang="en-US" sz="1070" dirty="0"/>
          </a:p>
        </p:txBody>
      </p:sp>
      <p:sp>
        <p:nvSpPr>
          <p:cNvPr id="23" name="Text 21"/>
          <p:cNvSpPr txBox="1"/>
          <p:nvPr/>
        </p:nvSpPr>
        <p:spPr>
          <a:xfrm>
            <a:off x="7167342" y="5253777"/>
            <a:ext cx="136886"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05</a:t>
            </a:r>
            <a:endParaRPr lang="en-US" sz="694" dirty="0"/>
          </a:p>
        </p:txBody>
      </p:sp>
      <p:sp>
        <p:nvSpPr>
          <p:cNvPr id="24" name="Text 22"/>
          <p:cNvSpPr txBox="1"/>
          <p:nvPr/>
        </p:nvSpPr>
        <p:spPr>
          <a:xfrm>
            <a:off x="7475769" y="5243627"/>
            <a:ext cx="4218584"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Why it is fast despite being large.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1×1 and depth-wise convolutions map onto highly optimised GEMM kernels. Measured: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1.90 s at 256×256 — 5.5× faster than Restormer with 4.4× the parameters.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[measured]</a:t>
            </a:r>
            <a:endParaRPr lang="en-US" sz="1070" dirty="0"/>
          </a:p>
        </p:txBody>
      </p:sp>
      <p:sp>
        <p:nvSpPr>
          <p:cNvPr id="25" name="Text 23"/>
          <p:cNvSpPr txBox="1"/>
          <p:nvPr/>
        </p:nvSpPr>
        <p:spPr>
          <a:xfrm>
            <a:off x="8743127" y="6267115"/>
            <a:ext cx="2919771"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measured — </a:t>
            </a:r>
            <a:pPr algn="r" indent="0" marL="0">
              <a:lnSpc>
                <a:spcPts val="917"/>
              </a:lnSpc>
              <a:buNone/>
            </a:pPr>
            <a:r>
              <a:rPr kern="0" lang="en-US" sz="677" i="1" dirty="0">
                <a:solidFill>
                  <a:srgbClr val="145A66"/>
                </a:solidFill>
                <a:latin typeface="Consolas" pitchFamily="34" charset="0"/>
                <a:ea typeface="Consolas" pitchFamily="34" charset="-122"/>
                <a:cs typeface="Consolas" pitchFamily="34" charset="-120"/>
              </a:rPr>
              <a:t>megvii-research/NAFNet</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a:t>
            </a:r>
            <a:pPr algn="r" indent="0" marL="0">
              <a:lnSpc>
                <a:spcPts val="917"/>
              </a:lnSpc>
              <a:buNone/>
            </a:pPr>
            <a:r>
              <a:rPr kern="0" lang="en-US" sz="677" i="1" dirty="0">
                <a:solidFill>
                  <a:srgbClr val="145A66"/>
                </a:solidFill>
                <a:latin typeface="Consolas" pitchFamily="34" charset="0"/>
                <a:ea typeface="Consolas" pitchFamily="34" charset="-122"/>
                <a:cs typeface="Consolas" pitchFamily="34" charset="-120"/>
              </a:rPr>
              <a:t>NAFNet_arch.py</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verbatim</a:t>
            </a:r>
            <a:endParaRPr lang="en-US" sz="752" dirty="0"/>
          </a:p>
        </p:txBody>
      </p:sp>
      <p:sp>
        <p:nvSpPr>
          <p:cNvPr id="26" name="Shape 24"/>
          <p:cNvSpPr/>
          <p:nvPr/>
        </p:nvSpPr>
        <p:spPr>
          <a:xfrm>
            <a:off x="1439540" y="6556705"/>
            <a:ext cx="10223358" cy="7315"/>
          </a:xfrm>
          <a:prstGeom prst="rect">
            <a:avLst/>
          </a:prstGeom>
          <a:solidFill>
            <a:srgbClr val="C9C4B9"/>
          </a:solidFill>
          <a:ln/>
        </p:spPr>
      </p:sp>
      <p:sp>
        <p:nvSpPr>
          <p:cNvPr id="27" name="Shape 25"/>
          <p:cNvSpPr/>
          <p:nvPr/>
        </p:nvSpPr>
        <p:spPr>
          <a:xfrm>
            <a:off x="9391162" y="6545732"/>
            <a:ext cx="1704167" cy="29352"/>
          </a:xfrm>
          <a:prstGeom prst="rect">
            <a:avLst/>
          </a:prstGeom>
          <a:solidFill>
            <a:srgbClr val="C0451A"/>
          </a:solidFill>
          <a:ln/>
        </p:spPr>
      </p:sp>
      <p:sp>
        <p:nvSpPr>
          <p:cNvPr id="28" name="Shape 26"/>
          <p:cNvSpPr/>
          <p:nvPr/>
        </p:nvSpPr>
        <p:spPr>
          <a:xfrm>
            <a:off x="1439540" y="6519946"/>
            <a:ext cx="7315" cy="36759"/>
          </a:xfrm>
          <a:prstGeom prst="rect">
            <a:avLst/>
          </a:prstGeom>
          <a:solidFill>
            <a:srgbClr val="C9C4B9"/>
          </a:solidFill>
          <a:ln/>
        </p:spPr>
      </p:sp>
      <p:sp>
        <p:nvSpPr>
          <p:cNvPr id="29" name="Text 27"/>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0" name="Shape 28"/>
          <p:cNvSpPr/>
          <p:nvPr/>
        </p:nvSpPr>
        <p:spPr>
          <a:xfrm>
            <a:off x="5415351" y="6519946"/>
            <a:ext cx="7315" cy="36759"/>
          </a:xfrm>
          <a:prstGeom prst="rect">
            <a:avLst/>
          </a:prstGeom>
          <a:solidFill>
            <a:srgbClr val="C9C4B9"/>
          </a:solidFill>
          <a:ln/>
        </p:spPr>
      </p:sp>
      <p:sp>
        <p:nvSpPr>
          <p:cNvPr id="31" name="Text 29"/>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2" name="Shape 30"/>
          <p:cNvSpPr/>
          <p:nvPr/>
        </p:nvSpPr>
        <p:spPr>
          <a:xfrm>
            <a:off x="7119610" y="6519946"/>
            <a:ext cx="7315" cy="36759"/>
          </a:xfrm>
          <a:prstGeom prst="rect">
            <a:avLst/>
          </a:prstGeom>
          <a:solidFill>
            <a:srgbClr val="C9C4B9"/>
          </a:solidFill>
          <a:ln/>
        </p:spPr>
      </p:sp>
      <p:sp>
        <p:nvSpPr>
          <p:cNvPr id="33" name="Text 31"/>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4" name="Shape 32"/>
          <p:cNvSpPr/>
          <p:nvPr/>
        </p:nvSpPr>
        <p:spPr>
          <a:xfrm>
            <a:off x="9958639" y="6519946"/>
            <a:ext cx="7315" cy="36759"/>
          </a:xfrm>
          <a:prstGeom prst="rect">
            <a:avLst/>
          </a:prstGeom>
          <a:solidFill>
            <a:srgbClr val="C9C4B9"/>
          </a:solidFill>
          <a:ln/>
        </p:spPr>
      </p:sp>
      <p:sp>
        <p:nvSpPr>
          <p:cNvPr id="35" name="Text 33"/>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6" name="Shape 34"/>
          <p:cNvSpPr/>
          <p:nvPr/>
        </p:nvSpPr>
        <p:spPr>
          <a:xfrm>
            <a:off x="11662898" y="6519946"/>
            <a:ext cx="7315" cy="36759"/>
          </a:xfrm>
          <a:prstGeom prst="rect">
            <a:avLst/>
          </a:prstGeom>
          <a:solidFill>
            <a:srgbClr val="C9C4B9"/>
          </a:solidFill>
          <a:ln/>
        </p:spPr>
      </p:sp>
      <p:sp>
        <p:nvSpPr>
          <p:cNvPr id="37" name="Text 35"/>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8322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71</a:t>
            </a:r>
            <a:endParaRPr lang="en-US" sz="2893" dirty="0"/>
          </a:p>
        </p:txBody>
      </p:sp>
      <p:sp>
        <p:nvSpPr>
          <p:cNvPr id="3" name="Text 1"/>
          <p:cNvSpPr txBox="1"/>
          <p:nvPr/>
        </p:nvSpPr>
        <p:spPr>
          <a:xfrm rot="16200000">
            <a:off x="-385420" y="3428909"/>
            <a:ext cx="1002091"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C0451A"/>
                </a:solidFill>
                <a:latin typeface="Calibri" pitchFamily="34" charset="0"/>
                <a:ea typeface="Calibri" pitchFamily="34" charset="-122"/>
                <a:cs typeface="Calibri" pitchFamily="34" charset="-120"/>
              </a:rPr>
              <a:t>ARCHITECTURE</a:t>
            </a:r>
            <a:endParaRPr lang="en-US" sz="789" dirty="0"/>
          </a:p>
        </p:txBody>
      </p:sp>
      <p:sp>
        <p:nvSpPr>
          <p:cNvPr id="4" name="Shape 2"/>
          <p:cNvSpPr/>
          <p:nvPr/>
        </p:nvSpPr>
        <p:spPr>
          <a:xfrm>
            <a:off x="1636685" y="492679"/>
            <a:ext cx="217079" cy="25055"/>
          </a:xfrm>
          <a:prstGeom prst="rect">
            <a:avLst/>
          </a:prstGeom>
          <a:solidFill>
            <a:srgbClr val="C0451A"/>
          </a:solidFill>
          <a:ln/>
        </p:spPr>
      </p:sp>
      <p:sp>
        <p:nvSpPr>
          <p:cNvPr id="5" name="Text 3"/>
          <p:cNvSpPr txBox="1"/>
          <p:nvPr/>
        </p:nvSpPr>
        <p:spPr>
          <a:xfrm>
            <a:off x="1953981" y="436443"/>
            <a:ext cx="3069458"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MAMBAIR IN CODE · AND WHERE SCUNET LIVES</a:t>
            </a:r>
            <a:endParaRPr lang="en-US" sz="888" dirty="0"/>
          </a:p>
        </p:txBody>
      </p:sp>
      <p:sp>
        <p:nvSpPr>
          <p:cNvPr id="6" name="Text 4"/>
          <p:cNvSpPr txBox="1"/>
          <p:nvPr/>
        </p:nvSpPr>
        <p:spPr>
          <a:xfrm>
            <a:off x="1636685" y="690281"/>
            <a:ext cx="921111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MambaIR’s block — and why SCUNet has no code slide</a:t>
            </a:r>
            <a:endParaRPr lang="en-US" sz="3025" dirty="0"/>
          </a:p>
        </p:txBody>
      </p:sp>
      <p:sp>
        <p:nvSpPr>
          <p:cNvPr id="7" name="Text 5"/>
          <p:cNvSpPr txBox="1"/>
          <p:nvPr/>
        </p:nvSpPr>
        <p:spPr>
          <a:xfrm>
            <a:off x="1636685" y="1241481"/>
            <a:ext cx="6475598" cy="1252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The code deep‑dive reads one representative file per bottleneck, so the two architecture‑branch papers that are not DnCNN, Restormer or NAFNet are read where their contribution lives. SCUNet’s is its degradation pipeline — </a:t>
            </a:r>
            <a:pPr algn="l" indent="0" marL="0">
              <a:lnSpc>
                <a:spcPts val="1973"/>
              </a:lnSpc>
              <a:buNone/>
            </a:pPr>
            <a:r>
              <a:rPr kern="0" lang="en-US" sz="1315" b="1" dirty="0">
                <a:solidFill>
                  <a:srgbClr val="5A554D"/>
                </a:solidFill>
                <a:latin typeface="Calibri" pitchFamily="34" charset="0"/>
                <a:ea typeface="Calibri" pitchFamily="34" charset="-122"/>
                <a:cs typeface="Calibri" pitchFamily="34" charset="-120"/>
              </a:rPr>
              <a:t>slide 73</a:t>
            </a:r>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 — not its Swin‑conv U‑Net. MambaIR’s is a state‑space operator that lives in a compiled CUDA dependency; the operator itself is a kernel call, but the block that wraps it into an image model reads plainly. Here it is.</a:t>
            </a:r>
            <a:endParaRPr lang="en-US" sz="1315" dirty="0"/>
          </a:p>
        </p:txBody>
      </p:sp>
      <p:sp>
        <p:nvSpPr>
          <p:cNvPr id="8" name="Text 6"/>
          <p:cNvSpPr txBox="1"/>
          <p:nvPr/>
        </p:nvSpPr>
        <p:spPr>
          <a:xfrm>
            <a:off x="7342906" y="6186190"/>
            <a:ext cx="4247571"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 — </a:t>
            </a:r>
            <a:pPr algn="r" indent="0" marL="0">
              <a:lnSpc>
                <a:spcPts val="1043"/>
              </a:lnSpc>
              <a:buNone/>
            </a:pPr>
            <a:r>
              <a:rPr kern="0" lang="en-US" sz="769" i="1" dirty="0">
                <a:solidFill>
                  <a:srgbClr val="145A66"/>
                </a:solidFill>
                <a:latin typeface="Consolas" pitchFamily="34" charset="0"/>
                <a:ea typeface="Consolas" pitchFamily="34" charset="-122"/>
                <a:cs typeface="Consolas" pitchFamily="34" charset="-120"/>
              </a:rPr>
              <a:t>csguoh/MambaIR</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a:t>
            </a:r>
            <a:pPr algn="r" indent="0" marL="0">
              <a:lnSpc>
                <a:spcPts val="1043"/>
              </a:lnSpc>
              <a:buNone/>
            </a:pPr>
            <a:r>
              <a:rPr kern="0" lang="en-US" sz="769" i="1" dirty="0">
                <a:solidFill>
                  <a:srgbClr val="145A66"/>
                </a:solidFill>
                <a:latin typeface="Consolas" pitchFamily="34" charset="0"/>
                <a:ea typeface="Consolas" pitchFamily="34" charset="-122"/>
                <a:cs typeface="Consolas" pitchFamily="34" charset="-120"/>
              </a:rPr>
              <a:t>basicsr/archs/mambair_arch.py</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at the commit on slide 65</a:t>
            </a:r>
            <a:endParaRPr lang="en-US" sz="855" dirty="0"/>
          </a:p>
        </p:txBody>
      </p:sp>
      <p:sp>
        <p:nvSpPr>
          <p:cNvPr id="9" name="Shape 7"/>
          <p:cNvSpPr/>
          <p:nvPr/>
        </p:nvSpPr>
        <p:spPr>
          <a:xfrm>
            <a:off x="1636685" y="6515466"/>
            <a:ext cx="9953793" cy="8321"/>
          </a:xfrm>
          <a:prstGeom prst="rect">
            <a:avLst/>
          </a:prstGeom>
          <a:solidFill>
            <a:srgbClr val="C9C4B9"/>
          </a:solidFill>
          <a:ln/>
        </p:spPr>
      </p:sp>
      <p:sp>
        <p:nvSpPr>
          <p:cNvPr id="10" name="Shape 8"/>
          <p:cNvSpPr/>
          <p:nvPr/>
        </p:nvSpPr>
        <p:spPr>
          <a:xfrm>
            <a:off x="9378635" y="6502938"/>
            <a:ext cx="1659270" cy="33376"/>
          </a:xfrm>
          <a:prstGeom prst="rect">
            <a:avLst/>
          </a:prstGeom>
          <a:solidFill>
            <a:srgbClr val="C0451A"/>
          </a:solidFill>
          <a:ln/>
        </p:spPr>
      </p:sp>
      <p:sp>
        <p:nvSpPr>
          <p:cNvPr id="11" name="Shape 9"/>
          <p:cNvSpPr/>
          <p:nvPr/>
        </p:nvSpPr>
        <p:spPr>
          <a:xfrm>
            <a:off x="1636685" y="6473678"/>
            <a:ext cx="8321" cy="41788"/>
          </a:xfrm>
          <a:prstGeom prst="rect">
            <a:avLst/>
          </a:prstGeom>
          <a:solidFill>
            <a:srgbClr val="C9C4B9"/>
          </a:solidFill>
          <a:ln/>
        </p:spPr>
      </p:sp>
      <p:sp>
        <p:nvSpPr>
          <p:cNvPr id="12"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3" name="Shape 11"/>
          <p:cNvSpPr/>
          <p:nvPr/>
        </p:nvSpPr>
        <p:spPr>
          <a:xfrm>
            <a:off x="5507706" y="6473678"/>
            <a:ext cx="8321" cy="41788"/>
          </a:xfrm>
          <a:prstGeom prst="rect">
            <a:avLst/>
          </a:prstGeom>
          <a:solidFill>
            <a:srgbClr val="C9C4B9"/>
          </a:solidFill>
          <a:ln/>
        </p:spPr>
      </p:sp>
      <p:sp>
        <p:nvSpPr>
          <p:cNvPr id="14"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5" name="Shape 13"/>
          <p:cNvSpPr/>
          <p:nvPr/>
        </p:nvSpPr>
        <p:spPr>
          <a:xfrm>
            <a:off x="7166884" y="6473678"/>
            <a:ext cx="8321" cy="41788"/>
          </a:xfrm>
          <a:prstGeom prst="rect">
            <a:avLst/>
          </a:prstGeom>
          <a:solidFill>
            <a:srgbClr val="C9C4B9"/>
          </a:solidFill>
          <a:ln/>
        </p:spPr>
      </p:sp>
      <p:sp>
        <p:nvSpPr>
          <p:cNvPr id="16"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7" name="Shape 15"/>
          <p:cNvSpPr/>
          <p:nvPr/>
        </p:nvSpPr>
        <p:spPr>
          <a:xfrm>
            <a:off x="9931024" y="6473678"/>
            <a:ext cx="8321" cy="41788"/>
          </a:xfrm>
          <a:prstGeom prst="rect">
            <a:avLst/>
          </a:prstGeom>
          <a:solidFill>
            <a:srgbClr val="C9C4B9"/>
          </a:solidFill>
          <a:ln/>
        </p:spPr>
      </p:sp>
      <p:sp>
        <p:nvSpPr>
          <p:cNvPr id="18"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19" name="Shape 17"/>
          <p:cNvSpPr/>
          <p:nvPr/>
        </p:nvSpPr>
        <p:spPr>
          <a:xfrm>
            <a:off x="11590477" y="6473678"/>
            <a:ext cx="8321" cy="41788"/>
          </a:xfrm>
          <a:prstGeom prst="rect">
            <a:avLst/>
          </a:prstGeom>
          <a:solidFill>
            <a:srgbClr val="C9C4B9"/>
          </a:solidFill>
          <a:ln/>
        </p:spPr>
      </p:sp>
      <p:sp>
        <p:nvSpPr>
          <p:cNvPr id="20"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58628"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71</a:t>
            </a:r>
            <a:endParaRPr lang="en-US" sz="2708" dirty="0"/>
          </a:p>
        </p:txBody>
      </p:sp>
      <p:sp>
        <p:nvSpPr>
          <p:cNvPr id="3" name="Text 1"/>
          <p:cNvSpPr txBox="1"/>
          <p:nvPr/>
        </p:nvSpPr>
        <p:spPr>
          <a:xfrm rot="16200000">
            <a:off x="-360731" y="3428909"/>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461132"/>
            <a:ext cx="203180" cy="23409"/>
          </a:xfrm>
          <a:prstGeom prst="rect">
            <a:avLst/>
          </a:prstGeom>
          <a:solidFill>
            <a:srgbClr val="C0451A"/>
          </a:solidFill>
          <a:ln/>
        </p:spPr>
      </p:sp>
      <p:sp>
        <p:nvSpPr>
          <p:cNvPr id="5" name="Text 3"/>
          <p:cNvSpPr txBox="1"/>
          <p:nvPr/>
        </p:nvSpPr>
        <p:spPr>
          <a:xfrm>
            <a:off x="1828800" y="408462"/>
            <a:ext cx="2872679"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MAMBAIR IN CODE · AND WHERE SCUNET LIVES</a:t>
            </a:r>
            <a:endParaRPr lang="en-US" sz="831" dirty="0"/>
          </a:p>
        </p:txBody>
      </p:sp>
      <p:sp>
        <p:nvSpPr>
          <p:cNvPr id="6" name="Text 4"/>
          <p:cNvSpPr txBox="1"/>
          <p:nvPr/>
        </p:nvSpPr>
        <p:spPr>
          <a:xfrm>
            <a:off x="4684746" y="408462"/>
            <a:ext cx="81299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 CONTINUED</a:t>
            </a:r>
            <a:endParaRPr lang="en-US" sz="831" dirty="0"/>
          </a:p>
        </p:txBody>
      </p:sp>
      <p:sp>
        <p:nvSpPr>
          <p:cNvPr id="7" name="Text 5"/>
          <p:cNvSpPr txBox="1"/>
          <p:nvPr/>
        </p:nvSpPr>
        <p:spPr>
          <a:xfrm>
            <a:off x="1531803" y="646024"/>
            <a:ext cx="8620689"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MambaIR’s block — and why SCUNet has no code slide</a:t>
            </a:r>
            <a:endParaRPr lang="en-US" sz="2831" dirty="0"/>
          </a:p>
        </p:txBody>
      </p:sp>
      <p:sp>
        <p:nvSpPr>
          <p:cNvPr id="8" name="Shape 6"/>
          <p:cNvSpPr/>
          <p:nvPr/>
        </p:nvSpPr>
        <p:spPr>
          <a:xfrm>
            <a:off x="1531803" y="1161928"/>
            <a:ext cx="5098512" cy="4594586"/>
          </a:xfrm>
          <a:prstGeom prst="rect">
            <a:avLst/>
          </a:prstGeom>
          <a:solidFill>
            <a:srgbClr val="F2F0E9"/>
          </a:solidFill>
          <a:ln/>
        </p:spPr>
      </p:sp>
      <p:sp>
        <p:nvSpPr>
          <p:cNvPr id="9" name="Shape 7"/>
          <p:cNvSpPr/>
          <p:nvPr/>
        </p:nvSpPr>
        <p:spPr>
          <a:xfrm>
            <a:off x="1531803" y="1161928"/>
            <a:ext cx="5098512" cy="23409"/>
          </a:xfrm>
          <a:prstGeom prst="rect">
            <a:avLst/>
          </a:prstGeom>
          <a:solidFill>
            <a:srgbClr val="C0451A"/>
          </a:solidFill>
          <a:ln/>
        </p:spPr>
      </p:sp>
      <p:sp>
        <p:nvSpPr>
          <p:cNvPr id="10" name="Text 8"/>
          <p:cNvSpPr txBox="1"/>
          <p:nvPr/>
        </p:nvSpPr>
        <p:spPr>
          <a:xfrm>
            <a:off x="1688074" y="1312438"/>
            <a:ext cx="4820717" cy="261610"/>
          </a:xfrm>
          <a:prstGeom prst="rect">
            <a:avLst/>
          </a:prstGeom>
          <a:noFill/>
          <a:ln/>
        </p:spPr>
        <p:txBody>
          <a:bodyPr wrap="square" lIns="0" tIns="0" rIns="0" bIns="0" rtlCol="0" anchor="t"/>
          <a:lstStyle/>
          <a:p>
            <a:pPr algn="l" indent="0" marL="0">
              <a:lnSpc>
                <a:spcPts val="1014"/>
              </a:lnSpc>
              <a:buNone/>
            </a:pPr>
            <a:r>
              <a:rPr kern="0" lang="en-US" sz="831" i="1" dirty="0">
                <a:solidFill>
                  <a:srgbClr val="8A847A"/>
                </a:solidFill>
                <a:latin typeface="Calibri" pitchFamily="34" charset="0"/>
                <a:ea typeface="Calibri" pitchFamily="34" charset="-122"/>
                <a:cs typeface="Calibri" pitchFamily="34" charset="-120"/>
              </a:rPr>
              <a:t>MambaIR/basicsr/archs/mambair_arch.py — VSSBlock + CAB (condensed: reshape/permute plumbing and DropPath elided; the two-branch residual is faithful)</a:t>
            </a:r>
            <a:endParaRPr lang="en-US" sz="831" dirty="0"/>
          </a:p>
        </p:txBody>
      </p:sp>
      <p:sp>
        <p:nvSpPr>
          <p:cNvPr id="11" name="Text 9"/>
          <p:cNvSpPr txBox="1"/>
          <p:nvPr/>
        </p:nvSpPr>
        <p:spPr>
          <a:xfrm>
            <a:off x="1906890" y="1655247"/>
            <a:ext cx="159471" cy="3569543"/>
          </a:xfrm>
          <a:prstGeom prst="rect">
            <a:avLst/>
          </a:prstGeom>
          <a:noFill/>
          <a:ln/>
        </p:spPr>
        <p:txBody>
          <a:bodyPr wrap="none" lIns="0" tIns="0" rIns="0" bIns="0" rtlCol="0" anchor="t"/>
          <a:lstStyle/>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2</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3</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4</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5</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6</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7</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8</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9</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10</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11</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12</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13</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14</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15</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16</a:t>
            </a:r>
            <a:endParaRPr lang="en-US" sz="738" dirty="0"/>
          </a:p>
          <a:p>
            <a:pPr algn="r" indent="0" marL="0">
              <a:lnSpc>
                <a:spcPts val="1338"/>
              </a:lnSpc>
              <a:buNone/>
            </a:pPr>
            <a:r>
              <a:rPr kern="0" lang="en-US" sz="738" b="1" dirty="0">
                <a:solidFill>
                  <a:srgbClr val="B5AFA4"/>
                </a:solidFill>
                <a:latin typeface="Consolas" pitchFamily="34" charset="0"/>
                <a:ea typeface="Consolas" pitchFamily="34" charset="-122"/>
                <a:cs typeface="Consolas" pitchFamily="34" charset="-120"/>
              </a:rPr>
              <a:t>17</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18</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19</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20</a:t>
            </a:r>
            <a:endParaRPr lang="en-US" sz="738" dirty="0"/>
          </a:p>
          <a:p>
            <a:pPr algn="r" indent="0" marL="0">
              <a:lnSpc>
                <a:spcPts val="1338"/>
              </a:lnSpc>
              <a:buNone/>
            </a:pPr>
            <a:r>
              <a:rPr kern="0" lang="en-US" sz="738" dirty="0">
                <a:solidFill>
                  <a:srgbClr val="B5AFA4"/>
                </a:solidFill>
                <a:latin typeface="Consolas" pitchFamily="34" charset="0"/>
                <a:ea typeface="Consolas" pitchFamily="34" charset="-122"/>
                <a:cs typeface="Consolas" pitchFamily="34" charset="-120"/>
              </a:rPr>
              <a:t>21</a:t>
            </a:r>
            <a:endParaRPr lang="en-US" sz="738" dirty="0"/>
          </a:p>
        </p:txBody>
      </p:sp>
      <p:sp>
        <p:nvSpPr>
          <p:cNvPr id="12" name="Text 10"/>
          <p:cNvSpPr txBox="1"/>
          <p:nvPr/>
        </p:nvSpPr>
        <p:spPr>
          <a:xfrm>
            <a:off x="1953798" y="1663019"/>
            <a:ext cx="4243456" cy="3569543"/>
          </a:xfrm>
          <a:prstGeom prst="rect">
            <a:avLst/>
          </a:prstGeom>
          <a:noFill/>
          <a:ln/>
        </p:spPr>
        <p:txBody>
          <a:bodyPr wrap="none" lIns="0" tIns="0" rIns="0" bIns="0" rtlCol="0" anchor="t"/>
          <a:lstStyle/>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class VSSBlock(nn.Module):          # the paper's RSSB</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def __init__(self, dim, d_state=16):</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self.ln_1 = LayerNorm(dim)</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self.self_attention = SS2D(dim, d_state)  # scan</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self.skip_scale  = Parameter(ones(dim))   # factor</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self.conv_blk    = CAB(dim)        # conv + CA</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self.ln_2        = LayerNorm(dim)</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self.skip_scale2 = Parameter(ones(dim))</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def forward(self, x, x_size):</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x = x.view(B, *x_size, C)          # [B,H,W,C]</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h = self.ln_1(x)</a:t>
            </a:r>
            <a:endParaRPr lang="en-US" sz="892" dirty="0"/>
          </a:p>
          <a:p>
            <a:pPr algn="l" indent="0" marL="0">
              <a:lnSpc>
                <a:spcPts val="1338"/>
              </a:lnSpc>
              <a:buNone/>
            </a:pPr>
            <a:r>
              <a:rPr kern="0" lang="en-US" sz="892" b="1" dirty="0">
                <a:solidFill>
                  <a:srgbClr val="C0451A"/>
                </a:solidFill>
                <a:latin typeface="Consolas" pitchFamily="34" charset="0"/>
                <a:ea typeface="Consolas" pitchFamily="34" charset="-122"/>
                <a:cs typeface="Consolas" pitchFamily="34" charset="-120"/>
              </a:rPr>
              <a:t>        x = x*self.skip_scale  + self.self_attention(h)</a:t>
            </a:r>
            <a:endParaRPr lang="en-US" sz="892" dirty="0"/>
          </a:p>
          <a:p>
            <a:pPr algn="l" indent="0" marL="0">
              <a:lnSpc>
                <a:spcPts val="1338"/>
              </a:lnSpc>
              <a:buNone/>
            </a:pPr>
            <a:r>
              <a:rPr kern="0" lang="en-US" sz="892" b="1" dirty="0">
                <a:solidFill>
                  <a:srgbClr val="C0451A"/>
                </a:solidFill>
                <a:latin typeface="Consolas" pitchFamily="34" charset="0"/>
                <a:ea typeface="Consolas" pitchFamily="34" charset="-122"/>
                <a:cs typeface="Consolas" pitchFamily="34" charset="-120"/>
              </a:rPr>
              <a:t>        x = x*self.skip_scale2 + self.conv_blk(self.ln_2(x))</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return x.view(B, -1, C)</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a:t>
            </a:r>
            <a:endParaRPr lang="en-US" sz="892" dirty="0"/>
          </a:p>
          <a:p>
            <a:pPr algn="l" indent="0" marL="0">
              <a:lnSpc>
                <a:spcPts val="1338"/>
              </a:lnSpc>
              <a:buNone/>
            </a:pPr>
            <a:r>
              <a:rPr kern="0" lang="en-US" sz="892" b="1" dirty="0">
                <a:solidFill>
                  <a:srgbClr val="C0451A"/>
                </a:solidFill>
                <a:latin typeface="Consolas" pitchFamily="34" charset="0"/>
                <a:ea typeface="Consolas" pitchFamily="34" charset="-122"/>
                <a:cs typeface="Consolas" pitchFamily="34" charset="-120"/>
              </a:rPr>
              <a:t># CAB - the local branch, no state-space at all:</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CAB = nn.Sequential(</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nn.Conv2d(dim, dim//r, 3,1,1), nn.GELU(),</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nn.Conv2d(dim//r, dim, 3,1,1),</a:t>
            </a:r>
            <a:endParaRPr lang="en-US" sz="892" dirty="0"/>
          </a:p>
          <a:p>
            <a:pPr algn="l" indent="0" marL="0">
              <a:lnSpc>
                <a:spcPts val="1338"/>
              </a:lnSpc>
              <a:buNone/>
            </a:pPr>
            <a:r>
              <a:rPr kern="0" lang="en-US" sz="892" dirty="0">
                <a:solidFill>
                  <a:srgbClr val="211F1B"/>
                </a:solidFill>
                <a:latin typeface="Consolas" pitchFamily="34" charset="0"/>
                <a:ea typeface="Consolas" pitchFamily="34" charset="-122"/>
                <a:cs typeface="Consolas" pitchFamily="34" charset="-120"/>
              </a:rPr>
              <a:t>    ChannelAttention(dim))       # pool-&gt;1x1-&gt;ReLU-&gt;1x1-&gt;Sig</a:t>
            </a:r>
            <a:endParaRPr lang="en-US" sz="892" dirty="0"/>
          </a:p>
        </p:txBody>
      </p:sp>
      <p:sp>
        <p:nvSpPr>
          <p:cNvPr id="13" name="Shape 11"/>
          <p:cNvSpPr/>
          <p:nvPr/>
        </p:nvSpPr>
        <p:spPr>
          <a:xfrm>
            <a:off x="6927312" y="1161928"/>
            <a:ext cx="7772" cy="4594586"/>
          </a:xfrm>
          <a:prstGeom prst="rect">
            <a:avLst/>
          </a:prstGeom>
          <a:solidFill>
            <a:srgbClr val="DFDBD2"/>
          </a:solidFill>
          <a:ln/>
        </p:spPr>
      </p:sp>
      <p:sp>
        <p:nvSpPr>
          <p:cNvPr id="14" name="Shape 12"/>
          <p:cNvSpPr/>
          <p:nvPr/>
        </p:nvSpPr>
        <p:spPr>
          <a:xfrm>
            <a:off x="7232081" y="1161928"/>
            <a:ext cx="4396801" cy="7772"/>
          </a:xfrm>
          <a:prstGeom prst="rect">
            <a:avLst/>
          </a:prstGeom>
          <a:solidFill>
            <a:srgbClr val="DFDBD2"/>
          </a:solidFill>
          <a:ln/>
        </p:spPr>
      </p:sp>
      <p:sp>
        <p:nvSpPr>
          <p:cNvPr id="15" name="Text 13"/>
          <p:cNvSpPr txBox="1"/>
          <p:nvPr/>
        </p:nvSpPr>
        <p:spPr>
          <a:xfrm>
            <a:off x="7232081" y="1302563"/>
            <a:ext cx="139903"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01</a:t>
            </a:r>
            <a:endParaRPr lang="en-US" sz="738" dirty="0"/>
          </a:p>
        </p:txBody>
      </p:sp>
      <p:sp>
        <p:nvSpPr>
          <p:cNvPr id="16" name="Text 14"/>
          <p:cNvSpPr txBox="1"/>
          <p:nvPr/>
        </p:nvSpPr>
        <p:spPr>
          <a:xfrm>
            <a:off x="7560351" y="1291864"/>
            <a:ext cx="4100444" cy="1113282"/>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Two branches, one block.</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MambaIR’s RSSB (class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VSSBlock</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is not a Mamba layer dropped into a U‑Net. It is a state‑space branch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SS2D</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for global context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and</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 convolution‑plus‑channel‑attention branch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CAB</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for the local detail the scan discards, each wrapped in a learnable‑scaled residual.</a:t>
            </a:r>
            <a:endParaRPr lang="en-US" sz="1138" dirty="0"/>
          </a:p>
        </p:txBody>
      </p:sp>
      <p:sp>
        <p:nvSpPr>
          <p:cNvPr id="17" name="Text 15"/>
          <p:cNvSpPr txBox="1"/>
          <p:nvPr/>
        </p:nvSpPr>
        <p:spPr>
          <a:xfrm>
            <a:off x="7232081" y="2540935"/>
            <a:ext cx="144475"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02</a:t>
            </a:r>
            <a:endParaRPr lang="en-US" sz="738" dirty="0"/>
          </a:p>
        </p:txBody>
      </p:sp>
      <p:sp>
        <p:nvSpPr>
          <p:cNvPr id="18" name="Text 16"/>
          <p:cNvSpPr txBox="1"/>
          <p:nvPr/>
        </p:nvSpPr>
        <p:spPr>
          <a:xfrm>
            <a:off x="7560351" y="2530145"/>
            <a:ext cx="4100444" cy="1320485"/>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SS2D is the operator — and the reason it would not run.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SS2D</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is the four‑directional selective scan of slide 61; it is the one call into the compiled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mamba_ssm</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CUDA extension, which is exactly why the model could not be instantiated in our benchmark (slide 77). The scan is the mechanism; the block above is only how it is wired into an image model.</a:t>
            </a:r>
            <a:endParaRPr lang="en-US" sz="1138" dirty="0"/>
          </a:p>
        </p:txBody>
      </p:sp>
      <p:sp>
        <p:nvSpPr>
          <p:cNvPr id="19" name="Text 17"/>
          <p:cNvSpPr txBox="1"/>
          <p:nvPr/>
        </p:nvSpPr>
        <p:spPr>
          <a:xfrm>
            <a:off x="7232081" y="3986510"/>
            <a:ext cx="144567"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03</a:t>
            </a:r>
            <a:endParaRPr lang="en-US" sz="738" dirty="0"/>
          </a:p>
        </p:txBody>
      </p:sp>
      <p:sp>
        <p:nvSpPr>
          <p:cNvPr id="20" name="Text 18"/>
          <p:cNvSpPr txBox="1"/>
          <p:nvPr/>
        </p:nvSpPr>
        <p:spPr>
          <a:xfrm>
            <a:off x="7560351" y="3975720"/>
            <a:ext cx="4100444" cy="877092"/>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conv_blk = CAB is ordinary.</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Two 3×3 convolutions, a </a:t>
            </a:r>
            <a:pPr algn="l" indent="0" marL="0">
              <a:lnSpc>
                <a:spcPts val="1708"/>
              </a:lnSpc>
              <a:buNone/>
            </a:pPr>
            <a:r>
              <a:rPr kern="0" lang="en-US" sz="1025" dirty="0">
                <a:solidFill>
                  <a:srgbClr val="145A66"/>
                </a:solidFill>
                <a:latin typeface="Consolas" pitchFamily="34" charset="0"/>
                <a:ea typeface="Consolas" pitchFamily="34" charset="-122"/>
                <a:cs typeface="Consolas" pitchFamily="34" charset="-120"/>
              </a:rPr>
              <a:t>GELU</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and an RCAN‑style channel attention (pool → 1×1 → ReLU → 1×1 → Sigmoid). This is the local convolution and channel attention whose ablation on slide 61 is worth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+0.11 dB</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on Urban100.</a:t>
            </a:r>
            <a:endParaRPr lang="en-US" sz="1138" dirty="0"/>
          </a:p>
        </p:txBody>
      </p:sp>
      <p:sp>
        <p:nvSpPr>
          <p:cNvPr id="21" name="Text 19"/>
          <p:cNvSpPr txBox="1"/>
          <p:nvPr/>
        </p:nvSpPr>
        <p:spPr>
          <a:xfrm>
            <a:off x="7232081" y="4988692"/>
            <a:ext cx="148864"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04</a:t>
            </a:r>
            <a:endParaRPr lang="en-US" sz="738" dirty="0"/>
          </a:p>
        </p:txBody>
      </p:sp>
      <p:sp>
        <p:nvSpPr>
          <p:cNvPr id="22" name="Text 20"/>
          <p:cNvSpPr txBox="1"/>
          <p:nvPr/>
        </p:nvSpPr>
        <p:spPr>
          <a:xfrm>
            <a:off x="7560351" y="4977902"/>
            <a:ext cx="4100444"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skip_scale / skip_scale2 are the learnable factors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named on slide 61 — one per branch, initialised to ones, so the block starts near identity and training decides how much of each branch to admit.</a:t>
            </a:r>
            <a:endParaRPr lang="en-US" sz="1138" dirty="0"/>
          </a:p>
        </p:txBody>
      </p:sp>
      <p:sp>
        <p:nvSpPr>
          <p:cNvPr id="23" name="Text 21"/>
          <p:cNvSpPr txBox="1"/>
          <p:nvPr/>
        </p:nvSpPr>
        <p:spPr>
          <a:xfrm>
            <a:off x="7653711" y="6229259"/>
            <a:ext cx="3975263"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read — </a:t>
            </a:r>
            <a:pPr algn="r" indent="0" marL="0">
              <a:lnSpc>
                <a:spcPts val="976"/>
              </a:lnSpc>
              <a:buNone/>
            </a:pPr>
            <a:r>
              <a:rPr kern="0" lang="en-US" sz="720" i="1" dirty="0">
                <a:solidFill>
                  <a:srgbClr val="145A66"/>
                </a:solidFill>
                <a:latin typeface="Consolas" pitchFamily="34" charset="0"/>
                <a:ea typeface="Consolas" pitchFamily="34" charset="-122"/>
                <a:cs typeface="Consolas" pitchFamily="34" charset="-120"/>
              </a:rPr>
              <a:t>csguoh/MambaIR</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a:t>
            </a:r>
            <a:pPr algn="r" indent="0" marL="0">
              <a:lnSpc>
                <a:spcPts val="976"/>
              </a:lnSpc>
              <a:buNone/>
            </a:pPr>
            <a:r>
              <a:rPr kern="0" lang="en-US" sz="720" i="1" dirty="0">
                <a:solidFill>
                  <a:srgbClr val="145A66"/>
                </a:solidFill>
                <a:latin typeface="Consolas" pitchFamily="34" charset="0"/>
                <a:ea typeface="Consolas" pitchFamily="34" charset="-122"/>
                <a:cs typeface="Consolas" pitchFamily="34" charset="-120"/>
              </a:rPr>
              <a:t>basicsr/archs/mambair_arch.py</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at the commit on slide 65</a:t>
            </a:r>
            <a:endParaRPr lang="en-US" sz="800" dirty="0"/>
          </a:p>
        </p:txBody>
      </p:sp>
      <p:sp>
        <p:nvSpPr>
          <p:cNvPr id="24" name="Shape 22"/>
          <p:cNvSpPr/>
          <p:nvPr/>
        </p:nvSpPr>
        <p:spPr>
          <a:xfrm>
            <a:off x="1531803" y="6537411"/>
            <a:ext cx="10097262" cy="7772"/>
          </a:xfrm>
          <a:prstGeom prst="rect">
            <a:avLst/>
          </a:prstGeom>
          <a:solidFill>
            <a:srgbClr val="C9C4B9"/>
          </a:solidFill>
          <a:ln/>
        </p:spPr>
      </p:sp>
      <p:sp>
        <p:nvSpPr>
          <p:cNvPr id="25" name="Shape 23"/>
          <p:cNvSpPr/>
          <p:nvPr/>
        </p:nvSpPr>
        <p:spPr>
          <a:xfrm>
            <a:off x="9385310" y="6525707"/>
            <a:ext cx="1683228" cy="31272"/>
          </a:xfrm>
          <a:prstGeom prst="rect">
            <a:avLst/>
          </a:prstGeom>
          <a:solidFill>
            <a:srgbClr val="C0451A"/>
          </a:solidFill>
          <a:ln/>
        </p:spPr>
      </p:sp>
      <p:sp>
        <p:nvSpPr>
          <p:cNvPr id="26" name="Shape 24"/>
          <p:cNvSpPr/>
          <p:nvPr/>
        </p:nvSpPr>
        <p:spPr>
          <a:xfrm>
            <a:off x="1531803" y="6498366"/>
            <a:ext cx="7772" cy="39045"/>
          </a:xfrm>
          <a:prstGeom prst="rect">
            <a:avLst/>
          </a:prstGeom>
          <a:solidFill>
            <a:srgbClr val="C9C4B9"/>
          </a:solidFill>
          <a:ln/>
        </p:spPr>
      </p:sp>
      <p:sp>
        <p:nvSpPr>
          <p:cNvPr id="27" name="Text 25"/>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8" name="Shape 26"/>
          <p:cNvSpPr/>
          <p:nvPr/>
        </p:nvSpPr>
        <p:spPr>
          <a:xfrm>
            <a:off x="5458511" y="6498366"/>
            <a:ext cx="7772" cy="39045"/>
          </a:xfrm>
          <a:prstGeom prst="rect">
            <a:avLst/>
          </a:prstGeom>
          <a:solidFill>
            <a:srgbClr val="C9C4B9"/>
          </a:solidFill>
          <a:ln/>
        </p:spPr>
      </p:sp>
      <p:sp>
        <p:nvSpPr>
          <p:cNvPr id="29" name="Text 27"/>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0" name="Shape 28"/>
          <p:cNvSpPr/>
          <p:nvPr/>
        </p:nvSpPr>
        <p:spPr>
          <a:xfrm>
            <a:off x="7141738" y="6498366"/>
            <a:ext cx="7772" cy="39045"/>
          </a:xfrm>
          <a:prstGeom prst="rect">
            <a:avLst/>
          </a:prstGeom>
          <a:solidFill>
            <a:srgbClr val="C9C4B9"/>
          </a:solidFill>
          <a:ln/>
        </p:spPr>
      </p:sp>
      <p:sp>
        <p:nvSpPr>
          <p:cNvPr id="31" name="Text 29"/>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2" name="Shape 30"/>
          <p:cNvSpPr/>
          <p:nvPr/>
        </p:nvSpPr>
        <p:spPr>
          <a:xfrm>
            <a:off x="9945654" y="6498366"/>
            <a:ext cx="7772" cy="39045"/>
          </a:xfrm>
          <a:prstGeom prst="rect">
            <a:avLst/>
          </a:prstGeom>
          <a:solidFill>
            <a:srgbClr val="C9C4B9"/>
          </a:solidFill>
          <a:ln/>
        </p:spPr>
      </p:sp>
      <p:sp>
        <p:nvSpPr>
          <p:cNvPr id="33" name="Text 31"/>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4" name="Shape 32"/>
          <p:cNvSpPr/>
          <p:nvPr/>
        </p:nvSpPr>
        <p:spPr>
          <a:xfrm>
            <a:off x="11628973" y="6498366"/>
            <a:ext cx="7772" cy="39045"/>
          </a:xfrm>
          <a:prstGeom prst="rect">
            <a:avLst/>
          </a:prstGeom>
          <a:solidFill>
            <a:srgbClr val="C9C4B9"/>
          </a:solidFill>
          <a:ln/>
        </p:spPr>
      </p:sp>
      <p:sp>
        <p:nvSpPr>
          <p:cNvPr id="35" name="Text 33"/>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383225"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71</a:t>
            </a:r>
            <a:endParaRPr lang="en-US" sz="2893" dirty="0"/>
          </a:p>
        </p:txBody>
      </p:sp>
      <p:sp>
        <p:nvSpPr>
          <p:cNvPr id="3" name="Text 1"/>
          <p:cNvSpPr txBox="1"/>
          <p:nvPr/>
        </p:nvSpPr>
        <p:spPr>
          <a:xfrm rot="16200000">
            <a:off x="-385420" y="3428909"/>
            <a:ext cx="1002091"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C0451A"/>
                </a:solidFill>
                <a:latin typeface="Calibri" pitchFamily="34" charset="0"/>
                <a:ea typeface="Calibri" pitchFamily="34" charset="-122"/>
                <a:cs typeface="Calibri" pitchFamily="34" charset="-120"/>
              </a:rPr>
              <a:t>ARCHITECTURE</a:t>
            </a:r>
            <a:endParaRPr lang="en-US" sz="789" dirty="0"/>
          </a:p>
        </p:txBody>
      </p:sp>
      <p:sp>
        <p:nvSpPr>
          <p:cNvPr id="4" name="Shape 2"/>
          <p:cNvSpPr/>
          <p:nvPr/>
        </p:nvSpPr>
        <p:spPr>
          <a:xfrm>
            <a:off x="1636685" y="492679"/>
            <a:ext cx="217079" cy="25055"/>
          </a:xfrm>
          <a:prstGeom prst="rect">
            <a:avLst/>
          </a:prstGeom>
          <a:solidFill>
            <a:srgbClr val="C0451A"/>
          </a:solidFill>
          <a:ln/>
        </p:spPr>
      </p:sp>
      <p:sp>
        <p:nvSpPr>
          <p:cNvPr id="5" name="Text 3"/>
          <p:cNvSpPr txBox="1"/>
          <p:nvPr/>
        </p:nvSpPr>
        <p:spPr>
          <a:xfrm>
            <a:off x="1953981" y="436443"/>
            <a:ext cx="3069458"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MAMBAIR IN CODE · AND WHERE SCUNET LIVES</a:t>
            </a:r>
            <a:endParaRPr lang="en-US" sz="888" dirty="0"/>
          </a:p>
        </p:txBody>
      </p:sp>
      <p:sp>
        <p:nvSpPr>
          <p:cNvPr id="6" name="Text 4"/>
          <p:cNvSpPr txBox="1"/>
          <p:nvPr/>
        </p:nvSpPr>
        <p:spPr>
          <a:xfrm>
            <a:off x="5005608" y="436443"/>
            <a:ext cx="86868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C0451A"/>
                </a:solidFill>
                <a:latin typeface="Calibri" pitchFamily="34" charset="0"/>
                <a:ea typeface="Calibri" pitchFamily="34" charset="-122"/>
                <a:cs typeface="Calibri" pitchFamily="34" charset="-120"/>
              </a:rPr>
              <a:t>· CONTINUED</a:t>
            </a:r>
            <a:endParaRPr lang="en-US" sz="888" dirty="0"/>
          </a:p>
        </p:txBody>
      </p:sp>
      <p:sp>
        <p:nvSpPr>
          <p:cNvPr id="7" name="Text 5"/>
          <p:cNvSpPr txBox="1"/>
          <p:nvPr/>
        </p:nvSpPr>
        <p:spPr>
          <a:xfrm>
            <a:off x="1636685" y="690281"/>
            <a:ext cx="921111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MambaIR’s block — and why SCUNet has no code slide</a:t>
            </a:r>
            <a:endParaRPr lang="en-US" sz="3025" dirty="0"/>
          </a:p>
        </p:txBody>
      </p:sp>
      <p:sp>
        <p:nvSpPr>
          <p:cNvPr id="8" name="Shape 6"/>
          <p:cNvSpPr/>
          <p:nvPr/>
        </p:nvSpPr>
        <p:spPr>
          <a:xfrm>
            <a:off x="1636685" y="1241481"/>
            <a:ext cx="9953793" cy="8321"/>
          </a:xfrm>
          <a:prstGeom prst="rect">
            <a:avLst/>
          </a:prstGeom>
          <a:solidFill>
            <a:srgbClr val="DFDBD2"/>
          </a:solidFill>
          <a:ln/>
        </p:spPr>
      </p:sp>
      <p:sp>
        <p:nvSpPr>
          <p:cNvPr id="9" name="Text 7"/>
          <p:cNvSpPr txBox="1"/>
          <p:nvPr/>
        </p:nvSpPr>
        <p:spPr>
          <a:xfrm>
            <a:off x="1636685" y="1391808"/>
            <a:ext cx="15563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05</a:t>
            </a:r>
            <a:endParaRPr lang="en-US" sz="789" dirty="0"/>
          </a:p>
        </p:txBody>
      </p:sp>
      <p:sp>
        <p:nvSpPr>
          <p:cNvPr id="10" name="Text 8"/>
          <p:cNvSpPr txBox="1"/>
          <p:nvPr/>
        </p:nvSpPr>
        <p:spPr>
          <a:xfrm>
            <a:off x="1987448" y="1380287"/>
            <a:ext cx="9658167" cy="705460"/>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Why SCUNet is read on slide 73, not here.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SCUNet’s contribution is its degradation pipeline, not its Swin‑conv U‑Net — so its code that matters is the dataloader, read where the data pipelines are. Showing </a:t>
            </a:r>
            <a:pPr algn="l" indent="0" marL="0">
              <a:lnSpc>
                <a:spcPts val="1825"/>
              </a:lnSpc>
              <a:buNone/>
            </a:pPr>
            <a:r>
              <a:rPr kern="0" lang="en-US" sz="1095" dirty="0">
                <a:solidFill>
                  <a:srgbClr val="145A66"/>
                </a:solidFill>
                <a:latin typeface="Consolas" pitchFamily="34" charset="0"/>
                <a:ea typeface="Consolas" pitchFamily="34" charset="-122"/>
                <a:cs typeface="Consolas" pitchFamily="34" charset="-120"/>
              </a:rPr>
              <a:t>SCUNet.forward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would show the least novel part of the paper. The code section reads one representative file per bottleneck, and these two papers are read where their contribution actually lives.</a:t>
            </a:r>
            <a:endParaRPr lang="en-US" sz="1216" dirty="0"/>
          </a:p>
        </p:txBody>
      </p:sp>
      <p:sp>
        <p:nvSpPr>
          <p:cNvPr id="11" name="Text 9"/>
          <p:cNvSpPr txBox="1"/>
          <p:nvPr/>
        </p:nvSpPr>
        <p:spPr>
          <a:xfrm>
            <a:off x="7342906" y="6186190"/>
            <a:ext cx="4247571"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 — </a:t>
            </a:r>
            <a:pPr algn="r" indent="0" marL="0">
              <a:lnSpc>
                <a:spcPts val="1043"/>
              </a:lnSpc>
              <a:buNone/>
            </a:pPr>
            <a:r>
              <a:rPr kern="0" lang="en-US" sz="769" i="1" dirty="0">
                <a:solidFill>
                  <a:srgbClr val="145A66"/>
                </a:solidFill>
                <a:latin typeface="Consolas" pitchFamily="34" charset="0"/>
                <a:ea typeface="Consolas" pitchFamily="34" charset="-122"/>
                <a:cs typeface="Consolas" pitchFamily="34" charset="-120"/>
              </a:rPr>
              <a:t>csguoh/MambaIR</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a:t>
            </a:r>
            <a:pPr algn="r" indent="0" marL="0">
              <a:lnSpc>
                <a:spcPts val="1043"/>
              </a:lnSpc>
              <a:buNone/>
            </a:pPr>
            <a:r>
              <a:rPr kern="0" lang="en-US" sz="769" i="1" dirty="0">
                <a:solidFill>
                  <a:srgbClr val="145A66"/>
                </a:solidFill>
                <a:latin typeface="Consolas" pitchFamily="34" charset="0"/>
                <a:ea typeface="Consolas" pitchFamily="34" charset="-122"/>
                <a:cs typeface="Consolas" pitchFamily="34" charset="-120"/>
              </a:rPr>
              <a:t>basicsr/archs/mambair_arch.py</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at the commit on slide 65</a:t>
            </a:r>
            <a:endParaRPr lang="en-US" sz="855" dirty="0"/>
          </a:p>
        </p:txBody>
      </p:sp>
      <p:sp>
        <p:nvSpPr>
          <p:cNvPr id="12" name="Shape 10"/>
          <p:cNvSpPr/>
          <p:nvPr/>
        </p:nvSpPr>
        <p:spPr>
          <a:xfrm>
            <a:off x="1636685" y="6515466"/>
            <a:ext cx="9953793" cy="8321"/>
          </a:xfrm>
          <a:prstGeom prst="rect">
            <a:avLst/>
          </a:prstGeom>
          <a:solidFill>
            <a:srgbClr val="C9C4B9"/>
          </a:solidFill>
          <a:ln/>
        </p:spPr>
      </p:sp>
      <p:sp>
        <p:nvSpPr>
          <p:cNvPr id="13" name="Shape 11"/>
          <p:cNvSpPr/>
          <p:nvPr/>
        </p:nvSpPr>
        <p:spPr>
          <a:xfrm>
            <a:off x="9378635" y="6502938"/>
            <a:ext cx="1659270" cy="33376"/>
          </a:xfrm>
          <a:prstGeom prst="rect">
            <a:avLst/>
          </a:prstGeom>
          <a:solidFill>
            <a:srgbClr val="C0451A"/>
          </a:solidFill>
          <a:ln/>
        </p:spPr>
      </p:sp>
      <p:sp>
        <p:nvSpPr>
          <p:cNvPr id="14" name="Shape 12"/>
          <p:cNvSpPr/>
          <p:nvPr/>
        </p:nvSpPr>
        <p:spPr>
          <a:xfrm>
            <a:off x="1636685" y="6473678"/>
            <a:ext cx="8321" cy="41788"/>
          </a:xfrm>
          <a:prstGeom prst="rect">
            <a:avLst/>
          </a:prstGeom>
          <a:solidFill>
            <a:srgbClr val="C9C4B9"/>
          </a:solidFill>
          <a:ln/>
        </p:spPr>
      </p:sp>
      <p:sp>
        <p:nvSpPr>
          <p:cNvPr id="15" name="Text 13"/>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6" name="Shape 14"/>
          <p:cNvSpPr/>
          <p:nvPr/>
        </p:nvSpPr>
        <p:spPr>
          <a:xfrm>
            <a:off x="5507706" y="6473678"/>
            <a:ext cx="8321" cy="41788"/>
          </a:xfrm>
          <a:prstGeom prst="rect">
            <a:avLst/>
          </a:prstGeom>
          <a:solidFill>
            <a:srgbClr val="C9C4B9"/>
          </a:solidFill>
          <a:ln/>
        </p:spPr>
      </p:sp>
      <p:sp>
        <p:nvSpPr>
          <p:cNvPr id="17" name="Text 15"/>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8" name="Shape 16"/>
          <p:cNvSpPr/>
          <p:nvPr/>
        </p:nvSpPr>
        <p:spPr>
          <a:xfrm>
            <a:off x="7166884" y="6473678"/>
            <a:ext cx="8321" cy="41788"/>
          </a:xfrm>
          <a:prstGeom prst="rect">
            <a:avLst/>
          </a:prstGeom>
          <a:solidFill>
            <a:srgbClr val="C9C4B9"/>
          </a:solidFill>
          <a:ln/>
        </p:spPr>
      </p:sp>
      <p:sp>
        <p:nvSpPr>
          <p:cNvPr id="19" name="Text 17"/>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0" name="Shape 18"/>
          <p:cNvSpPr/>
          <p:nvPr/>
        </p:nvSpPr>
        <p:spPr>
          <a:xfrm>
            <a:off x="9931024" y="6473678"/>
            <a:ext cx="8321" cy="41788"/>
          </a:xfrm>
          <a:prstGeom prst="rect">
            <a:avLst/>
          </a:prstGeom>
          <a:solidFill>
            <a:srgbClr val="C9C4B9"/>
          </a:solidFill>
          <a:ln/>
        </p:spPr>
      </p:sp>
      <p:sp>
        <p:nvSpPr>
          <p:cNvPr id="21" name="Text 19"/>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2" name="Shape 20"/>
          <p:cNvSpPr/>
          <p:nvPr/>
        </p:nvSpPr>
        <p:spPr>
          <a:xfrm>
            <a:off x="11590477" y="6473678"/>
            <a:ext cx="8321" cy="41788"/>
          </a:xfrm>
          <a:prstGeom prst="rect">
            <a:avLst/>
          </a:prstGeom>
          <a:solidFill>
            <a:srgbClr val="C9C4B9"/>
          </a:solidFill>
          <a:ln/>
        </p:spPr>
      </p:sp>
      <p:sp>
        <p:nvSpPr>
          <p:cNvPr id="23" name="Text 21"/>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75453"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72</a:t>
            </a:r>
            <a:endParaRPr lang="en-US" sz="2708" dirty="0"/>
          </a:p>
        </p:txBody>
      </p:sp>
      <p:sp>
        <p:nvSpPr>
          <p:cNvPr id="3" name="Shape 1"/>
          <p:cNvSpPr/>
          <p:nvPr/>
        </p:nvSpPr>
        <p:spPr>
          <a:xfrm>
            <a:off x="1531803" y="461132"/>
            <a:ext cx="203180" cy="23409"/>
          </a:xfrm>
          <a:prstGeom prst="rect">
            <a:avLst/>
          </a:prstGeom>
          <a:solidFill>
            <a:srgbClr val="14343F"/>
          </a:solidFill>
          <a:ln/>
        </p:spPr>
      </p:sp>
      <p:sp>
        <p:nvSpPr>
          <p:cNvPr id="4" name="Text 2"/>
          <p:cNvSpPr txBox="1"/>
          <p:nvPr/>
        </p:nvSpPr>
        <p:spPr>
          <a:xfrm>
            <a:off x="1828800" y="408462"/>
            <a:ext cx="2194926"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FRAMEWORKS AND CONFIGURATION</a:t>
            </a:r>
            <a:endParaRPr lang="en-US" sz="831" dirty="0"/>
          </a:p>
        </p:txBody>
      </p:sp>
      <p:sp>
        <p:nvSpPr>
          <p:cNvPr id="5" name="Text 3"/>
          <p:cNvSpPr txBox="1"/>
          <p:nvPr/>
        </p:nvSpPr>
        <p:spPr>
          <a:xfrm>
            <a:off x="1531803" y="646024"/>
            <a:ext cx="9172072"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How the field's software stack moved, dated by repository</a:t>
            </a:r>
            <a:endParaRPr lang="en-US" sz="2831" dirty="0"/>
          </a:p>
        </p:txBody>
      </p:sp>
      <p:sp>
        <p:nvSpPr>
          <p:cNvPr id="6" name="Text 4"/>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The brief asks what frameworks these models use and how pre-trained weights are used today compared with older manual methods. The answer is best given as a migration with dates attached to actual commits.</a:t>
            </a:r>
            <a:endParaRPr lang="en-US" sz="1231"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1531803" y="2084100"/>
          <a:ext cx="9144000" cy="914400"/>
        </p:xfrm>
        <a:graphic>
          <a:graphicData uri="http://schemas.openxmlformats.org/drawingml/2006/table">
            <a:tbl>
              <a:tblPr/>
              <a:tblGrid>
                <a:gridCol w="2016343"/>
                <a:gridCol w="2270272"/>
                <a:gridCol w="2293772"/>
                <a:gridCol w="3516874"/>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ERA</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FRAMEWORK</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HOW A MODEL IS INSTANTIATED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Classical, ≤2014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MATLAB / C, or NumPy</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Function arguments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Call a function with tuned constants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DnCNN, 2017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MatConvNet</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(MATLAB)</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Hard-coded in a training script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Edit the script, rerun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Noise2Noise, 2018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TensorFlow</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argparse</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flags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Command line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KAIR, 2018–2024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 JSON options file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Name a model string, options resolve it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Restormer / NAFNet, 2022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 + </a:t>
                      </a:r>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BasicSR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YAML</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resolved by a registry</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build_network(opt)</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reads </a:t>
                      </a:r>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type:</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from YAML</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SCUNet, 2023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Constructor arguments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Direct instantiation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MambaIR, 2024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 + compiled CUDA ext.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YAML + BasicSR registry</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Requires </a:t>
                      </a:r>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mamba_ssm</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to import at all</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P2N+, 2025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PyTorch</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argparse</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with a </a:t>
                      </a:r>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--mode</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flag</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One flag selects the training paradigm</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531803" y="5131979"/>
            <a:ext cx="10097262" cy="15636"/>
          </a:xfrm>
          <a:prstGeom prst="rect">
            <a:avLst/>
          </a:prstGeom>
          <a:solidFill>
            <a:srgbClr val="14343F"/>
          </a:solidFill>
          <a:ln/>
        </p:spPr>
      </p:sp>
      <p:sp>
        <p:nvSpPr>
          <p:cNvPr id="9" name="Text 6"/>
          <p:cNvSpPr txBox="1"/>
          <p:nvPr/>
        </p:nvSpPr>
        <p:spPr>
          <a:xfrm>
            <a:off x="1531803" y="5270693"/>
            <a:ext cx="10153223" cy="59783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Two observations worth making aloud.</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(1) The registry pattern in BasicSR means the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architecture is named by a string in a config file</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so swapping Restormer for NAFNet is a one-line YAML edit — architectures have become interchangeable components. (2) Between 2017 and 2022 the unit of reproducibility moved from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a script you edit</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to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a config you version-control</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which is why modern papers can honestly claim exact reproduction.</a:t>
            </a:r>
            <a:endParaRPr lang="en-US" sz="1046" dirty="0"/>
          </a:p>
        </p:txBody>
      </p:sp>
      <p:sp>
        <p:nvSpPr>
          <p:cNvPr id="10" name="Text 7"/>
          <p:cNvSpPr txBox="1"/>
          <p:nvPr/>
        </p:nvSpPr>
        <p:spPr>
          <a:xfrm>
            <a:off x="9409085" y="6237031"/>
            <a:ext cx="2219889"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measured — repositories at the commits on slide 65</a:t>
            </a:r>
            <a:endParaRPr lang="en-US" sz="800" dirty="0"/>
          </a:p>
        </p:txBody>
      </p:sp>
      <p:sp>
        <p:nvSpPr>
          <p:cNvPr id="11" name="Shape 8"/>
          <p:cNvSpPr/>
          <p:nvPr/>
        </p:nvSpPr>
        <p:spPr>
          <a:xfrm>
            <a:off x="1531803" y="6537411"/>
            <a:ext cx="10097262" cy="7772"/>
          </a:xfrm>
          <a:prstGeom prst="rect">
            <a:avLst/>
          </a:prstGeom>
          <a:solidFill>
            <a:srgbClr val="C9C4B9"/>
          </a:solidFill>
          <a:ln/>
        </p:spPr>
      </p:sp>
      <p:sp>
        <p:nvSpPr>
          <p:cNvPr id="12" name="Shape 9"/>
          <p:cNvSpPr/>
          <p:nvPr/>
        </p:nvSpPr>
        <p:spPr>
          <a:xfrm>
            <a:off x="1531803" y="6498366"/>
            <a:ext cx="7772" cy="39045"/>
          </a:xfrm>
          <a:prstGeom prst="rect">
            <a:avLst/>
          </a:prstGeom>
          <a:solidFill>
            <a:srgbClr val="C9C4B9"/>
          </a:solidFill>
          <a:ln/>
        </p:spPr>
      </p:sp>
      <p:sp>
        <p:nvSpPr>
          <p:cNvPr id="13" name="Text 10"/>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4" name="Shape 11"/>
          <p:cNvSpPr/>
          <p:nvPr/>
        </p:nvSpPr>
        <p:spPr>
          <a:xfrm>
            <a:off x="5458511" y="6498366"/>
            <a:ext cx="7772" cy="39045"/>
          </a:xfrm>
          <a:prstGeom prst="rect">
            <a:avLst/>
          </a:prstGeom>
          <a:solidFill>
            <a:srgbClr val="C9C4B9"/>
          </a:solidFill>
          <a:ln/>
        </p:spPr>
      </p:sp>
      <p:sp>
        <p:nvSpPr>
          <p:cNvPr id="15" name="Text 12"/>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6" name="Shape 13"/>
          <p:cNvSpPr/>
          <p:nvPr/>
        </p:nvSpPr>
        <p:spPr>
          <a:xfrm>
            <a:off x="7141738" y="6498366"/>
            <a:ext cx="7772" cy="39045"/>
          </a:xfrm>
          <a:prstGeom prst="rect">
            <a:avLst/>
          </a:prstGeom>
          <a:solidFill>
            <a:srgbClr val="C9C4B9"/>
          </a:solidFill>
          <a:ln/>
        </p:spPr>
      </p:sp>
      <p:sp>
        <p:nvSpPr>
          <p:cNvPr id="17" name="Text 14"/>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18" name="Shape 15"/>
          <p:cNvSpPr/>
          <p:nvPr/>
        </p:nvSpPr>
        <p:spPr>
          <a:xfrm>
            <a:off x="9945654" y="6498366"/>
            <a:ext cx="7772" cy="39045"/>
          </a:xfrm>
          <a:prstGeom prst="rect">
            <a:avLst/>
          </a:prstGeom>
          <a:solidFill>
            <a:srgbClr val="C9C4B9"/>
          </a:solidFill>
          <a:ln/>
        </p:spPr>
      </p:sp>
      <p:sp>
        <p:nvSpPr>
          <p:cNvPr id="19" name="Text 16"/>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0" name="Shape 17"/>
          <p:cNvSpPr/>
          <p:nvPr/>
        </p:nvSpPr>
        <p:spPr>
          <a:xfrm>
            <a:off x="11628973" y="6498366"/>
            <a:ext cx="7772" cy="39045"/>
          </a:xfrm>
          <a:prstGeom prst="rect">
            <a:avLst/>
          </a:prstGeom>
          <a:solidFill>
            <a:srgbClr val="C9C4B9"/>
          </a:solidFill>
          <a:ln/>
        </p:spPr>
      </p:sp>
      <p:sp>
        <p:nvSpPr>
          <p:cNvPr id="21" name="Text 18"/>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3233"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73</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923453"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DATA PIPELINES</a:t>
            </a:r>
            <a:endParaRPr lang="en-US" sz="781" dirty="0"/>
          </a:p>
        </p:txBody>
      </p:sp>
      <p:sp>
        <p:nvSpPr>
          <p:cNvPr id="5" name="Text 3"/>
          <p:cNvSpPr txBox="1"/>
          <p:nvPr/>
        </p:nvSpPr>
        <p:spPr>
          <a:xfrm>
            <a:off x="1439540" y="607070"/>
            <a:ext cx="8159466"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Where the noise is added, and why that choice matters</a:t>
            </a:r>
            <a:endParaRPr lang="en-US" sz="2660" dirty="0"/>
          </a:p>
        </p:txBody>
      </p:sp>
      <p:sp>
        <p:nvSpPr>
          <p:cNvPr id="6" name="Text 4"/>
          <p:cNvSpPr txBox="1"/>
          <p:nvPr/>
        </p:nvSpPr>
        <p:spPr>
          <a:xfrm>
            <a:off x="1439540" y="1106607"/>
            <a:ext cx="5695340" cy="653613"/>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brief asks how modern data pipelines work. The interesting axis is not the </a:t>
            </a:r>
            <a:pPr algn="l" indent="0" marL="0">
              <a:lnSpc>
                <a:spcPts val="1735"/>
              </a:lnSpc>
              <a:buNone/>
            </a:pPr>
            <a:r>
              <a:rPr kern="0" lang="en-US" sz="1041" dirty="0">
                <a:solidFill>
                  <a:srgbClr val="145A66"/>
                </a:solidFill>
                <a:latin typeface="Consolas" pitchFamily="34" charset="0"/>
                <a:ea typeface="Consolas" pitchFamily="34" charset="-122"/>
                <a:cs typeface="Consolas" pitchFamily="34" charset="-120"/>
              </a:rPr>
              <a:t>Dataset</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boilerplate — it is </a:t>
            </a:r>
            <a:pPr algn="l" indent="0" marL="0">
              <a:lnSpc>
                <a:spcPts val="1735"/>
              </a:lnSpc>
              <a:buNone/>
            </a:pPr>
            <a:r>
              <a:rPr kern="0" lang="en-US" sz="1157" i="1" dirty="0">
                <a:solidFill>
                  <a:srgbClr val="5A554D"/>
                </a:solidFill>
                <a:latin typeface="Calibri" pitchFamily="34" charset="0"/>
                <a:ea typeface="Calibri" pitchFamily="34" charset="-122"/>
                <a:cs typeface="Calibri" pitchFamily="34" charset="-120"/>
              </a:rPr>
              <a:t>when</a:t>
            </a:r>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 the degradation is applied, because that determines what the network can possibly learn.</a:t>
            </a:r>
            <a:endParaRPr lang="en-US" sz="1157" dirty="0"/>
          </a:p>
        </p:txBody>
      </p:sp>
      <p:sp>
        <p:nvSpPr>
          <p:cNvPr id="7" name="Shape 5"/>
          <p:cNvSpPr/>
          <p:nvPr/>
        </p:nvSpPr>
        <p:spPr>
          <a:xfrm>
            <a:off x="6551219" y="1965869"/>
            <a:ext cx="7315" cy="3130174"/>
          </a:xfrm>
          <a:prstGeom prst="rect">
            <a:avLst/>
          </a:prstGeom>
          <a:solidFill>
            <a:srgbClr val="DFDBD2"/>
          </a:solidFill>
          <a:ln/>
        </p:spPr>
      </p:sp>
      <p:sp>
        <p:nvSpPr>
          <p:cNvPr id="8" name="Shape 6"/>
          <p:cNvSpPr/>
          <p:nvPr/>
        </p:nvSpPr>
        <p:spPr>
          <a:xfrm>
            <a:off x="1439540" y="1965869"/>
            <a:ext cx="4950104" cy="14722"/>
          </a:xfrm>
          <a:prstGeom prst="rect">
            <a:avLst/>
          </a:prstGeom>
          <a:solidFill>
            <a:srgbClr val="14343F"/>
          </a:solidFill>
          <a:ln/>
        </p:spPr>
      </p:sp>
      <p:sp>
        <p:nvSpPr>
          <p:cNvPr id="9" name="Text 7"/>
          <p:cNvSpPr txBox="1"/>
          <p:nvPr/>
        </p:nvSpPr>
        <p:spPr>
          <a:xfrm>
            <a:off x="1439540" y="2090867"/>
            <a:ext cx="1331915"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The two strategies</a:t>
            </a:r>
            <a:endParaRPr lang="en-US" sz="1272" dirty="0"/>
          </a:p>
        </p:txBody>
      </p:sp>
      <p:sp>
        <p:nvSpPr>
          <p:cNvPr id="10" name="Shape 8"/>
          <p:cNvSpPr/>
          <p:nvPr/>
        </p:nvSpPr>
        <p:spPr>
          <a:xfrm>
            <a:off x="1439540" y="2442911"/>
            <a:ext cx="58796" cy="36759"/>
          </a:xfrm>
          <a:prstGeom prst="rect">
            <a:avLst/>
          </a:prstGeom>
          <a:solidFill>
            <a:srgbClr val="14343F"/>
          </a:solidFill>
          <a:ln/>
        </p:spPr>
      </p:sp>
      <p:sp>
        <p:nvSpPr>
          <p:cNvPr id="11" name="Text 9"/>
          <p:cNvSpPr txBox="1"/>
          <p:nvPr/>
        </p:nvSpPr>
        <p:spPr>
          <a:xfrm>
            <a:off x="1586393" y="2381463"/>
            <a:ext cx="4837176"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Offline.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Generate noisy/clean pairs once, write them to disk, and read them during training. Deterministic and fast, but the network sees each noise realisation many times and can memorise it.</a:t>
            </a:r>
            <a:endParaRPr lang="en-US" sz="1070" dirty="0"/>
          </a:p>
        </p:txBody>
      </p:sp>
      <p:sp>
        <p:nvSpPr>
          <p:cNvPr id="12" name="Shape 10"/>
          <p:cNvSpPr/>
          <p:nvPr/>
        </p:nvSpPr>
        <p:spPr>
          <a:xfrm>
            <a:off x="1439540" y="3171871"/>
            <a:ext cx="58796" cy="36759"/>
          </a:xfrm>
          <a:prstGeom prst="rect">
            <a:avLst/>
          </a:prstGeom>
          <a:solidFill>
            <a:srgbClr val="14343F"/>
          </a:solidFill>
          <a:ln/>
        </p:spPr>
      </p:sp>
      <p:sp>
        <p:nvSpPr>
          <p:cNvPr id="13" name="Text 11"/>
          <p:cNvSpPr txBox="1"/>
          <p:nvPr/>
        </p:nvSpPr>
        <p:spPr>
          <a:xfrm>
            <a:off x="1586393" y="3110332"/>
            <a:ext cx="4837176"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On-the-fly, in __getitem__.</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Draw a fresh noise realisation for every sample, every epoch. The network never sees the same corrupted patch twice, which is a powerful implicit regulariser — and it is free.</a:t>
            </a:r>
            <a:endParaRPr lang="en-US" sz="1070" dirty="0"/>
          </a:p>
        </p:txBody>
      </p:sp>
      <p:sp>
        <p:nvSpPr>
          <p:cNvPr id="14" name="Shape 12"/>
          <p:cNvSpPr/>
          <p:nvPr/>
        </p:nvSpPr>
        <p:spPr>
          <a:xfrm>
            <a:off x="1439540" y="3900830"/>
            <a:ext cx="58796" cy="36759"/>
          </a:xfrm>
          <a:prstGeom prst="rect">
            <a:avLst/>
          </a:prstGeom>
          <a:solidFill>
            <a:srgbClr val="14343F"/>
          </a:solidFill>
          <a:ln/>
        </p:spPr>
      </p:sp>
      <p:sp>
        <p:nvSpPr>
          <p:cNvPr id="15" name="Text 13"/>
          <p:cNvSpPr txBox="1"/>
          <p:nvPr/>
        </p:nvSpPr>
        <p:spPr>
          <a:xfrm>
            <a:off x="1586393" y="3839291"/>
            <a:ext cx="4837176" cy="42227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DnCNN, 2017:</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patches cropped from 400 images, noise added per sample, σ drawn from [0, 55] for the blind model. 128 × 3 000 patches of 50×50.</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[1]</a:t>
            </a:r>
            <a:endParaRPr lang="en-US" sz="1070" dirty="0"/>
          </a:p>
        </p:txBody>
      </p:sp>
      <p:sp>
        <p:nvSpPr>
          <p:cNvPr id="16" name="Shape 14"/>
          <p:cNvSpPr/>
          <p:nvPr/>
        </p:nvSpPr>
        <p:spPr>
          <a:xfrm>
            <a:off x="1439540" y="4425879"/>
            <a:ext cx="58796" cy="36759"/>
          </a:xfrm>
          <a:prstGeom prst="rect">
            <a:avLst/>
          </a:prstGeom>
          <a:solidFill>
            <a:srgbClr val="14343F"/>
          </a:solidFill>
          <a:ln/>
        </p:spPr>
      </p:sp>
      <p:sp>
        <p:nvSpPr>
          <p:cNvPr id="17" name="Text 15"/>
          <p:cNvSpPr txBox="1"/>
          <p:nvPr/>
        </p:nvSpPr>
        <p:spPr>
          <a:xfrm>
            <a:off x="1586393" y="4364431"/>
            <a:ext cx="4837176"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SCUNet, 2023:</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entire degradation chain — Gaussian, Poisson, speckle, JPEG, ISP-simulated sensor noise, resizing, with random shuffling and double degradation — is executed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per sample, at load time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dataloader is the contribution.</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[2]</a:t>
            </a:r>
            <a:endParaRPr lang="en-US" sz="1070" dirty="0"/>
          </a:p>
        </p:txBody>
      </p:sp>
      <p:sp>
        <p:nvSpPr>
          <p:cNvPr id="18" name="Shape 16"/>
          <p:cNvSpPr/>
          <p:nvPr/>
        </p:nvSpPr>
        <p:spPr>
          <a:xfrm>
            <a:off x="6712793" y="1965869"/>
            <a:ext cx="4950104" cy="14722"/>
          </a:xfrm>
          <a:prstGeom prst="rect">
            <a:avLst/>
          </a:prstGeom>
          <a:solidFill>
            <a:srgbClr val="14343F"/>
          </a:solidFill>
          <a:ln/>
        </p:spPr>
      </p:sp>
      <p:sp>
        <p:nvSpPr>
          <p:cNvPr id="19" name="Text 17"/>
          <p:cNvSpPr txBox="1"/>
          <p:nvPr/>
        </p:nvSpPr>
        <p:spPr>
          <a:xfrm>
            <a:off x="6712793" y="2090867"/>
            <a:ext cx="2422611"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What is in every modern pipeline</a:t>
            </a:r>
            <a:endParaRPr lang="en-US" sz="1272" dirty="0"/>
          </a:p>
        </p:txBody>
      </p:sp>
      <p:sp>
        <p:nvSpPr>
          <p:cNvPr id="20" name="Shape 18"/>
          <p:cNvSpPr/>
          <p:nvPr/>
        </p:nvSpPr>
        <p:spPr>
          <a:xfrm>
            <a:off x="6712793" y="2442911"/>
            <a:ext cx="58796" cy="36759"/>
          </a:xfrm>
          <a:prstGeom prst="rect">
            <a:avLst/>
          </a:prstGeom>
          <a:solidFill>
            <a:srgbClr val="14343F"/>
          </a:solidFill>
          <a:ln/>
        </p:spPr>
      </p:sp>
      <p:sp>
        <p:nvSpPr>
          <p:cNvPr id="21" name="Text 19"/>
          <p:cNvSpPr txBox="1"/>
          <p:nvPr/>
        </p:nvSpPr>
        <p:spPr>
          <a:xfrm>
            <a:off x="6859646" y="2381463"/>
            <a:ext cx="4837176"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Random crop</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to a fixed patch size. 40–55 px in DnCNN; 128 px rising to 384 px in Restormer's</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[3]</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progressive schedule; 256 px in NAFNet</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[5]</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128 px in MambaIR's</a:t>
            </a:r>
            <a:pPr algn="l" indent="0" marL="0">
              <a:lnSpc>
                <a:spcPts val="1605"/>
              </a:lnSpc>
              <a:buNone/>
            </a:pPr>
            <a:r>
              <a:rPr kern="0" lang="en-US" sz="792" b="1" dirty="0">
                <a:solidFill>
                  <a:srgbClr val="C0451A"/>
                </a:solidFill>
                <a:latin typeface="Calibri" pitchFamily="34" charset="0"/>
                <a:ea typeface="Calibri" pitchFamily="34" charset="-122"/>
                <a:cs typeface="Calibri" pitchFamily="34" charset="-120"/>
              </a:rPr>
              <a:t>[4]</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denoising configuration.</a:t>
            </a:r>
            <a:endParaRPr lang="en-US" sz="1070" dirty="0"/>
          </a:p>
        </p:txBody>
      </p:sp>
      <p:sp>
        <p:nvSpPr>
          <p:cNvPr id="22" name="Shape 20"/>
          <p:cNvSpPr/>
          <p:nvPr/>
        </p:nvSpPr>
        <p:spPr>
          <a:xfrm>
            <a:off x="6712793" y="3171871"/>
            <a:ext cx="58796" cy="36759"/>
          </a:xfrm>
          <a:prstGeom prst="rect">
            <a:avLst/>
          </a:prstGeom>
          <a:solidFill>
            <a:srgbClr val="14343F"/>
          </a:solidFill>
          <a:ln/>
        </p:spPr>
      </p:sp>
      <p:sp>
        <p:nvSpPr>
          <p:cNvPr id="23" name="Text 21"/>
          <p:cNvSpPr txBox="1"/>
          <p:nvPr/>
        </p:nvSpPr>
        <p:spPr>
          <a:xfrm>
            <a:off x="6859646" y="3110332"/>
            <a:ext cx="4837176"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Geometric augmentation only.</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Horizontal and vertical flips, and 90°/180°/270° rotations. Notably absent: colour jitter, cutout, mixup — anything that alters intensity statistics would corrupt the very quantity being estimated.</a:t>
            </a:r>
            <a:endParaRPr lang="en-US" sz="1070" dirty="0"/>
          </a:p>
        </p:txBody>
      </p:sp>
      <p:sp>
        <p:nvSpPr>
          <p:cNvPr id="24" name="Shape 22"/>
          <p:cNvSpPr/>
          <p:nvPr/>
        </p:nvSpPr>
        <p:spPr>
          <a:xfrm>
            <a:off x="6712793" y="3900830"/>
            <a:ext cx="58796" cy="36759"/>
          </a:xfrm>
          <a:prstGeom prst="rect">
            <a:avLst/>
          </a:prstGeom>
          <a:solidFill>
            <a:srgbClr val="14343F"/>
          </a:solidFill>
          <a:ln/>
        </p:spPr>
      </p:sp>
      <p:sp>
        <p:nvSpPr>
          <p:cNvPr id="25" name="Text 23"/>
          <p:cNvSpPr txBox="1"/>
          <p:nvPr/>
        </p:nvSpPr>
        <p:spPr>
          <a:xfrm>
            <a:off x="6859646" y="3839291"/>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Batch size traded against patch size.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Restormer explicitly reduces batch size as patch size grows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to maintain a similar time per optimisation step</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a:t>
            </a:r>
            <a:endParaRPr lang="en-US" sz="1070" dirty="0"/>
          </a:p>
        </p:txBody>
      </p:sp>
      <p:sp>
        <p:nvSpPr>
          <p:cNvPr id="26" name="Shape 24"/>
          <p:cNvSpPr/>
          <p:nvPr/>
        </p:nvSpPr>
        <p:spPr>
          <a:xfrm>
            <a:off x="6712793" y="4425879"/>
            <a:ext cx="58796" cy="36759"/>
          </a:xfrm>
          <a:prstGeom prst="rect">
            <a:avLst/>
          </a:prstGeom>
          <a:solidFill>
            <a:srgbClr val="14343F"/>
          </a:solidFill>
          <a:ln/>
        </p:spPr>
      </p:sp>
      <p:sp>
        <p:nvSpPr>
          <p:cNvPr id="27" name="Text 25"/>
          <p:cNvSpPr txBox="1"/>
          <p:nvPr/>
        </p:nvSpPr>
        <p:spPr>
          <a:xfrm>
            <a:off x="6859646" y="4364431"/>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Real-noise datasets skip synthesis entirely.</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SIDD ships 320 captured noisy/clean scene pairs. There is no noise model in that pipeline — the camera is the noise model.</a:t>
            </a:r>
            <a:endParaRPr lang="en-US" sz="1070" dirty="0"/>
          </a:p>
        </p:txBody>
      </p:sp>
      <p:sp>
        <p:nvSpPr>
          <p:cNvPr id="28" name="Shape 26"/>
          <p:cNvSpPr/>
          <p:nvPr/>
        </p:nvSpPr>
        <p:spPr>
          <a:xfrm>
            <a:off x="1439540" y="5301691"/>
            <a:ext cx="10223358" cy="14722"/>
          </a:xfrm>
          <a:prstGeom prst="rect">
            <a:avLst/>
          </a:prstGeom>
          <a:solidFill>
            <a:srgbClr val="14343F"/>
          </a:solidFill>
          <a:ln/>
        </p:spPr>
      </p:sp>
      <p:sp>
        <p:nvSpPr>
          <p:cNvPr id="29" name="Text 27"/>
          <p:cNvSpPr txBox="1"/>
          <p:nvPr/>
        </p:nvSpPr>
        <p:spPr>
          <a:xfrm>
            <a:off x="1439540" y="5432085"/>
            <a:ext cx="8936980" cy="187269"/>
          </a:xfrm>
          <a:prstGeom prst="rect">
            <a:avLst/>
          </a:prstGeom>
          <a:noFill/>
          <a:ln/>
        </p:spPr>
        <p:txBody>
          <a:bodyPr wrap="non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The one line to take away.</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In 2017 the data pipeline was infrastructure. By 2023 — in SCUNet, and in the whole data branch of Part IV — the data pipeline </a:t>
            </a:r>
            <a:pPr algn="l" indent="0" marL="0">
              <a:lnSpc>
                <a:spcPts val="1475"/>
              </a:lnSpc>
              <a:buNone/>
            </a:pPr>
            <a:r>
              <a:rPr kern="0" lang="en-US" sz="983" i="1" dirty="0">
                <a:solidFill>
                  <a:srgbClr val="33302B"/>
                </a:solidFill>
                <a:latin typeface="Calibri" pitchFamily="34" charset="0"/>
                <a:ea typeface="Calibri" pitchFamily="34" charset="-122"/>
                <a:cs typeface="Calibri" pitchFamily="34" charset="-120"/>
              </a:rPr>
              <a:t>is the method</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a:t>
            </a:r>
            <a:endParaRPr lang="en-US" sz="983" dirty="0"/>
          </a:p>
        </p:txBody>
      </p:sp>
      <p:sp>
        <p:nvSpPr>
          <p:cNvPr id="30" name="Text 28"/>
          <p:cNvSpPr txBox="1"/>
          <p:nvPr/>
        </p:nvSpPr>
        <p:spPr>
          <a:xfrm>
            <a:off x="7477415" y="6285494"/>
            <a:ext cx="4185483"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DnCNN17 §IV-A 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SCUNet23 §3.2 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Restormer22 §4 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[4]</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MambaIR24 §4.1 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[5]</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NAFNet22 §5.1</a:t>
            </a:r>
            <a:endParaRPr lang="en-US" sz="556" dirty="0"/>
          </a:p>
        </p:txBody>
      </p:sp>
      <p:sp>
        <p:nvSpPr>
          <p:cNvPr id="31" name="Shape 29"/>
          <p:cNvSpPr/>
          <p:nvPr/>
        </p:nvSpPr>
        <p:spPr>
          <a:xfrm>
            <a:off x="1439540" y="6556705"/>
            <a:ext cx="10223358" cy="7315"/>
          </a:xfrm>
          <a:prstGeom prst="rect">
            <a:avLst/>
          </a:prstGeom>
          <a:solidFill>
            <a:srgbClr val="C9C4B9"/>
          </a:solidFill>
          <a:ln/>
        </p:spPr>
      </p:sp>
      <p:sp>
        <p:nvSpPr>
          <p:cNvPr id="32" name="Shape 30"/>
          <p:cNvSpPr/>
          <p:nvPr/>
        </p:nvSpPr>
        <p:spPr>
          <a:xfrm>
            <a:off x="1439540" y="6519946"/>
            <a:ext cx="7315" cy="36759"/>
          </a:xfrm>
          <a:prstGeom prst="rect">
            <a:avLst/>
          </a:prstGeom>
          <a:solidFill>
            <a:srgbClr val="C9C4B9"/>
          </a:solidFill>
          <a:ln/>
        </p:spPr>
      </p:sp>
      <p:sp>
        <p:nvSpPr>
          <p:cNvPr id="33" name="Text 31"/>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4" name="Shape 32"/>
          <p:cNvSpPr/>
          <p:nvPr/>
        </p:nvSpPr>
        <p:spPr>
          <a:xfrm>
            <a:off x="5415351" y="6519946"/>
            <a:ext cx="7315" cy="36759"/>
          </a:xfrm>
          <a:prstGeom prst="rect">
            <a:avLst/>
          </a:prstGeom>
          <a:solidFill>
            <a:srgbClr val="C9C4B9"/>
          </a:solidFill>
          <a:ln/>
        </p:spPr>
      </p:sp>
      <p:sp>
        <p:nvSpPr>
          <p:cNvPr id="35" name="Text 33"/>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6" name="Shape 34"/>
          <p:cNvSpPr/>
          <p:nvPr/>
        </p:nvSpPr>
        <p:spPr>
          <a:xfrm>
            <a:off x="7119610" y="6519946"/>
            <a:ext cx="7315" cy="36759"/>
          </a:xfrm>
          <a:prstGeom prst="rect">
            <a:avLst/>
          </a:prstGeom>
          <a:solidFill>
            <a:srgbClr val="C9C4B9"/>
          </a:solidFill>
          <a:ln/>
        </p:spPr>
      </p:sp>
      <p:sp>
        <p:nvSpPr>
          <p:cNvPr id="37" name="Text 35"/>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8" name="Shape 36"/>
          <p:cNvSpPr/>
          <p:nvPr/>
        </p:nvSpPr>
        <p:spPr>
          <a:xfrm>
            <a:off x="9958639" y="6519946"/>
            <a:ext cx="7315" cy="36759"/>
          </a:xfrm>
          <a:prstGeom prst="rect">
            <a:avLst/>
          </a:prstGeom>
          <a:solidFill>
            <a:srgbClr val="C9C4B9"/>
          </a:solidFill>
          <a:ln/>
        </p:spPr>
      </p:sp>
      <p:sp>
        <p:nvSpPr>
          <p:cNvPr id="39" name="Text 37"/>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40" name="Shape 38"/>
          <p:cNvSpPr/>
          <p:nvPr/>
        </p:nvSpPr>
        <p:spPr>
          <a:xfrm>
            <a:off x="11662898" y="6519946"/>
            <a:ext cx="7315" cy="36759"/>
          </a:xfrm>
          <a:prstGeom prst="rect">
            <a:avLst/>
          </a:prstGeom>
          <a:solidFill>
            <a:srgbClr val="C9C4B9"/>
          </a:solidFill>
          <a:ln/>
        </p:spPr>
      </p:sp>
      <p:sp>
        <p:nvSpPr>
          <p:cNvPr id="41" name="Text 39"/>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46923"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74</a:t>
            </a:r>
            <a:endParaRPr lang="en-US" sz="2400" dirty="0"/>
          </a:p>
        </p:txBody>
      </p:sp>
      <p:sp>
        <p:nvSpPr>
          <p:cNvPr id="3" name="Shape 1"/>
          <p:cNvSpPr/>
          <p:nvPr/>
        </p:nvSpPr>
        <p:spPr>
          <a:xfrm>
            <a:off x="1357701" y="439735"/>
            <a:ext cx="180137" cy="20757"/>
          </a:xfrm>
          <a:prstGeom prst="rect">
            <a:avLst/>
          </a:prstGeom>
          <a:solidFill>
            <a:srgbClr val="14343F"/>
          </a:solidFill>
          <a:ln/>
        </p:spPr>
      </p:sp>
      <p:sp>
        <p:nvSpPr>
          <p:cNvPr id="4" name="Text 2"/>
          <p:cNvSpPr txBox="1"/>
          <p:nvPr/>
        </p:nvSpPr>
        <p:spPr>
          <a:xfrm>
            <a:off x="1620957" y="393101"/>
            <a:ext cx="912937"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14343F"/>
                </a:solidFill>
                <a:latin typeface="Calibri" pitchFamily="34" charset="0"/>
                <a:ea typeface="Calibri" pitchFamily="34" charset="-122"/>
                <a:cs typeface="Calibri" pitchFamily="34" charset="-120"/>
              </a:rPr>
              <a:t>LOSS FUNCTIONS</a:t>
            </a:r>
            <a:endParaRPr lang="en-US" sz="736" dirty="0"/>
          </a:p>
        </p:txBody>
      </p:sp>
      <p:sp>
        <p:nvSpPr>
          <p:cNvPr id="5" name="Text 3"/>
          <p:cNvSpPr txBox="1"/>
          <p:nvPr/>
        </p:nvSpPr>
        <p:spPr>
          <a:xfrm>
            <a:off x="1357701" y="870234"/>
            <a:ext cx="10390419" cy="688177"/>
          </a:xfrm>
          <a:prstGeom prst="rect">
            <a:avLst/>
          </a:prstGeom>
          <a:noFill/>
          <a:ln/>
        </p:spPr>
        <p:txBody>
          <a:bodyPr wrap="squar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What modern denoisers actually optimise — and what they conspicuously do not</a:t>
            </a:r>
            <a:endParaRPr lang="en-US" sz="2509" dirty="0"/>
          </a:p>
        </p:txBody>
      </p:sp>
      <p:sp>
        <p:nvSpPr>
          <p:cNvPr id="6" name="Text 4"/>
          <p:cNvSpPr txBox="1"/>
          <p:nvPr/>
        </p:nvSpPr>
        <p:spPr>
          <a:xfrm>
            <a:off x="1357701" y="1969252"/>
            <a:ext cx="5371734" cy="415595"/>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The brief asks specifically about the modern loss functions being used. The finding is a negative one and it is more interesting than the positive list.</a:t>
            </a:r>
            <a:endParaRPr lang="en-US" sz="1091" dirty="0"/>
          </a:p>
        </p:txBody>
      </p:sp>
      <p:sp>
        <p:nvSpPr>
          <p:cNvPr id="7" name="Shape 5"/>
          <p:cNvSpPr/>
          <p:nvPr/>
        </p:nvSpPr>
        <p:spPr>
          <a:xfrm>
            <a:off x="1357701" y="2876520"/>
            <a:ext cx="5015210" cy="13899"/>
          </a:xfrm>
          <a:prstGeom prst="rect">
            <a:avLst/>
          </a:prstGeom>
          <a:solidFill>
            <a:srgbClr val="14343F"/>
          </a:solidFill>
          <a:ln/>
        </p:spPr>
      </p:sp>
      <p:sp>
        <p:nvSpPr>
          <p:cNvPr id="8" name="Text 6"/>
          <p:cNvSpPr txBox="1"/>
          <p:nvPr/>
        </p:nvSpPr>
        <p:spPr>
          <a:xfrm>
            <a:off x="1357701" y="3001061"/>
            <a:ext cx="560436" cy="97201"/>
          </a:xfrm>
          <a:prstGeom prst="rect">
            <a:avLst/>
          </a:prstGeom>
          <a:noFill/>
          <a:ln/>
        </p:spPr>
        <p:txBody>
          <a:bodyPr wrap="none" lIns="0" tIns="0" rIns="0" bIns="0" rtlCol="0" anchor="t"/>
          <a:lstStyle/>
          <a:p>
            <a:pPr algn="l" indent="0" marL="0">
              <a:lnSpc>
                <a:spcPts val="765"/>
              </a:lnSpc>
              <a:buNone/>
            </a:pPr>
            <a:r>
              <a:rPr lang="en-US" sz="627" b="1" spc="93" kern="0" dirty="0">
                <a:solidFill>
                  <a:srgbClr val="14343F"/>
                </a:solidFill>
                <a:latin typeface="Calibri" pitchFamily="34" charset="0"/>
                <a:ea typeface="Calibri" pitchFamily="34" charset="-122"/>
                <a:cs typeface="Calibri" pitchFamily="34" charset="-120"/>
              </a:rPr>
              <a:t>RESTORMER</a:t>
            </a:r>
            <a:endParaRPr lang="en-US" sz="627" dirty="0"/>
          </a:p>
        </p:txBody>
      </p:sp>
      <p:sp>
        <p:nvSpPr>
          <p:cNvPr id="9" name="Text 7"/>
          <p:cNvSpPr txBox="1"/>
          <p:nvPr/>
        </p:nvSpPr>
        <p:spPr>
          <a:xfrm>
            <a:off x="1357701" y="3160624"/>
            <a:ext cx="561990"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Plain L1</a:t>
            </a:r>
            <a:endParaRPr lang="en-US" sz="1200" dirty="0"/>
          </a:p>
        </p:txBody>
      </p:sp>
      <p:sp>
        <p:nvSpPr>
          <p:cNvPr id="10" name="Text 8"/>
          <p:cNvSpPr txBox="1"/>
          <p:nvPr/>
        </p:nvSpPr>
        <p:spPr>
          <a:xfrm>
            <a:off x="1357701" y="3443905"/>
            <a:ext cx="5049134" cy="340431"/>
          </a:xfrm>
          <a:prstGeom prst="rect">
            <a:avLst/>
          </a:prstGeom>
          <a:noFill/>
          <a:ln/>
        </p:spPr>
        <p:txBody>
          <a:bodyPr wrap="square" lIns="0" tIns="0" rIns="0" bIns="0" rtlCol="0" anchor="t"/>
          <a:lstStyle/>
          <a:p>
            <a:pPr algn="l" indent="0" marL="0">
              <a:lnSpc>
                <a:spcPts val="1368"/>
              </a:lnSpc>
              <a:buNone/>
            </a:pPr>
            <a:r>
              <a:rPr kern="0" lang="en-US" sz="810" dirty="0">
                <a:solidFill>
                  <a:srgbClr val="145A66"/>
                </a:solidFill>
                <a:latin typeface="Consolas" pitchFamily="34" charset="0"/>
                <a:ea typeface="Consolas" pitchFamily="34" charset="-122"/>
                <a:cs typeface="Consolas" pitchFamily="34" charset="-120"/>
              </a:rPr>
              <a:t>L1 loss for 300K iterations</a:t>
            </a:r>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a:t>
            </a:r>
            <a:pPr algn="l" indent="0" marL="0">
              <a:lnSpc>
                <a:spcPts val="1368"/>
              </a:lnSpc>
              <a:buNone/>
            </a:pPr>
            <a:r>
              <a:rPr kern="0" lang="en-US" sz="666" b="1" dirty="0">
                <a:solidFill>
                  <a:srgbClr val="C0451A"/>
                </a:solidFill>
                <a:latin typeface="Calibri" pitchFamily="34" charset="0"/>
                <a:ea typeface="Calibri" pitchFamily="34" charset="-122"/>
                <a:cs typeface="Calibri" pitchFamily="34" charset="-120"/>
              </a:rPr>
              <a:t>[1]</a:t>
            </a:r>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 No perceptual term, no adversarial term. The most-cited restoration Transformer of the decade optimises mean absolute error.</a:t>
            </a:r>
            <a:endParaRPr lang="en-US" sz="810" dirty="0"/>
          </a:p>
        </p:txBody>
      </p:sp>
      <p:sp>
        <p:nvSpPr>
          <p:cNvPr id="11" name="Shape 9"/>
          <p:cNvSpPr/>
          <p:nvPr/>
        </p:nvSpPr>
        <p:spPr>
          <a:xfrm>
            <a:off x="6677680" y="2876520"/>
            <a:ext cx="5015210" cy="13899"/>
          </a:xfrm>
          <a:prstGeom prst="rect">
            <a:avLst/>
          </a:prstGeom>
          <a:solidFill>
            <a:srgbClr val="14343F"/>
          </a:solidFill>
          <a:ln/>
        </p:spPr>
      </p:sp>
      <p:sp>
        <p:nvSpPr>
          <p:cNvPr id="12" name="Text 10"/>
          <p:cNvSpPr txBox="1"/>
          <p:nvPr/>
        </p:nvSpPr>
        <p:spPr>
          <a:xfrm>
            <a:off x="6677680" y="3001061"/>
            <a:ext cx="380299" cy="97201"/>
          </a:xfrm>
          <a:prstGeom prst="rect">
            <a:avLst/>
          </a:prstGeom>
          <a:noFill/>
          <a:ln/>
        </p:spPr>
        <p:txBody>
          <a:bodyPr wrap="none" lIns="0" tIns="0" rIns="0" bIns="0" rtlCol="0" anchor="t"/>
          <a:lstStyle/>
          <a:p>
            <a:pPr algn="l" indent="0" marL="0">
              <a:lnSpc>
                <a:spcPts val="765"/>
              </a:lnSpc>
              <a:buNone/>
            </a:pPr>
            <a:r>
              <a:rPr lang="en-US" sz="627" b="1" spc="93" kern="0" dirty="0">
                <a:solidFill>
                  <a:srgbClr val="14343F"/>
                </a:solidFill>
                <a:latin typeface="Calibri" pitchFamily="34" charset="0"/>
                <a:ea typeface="Calibri" pitchFamily="34" charset="-122"/>
                <a:cs typeface="Calibri" pitchFamily="34" charset="-120"/>
              </a:rPr>
              <a:t>NAFNET</a:t>
            </a:r>
            <a:endParaRPr lang="en-US" sz="627" dirty="0"/>
          </a:p>
        </p:txBody>
      </p:sp>
      <p:sp>
        <p:nvSpPr>
          <p:cNvPr id="13" name="Text 11"/>
          <p:cNvSpPr txBox="1"/>
          <p:nvPr/>
        </p:nvSpPr>
        <p:spPr>
          <a:xfrm>
            <a:off x="6677680" y="3160624"/>
            <a:ext cx="678210"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PSNR loss</a:t>
            </a:r>
            <a:endParaRPr lang="en-US" sz="1200" dirty="0"/>
          </a:p>
        </p:txBody>
      </p:sp>
      <p:sp>
        <p:nvSpPr>
          <p:cNvPr id="14" name="Text 12"/>
          <p:cNvSpPr txBox="1"/>
          <p:nvPr/>
        </p:nvSpPr>
        <p:spPr>
          <a:xfrm>
            <a:off x="6677680" y="3433481"/>
            <a:ext cx="5049134" cy="357805"/>
          </a:xfrm>
          <a:prstGeom prst="rect">
            <a:avLst/>
          </a:prstGeom>
          <a:noFill/>
          <a:ln/>
        </p:spPr>
        <p:txBody>
          <a:bodyPr wrap="square" lIns="0" tIns="0" rIns="0" bIns="0" rtlCol="0" anchor="t"/>
          <a:lstStyle/>
          <a:p>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The negative of the evaluation metric, computed per image before the batch mean. Optimising the metric directly — honest, and a reminder that the metric is the target.</a:t>
            </a:r>
            <a:pPr algn="l" indent="0" marL="0">
              <a:lnSpc>
                <a:spcPts val="1368"/>
              </a:lnSpc>
              <a:buNone/>
            </a:pPr>
            <a:r>
              <a:rPr kern="0" lang="en-US" sz="666" b="1" dirty="0">
                <a:solidFill>
                  <a:srgbClr val="C0451A"/>
                </a:solidFill>
                <a:latin typeface="Calibri" pitchFamily="34" charset="0"/>
                <a:ea typeface="Calibri" pitchFamily="34" charset="-122"/>
                <a:cs typeface="Calibri" pitchFamily="34" charset="-120"/>
              </a:rPr>
              <a:t>[2]</a:t>
            </a:r>
            <a:endParaRPr lang="en-US" sz="900" dirty="0"/>
          </a:p>
        </p:txBody>
      </p:sp>
      <p:sp>
        <p:nvSpPr>
          <p:cNvPr id="15" name="Shape 13"/>
          <p:cNvSpPr/>
          <p:nvPr/>
        </p:nvSpPr>
        <p:spPr>
          <a:xfrm>
            <a:off x="1357701" y="4054632"/>
            <a:ext cx="5015210" cy="13899"/>
          </a:xfrm>
          <a:prstGeom prst="rect">
            <a:avLst/>
          </a:prstGeom>
          <a:solidFill>
            <a:srgbClr val="14343F"/>
          </a:solidFill>
          <a:ln/>
        </p:spPr>
      </p:sp>
      <p:sp>
        <p:nvSpPr>
          <p:cNvPr id="16" name="Text 14"/>
          <p:cNvSpPr txBox="1"/>
          <p:nvPr/>
        </p:nvSpPr>
        <p:spPr>
          <a:xfrm>
            <a:off x="1357701" y="4179174"/>
            <a:ext cx="212141" cy="97201"/>
          </a:xfrm>
          <a:prstGeom prst="rect">
            <a:avLst/>
          </a:prstGeom>
          <a:noFill/>
          <a:ln/>
        </p:spPr>
        <p:txBody>
          <a:bodyPr wrap="none" lIns="0" tIns="0" rIns="0" bIns="0" rtlCol="0" anchor="t"/>
          <a:lstStyle/>
          <a:p>
            <a:pPr algn="l" indent="0" marL="0">
              <a:lnSpc>
                <a:spcPts val="765"/>
              </a:lnSpc>
              <a:buNone/>
            </a:pPr>
            <a:r>
              <a:rPr lang="en-US" sz="627" b="1" spc="93" kern="0" dirty="0">
                <a:solidFill>
                  <a:srgbClr val="14343F"/>
                </a:solidFill>
                <a:latin typeface="Calibri" pitchFamily="34" charset="0"/>
                <a:ea typeface="Calibri" pitchFamily="34" charset="-122"/>
                <a:cs typeface="Calibri" pitchFamily="34" charset="-120"/>
              </a:rPr>
              <a:t>P2N</a:t>
            </a:r>
            <a:endParaRPr lang="en-US" sz="627" dirty="0"/>
          </a:p>
        </p:txBody>
      </p:sp>
      <p:sp>
        <p:nvSpPr>
          <p:cNvPr id="17" name="Text 15"/>
          <p:cNvSpPr txBox="1"/>
          <p:nvPr/>
        </p:nvSpPr>
        <p:spPr>
          <a:xfrm>
            <a:off x="1357701" y="4338737"/>
            <a:ext cx="907999"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Annealed ℓ_r</a:t>
            </a:r>
            <a:endParaRPr lang="en-US" sz="1200" dirty="0"/>
          </a:p>
        </p:txBody>
      </p:sp>
      <p:sp>
        <p:nvSpPr>
          <p:cNvPr id="18" name="Text 16"/>
          <p:cNvSpPr txBox="1"/>
          <p:nvPr/>
        </p:nvSpPr>
        <p:spPr>
          <a:xfrm>
            <a:off x="1357701" y="4611685"/>
            <a:ext cx="5049134" cy="357805"/>
          </a:xfrm>
          <a:prstGeom prst="rect">
            <a:avLst/>
          </a:prstGeom>
          <a:noFill/>
          <a:ln/>
        </p:spPr>
        <p:txBody>
          <a:bodyPr wrap="square" lIns="0" tIns="0" rIns="0" bIns="0" rtlCol="0" anchor="t"/>
          <a:lstStyle/>
          <a:p>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An ℓ_r loss with r </a:t>
            </a:r>
            <a:pPr algn="l" indent="0" marL="0">
              <a:lnSpc>
                <a:spcPts val="1368"/>
              </a:lnSpc>
              <a:buNone/>
            </a:pPr>
            <a:r>
              <a:rPr kern="0" lang="en-US" sz="900" b="1" dirty="0">
                <a:solidFill>
                  <a:srgbClr val="33302B"/>
                </a:solidFill>
                <a:latin typeface="Calibri" pitchFamily="34" charset="0"/>
                <a:ea typeface="Calibri" pitchFamily="34" charset="-122"/>
                <a:cs typeface="Calibri" pitchFamily="34" charset="-120"/>
              </a:rPr>
              <a:t>decreasing during training</a:t>
            </a:r>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 from 2 toward 1.5 or 0 — moving the estimator from the mean toward the median and beyond, as the model's own estimates become trustworthy. </a:t>
            </a:r>
            <a:pPr algn="l" indent="0" marL="0">
              <a:lnSpc>
                <a:spcPts val="1368"/>
              </a:lnSpc>
              <a:buNone/>
            </a:pPr>
            <a:r>
              <a:rPr kern="0" lang="en-US" sz="810" dirty="0">
                <a:solidFill>
                  <a:srgbClr val="145A66"/>
                </a:solidFill>
                <a:latin typeface="Consolas" pitchFamily="34" charset="0"/>
                <a:ea typeface="Consolas" pitchFamily="34" charset="-122"/>
                <a:cs typeface="Consolas" pitchFamily="34" charset="-120"/>
              </a:rPr>
              <a:t>[measured]</a:t>
            </a:r>
            <a:pPr algn="l" indent="0" marL="0">
              <a:lnSpc>
                <a:spcPts val="1368"/>
              </a:lnSpc>
              <a:buNone/>
            </a:pPr>
            <a:r>
              <a:rPr kern="0" lang="en-US" sz="666" b="1" dirty="0">
                <a:solidFill>
                  <a:srgbClr val="C0451A"/>
                </a:solidFill>
                <a:latin typeface="Calibri" pitchFamily="34" charset="0"/>
                <a:ea typeface="Calibri" pitchFamily="34" charset="-122"/>
                <a:cs typeface="Calibri" pitchFamily="34" charset="-120"/>
              </a:rPr>
              <a:t>[3]</a:t>
            </a:r>
            <a:endParaRPr lang="en-US" sz="900" dirty="0"/>
          </a:p>
        </p:txBody>
      </p:sp>
      <p:sp>
        <p:nvSpPr>
          <p:cNvPr id="19" name="Shape 17"/>
          <p:cNvSpPr/>
          <p:nvPr/>
        </p:nvSpPr>
        <p:spPr>
          <a:xfrm>
            <a:off x="6677680" y="4054632"/>
            <a:ext cx="5015210" cy="13899"/>
          </a:xfrm>
          <a:prstGeom prst="rect">
            <a:avLst/>
          </a:prstGeom>
          <a:solidFill>
            <a:srgbClr val="14343F"/>
          </a:solidFill>
          <a:ln/>
        </p:spPr>
      </p:sp>
      <p:sp>
        <p:nvSpPr>
          <p:cNvPr id="20" name="Text 18"/>
          <p:cNvSpPr txBox="1"/>
          <p:nvPr/>
        </p:nvSpPr>
        <p:spPr>
          <a:xfrm>
            <a:off x="6677680" y="4179174"/>
            <a:ext cx="373624" cy="97201"/>
          </a:xfrm>
          <a:prstGeom prst="rect">
            <a:avLst/>
          </a:prstGeom>
          <a:noFill/>
          <a:ln/>
        </p:spPr>
        <p:txBody>
          <a:bodyPr wrap="none" lIns="0" tIns="0" rIns="0" bIns="0" rtlCol="0" anchor="t"/>
          <a:lstStyle/>
          <a:p>
            <a:pPr algn="l" indent="0" marL="0">
              <a:lnSpc>
                <a:spcPts val="765"/>
              </a:lnSpc>
              <a:buNone/>
            </a:pPr>
            <a:r>
              <a:rPr lang="en-US" sz="627" b="1" spc="93" kern="0" dirty="0">
                <a:solidFill>
                  <a:srgbClr val="14343F"/>
                </a:solidFill>
                <a:latin typeface="Calibri" pitchFamily="34" charset="0"/>
                <a:ea typeface="Calibri" pitchFamily="34" charset="-122"/>
                <a:cs typeface="Calibri" pitchFamily="34" charset="-120"/>
              </a:rPr>
              <a:t>ABSENT</a:t>
            </a:r>
            <a:endParaRPr lang="en-US" sz="627" dirty="0"/>
          </a:p>
        </p:txBody>
      </p:sp>
      <p:sp>
        <p:nvSpPr>
          <p:cNvPr id="21" name="Text 19"/>
          <p:cNvSpPr txBox="1"/>
          <p:nvPr/>
        </p:nvSpPr>
        <p:spPr>
          <a:xfrm>
            <a:off x="6677680" y="4338737"/>
            <a:ext cx="2297979" cy="179862"/>
          </a:xfrm>
          <a:prstGeom prst="rect">
            <a:avLst/>
          </a:prstGeom>
          <a:noFill/>
          <a:ln/>
        </p:spPr>
        <p:txBody>
          <a:bodyPr wrap="none" lIns="0" tIns="0" rIns="0" bIns="0" rtlCol="0" anchor="t"/>
          <a:lstStyle/>
          <a:p>
            <a:pPr algn="l" indent="0" marL="0">
              <a:lnSpc>
                <a:spcPts val="1416"/>
              </a:lnSpc>
              <a:buNone/>
            </a:pPr>
            <a:r>
              <a:rPr lang="en-US" sz="1200" b="1" spc="-22" kern="0" dirty="0">
                <a:solidFill>
                  <a:srgbClr val="14120F"/>
                </a:solidFill>
                <a:latin typeface="Cambria" pitchFamily="34" charset="0"/>
                <a:ea typeface="Cambria" pitchFamily="34" charset="-122"/>
                <a:cs typeface="Cambria" pitchFamily="34" charset="-120"/>
              </a:rPr>
              <a:t>Perceptual and adversarial losses</a:t>
            </a:r>
            <a:endParaRPr lang="en-US" sz="1200" dirty="0"/>
          </a:p>
        </p:txBody>
      </p:sp>
      <p:sp>
        <p:nvSpPr>
          <p:cNvPr id="22" name="Text 20"/>
          <p:cNvSpPr txBox="1"/>
          <p:nvPr/>
        </p:nvSpPr>
        <p:spPr>
          <a:xfrm>
            <a:off x="6677680" y="4611685"/>
            <a:ext cx="5049134" cy="531541"/>
          </a:xfrm>
          <a:prstGeom prst="rect">
            <a:avLst/>
          </a:prstGeom>
          <a:noFill/>
          <a:ln/>
        </p:spPr>
        <p:txBody>
          <a:bodyPr wrap="square" lIns="0" tIns="0" rIns="0" bIns="0" rtlCol="0" anchor="t"/>
          <a:lstStyle/>
          <a:p>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Essentially absent from denoising, in contrast to super-resolution, where SRGAN-style losses are standard. </a:t>
            </a:r>
            <a:pPr algn="l" indent="0" marL="0">
              <a:lnSpc>
                <a:spcPts val="1368"/>
              </a:lnSpc>
              <a:buNone/>
            </a:pPr>
            <a:r>
              <a:rPr kern="0" lang="en-US" sz="900" b="1" dirty="0">
                <a:solidFill>
                  <a:srgbClr val="33302B"/>
                </a:solidFill>
                <a:latin typeface="Calibri" pitchFamily="34" charset="0"/>
                <a:ea typeface="Calibri" pitchFamily="34" charset="-122"/>
                <a:cs typeface="Calibri" pitchFamily="34" charset="-120"/>
              </a:rPr>
              <a:t>Reason:</a:t>
            </a:r>
            <a:pPr algn="l" indent="0" marL="0">
              <a:lnSpc>
                <a:spcPts val="1368"/>
              </a:lnSpc>
              <a:buNone/>
            </a:pPr>
            <a:r>
              <a:rPr kern="0" lang="en-US" sz="900" dirty="0">
                <a:solidFill>
                  <a:srgbClr val="33302B"/>
                </a:solidFill>
                <a:latin typeface="Calibri" pitchFamily="34" charset="0"/>
                <a:ea typeface="Calibri" pitchFamily="34" charset="-122"/>
                <a:cs typeface="Calibri" pitchFamily="34" charset="-120"/>
              </a:rPr>
              <a:t> denoising is evaluated by fidelity to a known ground truth, and a GAN that hallucinates plausible texture scores worse even when it looks better. The metric constrains the loss.</a:t>
            </a:r>
            <a:pPr algn="l" indent="0" marL="0">
              <a:lnSpc>
                <a:spcPts val="1368"/>
              </a:lnSpc>
              <a:buNone/>
            </a:pPr>
            <a:r>
              <a:rPr kern="0" lang="en-US" sz="666" b="1" dirty="0">
                <a:solidFill>
                  <a:srgbClr val="C0451A"/>
                </a:solidFill>
                <a:latin typeface="Calibri" pitchFamily="34" charset="0"/>
                <a:ea typeface="Calibri" pitchFamily="34" charset="-122"/>
                <a:cs typeface="Calibri" pitchFamily="34" charset="-120"/>
              </a:rPr>
              <a:t>[4]</a:t>
            </a:r>
            <a:endParaRPr lang="en-US" sz="900" dirty="0"/>
          </a:p>
        </p:txBody>
      </p:sp>
      <p:sp>
        <p:nvSpPr>
          <p:cNvPr id="23" name="Shape 21"/>
          <p:cNvSpPr/>
          <p:nvPr/>
        </p:nvSpPr>
        <p:spPr>
          <a:xfrm>
            <a:off x="1357701" y="5597225"/>
            <a:ext cx="10335189" cy="13899"/>
          </a:xfrm>
          <a:prstGeom prst="rect">
            <a:avLst/>
          </a:prstGeom>
          <a:solidFill>
            <a:srgbClr val="14343F"/>
          </a:solidFill>
          <a:ln/>
        </p:spPr>
      </p:sp>
      <p:sp>
        <p:nvSpPr>
          <p:cNvPr id="24" name="Text 22"/>
          <p:cNvSpPr txBox="1"/>
          <p:nvPr/>
        </p:nvSpPr>
        <p:spPr>
          <a:xfrm>
            <a:off x="1357701" y="5720121"/>
            <a:ext cx="10390419" cy="353324"/>
          </a:xfrm>
          <a:prstGeom prst="rect">
            <a:avLst/>
          </a:prstGeom>
          <a:noFill/>
          <a:ln/>
        </p:spPr>
        <p:txBody>
          <a:bodyPr wrap="square" lIns="0" tIns="0" rIns="0" bIns="0" rtlCol="0" anchor="t"/>
          <a:lstStyle/>
          <a:p>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The honest caveat.</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That last card is an inference from what we read across five repositories, not a claim any of these papers makes. It is labelled as a reading, and if a TA challenges it, the correct response is that we observed the absence rather than that a paper asserted it.</a:t>
            </a:r>
            <a:endParaRPr lang="en-US" sz="927" dirty="0"/>
          </a:p>
        </p:txBody>
      </p:sp>
      <p:sp>
        <p:nvSpPr>
          <p:cNvPr id="25" name="Text 23"/>
          <p:cNvSpPr txBox="1"/>
          <p:nvPr/>
        </p:nvSpPr>
        <p:spPr>
          <a:xfrm>
            <a:off x="8277606" y="6317955"/>
            <a:ext cx="3415375" cy="109819"/>
          </a:xfrm>
          <a:prstGeom prst="rect">
            <a:avLst/>
          </a:prstGeom>
          <a:noFill/>
          <a:ln/>
        </p:spPr>
        <p:txBody>
          <a:bodyPr wrap="none" lIns="0" tIns="0" rIns="0" bIns="0" rtlCol="0" anchor="t"/>
          <a:lstStyle/>
          <a:p>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[1]</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Restormer22 §4 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[2]</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NAFNet22 §5.1 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[3]</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measured — P2N-plus loss code 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[4]</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reading</a:t>
            </a:r>
            <a:endParaRPr lang="en-US" sz="525" dirty="0"/>
          </a:p>
        </p:txBody>
      </p:sp>
      <p:sp>
        <p:nvSpPr>
          <p:cNvPr id="26" name="Shape 24"/>
          <p:cNvSpPr/>
          <p:nvPr/>
        </p:nvSpPr>
        <p:spPr>
          <a:xfrm>
            <a:off x="1357701" y="6573804"/>
            <a:ext cx="10335189" cy="6949"/>
          </a:xfrm>
          <a:prstGeom prst="rect">
            <a:avLst/>
          </a:prstGeom>
          <a:solidFill>
            <a:srgbClr val="C9C4B9"/>
          </a:solidFill>
          <a:ln/>
        </p:spPr>
      </p:sp>
      <p:sp>
        <p:nvSpPr>
          <p:cNvPr id="27" name="Shape 25"/>
          <p:cNvSpPr/>
          <p:nvPr/>
        </p:nvSpPr>
        <p:spPr>
          <a:xfrm>
            <a:off x="1357701" y="6539149"/>
            <a:ext cx="6949" cy="34656"/>
          </a:xfrm>
          <a:prstGeom prst="rect">
            <a:avLst/>
          </a:prstGeom>
          <a:solidFill>
            <a:srgbClr val="C9C4B9"/>
          </a:solidFill>
          <a:ln/>
        </p:spPr>
      </p:sp>
      <p:sp>
        <p:nvSpPr>
          <p:cNvPr id="28" name="Text 26"/>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29" name="Shape 27"/>
          <p:cNvSpPr/>
          <p:nvPr/>
        </p:nvSpPr>
        <p:spPr>
          <a:xfrm>
            <a:off x="5377038" y="6539149"/>
            <a:ext cx="6949" cy="34656"/>
          </a:xfrm>
          <a:prstGeom prst="rect">
            <a:avLst/>
          </a:prstGeom>
          <a:solidFill>
            <a:srgbClr val="C9C4B9"/>
          </a:solidFill>
          <a:ln/>
        </p:spPr>
      </p:sp>
      <p:sp>
        <p:nvSpPr>
          <p:cNvPr id="30" name="Text 28"/>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31" name="Shape 29"/>
          <p:cNvSpPr/>
          <p:nvPr/>
        </p:nvSpPr>
        <p:spPr>
          <a:xfrm>
            <a:off x="7099950" y="6539149"/>
            <a:ext cx="6949" cy="34656"/>
          </a:xfrm>
          <a:prstGeom prst="rect">
            <a:avLst/>
          </a:prstGeom>
          <a:solidFill>
            <a:srgbClr val="C9C4B9"/>
          </a:solidFill>
          <a:ln/>
        </p:spPr>
      </p:sp>
      <p:sp>
        <p:nvSpPr>
          <p:cNvPr id="32" name="Text 30"/>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33" name="Shape 31"/>
          <p:cNvSpPr/>
          <p:nvPr/>
        </p:nvSpPr>
        <p:spPr>
          <a:xfrm>
            <a:off x="9970069" y="6539149"/>
            <a:ext cx="6949" cy="34656"/>
          </a:xfrm>
          <a:prstGeom prst="rect">
            <a:avLst/>
          </a:prstGeom>
          <a:solidFill>
            <a:srgbClr val="C9C4B9"/>
          </a:solidFill>
          <a:ln/>
        </p:spPr>
      </p:sp>
      <p:sp>
        <p:nvSpPr>
          <p:cNvPr id="34" name="Text 32"/>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35" name="Shape 33"/>
          <p:cNvSpPr/>
          <p:nvPr/>
        </p:nvSpPr>
        <p:spPr>
          <a:xfrm>
            <a:off x="11692981" y="6539149"/>
            <a:ext cx="6949" cy="34656"/>
          </a:xfrm>
          <a:prstGeom prst="rect">
            <a:avLst/>
          </a:prstGeom>
          <a:solidFill>
            <a:srgbClr val="C9C4B9"/>
          </a:solidFill>
          <a:ln/>
        </p:spPr>
      </p:sp>
      <p:sp>
        <p:nvSpPr>
          <p:cNvPr id="36" name="Text 34"/>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7165"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75</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1307043"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PRE-TRAINED WEIGHTS</a:t>
            </a:r>
            <a:endParaRPr lang="en-US" sz="781" dirty="0"/>
          </a:p>
        </p:txBody>
      </p:sp>
      <p:sp>
        <p:nvSpPr>
          <p:cNvPr id="5" name="Text 3"/>
          <p:cNvSpPr txBox="1"/>
          <p:nvPr/>
        </p:nvSpPr>
        <p:spPr>
          <a:xfrm>
            <a:off x="1439540" y="607070"/>
            <a:ext cx="562493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The prior became a file you download</a:t>
            </a:r>
            <a:endParaRPr lang="en-US" sz="2660" dirty="0"/>
          </a:p>
        </p:txBody>
      </p:sp>
      <p:sp>
        <p:nvSpPr>
          <p:cNvPr id="6" name="Text 4"/>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This is the brief's sharpest comparison: how pre-trained weights are used today versus older manual feature-extraction methods. The contrast is total, and it is best stated in terms of what each era ships.</a:t>
            </a:r>
            <a:endParaRPr lang="en-US" sz="1157" dirty="0"/>
          </a:p>
        </p:txBody>
      </p:sp>
      <p:sp>
        <p:nvSpPr>
          <p:cNvPr id="7" name="Shape 5"/>
          <p:cNvSpPr/>
          <p:nvPr/>
        </p:nvSpPr>
        <p:spPr>
          <a:xfrm>
            <a:off x="6551219" y="1958553"/>
            <a:ext cx="7315" cy="3062051"/>
          </a:xfrm>
          <a:prstGeom prst="rect">
            <a:avLst/>
          </a:prstGeom>
          <a:solidFill>
            <a:srgbClr val="DFDBD2"/>
          </a:solidFill>
          <a:ln/>
        </p:spPr>
      </p:sp>
      <p:sp>
        <p:nvSpPr>
          <p:cNvPr id="8" name="Shape 6"/>
          <p:cNvSpPr/>
          <p:nvPr/>
        </p:nvSpPr>
        <p:spPr>
          <a:xfrm>
            <a:off x="1439540" y="1958553"/>
            <a:ext cx="4950104" cy="14722"/>
          </a:xfrm>
          <a:prstGeom prst="rect">
            <a:avLst/>
          </a:prstGeom>
          <a:solidFill>
            <a:srgbClr val="14343F"/>
          </a:solidFill>
          <a:ln/>
        </p:spPr>
      </p:sp>
      <p:sp>
        <p:nvSpPr>
          <p:cNvPr id="9" name="Text 7"/>
          <p:cNvSpPr txBox="1"/>
          <p:nvPr/>
        </p:nvSpPr>
        <p:spPr>
          <a:xfrm>
            <a:off x="1439540" y="2094525"/>
            <a:ext cx="2242657"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Then — the classical artefact</a:t>
            </a:r>
            <a:pPr algn="l" indent="0" marL="0">
              <a:lnSpc>
                <a:spcPts val="1501"/>
              </a:lnSpc>
              <a:buNone/>
            </a:pPr>
            <a:r>
              <a:rPr lang="en-US" sz="941" b="1" spc="-23" kern="0" dirty="0">
                <a:solidFill>
                  <a:srgbClr val="C0451A"/>
                </a:solidFill>
                <a:latin typeface="Cambria" pitchFamily="34" charset="0"/>
                <a:ea typeface="Cambria" pitchFamily="34" charset="-122"/>
                <a:cs typeface="Cambria" pitchFamily="34" charset="-120"/>
              </a:rPr>
              <a:t>[2]</a:t>
            </a:r>
            <a:endParaRPr lang="en-US" sz="1272" dirty="0"/>
          </a:p>
        </p:txBody>
      </p:sp>
      <p:sp>
        <p:nvSpPr>
          <p:cNvPr id="10" name="Shape 8"/>
          <p:cNvSpPr/>
          <p:nvPr/>
        </p:nvSpPr>
        <p:spPr>
          <a:xfrm>
            <a:off x="1439540" y="2435596"/>
            <a:ext cx="58796" cy="36759"/>
          </a:xfrm>
          <a:prstGeom prst="rect">
            <a:avLst/>
          </a:prstGeom>
          <a:solidFill>
            <a:srgbClr val="14343F"/>
          </a:solidFill>
          <a:ln/>
        </p:spPr>
      </p:sp>
      <p:sp>
        <p:nvSpPr>
          <p:cNvPr id="11" name="Text 9"/>
          <p:cNvSpPr txBox="1"/>
          <p:nvPr/>
        </p:nvSpPr>
        <p:spPr>
          <a:xfrm>
            <a:off x="1586393" y="2374057"/>
            <a:ext cx="3283336"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What ships: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an algorithm, plus constants a human chose.</a:t>
            </a:r>
            <a:endParaRPr lang="en-US" sz="1070" dirty="0"/>
          </a:p>
        </p:txBody>
      </p:sp>
      <p:sp>
        <p:nvSpPr>
          <p:cNvPr id="12" name="Shape 10"/>
          <p:cNvSpPr/>
          <p:nvPr/>
        </p:nvSpPr>
        <p:spPr>
          <a:xfrm>
            <a:off x="1439540" y="2756916"/>
            <a:ext cx="58796" cy="36759"/>
          </a:xfrm>
          <a:prstGeom prst="rect">
            <a:avLst/>
          </a:prstGeom>
          <a:solidFill>
            <a:srgbClr val="14343F"/>
          </a:solidFill>
          <a:ln/>
        </p:spPr>
      </p:sp>
      <p:sp>
        <p:nvSpPr>
          <p:cNvPr id="13" name="Text 11"/>
          <p:cNvSpPr txBox="1"/>
          <p:nvPr/>
        </p:nvSpPr>
        <p:spPr>
          <a:xfrm>
            <a:off x="1586393" y="2695377"/>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Reuse: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none. Every image restarts from nothing. Nothing computed on image 1 helps image 2.</a:t>
            </a:r>
            <a:endParaRPr lang="en-US" sz="1070" dirty="0"/>
          </a:p>
        </p:txBody>
      </p:sp>
      <p:sp>
        <p:nvSpPr>
          <p:cNvPr id="14" name="Shape 12"/>
          <p:cNvSpPr/>
          <p:nvPr/>
        </p:nvSpPr>
        <p:spPr>
          <a:xfrm>
            <a:off x="1439540" y="3282056"/>
            <a:ext cx="58796" cy="36759"/>
          </a:xfrm>
          <a:prstGeom prst="rect">
            <a:avLst/>
          </a:prstGeom>
          <a:solidFill>
            <a:srgbClr val="14343F"/>
          </a:solidFill>
          <a:ln/>
        </p:spPr>
      </p:sp>
      <p:sp>
        <p:nvSpPr>
          <p:cNvPr id="15" name="Text 13"/>
          <p:cNvSpPr txBox="1"/>
          <p:nvPr/>
        </p:nvSpPr>
        <p:spPr>
          <a:xfrm>
            <a:off x="1586393" y="3220517"/>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Adaptation to a new domain: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re-derive the prior, or re-tune the constants by hand, and hope.</a:t>
            </a:r>
            <a:endParaRPr lang="en-US" sz="1070" dirty="0"/>
          </a:p>
        </p:txBody>
      </p:sp>
      <p:sp>
        <p:nvSpPr>
          <p:cNvPr id="16" name="Shape 14"/>
          <p:cNvSpPr/>
          <p:nvPr/>
        </p:nvSpPr>
        <p:spPr>
          <a:xfrm>
            <a:off x="1439540" y="3807196"/>
            <a:ext cx="58796" cy="36759"/>
          </a:xfrm>
          <a:prstGeom prst="rect">
            <a:avLst/>
          </a:prstGeom>
          <a:solidFill>
            <a:srgbClr val="14343F"/>
          </a:solidFill>
          <a:ln/>
        </p:spPr>
      </p:sp>
      <p:sp>
        <p:nvSpPr>
          <p:cNvPr id="17" name="Text 15"/>
          <p:cNvSpPr txBox="1"/>
          <p:nvPr/>
        </p:nvSpPr>
        <p:spPr>
          <a:xfrm>
            <a:off x="1586393" y="3745657"/>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Reproducibility:</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depends on matching the author's parameter table, which is often in prose rather than code.</a:t>
            </a:r>
            <a:endParaRPr lang="en-US" sz="1070" dirty="0"/>
          </a:p>
        </p:txBody>
      </p:sp>
      <p:sp>
        <p:nvSpPr>
          <p:cNvPr id="18" name="Shape 16"/>
          <p:cNvSpPr/>
          <p:nvPr/>
        </p:nvSpPr>
        <p:spPr>
          <a:xfrm>
            <a:off x="1439540" y="4332244"/>
            <a:ext cx="58796" cy="36759"/>
          </a:xfrm>
          <a:prstGeom prst="rect">
            <a:avLst/>
          </a:prstGeom>
          <a:solidFill>
            <a:srgbClr val="14343F"/>
          </a:solidFill>
          <a:ln/>
        </p:spPr>
      </p:sp>
      <p:sp>
        <p:nvSpPr>
          <p:cNvPr id="19" name="Text 17"/>
          <p:cNvSpPr txBox="1"/>
          <p:nvPr/>
        </p:nvSpPr>
        <p:spPr>
          <a:xfrm>
            <a:off x="1586393" y="4270797"/>
            <a:ext cx="2401580"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Where the knowledge lives: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in the paper.</a:t>
            </a:r>
            <a:endParaRPr lang="en-US" sz="1070" dirty="0"/>
          </a:p>
        </p:txBody>
      </p:sp>
      <p:sp>
        <p:nvSpPr>
          <p:cNvPr id="20" name="Shape 18"/>
          <p:cNvSpPr/>
          <p:nvPr/>
        </p:nvSpPr>
        <p:spPr>
          <a:xfrm>
            <a:off x="6712793" y="1958553"/>
            <a:ext cx="4950104" cy="14722"/>
          </a:xfrm>
          <a:prstGeom prst="rect">
            <a:avLst/>
          </a:prstGeom>
          <a:solidFill>
            <a:srgbClr val="14343F"/>
          </a:solidFill>
          <a:ln/>
        </p:spPr>
      </p:sp>
      <p:sp>
        <p:nvSpPr>
          <p:cNvPr id="21" name="Text 19"/>
          <p:cNvSpPr txBox="1"/>
          <p:nvPr/>
        </p:nvSpPr>
        <p:spPr>
          <a:xfrm>
            <a:off x="6712793" y="2094525"/>
            <a:ext cx="2162190"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Now — the modern artefact</a:t>
            </a:r>
            <a:pPr algn="l" indent="0" marL="0">
              <a:lnSpc>
                <a:spcPts val="1501"/>
              </a:lnSpc>
              <a:buNone/>
            </a:pPr>
            <a:r>
              <a:rPr lang="en-US" sz="941" b="1" spc="-23" kern="0" dirty="0">
                <a:solidFill>
                  <a:srgbClr val="C0451A"/>
                </a:solidFill>
                <a:latin typeface="Cambria" pitchFamily="34" charset="0"/>
                <a:ea typeface="Cambria" pitchFamily="34" charset="-122"/>
                <a:cs typeface="Cambria" pitchFamily="34" charset="-120"/>
              </a:rPr>
              <a:t>[1]</a:t>
            </a:r>
            <a:endParaRPr lang="en-US" sz="1272" dirty="0"/>
          </a:p>
        </p:txBody>
      </p:sp>
      <p:sp>
        <p:nvSpPr>
          <p:cNvPr id="22" name="Shape 20"/>
          <p:cNvSpPr/>
          <p:nvPr/>
        </p:nvSpPr>
        <p:spPr>
          <a:xfrm>
            <a:off x="6712793" y="2435596"/>
            <a:ext cx="58796" cy="36759"/>
          </a:xfrm>
          <a:prstGeom prst="rect">
            <a:avLst/>
          </a:prstGeom>
          <a:solidFill>
            <a:srgbClr val="14343F"/>
          </a:solidFill>
          <a:ln/>
        </p:spPr>
      </p:sp>
      <p:sp>
        <p:nvSpPr>
          <p:cNvPr id="23" name="Text 21"/>
          <p:cNvSpPr txBox="1"/>
          <p:nvPr/>
        </p:nvSpPr>
        <p:spPr>
          <a:xfrm>
            <a:off x="6859646" y="2374057"/>
            <a:ext cx="4837176" cy="416692"/>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What ships: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.pth</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file — a serialised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state_dict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 dictionary mapping layer names to tensors. Downloaded once, reused indefinitely.</a:t>
            </a:r>
            <a:endParaRPr lang="en-US" sz="1070" dirty="0"/>
          </a:p>
        </p:txBody>
      </p:sp>
      <p:sp>
        <p:nvSpPr>
          <p:cNvPr id="24" name="Shape 22"/>
          <p:cNvSpPr/>
          <p:nvPr/>
        </p:nvSpPr>
        <p:spPr>
          <a:xfrm>
            <a:off x="6712793" y="2969788"/>
            <a:ext cx="58796" cy="36759"/>
          </a:xfrm>
          <a:prstGeom prst="rect">
            <a:avLst/>
          </a:prstGeom>
          <a:solidFill>
            <a:srgbClr val="14343F"/>
          </a:solidFill>
          <a:ln/>
        </p:spPr>
      </p:sp>
      <p:sp>
        <p:nvSpPr>
          <p:cNvPr id="25" name="Text 23"/>
          <p:cNvSpPr txBox="1"/>
          <p:nvPr/>
        </p:nvSpPr>
        <p:spPr>
          <a:xfrm>
            <a:off x="6859646" y="2908249"/>
            <a:ext cx="4837176" cy="416692"/>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Loading:</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model.load_state_dict(torch.load(path))</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with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strict=True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by default so a shape mismatch fails loudly rather than silently.</a:t>
            </a:r>
            <a:endParaRPr lang="en-US" sz="1070" dirty="0"/>
          </a:p>
        </p:txBody>
      </p:sp>
      <p:sp>
        <p:nvSpPr>
          <p:cNvPr id="26" name="Shape 24"/>
          <p:cNvSpPr/>
          <p:nvPr/>
        </p:nvSpPr>
        <p:spPr>
          <a:xfrm>
            <a:off x="6712793" y="3503981"/>
            <a:ext cx="58796" cy="36759"/>
          </a:xfrm>
          <a:prstGeom prst="rect">
            <a:avLst/>
          </a:prstGeom>
          <a:solidFill>
            <a:srgbClr val="14343F"/>
          </a:solidFill>
          <a:ln/>
        </p:spPr>
      </p:sp>
      <p:sp>
        <p:nvSpPr>
          <p:cNvPr id="27" name="Text 25"/>
          <p:cNvSpPr txBox="1"/>
          <p:nvPr/>
        </p:nvSpPr>
        <p:spPr>
          <a:xfrm>
            <a:off x="6859646" y="3442442"/>
            <a:ext cx="4837176"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Distribution: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GitHub Releases, Google Drive links, and increasingly Hugging Face model cards that carry the architecture, the training data, the metrics and the licence as structured metadata.</a:t>
            </a:r>
            <a:endParaRPr lang="en-US" sz="1070" dirty="0"/>
          </a:p>
        </p:txBody>
      </p:sp>
      <p:sp>
        <p:nvSpPr>
          <p:cNvPr id="28" name="Shape 26"/>
          <p:cNvSpPr/>
          <p:nvPr/>
        </p:nvSpPr>
        <p:spPr>
          <a:xfrm>
            <a:off x="6712793" y="4232940"/>
            <a:ext cx="58796" cy="36759"/>
          </a:xfrm>
          <a:prstGeom prst="rect">
            <a:avLst/>
          </a:prstGeom>
          <a:solidFill>
            <a:srgbClr val="14343F"/>
          </a:solidFill>
          <a:ln/>
        </p:spPr>
      </p:sp>
      <p:sp>
        <p:nvSpPr>
          <p:cNvPr id="29" name="Text 27"/>
          <p:cNvSpPr txBox="1"/>
          <p:nvPr/>
        </p:nvSpPr>
        <p:spPr>
          <a:xfrm>
            <a:off x="6859646" y="4171401"/>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Adaptation: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fine-tune, or use the weights as an initialisation — which is precisely what P2N does before its per-image optimisation.</a:t>
            </a:r>
            <a:endParaRPr lang="en-US" sz="1070" dirty="0"/>
          </a:p>
        </p:txBody>
      </p:sp>
      <p:sp>
        <p:nvSpPr>
          <p:cNvPr id="30" name="Shape 28"/>
          <p:cNvSpPr/>
          <p:nvPr/>
        </p:nvSpPr>
        <p:spPr>
          <a:xfrm>
            <a:off x="6712793" y="4757989"/>
            <a:ext cx="58796" cy="36759"/>
          </a:xfrm>
          <a:prstGeom prst="rect">
            <a:avLst/>
          </a:prstGeom>
          <a:solidFill>
            <a:srgbClr val="14343F"/>
          </a:solidFill>
          <a:ln/>
        </p:spPr>
      </p:sp>
      <p:sp>
        <p:nvSpPr>
          <p:cNvPr id="31" name="Text 29"/>
          <p:cNvSpPr txBox="1"/>
          <p:nvPr/>
        </p:nvSpPr>
        <p:spPr>
          <a:xfrm>
            <a:off x="6859646" y="4696541"/>
            <a:ext cx="4719584"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Where the knowledge lives: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in the tensors. The repository describes only a shape.</a:t>
            </a:r>
            <a:endParaRPr lang="en-US" sz="1070" dirty="0"/>
          </a:p>
        </p:txBody>
      </p:sp>
      <p:sp>
        <p:nvSpPr>
          <p:cNvPr id="32" name="Shape 30"/>
          <p:cNvSpPr/>
          <p:nvPr/>
        </p:nvSpPr>
        <p:spPr>
          <a:xfrm>
            <a:off x="1439540" y="5226253"/>
            <a:ext cx="10223358" cy="14722"/>
          </a:xfrm>
          <a:prstGeom prst="rect">
            <a:avLst/>
          </a:prstGeom>
          <a:solidFill>
            <a:srgbClr val="14343F"/>
          </a:solidFill>
          <a:ln/>
        </p:spPr>
      </p:sp>
      <p:sp>
        <p:nvSpPr>
          <p:cNvPr id="33" name="Text 31"/>
          <p:cNvSpPr txBox="1"/>
          <p:nvPr/>
        </p:nvSpPr>
        <p:spPr>
          <a:xfrm>
            <a:off x="1439540" y="5356555"/>
            <a:ext cx="10278953" cy="374538"/>
          </a:xfrm>
          <a:prstGeom prst="rect">
            <a:avLst/>
          </a:prstGeom>
          <a:noFill/>
          <a:ln/>
        </p:spPr>
        <p:txBody>
          <a:bodyPr wrap="squar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The consequence that is easy to miss.</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Because the weights are a file and the architecture is a string in a YAML, a modern denoiser is </a:t>
            </a:r>
            <a:pPr algn="l" indent="0" marL="0">
              <a:lnSpc>
                <a:spcPts val="1475"/>
              </a:lnSpc>
              <a:buNone/>
            </a:pPr>
            <a:r>
              <a:rPr kern="0" lang="en-US" sz="983" i="1" dirty="0">
                <a:solidFill>
                  <a:srgbClr val="33302B"/>
                </a:solidFill>
                <a:latin typeface="Calibri" pitchFamily="34" charset="0"/>
                <a:ea typeface="Calibri" pitchFamily="34" charset="-122"/>
                <a:cs typeface="Calibri" pitchFamily="34" charset="-120"/>
              </a:rPr>
              <a:t>two decoupled artefacts</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You can ship a better checkpoint without touching the code, and swap the architecture without retraining the pipeline. The classical era had no such separation, and that is a large part of why it could not compound.</a:t>
            </a:r>
            <a:endParaRPr lang="en-US" sz="983" dirty="0"/>
          </a:p>
        </p:txBody>
      </p:sp>
      <p:sp>
        <p:nvSpPr>
          <p:cNvPr id="34" name="Text 32"/>
          <p:cNvSpPr txBox="1"/>
          <p:nvPr/>
        </p:nvSpPr>
        <p:spPr>
          <a:xfrm>
            <a:off x="7303770" y="6285494"/>
            <a:ext cx="4359128"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measured — checkpoint loading in KAIR, Restormer, NAFNet, SCUNet 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brief §2 on pre-trained weights</a:t>
            </a:r>
            <a:endParaRPr lang="en-US" sz="556" dirty="0"/>
          </a:p>
        </p:txBody>
      </p:sp>
      <p:sp>
        <p:nvSpPr>
          <p:cNvPr id="35" name="Shape 33"/>
          <p:cNvSpPr/>
          <p:nvPr/>
        </p:nvSpPr>
        <p:spPr>
          <a:xfrm>
            <a:off x="1439540" y="6556705"/>
            <a:ext cx="10223358" cy="7315"/>
          </a:xfrm>
          <a:prstGeom prst="rect">
            <a:avLst/>
          </a:prstGeom>
          <a:solidFill>
            <a:srgbClr val="C9C4B9"/>
          </a:solidFill>
          <a:ln/>
        </p:spPr>
      </p:sp>
      <p:sp>
        <p:nvSpPr>
          <p:cNvPr id="36" name="Shape 34"/>
          <p:cNvSpPr/>
          <p:nvPr/>
        </p:nvSpPr>
        <p:spPr>
          <a:xfrm>
            <a:off x="1439540" y="6519946"/>
            <a:ext cx="7315" cy="36759"/>
          </a:xfrm>
          <a:prstGeom prst="rect">
            <a:avLst/>
          </a:prstGeom>
          <a:solidFill>
            <a:srgbClr val="C9C4B9"/>
          </a:solidFill>
          <a:ln/>
        </p:spPr>
      </p:sp>
      <p:sp>
        <p:nvSpPr>
          <p:cNvPr id="37" name="Text 35"/>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8" name="Shape 36"/>
          <p:cNvSpPr/>
          <p:nvPr/>
        </p:nvSpPr>
        <p:spPr>
          <a:xfrm>
            <a:off x="5415351" y="6519946"/>
            <a:ext cx="7315" cy="36759"/>
          </a:xfrm>
          <a:prstGeom prst="rect">
            <a:avLst/>
          </a:prstGeom>
          <a:solidFill>
            <a:srgbClr val="C9C4B9"/>
          </a:solidFill>
          <a:ln/>
        </p:spPr>
      </p:sp>
      <p:sp>
        <p:nvSpPr>
          <p:cNvPr id="39" name="Text 37"/>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40" name="Shape 38"/>
          <p:cNvSpPr/>
          <p:nvPr/>
        </p:nvSpPr>
        <p:spPr>
          <a:xfrm>
            <a:off x="7119610" y="6519946"/>
            <a:ext cx="7315" cy="36759"/>
          </a:xfrm>
          <a:prstGeom prst="rect">
            <a:avLst/>
          </a:prstGeom>
          <a:solidFill>
            <a:srgbClr val="C9C4B9"/>
          </a:solidFill>
          <a:ln/>
        </p:spPr>
      </p:sp>
      <p:sp>
        <p:nvSpPr>
          <p:cNvPr id="41" name="Text 39"/>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42" name="Shape 40"/>
          <p:cNvSpPr/>
          <p:nvPr/>
        </p:nvSpPr>
        <p:spPr>
          <a:xfrm>
            <a:off x="9958639" y="6519946"/>
            <a:ext cx="7315" cy="36759"/>
          </a:xfrm>
          <a:prstGeom prst="rect">
            <a:avLst/>
          </a:prstGeom>
          <a:solidFill>
            <a:srgbClr val="C9C4B9"/>
          </a:solidFill>
          <a:ln/>
        </p:spPr>
      </p:sp>
      <p:sp>
        <p:nvSpPr>
          <p:cNvPr id="43" name="Text 41"/>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44" name="Shape 42"/>
          <p:cNvSpPr/>
          <p:nvPr/>
        </p:nvSpPr>
        <p:spPr>
          <a:xfrm>
            <a:off x="11662898" y="6519946"/>
            <a:ext cx="7315" cy="36759"/>
          </a:xfrm>
          <a:prstGeom prst="rect">
            <a:avLst/>
          </a:prstGeom>
          <a:solidFill>
            <a:srgbClr val="C9C4B9"/>
          </a:solidFill>
          <a:ln/>
        </p:spPr>
      </p:sp>
      <p:sp>
        <p:nvSpPr>
          <p:cNvPr id="45" name="Text 43"/>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2669"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76</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2799253"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A DEPLOYMENT DETAIL NO PAPER REPORTS</a:t>
            </a:r>
            <a:endParaRPr lang="en-US" sz="888" dirty="0"/>
          </a:p>
        </p:txBody>
      </p:sp>
      <p:sp>
        <p:nvSpPr>
          <p:cNvPr id="5" name="Text 3"/>
          <p:cNvSpPr txBox="1"/>
          <p:nvPr/>
        </p:nvSpPr>
        <p:spPr>
          <a:xfrm>
            <a:off x="1636685" y="690281"/>
            <a:ext cx="8177936"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Every model pads — and they all pad differently</a:t>
            </a:r>
            <a:endParaRPr lang="en-US" sz="3025" dirty="0"/>
          </a:p>
        </p:txBody>
      </p:sp>
      <p:sp>
        <p:nvSpPr>
          <p:cNvPr id="6" name="Text 4"/>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A U-Net that downsamples k times requires input dimensions divisible by 2ᵏ. Every architecture-branch model solves this with the same pad-then-crop idiom and a different constant, which becomes a real problem the moment two are chained in one pipeline.</a:t>
            </a:r>
            <a:endParaRPr lang="en-US" sz="1315"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1636685" y="2226838"/>
          <a:ext cx="9144000" cy="914400"/>
        </p:xfrm>
        <a:graphic>
          <a:graphicData uri="http://schemas.openxmlformats.org/drawingml/2006/table">
            <a:tbl>
              <a:tblPr/>
              <a:tblGrid>
                <a:gridCol w="1027146"/>
                <a:gridCol w="3878793"/>
                <a:gridCol w="2087575"/>
                <a:gridCol w="2960279"/>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r"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REQUIRED MULTIPLE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PADDING MODE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WHERE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r>
              <a:tr h="346558">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Restormer</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reflect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demo.py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NAFNet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16 — computed as </a:t>
                      </a:r>
                      <a:pPr algn="r"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2 ** len(self.encoders)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zero (default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F.pad</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NAFNet_arch.check_image_size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P2N+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reflect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test.py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SCUNet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64 — </a:t>
                      </a:r>
                      <a:pPr algn="r"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int(np.ceil(h/64) ∗ 64-h)</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nn.ReplicationPad2d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network_scunet.forward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636685" y="4114068"/>
            <a:ext cx="9953793" cy="16734"/>
          </a:xfrm>
          <a:prstGeom prst="rect">
            <a:avLst/>
          </a:prstGeom>
          <a:solidFill>
            <a:srgbClr val="14343F"/>
          </a:solidFill>
          <a:ln/>
        </p:spPr>
      </p:sp>
      <p:sp>
        <p:nvSpPr>
          <p:cNvPr id="9" name="Text 6"/>
          <p:cNvSpPr txBox="1"/>
          <p:nvPr/>
        </p:nvSpPr>
        <p:spPr>
          <a:xfrm>
            <a:off x="1636685" y="4262293"/>
            <a:ext cx="10010303" cy="638800"/>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A factor of eight separates the extremes, and the padding mode differs too</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 zero padding injects a hard artificial edge, reflection and replication do not. Feed a 1000×1000 image to SCUNet and 26 rows and columns of replicated content are silently invented, processed, and cropped away. None of this appears in any of the four papers. It is exactly the class of fact the brief means by </a:t>
            </a:r>
            <a:pPr algn="l" indent="0" marL="0">
              <a:lnSpc>
                <a:spcPts val="1677"/>
              </a:lnSpc>
              <a:buNone/>
            </a:pPr>
            <a:r>
              <a:rPr kern="0" lang="en-US" sz="1118" i="1" dirty="0">
                <a:solidFill>
                  <a:srgbClr val="33302B"/>
                </a:solidFill>
                <a:latin typeface="Calibri" pitchFamily="34" charset="0"/>
                <a:ea typeface="Calibri" pitchFamily="34" charset="-122"/>
                <a:cs typeface="Calibri" pitchFamily="34" charset="-120"/>
              </a:rPr>
              <a:t>practical deployment realities</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and it is only visible by reading </a:t>
            </a:r>
            <a:pPr algn="l" indent="0" marL="0">
              <a:lnSpc>
                <a:spcPts val="1677"/>
              </a:lnSpc>
              <a:buNone/>
            </a:pPr>
            <a:r>
              <a:rPr kern="0" lang="en-US" sz="1006" dirty="0">
                <a:solidFill>
                  <a:srgbClr val="145A66"/>
                </a:solidFill>
                <a:latin typeface="Consolas" pitchFamily="34" charset="0"/>
                <a:ea typeface="Consolas" pitchFamily="34" charset="-122"/>
                <a:cs typeface="Consolas" pitchFamily="34" charset="-120"/>
              </a:rPr>
              <a:t>forward</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a:t>
            </a:r>
            <a:endParaRPr lang="en-US" sz="1118" dirty="0"/>
          </a:p>
        </p:txBody>
      </p:sp>
      <p:sp>
        <p:nvSpPr>
          <p:cNvPr id="10" name="Text 7"/>
          <p:cNvSpPr txBox="1"/>
          <p:nvPr/>
        </p:nvSpPr>
        <p:spPr>
          <a:xfrm>
            <a:off x="8145018" y="6194511"/>
            <a:ext cx="3445459"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measured — verbatim from the four repositories at the commits on slide 65</a:t>
            </a:r>
            <a:endParaRPr lang="en-US" sz="855" dirty="0"/>
          </a:p>
        </p:txBody>
      </p:sp>
      <p:sp>
        <p:nvSpPr>
          <p:cNvPr id="11" name="Shape 8"/>
          <p:cNvSpPr/>
          <p:nvPr/>
        </p:nvSpPr>
        <p:spPr>
          <a:xfrm>
            <a:off x="1636685" y="6515466"/>
            <a:ext cx="9953793" cy="8321"/>
          </a:xfrm>
          <a:prstGeom prst="rect">
            <a:avLst/>
          </a:prstGeom>
          <a:solidFill>
            <a:srgbClr val="C9C4B9"/>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71064"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77</a:t>
            </a:r>
            <a:endParaRPr lang="en-US" sz="2708" dirty="0"/>
          </a:p>
        </p:txBody>
      </p:sp>
      <p:sp>
        <p:nvSpPr>
          <p:cNvPr id="3" name="Shape 1"/>
          <p:cNvSpPr/>
          <p:nvPr/>
        </p:nvSpPr>
        <p:spPr>
          <a:xfrm>
            <a:off x="1531803" y="461132"/>
            <a:ext cx="203180" cy="23409"/>
          </a:xfrm>
          <a:prstGeom prst="rect">
            <a:avLst/>
          </a:prstGeom>
          <a:solidFill>
            <a:srgbClr val="14343F"/>
          </a:solidFill>
          <a:ln/>
        </p:spPr>
      </p:sp>
      <p:sp>
        <p:nvSpPr>
          <p:cNvPr id="4" name="Text 2"/>
          <p:cNvSpPr txBox="1"/>
          <p:nvPr/>
        </p:nvSpPr>
        <p:spPr>
          <a:xfrm>
            <a:off x="1828800" y="408462"/>
            <a:ext cx="1289030"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WHAT WE MEASURED</a:t>
            </a:r>
            <a:endParaRPr lang="en-US" sz="831" dirty="0"/>
          </a:p>
        </p:txBody>
      </p:sp>
      <p:sp>
        <p:nvSpPr>
          <p:cNvPr id="5" name="Text 3"/>
          <p:cNvSpPr txBox="1"/>
          <p:nvPr/>
        </p:nvSpPr>
        <p:spPr>
          <a:xfrm>
            <a:off x="1531803" y="646024"/>
            <a:ext cx="6953372"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Seven architectures, instantiated and timed</a:t>
            </a:r>
            <a:endParaRPr lang="en-US" sz="2831" dirty="0"/>
          </a:p>
        </p:txBody>
      </p:sp>
      <p:sp>
        <p:nvSpPr>
          <p:cNvPr id="6" name="Text 4"/>
          <p:cNvSpPr txBox="1"/>
          <p:nvPr/>
        </p:nvSpPr>
        <p:spPr>
          <a:xfrm>
            <a:off x="1531803" y="1161928"/>
            <a:ext cx="6060460" cy="953445"/>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Each model was instantiated from its own repository at the commit on slide 65, in the configuration that repository uses for denoising. Parameters are </a:t>
            </a:r>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sum(p.numel() for p in model.parameters())</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Latency is the mean of three forward passes at 256×256 after one warm-up, under </a:t>
            </a:r>
            <a:pPr algn="l" indent="0" marL="0">
              <a:lnSpc>
                <a:spcPts val="1846"/>
              </a:lnSpc>
              <a:buNone/>
            </a:pPr>
            <a:r>
              <a:rPr kern="0" lang="en-US" sz="1108" dirty="0">
                <a:solidFill>
                  <a:srgbClr val="145A66"/>
                </a:solidFill>
                <a:latin typeface="Consolas" pitchFamily="34" charset="0"/>
                <a:ea typeface="Consolas" pitchFamily="34" charset="-122"/>
                <a:cs typeface="Consolas" pitchFamily="34" charset="-120"/>
              </a:rPr>
              <a:t>torch.no_grad()</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a:t>
            </a:r>
            <a:pPr algn="l" indent="0" marL="0">
              <a:lnSpc>
                <a:spcPts val="1846"/>
              </a:lnSpc>
              <a:buNone/>
            </a:pPr>
            <a:r>
              <a:rPr kern="0" lang="en-US" sz="1231" b="1" dirty="0">
                <a:solidFill>
                  <a:srgbClr val="5A554D"/>
                </a:solidFill>
                <a:latin typeface="Calibri" pitchFamily="34" charset="0"/>
                <a:ea typeface="Calibri" pitchFamily="34" charset="-122"/>
                <a:cs typeface="Calibri" pitchFamily="34" charset="-120"/>
              </a:rPr>
              <a:t>CPU only</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PyTorch 2.13.0, no CUDA.</a:t>
            </a:r>
            <a:endParaRPr lang="en-US" sz="1231"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1531803" y="2341961"/>
          <a:ext cx="9144000" cy="914400"/>
        </p:xfrm>
        <a:graphic>
          <a:graphicData uri="http://schemas.openxmlformats.org/drawingml/2006/table">
            <a:tbl>
              <a:tblPr/>
              <a:tblGrid>
                <a:gridCol w="2184319"/>
                <a:gridCol w="4505432"/>
                <a:gridCol w="1594256"/>
                <a:gridCol w="1813164"/>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CPU LATENCY, 256²</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DnCNN-B</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DnCNN(in_nc=1, nc=64, nb=20)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0.668 M</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1.015 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P2N+ backbone, SPI </a:t>
                      </a:r>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off</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UNet_n2n_un(conv_type='plain')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0.991 M</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0.286 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P2N+ backbone, SPI </a:t>
                      </a:r>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on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UNet_n2n_un(conv_type='SPI')</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0.925 M</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0.710 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SCUNet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SCUNet(in_nc=3, config=[2] ∗ 7, dim=64)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9.663 M</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1.685 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Restormer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paper defaults, </a:t>
                      </a:r>
                      <a:pPr algn="l" indent="0" marL="0">
                        <a:lnSpc>
                          <a:spcPts val="1239"/>
                        </a:lnSpc>
                        <a:buNone/>
                      </a:pPr>
                      <a:r>
                        <a:rPr kern="0" lang="en-US" sz="914" b="1" dirty="0">
                          <a:solidFill>
                            <a:srgbClr val="145A66"/>
                          </a:solidFill>
                          <a:latin typeface="Consolas" pitchFamily="34" charset="0"/>
                          <a:ea typeface="Consolas" pitchFamily="34" charset="-122"/>
                          <a:cs typeface="Consolas" pitchFamily="34" charset="-120"/>
                        </a:rPr>
                        <a:t>dim=48</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a:t>
                      </a:r>
                      <a:pPr algn="l" indent="0" marL="0">
                        <a:lnSpc>
                          <a:spcPts val="1239"/>
                        </a:lnSpc>
                        <a:buNone/>
                      </a:pPr>
                      <a:r>
                        <a:rPr kern="0" lang="en-US" sz="914" b="1" dirty="0">
                          <a:solidFill>
                            <a:srgbClr val="145A66"/>
                          </a:solidFill>
                          <a:latin typeface="Consolas" pitchFamily="34" charset="0"/>
                          <a:ea typeface="Consolas" pitchFamily="34" charset="-122"/>
                          <a:cs typeface="Consolas" pitchFamily="34" charset="-120"/>
                        </a:rPr>
                        <a:t>[4,6,6,8]</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26.127 M</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10.436 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NAFNet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SIDD </a:t>
                      </a:r>
                      <a:pPr algn="l" indent="0" marL="0">
                        <a:lnSpc>
                          <a:spcPts val="1239"/>
                        </a:lnSpc>
                        <a:buNone/>
                      </a:pPr>
                      <a:r>
                        <a:rPr kern="0" lang="en-US" sz="914" b="1" dirty="0">
                          <a:solidFill>
                            <a:srgbClr val="145A66"/>
                          </a:solidFill>
                          <a:latin typeface="Consolas" pitchFamily="34" charset="0"/>
                          <a:ea typeface="Consolas" pitchFamily="34" charset="-122"/>
                          <a:cs typeface="Consolas" pitchFamily="34" charset="-120"/>
                        </a:rPr>
                        <a:t>width=64</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enc </a:t>
                      </a:r>
                      <a:pPr algn="l" indent="0" marL="0">
                        <a:lnSpc>
                          <a:spcPts val="1239"/>
                        </a:lnSpc>
                        <a:buNone/>
                      </a:pPr>
                      <a:r>
                        <a:rPr kern="0" lang="en-US" sz="914" b="1" dirty="0">
                          <a:solidFill>
                            <a:srgbClr val="145A66"/>
                          </a:solidFill>
                          <a:latin typeface="Consolas" pitchFamily="34" charset="0"/>
                          <a:ea typeface="Consolas" pitchFamily="34" charset="-122"/>
                          <a:cs typeface="Consolas" pitchFamily="34" charset="-120"/>
                        </a:rPr>
                        <a:t>[2,2,4,8]</a:t>
                      </a:r>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 mid 12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115.983 M</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1.899 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MambaIR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i="1" dirty="0">
                          <a:solidFill>
                            <a:srgbClr val="14120F"/>
                          </a:solidFill>
                          <a:latin typeface="Calibri" pitchFamily="34" charset="0"/>
                          <a:ea typeface="Calibri" pitchFamily="34" charset="-122"/>
                          <a:cs typeface="Calibri" pitchFamily="34" charset="-120"/>
                        </a:rPr>
                        <a:t>not measurable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import fails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r>
            </a:tbl>
          </a:graphicData>
        </a:graphic>
      </p:graphicFrame>
      <p:sp>
        <p:nvSpPr>
          <p:cNvPr id="8" name="Shape 5"/>
          <p:cNvSpPr/>
          <p:nvPr/>
        </p:nvSpPr>
        <p:spPr>
          <a:xfrm>
            <a:off x="1531803" y="5069525"/>
            <a:ext cx="10097262" cy="15636"/>
          </a:xfrm>
          <a:prstGeom prst="rect">
            <a:avLst/>
          </a:prstGeom>
          <a:solidFill>
            <a:srgbClr val="14343F"/>
          </a:solidFill>
          <a:ln/>
        </p:spPr>
      </p:sp>
      <p:sp>
        <p:nvSpPr>
          <p:cNvPr id="9" name="Text 6"/>
          <p:cNvSpPr txBox="1"/>
          <p:nvPr/>
        </p:nvSpPr>
        <p:spPr>
          <a:xfrm>
            <a:off x="1531803" y="5208240"/>
            <a:ext cx="10153223" cy="59783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Two caveats, stated before they are asked.</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(1) Absolute CPU latencies are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not</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comparable to published GPU timings — the </a:t>
            </a:r>
            <a:pPr algn="l" indent="0" marL="0">
              <a:lnSpc>
                <a:spcPts val="1569"/>
              </a:lnSpc>
              <a:buNone/>
            </a:pPr>
            <a:r>
              <a:rPr kern="0" lang="en-US" sz="1046" i="1" dirty="0">
                <a:solidFill>
                  <a:srgbClr val="33302B"/>
                </a:solidFill>
                <a:latin typeface="Calibri" pitchFamily="34" charset="0"/>
                <a:ea typeface="Calibri" pitchFamily="34" charset="-122"/>
                <a:cs typeface="Calibri" pitchFamily="34" charset="-120"/>
              </a:rPr>
              <a:t>ratios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are the informative quantity. (2) The forward passes used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random tensors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so no PSNR or SSIM was measured here; every quality number in this deck comes from the papers, and every timing and parameter count on this slide comes from us. The two are never mixed in one column.</a:t>
            </a:r>
            <a:endParaRPr lang="en-US" sz="1046" dirty="0"/>
          </a:p>
        </p:txBody>
      </p:sp>
      <p:sp>
        <p:nvSpPr>
          <p:cNvPr id="10" name="Text 7"/>
          <p:cNvSpPr txBox="1"/>
          <p:nvPr/>
        </p:nvSpPr>
        <p:spPr>
          <a:xfrm>
            <a:off x="8682137" y="6237031"/>
            <a:ext cx="2946837"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measured — Stage 2 benchmark, CPU-only container, PyTorch 2.13.0</a:t>
            </a:r>
            <a:endParaRPr lang="en-US" sz="800" dirty="0"/>
          </a:p>
        </p:txBody>
      </p:sp>
      <p:sp>
        <p:nvSpPr>
          <p:cNvPr id="11" name="Shape 8"/>
          <p:cNvSpPr/>
          <p:nvPr/>
        </p:nvSpPr>
        <p:spPr>
          <a:xfrm>
            <a:off x="1531803" y="6537411"/>
            <a:ext cx="10097262" cy="7772"/>
          </a:xfrm>
          <a:prstGeom prst="rect">
            <a:avLst/>
          </a:prstGeom>
          <a:solidFill>
            <a:srgbClr val="C9C4B9"/>
          </a:solidFill>
          <a:ln/>
        </p:spPr>
      </p:sp>
      <p:sp>
        <p:nvSpPr>
          <p:cNvPr id="12" name="Shape 9"/>
          <p:cNvSpPr/>
          <p:nvPr/>
        </p:nvSpPr>
        <p:spPr>
          <a:xfrm>
            <a:off x="1531803" y="6498366"/>
            <a:ext cx="7772" cy="39045"/>
          </a:xfrm>
          <a:prstGeom prst="rect">
            <a:avLst/>
          </a:prstGeom>
          <a:solidFill>
            <a:srgbClr val="C9C4B9"/>
          </a:solidFill>
          <a:ln/>
        </p:spPr>
      </p:sp>
      <p:sp>
        <p:nvSpPr>
          <p:cNvPr id="13" name="Text 10"/>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4" name="Shape 11"/>
          <p:cNvSpPr/>
          <p:nvPr/>
        </p:nvSpPr>
        <p:spPr>
          <a:xfrm>
            <a:off x="5458511" y="6498366"/>
            <a:ext cx="7772" cy="39045"/>
          </a:xfrm>
          <a:prstGeom prst="rect">
            <a:avLst/>
          </a:prstGeom>
          <a:solidFill>
            <a:srgbClr val="C9C4B9"/>
          </a:solidFill>
          <a:ln/>
        </p:spPr>
      </p:sp>
      <p:sp>
        <p:nvSpPr>
          <p:cNvPr id="15" name="Text 12"/>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6" name="Shape 13"/>
          <p:cNvSpPr/>
          <p:nvPr/>
        </p:nvSpPr>
        <p:spPr>
          <a:xfrm>
            <a:off x="7141738" y="6498366"/>
            <a:ext cx="7772" cy="39045"/>
          </a:xfrm>
          <a:prstGeom prst="rect">
            <a:avLst/>
          </a:prstGeom>
          <a:solidFill>
            <a:srgbClr val="C9C4B9"/>
          </a:solidFill>
          <a:ln/>
        </p:spPr>
      </p:sp>
      <p:sp>
        <p:nvSpPr>
          <p:cNvPr id="17" name="Text 14"/>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18" name="Shape 15"/>
          <p:cNvSpPr/>
          <p:nvPr/>
        </p:nvSpPr>
        <p:spPr>
          <a:xfrm>
            <a:off x="9945654" y="6498366"/>
            <a:ext cx="7772" cy="39045"/>
          </a:xfrm>
          <a:prstGeom prst="rect">
            <a:avLst/>
          </a:prstGeom>
          <a:solidFill>
            <a:srgbClr val="C9C4B9"/>
          </a:solidFill>
          <a:ln/>
        </p:spPr>
      </p:sp>
      <p:sp>
        <p:nvSpPr>
          <p:cNvPr id="19" name="Text 16"/>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0" name="Shape 17"/>
          <p:cNvSpPr/>
          <p:nvPr/>
        </p:nvSpPr>
        <p:spPr>
          <a:xfrm>
            <a:off x="11628973" y="6498366"/>
            <a:ext cx="7772" cy="39045"/>
          </a:xfrm>
          <a:prstGeom prst="rect">
            <a:avLst/>
          </a:prstGeom>
          <a:solidFill>
            <a:srgbClr val="C9C4B9"/>
          </a:solidFill>
          <a:ln/>
        </p:spPr>
      </p:sp>
      <p:sp>
        <p:nvSpPr>
          <p:cNvPr id="21" name="Text 18"/>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68686"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78</a:t>
            </a:r>
            <a:endParaRPr lang="en-US" sz="2545" dirty="0"/>
          </a:p>
        </p:txBody>
      </p:sp>
      <p:sp>
        <p:nvSpPr>
          <p:cNvPr id="3" name="Shape 1"/>
          <p:cNvSpPr/>
          <p:nvPr/>
        </p:nvSpPr>
        <p:spPr>
          <a:xfrm>
            <a:off x="1439540" y="495788"/>
            <a:ext cx="190927" cy="22037"/>
          </a:xfrm>
          <a:prstGeom prst="rect">
            <a:avLst/>
          </a:prstGeom>
          <a:solidFill>
            <a:srgbClr val="14343F"/>
          </a:solidFill>
          <a:ln/>
        </p:spPr>
      </p:sp>
      <p:sp>
        <p:nvSpPr>
          <p:cNvPr id="4" name="Text 2"/>
          <p:cNvSpPr txBox="1"/>
          <p:nvPr/>
        </p:nvSpPr>
        <p:spPr>
          <a:xfrm>
            <a:off x="1718615" y="446319"/>
            <a:ext cx="1809689"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WHAT THE MEASUREMENTS SAY</a:t>
            </a:r>
            <a:endParaRPr lang="en-US" sz="781" dirty="0"/>
          </a:p>
        </p:txBody>
      </p:sp>
      <p:sp>
        <p:nvSpPr>
          <p:cNvPr id="5" name="Text 3"/>
          <p:cNvSpPr txBox="1"/>
          <p:nvPr/>
        </p:nvSpPr>
        <p:spPr>
          <a:xfrm>
            <a:off x="1439540" y="981608"/>
            <a:ext cx="7734270"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Four conclusions, none of them visible from a paper</a:t>
            </a:r>
            <a:endParaRPr lang="en-US" sz="2660" dirty="0"/>
          </a:p>
        </p:txBody>
      </p:sp>
      <p:sp>
        <p:nvSpPr>
          <p:cNvPr id="6" name="Text 4"/>
          <p:cNvSpPr txBox="1"/>
          <p:nvPr/>
        </p:nvSpPr>
        <p:spPr>
          <a:xfrm>
            <a:off x="1439540" y="1841053"/>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These are the readings that justify having run the code at all. Each contradicts something a reader would reasonably assume from the published tables.</a:t>
            </a:r>
            <a:endParaRPr lang="en-US" sz="1157" dirty="0"/>
          </a:p>
        </p:txBody>
      </p:sp>
      <p:sp>
        <p:nvSpPr>
          <p:cNvPr id="7" name="Shape 5"/>
          <p:cNvSpPr/>
          <p:nvPr/>
        </p:nvSpPr>
        <p:spPr>
          <a:xfrm>
            <a:off x="1439540" y="2861889"/>
            <a:ext cx="4950104" cy="14722"/>
          </a:xfrm>
          <a:prstGeom prst="rect">
            <a:avLst/>
          </a:prstGeom>
          <a:solidFill>
            <a:srgbClr val="14343F"/>
          </a:solidFill>
          <a:ln/>
        </p:spPr>
      </p:sp>
      <p:sp>
        <p:nvSpPr>
          <p:cNvPr id="8" name="Text 6"/>
          <p:cNvSpPr txBox="1"/>
          <p:nvPr/>
        </p:nvSpPr>
        <p:spPr>
          <a:xfrm>
            <a:off x="1439540" y="2994020"/>
            <a:ext cx="107716"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A</a:t>
            </a:r>
            <a:endParaRPr lang="en-US" sz="665" dirty="0"/>
          </a:p>
        </p:txBody>
      </p:sp>
      <p:sp>
        <p:nvSpPr>
          <p:cNvPr id="9" name="Text 7"/>
          <p:cNvSpPr txBox="1"/>
          <p:nvPr/>
        </p:nvSpPr>
        <p:spPr>
          <a:xfrm>
            <a:off x="1439540" y="3163184"/>
            <a:ext cx="2466503"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Parameters do not predict latency</a:t>
            </a:r>
            <a:endParaRPr lang="en-US" sz="1272" dirty="0"/>
          </a:p>
        </p:txBody>
      </p:sp>
      <p:sp>
        <p:nvSpPr>
          <p:cNvPr id="10" name="Text 8"/>
          <p:cNvSpPr txBox="1"/>
          <p:nvPr/>
        </p:nvSpPr>
        <p:spPr>
          <a:xfrm>
            <a:off x="1439540" y="3452500"/>
            <a:ext cx="4984577" cy="75136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NAFNet carries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4.4× Restormer's parameters and runs 5.5× faster</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on identical hardware. NAFNet is 1×1 and depth-wise convolutions on fast GEMM paths; Restormer's </a:t>
            </a:r>
            <a:pPr algn="l" indent="0" marL="0">
              <a:lnSpc>
                <a:spcPts val="1450"/>
              </a:lnSpc>
              <a:buNone/>
            </a:pPr>
            <a:r>
              <a:rPr kern="0" lang="en-US" sz="859" dirty="0">
                <a:solidFill>
                  <a:srgbClr val="145A66"/>
                </a:solidFill>
                <a:latin typeface="Consolas" pitchFamily="34" charset="0"/>
                <a:ea typeface="Consolas" pitchFamily="34" charset="-122"/>
                <a:cs typeface="Consolas" pitchFamily="34" charset="-120"/>
              </a:rPr>
              <a:t>rearrange</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calls force layout changes and its attention matmuls are poorly served by a CPU backend.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'More efficient' is meaningless without naming the metric — parameters, MACs, or wall-clock — and the device.</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endParaRPr lang="en-US" sz="954" dirty="0"/>
          </a:p>
        </p:txBody>
      </p:sp>
      <p:sp>
        <p:nvSpPr>
          <p:cNvPr id="11" name="Shape 9"/>
          <p:cNvSpPr/>
          <p:nvPr/>
        </p:nvSpPr>
        <p:spPr>
          <a:xfrm>
            <a:off x="6712793" y="2861889"/>
            <a:ext cx="4950104" cy="14722"/>
          </a:xfrm>
          <a:prstGeom prst="rect">
            <a:avLst/>
          </a:prstGeom>
          <a:solidFill>
            <a:srgbClr val="14343F"/>
          </a:solidFill>
          <a:ln/>
        </p:spPr>
      </p:sp>
      <p:sp>
        <p:nvSpPr>
          <p:cNvPr id="12" name="Text 10"/>
          <p:cNvSpPr txBox="1"/>
          <p:nvPr/>
        </p:nvSpPr>
        <p:spPr>
          <a:xfrm>
            <a:off x="6712793" y="2994020"/>
            <a:ext cx="103967"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B</a:t>
            </a:r>
            <a:endParaRPr lang="en-US" sz="665" dirty="0"/>
          </a:p>
        </p:txBody>
      </p:sp>
      <p:sp>
        <p:nvSpPr>
          <p:cNvPr id="13" name="Text 11"/>
          <p:cNvSpPr txBox="1"/>
          <p:nvPr/>
        </p:nvSpPr>
        <p:spPr>
          <a:xfrm>
            <a:off x="6712793" y="3163184"/>
            <a:ext cx="2388596"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SPI costs latency, not parameters</a:t>
            </a:r>
            <a:endParaRPr lang="en-US" sz="1272" dirty="0"/>
          </a:p>
        </p:txBody>
      </p:sp>
      <p:sp>
        <p:nvSpPr>
          <p:cNvPr id="14" name="Text 12"/>
          <p:cNvSpPr txBox="1"/>
          <p:nvPr/>
        </p:nvSpPr>
        <p:spPr>
          <a:xfrm>
            <a:off x="6712793" y="3452500"/>
            <a:ext cx="4984577" cy="740298"/>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Switching Symmetric Prior Injection on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reduces</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P2N+'s parameters by 6.7% (0.991 M → 0.925 M), because </a:t>
            </a:r>
            <a:pPr algn="l" indent="0" marL="0">
              <a:lnSpc>
                <a:spcPts val="1450"/>
              </a:lnSpc>
              <a:buNone/>
            </a:pPr>
            <a:r>
              <a:rPr kern="0" lang="en-US" sz="859" dirty="0">
                <a:solidFill>
                  <a:srgbClr val="145A66"/>
                </a:solidFill>
                <a:latin typeface="Consolas" pitchFamily="34" charset="0"/>
                <a:ea typeface="Consolas" pitchFamily="34" charset="-122"/>
                <a:cs typeface="Consolas" pitchFamily="34" charset="-120"/>
              </a:rPr>
              <a:t>Symlayer</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routes through a half-width bottleneck — yet latency rises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2.5×</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(0.286 s → 0.710 s), because every layer is evaluated twice, on x and on −x.</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This is the exact opposite of what a parameter table predicts, and it is invisible unless you run it.</a:t>
            </a:r>
            <a:endParaRPr lang="en-US" sz="954" dirty="0"/>
          </a:p>
        </p:txBody>
      </p:sp>
      <p:sp>
        <p:nvSpPr>
          <p:cNvPr id="15" name="Shape 13"/>
          <p:cNvSpPr/>
          <p:nvPr/>
        </p:nvSpPr>
        <p:spPr>
          <a:xfrm>
            <a:off x="1439540" y="4508906"/>
            <a:ext cx="4950104" cy="14722"/>
          </a:xfrm>
          <a:prstGeom prst="rect">
            <a:avLst/>
          </a:prstGeom>
          <a:solidFill>
            <a:srgbClr val="14343F"/>
          </a:solidFill>
          <a:ln/>
        </p:spPr>
      </p:sp>
      <p:sp>
        <p:nvSpPr>
          <p:cNvPr id="16" name="Text 14"/>
          <p:cNvSpPr txBox="1"/>
          <p:nvPr/>
        </p:nvSpPr>
        <p:spPr>
          <a:xfrm>
            <a:off x="1439540" y="4640946"/>
            <a:ext cx="101316"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C</a:t>
            </a:r>
            <a:endParaRPr lang="en-US" sz="665" dirty="0"/>
          </a:p>
        </p:txBody>
      </p:sp>
      <p:sp>
        <p:nvSpPr>
          <p:cNvPr id="17" name="Text 15"/>
          <p:cNvSpPr txBox="1"/>
          <p:nvPr/>
        </p:nvSpPr>
        <p:spPr>
          <a:xfrm>
            <a:off x="1439540" y="4810110"/>
            <a:ext cx="4005072"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The oldest model is the smallest and still not the fastest</a:t>
            </a:r>
            <a:endParaRPr lang="en-US" sz="1272" dirty="0"/>
          </a:p>
        </p:txBody>
      </p:sp>
      <p:sp>
        <p:nvSpPr>
          <p:cNvPr id="18" name="Text 16"/>
          <p:cNvSpPr txBox="1"/>
          <p:nvPr/>
        </p:nvSpPr>
        <p:spPr>
          <a:xfrm>
            <a:off x="1439540" y="5099426"/>
            <a:ext cx="4984577" cy="73673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DnCNN is the smallest model in the table at 0.668 M and is nonetheless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slower than the 0.991 M P2N+ backbone</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because DnCNN is 20 sequential full-resolution 3×3 convolutions at 64 channels while a U-Net does most of its work at reduced resolution.</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Depth at full resolution is expensive in a way parameter count does not show.</a:t>
            </a:r>
            <a:endParaRPr lang="en-US" sz="954" dirty="0"/>
          </a:p>
        </p:txBody>
      </p:sp>
      <p:sp>
        <p:nvSpPr>
          <p:cNvPr id="19" name="Shape 17"/>
          <p:cNvSpPr/>
          <p:nvPr/>
        </p:nvSpPr>
        <p:spPr>
          <a:xfrm>
            <a:off x="6712793" y="4508906"/>
            <a:ext cx="4950104" cy="14722"/>
          </a:xfrm>
          <a:prstGeom prst="rect">
            <a:avLst/>
          </a:prstGeom>
          <a:solidFill>
            <a:srgbClr val="14343F"/>
          </a:solidFill>
          <a:ln/>
        </p:spPr>
      </p:sp>
      <p:sp>
        <p:nvSpPr>
          <p:cNvPr id="20" name="Text 18"/>
          <p:cNvSpPr txBox="1"/>
          <p:nvPr/>
        </p:nvSpPr>
        <p:spPr>
          <a:xfrm>
            <a:off x="6712793" y="4640946"/>
            <a:ext cx="109819"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D</a:t>
            </a:r>
            <a:endParaRPr lang="en-US" sz="665" dirty="0"/>
          </a:p>
        </p:txBody>
      </p:sp>
      <p:sp>
        <p:nvSpPr>
          <p:cNvPr id="21" name="Text 19"/>
          <p:cNvSpPr txBox="1"/>
          <p:nvPr/>
        </p:nvSpPr>
        <p:spPr>
          <a:xfrm>
            <a:off x="6712793" y="4810110"/>
            <a:ext cx="2277496"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Some models simply do not run</a:t>
            </a:r>
            <a:endParaRPr lang="en-US" sz="1272" dirty="0"/>
          </a:p>
        </p:txBody>
      </p:sp>
      <p:sp>
        <p:nvSpPr>
          <p:cNvPr id="22" name="Text 20"/>
          <p:cNvSpPr txBox="1"/>
          <p:nvPr/>
        </p:nvSpPr>
        <p:spPr>
          <a:xfrm>
            <a:off x="6712793" y="5099426"/>
            <a:ext cx="4984577" cy="928025"/>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MambaIR raises </a:t>
            </a:r>
            <a:pPr algn="l" indent="0" marL="0">
              <a:lnSpc>
                <a:spcPts val="1450"/>
              </a:lnSpc>
              <a:buNone/>
            </a:pPr>
            <a:r>
              <a:rPr kern="0" lang="en-US" sz="859" dirty="0">
                <a:solidFill>
                  <a:srgbClr val="145A66"/>
                </a:solidFill>
                <a:latin typeface="Consolas" pitchFamily="34" charset="0"/>
                <a:ea typeface="Consolas" pitchFamily="34" charset="-122"/>
                <a:cs typeface="Consolas" pitchFamily="34" charset="-120"/>
              </a:rPr>
              <a:t>ModuleNotFoundError: mamba_ssm</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without compiled CUDA extensions.</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That is not a gap in our experiment — it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is</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result. A model that cannot be imported on a CPU machine has a deployment profile fundamentally different from one that can, and no paper reports this. The repository's own changelog</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[2]</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also records that published complexity figures computed with </a:t>
            </a:r>
            <a:pPr algn="l" indent="0" marL="0">
              <a:lnSpc>
                <a:spcPts val="1450"/>
              </a:lnSpc>
              <a:buNone/>
            </a:pPr>
            <a:r>
              <a:rPr kern="0" lang="en-US" sz="859" dirty="0">
                <a:solidFill>
                  <a:srgbClr val="145A66"/>
                </a:solidFill>
                <a:latin typeface="Consolas" pitchFamily="34" charset="0"/>
                <a:ea typeface="Consolas" pitchFamily="34" charset="-122"/>
                <a:cs typeface="Consolas" pitchFamily="34" charset="-120"/>
              </a:rPr>
              <a:t>thop</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were wrong.</a:t>
            </a:r>
            <a:endParaRPr lang="en-US" sz="954" dirty="0"/>
          </a:p>
        </p:txBody>
      </p:sp>
      <p:sp>
        <p:nvSpPr>
          <p:cNvPr id="23" name="Text 21"/>
          <p:cNvSpPr txBox="1"/>
          <p:nvPr/>
        </p:nvSpPr>
        <p:spPr>
          <a:xfrm>
            <a:off x="8752362" y="6285494"/>
            <a:ext cx="2910535"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measured — Stage 2 benchmark 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MambaIR repository changelog</a:t>
            </a:r>
            <a:endParaRPr lang="en-US" sz="556" dirty="0"/>
          </a:p>
        </p:txBody>
      </p:sp>
      <p:sp>
        <p:nvSpPr>
          <p:cNvPr id="24" name="Shape 22"/>
          <p:cNvSpPr/>
          <p:nvPr/>
        </p:nvSpPr>
        <p:spPr>
          <a:xfrm>
            <a:off x="1439540" y="6556705"/>
            <a:ext cx="10223358" cy="7315"/>
          </a:xfrm>
          <a:prstGeom prst="rect">
            <a:avLst/>
          </a:prstGeom>
          <a:solidFill>
            <a:srgbClr val="C9C4B9"/>
          </a:solidFill>
          <a:ln/>
        </p:spPr>
      </p:sp>
      <p:sp>
        <p:nvSpPr>
          <p:cNvPr id="25" name="Shape 23"/>
          <p:cNvSpPr/>
          <p:nvPr/>
        </p:nvSpPr>
        <p:spPr>
          <a:xfrm>
            <a:off x="1439540" y="6519946"/>
            <a:ext cx="7315" cy="36759"/>
          </a:xfrm>
          <a:prstGeom prst="rect">
            <a:avLst/>
          </a:prstGeom>
          <a:solidFill>
            <a:srgbClr val="C9C4B9"/>
          </a:solidFill>
          <a:ln/>
        </p:spPr>
      </p:sp>
      <p:sp>
        <p:nvSpPr>
          <p:cNvPr id="26" name="Text 24"/>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7" name="Shape 25"/>
          <p:cNvSpPr/>
          <p:nvPr/>
        </p:nvSpPr>
        <p:spPr>
          <a:xfrm>
            <a:off x="5415351" y="6519946"/>
            <a:ext cx="7315" cy="36759"/>
          </a:xfrm>
          <a:prstGeom prst="rect">
            <a:avLst/>
          </a:prstGeom>
          <a:solidFill>
            <a:srgbClr val="C9C4B9"/>
          </a:solidFill>
          <a:ln/>
        </p:spPr>
      </p:sp>
      <p:sp>
        <p:nvSpPr>
          <p:cNvPr id="28" name="Text 26"/>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9" name="Shape 27"/>
          <p:cNvSpPr/>
          <p:nvPr/>
        </p:nvSpPr>
        <p:spPr>
          <a:xfrm>
            <a:off x="7119610" y="6519946"/>
            <a:ext cx="7315" cy="36759"/>
          </a:xfrm>
          <a:prstGeom prst="rect">
            <a:avLst/>
          </a:prstGeom>
          <a:solidFill>
            <a:srgbClr val="C9C4B9"/>
          </a:solidFill>
          <a:ln/>
        </p:spPr>
      </p:sp>
      <p:sp>
        <p:nvSpPr>
          <p:cNvPr id="30" name="Text 28"/>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1" name="Shape 29"/>
          <p:cNvSpPr/>
          <p:nvPr/>
        </p:nvSpPr>
        <p:spPr>
          <a:xfrm>
            <a:off x="9958639" y="6519946"/>
            <a:ext cx="7315" cy="36759"/>
          </a:xfrm>
          <a:prstGeom prst="rect">
            <a:avLst/>
          </a:prstGeom>
          <a:solidFill>
            <a:srgbClr val="C9C4B9"/>
          </a:solidFill>
          <a:ln/>
        </p:spPr>
      </p:sp>
      <p:sp>
        <p:nvSpPr>
          <p:cNvPr id="32" name="Text 30"/>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3" name="Shape 31"/>
          <p:cNvSpPr/>
          <p:nvPr/>
        </p:nvSpPr>
        <p:spPr>
          <a:xfrm>
            <a:off x="11662898" y="6519946"/>
            <a:ext cx="7315" cy="36759"/>
          </a:xfrm>
          <a:prstGeom prst="rect">
            <a:avLst/>
          </a:prstGeom>
          <a:solidFill>
            <a:srgbClr val="C9C4B9"/>
          </a:solidFill>
          <a:ln/>
        </p:spPr>
      </p:sp>
      <p:sp>
        <p:nvSpPr>
          <p:cNvPr id="34" name="Text 32"/>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1368217"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14343F"/>
                </a:solidFill>
                <a:latin typeface="Cambria" pitchFamily="34" charset="0"/>
                <a:ea typeface="Cambria" pitchFamily="34" charset="-122"/>
                <a:cs typeface="Cambria" pitchFamily="34" charset="-120"/>
              </a:rPr>
              <a:t>VII</a:t>
            </a:r>
            <a:endParaRPr lang="en-US" sz="8416" dirty="0"/>
          </a:p>
        </p:txBody>
      </p:sp>
      <p:sp>
        <p:nvSpPr>
          <p:cNvPr id="4" name="Shape 2"/>
          <p:cNvSpPr/>
          <p:nvPr/>
        </p:nvSpPr>
        <p:spPr>
          <a:xfrm>
            <a:off x="434249" y="1663294"/>
            <a:ext cx="1002091" cy="33376"/>
          </a:xfrm>
          <a:prstGeom prst="rect">
            <a:avLst/>
          </a:prstGeom>
          <a:solidFill>
            <a:srgbClr val="14343F"/>
          </a:solidFill>
          <a:ln/>
        </p:spPr>
      </p:sp>
      <p:sp>
        <p:nvSpPr>
          <p:cNvPr id="5" name="Text 3"/>
          <p:cNvSpPr txBox="1"/>
          <p:nvPr/>
        </p:nvSpPr>
        <p:spPr>
          <a:xfrm>
            <a:off x="434249" y="1910273"/>
            <a:ext cx="2483236" cy="798911"/>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Comparative Analysis</a:t>
            </a:r>
            <a:endParaRPr lang="en-US" sz="3025" dirty="0"/>
          </a:p>
        </p:txBody>
      </p:sp>
      <p:sp>
        <p:nvSpPr>
          <p:cNvPr id="6" name="Shape 4"/>
          <p:cNvSpPr/>
          <p:nvPr/>
        </p:nvSpPr>
        <p:spPr>
          <a:xfrm>
            <a:off x="434249" y="3088386"/>
            <a:ext cx="217079" cy="25055"/>
          </a:xfrm>
          <a:prstGeom prst="rect">
            <a:avLst/>
          </a:prstGeom>
          <a:solidFill>
            <a:srgbClr val="8E877B"/>
          </a:solidFill>
          <a:ln/>
        </p:spPr>
      </p:sp>
      <p:sp>
        <p:nvSpPr>
          <p:cNvPr id="7" name="Text 5"/>
          <p:cNvSpPr txBox="1"/>
          <p:nvPr/>
        </p:nvSpPr>
        <p:spPr>
          <a:xfrm>
            <a:off x="751545" y="3032150"/>
            <a:ext cx="590245"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PART VII</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1321399"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rules we followed</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1499799"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BSD68 — the long ladder</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178847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Urban100 — where the gap is</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2590861"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Real noise — where the assumption breaks</a:t>
            </a:r>
            <a:endParaRPr lang="en-US" sz="1118" dirty="0"/>
          </a:p>
        </p:txBody>
      </p:sp>
      <p:sp>
        <p:nvSpPr>
          <p:cNvPr id="23" name="Shape 21"/>
          <p:cNvSpPr/>
          <p:nvPr/>
        </p:nvSpPr>
        <p:spPr>
          <a:xfrm>
            <a:off x="5526999" y="3479018"/>
            <a:ext cx="6146963" cy="8321"/>
          </a:xfrm>
          <a:prstGeom prst="rect">
            <a:avLst/>
          </a:prstGeom>
          <a:solidFill>
            <a:srgbClr val="DFDBD2"/>
          </a:solidFill>
          <a:ln/>
        </p:spPr>
      </p:sp>
      <p:sp>
        <p:nvSpPr>
          <p:cNvPr id="24" name="Text 22"/>
          <p:cNvSpPr txBox="1"/>
          <p:nvPr/>
        </p:nvSpPr>
        <p:spPr>
          <a:xfrm>
            <a:off x="5526999" y="3173700"/>
            <a:ext cx="173279"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05</a:t>
            </a:r>
            <a:endParaRPr lang="en-US" sz="921" dirty="0"/>
          </a:p>
        </p:txBody>
      </p:sp>
      <p:sp>
        <p:nvSpPr>
          <p:cNvPr id="25" name="Text 23"/>
          <p:cNvSpPr txBox="1"/>
          <p:nvPr/>
        </p:nvSpPr>
        <p:spPr>
          <a:xfrm>
            <a:off x="5894405" y="3155869"/>
            <a:ext cx="600852"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Efficiency</a:t>
            </a:r>
            <a:endParaRPr lang="en-US" sz="1118" dirty="0"/>
          </a:p>
        </p:txBody>
      </p:sp>
      <p:sp>
        <p:nvSpPr>
          <p:cNvPr id="26" name="Shape 24"/>
          <p:cNvSpPr/>
          <p:nvPr/>
        </p:nvSpPr>
        <p:spPr>
          <a:xfrm>
            <a:off x="5526999" y="3922593"/>
            <a:ext cx="6146963" cy="8321"/>
          </a:xfrm>
          <a:prstGeom prst="rect">
            <a:avLst/>
          </a:prstGeom>
          <a:solidFill>
            <a:srgbClr val="DFDBD2"/>
          </a:solidFill>
          <a:ln/>
        </p:spPr>
      </p:sp>
      <p:sp>
        <p:nvSpPr>
          <p:cNvPr id="27" name="Text 25"/>
          <p:cNvSpPr txBox="1"/>
          <p:nvPr/>
        </p:nvSpPr>
        <p:spPr>
          <a:xfrm>
            <a:off x="5526999" y="3617275"/>
            <a:ext cx="175382"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06</a:t>
            </a:r>
            <a:endParaRPr lang="en-US" sz="921" dirty="0"/>
          </a:p>
        </p:txBody>
      </p:sp>
      <p:sp>
        <p:nvSpPr>
          <p:cNvPr id="28" name="Text 26"/>
          <p:cNvSpPr txBox="1"/>
          <p:nvPr/>
        </p:nvSpPr>
        <p:spPr>
          <a:xfrm>
            <a:off x="5894405" y="3599536"/>
            <a:ext cx="989015"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Supervision cost</a:t>
            </a:r>
            <a:endParaRPr lang="en-US" sz="1118" dirty="0"/>
          </a:p>
        </p:txBody>
      </p:sp>
      <p:sp>
        <p:nvSpPr>
          <p:cNvPr id="29" name="Shape 27"/>
          <p:cNvSpPr/>
          <p:nvPr/>
        </p:nvSpPr>
        <p:spPr>
          <a:xfrm>
            <a:off x="5526999" y="4366260"/>
            <a:ext cx="6146963" cy="8321"/>
          </a:xfrm>
          <a:prstGeom prst="rect">
            <a:avLst/>
          </a:prstGeom>
          <a:solidFill>
            <a:srgbClr val="DFDBD2"/>
          </a:solidFill>
          <a:ln/>
        </p:spPr>
      </p:sp>
      <p:sp>
        <p:nvSpPr>
          <p:cNvPr id="30" name="Text 28"/>
          <p:cNvSpPr txBox="1"/>
          <p:nvPr/>
        </p:nvSpPr>
        <p:spPr>
          <a:xfrm>
            <a:off x="5526999" y="4060942"/>
            <a:ext cx="170261"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07</a:t>
            </a:r>
            <a:endParaRPr lang="en-US" sz="921" dirty="0"/>
          </a:p>
        </p:txBody>
      </p:sp>
      <p:sp>
        <p:nvSpPr>
          <p:cNvPr id="31" name="Text 29"/>
          <p:cNvSpPr txBox="1"/>
          <p:nvPr/>
        </p:nvSpPr>
        <p:spPr>
          <a:xfrm>
            <a:off x="5894405" y="4043111"/>
            <a:ext cx="1562710"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whole arc in one view</a:t>
            </a:r>
            <a:endParaRPr lang="en-US" sz="1118" dirty="0"/>
          </a:p>
        </p:txBody>
      </p:sp>
      <p:sp>
        <p:nvSpPr>
          <p:cNvPr id="32" name="Text 30"/>
          <p:cNvSpPr txBox="1"/>
          <p:nvPr/>
        </p:nvSpPr>
        <p:spPr>
          <a:xfrm>
            <a:off x="5526999" y="4620646"/>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Eighteen years of numbers, assembled under rules strict enough that the comparison means something.</a:t>
            </a:r>
            <a:endParaRPr lang="en-US" sz="1085" dirty="0"/>
          </a:p>
        </p:txBody>
      </p:sp>
      <p:sp>
        <p:nvSpPr>
          <p:cNvPr id="33" name="Text 31"/>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§6</a:t>
            </a:r>
            <a:endParaRPr lang="en-US" sz="855"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33608"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80</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00135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METHODOLOGY</a:t>
            </a:r>
            <a:endParaRPr lang="en-US" sz="888" dirty="0"/>
          </a:p>
        </p:txBody>
      </p:sp>
      <p:sp>
        <p:nvSpPr>
          <p:cNvPr id="5" name="Text 3"/>
          <p:cNvSpPr txBox="1"/>
          <p:nvPr/>
        </p:nvSpPr>
        <p:spPr>
          <a:xfrm>
            <a:off x="1636685" y="690281"/>
            <a:ext cx="8754648"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Five rules, so that the comparison survives scrutiny</a:t>
            </a:r>
            <a:endParaRPr lang="en-US" sz="3025" dirty="0"/>
          </a:p>
        </p:txBody>
      </p:sp>
      <p:sp>
        <p:nvSpPr>
          <p:cNvPr id="6" name="Text 4"/>
          <p:cNvSpPr txBox="1"/>
          <p:nvPr/>
        </p:nvSpPr>
        <p:spPr>
          <a:xfrm>
            <a:off x="1636685" y="1241481"/>
            <a:ext cx="6475598" cy="501000"/>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Cross-paper PSNR tables are the most commonly abused artefact in this field. These are the constraints we imposed on ourselves, and they are worth stating before any number appears.</a:t>
            </a:r>
            <a:endParaRPr lang="en-US" sz="1315" dirty="0"/>
          </a:p>
        </p:txBody>
      </p:sp>
      <p:sp>
        <p:nvSpPr>
          <p:cNvPr id="7" name="Shape 5"/>
          <p:cNvSpPr/>
          <p:nvPr/>
        </p:nvSpPr>
        <p:spPr>
          <a:xfrm>
            <a:off x="1636685" y="1976293"/>
            <a:ext cx="9953793" cy="8321"/>
          </a:xfrm>
          <a:prstGeom prst="rect">
            <a:avLst/>
          </a:prstGeom>
          <a:solidFill>
            <a:srgbClr val="DFDBD2"/>
          </a:solidFill>
          <a:ln/>
        </p:spPr>
      </p:sp>
      <p:sp>
        <p:nvSpPr>
          <p:cNvPr id="8" name="Text 6"/>
          <p:cNvSpPr txBox="1"/>
          <p:nvPr/>
        </p:nvSpPr>
        <p:spPr>
          <a:xfrm>
            <a:off x="1636685" y="2126620"/>
            <a:ext cx="14950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01</a:t>
            </a:r>
            <a:endParaRPr lang="en-US" sz="789" dirty="0"/>
          </a:p>
        </p:txBody>
      </p:sp>
      <p:sp>
        <p:nvSpPr>
          <p:cNvPr id="9" name="Text 7"/>
          <p:cNvSpPr txBox="1"/>
          <p:nvPr/>
        </p:nvSpPr>
        <p:spPr>
          <a:xfrm>
            <a:off x="1987448" y="2115190"/>
            <a:ext cx="9658167" cy="6952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1 · No number was computed by us.</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Every PSNR and SSIM in Part VII is reproduced from a published table, with the paper and table named. We ran no denoising evaluation of our own, because doing it correctly would require matching each paper's crop, border, colour-space and rounding conventions — and a table that mixes our numbers with theirs would be worse than useless.</a:t>
            </a:r>
            <a:endParaRPr lang="en-US" sz="1216" dirty="0"/>
          </a:p>
        </p:txBody>
      </p:sp>
      <p:sp>
        <p:nvSpPr>
          <p:cNvPr id="10" name="Text 8"/>
          <p:cNvSpPr txBox="1"/>
          <p:nvPr/>
        </p:nvSpPr>
        <p:spPr>
          <a:xfrm>
            <a:off x="1636685" y="2955432"/>
            <a:ext cx="15435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02</a:t>
            </a:r>
            <a:endParaRPr lang="en-US" sz="789" dirty="0"/>
          </a:p>
        </p:txBody>
      </p:sp>
      <p:sp>
        <p:nvSpPr>
          <p:cNvPr id="11" name="Text 9"/>
          <p:cNvSpPr txBox="1"/>
          <p:nvPr/>
        </p:nvSpPr>
        <p:spPr>
          <a:xfrm>
            <a:off x="1987448" y="2943911"/>
            <a:ext cx="9658167" cy="6952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2 · Rows come from one table wherever possible.</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When comparing DnCNN to Restormer, both figures are taken from Restormer's Table 4, where the authors evaluated both under one protocol. Taking DnCNN's number from its own paper and Restormer's from its own would silently compare two different evaluation scripts.</a:t>
            </a:r>
            <a:endParaRPr lang="en-US" sz="1216" dirty="0"/>
          </a:p>
        </p:txBody>
      </p:sp>
      <p:sp>
        <p:nvSpPr>
          <p:cNvPr id="12" name="Text 10"/>
          <p:cNvSpPr txBox="1"/>
          <p:nvPr/>
        </p:nvSpPr>
        <p:spPr>
          <a:xfrm>
            <a:off x="1636685" y="3784244"/>
            <a:ext cx="154442"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03</a:t>
            </a:r>
            <a:endParaRPr lang="en-US" sz="789" dirty="0"/>
          </a:p>
        </p:txBody>
      </p:sp>
      <p:sp>
        <p:nvSpPr>
          <p:cNvPr id="13" name="Text 11"/>
          <p:cNvSpPr txBox="1"/>
          <p:nvPr/>
        </p:nvSpPr>
        <p:spPr>
          <a:xfrm>
            <a:off x="1987448" y="3772723"/>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3 · Timings and quality are never mixed in one column.</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Every quality number is from a paper; every latency and parameter count is from our own measurements on stated hardware. The two are reported in separate tables and labelled.</a:t>
            </a:r>
            <a:endParaRPr lang="en-US" sz="1216" dirty="0"/>
          </a:p>
        </p:txBody>
      </p:sp>
      <p:sp>
        <p:nvSpPr>
          <p:cNvPr id="14" name="Text 12"/>
          <p:cNvSpPr txBox="1"/>
          <p:nvPr/>
        </p:nvSpPr>
        <p:spPr>
          <a:xfrm>
            <a:off x="1636685" y="4381256"/>
            <a:ext cx="159014"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04</a:t>
            </a:r>
            <a:endParaRPr lang="en-US" sz="789" dirty="0"/>
          </a:p>
        </p:txBody>
      </p:sp>
      <p:sp>
        <p:nvSpPr>
          <p:cNvPr id="15" name="Text 13"/>
          <p:cNvSpPr txBox="1"/>
          <p:nvPr/>
        </p:nvSpPr>
        <p:spPr>
          <a:xfrm>
            <a:off x="1987448" y="4369735"/>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4 · Device asymmetries are stated.</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The DnCNN runtime table compares CPU figures for classical methods against GPU figures for learned ones, and the paper itself flags that GPU times were copied from other papers. We reproduce the caveat every time we reproduce the numbers.</a:t>
            </a:r>
            <a:endParaRPr lang="en-US" sz="1216" dirty="0"/>
          </a:p>
        </p:txBody>
      </p:sp>
      <p:sp>
        <p:nvSpPr>
          <p:cNvPr id="16" name="Text 14"/>
          <p:cNvSpPr txBox="1"/>
          <p:nvPr/>
        </p:nvSpPr>
        <p:spPr>
          <a:xfrm>
            <a:off x="1636685" y="4978359"/>
            <a:ext cx="155631" cy="150327"/>
          </a:xfrm>
          <a:prstGeom prst="rect">
            <a:avLst/>
          </a:prstGeom>
          <a:noFill/>
          <a:ln/>
        </p:spPr>
        <p:txBody>
          <a:bodyPr wrap="none" lIns="0" tIns="0" rIns="0" bIns="0" rtlCol="0" anchor="t"/>
          <a:lstStyle/>
          <a:p>
            <a:pPr algn="l" indent="0" marL="0">
              <a:lnSpc>
                <a:spcPts val="1184"/>
              </a:lnSpc>
              <a:buNone/>
            </a:pPr>
            <a:r>
              <a:rPr kern="0" lang="en-US" sz="789" b="1" dirty="0">
                <a:solidFill>
                  <a:srgbClr val="8A847A"/>
                </a:solidFill>
                <a:latin typeface="Cambria" pitchFamily="34" charset="0"/>
                <a:ea typeface="Cambria" pitchFamily="34" charset="-122"/>
                <a:cs typeface="Cambria" pitchFamily="34" charset="-120"/>
              </a:rPr>
              <a:t>05</a:t>
            </a:r>
            <a:endParaRPr lang="en-US" sz="789" dirty="0"/>
          </a:p>
        </p:txBody>
      </p:sp>
      <p:sp>
        <p:nvSpPr>
          <p:cNvPr id="17" name="Text 15"/>
          <p:cNvSpPr txBox="1"/>
          <p:nvPr/>
        </p:nvSpPr>
        <p:spPr>
          <a:xfrm>
            <a:off x="1987448" y="4966838"/>
            <a:ext cx="9658167" cy="463418"/>
          </a:xfrm>
          <a:prstGeom prst="rect">
            <a:avLst/>
          </a:prstGeom>
          <a:noFill/>
          <a:ln/>
        </p:spPr>
        <p:txBody>
          <a:bodyPr wrap="square" lIns="0" tIns="0" rIns="0" bIns="0" rtlCol="0" anchor="t"/>
          <a:lstStyle/>
          <a:p>
            <a:pPr algn="l" indent="0" marL="0">
              <a:lnSpc>
                <a:spcPts val="1825"/>
              </a:lnSpc>
              <a:buNone/>
            </a:pPr>
            <a:r>
              <a:rPr kern="0" lang="en-US" sz="1216" b="1" dirty="0">
                <a:solidFill>
                  <a:srgbClr val="14120F"/>
                </a:solidFill>
                <a:latin typeface="Calibri" pitchFamily="34" charset="0"/>
                <a:ea typeface="Calibri" pitchFamily="34" charset="-122"/>
                <a:cs typeface="Calibri" pitchFamily="34" charset="-120"/>
              </a:rPr>
              <a:t>5 · Where a figure could not be verified, it is absent.</a:t>
            </a:r>
            <a:pPr algn="l" indent="0" marL="0">
              <a:lnSpc>
                <a:spcPts val="1825"/>
              </a:lnSpc>
              <a:buNone/>
            </a:pPr>
            <a:r>
              <a:rPr kern="0" lang="en-US" sz="1216" dirty="0">
                <a:solidFill>
                  <a:srgbClr val="33302B"/>
                </a:solidFill>
                <a:latin typeface="Calibri" pitchFamily="34" charset="0"/>
                <a:ea typeface="Calibri" pitchFamily="34" charset="-122"/>
                <a:cs typeface="Calibri" pitchFamily="34" charset="-120"/>
              </a:rPr>
              <a:t> We found one probable extraction error in a published table we could not confirm (MambaIR's CBSD68 σ=25 cell, which breaks the pattern of its own row). That cell is excluded from every chart in this deck rather than reproduced with a footnote.</a:t>
            </a:r>
            <a:endParaRPr lang="en-US" sz="1216" dirty="0"/>
          </a:p>
        </p:txBody>
      </p:sp>
      <p:sp>
        <p:nvSpPr>
          <p:cNvPr id="18" name="Text 16"/>
          <p:cNvSpPr txBox="1"/>
          <p:nvPr/>
        </p:nvSpPr>
        <p:spPr>
          <a:xfrm>
            <a:off x="9490009" y="6194511"/>
            <a:ext cx="2100468"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reading — methodology adopted for this deck</a:t>
            </a:r>
            <a:endParaRPr lang="en-US" sz="855" dirty="0"/>
          </a:p>
        </p:txBody>
      </p:sp>
      <p:sp>
        <p:nvSpPr>
          <p:cNvPr id="19" name="Shape 17"/>
          <p:cNvSpPr/>
          <p:nvPr/>
        </p:nvSpPr>
        <p:spPr>
          <a:xfrm>
            <a:off x="1636685" y="6515466"/>
            <a:ext cx="9953793" cy="8321"/>
          </a:xfrm>
          <a:prstGeom prst="rect">
            <a:avLst/>
          </a:prstGeom>
          <a:solidFill>
            <a:srgbClr val="C9C4B9"/>
          </a:solidFill>
          <a:ln/>
        </p:spPr>
      </p:sp>
      <p:sp>
        <p:nvSpPr>
          <p:cNvPr id="20" name="Shape 18"/>
          <p:cNvSpPr/>
          <p:nvPr/>
        </p:nvSpPr>
        <p:spPr>
          <a:xfrm>
            <a:off x="1636685" y="6473678"/>
            <a:ext cx="8321" cy="41788"/>
          </a:xfrm>
          <a:prstGeom prst="rect">
            <a:avLst/>
          </a:prstGeom>
          <a:solidFill>
            <a:srgbClr val="C9C4B9"/>
          </a:solidFill>
          <a:ln/>
        </p:spPr>
      </p:sp>
      <p:sp>
        <p:nvSpPr>
          <p:cNvPr id="21" name="Text 19"/>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2" name="Shape 20"/>
          <p:cNvSpPr/>
          <p:nvPr/>
        </p:nvSpPr>
        <p:spPr>
          <a:xfrm>
            <a:off x="5507706" y="6473678"/>
            <a:ext cx="8321" cy="41788"/>
          </a:xfrm>
          <a:prstGeom prst="rect">
            <a:avLst/>
          </a:prstGeom>
          <a:solidFill>
            <a:srgbClr val="C9C4B9"/>
          </a:solidFill>
          <a:ln/>
        </p:spPr>
      </p:sp>
      <p:sp>
        <p:nvSpPr>
          <p:cNvPr id="23" name="Text 21"/>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4" name="Shape 22"/>
          <p:cNvSpPr/>
          <p:nvPr/>
        </p:nvSpPr>
        <p:spPr>
          <a:xfrm>
            <a:off x="7166884" y="6473678"/>
            <a:ext cx="8321" cy="41788"/>
          </a:xfrm>
          <a:prstGeom prst="rect">
            <a:avLst/>
          </a:prstGeom>
          <a:solidFill>
            <a:srgbClr val="C9C4B9"/>
          </a:solidFill>
          <a:ln/>
        </p:spPr>
      </p:sp>
      <p:sp>
        <p:nvSpPr>
          <p:cNvPr id="25" name="Text 23"/>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6" name="Shape 24"/>
          <p:cNvSpPr/>
          <p:nvPr/>
        </p:nvSpPr>
        <p:spPr>
          <a:xfrm>
            <a:off x="9931024" y="6473678"/>
            <a:ext cx="8321" cy="41788"/>
          </a:xfrm>
          <a:prstGeom prst="rect">
            <a:avLst/>
          </a:prstGeom>
          <a:solidFill>
            <a:srgbClr val="C9C4B9"/>
          </a:solidFill>
          <a:ln/>
        </p:spPr>
      </p:sp>
      <p:sp>
        <p:nvSpPr>
          <p:cNvPr id="27" name="Text 25"/>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8" name="Shape 26"/>
          <p:cNvSpPr/>
          <p:nvPr/>
        </p:nvSpPr>
        <p:spPr>
          <a:xfrm>
            <a:off x="11590477" y="6473678"/>
            <a:ext cx="8321" cy="41788"/>
          </a:xfrm>
          <a:prstGeom prst="rect">
            <a:avLst/>
          </a:prstGeom>
          <a:solidFill>
            <a:srgbClr val="C9C4B9"/>
          </a:solidFill>
          <a:ln/>
        </p:spPr>
      </p:sp>
      <p:sp>
        <p:nvSpPr>
          <p:cNvPr id="29" name="Text 27"/>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36865"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81</a:t>
            </a:r>
            <a:endParaRPr lang="en-US" sz="2400" dirty="0"/>
          </a:p>
        </p:txBody>
      </p:sp>
      <p:sp>
        <p:nvSpPr>
          <p:cNvPr id="3" name="Shape 1"/>
          <p:cNvSpPr/>
          <p:nvPr/>
        </p:nvSpPr>
        <p:spPr>
          <a:xfrm>
            <a:off x="1357701" y="408737"/>
            <a:ext cx="180137" cy="20757"/>
          </a:xfrm>
          <a:prstGeom prst="rect">
            <a:avLst/>
          </a:prstGeom>
          <a:solidFill>
            <a:srgbClr val="14343F"/>
          </a:solidFill>
          <a:ln/>
        </p:spPr>
      </p:sp>
      <p:sp>
        <p:nvSpPr>
          <p:cNvPr id="4" name="Text 2"/>
          <p:cNvSpPr txBox="1"/>
          <p:nvPr/>
        </p:nvSpPr>
        <p:spPr>
          <a:xfrm>
            <a:off x="1620957" y="362011"/>
            <a:ext cx="989381"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14343F"/>
                </a:solidFill>
                <a:latin typeface="Calibri" pitchFamily="34" charset="0"/>
                <a:ea typeface="Calibri" pitchFamily="34" charset="-122"/>
                <a:cs typeface="Calibri" pitchFamily="34" charset="-120"/>
              </a:rPr>
              <a:t>THE LONG LADDER</a:t>
            </a:r>
            <a:endParaRPr lang="en-US" sz="736" dirty="0"/>
          </a:p>
        </p:txBody>
      </p:sp>
      <p:sp>
        <p:nvSpPr>
          <p:cNvPr id="5" name="Text 3"/>
          <p:cNvSpPr txBox="1"/>
          <p:nvPr/>
        </p:nvSpPr>
        <p:spPr>
          <a:xfrm>
            <a:off x="1357701" y="572597"/>
            <a:ext cx="7213153"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BSD68 grayscale — eighteen years, one benchmark</a:t>
            </a:r>
            <a:endParaRPr lang="en-US" sz="2509" dirty="0"/>
          </a:p>
        </p:txBody>
      </p:sp>
      <p:sp>
        <p:nvSpPr>
          <p:cNvPr id="6" name="Text 4"/>
          <p:cNvSpPr txBox="1"/>
          <p:nvPr/>
        </p:nvSpPr>
        <p:spPr>
          <a:xfrm>
            <a:off x="1357701" y="1029889"/>
            <a:ext cx="5371734" cy="623438"/>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Average PSNR in dB. The 2007–2017 block is from DnCNN Table II; the 2017–2022 block is from Restormer Table 4, which re-evaluated DnCNN under its own protocol. The two DnCNN rows differ slightly for exactly that reason, and that difference is itself worth knowing.</a:t>
            </a:r>
            <a:endParaRPr lang="en-US" sz="1091"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1357701" y="1847271"/>
          <a:ext cx="9144000" cy="914400"/>
        </p:xfrm>
        <a:graphic>
          <a:graphicData uri="http://schemas.openxmlformats.org/drawingml/2006/table">
            <a:tbl>
              <a:tblPr/>
              <a:tblGrid>
                <a:gridCol w="2659990"/>
                <a:gridCol w="890168"/>
                <a:gridCol w="1790670"/>
                <a:gridCol w="980145"/>
                <a:gridCol w="980145"/>
                <a:gridCol w="983620"/>
                <a:gridCol w="2050451"/>
              </a:tblGrid>
              <a:tr h="228600">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YEAR</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ERA</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r"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Σ = 15</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r"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Σ = 25</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r"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Σ = 50</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r>
              <a:tr h="287487">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2007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Classical</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31.07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28.57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25.62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DnCNN T2</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EPLL</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2011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Classical</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31.21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28.68</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25.67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DnCNN T2</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MLP</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2012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Early learning</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28.96</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26.03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DnCNN T2</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WNNM</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2014</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Classical peak</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31.37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28.83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25.87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DnCNN T2</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TNRD</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2016</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Bridge</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31.42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28.92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25.97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DnCNN T2</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DnCNN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2017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Deep CNN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31.73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29.23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26.23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DnCNN T2</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DnCNN (re-evaluated)</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2017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Deep CNN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31.62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29.16</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26.23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Restormer T4</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FFDNet</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2018</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Deep CNN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31.63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29.19</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26.29</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Restormer T4</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DRUNet</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2021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Deep CNN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31.91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29.48</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26.59</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Restormer T4</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SwinIR</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2021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Transformer</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31.97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29.50</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r" indent="0" marL="0">
                        <a:lnSpc>
                          <a:spcPts val="1098"/>
                        </a:lnSpc>
                        <a:buNone/>
                      </a:pPr>
                      <a:r>
                        <a:rPr kern="0" lang="en-US" sz="900" dirty="0">
                          <a:solidFill>
                            <a:srgbClr val="33302B"/>
                          </a:solidFill>
                          <a:latin typeface="Calibri" pitchFamily="34" charset="0"/>
                          <a:ea typeface="Calibri" pitchFamily="34" charset="-122"/>
                          <a:cs typeface="Calibri" pitchFamily="34" charset="-120"/>
                        </a:rPr>
                        <a:t>26.58</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Restormer T4</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Restormer</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2022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Transformer</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31.96</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29.52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26.62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098"/>
                        </a:lnSpc>
                        <a:buNone/>
                      </a:pPr>
                      <a:r>
                        <a:rPr kern="0" lang="en-US" sz="900" b="1" dirty="0">
                          <a:solidFill>
                            <a:srgbClr val="14120F"/>
                          </a:solidFill>
                          <a:latin typeface="Calibri" pitchFamily="34" charset="0"/>
                          <a:ea typeface="Calibri" pitchFamily="34" charset="-122"/>
                          <a:cs typeface="Calibri" pitchFamily="34" charset="-120"/>
                        </a:rPr>
                        <a:t>Restormer T4</a:t>
                      </a:r>
                      <a:pPr algn="l" indent="0" marL="0">
                        <a:lnSpc>
                          <a:spcPts val="1098"/>
                        </a:lnSpc>
                        <a:buNone/>
                      </a:pPr>
                      <a:r>
                        <a:rPr kern="0" lang="en-US" sz="666"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solidFill>
                      <a:srgbClr val="E8E9E7"/>
                    </a:solidFill>
                  </a:tcPr>
                </a:tc>
              </a:tr>
            </a:tbl>
          </a:graphicData>
        </a:graphic>
      </p:graphicFrame>
      <p:sp>
        <p:nvSpPr>
          <p:cNvPr id="8" name="Shape 5"/>
          <p:cNvSpPr/>
          <p:nvPr/>
        </p:nvSpPr>
        <p:spPr>
          <a:xfrm>
            <a:off x="1357701" y="5400904"/>
            <a:ext cx="10335189" cy="13899"/>
          </a:xfrm>
          <a:prstGeom prst="rect">
            <a:avLst/>
          </a:prstGeom>
          <a:solidFill>
            <a:srgbClr val="14343F"/>
          </a:solidFill>
          <a:ln/>
        </p:spPr>
      </p:sp>
      <p:sp>
        <p:nvSpPr>
          <p:cNvPr id="9" name="Text 6"/>
          <p:cNvSpPr txBox="1"/>
          <p:nvPr/>
        </p:nvSpPr>
        <p:spPr>
          <a:xfrm>
            <a:off x="1357701" y="5523799"/>
            <a:ext cx="10390419" cy="529895"/>
          </a:xfrm>
          <a:prstGeom prst="rect">
            <a:avLst/>
          </a:prstGeom>
          <a:noFill/>
          <a:ln/>
        </p:spPr>
        <p:txBody>
          <a:bodyPr wrap="square" lIns="0" tIns="0" rIns="0" bIns="0" rtlCol="0" anchor="t"/>
          <a:lstStyle/>
          <a:p>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Read the σ = 25 column as a single story.</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2007 → 2014, seven years of hand-designed priors: </a:t>
            </a:r>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+0.26 dB</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2014 → 2017, one architectural idea: </a:t>
            </a:r>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+0.40 dB</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2017 → 2022, five years and an entire Transformer revolution: </a:t>
            </a:r>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+0.36 dB</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On ordinary natural images the field is deep into diminishing returns, and has been since roughly 2018. </a:t>
            </a:r>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This table is the argument that BSD68 has stopped being informative</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 which is why the next two slides exist.</a:t>
            </a:r>
            <a:endParaRPr lang="en-US" sz="927" dirty="0"/>
          </a:p>
        </p:txBody>
      </p:sp>
      <p:sp>
        <p:nvSpPr>
          <p:cNvPr id="10" name="Text 7"/>
          <p:cNvSpPr txBox="1"/>
          <p:nvPr/>
        </p:nvSpPr>
        <p:spPr>
          <a:xfrm>
            <a:off x="8092623" y="6317955"/>
            <a:ext cx="3600267" cy="109819"/>
          </a:xfrm>
          <a:prstGeom prst="rect">
            <a:avLst/>
          </a:prstGeom>
          <a:noFill/>
          <a:ln/>
        </p:spPr>
        <p:txBody>
          <a:bodyPr wrap="none" lIns="0" tIns="0" rIns="0" bIns="0" rtlCol="0" anchor="t"/>
          <a:lstStyle/>
          <a:p>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[1]</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DnCNN17 Table II 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[2]</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Restormer22 Table 4 — source column names the origin of every row</a:t>
            </a:r>
            <a:endParaRPr lang="en-US" sz="525" dirty="0"/>
          </a:p>
        </p:txBody>
      </p:sp>
      <p:sp>
        <p:nvSpPr>
          <p:cNvPr id="11" name="Shape 8"/>
          <p:cNvSpPr/>
          <p:nvPr/>
        </p:nvSpPr>
        <p:spPr>
          <a:xfrm>
            <a:off x="1357701" y="6573804"/>
            <a:ext cx="10335189" cy="6949"/>
          </a:xfrm>
          <a:prstGeom prst="rect">
            <a:avLst/>
          </a:prstGeom>
          <a:solidFill>
            <a:srgbClr val="C9C4B9"/>
          </a:solidFill>
          <a:ln/>
        </p:spPr>
      </p:sp>
      <p:sp>
        <p:nvSpPr>
          <p:cNvPr id="12" name="Shape 9"/>
          <p:cNvSpPr/>
          <p:nvPr/>
        </p:nvSpPr>
        <p:spPr>
          <a:xfrm>
            <a:off x="1357701" y="6539149"/>
            <a:ext cx="6949" cy="34656"/>
          </a:xfrm>
          <a:prstGeom prst="rect">
            <a:avLst/>
          </a:prstGeom>
          <a:solidFill>
            <a:srgbClr val="C9C4B9"/>
          </a:solidFill>
          <a:ln/>
        </p:spPr>
      </p:sp>
      <p:sp>
        <p:nvSpPr>
          <p:cNvPr id="13" name="Text 10"/>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14" name="Shape 11"/>
          <p:cNvSpPr/>
          <p:nvPr/>
        </p:nvSpPr>
        <p:spPr>
          <a:xfrm>
            <a:off x="5377038" y="6539149"/>
            <a:ext cx="6949" cy="34656"/>
          </a:xfrm>
          <a:prstGeom prst="rect">
            <a:avLst/>
          </a:prstGeom>
          <a:solidFill>
            <a:srgbClr val="C9C4B9"/>
          </a:solidFill>
          <a:ln/>
        </p:spPr>
      </p:sp>
      <p:sp>
        <p:nvSpPr>
          <p:cNvPr id="15" name="Text 12"/>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16" name="Shape 13"/>
          <p:cNvSpPr/>
          <p:nvPr/>
        </p:nvSpPr>
        <p:spPr>
          <a:xfrm>
            <a:off x="7099950" y="6539149"/>
            <a:ext cx="6949" cy="34656"/>
          </a:xfrm>
          <a:prstGeom prst="rect">
            <a:avLst/>
          </a:prstGeom>
          <a:solidFill>
            <a:srgbClr val="C9C4B9"/>
          </a:solidFill>
          <a:ln/>
        </p:spPr>
      </p:sp>
      <p:sp>
        <p:nvSpPr>
          <p:cNvPr id="17" name="Text 14"/>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18" name="Shape 15"/>
          <p:cNvSpPr/>
          <p:nvPr/>
        </p:nvSpPr>
        <p:spPr>
          <a:xfrm>
            <a:off x="9970069" y="6539149"/>
            <a:ext cx="6949" cy="34656"/>
          </a:xfrm>
          <a:prstGeom prst="rect">
            <a:avLst/>
          </a:prstGeom>
          <a:solidFill>
            <a:srgbClr val="C9C4B9"/>
          </a:solidFill>
          <a:ln/>
        </p:spPr>
      </p:sp>
      <p:sp>
        <p:nvSpPr>
          <p:cNvPr id="19" name="Text 16"/>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20" name="Shape 17"/>
          <p:cNvSpPr/>
          <p:nvPr/>
        </p:nvSpPr>
        <p:spPr>
          <a:xfrm>
            <a:off x="11692981" y="6539149"/>
            <a:ext cx="6949" cy="34656"/>
          </a:xfrm>
          <a:prstGeom prst="rect">
            <a:avLst/>
          </a:prstGeom>
          <a:solidFill>
            <a:srgbClr val="C9C4B9"/>
          </a:solidFill>
          <a:ln/>
        </p:spPr>
      </p:sp>
      <p:sp>
        <p:nvSpPr>
          <p:cNvPr id="21" name="Text 18"/>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55610"/>
            <a:ext cx="396850"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82</a:t>
            </a:r>
            <a:endParaRPr lang="en-US" sz="2708" dirty="0"/>
          </a:p>
        </p:txBody>
      </p:sp>
      <p:sp>
        <p:nvSpPr>
          <p:cNvPr id="3" name="Text 1"/>
          <p:cNvSpPr txBox="1"/>
          <p:nvPr/>
        </p:nvSpPr>
        <p:spPr>
          <a:xfrm rot="16200000">
            <a:off x="-360731" y="3436772"/>
            <a:ext cx="937809" cy="109454"/>
          </a:xfrm>
          <a:prstGeom prst="rect">
            <a:avLst/>
          </a:prstGeom>
          <a:noFill/>
          <a:ln/>
        </p:spPr>
        <p:txBody>
          <a:bodyPr wrap="none" lIns="0" tIns="0" rIns="0" bIns="0" rtlCol="0" anchor="ctr"/>
          <a:lstStyle/>
          <a:p>
            <a:pPr algn="ctr" indent="0" marL="0">
              <a:lnSpc>
                <a:spcPts val="901"/>
              </a:lnSpc>
              <a:buNone/>
            </a:pPr>
            <a:r>
              <a:rPr lang="en-US" sz="738" b="1" spc="185" kern="0" dirty="0">
                <a:solidFill>
                  <a:srgbClr val="C0451A"/>
                </a:solidFill>
                <a:latin typeface="Calibri" pitchFamily="34" charset="0"/>
                <a:ea typeface="Calibri" pitchFamily="34" charset="-122"/>
                <a:cs typeface="Calibri" pitchFamily="34" charset="-120"/>
              </a:rPr>
              <a:t>ARCHITECTURE</a:t>
            </a:r>
            <a:endParaRPr lang="en-US" sz="738" dirty="0"/>
          </a:p>
        </p:txBody>
      </p:sp>
      <p:sp>
        <p:nvSpPr>
          <p:cNvPr id="4" name="Shape 2"/>
          <p:cNvSpPr/>
          <p:nvPr/>
        </p:nvSpPr>
        <p:spPr>
          <a:xfrm>
            <a:off x="1531803" y="288768"/>
            <a:ext cx="203180" cy="23409"/>
          </a:xfrm>
          <a:prstGeom prst="rect">
            <a:avLst/>
          </a:prstGeom>
          <a:solidFill>
            <a:srgbClr val="C0451A"/>
          </a:solidFill>
          <a:ln/>
        </p:spPr>
      </p:sp>
      <p:sp>
        <p:nvSpPr>
          <p:cNvPr id="5" name="Text 3"/>
          <p:cNvSpPr txBox="1"/>
          <p:nvPr/>
        </p:nvSpPr>
        <p:spPr>
          <a:xfrm>
            <a:off x="1828800" y="236190"/>
            <a:ext cx="178326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WHERE THE GAP ACTUALLY IS</a:t>
            </a:r>
            <a:endParaRPr lang="en-US" sz="831" dirty="0"/>
          </a:p>
        </p:txBody>
      </p:sp>
      <p:sp>
        <p:nvSpPr>
          <p:cNvPr id="6" name="Text 4"/>
          <p:cNvSpPr txBox="1"/>
          <p:nvPr/>
        </p:nvSpPr>
        <p:spPr>
          <a:xfrm>
            <a:off x="1531803" y="536021"/>
            <a:ext cx="8212135"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Urban100 — the same five years, five times the gain</a:t>
            </a:r>
            <a:endParaRPr lang="en-US" sz="2831" dirty="0"/>
          </a:p>
        </p:txBody>
      </p:sp>
      <p:sp>
        <p:nvSpPr>
          <p:cNvPr id="7" name="Text 5"/>
          <p:cNvSpPr txBox="1"/>
          <p:nvPr/>
        </p:nvSpPr>
        <p:spPr>
          <a:xfrm>
            <a:off x="1531803" y="1172444"/>
            <a:ext cx="4851532" cy="562722"/>
          </a:xfrm>
          <a:prstGeom prst="rect">
            <a:avLst/>
          </a:prstGeom>
          <a:noFill/>
          <a:ln/>
        </p:spPr>
        <p:txBody>
          <a:bodyPr wrap="square" lIns="0" tIns="0" rIns="0" bIns="0" rtlCol="0" anchor="t"/>
          <a:lstStyle/>
          <a:p>
            <a:pPr algn="l" indent="0" marL="0">
              <a:lnSpc>
                <a:spcPts val="1477"/>
              </a:lnSpc>
              <a:buNone/>
            </a:pPr>
            <a:r>
              <a:rPr kern="0" lang="en-US" sz="985" dirty="0">
                <a:solidFill>
                  <a:srgbClr val="5A554D"/>
                </a:solidFill>
                <a:latin typeface="Calibri" pitchFamily="34" charset="0"/>
                <a:ea typeface="Calibri" pitchFamily="34" charset="-122"/>
                <a:cs typeface="Calibri" pitchFamily="34" charset="-120"/>
              </a:rPr>
              <a:t>Identical models, identical table, identical noise level. The only thing that changes is the dataset — from ordinary natural images to photographs of buildings, where structure repeats across hundreds of pixels.</a:t>
            </a:r>
            <a:endParaRPr lang="en-US" sz="985" dirty="0"/>
          </a:p>
        </p:txBody>
      </p:sp>
      <p:sp>
        <p:nvSpPr>
          <p:cNvPr id="8" name="Shape 6"/>
          <p:cNvSpPr/>
          <p:nvPr/>
        </p:nvSpPr>
        <p:spPr>
          <a:xfrm>
            <a:off x="1531803" y="2082272"/>
            <a:ext cx="10097262" cy="15636"/>
          </a:xfrm>
          <a:prstGeom prst="rect">
            <a:avLst/>
          </a:prstGeom>
          <a:solidFill>
            <a:srgbClr val="14120F"/>
          </a:solidFill>
          <a:ln/>
        </p:spPr>
      </p:sp>
      <p:sp>
        <p:nvSpPr>
          <p:cNvPr id="9" name="Text 7"/>
          <p:cNvSpPr txBox="1"/>
          <p:nvPr/>
        </p:nvSpPr>
        <p:spPr>
          <a:xfrm>
            <a:off x="1531803" y="2254179"/>
            <a:ext cx="1733337" cy="445496"/>
          </a:xfrm>
          <a:prstGeom prst="rect">
            <a:avLst/>
          </a:prstGeom>
          <a:noFill/>
          <a:ln/>
        </p:spPr>
        <p:txBody>
          <a:bodyPr wrap="none" lIns="0" tIns="0" rIns="0" bIns="0" rtlCol="0" anchor="t"/>
          <a:lstStyle/>
          <a:p>
            <a:pPr algn="l" indent="0" marL="0">
              <a:lnSpc>
                <a:spcPts val="3508"/>
              </a:lnSpc>
              <a:buNone/>
            </a:pPr>
            <a:r>
              <a:rPr lang="en-US" sz="3692" b="1" spc="-123" kern="0" dirty="0">
                <a:solidFill>
                  <a:srgbClr val="C0451A"/>
                </a:solidFill>
                <a:latin typeface="Cambria" pitchFamily="34" charset="0"/>
                <a:ea typeface="Cambria" pitchFamily="34" charset="-122"/>
                <a:cs typeface="Cambria" pitchFamily="34" charset="-120"/>
              </a:rPr>
              <a:t>+0.39 dB</a:t>
            </a:r>
            <a:endParaRPr lang="en-US" sz="3692" dirty="0"/>
          </a:p>
        </p:txBody>
      </p:sp>
      <p:sp>
        <p:nvSpPr>
          <p:cNvPr id="10" name="Text 8"/>
          <p:cNvSpPr txBox="1"/>
          <p:nvPr/>
        </p:nvSpPr>
        <p:spPr>
          <a:xfrm>
            <a:off x="1531803" y="2815895"/>
            <a:ext cx="2053834" cy="119146"/>
          </a:xfrm>
          <a:prstGeom prst="rect">
            <a:avLst/>
          </a:prstGeom>
          <a:noFill/>
          <a:ln/>
        </p:spPr>
        <p:txBody>
          <a:bodyPr wrap="none" lIns="0" tIns="0" rIns="0" bIns="0" rtlCol="0" anchor="t"/>
          <a:lstStyle/>
          <a:p>
            <a:pPr algn="l" indent="0" marL="0">
              <a:lnSpc>
                <a:spcPts val="938"/>
              </a:lnSpc>
              <a:buNone/>
            </a:pPr>
            <a:r>
              <a:rPr lang="en-US" sz="769" b="1" spc="98" kern="0" dirty="0">
                <a:solidFill>
                  <a:srgbClr val="14120F"/>
                </a:solidFill>
                <a:latin typeface="Calibri" pitchFamily="34" charset="0"/>
                <a:ea typeface="Calibri" pitchFamily="34" charset="-122"/>
                <a:cs typeface="Calibri" pitchFamily="34" charset="-120"/>
              </a:rPr>
              <a:t>BSD68, Σ = 50 · DNCNN → RESTORMER</a:t>
            </a:r>
            <a:endParaRPr lang="en-US" sz="769" dirty="0"/>
          </a:p>
        </p:txBody>
      </p:sp>
      <p:sp>
        <p:nvSpPr>
          <p:cNvPr id="11" name="Text 9"/>
          <p:cNvSpPr txBox="1"/>
          <p:nvPr/>
        </p:nvSpPr>
        <p:spPr>
          <a:xfrm>
            <a:off x="1531803" y="3007096"/>
            <a:ext cx="3159343" cy="581833"/>
          </a:xfrm>
          <a:prstGeom prst="rect">
            <a:avLst/>
          </a:prstGeom>
          <a:noFill/>
          <a:ln/>
        </p:spPr>
        <p:txBody>
          <a:bodyPr wrap="square" lIns="0" tIns="0" rIns="0" bIns="0" rtlCol="0" anchor="t"/>
          <a:lstStyle/>
          <a:p>
            <a:pPr algn="l" indent="0" marL="0">
              <a:lnSpc>
                <a:spcPts val="1497"/>
              </a:lnSpc>
              <a:buNone/>
            </a:pPr>
            <a:r>
              <a:rPr kern="0" lang="en-US" sz="985" dirty="0">
                <a:solidFill>
                  <a:srgbClr val="33302B"/>
                </a:solidFill>
                <a:latin typeface="Calibri" pitchFamily="34" charset="0"/>
                <a:ea typeface="Calibri" pitchFamily="34" charset="-122"/>
                <a:cs typeface="Calibri" pitchFamily="34" charset="-120"/>
              </a:rPr>
              <a:t>26.23 → 26.62. Ordinary natural images, little long-range repetition. Five years of architectural work buys almost nothing.</a:t>
            </a:r>
            <a:pPr algn="l" indent="0" marL="0">
              <a:lnSpc>
                <a:spcPts val="1497"/>
              </a:lnSpc>
              <a:buNone/>
            </a:pPr>
            <a:r>
              <a:rPr kern="0" lang="en-US" sz="729" b="1" dirty="0">
                <a:solidFill>
                  <a:srgbClr val="C0451A"/>
                </a:solidFill>
                <a:latin typeface="Calibri" pitchFamily="34" charset="0"/>
                <a:ea typeface="Calibri" pitchFamily="34" charset="-122"/>
                <a:cs typeface="Calibri" pitchFamily="34" charset="-120"/>
              </a:rPr>
              <a:t>[1]</a:t>
            </a:r>
            <a:endParaRPr lang="en-US" sz="985" dirty="0"/>
          </a:p>
        </p:txBody>
      </p:sp>
      <p:sp>
        <p:nvSpPr>
          <p:cNvPr id="12" name="Shape 10"/>
          <p:cNvSpPr/>
          <p:nvPr/>
        </p:nvSpPr>
        <p:spPr>
          <a:xfrm>
            <a:off x="4897435" y="2254179"/>
            <a:ext cx="7772" cy="1452616"/>
          </a:xfrm>
          <a:prstGeom prst="rect">
            <a:avLst/>
          </a:prstGeom>
          <a:solidFill>
            <a:srgbClr val="DFDBD2"/>
          </a:solidFill>
          <a:ln/>
        </p:spPr>
      </p:sp>
      <p:sp>
        <p:nvSpPr>
          <p:cNvPr id="13" name="Text 11"/>
          <p:cNvSpPr txBox="1"/>
          <p:nvPr/>
        </p:nvSpPr>
        <p:spPr>
          <a:xfrm>
            <a:off x="5139751" y="2254179"/>
            <a:ext cx="1720169" cy="445496"/>
          </a:xfrm>
          <a:prstGeom prst="rect">
            <a:avLst/>
          </a:prstGeom>
          <a:noFill/>
          <a:ln/>
        </p:spPr>
        <p:txBody>
          <a:bodyPr wrap="none" lIns="0" tIns="0" rIns="0" bIns="0" rtlCol="0" anchor="t"/>
          <a:lstStyle/>
          <a:p>
            <a:pPr algn="l" indent="0" marL="0">
              <a:lnSpc>
                <a:spcPts val="3508"/>
              </a:lnSpc>
              <a:buNone/>
            </a:pPr>
            <a:r>
              <a:rPr lang="en-US" sz="3692" b="1" spc="-123" kern="0" dirty="0">
                <a:solidFill>
                  <a:srgbClr val="C0451A"/>
                </a:solidFill>
                <a:latin typeface="Cambria" pitchFamily="34" charset="0"/>
                <a:ea typeface="Cambria" pitchFamily="34" charset="-122"/>
                <a:cs typeface="Cambria" pitchFamily="34" charset="-120"/>
              </a:rPr>
              <a:t>+1.98 dB</a:t>
            </a:r>
            <a:endParaRPr lang="en-US" sz="3692" dirty="0"/>
          </a:p>
        </p:txBody>
      </p:sp>
      <p:sp>
        <p:nvSpPr>
          <p:cNvPr id="14" name="Text 12"/>
          <p:cNvSpPr txBox="1"/>
          <p:nvPr/>
        </p:nvSpPr>
        <p:spPr>
          <a:xfrm>
            <a:off x="5139751" y="2815895"/>
            <a:ext cx="2284171" cy="119146"/>
          </a:xfrm>
          <a:prstGeom prst="rect">
            <a:avLst/>
          </a:prstGeom>
          <a:noFill/>
          <a:ln/>
        </p:spPr>
        <p:txBody>
          <a:bodyPr wrap="none" lIns="0" tIns="0" rIns="0" bIns="0" rtlCol="0" anchor="t"/>
          <a:lstStyle/>
          <a:p>
            <a:pPr algn="l" indent="0" marL="0">
              <a:lnSpc>
                <a:spcPts val="938"/>
              </a:lnSpc>
              <a:buNone/>
            </a:pPr>
            <a:r>
              <a:rPr lang="en-US" sz="769" b="1" spc="98" kern="0" dirty="0">
                <a:solidFill>
                  <a:srgbClr val="14120F"/>
                </a:solidFill>
                <a:latin typeface="Calibri" pitchFamily="34" charset="0"/>
                <a:ea typeface="Calibri" pitchFamily="34" charset="-122"/>
                <a:cs typeface="Calibri" pitchFamily="34" charset="-120"/>
              </a:rPr>
              <a:t>URBAN100, Σ = 50 · DNCNN → RESTORMER</a:t>
            </a:r>
            <a:endParaRPr lang="en-US" sz="769" dirty="0"/>
          </a:p>
        </p:txBody>
      </p:sp>
      <p:sp>
        <p:nvSpPr>
          <p:cNvPr id="15" name="Text 13"/>
          <p:cNvSpPr txBox="1"/>
          <p:nvPr/>
        </p:nvSpPr>
        <p:spPr>
          <a:xfrm>
            <a:off x="5139751" y="3007096"/>
            <a:ext cx="2916204" cy="380116"/>
          </a:xfrm>
          <a:prstGeom prst="rect">
            <a:avLst/>
          </a:prstGeom>
          <a:noFill/>
          <a:ln/>
        </p:spPr>
        <p:txBody>
          <a:bodyPr wrap="square" lIns="0" tIns="0" rIns="0" bIns="0" rtlCol="0" anchor="t"/>
          <a:lstStyle/>
          <a:p>
            <a:pPr algn="l" indent="0" marL="0">
              <a:lnSpc>
                <a:spcPts val="1497"/>
              </a:lnSpc>
              <a:buNone/>
            </a:pPr>
            <a:r>
              <a:rPr kern="0" lang="en-US" sz="985" dirty="0">
                <a:solidFill>
                  <a:srgbClr val="33302B"/>
                </a:solidFill>
                <a:latin typeface="Calibri" pitchFamily="34" charset="0"/>
                <a:ea typeface="Calibri" pitchFamily="34" charset="-122"/>
                <a:cs typeface="Calibri" pitchFamily="34" charset="-120"/>
              </a:rPr>
              <a:t>26.35 → 28.33. Highly repetitive urban structure. The same five years buy </a:t>
            </a:r>
            <a:pPr algn="l" indent="0" marL="0">
              <a:lnSpc>
                <a:spcPts val="1497"/>
              </a:lnSpc>
              <a:buNone/>
            </a:pPr>
            <a:r>
              <a:rPr kern="0" lang="en-US" sz="985" b="1" dirty="0">
                <a:solidFill>
                  <a:srgbClr val="33302B"/>
                </a:solidFill>
                <a:latin typeface="Calibri" pitchFamily="34" charset="0"/>
                <a:ea typeface="Calibri" pitchFamily="34" charset="-122"/>
                <a:cs typeface="Calibri" pitchFamily="34" charset="-120"/>
              </a:rPr>
              <a:t>five times as much</a:t>
            </a:r>
            <a:pPr algn="l" indent="0" marL="0">
              <a:lnSpc>
                <a:spcPts val="1497"/>
              </a:lnSpc>
              <a:buNone/>
            </a:pPr>
            <a:r>
              <a:rPr kern="0" lang="en-US" sz="985" dirty="0">
                <a:solidFill>
                  <a:srgbClr val="33302B"/>
                </a:solidFill>
                <a:latin typeface="Calibri" pitchFamily="34" charset="0"/>
                <a:ea typeface="Calibri" pitchFamily="34" charset="-122"/>
                <a:cs typeface="Calibri" pitchFamily="34" charset="-120"/>
              </a:rPr>
              <a:t>.</a:t>
            </a:r>
            <a:pPr algn="l" indent="0" marL="0">
              <a:lnSpc>
                <a:spcPts val="1497"/>
              </a:lnSpc>
              <a:buNone/>
            </a:pPr>
            <a:r>
              <a:rPr kern="0" lang="en-US" sz="729" b="1" dirty="0">
                <a:solidFill>
                  <a:srgbClr val="C0451A"/>
                </a:solidFill>
                <a:latin typeface="Calibri" pitchFamily="34" charset="0"/>
                <a:ea typeface="Calibri" pitchFamily="34" charset="-122"/>
                <a:cs typeface="Calibri" pitchFamily="34" charset="-120"/>
              </a:rPr>
              <a:t>[1]</a:t>
            </a:r>
            <a:endParaRPr lang="en-US" sz="985" dirty="0"/>
          </a:p>
        </p:txBody>
      </p:sp>
      <p:sp>
        <p:nvSpPr>
          <p:cNvPr id="16" name="Shape 14"/>
          <p:cNvSpPr/>
          <p:nvPr/>
        </p:nvSpPr>
        <p:spPr>
          <a:xfrm>
            <a:off x="8263250" y="2254179"/>
            <a:ext cx="7772" cy="1452616"/>
          </a:xfrm>
          <a:prstGeom prst="rect">
            <a:avLst/>
          </a:prstGeom>
          <a:solidFill>
            <a:srgbClr val="DFDBD2"/>
          </a:solidFill>
          <a:ln/>
        </p:spPr>
      </p:sp>
      <p:sp>
        <p:nvSpPr>
          <p:cNvPr id="17" name="Text 15"/>
          <p:cNvSpPr txBox="1"/>
          <p:nvPr/>
        </p:nvSpPr>
        <p:spPr>
          <a:xfrm>
            <a:off x="8505474" y="2254179"/>
            <a:ext cx="1689537" cy="445496"/>
          </a:xfrm>
          <a:prstGeom prst="rect">
            <a:avLst/>
          </a:prstGeom>
          <a:noFill/>
          <a:ln/>
        </p:spPr>
        <p:txBody>
          <a:bodyPr wrap="none" lIns="0" tIns="0" rIns="0" bIns="0" rtlCol="0" anchor="t"/>
          <a:lstStyle/>
          <a:p>
            <a:pPr algn="l" indent="0" marL="0">
              <a:lnSpc>
                <a:spcPts val="3508"/>
              </a:lnSpc>
              <a:buNone/>
            </a:pPr>
            <a:r>
              <a:rPr lang="en-US" sz="3692" b="1" spc="-123" kern="0" dirty="0">
                <a:solidFill>
                  <a:srgbClr val="C0451A"/>
                </a:solidFill>
                <a:latin typeface="Cambria" pitchFamily="34" charset="0"/>
                <a:ea typeface="Cambria" pitchFamily="34" charset="-122"/>
                <a:cs typeface="Cambria" pitchFamily="34" charset="-120"/>
              </a:rPr>
              <a:t>−0.71 dB</a:t>
            </a:r>
            <a:endParaRPr lang="en-US" sz="3692" dirty="0"/>
          </a:p>
        </p:txBody>
      </p:sp>
      <p:sp>
        <p:nvSpPr>
          <p:cNvPr id="18" name="Text 16"/>
          <p:cNvSpPr txBox="1"/>
          <p:nvPr/>
        </p:nvSpPr>
        <p:spPr>
          <a:xfrm>
            <a:off x="8505474" y="2815895"/>
            <a:ext cx="2252807" cy="119146"/>
          </a:xfrm>
          <a:prstGeom prst="rect">
            <a:avLst/>
          </a:prstGeom>
          <a:noFill/>
          <a:ln/>
        </p:spPr>
        <p:txBody>
          <a:bodyPr wrap="none" lIns="0" tIns="0" rIns="0" bIns="0" rtlCol="0" anchor="t"/>
          <a:lstStyle/>
          <a:p>
            <a:pPr algn="l" indent="0" marL="0">
              <a:lnSpc>
                <a:spcPts val="938"/>
              </a:lnSpc>
              <a:buNone/>
            </a:pPr>
            <a:r>
              <a:rPr lang="en-US" sz="769" b="1" spc="98" kern="0" dirty="0">
                <a:solidFill>
                  <a:srgbClr val="14120F"/>
                </a:solidFill>
                <a:latin typeface="Calibri" pitchFamily="34" charset="0"/>
                <a:ea typeface="Calibri" pitchFamily="34" charset="-122"/>
                <a:cs typeface="Calibri" pitchFamily="34" charset="-120"/>
              </a:rPr>
              <a:t>BARBARA, Σ = 25 · DNCNN VS BM3D, 2017</a:t>
            </a:r>
            <a:endParaRPr lang="en-US" sz="769" dirty="0"/>
          </a:p>
        </p:txBody>
      </p:sp>
      <p:sp>
        <p:nvSpPr>
          <p:cNvPr id="19" name="Text 17"/>
          <p:cNvSpPr txBox="1"/>
          <p:nvPr/>
        </p:nvSpPr>
        <p:spPr>
          <a:xfrm>
            <a:off x="8505474" y="3007096"/>
            <a:ext cx="2916113" cy="581833"/>
          </a:xfrm>
          <a:prstGeom prst="rect">
            <a:avLst/>
          </a:prstGeom>
          <a:noFill/>
          <a:ln/>
        </p:spPr>
        <p:txBody>
          <a:bodyPr wrap="square" lIns="0" tIns="0" rIns="0" bIns="0" rtlCol="0" anchor="t"/>
          <a:lstStyle/>
          <a:p>
            <a:pPr algn="l" indent="0" marL="0">
              <a:lnSpc>
                <a:spcPts val="1497"/>
              </a:lnSpc>
              <a:buNone/>
            </a:pPr>
            <a:r>
              <a:rPr kern="0" lang="en-US" sz="985" dirty="0">
                <a:solidFill>
                  <a:srgbClr val="33302B"/>
                </a:solidFill>
                <a:latin typeface="Calibri" pitchFamily="34" charset="0"/>
                <a:ea typeface="Calibri" pitchFamily="34" charset="-122"/>
                <a:cs typeface="Calibri" pitchFamily="34" charset="-120"/>
              </a:rPr>
              <a:t>30.00 vs 30.71. The identical phenomenon, visible in the anchor paper's own table five years earlier — on the one image in Set12 whose texture repeats.</a:t>
            </a:r>
            <a:pPr algn="l" indent="0" marL="0">
              <a:lnSpc>
                <a:spcPts val="1497"/>
              </a:lnSpc>
              <a:buNone/>
            </a:pPr>
            <a:r>
              <a:rPr kern="0" lang="en-US" sz="729" b="1" dirty="0">
                <a:solidFill>
                  <a:srgbClr val="C0451A"/>
                </a:solidFill>
                <a:latin typeface="Calibri" pitchFamily="34" charset="0"/>
                <a:ea typeface="Calibri" pitchFamily="34" charset="-122"/>
                <a:cs typeface="Calibri" pitchFamily="34" charset="-120"/>
              </a:rPr>
              <a:t>[2]</a:t>
            </a:r>
            <a:endParaRPr lang="en-US" sz="985" dirty="0"/>
          </a:p>
        </p:txBody>
      </p:sp>
      <p:sp>
        <p:nvSpPr>
          <p:cNvPr id="20" name="Shape 18"/>
          <p:cNvSpPr/>
          <p:nvPr/>
        </p:nvSpPr>
        <p:spPr>
          <a:xfrm>
            <a:off x="1531803" y="3894430"/>
            <a:ext cx="10097262" cy="7772"/>
          </a:xfrm>
          <a:prstGeom prst="rect">
            <a:avLst/>
          </a:prstGeom>
          <a:solidFill>
            <a:srgbClr val="DFDBD2"/>
          </a:solidFill>
          <a:ln/>
        </p:spPr>
      </p:sp>
      <p:sp>
        <p:nvSpPr>
          <p:cNvPr id="21" name="Text 19"/>
          <p:cNvSpPr txBox="1"/>
          <p:nvPr/>
        </p:nvSpPr>
        <p:spPr>
          <a:xfrm>
            <a:off x="1531803" y="4035064"/>
            <a:ext cx="139903"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01</a:t>
            </a:r>
            <a:endParaRPr lang="en-US" sz="738" dirty="0"/>
          </a:p>
        </p:txBody>
      </p:sp>
      <p:sp>
        <p:nvSpPr>
          <p:cNvPr id="22" name="Text 20"/>
          <p:cNvSpPr txBox="1"/>
          <p:nvPr/>
        </p:nvSpPr>
        <p:spPr>
          <a:xfrm>
            <a:off x="1859981" y="4024366"/>
            <a:ext cx="9823674"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These three numbers are the same fact, measured three times across eight years.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 convolutional network with a 35×35 receptive field cannot exploit self-similarity beyond 35 pixels. Non-local classical methods could. Attention gave it back.</a:t>
            </a:r>
            <a:endParaRPr lang="en-US" sz="1138" dirty="0"/>
          </a:p>
        </p:txBody>
      </p:sp>
      <p:sp>
        <p:nvSpPr>
          <p:cNvPr id="23" name="Text 21"/>
          <p:cNvSpPr txBox="1"/>
          <p:nvPr/>
        </p:nvSpPr>
        <p:spPr>
          <a:xfrm>
            <a:off x="1531803" y="4593854"/>
            <a:ext cx="144475"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02</a:t>
            </a:r>
            <a:endParaRPr lang="en-US" sz="738" dirty="0"/>
          </a:p>
        </p:txBody>
      </p:sp>
      <p:sp>
        <p:nvSpPr>
          <p:cNvPr id="24" name="Text 22"/>
          <p:cNvSpPr txBox="1"/>
          <p:nvPr/>
        </p:nvSpPr>
        <p:spPr>
          <a:xfrm>
            <a:off x="1859981" y="4583156"/>
            <a:ext cx="9823674"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corollary, which is the more useful claim.</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The modern architecture branch did not make denoising uniformly better. It made denoising better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specifically where non-locality matters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Aggregate benchmark numbers conceal this completely, which is why a per-dataset reading is not pedantry — it is the only way to see what actually changed.</a:t>
            </a:r>
            <a:endParaRPr lang="en-US" sz="1138" dirty="0"/>
          </a:p>
        </p:txBody>
      </p:sp>
      <p:sp>
        <p:nvSpPr>
          <p:cNvPr id="25" name="Text 23"/>
          <p:cNvSpPr txBox="1"/>
          <p:nvPr/>
        </p:nvSpPr>
        <p:spPr>
          <a:xfrm>
            <a:off x="1531803" y="5369540"/>
            <a:ext cx="144567"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03</a:t>
            </a:r>
            <a:endParaRPr lang="en-US" sz="738" dirty="0"/>
          </a:p>
        </p:txBody>
      </p:sp>
      <p:sp>
        <p:nvSpPr>
          <p:cNvPr id="26" name="Text 24"/>
          <p:cNvSpPr txBox="1"/>
          <p:nvPr/>
        </p:nvSpPr>
        <p:spPr>
          <a:xfrm>
            <a:off x="1859981" y="5358750"/>
            <a:ext cx="9823674"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And it explains why BSD68 saturated.</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BSD68 contains relatively little long-range repetition, so it measures a capability the field stopped competing on around 2018 while being blind to the one it moved to.</a:t>
            </a:r>
            <a:endParaRPr lang="en-US" sz="1138" dirty="0"/>
          </a:p>
        </p:txBody>
      </p:sp>
      <p:sp>
        <p:nvSpPr>
          <p:cNvPr id="27" name="Text 25"/>
          <p:cNvSpPr txBox="1"/>
          <p:nvPr/>
        </p:nvSpPr>
        <p:spPr>
          <a:xfrm>
            <a:off x="5774619" y="6248827"/>
            <a:ext cx="5854446"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Restormer22 Table 4 (BSD68 and Urban100 columns) 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DnCNN17 Table III (Barbara) — ratio computed by us from published values</a:t>
            </a:r>
            <a:endParaRPr lang="en-US" sz="592" dirty="0"/>
          </a:p>
        </p:txBody>
      </p:sp>
      <p:sp>
        <p:nvSpPr>
          <p:cNvPr id="28" name="Shape 26"/>
          <p:cNvSpPr/>
          <p:nvPr/>
        </p:nvSpPr>
        <p:spPr>
          <a:xfrm>
            <a:off x="1531803" y="6537411"/>
            <a:ext cx="10097262" cy="7772"/>
          </a:xfrm>
          <a:prstGeom prst="rect">
            <a:avLst/>
          </a:prstGeom>
          <a:solidFill>
            <a:srgbClr val="C9C4B9"/>
          </a:solidFill>
          <a:ln/>
        </p:spPr>
      </p:sp>
      <p:sp>
        <p:nvSpPr>
          <p:cNvPr id="29" name="Shape 27"/>
          <p:cNvSpPr/>
          <p:nvPr/>
        </p:nvSpPr>
        <p:spPr>
          <a:xfrm>
            <a:off x="9385310" y="6525707"/>
            <a:ext cx="1683228" cy="31272"/>
          </a:xfrm>
          <a:prstGeom prst="rect">
            <a:avLst/>
          </a:prstGeom>
          <a:solidFill>
            <a:srgbClr val="C0451A"/>
          </a:solidFill>
          <a:ln/>
        </p:spPr>
      </p:sp>
      <p:sp>
        <p:nvSpPr>
          <p:cNvPr id="30" name="Shape 28"/>
          <p:cNvSpPr/>
          <p:nvPr/>
        </p:nvSpPr>
        <p:spPr>
          <a:xfrm>
            <a:off x="1531803" y="6498366"/>
            <a:ext cx="7772" cy="39045"/>
          </a:xfrm>
          <a:prstGeom prst="rect">
            <a:avLst/>
          </a:prstGeom>
          <a:solidFill>
            <a:srgbClr val="C9C4B9"/>
          </a:solidFill>
          <a:ln/>
        </p:spPr>
      </p:sp>
      <p:sp>
        <p:nvSpPr>
          <p:cNvPr id="31" name="Text 29"/>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2" name="Shape 30"/>
          <p:cNvSpPr/>
          <p:nvPr/>
        </p:nvSpPr>
        <p:spPr>
          <a:xfrm>
            <a:off x="5458511" y="6498366"/>
            <a:ext cx="7772" cy="39045"/>
          </a:xfrm>
          <a:prstGeom prst="rect">
            <a:avLst/>
          </a:prstGeom>
          <a:solidFill>
            <a:srgbClr val="C9C4B9"/>
          </a:solidFill>
          <a:ln/>
        </p:spPr>
      </p:sp>
      <p:sp>
        <p:nvSpPr>
          <p:cNvPr id="33" name="Text 31"/>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34" name="Shape 32"/>
          <p:cNvSpPr/>
          <p:nvPr/>
        </p:nvSpPr>
        <p:spPr>
          <a:xfrm>
            <a:off x="7141738" y="6498366"/>
            <a:ext cx="7772" cy="39045"/>
          </a:xfrm>
          <a:prstGeom prst="rect">
            <a:avLst/>
          </a:prstGeom>
          <a:solidFill>
            <a:srgbClr val="C9C4B9"/>
          </a:solidFill>
          <a:ln/>
        </p:spPr>
      </p:sp>
      <p:sp>
        <p:nvSpPr>
          <p:cNvPr id="35" name="Text 33"/>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36" name="Shape 34"/>
          <p:cNvSpPr/>
          <p:nvPr/>
        </p:nvSpPr>
        <p:spPr>
          <a:xfrm>
            <a:off x="9945654" y="6498366"/>
            <a:ext cx="7772" cy="39045"/>
          </a:xfrm>
          <a:prstGeom prst="rect">
            <a:avLst/>
          </a:prstGeom>
          <a:solidFill>
            <a:srgbClr val="C9C4B9"/>
          </a:solidFill>
          <a:ln/>
        </p:spPr>
      </p:sp>
      <p:sp>
        <p:nvSpPr>
          <p:cNvPr id="37" name="Text 35"/>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38" name="Shape 36"/>
          <p:cNvSpPr/>
          <p:nvPr/>
        </p:nvSpPr>
        <p:spPr>
          <a:xfrm>
            <a:off x="11628973" y="6498366"/>
            <a:ext cx="7772" cy="39045"/>
          </a:xfrm>
          <a:prstGeom prst="rect">
            <a:avLst/>
          </a:prstGeom>
          <a:solidFill>
            <a:srgbClr val="C9C4B9"/>
          </a:solidFill>
          <a:ln/>
        </p:spPr>
      </p:sp>
      <p:sp>
        <p:nvSpPr>
          <p:cNvPr id="39" name="Text 37"/>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73258"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83</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1472093"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THE ASSUMPTION BREAKS</a:t>
            </a:r>
            <a:endParaRPr lang="en-US" sz="781" dirty="0"/>
          </a:p>
        </p:txBody>
      </p:sp>
      <p:sp>
        <p:nvSpPr>
          <p:cNvPr id="5" name="Text 3"/>
          <p:cNvSpPr txBox="1"/>
          <p:nvPr/>
        </p:nvSpPr>
        <p:spPr>
          <a:xfrm>
            <a:off x="1439540" y="607070"/>
            <a:ext cx="6064941"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Real sensor noise — and a 16 dB collapse</a:t>
            </a:r>
            <a:endParaRPr lang="en-US" sz="2660" dirty="0"/>
          </a:p>
        </p:txBody>
      </p:sp>
      <p:sp>
        <p:nvSpPr>
          <p:cNvPr id="6" name="Text 4"/>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SIDD and DND contain photographs of real scenes taken with real smartphone cameras, where noise is signal-dependent, spatially correlated, and processed by an imaging pipeline. Both tables below are from Restormer's Table 6, evaluated under one protocol.</a:t>
            </a:r>
            <a:endParaRPr lang="en-US" sz="1157"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1439540" y="1958553"/>
          <a:ext cx="9144000" cy="914400"/>
        </p:xfrm>
        <a:graphic>
          <a:graphicData uri="http://schemas.openxmlformats.org/drawingml/2006/table">
            <a:tbl>
              <a:tblPr/>
              <a:tblGrid>
                <a:gridCol w="1696578"/>
                <a:gridCol w="3029590"/>
                <a:gridCol w="1406439"/>
                <a:gridCol w="1380744"/>
                <a:gridCol w="1366022"/>
                <a:gridCol w="1343985"/>
              </a:tblGrid>
              <a:tr h="242407">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SIDD PSNR</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SIDD SSIM</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DND PSNR</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DND SSIM</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r>
              <a:tr h="304770">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DnCNN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AWGN-trained CNN, 2017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23.66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0.583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32.43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0.790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Classical, 2007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25.65</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0.685</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34.51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0.851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CBDNet*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Real-noise CNN, 2019</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30.78</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0.801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38.06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0.942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MPRNet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Multi-stage CNN, 2021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39.71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0.958</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39.80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0.954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Uformer</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Transformer, 2022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39.77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0.959</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39.96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0.956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Restormer</a:t>
                      </a:r>
                      <a:pPr algn="l" indent="0" marL="0">
                        <a:lnSpc>
                          <a:spcPts val="1164"/>
                        </a:lnSpc>
                        <a:buNone/>
                      </a:pPr>
                      <a:r>
                        <a:rPr kern="0" lang="en-US" sz="706"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Transformer, 2022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40.02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0.960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40.03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0.956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r>
              <a:tr h="301112">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NAFNet</a:t>
                      </a:r>
                      <a:pPr algn="l" indent="0" marL="0">
                        <a:lnSpc>
                          <a:spcPts val="1164"/>
                        </a:lnSpc>
                        <a:buNone/>
                      </a:pPr>
                      <a:r>
                        <a:rPr kern="0" lang="en-US" sz="706"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Convolutional, 2022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40.30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MambaIR</a:t>
                      </a:r>
                      <a:pPr algn="l" indent="0" marL="0">
                        <a:lnSpc>
                          <a:spcPts val="1164"/>
                        </a:lnSpc>
                        <a:buNone/>
                      </a:pPr>
                      <a:r>
                        <a:rPr kern="0" lang="en-US" sz="706" b="1" dirty="0">
                          <a:solidFill>
                            <a:srgbClr val="C0451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State-space, 2024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39.89</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0.960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40.04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0.956</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439540" y="4822820"/>
            <a:ext cx="10223358" cy="14722"/>
          </a:xfrm>
          <a:prstGeom prst="rect">
            <a:avLst/>
          </a:prstGeom>
          <a:solidFill>
            <a:srgbClr val="14343F"/>
          </a:solidFill>
          <a:ln/>
        </p:spPr>
      </p:sp>
      <p:sp>
        <p:nvSpPr>
          <p:cNvPr id="9" name="Text 6"/>
          <p:cNvSpPr txBox="1"/>
          <p:nvPr/>
        </p:nvSpPr>
        <p:spPr>
          <a:xfrm>
            <a:off x="1439540" y="4953213"/>
            <a:ext cx="10278953" cy="749168"/>
          </a:xfrm>
          <a:prstGeom prst="rect">
            <a:avLst/>
          </a:prstGeom>
          <a:noFill/>
          <a:ln/>
        </p:spPr>
        <p:txBody>
          <a:bodyPr wrap="squar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The single most important number in this deck: 23.66 dB.</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DnCNN — which beats BM3D by 0.6 dB on synthetic Gaussian noise — is beaten by BM3D by </a:t>
            </a:r>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1.99 dB</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on real sensor noise, and trails Restormer by </a:t>
            </a:r>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16.36 dB</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A model trained on the wrong noise distribution does not degrade gracefully; it collapses. This is exactly what SCUNet means by </a:t>
            </a:r>
            <a:pPr algn="l" indent="0" marL="0">
              <a:lnSpc>
                <a:spcPts val="1475"/>
              </a:lnSpc>
              <a:buNone/>
            </a:pPr>
            <a:r>
              <a:rPr kern="0" lang="en-US" sz="983" i="1" dirty="0">
                <a:solidFill>
                  <a:srgbClr val="33302B"/>
                </a:solidFill>
                <a:latin typeface="Calibri" pitchFamily="34" charset="0"/>
                <a:ea typeface="Calibri" pitchFamily="34" charset="-122"/>
                <a:cs typeface="Calibri" pitchFamily="34" charset="-120"/>
              </a:rPr>
              <a:t>noise assumption mismatch</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and it is why the field's centre of gravity moved from AWGN benchmarks to real-noise benchmarks between 2019 and 2022. *NAFNet's 40.30 dB is from its own abstract, evaluated on SIDD under the same benchmark but not in Restormer's table; the asterisk marks methods using additional training data.</a:t>
            </a:r>
            <a:endParaRPr lang="en-US" sz="983" dirty="0"/>
          </a:p>
        </p:txBody>
      </p:sp>
      <p:sp>
        <p:nvSpPr>
          <p:cNvPr id="10" name="Text 7"/>
          <p:cNvSpPr txBox="1"/>
          <p:nvPr/>
        </p:nvSpPr>
        <p:spPr>
          <a:xfrm>
            <a:off x="7938181" y="6285494"/>
            <a:ext cx="3724717"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Restormer22 Table 6 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NAFNet22 abstract 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MambaIR24 Table 6 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[4]</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SCUNet23 §1</a:t>
            </a:r>
            <a:endParaRPr lang="en-US" sz="556" dirty="0"/>
          </a:p>
        </p:txBody>
      </p:sp>
      <p:sp>
        <p:nvSpPr>
          <p:cNvPr id="11" name="Shape 8"/>
          <p:cNvSpPr/>
          <p:nvPr/>
        </p:nvSpPr>
        <p:spPr>
          <a:xfrm>
            <a:off x="1439540" y="6556705"/>
            <a:ext cx="10223358" cy="7315"/>
          </a:xfrm>
          <a:prstGeom prst="rect">
            <a:avLst/>
          </a:prstGeom>
          <a:solidFill>
            <a:srgbClr val="C9C4B9"/>
          </a:solidFill>
          <a:ln/>
        </p:spPr>
      </p:sp>
      <p:sp>
        <p:nvSpPr>
          <p:cNvPr id="12" name="Shape 9"/>
          <p:cNvSpPr/>
          <p:nvPr/>
        </p:nvSpPr>
        <p:spPr>
          <a:xfrm>
            <a:off x="1439540" y="6519946"/>
            <a:ext cx="7315" cy="36759"/>
          </a:xfrm>
          <a:prstGeom prst="rect">
            <a:avLst/>
          </a:prstGeom>
          <a:solidFill>
            <a:srgbClr val="C9C4B9"/>
          </a:solidFill>
          <a:ln/>
        </p:spPr>
      </p:sp>
      <p:sp>
        <p:nvSpPr>
          <p:cNvPr id="13" name="Text 10"/>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14" name="Shape 11"/>
          <p:cNvSpPr/>
          <p:nvPr/>
        </p:nvSpPr>
        <p:spPr>
          <a:xfrm>
            <a:off x="5415351" y="6519946"/>
            <a:ext cx="7315" cy="36759"/>
          </a:xfrm>
          <a:prstGeom prst="rect">
            <a:avLst/>
          </a:prstGeom>
          <a:solidFill>
            <a:srgbClr val="C9C4B9"/>
          </a:solidFill>
          <a:ln/>
        </p:spPr>
      </p:sp>
      <p:sp>
        <p:nvSpPr>
          <p:cNvPr id="15" name="Text 12"/>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16" name="Shape 13"/>
          <p:cNvSpPr/>
          <p:nvPr/>
        </p:nvSpPr>
        <p:spPr>
          <a:xfrm>
            <a:off x="7119610" y="6519946"/>
            <a:ext cx="7315" cy="36759"/>
          </a:xfrm>
          <a:prstGeom prst="rect">
            <a:avLst/>
          </a:prstGeom>
          <a:solidFill>
            <a:srgbClr val="C9C4B9"/>
          </a:solidFill>
          <a:ln/>
        </p:spPr>
      </p:sp>
      <p:sp>
        <p:nvSpPr>
          <p:cNvPr id="17" name="Text 14"/>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18" name="Shape 15"/>
          <p:cNvSpPr/>
          <p:nvPr/>
        </p:nvSpPr>
        <p:spPr>
          <a:xfrm>
            <a:off x="9958639" y="6519946"/>
            <a:ext cx="7315" cy="36759"/>
          </a:xfrm>
          <a:prstGeom prst="rect">
            <a:avLst/>
          </a:prstGeom>
          <a:solidFill>
            <a:srgbClr val="C9C4B9"/>
          </a:solidFill>
          <a:ln/>
        </p:spPr>
      </p:sp>
      <p:sp>
        <p:nvSpPr>
          <p:cNvPr id="19" name="Text 16"/>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0" name="Shape 17"/>
          <p:cNvSpPr/>
          <p:nvPr/>
        </p:nvSpPr>
        <p:spPr>
          <a:xfrm>
            <a:off x="11662898" y="6519946"/>
            <a:ext cx="7315" cy="36759"/>
          </a:xfrm>
          <a:prstGeom prst="rect">
            <a:avLst/>
          </a:prstGeom>
          <a:solidFill>
            <a:srgbClr val="C9C4B9"/>
          </a:solidFill>
          <a:ln/>
        </p:spPr>
      </p:sp>
      <p:sp>
        <p:nvSpPr>
          <p:cNvPr id="21" name="Text 18"/>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87797"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84</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660745"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EFFICIENCY</a:t>
            </a:r>
            <a:endParaRPr lang="en-US" sz="781" dirty="0"/>
          </a:p>
        </p:txBody>
      </p:sp>
      <p:sp>
        <p:nvSpPr>
          <p:cNvPr id="5" name="Text 3"/>
          <p:cNvSpPr txBox="1"/>
          <p:nvPr/>
        </p:nvSpPr>
        <p:spPr>
          <a:xfrm>
            <a:off x="1439540" y="607070"/>
            <a:ext cx="10193183"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Cost, measured three different ways — with three different answers</a:t>
            </a:r>
            <a:endParaRPr lang="en-US" sz="2660" dirty="0"/>
          </a:p>
        </p:txBody>
      </p:sp>
      <p:sp>
        <p:nvSpPr>
          <p:cNvPr id="6" name="Text 4"/>
          <p:cNvSpPr txBox="1"/>
          <p:nvPr/>
        </p:nvSpPr>
        <p:spPr>
          <a:xfrm>
            <a:off x="1439540" y="1091885"/>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Quality is only half of a comparison. The left block is reproduced from the DnCNN paper; the right block is our own measurement. They are kept separate deliberately, per rule 3.</a:t>
            </a:r>
            <a:endParaRPr lang="en-US" sz="1157"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1439540" y="1738183"/>
          <a:ext cx="9144000" cy="914400"/>
        </p:xfrm>
        <a:graphic>
          <a:graphicData uri="http://schemas.openxmlformats.org/drawingml/2006/table">
            <a:tbl>
              <a:tblPr/>
              <a:tblGrid>
                <a:gridCol w="1380744"/>
                <a:gridCol w="1241207"/>
                <a:gridCol w="2265700"/>
                <a:gridCol w="1020836"/>
                <a:gridCol w="2302459"/>
                <a:gridCol w="2012320"/>
              </a:tblGrid>
              <a:tr h="242407">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ERA</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PUBLISHED 512² RUNTIME</a:t>
                      </a:r>
                      <a:pPr algn="l" indent="0" marL="0">
                        <a:lnSpc>
                          <a:spcPts val="882"/>
                        </a:lnSpc>
                        <a:buNone/>
                      </a:pPr>
                      <a:r>
                        <a:rPr lang="en-US" sz="535" b="1" spc="87" kern="0"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DEVICE</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PARAMETERS [MEASURED]</a:t>
                      </a:r>
                      <a:pPr algn="l" indent="0" marL="0">
                        <a:lnSpc>
                          <a:spcPts val="882"/>
                        </a:lnSpc>
                        <a:buNone/>
                      </a:pPr>
                      <a:r>
                        <a:rPr lang="en-US" sz="535" b="1" spc="87" kern="0"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r"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CPU 256² [MEASURED]</a:t>
                      </a:r>
                      <a:pPr algn="r" indent="0" marL="0">
                        <a:lnSpc>
                          <a:spcPts val="882"/>
                        </a:lnSpc>
                        <a:buNone/>
                      </a:pPr>
                      <a:r>
                        <a:rPr lang="en-US" sz="535" b="1" spc="87" kern="0"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r>
              <a:tr h="304770">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WNNM</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Classical peak</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773.2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CPU</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 network)</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EPLL</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Classical</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45.5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CPU</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 network)</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Classical</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2.85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CPU</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 network)</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TNRD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Bridge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1.33 s / 0.032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CPU / GPU</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(not run)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DnCNN-B</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Deep CNN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4.11 s / 0.060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CPU / GPU</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0.668 M</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1.015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P2N+ backbone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Data branch</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(not published)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0.991 M</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0.286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SCUNet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Architecture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(not published)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9.663 M</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1.685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Restormer</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Architecture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(not published)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26.127 M</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10.436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NAFNet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Architecture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(not published)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115.983 M</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r" indent="0" marL="0">
                        <a:lnSpc>
                          <a:spcPts val="1164"/>
                        </a:lnSpc>
                        <a:buNone/>
                      </a:pPr>
                      <a:r>
                        <a:rPr kern="0" lang="en-US" sz="954" dirty="0">
                          <a:solidFill>
                            <a:srgbClr val="33302B"/>
                          </a:solidFill>
                          <a:latin typeface="Calibri" pitchFamily="34" charset="0"/>
                          <a:ea typeface="Calibri" pitchFamily="34" charset="-122"/>
                          <a:cs typeface="Calibri" pitchFamily="34" charset="-120"/>
                        </a:rPr>
                        <a:t>1.899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439540" y="4903653"/>
            <a:ext cx="10223358" cy="14722"/>
          </a:xfrm>
          <a:prstGeom prst="rect">
            <a:avLst/>
          </a:prstGeom>
          <a:solidFill>
            <a:srgbClr val="14343F"/>
          </a:solidFill>
          <a:ln/>
        </p:spPr>
      </p:sp>
      <p:sp>
        <p:nvSpPr>
          <p:cNvPr id="9" name="Text 6"/>
          <p:cNvSpPr txBox="1"/>
          <p:nvPr/>
        </p:nvSpPr>
        <p:spPr>
          <a:xfrm>
            <a:off x="1439540" y="5034046"/>
            <a:ext cx="10278953" cy="561807"/>
          </a:xfrm>
          <a:prstGeom prst="rect">
            <a:avLst/>
          </a:prstGeom>
          <a:noFill/>
          <a:ln/>
        </p:spPr>
        <p:txBody>
          <a:bodyPr wrap="squar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Three incompatible rankings from one set of models.</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By </a:t>
            </a:r>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parameters</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DnCNN is best and NAFNet is worst by 174×. By </a:t>
            </a:r>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CPU wall-clock</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P2N+'s backbone is best and Restormer is worst by 36×. By </a:t>
            </a:r>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quality on real noise</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NAFNet is best and DnCNN is worst by 16 dB. There is no single efficiency axis, and a paper that reports only one has chosen the one that flatters it. Restormer's own claim — </a:t>
            </a:r>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3.14× fewer FLOPs and 13× faster than SwinIR</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 is a fourth axis again.</a:t>
            </a:r>
            <a:endParaRPr lang="en-US" sz="983" dirty="0"/>
          </a:p>
        </p:txBody>
      </p:sp>
      <p:sp>
        <p:nvSpPr>
          <p:cNvPr id="10" name="Text 7"/>
          <p:cNvSpPr txBox="1"/>
          <p:nvPr/>
        </p:nvSpPr>
        <p:spPr>
          <a:xfrm>
            <a:off x="8900587" y="6285494"/>
            <a:ext cx="2762311"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DnCNN17 Table IV 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measured, Stage 2 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Restormer22 §4.4</a:t>
            </a:r>
            <a:endParaRPr lang="en-US" sz="556" dirty="0"/>
          </a:p>
        </p:txBody>
      </p:sp>
      <p:sp>
        <p:nvSpPr>
          <p:cNvPr id="11" name="Shape 8"/>
          <p:cNvSpPr/>
          <p:nvPr/>
        </p:nvSpPr>
        <p:spPr>
          <a:xfrm>
            <a:off x="1439540" y="6556705"/>
            <a:ext cx="10223358" cy="7315"/>
          </a:xfrm>
          <a:prstGeom prst="rect">
            <a:avLst/>
          </a:prstGeom>
          <a:solidFill>
            <a:srgbClr val="C9C4B9"/>
          </a:solidFill>
          <a:ln/>
        </p:spPr>
      </p:sp>
      <p:sp>
        <p:nvSpPr>
          <p:cNvPr id="12" name="Shape 9"/>
          <p:cNvSpPr/>
          <p:nvPr/>
        </p:nvSpPr>
        <p:spPr>
          <a:xfrm>
            <a:off x="1439540" y="6519946"/>
            <a:ext cx="7315" cy="36759"/>
          </a:xfrm>
          <a:prstGeom prst="rect">
            <a:avLst/>
          </a:prstGeom>
          <a:solidFill>
            <a:srgbClr val="C9C4B9"/>
          </a:solidFill>
          <a:ln/>
        </p:spPr>
      </p:sp>
      <p:sp>
        <p:nvSpPr>
          <p:cNvPr id="13" name="Text 10"/>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14" name="Shape 11"/>
          <p:cNvSpPr/>
          <p:nvPr/>
        </p:nvSpPr>
        <p:spPr>
          <a:xfrm>
            <a:off x="5415351" y="6519946"/>
            <a:ext cx="7315" cy="36759"/>
          </a:xfrm>
          <a:prstGeom prst="rect">
            <a:avLst/>
          </a:prstGeom>
          <a:solidFill>
            <a:srgbClr val="C9C4B9"/>
          </a:solidFill>
          <a:ln/>
        </p:spPr>
      </p:sp>
      <p:sp>
        <p:nvSpPr>
          <p:cNvPr id="15" name="Text 12"/>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16" name="Shape 13"/>
          <p:cNvSpPr/>
          <p:nvPr/>
        </p:nvSpPr>
        <p:spPr>
          <a:xfrm>
            <a:off x="7119610" y="6519946"/>
            <a:ext cx="7315" cy="36759"/>
          </a:xfrm>
          <a:prstGeom prst="rect">
            <a:avLst/>
          </a:prstGeom>
          <a:solidFill>
            <a:srgbClr val="C9C4B9"/>
          </a:solidFill>
          <a:ln/>
        </p:spPr>
      </p:sp>
      <p:sp>
        <p:nvSpPr>
          <p:cNvPr id="17" name="Text 14"/>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18" name="Shape 15"/>
          <p:cNvSpPr/>
          <p:nvPr/>
        </p:nvSpPr>
        <p:spPr>
          <a:xfrm>
            <a:off x="9958639" y="6519946"/>
            <a:ext cx="7315" cy="36759"/>
          </a:xfrm>
          <a:prstGeom prst="rect">
            <a:avLst/>
          </a:prstGeom>
          <a:solidFill>
            <a:srgbClr val="C9C4B9"/>
          </a:solidFill>
          <a:ln/>
        </p:spPr>
      </p:sp>
      <p:sp>
        <p:nvSpPr>
          <p:cNvPr id="19" name="Text 16"/>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0" name="Shape 17"/>
          <p:cNvSpPr/>
          <p:nvPr/>
        </p:nvSpPr>
        <p:spPr>
          <a:xfrm>
            <a:off x="11662898" y="6519946"/>
            <a:ext cx="7315" cy="36759"/>
          </a:xfrm>
          <a:prstGeom prst="rect">
            <a:avLst/>
          </a:prstGeom>
          <a:solidFill>
            <a:srgbClr val="C9C4B9"/>
          </a:solidFill>
          <a:ln/>
        </p:spPr>
      </p:sp>
      <p:sp>
        <p:nvSpPr>
          <p:cNvPr id="21" name="Text 18"/>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28854"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85</a:t>
            </a:r>
            <a:endParaRPr lang="en-US" sz="2893" dirty="0"/>
          </a:p>
        </p:txBody>
      </p:sp>
      <p:sp>
        <p:nvSpPr>
          <p:cNvPr id="3" name="Text 1"/>
          <p:cNvSpPr txBox="1"/>
          <p:nvPr/>
        </p:nvSpPr>
        <p:spPr>
          <a:xfrm rot="16200000">
            <a:off x="-382676" y="3428909"/>
            <a:ext cx="951982" cy="116952"/>
          </a:xfrm>
          <a:prstGeom prst="rect">
            <a:avLst/>
          </a:prstGeom>
          <a:noFill/>
          <a:ln/>
        </p:spPr>
        <p:txBody>
          <a:bodyPr wrap="none" lIns="0" tIns="0" rIns="0" bIns="0" rtlCol="0" anchor="ctr"/>
          <a:lstStyle/>
          <a:p>
            <a:pPr algn="ctr" indent="0" marL="0">
              <a:lnSpc>
                <a:spcPts val="963"/>
              </a:lnSpc>
              <a:buNone/>
            </a:pPr>
            <a:r>
              <a:rPr lang="en-US" sz="789" b="1" spc="197" kern="0" dirty="0">
                <a:solidFill>
                  <a:srgbClr val="7E3247"/>
                </a:solidFill>
                <a:latin typeface="Calibri" pitchFamily="34" charset="0"/>
                <a:ea typeface="Calibri" pitchFamily="34" charset="-122"/>
                <a:cs typeface="Calibri" pitchFamily="34" charset="-120"/>
              </a:rPr>
              <a:t>DATA BRANCH</a:t>
            </a:r>
            <a:endParaRPr lang="en-US" sz="789" dirty="0"/>
          </a:p>
        </p:txBody>
      </p:sp>
      <p:sp>
        <p:nvSpPr>
          <p:cNvPr id="4" name="Shape 2"/>
          <p:cNvSpPr/>
          <p:nvPr/>
        </p:nvSpPr>
        <p:spPr>
          <a:xfrm>
            <a:off x="1636685" y="492679"/>
            <a:ext cx="217079" cy="25055"/>
          </a:xfrm>
          <a:prstGeom prst="rect">
            <a:avLst/>
          </a:prstGeom>
          <a:solidFill>
            <a:srgbClr val="7E3247"/>
          </a:solidFill>
          <a:ln/>
        </p:spPr>
      </p:sp>
      <p:sp>
        <p:nvSpPr>
          <p:cNvPr id="5" name="Text 3"/>
          <p:cNvSpPr txBox="1"/>
          <p:nvPr/>
        </p:nvSpPr>
        <p:spPr>
          <a:xfrm>
            <a:off x="1953981" y="436443"/>
            <a:ext cx="1063904"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7E3247"/>
                </a:solidFill>
                <a:latin typeface="Calibri" pitchFamily="34" charset="0"/>
                <a:ea typeface="Calibri" pitchFamily="34" charset="-122"/>
                <a:cs typeface="Calibri" pitchFamily="34" charset="-120"/>
              </a:rPr>
              <a:t>THE OTHER AXIS</a:t>
            </a:r>
            <a:endParaRPr lang="en-US" sz="888" dirty="0"/>
          </a:p>
        </p:txBody>
      </p:sp>
      <p:sp>
        <p:nvSpPr>
          <p:cNvPr id="6" name="Text 4"/>
          <p:cNvSpPr txBox="1"/>
          <p:nvPr/>
        </p:nvSpPr>
        <p:spPr>
          <a:xfrm>
            <a:off x="1636685" y="690281"/>
            <a:ext cx="5933267"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What supervision costs, in decibels</a:t>
            </a:r>
            <a:endParaRPr lang="en-US" sz="3025" dirty="0"/>
          </a:p>
        </p:txBody>
      </p:sp>
      <p:sp>
        <p:nvSpPr>
          <p:cNvPr id="7" name="Text 5"/>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Parts IV and V are usually compared on quality alone, which misses the point of Part IV entirely. The right comparison sets quality against </a:t>
            </a:r>
            <a:pPr algn="l" indent="0" marL="0">
              <a:lnSpc>
                <a:spcPts val="1973"/>
              </a:lnSpc>
              <a:buNone/>
            </a:pPr>
            <a:r>
              <a:rPr kern="0" lang="en-US" sz="1315" i="1" dirty="0">
                <a:solidFill>
                  <a:srgbClr val="5A554D"/>
                </a:solidFill>
                <a:latin typeface="Calibri" pitchFamily="34" charset="0"/>
                <a:ea typeface="Calibri" pitchFamily="34" charset="-122"/>
                <a:cs typeface="Calibri" pitchFamily="34" charset="-120"/>
              </a:rPr>
              <a:t>what the method demands of you before it will run at all</a:t>
            </a:r>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a:t>
            </a:r>
            <a:endParaRPr lang="en-US" sz="1315"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1636685" y="2226838"/>
          <a:ext cx="9144000" cy="914400"/>
        </p:xfrm>
        <a:graphic>
          <a:graphicData uri="http://schemas.openxmlformats.org/drawingml/2006/table">
            <a:tbl>
              <a:tblPr/>
              <a:tblGrid>
                <a:gridCol w="2672151"/>
                <a:gridCol w="3511387"/>
                <a:gridCol w="1356970"/>
                <a:gridCol w="2413284"/>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WHAT IT REQUIRES</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c>
                  <a:txBody>
                    <a:bodyPr/>
                    <a:lstStyle/>
                    <a:p>
                      <a:pPr algn="r"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BSD68 Σ=25</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7E3247"/>
                      </a:solidFill>
                      <a:prstDash val="solid"/>
                      <a:round/>
                      <a:headEnd type="none" w="med" len="med"/>
                      <a:tailEnd type="none" w="med" len="med"/>
                    </a:lnB>
                  </a:tcPr>
                </a:tc>
              </a:tr>
              <a:tr h="346558">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Supervised U-Net (traditional)</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Paired clean + noisy images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29.06</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N2V19 Fig. 4</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DnCNN-S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Paired clean + noisy images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29.23</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DnCNN17 T2</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Noise2Noise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Two independent noisy copies per scene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28.86</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N2V19 Fig. 4</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342351">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BM3D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Nothing</a:t>
                      </a:r>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 — no training at all</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c>
                  <a:txBody>
                    <a:bodyPr/>
                    <a:lstStyle/>
                    <a:p>
                      <a:pPr algn="r"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28.57 / 28.59</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c>
                  <a:txBody>
                    <a:bodyPr/>
                    <a:lstStyle/>
                    <a:p>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DnCNN17 T2</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[2]</a:t>
                      </a:r>
                      <a:pPr algn="l" indent="0" marL="0">
                        <a:lnSpc>
                          <a:spcPts val="1324"/>
                        </a:lnSpc>
                        <a:buNone/>
                      </a:pPr>
                      <a:r>
                        <a:rPr kern="0" lang="en-US" sz="1085" b="1" dirty="0">
                          <a:solidFill>
                            <a:srgbClr val="14120F"/>
                          </a:solidFill>
                          <a:latin typeface="Calibri" pitchFamily="34" charset="0"/>
                          <a:ea typeface="Calibri" pitchFamily="34" charset="-122"/>
                          <a:cs typeface="Calibri" pitchFamily="34" charset="-120"/>
                        </a:rPr>
                        <a:t> / N2V19</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solidFill>
                      <a:srgbClr val="F0E9E8"/>
                    </a:solidFill>
                  </a:tcPr>
                </a:tc>
              </a:tr>
              <a:tr h="342351">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Noise2Void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 body of single noisy images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r" indent="0" marL="0">
                        <a:lnSpc>
                          <a:spcPts val="1324"/>
                        </a:lnSpc>
                        <a:buNone/>
                      </a:pPr>
                      <a:r>
                        <a:rPr kern="0" lang="en-US" sz="1085" dirty="0">
                          <a:solidFill>
                            <a:srgbClr val="33302B"/>
                          </a:solidFill>
                          <a:latin typeface="Calibri" pitchFamily="34" charset="0"/>
                          <a:ea typeface="Calibri" pitchFamily="34" charset="-122"/>
                          <a:cs typeface="Calibri" pitchFamily="34" charset="-120"/>
                        </a:rPr>
                        <a:t>27.71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N2V19 Fig. 4</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9" name="Shape 6"/>
          <p:cNvSpPr/>
          <p:nvPr/>
        </p:nvSpPr>
        <p:spPr>
          <a:xfrm>
            <a:off x="1636685" y="4456420"/>
            <a:ext cx="9953793" cy="16734"/>
          </a:xfrm>
          <a:prstGeom prst="rect">
            <a:avLst/>
          </a:prstGeom>
          <a:solidFill>
            <a:srgbClr val="7E3247"/>
          </a:solidFill>
          <a:ln/>
        </p:spPr>
      </p:sp>
      <p:sp>
        <p:nvSpPr>
          <p:cNvPr id="10" name="Text 7"/>
          <p:cNvSpPr txBox="1"/>
          <p:nvPr/>
        </p:nvSpPr>
        <p:spPr>
          <a:xfrm>
            <a:off x="1636685" y="4604644"/>
            <a:ext cx="10010303" cy="851764"/>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Read the whole ladder in one sentence.</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Giving up the clean target costs about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0.20 dB</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(29.06 → 28.86). Giving up the second noisy copy costs a further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1.15 dB</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(28.86 → 27.71) and drops below a 2007 algorithm.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But on cryo-TEM and the Cell Tracking Challenge datasets, the three rows above Noise2Void simply do not exist</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 the paper's own figure captions the ground-truth column </a:t>
            </a:r>
            <a:pPr algn="l" indent="0" marL="0">
              <a:lnSpc>
                <a:spcPts val="1677"/>
              </a:lnSpc>
              <a:buNone/>
            </a:pPr>
            <a:r>
              <a:rPr kern="0" lang="en-US" sz="1118" i="1" dirty="0">
                <a:solidFill>
                  <a:srgbClr val="33302B"/>
                </a:solidFill>
                <a:latin typeface="Calibri" pitchFamily="34" charset="0"/>
                <a:ea typeface="Calibri" pitchFamily="34" charset="-122"/>
                <a:cs typeface="Calibri" pitchFamily="34" charset="-120"/>
              </a:rPr>
              <a:t>does not exist</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Where clean data is available, supervision wins. Where it is not, the comparison is not between 27.71 and 32.23; it is between 27.71 and nothing.</a:t>
            </a:r>
            <a:endParaRPr lang="en-US" sz="1118" dirty="0"/>
          </a:p>
        </p:txBody>
      </p:sp>
      <p:sp>
        <p:nvSpPr>
          <p:cNvPr id="11" name="Text 8"/>
          <p:cNvSpPr txBox="1"/>
          <p:nvPr/>
        </p:nvSpPr>
        <p:spPr>
          <a:xfrm>
            <a:off x="8334024" y="6207039"/>
            <a:ext cx="3256453"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N2V19 §4.1 and Fig. 4 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Table II — all values as printed</a:t>
            </a:r>
            <a:endParaRPr lang="en-US" sz="633" dirty="0"/>
          </a:p>
        </p:txBody>
      </p:sp>
      <p:sp>
        <p:nvSpPr>
          <p:cNvPr id="12" name="Shape 9"/>
          <p:cNvSpPr/>
          <p:nvPr/>
        </p:nvSpPr>
        <p:spPr>
          <a:xfrm>
            <a:off x="1636685" y="6515466"/>
            <a:ext cx="9953793" cy="8321"/>
          </a:xfrm>
          <a:prstGeom prst="rect">
            <a:avLst/>
          </a:prstGeom>
          <a:solidFill>
            <a:srgbClr val="C9C4B9"/>
          </a:solidFill>
          <a:ln/>
        </p:spPr>
      </p:sp>
      <p:sp>
        <p:nvSpPr>
          <p:cNvPr id="13" name="Shape 10"/>
          <p:cNvSpPr/>
          <p:nvPr/>
        </p:nvSpPr>
        <p:spPr>
          <a:xfrm>
            <a:off x="7719365" y="6502938"/>
            <a:ext cx="3870930" cy="33376"/>
          </a:xfrm>
          <a:prstGeom prst="rect">
            <a:avLst/>
          </a:prstGeom>
          <a:solidFill>
            <a:srgbClr val="7E3247"/>
          </a:solidFill>
          <a:ln/>
        </p:spPr>
      </p:sp>
      <p:sp>
        <p:nvSpPr>
          <p:cNvPr id="14" name="Shape 11"/>
          <p:cNvSpPr/>
          <p:nvPr/>
        </p:nvSpPr>
        <p:spPr>
          <a:xfrm>
            <a:off x="1636685" y="6473678"/>
            <a:ext cx="8321" cy="41788"/>
          </a:xfrm>
          <a:prstGeom prst="rect">
            <a:avLst/>
          </a:prstGeom>
          <a:solidFill>
            <a:srgbClr val="C9C4B9"/>
          </a:solidFill>
          <a:ln/>
        </p:spPr>
      </p:sp>
      <p:sp>
        <p:nvSpPr>
          <p:cNvPr id="15" name="Text 12"/>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6" name="Shape 13"/>
          <p:cNvSpPr/>
          <p:nvPr/>
        </p:nvSpPr>
        <p:spPr>
          <a:xfrm>
            <a:off x="5507706" y="6473678"/>
            <a:ext cx="8321" cy="41788"/>
          </a:xfrm>
          <a:prstGeom prst="rect">
            <a:avLst/>
          </a:prstGeom>
          <a:solidFill>
            <a:srgbClr val="C9C4B9"/>
          </a:solidFill>
          <a:ln/>
        </p:spPr>
      </p:sp>
      <p:sp>
        <p:nvSpPr>
          <p:cNvPr id="17" name="Text 14"/>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8" name="Shape 15"/>
          <p:cNvSpPr/>
          <p:nvPr/>
        </p:nvSpPr>
        <p:spPr>
          <a:xfrm>
            <a:off x="7166884" y="6473678"/>
            <a:ext cx="8321" cy="41788"/>
          </a:xfrm>
          <a:prstGeom prst="rect">
            <a:avLst/>
          </a:prstGeom>
          <a:solidFill>
            <a:srgbClr val="C9C4B9"/>
          </a:solidFill>
          <a:ln/>
        </p:spPr>
      </p:sp>
      <p:sp>
        <p:nvSpPr>
          <p:cNvPr id="19" name="Text 16"/>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20" name="Shape 17"/>
          <p:cNvSpPr/>
          <p:nvPr/>
        </p:nvSpPr>
        <p:spPr>
          <a:xfrm>
            <a:off x="9931024" y="6473678"/>
            <a:ext cx="8321" cy="41788"/>
          </a:xfrm>
          <a:prstGeom prst="rect">
            <a:avLst/>
          </a:prstGeom>
          <a:solidFill>
            <a:srgbClr val="C9C4B9"/>
          </a:solidFill>
          <a:ln/>
        </p:spPr>
      </p:sp>
      <p:sp>
        <p:nvSpPr>
          <p:cNvPr id="21" name="Text 18"/>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2" name="Shape 19"/>
          <p:cNvSpPr/>
          <p:nvPr/>
        </p:nvSpPr>
        <p:spPr>
          <a:xfrm>
            <a:off x="11590477" y="6473678"/>
            <a:ext cx="8321" cy="41788"/>
          </a:xfrm>
          <a:prstGeom prst="rect">
            <a:avLst/>
          </a:prstGeom>
          <a:solidFill>
            <a:srgbClr val="C9C4B9"/>
          </a:solidFill>
          <a:ln/>
        </p:spPr>
      </p:sp>
      <p:sp>
        <p:nvSpPr>
          <p:cNvPr id="23" name="Text 20"/>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407457"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86</a:t>
            </a:r>
            <a:endParaRPr lang="en-US" sz="2708" dirty="0"/>
          </a:p>
        </p:txBody>
      </p:sp>
      <p:sp>
        <p:nvSpPr>
          <p:cNvPr id="3" name="Shape 1"/>
          <p:cNvSpPr/>
          <p:nvPr/>
        </p:nvSpPr>
        <p:spPr>
          <a:xfrm>
            <a:off x="1531803" y="461132"/>
            <a:ext cx="203180" cy="23409"/>
          </a:xfrm>
          <a:prstGeom prst="rect">
            <a:avLst/>
          </a:prstGeom>
          <a:solidFill>
            <a:srgbClr val="14343F"/>
          </a:solidFill>
          <a:ln/>
        </p:spPr>
      </p:sp>
      <p:sp>
        <p:nvSpPr>
          <p:cNvPr id="4" name="Text 2"/>
          <p:cNvSpPr txBox="1"/>
          <p:nvPr/>
        </p:nvSpPr>
        <p:spPr>
          <a:xfrm>
            <a:off x="1828800" y="408462"/>
            <a:ext cx="66696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SYNTHESIS</a:t>
            </a:r>
            <a:endParaRPr lang="en-US" sz="831" dirty="0"/>
          </a:p>
        </p:txBody>
      </p:sp>
      <p:sp>
        <p:nvSpPr>
          <p:cNvPr id="5" name="Text 3"/>
          <p:cNvSpPr txBox="1"/>
          <p:nvPr/>
        </p:nvSpPr>
        <p:spPr>
          <a:xfrm>
            <a:off x="1531803" y="646024"/>
            <a:ext cx="6531559"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Eighteen years, seven methods, one table</a:t>
            </a:r>
            <a:endParaRPr lang="en-US" sz="2831" dirty="0"/>
          </a:p>
        </p:txBody>
      </p:sp>
      <p:sp>
        <p:nvSpPr>
          <p:cNvPr id="6" name="Text 4"/>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The comparative analysis compressed to the rows that carry the argument. Read down the last two columns: the story is not that the numbers went up, but that </a:t>
            </a:r>
            <a:pPr algn="l" indent="0" marL="0">
              <a:lnSpc>
                <a:spcPts val="1846"/>
              </a:lnSpc>
              <a:buNone/>
            </a:pPr>
            <a:r>
              <a:rPr kern="0" lang="en-US" sz="1231" i="1" dirty="0">
                <a:solidFill>
                  <a:srgbClr val="5A554D"/>
                </a:solidFill>
                <a:latin typeface="Calibri" pitchFamily="34" charset="0"/>
                <a:ea typeface="Calibri" pitchFamily="34" charset="-122"/>
                <a:cs typeface="Calibri" pitchFamily="34" charset="-120"/>
              </a:rPr>
              <a:t>what they are measuring</a:t>
            </a:r>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 changed.</a:t>
            </a:r>
            <a:endParaRPr lang="en-US" sz="1231"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1531803" y="2084100"/>
          <a:ext cx="9144000" cy="914400"/>
        </p:xfrm>
        <a:graphic>
          <a:graphicData uri="http://schemas.openxmlformats.org/drawingml/2006/table">
            <a:tbl>
              <a:tblPr/>
              <a:tblGrid>
                <a:gridCol w="1527871"/>
                <a:gridCol w="781538"/>
                <a:gridCol w="3297966"/>
                <a:gridCol w="1359804"/>
                <a:gridCol w="1742755"/>
                <a:gridCol w="1387236"/>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YEAR</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WHERE THE PRIOR LIVES</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BSD68 Σ=50</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URBAN100 Σ=50</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r"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SIDD (REAL)</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r>
              <a:tr h="324338">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BM3D</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2007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Hand-written: NSS + 3-D sparsity</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25.62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25.65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WNNM</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2014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Hand-written: NSS + low rank</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25.87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TNRD</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2016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Learned, inside a fixed PDE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25.97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DnCNN</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2017</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Learned, in 0.67 M weights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26.23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26.35</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23.66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DRUNet</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2021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Learned, multi-scale CNN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26.59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27.96</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Restormer</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2022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Learned, channel attention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26.62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28.33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c>
                  <a:txBody>
                    <a:bodyPr/>
                    <a:lstStyle/>
                    <a:p>
                      <a:pPr algn="r" indent="0" marL="0">
                        <a:lnSpc>
                          <a:spcPts val="1239"/>
                        </a:lnSpc>
                        <a:buNone/>
                      </a:pPr>
                      <a:r>
                        <a:rPr kern="0" lang="en-US" sz="1015" b="1" dirty="0">
                          <a:solidFill>
                            <a:srgbClr val="14120F"/>
                          </a:solidFill>
                          <a:latin typeface="Calibri" pitchFamily="34" charset="0"/>
                          <a:ea typeface="Calibri" pitchFamily="34" charset="-122"/>
                          <a:cs typeface="Calibri" pitchFamily="34" charset="-120"/>
                        </a:rPr>
                        <a:t>40.02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solidFill>
                      <a:srgbClr val="E8E9E7"/>
                    </a:solidFill>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NAFNet</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2022</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Learned, no attention at all</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40.30</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320406">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MambaIR</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2024</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Learned, state-space scan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r" indent="0" marL="0">
                        <a:lnSpc>
                          <a:spcPts val="1239"/>
                        </a:lnSpc>
                        <a:buNone/>
                      </a:pPr>
                      <a:r>
                        <a:rPr kern="0" lang="en-US" sz="1015" dirty="0">
                          <a:solidFill>
                            <a:srgbClr val="33302B"/>
                          </a:solidFill>
                          <a:latin typeface="Calibri" pitchFamily="34" charset="0"/>
                          <a:ea typeface="Calibri" pitchFamily="34" charset="-122"/>
                          <a:cs typeface="Calibri" pitchFamily="34" charset="-120"/>
                        </a:rPr>
                        <a:t>39.89</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531803" y="5131979"/>
            <a:ext cx="10097262" cy="15636"/>
          </a:xfrm>
          <a:prstGeom prst="rect">
            <a:avLst/>
          </a:prstGeom>
          <a:solidFill>
            <a:srgbClr val="14343F"/>
          </a:solidFill>
          <a:ln/>
        </p:spPr>
      </p:sp>
      <p:sp>
        <p:nvSpPr>
          <p:cNvPr id="9" name="Text 6"/>
          <p:cNvSpPr txBox="1"/>
          <p:nvPr/>
        </p:nvSpPr>
        <p:spPr>
          <a:xfrm>
            <a:off x="1531803" y="5270693"/>
            <a:ext cx="10153223" cy="597835"/>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Three readings, and they are the conclusion of Part VII.</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(1) On BSD68 the field gained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1.00 dB in fifteen years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and has plainly saturated. (2) On Urban100 it gained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1.98 dB in five years</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because that benchmark measures the capability the field actually moved to. (3) On real noise it gained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16.64 dB</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because the first four rows were answering a question — remove AWGN — that real photographs never asked. </a:t>
            </a:r>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Progress in denoising since 2017 is mostly not progress on the 2017 problem.</a:t>
            </a:r>
            <a:endParaRPr lang="en-US" sz="1046" dirty="0"/>
          </a:p>
        </p:txBody>
      </p:sp>
      <p:sp>
        <p:nvSpPr>
          <p:cNvPr id="10" name="Text 7"/>
          <p:cNvSpPr txBox="1"/>
          <p:nvPr/>
        </p:nvSpPr>
        <p:spPr>
          <a:xfrm>
            <a:off x="7168347" y="6248827"/>
            <a:ext cx="4460626"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DnCNN17 Table II 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Restormer22 Tables 4 and 7 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[3]</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NAFNet22 abstract 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[4]</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MambaIR24 Table 6</a:t>
            </a:r>
            <a:endParaRPr lang="en-US" sz="592" dirty="0"/>
          </a:p>
        </p:txBody>
      </p:sp>
      <p:sp>
        <p:nvSpPr>
          <p:cNvPr id="11" name="Shape 8"/>
          <p:cNvSpPr/>
          <p:nvPr/>
        </p:nvSpPr>
        <p:spPr>
          <a:xfrm>
            <a:off x="1531803" y="6537411"/>
            <a:ext cx="10097262" cy="7772"/>
          </a:xfrm>
          <a:prstGeom prst="rect">
            <a:avLst/>
          </a:prstGeom>
          <a:solidFill>
            <a:srgbClr val="C9C4B9"/>
          </a:solidFill>
          <a:ln/>
        </p:spPr>
      </p:sp>
      <p:sp>
        <p:nvSpPr>
          <p:cNvPr id="12" name="Shape 9"/>
          <p:cNvSpPr/>
          <p:nvPr/>
        </p:nvSpPr>
        <p:spPr>
          <a:xfrm>
            <a:off x="1531803" y="6498366"/>
            <a:ext cx="7772" cy="39045"/>
          </a:xfrm>
          <a:prstGeom prst="rect">
            <a:avLst/>
          </a:prstGeom>
          <a:solidFill>
            <a:srgbClr val="C9C4B9"/>
          </a:solidFill>
          <a:ln/>
        </p:spPr>
      </p:sp>
      <p:sp>
        <p:nvSpPr>
          <p:cNvPr id="13" name="Text 10"/>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4" name="Shape 11"/>
          <p:cNvSpPr/>
          <p:nvPr/>
        </p:nvSpPr>
        <p:spPr>
          <a:xfrm>
            <a:off x="5458511" y="6498366"/>
            <a:ext cx="7772" cy="39045"/>
          </a:xfrm>
          <a:prstGeom prst="rect">
            <a:avLst/>
          </a:prstGeom>
          <a:solidFill>
            <a:srgbClr val="C9C4B9"/>
          </a:solidFill>
          <a:ln/>
        </p:spPr>
      </p:sp>
      <p:sp>
        <p:nvSpPr>
          <p:cNvPr id="15" name="Text 12"/>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6" name="Shape 13"/>
          <p:cNvSpPr/>
          <p:nvPr/>
        </p:nvSpPr>
        <p:spPr>
          <a:xfrm>
            <a:off x="7141738" y="6498366"/>
            <a:ext cx="7772" cy="39045"/>
          </a:xfrm>
          <a:prstGeom prst="rect">
            <a:avLst/>
          </a:prstGeom>
          <a:solidFill>
            <a:srgbClr val="C9C4B9"/>
          </a:solidFill>
          <a:ln/>
        </p:spPr>
      </p:sp>
      <p:sp>
        <p:nvSpPr>
          <p:cNvPr id="17" name="Text 14"/>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18" name="Shape 15"/>
          <p:cNvSpPr/>
          <p:nvPr/>
        </p:nvSpPr>
        <p:spPr>
          <a:xfrm>
            <a:off x="9945654" y="6498366"/>
            <a:ext cx="7772" cy="39045"/>
          </a:xfrm>
          <a:prstGeom prst="rect">
            <a:avLst/>
          </a:prstGeom>
          <a:solidFill>
            <a:srgbClr val="C9C4B9"/>
          </a:solidFill>
          <a:ln/>
        </p:spPr>
      </p:sp>
      <p:sp>
        <p:nvSpPr>
          <p:cNvPr id="19" name="Text 16"/>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0" name="Shape 17"/>
          <p:cNvSpPr/>
          <p:nvPr/>
        </p:nvSpPr>
        <p:spPr>
          <a:xfrm>
            <a:off x="11628973" y="6498366"/>
            <a:ext cx="7772" cy="39045"/>
          </a:xfrm>
          <a:prstGeom prst="rect">
            <a:avLst/>
          </a:prstGeom>
          <a:solidFill>
            <a:srgbClr val="C9C4B9"/>
          </a:solidFill>
          <a:ln/>
        </p:spPr>
      </p:sp>
      <p:sp>
        <p:nvSpPr>
          <p:cNvPr id="21" name="Text 18"/>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5076017" cy="6857817"/>
          </a:xfrm>
          <a:prstGeom prst="rect">
            <a:avLst/>
          </a:prstGeom>
          <a:solidFill>
            <a:srgbClr val="14120F"/>
          </a:solidFill>
          <a:ln/>
        </p:spPr>
      </p:sp>
      <p:sp>
        <p:nvSpPr>
          <p:cNvPr id="3" name="Text 1"/>
          <p:cNvSpPr txBox="1"/>
          <p:nvPr/>
        </p:nvSpPr>
        <p:spPr>
          <a:xfrm>
            <a:off x="434249" y="466801"/>
            <a:ext cx="1722821" cy="961949"/>
          </a:xfrm>
          <a:prstGeom prst="rect">
            <a:avLst/>
          </a:prstGeom>
          <a:noFill/>
          <a:ln/>
        </p:spPr>
        <p:txBody>
          <a:bodyPr wrap="none" lIns="0" tIns="0" rIns="0" bIns="0" rtlCol="0" anchor="t"/>
          <a:lstStyle/>
          <a:p>
            <a:pPr algn="l" indent="0" marL="0">
              <a:lnSpc>
                <a:spcPts val="7575"/>
              </a:lnSpc>
              <a:buNone/>
            </a:pPr>
            <a:r>
              <a:rPr lang="en-US" sz="8416" b="1" spc="-329" kern="0" dirty="0">
                <a:solidFill>
                  <a:srgbClr val="14343F"/>
                </a:solidFill>
                <a:latin typeface="Cambria" pitchFamily="34" charset="0"/>
                <a:ea typeface="Cambria" pitchFamily="34" charset="-122"/>
                <a:cs typeface="Cambria" pitchFamily="34" charset="-120"/>
              </a:rPr>
              <a:t>VIII</a:t>
            </a:r>
            <a:endParaRPr lang="en-US" sz="8416" dirty="0"/>
          </a:p>
        </p:txBody>
      </p:sp>
      <p:sp>
        <p:nvSpPr>
          <p:cNvPr id="4" name="Shape 2"/>
          <p:cNvSpPr/>
          <p:nvPr/>
        </p:nvSpPr>
        <p:spPr>
          <a:xfrm>
            <a:off x="434249" y="1663294"/>
            <a:ext cx="1002091" cy="33376"/>
          </a:xfrm>
          <a:prstGeom prst="rect">
            <a:avLst/>
          </a:prstGeom>
          <a:solidFill>
            <a:srgbClr val="14343F"/>
          </a:solidFill>
          <a:ln/>
        </p:spPr>
      </p:sp>
      <p:sp>
        <p:nvSpPr>
          <p:cNvPr id="5" name="Text 3"/>
          <p:cNvSpPr txBox="1"/>
          <p:nvPr/>
        </p:nvSpPr>
        <p:spPr>
          <a:xfrm>
            <a:off x="434249" y="1910273"/>
            <a:ext cx="2483236" cy="1198230"/>
          </a:xfrm>
          <a:prstGeom prst="rect">
            <a:avLst/>
          </a:prstGeom>
          <a:noFill/>
          <a:ln/>
        </p:spPr>
        <p:txBody>
          <a:bodyPr wrap="square" lIns="0" tIns="0" rIns="0" bIns="0" rtlCol="0" anchor="t"/>
          <a:lstStyle/>
          <a:p>
            <a:pPr algn="l" indent="0" marL="0">
              <a:lnSpc>
                <a:spcPts val="3146"/>
              </a:lnSpc>
              <a:buNone/>
            </a:pPr>
            <a:r>
              <a:rPr lang="en-US" sz="3025" b="1" spc="-66" kern="0" dirty="0">
                <a:solidFill>
                  <a:srgbClr val="F7F5F0"/>
                </a:solidFill>
                <a:latin typeface="Cambria" pitchFamily="34" charset="0"/>
                <a:ea typeface="Cambria" pitchFamily="34" charset="-122"/>
                <a:cs typeface="Cambria" pitchFamily="34" charset="-120"/>
              </a:rPr>
              <a:t>Open Problems &amp; Conclusion</a:t>
            </a:r>
            <a:endParaRPr lang="en-US" sz="3025" dirty="0"/>
          </a:p>
        </p:txBody>
      </p:sp>
      <p:sp>
        <p:nvSpPr>
          <p:cNvPr id="6" name="Shape 4"/>
          <p:cNvSpPr/>
          <p:nvPr/>
        </p:nvSpPr>
        <p:spPr>
          <a:xfrm>
            <a:off x="434249" y="3487796"/>
            <a:ext cx="217079" cy="25055"/>
          </a:xfrm>
          <a:prstGeom prst="rect">
            <a:avLst/>
          </a:prstGeom>
          <a:solidFill>
            <a:srgbClr val="8E877B"/>
          </a:solidFill>
          <a:ln/>
        </p:spPr>
      </p:sp>
      <p:sp>
        <p:nvSpPr>
          <p:cNvPr id="7" name="Text 5"/>
          <p:cNvSpPr txBox="1"/>
          <p:nvPr/>
        </p:nvSpPr>
        <p:spPr>
          <a:xfrm>
            <a:off x="751545" y="3431560"/>
            <a:ext cx="637885"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PART VIII</a:t>
            </a:r>
            <a:endParaRPr lang="en-US" sz="888" dirty="0"/>
          </a:p>
        </p:txBody>
      </p:sp>
      <p:sp>
        <p:nvSpPr>
          <p:cNvPr id="8" name="Shape 6"/>
          <p:cNvSpPr/>
          <p:nvPr/>
        </p:nvSpPr>
        <p:spPr>
          <a:xfrm>
            <a:off x="5526999" y="1060521"/>
            <a:ext cx="217079" cy="25055"/>
          </a:xfrm>
          <a:prstGeom prst="rect">
            <a:avLst/>
          </a:prstGeom>
          <a:solidFill>
            <a:srgbClr val="8E877B"/>
          </a:solidFill>
          <a:ln/>
        </p:spPr>
      </p:sp>
      <p:sp>
        <p:nvSpPr>
          <p:cNvPr id="9" name="Text 7"/>
          <p:cNvSpPr txBox="1"/>
          <p:nvPr/>
        </p:nvSpPr>
        <p:spPr>
          <a:xfrm>
            <a:off x="5844296" y="1004286"/>
            <a:ext cx="769650"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8E877B"/>
                </a:solidFill>
                <a:latin typeface="Calibri" pitchFamily="34" charset="0"/>
                <a:ea typeface="Calibri" pitchFamily="34" charset="-122"/>
                <a:cs typeface="Calibri" pitchFamily="34" charset="-120"/>
              </a:rPr>
              <a:t>In this part</a:t>
            </a:r>
            <a:endParaRPr lang="en-US" sz="888" dirty="0"/>
          </a:p>
        </p:txBody>
      </p:sp>
      <p:sp>
        <p:nvSpPr>
          <p:cNvPr id="10" name="Shape 8"/>
          <p:cNvSpPr/>
          <p:nvPr/>
        </p:nvSpPr>
        <p:spPr>
          <a:xfrm>
            <a:off x="5526999" y="1260958"/>
            <a:ext cx="6146963" cy="8321"/>
          </a:xfrm>
          <a:prstGeom prst="rect">
            <a:avLst/>
          </a:prstGeom>
          <a:solidFill>
            <a:srgbClr val="C9C4B9"/>
          </a:solidFill>
          <a:ln/>
        </p:spPr>
      </p:sp>
      <p:sp>
        <p:nvSpPr>
          <p:cNvPr id="11" name="Shape 9"/>
          <p:cNvSpPr/>
          <p:nvPr/>
        </p:nvSpPr>
        <p:spPr>
          <a:xfrm>
            <a:off x="5526999" y="1704533"/>
            <a:ext cx="6146963" cy="8321"/>
          </a:xfrm>
          <a:prstGeom prst="rect">
            <a:avLst/>
          </a:prstGeom>
          <a:solidFill>
            <a:srgbClr val="DFDBD2"/>
          </a:solidFill>
          <a:ln/>
        </p:spPr>
      </p:sp>
      <p:sp>
        <p:nvSpPr>
          <p:cNvPr id="12" name="Text 10"/>
          <p:cNvSpPr txBox="1"/>
          <p:nvPr/>
        </p:nvSpPr>
        <p:spPr>
          <a:xfrm>
            <a:off x="5526999" y="1399215"/>
            <a:ext cx="16596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01</a:t>
            </a:r>
            <a:endParaRPr lang="en-US" sz="921" dirty="0"/>
          </a:p>
        </p:txBody>
      </p:sp>
      <p:sp>
        <p:nvSpPr>
          <p:cNvPr id="13" name="Text 11"/>
          <p:cNvSpPr txBox="1"/>
          <p:nvPr/>
        </p:nvSpPr>
        <p:spPr>
          <a:xfrm>
            <a:off x="5894405" y="1381384"/>
            <a:ext cx="1243401"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Real noise modelling</a:t>
            </a:r>
            <a:endParaRPr lang="en-US" sz="1118" dirty="0"/>
          </a:p>
        </p:txBody>
      </p:sp>
      <p:sp>
        <p:nvSpPr>
          <p:cNvPr id="14" name="Shape 12"/>
          <p:cNvSpPr/>
          <p:nvPr/>
        </p:nvSpPr>
        <p:spPr>
          <a:xfrm>
            <a:off x="5526999" y="2148200"/>
            <a:ext cx="6146963" cy="8321"/>
          </a:xfrm>
          <a:prstGeom prst="rect">
            <a:avLst/>
          </a:prstGeom>
          <a:solidFill>
            <a:srgbClr val="DFDBD2"/>
          </a:solidFill>
          <a:ln/>
        </p:spPr>
      </p:sp>
      <p:sp>
        <p:nvSpPr>
          <p:cNvPr id="15" name="Text 13"/>
          <p:cNvSpPr txBox="1"/>
          <p:nvPr/>
        </p:nvSpPr>
        <p:spPr>
          <a:xfrm>
            <a:off x="5526999" y="1842790"/>
            <a:ext cx="171724"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02</a:t>
            </a:r>
            <a:endParaRPr lang="en-US" sz="921" dirty="0"/>
          </a:p>
        </p:txBody>
      </p:sp>
      <p:sp>
        <p:nvSpPr>
          <p:cNvPr id="16" name="Text 14"/>
          <p:cNvSpPr txBox="1"/>
          <p:nvPr/>
        </p:nvSpPr>
        <p:spPr>
          <a:xfrm>
            <a:off x="5894405" y="1825051"/>
            <a:ext cx="2140610"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perception–distortion trade-off</a:t>
            </a:r>
            <a:endParaRPr lang="en-US" sz="1118" dirty="0"/>
          </a:p>
        </p:txBody>
      </p:sp>
      <p:sp>
        <p:nvSpPr>
          <p:cNvPr id="17" name="Shape 15"/>
          <p:cNvSpPr/>
          <p:nvPr/>
        </p:nvSpPr>
        <p:spPr>
          <a:xfrm>
            <a:off x="5526999" y="2591775"/>
            <a:ext cx="6146963" cy="8321"/>
          </a:xfrm>
          <a:prstGeom prst="rect">
            <a:avLst/>
          </a:prstGeom>
          <a:solidFill>
            <a:srgbClr val="DFDBD2"/>
          </a:solidFill>
          <a:ln/>
        </p:spPr>
      </p:sp>
      <p:sp>
        <p:nvSpPr>
          <p:cNvPr id="18" name="Text 16"/>
          <p:cNvSpPr txBox="1"/>
          <p:nvPr/>
        </p:nvSpPr>
        <p:spPr>
          <a:xfrm>
            <a:off x="5526999" y="2286457"/>
            <a:ext cx="171816"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03</a:t>
            </a:r>
            <a:endParaRPr lang="en-US" sz="921" dirty="0"/>
          </a:p>
        </p:txBody>
      </p:sp>
      <p:sp>
        <p:nvSpPr>
          <p:cNvPr id="19" name="Text 17"/>
          <p:cNvSpPr txBox="1"/>
          <p:nvPr/>
        </p:nvSpPr>
        <p:spPr>
          <a:xfrm>
            <a:off x="5894405" y="2268626"/>
            <a:ext cx="1590873"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Efficiency and deployment</a:t>
            </a:r>
            <a:endParaRPr lang="en-US" sz="1118" dirty="0"/>
          </a:p>
        </p:txBody>
      </p:sp>
      <p:sp>
        <p:nvSpPr>
          <p:cNvPr id="20" name="Shape 18"/>
          <p:cNvSpPr/>
          <p:nvPr/>
        </p:nvSpPr>
        <p:spPr>
          <a:xfrm>
            <a:off x="5526999" y="3035442"/>
            <a:ext cx="6146963" cy="8321"/>
          </a:xfrm>
          <a:prstGeom prst="rect">
            <a:avLst/>
          </a:prstGeom>
          <a:solidFill>
            <a:srgbClr val="DFDBD2"/>
          </a:solidFill>
          <a:ln/>
        </p:spPr>
      </p:sp>
      <p:sp>
        <p:nvSpPr>
          <p:cNvPr id="21" name="Text 19"/>
          <p:cNvSpPr txBox="1"/>
          <p:nvPr/>
        </p:nvSpPr>
        <p:spPr>
          <a:xfrm>
            <a:off x="5526999" y="2730033"/>
            <a:ext cx="177211"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04</a:t>
            </a:r>
            <a:endParaRPr lang="en-US" sz="921" dirty="0"/>
          </a:p>
        </p:txBody>
      </p:sp>
      <p:sp>
        <p:nvSpPr>
          <p:cNvPr id="22" name="Text 20"/>
          <p:cNvSpPr txBox="1"/>
          <p:nvPr/>
        </p:nvSpPr>
        <p:spPr>
          <a:xfrm>
            <a:off x="5894405" y="2712293"/>
            <a:ext cx="970636"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Evaluation itself</a:t>
            </a:r>
            <a:endParaRPr lang="en-US" sz="1118" dirty="0"/>
          </a:p>
        </p:txBody>
      </p:sp>
      <p:sp>
        <p:nvSpPr>
          <p:cNvPr id="23" name="Shape 21"/>
          <p:cNvSpPr/>
          <p:nvPr/>
        </p:nvSpPr>
        <p:spPr>
          <a:xfrm>
            <a:off x="5526999" y="3479018"/>
            <a:ext cx="6146963" cy="8321"/>
          </a:xfrm>
          <a:prstGeom prst="rect">
            <a:avLst/>
          </a:prstGeom>
          <a:solidFill>
            <a:srgbClr val="DFDBD2"/>
          </a:solidFill>
          <a:ln/>
        </p:spPr>
      </p:sp>
      <p:sp>
        <p:nvSpPr>
          <p:cNvPr id="24" name="Text 22"/>
          <p:cNvSpPr txBox="1"/>
          <p:nvPr/>
        </p:nvSpPr>
        <p:spPr>
          <a:xfrm>
            <a:off x="5526999" y="3173700"/>
            <a:ext cx="173279"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05</a:t>
            </a:r>
            <a:endParaRPr lang="en-US" sz="921" dirty="0"/>
          </a:p>
        </p:txBody>
      </p:sp>
      <p:sp>
        <p:nvSpPr>
          <p:cNvPr id="25" name="Text 23"/>
          <p:cNvSpPr txBox="1"/>
          <p:nvPr/>
        </p:nvSpPr>
        <p:spPr>
          <a:xfrm>
            <a:off x="5894405" y="3155869"/>
            <a:ext cx="1931761"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Self-supervision's remaining gap</a:t>
            </a:r>
            <a:endParaRPr lang="en-US" sz="1118" dirty="0"/>
          </a:p>
        </p:txBody>
      </p:sp>
      <p:sp>
        <p:nvSpPr>
          <p:cNvPr id="26" name="Shape 24"/>
          <p:cNvSpPr/>
          <p:nvPr/>
        </p:nvSpPr>
        <p:spPr>
          <a:xfrm>
            <a:off x="5526999" y="3922593"/>
            <a:ext cx="6146963" cy="8321"/>
          </a:xfrm>
          <a:prstGeom prst="rect">
            <a:avLst/>
          </a:prstGeom>
          <a:solidFill>
            <a:srgbClr val="DFDBD2"/>
          </a:solidFill>
          <a:ln/>
        </p:spPr>
      </p:sp>
      <p:sp>
        <p:nvSpPr>
          <p:cNvPr id="27" name="Text 25"/>
          <p:cNvSpPr txBox="1"/>
          <p:nvPr/>
        </p:nvSpPr>
        <p:spPr>
          <a:xfrm>
            <a:off x="5526999" y="3617275"/>
            <a:ext cx="175382"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06</a:t>
            </a:r>
            <a:endParaRPr lang="en-US" sz="921" dirty="0"/>
          </a:p>
        </p:txBody>
      </p:sp>
      <p:sp>
        <p:nvSpPr>
          <p:cNvPr id="28" name="Text 26"/>
          <p:cNvSpPr txBox="1"/>
          <p:nvPr/>
        </p:nvSpPr>
        <p:spPr>
          <a:xfrm>
            <a:off x="5894405" y="3599536"/>
            <a:ext cx="1656984"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What we would build today</a:t>
            </a:r>
            <a:endParaRPr lang="en-US" sz="1118" dirty="0"/>
          </a:p>
        </p:txBody>
      </p:sp>
      <p:sp>
        <p:nvSpPr>
          <p:cNvPr id="29" name="Shape 27"/>
          <p:cNvSpPr/>
          <p:nvPr/>
        </p:nvSpPr>
        <p:spPr>
          <a:xfrm>
            <a:off x="5526999" y="4366260"/>
            <a:ext cx="6146963" cy="8321"/>
          </a:xfrm>
          <a:prstGeom prst="rect">
            <a:avLst/>
          </a:prstGeom>
          <a:solidFill>
            <a:srgbClr val="DFDBD2"/>
          </a:solidFill>
          <a:ln/>
        </p:spPr>
      </p:sp>
      <p:sp>
        <p:nvSpPr>
          <p:cNvPr id="30" name="Text 28"/>
          <p:cNvSpPr txBox="1"/>
          <p:nvPr/>
        </p:nvSpPr>
        <p:spPr>
          <a:xfrm>
            <a:off x="5526999" y="4060942"/>
            <a:ext cx="170261" cy="165964"/>
          </a:xfrm>
          <a:prstGeom prst="rect">
            <a:avLst/>
          </a:prstGeom>
          <a:noFill/>
          <a:ln/>
        </p:spPr>
        <p:txBody>
          <a:bodyPr wrap="none" lIns="0" tIns="0" rIns="0" bIns="0" rtlCol="0" anchor="t"/>
          <a:lstStyle/>
          <a:p>
            <a:pPr algn="l" indent="0" marL="0">
              <a:lnSpc>
                <a:spcPts val="1307"/>
              </a:lnSpc>
              <a:buNone/>
            </a:pPr>
            <a:r>
              <a:rPr kern="0" lang="en-US" sz="921" b="1" dirty="0">
                <a:solidFill>
                  <a:srgbClr val="14343F"/>
                </a:solidFill>
                <a:latin typeface="Cambria" pitchFamily="34" charset="0"/>
                <a:ea typeface="Cambria" pitchFamily="34" charset="-122"/>
                <a:cs typeface="Cambria" pitchFamily="34" charset="-120"/>
              </a:rPr>
              <a:t>07</a:t>
            </a:r>
            <a:endParaRPr lang="en-US" sz="921" dirty="0"/>
          </a:p>
        </p:txBody>
      </p:sp>
      <p:sp>
        <p:nvSpPr>
          <p:cNvPr id="31" name="Text 29"/>
          <p:cNvSpPr txBox="1"/>
          <p:nvPr/>
        </p:nvSpPr>
        <p:spPr>
          <a:xfrm>
            <a:off x="5894405" y="4043111"/>
            <a:ext cx="1184422" cy="201625"/>
          </a:xfrm>
          <a:prstGeom prst="rect">
            <a:avLst/>
          </a:prstGeom>
          <a:noFill/>
          <a:ln/>
        </p:spPr>
        <p:txBody>
          <a:bodyPr wrap="none" lIns="0" tIns="0" rIns="0" bIns="0" rtlCol="0" anchor="t"/>
          <a:lstStyle/>
          <a:p>
            <a:pPr algn="l" indent="0" marL="0">
              <a:lnSpc>
                <a:spcPts val="1587"/>
              </a:lnSpc>
              <a:buNone/>
            </a:pPr>
            <a:r>
              <a:rPr kern="0" lang="en-US" sz="1118" dirty="0">
                <a:solidFill>
                  <a:srgbClr val="33302B"/>
                </a:solidFill>
                <a:latin typeface="Calibri" pitchFamily="34" charset="0"/>
                <a:ea typeface="Calibri" pitchFamily="34" charset="-122"/>
                <a:cs typeface="Calibri" pitchFamily="34" charset="-120"/>
              </a:rPr>
              <a:t>The thesis, restated</a:t>
            </a:r>
            <a:endParaRPr lang="en-US" sz="1118" dirty="0"/>
          </a:p>
        </p:txBody>
      </p:sp>
      <p:sp>
        <p:nvSpPr>
          <p:cNvPr id="32" name="Text 30"/>
          <p:cNvSpPr txBox="1"/>
          <p:nvPr/>
        </p:nvSpPr>
        <p:spPr>
          <a:xfrm>
            <a:off x="5526999" y="4620646"/>
            <a:ext cx="4363608" cy="418887"/>
          </a:xfrm>
          <a:prstGeom prst="rect">
            <a:avLst/>
          </a:prstGeom>
          <a:noFill/>
          <a:ln/>
        </p:spPr>
        <p:txBody>
          <a:bodyPr wrap="square" lIns="0" tIns="0" rIns="0" bIns="0" rtlCol="0" anchor="t"/>
          <a:lstStyle/>
          <a:p>
            <a:pPr algn="l" indent="0" marL="0">
              <a:lnSpc>
                <a:spcPts val="1649"/>
              </a:lnSpc>
              <a:buNone/>
            </a:pPr>
            <a:r>
              <a:rPr kern="0" lang="en-US" sz="1085" i="1" dirty="0">
                <a:solidFill>
                  <a:srgbClr val="5A554D"/>
                </a:solidFill>
                <a:latin typeface="Calibri" pitchFamily="34" charset="0"/>
                <a:ea typeface="Calibri" pitchFamily="34" charset="-122"/>
                <a:cs typeface="Calibri" pitchFamily="34" charset="-120"/>
              </a:rPr>
              <a:t>What eighteen years did not solve, and what we would build tomorrow morning.</a:t>
            </a:r>
            <a:endParaRPr lang="en-US" sz="1085" dirty="0"/>
          </a:p>
        </p:txBody>
      </p:sp>
      <p:sp>
        <p:nvSpPr>
          <p:cNvPr id="33" name="Text 31"/>
          <p:cNvSpPr txBox="1"/>
          <p:nvPr/>
        </p:nvSpPr>
        <p:spPr>
          <a:xfrm>
            <a:off x="11203686" y="6461790"/>
            <a:ext cx="386700" cy="132405"/>
          </a:xfrm>
          <a:prstGeom prst="rect">
            <a:avLst/>
          </a:prstGeom>
          <a:noFill/>
          <a:ln/>
        </p:spPr>
        <p:txBody>
          <a:bodyPr wrap="none" lIns="0" tIns="0" rIns="0" bIns="0" rtlCol="0" anchor="t"/>
          <a:lstStyle/>
          <a:p>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brief §7</a:t>
            </a:r>
            <a:endParaRPr lang="en-US" sz="855"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88803"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88</a:t>
            </a:r>
            <a:endParaRPr lang="en-US" sz="2545" dirty="0"/>
          </a:p>
        </p:txBody>
      </p:sp>
      <p:sp>
        <p:nvSpPr>
          <p:cNvPr id="3" name="Shape 1"/>
          <p:cNvSpPr/>
          <p:nvPr/>
        </p:nvSpPr>
        <p:spPr>
          <a:xfrm>
            <a:off x="1439540" y="474025"/>
            <a:ext cx="190927" cy="22037"/>
          </a:xfrm>
          <a:prstGeom prst="rect">
            <a:avLst/>
          </a:prstGeom>
          <a:solidFill>
            <a:srgbClr val="14343F"/>
          </a:solidFill>
          <a:ln/>
        </p:spPr>
      </p:sp>
      <p:sp>
        <p:nvSpPr>
          <p:cNvPr id="4" name="Text 2"/>
          <p:cNvSpPr txBox="1"/>
          <p:nvPr/>
        </p:nvSpPr>
        <p:spPr>
          <a:xfrm>
            <a:off x="1718615" y="424556"/>
            <a:ext cx="1142817"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UNSOLVED, 1 AND 2</a:t>
            </a:r>
            <a:endParaRPr lang="en-US" sz="781" dirty="0"/>
          </a:p>
        </p:txBody>
      </p:sp>
      <p:sp>
        <p:nvSpPr>
          <p:cNvPr id="5" name="Text 3"/>
          <p:cNvSpPr txBox="1"/>
          <p:nvPr/>
        </p:nvSpPr>
        <p:spPr>
          <a:xfrm>
            <a:off x="1439540" y="938266"/>
            <a:ext cx="7545903"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Real noise, and the perception–distortion trade-off</a:t>
            </a:r>
            <a:endParaRPr lang="en-US" sz="2660" dirty="0"/>
          </a:p>
        </p:txBody>
      </p:sp>
      <p:sp>
        <p:nvSpPr>
          <p:cNvPr id="6" name="Text 4"/>
          <p:cNvSpPr txBox="1"/>
          <p:nvPr/>
        </p:nvSpPr>
        <p:spPr>
          <a:xfrm>
            <a:off x="1439540" y="1754276"/>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two open problems for which this deck already contains hard evidence, rather than speculation.</a:t>
            </a:r>
            <a:endParaRPr lang="en-US" sz="1157" dirty="0"/>
          </a:p>
        </p:txBody>
      </p:sp>
      <p:sp>
        <p:nvSpPr>
          <p:cNvPr id="7" name="Shape 5"/>
          <p:cNvSpPr/>
          <p:nvPr/>
        </p:nvSpPr>
        <p:spPr>
          <a:xfrm>
            <a:off x="1439540" y="2731770"/>
            <a:ext cx="4950104" cy="14722"/>
          </a:xfrm>
          <a:prstGeom prst="rect">
            <a:avLst/>
          </a:prstGeom>
          <a:solidFill>
            <a:srgbClr val="14343F"/>
          </a:solidFill>
          <a:ln/>
        </p:spPr>
      </p:sp>
      <p:sp>
        <p:nvSpPr>
          <p:cNvPr id="8" name="Text 6"/>
          <p:cNvSpPr txBox="1"/>
          <p:nvPr/>
        </p:nvSpPr>
        <p:spPr>
          <a:xfrm>
            <a:off x="1439540" y="2863901"/>
            <a:ext cx="846552"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OPEN PROBLEM 1</a:t>
            </a:r>
            <a:endParaRPr lang="en-US" sz="665" dirty="0"/>
          </a:p>
        </p:txBody>
      </p:sp>
      <p:sp>
        <p:nvSpPr>
          <p:cNvPr id="9" name="Text 7"/>
          <p:cNvSpPr txBox="1"/>
          <p:nvPr/>
        </p:nvSpPr>
        <p:spPr>
          <a:xfrm>
            <a:off x="1439540" y="3033065"/>
            <a:ext cx="2755087"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A general-purpose blind real denoiser</a:t>
            </a:r>
            <a:endParaRPr lang="en-US" sz="1272" dirty="0"/>
          </a:p>
        </p:txBody>
      </p:sp>
      <p:sp>
        <p:nvSpPr>
          <p:cNvPr id="10" name="Text 8"/>
          <p:cNvSpPr txBox="1"/>
          <p:nvPr/>
        </p:nvSpPr>
        <p:spPr>
          <a:xfrm>
            <a:off x="1439540" y="3322381"/>
            <a:ext cx="4984577" cy="92089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SCUNet's</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abstract states the position as of 2023: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a general-purpose blind denoising method for real images remains unsolved.</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evidence on slide 83 is stark — DnCNN scores 23.66 dB on SIDD. SCUNet's answer is to synthesise realistic degradations; Restormer and NAFNet's answer is to train directly on SIDD's 320 captured scenes.</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[3]</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Neither generalises to an unseen camera with an unseen ISP</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and no benchmark currently measures that.</a:t>
            </a:r>
            <a:endParaRPr lang="en-US" sz="954" dirty="0"/>
          </a:p>
        </p:txBody>
      </p:sp>
      <p:sp>
        <p:nvSpPr>
          <p:cNvPr id="11" name="Shape 9"/>
          <p:cNvSpPr/>
          <p:nvPr/>
        </p:nvSpPr>
        <p:spPr>
          <a:xfrm>
            <a:off x="6712793" y="2731770"/>
            <a:ext cx="4950104" cy="14722"/>
          </a:xfrm>
          <a:prstGeom prst="rect">
            <a:avLst/>
          </a:prstGeom>
          <a:solidFill>
            <a:srgbClr val="14343F"/>
          </a:solidFill>
          <a:ln/>
        </p:spPr>
      </p:sp>
      <p:sp>
        <p:nvSpPr>
          <p:cNvPr id="12" name="Text 10"/>
          <p:cNvSpPr txBox="1"/>
          <p:nvPr/>
        </p:nvSpPr>
        <p:spPr>
          <a:xfrm>
            <a:off x="6712793" y="2863901"/>
            <a:ext cx="781903"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WHY IT IS HARD</a:t>
            </a:r>
            <a:endParaRPr lang="en-US" sz="665" dirty="0"/>
          </a:p>
        </p:txBody>
      </p:sp>
      <p:sp>
        <p:nvSpPr>
          <p:cNvPr id="13" name="Text 11"/>
          <p:cNvSpPr txBox="1"/>
          <p:nvPr/>
        </p:nvSpPr>
        <p:spPr>
          <a:xfrm>
            <a:off x="6712793" y="3033065"/>
            <a:ext cx="2648560"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Noise is a pipeline, not a distribution</a:t>
            </a:r>
            <a:endParaRPr lang="en-US" sz="1272" dirty="0"/>
          </a:p>
        </p:txBody>
      </p:sp>
      <p:sp>
        <p:nvSpPr>
          <p:cNvPr id="14" name="Text 12"/>
          <p:cNvSpPr txBox="1"/>
          <p:nvPr/>
        </p:nvSpPr>
        <p:spPr>
          <a:xfrm>
            <a:off x="6712793" y="3322381"/>
            <a:ext cx="4984577" cy="92089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Real noise is read noise plus shot noise in the raw domain, then transformed by demosaicing, white balance, colour conversion, tone mapping and gamma — each of which correlates it spatially and across channels. SCUNet</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models this by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inverting</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ISP, adding noise in raw, and running it forward again. That is an engineering simulation of a physical device, not a probability model, and it is as good as the device model it assumes.</a:t>
            </a:r>
            <a:endParaRPr lang="en-US" sz="954" dirty="0"/>
          </a:p>
        </p:txBody>
      </p:sp>
      <p:sp>
        <p:nvSpPr>
          <p:cNvPr id="15" name="Shape 13"/>
          <p:cNvSpPr/>
          <p:nvPr/>
        </p:nvSpPr>
        <p:spPr>
          <a:xfrm>
            <a:off x="1439540" y="4537710"/>
            <a:ext cx="4950104" cy="14722"/>
          </a:xfrm>
          <a:prstGeom prst="rect">
            <a:avLst/>
          </a:prstGeom>
          <a:solidFill>
            <a:srgbClr val="14343F"/>
          </a:solidFill>
          <a:ln/>
        </p:spPr>
      </p:sp>
      <p:sp>
        <p:nvSpPr>
          <p:cNvPr id="16" name="Text 14"/>
          <p:cNvSpPr txBox="1"/>
          <p:nvPr/>
        </p:nvSpPr>
        <p:spPr>
          <a:xfrm>
            <a:off x="1439540" y="4669749"/>
            <a:ext cx="846552"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OPEN PROBLEM 2</a:t>
            </a:r>
            <a:endParaRPr lang="en-US" sz="665" dirty="0"/>
          </a:p>
        </p:txBody>
      </p:sp>
      <p:sp>
        <p:nvSpPr>
          <p:cNvPr id="17" name="Text 15"/>
          <p:cNvSpPr txBox="1"/>
          <p:nvPr/>
        </p:nvSpPr>
        <p:spPr>
          <a:xfrm>
            <a:off x="1439540" y="4838913"/>
            <a:ext cx="2057400"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Fidelity metrics reward blur</a:t>
            </a:r>
            <a:endParaRPr lang="en-US" sz="1272" dirty="0"/>
          </a:p>
        </p:txBody>
      </p:sp>
      <p:sp>
        <p:nvSpPr>
          <p:cNvPr id="18" name="Text 16"/>
          <p:cNvSpPr txBox="1"/>
          <p:nvPr/>
        </p:nvSpPr>
        <p:spPr>
          <a:xfrm>
            <a:off x="1439540" y="5128230"/>
            <a:ext cx="4984577" cy="92089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Every loss in Part VI is L1, L2 or PSNR. All three recover a conditional mean, and the conditional mean of the plausible clean images is smoother than any of them.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Noise2Noise</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[2]</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 names this mechanism explicitly:</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an L2-trained regressor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learns to output the average of all plausible explanations, which results in spatial blurriness</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The field's default objective is structurally biased toward the very over-smoothing that BM3D was criticised for.</a:t>
            </a:r>
            <a:endParaRPr lang="en-US" sz="954" dirty="0"/>
          </a:p>
        </p:txBody>
      </p:sp>
      <p:sp>
        <p:nvSpPr>
          <p:cNvPr id="19" name="Shape 17"/>
          <p:cNvSpPr/>
          <p:nvPr/>
        </p:nvSpPr>
        <p:spPr>
          <a:xfrm>
            <a:off x="6712793" y="4537710"/>
            <a:ext cx="4950104" cy="14722"/>
          </a:xfrm>
          <a:prstGeom prst="rect">
            <a:avLst/>
          </a:prstGeom>
          <a:solidFill>
            <a:srgbClr val="14343F"/>
          </a:solidFill>
          <a:ln/>
        </p:spPr>
      </p:sp>
      <p:sp>
        <p:nvSpPr>
          <p:cNvPr id="20" name="Text 18"/>
          <p:cNvSpPr txBox="1"/>
          <p:nvPr/>
        </p:nvSpPr>
        <p:spPr>
          <a:xfrm>
            <a:off x="6712793" y="4669749"/>
            <a:ext cx="825429"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WHY IT PERSISTS</a:t>
            </a:r>
            <a:endParaRPr lang="en-US" sz="665" dirty="0"/>
          </a:p>
        </p:txBody>
      </p:sp>
      <p:sp>
        <p:nvSpPr>
          <p:cNvPr id="21" name="Text 19"/>
          <p:cNvSpPr txBox="1"/>
          <p:nvPr/>
        </p:nvSpPr>
        <p:spPr>
          <a:xfrm>
            <a:off x="6712793" y="4838913"/>
            <a:ext cx="2176272"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The metric constrains the loss</a:t>
            </a:r>
            <a:endParaRPr lang="en-US" sz="1272" dirty="0"/>
          </a:p>
        </p:txBody>
      </p:sp>
      <p:sp>
        <p:nvSpPr>
          <p:cNvPr id="22" name="Text 20"/>
          <p:cNvSpPr txBox="1"/>
          <p:nvPr/>
        </p:nvSpPr>
        <p:spPr>
          <a:xfrm>
            <a:off x="6712793" y="5128230"/>
            <a:ext cx="4984577" cy="931956"/>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Perceptual and adversarial losses would fix the blur and would score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worse</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on PSNR, because they hallucinate plausible texture that does not match the ground truth pixel for pixel. As long as leaderboards are PSNR-ranked, the incentive points the wrong way. This is why, as slide 74 observes, perceptual losses are common in super-resolution and essentially absent from denoising.</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[4]</a:t>
            </a:r>
            <a:endParaRPr lang="en-US" sz="954" dirty="0"/>
          </a:p>
        </p:txBody>
      </p:sp>
      <p:sp>
        <p:nvSpPr>
          <p:cNvPr id="23" name="Text 21"/>
          <p:cNvSpPr txBox="1"/>
          <p:nvPr/>
        </p:nvSpPr>
        <p:spPr>
          <a:xfrm>
            <a:off x="8352953" y="6285494"/>
            <a:ext cx="3309945"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SCUNet23 abstract, §3.2 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N2N18 §2 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Restormer22 Table 6 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[4]</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reading</a:t>
            </a:r>
            <a:endParaRPr lang="en-US" sz="556" dirty="0"/>
          </a:p>
        </p:txBody>
      </p:sp>
      <p:sp>
        <p:nvSpPr>
          <p:cNvPr id="24" name="Shape 22"/>
          <p:cNvSpPr/>
          <p:nvPr/>
        </p:nvSpPr>
        <p:spPr>
          <a:xfrm>
            <a:off x="1439540" y="6556705"/>
            <a:ext cx="10223358" cy="7315"/>
          </a:xfrm>
          <a:prstGeom prst="rect">
            <a:avLst/>
          </a:prstGeom>
          <a:solidFill>
            <a:srgbClr val="C9C4B9"/>
          </a:solidFill>
          <a:ln/>
        </p:spPr>
      </p:sp>
      <p:sp>
        <p:nvSpPr>
          <p:cNvPr id="25" name="Shape 23"/>
          <p:cNvSpPr/>
          <p:nvPr/>
        </p:nvSpPr>
        <p:spPr>
          <a:xfrm>
            <a:off x="1439540" y="6519946"/>
            <a:ext cx="7315" cy="36759"/>
          </a:xfrm>
          <a:prstGeom prst="rect">
            <a:avLst/>
          </a:prstGeom>
          <a:solidFill>
            <a:srgbClr val="C9C4B9"/>
          </a:solidFill>
          <a:ln/>
        </p:spPr>
      </p:sp>
      <p:sp>
        <p:nvSpPr>
          <p:cNvPr id="26" name="Text 24"/>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7" name="Shape 25"/>
          <p:cNvSpPr/>
          <p:nvPr/>
        </p:nvSpPr>
        <p:spPr>
          <a:xfrm>
            <a:off x="5415351" y="6519946"/>
            <a:ext cx="7315" cy="36759"/>
          </a:xfrm>
          <a:prstGeom prst="rect">
            <a:avLst/>
          </a:prstGeom>
          <a:solidFill>
            <a:srgbClr val="C9C4B9"/>
          </a:solidFill>
          <a:ln/>
        </p:spPr>
      </p:sp>
      <p:sp>
        <p:nvSpPr>
          <p:cNvPr id="28" name="Text 26"/>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9" name="Shape 27"/>
          <p:cNvSpPr/>
          <p:nvPr/>
        </p:nvSpPr>
        <p:spPr>
          <a:xfrm>
            <a:off x="7119610" y="6519946"/>
            <a:ext cx="7315" cy="36759"/>
          </a:xfrm>
          <a:prstGeom prst="rect">
            <a:avLst/>
          </a:prstGeom>
          <a:solidFill>
            <a:srgbClr val="C9C4B9"/>
          </a:solidFill>
          <a:ln/>
        </p:spPr>
      </p:sp>
      <p:sp>
        <p:nvSpPr>
          <p:cNvPr id="30" name="Text 28"/>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1" name="Shape 29"/>
          <p:cNvSpPr/>
          <p:nvPr/>
        </p:nvSpPr>
        <p:spPr>
          <a:xfrm>
            <a:off x="9958639" y="6519946"/>
            <a:ext cx="7315" cy="36759"/>
          </a:xfrm>
          <a:prstGeom prst="rect">
            <a:avLst/>
          </a:prstGeom>
          <a:solidFill>
            <a:srgbClr val="C9C4B9"/>
          </a:solidFill>
          <a:ln/>
        </p:spPr>
      </p:sp>
      <p:sp>
        <p:nvSpPr>
          <p:cNvPr id="32" name="Text 30"/>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3" name="Shape 31"/>
          <p:cNvSpPr/>
          <p:nvPr/>
        </p:nvSpPr>
        <p:spPr>
          <a:xfrm>
            <a:off x="11662898" y="6519946"/>
            <a:ext cx="7315" cy="36759"/>
          </a:xfrm>
          <a:prstGeom prst="rect">
            <a:avLst/>
          </a:prstGeom>
          <a:solidFill>
            <a:srgbClr val="C9C4B9"/>
          </a:solidFill>
          <a:ln/>
        </p:spPr>
      </p:sp>
      <p:sp>
        <p:nvSpPr>
          <p:cNvPr id="34" name="Text 32"/>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81671"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89</a:t>
            </a:r>
            <a:endParaRPr lang="en-US" sz="2545" dirty="0"/>
          </a:p>
        </p:txBody>
      </p:sp>
      <p:sp>
        <p:nvSpPr>
          <p:cNvPr id="3" name="Shape 1"/>
          <p:cNvSpPr/>
          <p:nvPr/>
        </p:nvSpPr>
        <p:spPr>
          <a:xfrm>
            <a:off x="1439540" y="473568"/>
            <a:ext cx="190927" cy="22037"/>
          </a:xfrm>
          <a:prstGeom prst="rect">
            <a:avLst/>
          </a:prstGeom>
          <a:solidFill>
            <a:srgbClr val="14343F"/>
          </a:solidFill>
          <a:ln/>
        </p:spPr>
      </p:sp>
      <p:sp>
        <p:nvSpPr>
          <p:cNvPr id="4" name="Text 2"/>
          <p:cNvSpPr txBox="1"/>
          <p:nvPr/>
        </p:nvSpPr>
        <p:spPr>
          <a:xfrm>
            <a:off x="1718615" y="424099"/>
            <a:ext cx="1055766"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UNSOLVED, 3 TO 5</a:t>
            </a:r>
            <a:endParaRPr lang="en-US" sz="781" dirty="0"/>
          </a:p>
        </p:txBody>
      </p:sp>
      <p:sp>
        <p:nvSpPr>
          <p:cNvPr id="5" name="Text 3"/>
          <p:cNvSpPr txBox="1"/>
          <p:nvPr/>
        </p:nvSpPr>
        <p:spPr>
          <a:xfrm>
            <a:off x="1439540" y="937351"/>
            <a:ext cx="7559619"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Efficiency, evaluation, and the self-supervision gap</a:t>
            </a:r>
            <a:endParaRPr lang="en-US" sz="2660" dirty="0"/>
          </a:p>
        </p:txBody>
      </p:sp>
      <p:sp>
        <p:nvSpPr>
          <p:cNvPr id="6" name="Text 4"/>
          <p:cNvSpPr txBox="1"/>
          <p:nvPr/>
        </p:nvSpPr>
        <p:spPr>
          <a:xfrm>
            <a:off x="1439540" y="1752448"/>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Three further open problems, each of which this deck has produced direct evidence for rather than inherited from a survey.</a:t>
            </a:r>
            <a:endParaRPr lang="en-US" sz="1157" dirty="0"/>
          </a:p>
        </p:txBody>
      </p:sp>
      <p:sp>
        <p:nvSpPr>
          <p:cNvPr id="7" name="Shape 5"/>
          <p:cNvSpPr/>
          <p:nvPr/>
        </p:nvSpPr>
        <p:spPr>
          <a:xfrm>
            <a:off x="1439540" y="2729118"/>
            <a:ext cx="4950104" cy="14722"/>
          </a:xfrm>
          <a:prstGeom prst="rect">
            <a:avLst/>
          </a:prstGeom>
          <a:solidFill>
            <a:srgbClr val="14343F"/>
          </a:solidFill>
          <a:ln/>
        </p:spPr>
      </p:sp>
      <p:sp>
        <p:nvSpPr>
          <p:cNvPr id="8" name="Text 6"/>
          <p:cNvSpPr txBox="1"/>
          <p:nvPr/>
        </p:nvSpPr>
        <p:spPr>
          <a:xfrm>
            <a:off x="1439540" y="2861249"/>
            <a:ext cx="846552"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OPEN PROBLEM 3</a:t>
            </a:r>
            <a:endParaRPr lang="en-US" sz="665" dirty="0"/>
          </a:p>
        </p:txBody>
      </p:sp>
      <p:sp>
        <p:nvSpPr>
          <p:cNvPr id="9" name="Text 7"/>
          <p:cNvSpPr txBox="1"/>
          <p:nvPr/>
        </p:nvSpPr>
        <p:spPr>
          <a:xfrm>
            <a:off x="1439540" y="3030413"/>
            <a:ext cx="2621676"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Nobody agrees what efficient means</a:t>
            </a:r>
            <a:endParaRPr lang="en-US" sz="1272" dirty="0"/>
          </a:p>
        </p:txBody>
      </p:sp>
      <p:sp>
        <p:nvSpPr>
          <p:cNvPr id="10" name="Text 8"/>
          <p:cNvSpPr txBox="1"/>
          <p:nvPr/>
        </p:nvSpPr>
        <p:spPr>
          <a:xfrm>
            <a:off x="1439540" y="3319729"/>
            <a:ext cx="4984577" cy="935523"/>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Slide 76 produced three incompatible rankings of the same models from parameters, wall-clock and quality — and Restormer's</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[4]</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FLOP claim is a fourth. MambaIR's own changelog concedes its published </a:t>
            </a:r>
            <a:pPr algn="l" indent="0" marL="0">
              <a:lnSpc>
                <a:spcPts val="1450"/>
              </a:lnSpc>
              <a:buNone/>
            </a:pPr>
            <a:r>
              <a:rPr kern="0" lang="en-US" sz="859" dirty="0">
                <a:solidFill>
                  <a:srgbClr val="145A66"/>
                </a:solidFill>
                <a:latin typeface="Consolas" pitchFamily="34" charset="0"/>
                <a:ea typeface="Consolas" pitchFamily="34" charset="-122"/>
                <a:cs typeface="Consolas" pitchFamily="34" charset="-120"/>
              </a:rPr>
              <a:t>thop</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complexity figures were wrong.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The field has no agreed cost metric</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which makes efficiency claims across papers close to meaningless and is why our benchmark reports the counting method alongside every number.</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[1]</a:t>
            </a:r>
            <a:endParaRPr lang="en-US" sz="954" dirty="0"/>
          </a:p>
        </p:txBody>
      </p:sp>
      <p:sp>
        <p:nvSpPr>
          <p:cNvPr id="11" name="Shape 9"/>
          <p:cNvSpPr/>
          <p:nvPr/>
        </p:nvSpPr>
        <p:spPr>
          <a:xfrm>
            <a:off x="6712793" y="2729118"/>
            <a:ext cx="4950104" cy="14722"/>
          </a:xfrm>
          <a:prstGeom prst="rect">
            <a:avLst/>
          </a:prstGeom>
          <a:solidFill>
            <a:srgbClr val="14343F"/>
          </a:solidFill>
          <a:ln/>
        </p:spPr>
      </p:sp>
      <p:sp>
        <p:nvSpPr>
          <p:cNvPr id="12" name="Text 10"/>
          <p:cNvSpPr txBox="1"/>
          <p:nvPr/>
        </p:nvSpPr>
        <p:spPr>
          <a:xfrm>
            <a:off x="6712793" y="2861249"/>
            <a:ext cx="846552"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OPEN PROBLEM 4</a:t>
            </a:r>
            <a:endParaRPr lang="en-US" sz="665" dirty="0"/>
          </a:p>
        </p:txBody>
      </p:sp>
      <p:sp>
        <p:nvSpPr>
          <p:cNvPr id="13" name="Text 11"/>
          <p:cNvSpPr txBox="1"/>
          <p:nvPr/>
        </p:nvSpPr>
        <p:spPr>
          <a:xfrm>
            <a:off x="6712793" y="3030413"/>
            <a:ext cx="2352203"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The benchmarks have saturated</a:t>
            </a:r>
            <a:endParaRPr lang="en-US" sz="1272" dirty="0"/>
          </a:p>
        </p:txBody>
      </p:sp>
      <p:sp>
        <p:nvSpPr>
          <p:cNvPr id="14" name="Text 12"/>
          <p:cNvSpPr txBox="1"/>
          <p:nvPr/>
        </p:nvSpPr>
        <p:spPr>
          <a:xfrm>
            <a:off x="6712793" y="3319729"/>
            <a:ext cx="4984577" cy="73673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BSD68 σ=25 moved 0.36 dB in the five years from DnCNN to Restormer</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[4]</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while Urban100 moved five times as much and SIDD moved sixteen decibels. A benchmark that cannot distinguish 2017 from 2022 is no longer measuring the thing the field is working on.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New capability is arriving faster than the instruments to detect it.</a:t>
            </a:r>
            <a:endParaRPr lang="en-US" sz="954" dirty="0"/>
          </a:p>
        </p:txBody>
      </p:sp>
      <p:sp>
        <p:nvSpPr>
          <p:cNvPr id="15" name="Shape 13"/>
          <p:cNvSpPr/>
          <p:nvPr/>
        </p:nvSpPr>
        <p:spPr>
          <a:xfrm>
            <a:off x="1439540" y="4538167"/>
            <a:ext cx="4950104" cy="14722"/>
          </a:xfrm>
          <a:prstGeom prst="rect">
            <a:avLst/>
          </a:prstGeom>
          <a:solidFill>
            <a:srgbClr val="14343F"/>
          </a:solidFill>
          <a:ln/>
        </p:spPr>
      </p:sp>
      <p:sp>
        <p:nvSpPr>
          <p:cNvPr id="16" name="Text 14"/>
          <p:cNvSpPr txBox="1"/>
          <p:nvPr/>
        </p:nvSpPr>
        <p:spPr>
          <a:xfrm>
            <a:off x="1439540" y="4670207"/>
            <a:ext cx="846552"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OPEN PROBLEM 5</a:t>
            </a:r>
            <a:endParaRPr lang="en-US" sz="665" dirty="0"/>
          </a:p>
        </p:txBody>
      </p:sp>
      <p:sp>
        <p:nvSpPr>
          <p:cNvPr id="17" name="Text 15"/>
          <p:cNvSpPr txBox="1"/>
          <p:nvPr/>
        </p:nvSpPr>
        <p:spPr>
          <a:xfrm>
            <a:off x="1439540" y="4839371"/>
            <a:ext cx="2948300"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Self-supervision has not met supervision</a:t>
            </a:r>
            <a:endParaRPr lang="en-US" sz="1272" dirty="0"/>
          </a:p>
        </p:txBody>
      </p:sp>
      <p:sp>
        <p:nvSpPr>
          <p:cNvPr id="18" name="Text 16"/>
          <p:cNvSpPr txBox="1"/>
          <p:nvPr/>
        </p:nvSpPr>
        <p:spPr>
          <a:xfrm>
            <a:off x="1439540" y="5128778"/>
            <a:ext cx="4984577" cy="92089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N2V</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[2]</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trails supervised training by 1.35 dB on BSD68 and sits below BM3D. P2N's</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[3]</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contribution is removing the </a:t>
            </a:r>
            <a:pPr algn="l" indent="0" marL="0">
              <a:lnSpc>
                <a:spcPts val="1450"/>
              </a:lnSpc>
              <a:buNone/>
            </a:pPr>
            <a:r>
              <a:rPr kern="0" lang="en-US" sz="954" i="1" dirty="0">
                <a:solidFill>
                  <a:srgbClr val="33302B"/>
                </a:solidFill>
                <a:latin typeface="Calibri" pitchFamily="34" charset="0"/>
                <a:ea typeface="Calibri" pitchFamily="34" charset="-122"/>
                <a:cs typeface="Calibri" pitchFamily="34" charset="-120"/>
              </a:rPr>
              <a:t>information loss</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not closing the quality gap, and it still pays per-image test-time optimisation.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Bottleneck 2 is mitigated, not closed</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 and the domains that need it most, microscopy and medical imaging, are precisely those where no clean reference exists to measure the remaining gap.</a:t>
            </a:r>
            <a:endParaRPr lang="en-US" sz="954" dirty="0"/>
          </a:p>
        </p:txBody>
      </p:sp>
      <p:sp>
        <p:nvSpPr>
          <p:cNvPr id="19" name="Shape 17"/>
          <p:cNvSpPr/>
          <p:nvPr/>
        </p:nvSpPr>
        <p:spPr>
          <a:xfrm>
            <a:off x="6712793" y="4538167"/>
            <a:ext cx="4950104" cy="14722"/>
          </a:xfrm>
          <a:prstGeom prst="rect">
            <a:avLst/>
          </a:prstGeom>
          <a:solidFill>
            <a:srgbClr val="14343F"/>
          </a:solidFill>
          <a:ln/>
        </p:spPr>
      </p:sp>
      <p:sp>
        <p:nvSpPr>
          <p:cNvPr id="20" name="Text 18"/>
          <p:cNvSpPr txBox="1"/>
          <p:nvPr/>
        </p:nvSpPr>
        <p:spPr>
          <a:xfrm>
            <a:off x="6712793" y="4670207"/>
            <a:ext cx="846552" cy="103053"/>
          </a:xfrm>
          <a:prstGeom prst="rect">
            <a:avLst/>
          </a:prstGeom>
          <a:noFill/>
          <a:ln/>
        </p:spPr>
        <p:txBody>
          <a:bodyPr wrap="none" lIns="0" tIns="0" rIns="0" bIns="0" rtlCol="0" anchor="t"/>
          <a:lstStyle/>
          <a:p>
            <a:pPr algn="l" indent="0" marL="0">
              <a:lnSpc>
                <a:spcPts val="811"/>
              </a:lnSpc>
              <a:buNone/>
            </a:pPr>
            <a:r>
              <a:rPr lang="en-US" sz="665" b="1" spc="98" kern="0" dirty="0">
                <a:solidFill>
                  <a:srgbClr val="14343F"/>
                </a:solidFill>
                <a:latin typeface="Calibri" pitchFamily="34" charset="0"/>
                <a:ea typeface="Calibri" pitchFamily="34" charset="-122"/>
                <a:cs typeface="Calibri" pitchFamily="34" charset="-120"/>
              </a:rPr>
              <a:t>OPEN PROBLEM 6</a:t>
            </a:r>
            <a:endParaRPr lang="en-US" sz="665" dirty="0"/>
          </a:p>
        </p:txBody>
      </p:sp>
      <p:sp>
        <p:nvSpPr>
          <p:cNvPr id="21" name="Text 19"/>
          <p:cNvSpPr txBox="1"/>
          <p:nvPr/>
        </p:nvSpPr>
        <p:spPr>
          <a:xfrm>
            <a:off x="6712793" y="4839371"/>
            <a:ext cx="2726101"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The two branches have never merged</a:t>
            </a:r>
            <a:endParaRPr lang="en-US" sz="1272" dirty="0"/>
          </a:p>
        </p:txBody>
      </p:sp>
      <p:sp>
        <p:nvSpPr>
          <p:cNvPr id="22" name="Text 20"/>
          <p:cNvSpPr txBox="1"/>
          <p:nvPr/>
        </p:nvSpPr>
        <p:spPr>
          <a:xfrm>
            <a:off x="6712793" y="5128778"/>
            <a:ext cx="4984577" cy="736732"/>
          </a:xfrm>
          <a:prstGeom prst="rect">
            <a:avLst/>
          </a:prstGeom>
          <a:noFill/>
          <a:ln/>
        </p:spPr>
        <p:txBody>
          <a:bodyPr wrap="square" lIns="0" tIns="0" rIns="0" bIns="0" rtlCol="0" anchor="t"/>
          <a:lstStyle/>
          <a:p>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This is our own observation and the structural claim of the deck. P2N</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[3]</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ships the 2018 Noise2Noise U-Net verbatim; Restormer, NAFNet and MambaIR</a:t>
            </a:r>
            <a:pPr algn="l" indent="0" marL="0">
              <a:lnSpc>
                <a:spcPts val="1450"/>
              </a:lnSpc>
              <a:buNone/>
            </a:pPr>
            <a:r>
              <a:rPr kern="0" lang="en-US" sz="706" b="1" dirty="0">
                <a:solidFill>
                  <a:srgbClr val="C0451A"/>
                </a:solidFill>
                <a:latin typeface="Calibri" pitchFamily="34" charset="0"/>
                <a:ea typeface="Calibri" pitchFamily="34" charset="-122"/>
                <a:cs typeface="Calibri" pitchFamily="34" charset="-120"/>
              </a:rPr>
              <a:t>[4]</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all assume paired data. </a:t>
            </a:r>
            <a:pPr algn="l" indent="0" marL="0">
              <a:lnSpc>
                <a:spcPts val="1450"/>
              </a:lnSpc>
              <a:buNone/>
            </a:pPr>
            <a:r>
              <a:rPr kern="0" lang="en-US" sz="954" b="1" dirty="0">
                <a:solidFill>
                  <a:srgbClr val="33302B"/>
                </a:solidFill>
                <a:latin typeface="Calibri" pitchFamily="34" charset="0"/>
                <a:ea typeface="Calibri" pitchFamily="34" charset="-122"/>
                <a:cs typeface="Calibri" pitchFamily="34" charset="-120"/>
              </a:rPr>
              <a:t>Nobody has published a state-space or Transformer backbone trained by RDC/DCS supervision.</a:t>
            </a:r>
            <a:pPr algn="l" indent="0" marL="0">
              <a:lnSpc>
                <a:spcPts val="1450"/>
              </a:lnSpc>
              <a:buNone/>
            </a:pPr>
            <a:r>
              <a:rPr kern="0" lang="en-US" sz="954" dirty="0">
                <a:solidFill>
                  <a:srgbClr val="33302B"/>
                </a:solidFill>
                <a:latin typeface="Calibri" pitchFamily="34" charset="0"/>
                <a:ea typeface="Calibri" pitchFamily="34" charset="-122"/>
                <a:cs typeface="Calibri" pitchFamily="34" charset="-120"/>
              </a:rPr>
              <a:t> Whether the branches compose or conflict is, as far as we found, an open and apparently untested question.</a:t>
            </a:r>
            <a:endParaRPr lang="en-US" sz="954" dirty="0"/>
          </a:p>
        </p:txBody>
      </p:sp>
      <p:sp>
        <p:nvSpPr>
          <p:cNvPr id="23" name="Text 21"/>
          <p:cNvSpPr txBox="1"/>
          <p:nvPr/>
        </p:nvSpPr>
        <p:spPr>
          <a:xfrm>
            <a:off x="8034193" y="6285494"/>
            <a:ext cx="3628705"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measured, Stage 2 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N2V19 §4.1 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P2N25 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[4]</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Restormer22 Table 4 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[5]</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reading</a:t>
            </a:r>
            <a:endParaRPr lang="en-US" sz="556" dirty="0"/>
          </a:p>
        </p:txBody>
      </p:sp>
      <p:sp>
        <p:nvSpPr>
          <p:cNvPr id="24" name="Shape 22"/>
          <p:cNvSpPr/>
          <p:nvPr/>
        </p:nvSpPr>
        <p:spPr>
          <a:xfrm>
            <a:off x="1439540" y="6556705"/>
            <a:ext cx="10223358" cy="7315"/>
          </a:xfrm>
          <a:prstGeom prst="rect">
            <a:avLst/>
          </a:prstGeom>
          <a:solidFill>
            <a:srgbClr val="C9C4B9"/>
          </a:solidFill>
          <a:ln/>
        </p:spPr>
      </p:sp>
      <p:sp>
        <p:nvSpPr>
          <p:cNvPr id="25" name="Shape 23"/>
          <p:cNvSpPr/>
          <p:nvPr/>
        </p:nvSpPr>
        <p:spPr>
          <a:xfrm>
            <a:off x="1439540" y="6519946"/>
            <a:ext cx="7315" cy="36759"/>
          </a:xfrm>
          <a:prstGeom prst="rect">
            <a:avLst/>
          </a:prstGeom>
          <a:solidFill>
            <a:srgbClr val="C9C4B9"/>
          </a:solidFill>
          <a:ln/>
        </p:spPr>
      </p:sp>
      <p:sp>
        <p:nvSpPr>
          <p:cNvPr id="26" name="Text 24"/>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7" name="Shape 25"/>
          <p:cNvSpPr/>
          <p:nvPr/>
        </p:nvSpPr>
        <p:spPr>
          <a:xfrm>
            <a:off x="5415351" y="6519946"/>
            <a:ext cx="7315" cy="36759"/>
          </a:xfrm>
          <a:prstGeom prst="rect">
            <a:avLst/>
          </a:prstGeom>
          <a:solidFill>
            <a:srgbClr val="C9C4B9"/>
          </a:solidFill>
          <a:ln/>
        </p:spPr>
      </p:sp>
      <p:sp>
        <p:nvSpPr>
          <p:cNvPr id="28" name="Text 26"/>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29" name="Shape 27"/>
          <p:cNvSpPr/>
          <p:nvPr/>
        </p:nvSpPr>
        <p:spPr>
          <a:xfrm>
            <a:off x="7119610" y="6519946"/>
            <a:ext cx="7315" cy="36759"/>
          </a:xfrm>
          <a:prstGeom prst="rect">
            <a:avLst/>
          </a:prstGeom>
          <a:solidFill>
            <a:srgbClr val="C9C4B9"/>
          </a:solidFill>
          <a:ln/>
        </p:spPr>
      </p:sp>
      <p:sp>
        <p:nvSpPr>
          <p:cNvPr id="30" name="Text 28"/>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1" name="Shape 29"/>
          <p:cNvSpPr/>
          <p:nvPr/>
        </p:nvSpPr>
        <p:spPr>
          <a:xfrm>
            <a:off x="9958639" y="6519946"/>
            <a:ext cx="7315" cy="36759"/>
          </a:xfrm>
          <a:prstGeom prst="rect">
            <a:avLst/>
          </a:prstGeom>
          <a:solidFill>
            <a:srgbClr val="C9C4B9"/>
          </a:solidFill>
          <a:ln/>
        </p:spPr>
      </p:sp>
      <p:sp>
        <p:nvSpPr>
          <p:cNvPr id="32" name="Text 30"/>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3" name="Shape 31"/>
          <p:cNvSpPr/>
          <p:nvPr/>
        </p:nvSpPr>
        <p:spPr>
          <a:xfrm>
            <a:off x="11662898" y="6519946"/>
            <a:ext cx="7315" cy="36759"/>
          </a:xfrm>
          <a:prstGeom prst="rect">
            <a:avLst/>
          </a:prstGeom>
          <a:solidFill>
            <a:srgbClr val="C9C4B9"/>
          </a:solidFill>
          <a:ln/>
        </p:spPr>
      </p:sp>
      <p:sp>
        <p:nvSpPr>
          <p:cNvPr id="34" name="Text 32"/>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98221"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90</a:t>
            </a:r>
            <a:endParaRPr lang="en-US" sz="2708" dirty="0"/>
          </a:p>
        </p:txBody>
      </p:sp>
      <p:sp>
        <p:nvSpPr>
          <p:cNvPr id="3" name="Shape 1"/>
          <p:cNvSpPr/>
          <p:nvPr/>
        </p:nvSpPr>
        <p:spPr>
          <a:xfrm>
            <a:off x="1531803" y="461132"/>
            <a:ext cx="203180" cy="23409"/>
          </a:xfrm>
          <a:prstGeom prst="rect">
            <a:avLst/>
          </a:prstGeom>
          <a:solidFill>
            <a:srgbClr val="14343F"/>
          </a:solidFill>
          <a:ln/>
        </p:spPr>
      </p:sp>
      <p:sp>
        <p:nvSpPr>
          <p:cNvPr id="4" name="Text 2"/>
          <p:cNvSpPr txBox="1"/>
          <p:nvPr/>
        </p:nvSpPr>
        <p:spPr>
          <a:xfrm>
            <a:off x="1828800" y="408462"/>
            <a:ext cx="1472824"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THE PRACTICAL ANSWER</a:t>
            </a:r>
            <a:endParaRPr lang="en-US" sz="831" dirty="0"/>
          </a:p>
        </p:txBody>
      </p:sp>
      <p:sp>
        <p:nvSpPr>
          <p:cNvPr id="5" name="Text 3"/>
          <p:cNvSpPr txBox="1"/>
          <p:nvPr/>
        </p:nvSpPr>
        <p:spPr>
          <a:xfrm>
            <a:off x="1531803" y="646024"/>
            <a:ext cx="7259879"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What we would deploy, and on what evidence</a:t>
            </a:r>
            <a:endParaRPr lang="en-US" sz="2831" dirty="0"/>
          </a:p>
        </p:txBody>
      </p:sp>
      <p:sp>
        <p:nvSpPr>
          <p:cNvPr id="6" name="Text 4"/>
          <p:cNvSpPr txBox="1"/>
          <p:nvPr/>
        </p:nvSpPr>
        <p:spPr>
          <a:xfrm>
            <a:off x="1531803" y="1161928"/>
            <a:ext cx="6060460" cy="468904"/>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The brief asks what the current industry and academic standard is. The honest answer is that it depends on one constraint, and the fork in this deck's timeline predicts which.</a:t>
            </a:r>
            <a:endParaRPr lang="en-US" sz="1231" dirty="0"/>
          </a:p>
        </p:txBody>
      </p:sp>
      <p:sp>
        <p:nvSpPr>
          <p:cNvPr id="7" name="Shape 5"/>
          <p:cNvSpPr/>
          <p:nvPr/>
        </p:nvSpPr>
        <p:spPr>
          <a:xfrm>
            <a:off x="1570848" y="2052828"/>
            <a:ext cx="7772" cy="2731404"/>
          </a:xfrm>
          <a:prstGeom prst="rect">
            <a:avLst/>
          </a:prstGeom>
          <a:solidFill>
            <a:srgbClr val="C9C4B9"/>
          </a:solidFill>
          <a:ln/>
        </p:spPr>
      </p:sp>
      <p:sp>
        <p:nvSpPr>
          <p:cNvPr id="8" name="Shape 6"/>
          <p:cNvSpPr/>
          <p:nvPr/>
        </p:nvSpPr>
        <p:spPr>
          <a:xfrm>
            <a:off x="1797528" y="2470983"/>
            <a:ext cx="9831537" cy="7772"/>
          </a:xfrm>
          <a:prstGeom prst="rect">
            <a:avLst/>
          </a:prstGeom>
          <a:solidFill>
            <a:srgbClr val="DFDBD2"/>
          </a:solidFill>
          <a:ln/>
        </p:spPr>
      </p:sp>
      <p:sp>
        <p:nvSpPr>
          <p:cNvPr id="9" name="Shape 7"/>
          <p:cNvSpPr/>
          <p:nvPr/>
        </p:nvSpPr>
        <p:spPr>
          <a:xfrm>
            <a:off x="1531803" y="2121225"/>
            <a:ext cx="78181" cy="78181"/>
          </a:xfrm>
          <a:prstGeom prst="rect">
            <a:avLst/>
          </a:prstGeom>
          <a:solidFill>
            <a:srgbClr val="14343F"/>
          </a:solidFill>
          <a:ln/>
        </p:spPr>
      </p:sp>
      <p:sp>
        <p:nvSpPr>
          <p:cNvPr id="10" name="Text 8"/>
          <p:cNvSpPr txBox="1"/>
          <p:nvPr/>
        </p:nvSpPr>
        <p:spPr>
          <a:xfrm>
            <a:off x="1797528" y="1992386"/>
            <a:ext cx="3028676" cy="335768"/>
          </a:xfrm>
          <a:prstGeom prst="rect">
            <a:avLst/>
          </a:prstGeom>
          <a:noFill/>
          <a:ln/>
        </p:spPr>
        <p:txBody>
          <a:bodyPr wrap="square" lIns="0" tIns="0" rIns="0" bIns="0" rtlCol="0" anchor="t"/>
          <a:lstStyle/>
          <a:p>
            <a:pPr algn="l" indent="0" marL="0">
              <a:lnSpc>
                <a:spcPts val="1351"/>
              </a:lnSpc>
              <a:buNone/>
            </a:pPr>
            <a:r>
              <a:rPr lang="en-US" sz="1108" b="1" spc="-18" kern="0" dirty="0">
                <a:solidFill>
                  <a:srgbClr val="14120F"/>
                </a:solidFill>
                <a:latin typeface="Cambria" pitchFamily="34" charset="0"/>
                <a:ea typeface="Cambria" pitchFamily="34" charset="-122"/>
                <a:cs typeface="Cambria" pitchFamily="34" charset="-120"/>
              </a:rPr>
              <a:t>Real photographs, GPU available, paired data exists</a:t>
            </a:r>
            <a:endParaRPr lang="en-US" sz="1108" dirty="0"/>
          </a:p>
        </p:txBody>
      </p:sp>
      <p:sp>
        <p:nvSpPr>
          <p:cNvPr id="11" name="Shape 9"/>
          <p:cNvSpPr/>
          <p:nvPr/>
        </p:nvSpPr>
        <p:spPr>
          <a:xfrm>
            <a:off x="5032949" y="1966874"/>
            <a:ext cx="7772" cy="386883"/>
          </a:xfrm>
          <a:prstGeom prst="rect">
            <a:avLst/>
          </a:prstGeom>
          <a:solidFill>
            <a:srgbClr val="DFDBD2"/>
          </a:solidFill>
          <a:ln/>
        </p:spPr>
      </p:sp>
      <p:sp>
        <p:nvSpPr>
          <p:cNvPr id="12" name="Text 10"/>
          <p:cNvSpPr txBox="1"/>
          <p:nvPr/>
        </p:nvSpPr>
        <p:spPr>
          <a:xfrm>
            <a:off x="5243993" y="1963948"/>
            <a:ext cx="6426220" cy="398587"/>
          </a:xfrm>
          <a:prstGeom prst="rect">
            <a:avLst/>
          </a:prstGeom>
          <a:noFill/>
          <a:ln/>
        </p:spPr>
        <p:txBody>
          <a:bodyPr wrap="square" lIns="0" tIns="0" rIns="0" bIns="0" rtlCol="0" anchor="t"/>
          <a:lstStyle/>
          <a:p>
            <a:pPr algn="l" indent="0" marL="0">
              <a:lnSpc>
                <a:spcPts val="1523"/>
              </a:lnSpc>
              <a:buNone/>
            </a:pPr>
            <a:r>
              <a:rPr kern="0" lang="en-US" sz="1015" b="1" dirty="0">
                <a:solidFill>
                  <a:srgbClr val="33302B"/>
                </a:solidFill>
                <a:latin typeface="Calibri" pitchFamily="34" charset="0"/>
                <a:ea typeface="Calibri" pitchFamily="34" charset="-122"/>
                <a:cs typeface="Calibri" pitchFamily="34" charset="-120"/>
              </a:rPr>
              <a:t>NAFNet.</a:t>
            </a:r>
            <a:pPr algn="l" indent="0" marL="0">
              <a:lnSpc>
                <a:spcPts val="1523"/>
              </a:lnSpc>
              <a:buNone/>
            </a:pPr>
            <a:r>
              <a:rPr kern="0" lang="en-US" sz="1015" dirty="0">
                <a:solidFill>
                  <a:srgbClr val="33302B"/>
                </a:solidFill>
                <a:latin typeface="Calibri" pitchFamily="34" charset="0"/>
                <a:ea typeface="Calibri" pitchFamily="34" charset="-122"/>
                <a:cs typeface="Calibri" pitchFamily="34" charset="-120"/>
              </a:rPr>
              <a:t> 40.30 dB on SIDD, best accuracy-per-millisecond measured, and by a wide margin the simplest code in Part VI — no attention, no activation functions. </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[1]</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[7]</a:t>
            </a:r>
            <a:endParaRPr lang="en-US" sz="1015" dirty="0"/>
          </a:p>
        </p:txBody>
      </p:sp>
      <p:sp>
        <p:nvSpPr>
          <p:cNvPr id="13" name="Shape 11"/>
          <p:cNvSpPr/>
          <p:nvPr/>
        </p:nvSpPr>
        <p:spPr>
          <a:xfrm>
            <a:off x="1797528" y="3100090"/>
            <a:ext cx="9831537" cy="7772"/>
          </a:xfrm>
          <a:prstGeom prst="rect">
            <a:avLst/>
          </a:prstGeom>
          <a:solidFill>
            <a:srgbClr val="DFDBD2"/>
          </a:solidFill>
          <a:ln/>
        </p:spPr>
      </p:sp>
      <p:sp>
        <p:nvSpPr>
          <p:cNvPr id="14" name="Shape 12"/>
          <p:cNvSpPr/>
          <p:nvPr/>
        </p:nvSpPr>
        <p:spPr>
          <a:xfrm>
            <a:off x="1531803" y="2750332"/>
            <a:ext cx="78181" cy="78181"/>
          </a:xfrm>
          <a:prstGeom prst="rect">
            <a:avLst/>
          </a:prstGeom>
          <a:solidFill>
            <a:srgbClr val="14343F"/>
          </a:solidFill>
          <a:ln/>
        </p:spPr>
      </p:sp>
      <p:sp>
        <p:nvSpPr>
          <p:cNvPr id="15" name="Text 13"/>
          <p:cNvSpPr txBox="1"/>
          <p:nvPr/>
        </p:nvSpPr>
        <p:spPr>
          <a:xfrm>
            <a:off x="1797528" y="2703606"/>
            <a:ext cx="2700498" cy="171633"/>
          </a:xfrm>
          <a:prstGeom prst="rect">
            <a:avLst/>
          </a:prstGeom>
          <a:noFill/>
          <a:ln/>
        </p:spPr>
        <p:txBody>
          <a:bodyPr wrap="none" lIns="0" tIns="0" rIns="0" bIns="0" rtlCol="0" anchor="t"/>
          <a:lstStyle/>
          <a:p>
            <a:pPr algn="l" indent="0" marL="0">
              <a:lnSpc>
                <a:spcPts val="1351"/>
              </a:lnSpc>
              <a:buNone/>
            </a:pPr>
            <a:r>
              <a:rPr lang="en-US" sz="1108" b="1" spc="-18" kern="0" dirty="0">
                <a:solidFill>
                  <a:srgbClr val="14120F"/>
                </a:solidFill>
                <a:latin typeface="Cambria" pitchFamily="34" charset="0"/>
                <a:ea typeface="Cambria" pitchFamily="34" charset="-122"/>
                <a:cs typeface="Cambria" pitchFamily="34" charset="-120"/>
              </a:rPr>
              <a:t>CPU-bound or memory-bound deployment</a:t>
            </a:r>
            <a:endParaRPr lang="en-US" sz="1108" dirty="0"/>
          </a:p>
        </p:txBody>
      </p:sp>
      <p:sp>
        <p:nvSpPr>
          <p:cNvPr id="16" name="Shape 14"/>
          <p:cNvSpPr/>
          <p:nvPr/>
        </p:nvSpPr>
        <p:spPr>
          <a:xfrm>
            <a:off x="5032949" y="2595982"/>
            <a:ext cx="7772" cy="386883"/>
          </a:xfrm>
          <a:prstGeom prst="rect">
            <a:avLst/>
          </a:prstGeom>
          <a:solidFill>
            <a:srgbClr val="DFDBD2"/>
          </a:solidFill>
          <a:ln/>
        </p:spPr>
      </p:sp>
      <p:sp>
        <p:nvSpPr>
          <p:cNvPr id="17" name="Text 15"/>
          <p:cNvSpPr txBox="1"/>
          <p:nvPr/>
        </p:nvSpPr>
        <p:spPr>
          <a:xfrm>
            <a:off x="5243993" y="2593056"/>
            <a:ext cx="6426220" cy="398587"/>
          </a:xfrm>
          <a:prstGeom prst="rect">
            <a:avLst/>
          </a:prstGeom>
          <a:noFill/>
          <a:ln/>
        </p:spPr>
        <p:txBody>
          <a:bodyPr wrap="square" lIns="0" tIns="0" rIns="0" bIns="0" rtlCol="0" anchor="t"/>
          <a:lstStyle/>
          <a:p>
            <a:pPr algn="l" indent="0" marL="0">
              <a:lnSpc>
                <a:spcPts val="1523"/>
              </a:lnSpc>
              <a:buNone/>
            </a:pPr>
            <a:r>
              <a:rPr kern="0" lang="en-US" sz="1015" b="1" dirty="0">
                <a:solidFill>
                  <a:srgbClr val="33302B"/>
                </a:solidFill>
                <a:latin typeface="Calibri" pitchFamily="34" charset="0"/>
                <a:ea typeface="Calibri" pitchFamily="34" charset="-122"/>
                <a:cs typeface="Calibri" pitchFamily="34" charset="-120"/>
              </a:rPr>
              <a:t>SCUNet.</a:t>
            </a:r>
            <a:pPr algn="l" indent="0" marL="0">
              <a:lnSpc>
                <a:spcPts val="1523"/>
              </a:lnSpc>
              <a:buNone/>
            </a:pPr>
            <a:r>
              <a:rPr kern="0" lang="en-US" sz="1015" dirty="0">
                <a:solidFill>
                  <a:srgbClr val="33302B"/>
                </a:solidFill>
                <a:latin typeface="Calibri" pitchFamily="34" charset="0"/>
                <a:ea typeface="Calibri" pitchFamily="34" charset="-122"/>
                <a:cs typeface="Calibri" pitchFamily="34" charset="-120"/>
              </a:rPr>
              <a:t> 9.663 M parameters, smallest of the architecture branch, and its synthetic-degradation training makes the blind weights unusually robust on photographs that were resized or JPEG-compressed before you ever saw them. </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[7]</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[2]</a:t>
            </a:r>
            <a:endParaRPr lang="en-US" sz="1015" dirty="0"/>
          </a:p>
        </p:txBody>
      </p:sp>
      <p:sp>
        <p:nvSpPr>
          <p:cNvPr id="18" name="Shape 16"/>
          <p:cNvSpPr/>
          <p:nvPr/>
        </p:nvSpPr>
        <p:spPr>
          <a:xfrm>
            <a:off x="1797528" y="3729198"/>
            <a:ext cx="9831537" cy="7772"/>
          </a:xfrm>
          <a:prstGeom prst="rect">
            <a:avLst/>
          </a:prstGeom>
          <a:solidFill>
            <a:srgbClr val="DFDBD2"/>
          </a:solidFill>
          <a:ln/>
        </p:spPr>
      </p:sp>
      <p:sp>
        <p:nvSpPr>
          <p:cNvPr id="19" name="Shape 17"/>
          <p:cNvSpPr/>
          <p:nvPr/>
        </p:nvSpPr>
        <p:spPr>
          <a:xfrm>
            <a:off x="1531803" y="3379440"/>
            <a:ext cx="78181" cy="78181"/>
          </a:xfrm>
          <a:prstGeom prst="rect">
            <a:avLst/>
          </a:prstGeom>
          <a:solidFill>
            <a:srgbClr val="14343F"/>
          </a:solidFill>
          <a:ln/>
        </p:spPr>
      </p:sp>
      <p:sp>
        <p:nvSpPr>
          <p:cNvPr id="20" name="Text 18"/>
          <p:cNvSpPr txBox="1"/>
          <p:nvPr/>
        </p:nvSpPr>
        <p:spPr>
          <a:xfrm>
            <a:off x="1797528" y="3332714"/>
            <a:ext cx="2611526" cy="171633"/>
          </a:xfrm>
          <a:prstGeom prst="rect">
            <a:avLst/>
          </a:prstGeom>
          <a:noFill/>
          <a:ln/>
        </p:spPr>
        <p:txBody>
          <a:bodyPr wrap="none" lIns="0" tIns="0" rIns="0" bIns="0" rtlCol="0" anchor="t"/>
          <a:lstStyle/>
          <a:p>
            <a:pPr algn="l" indent="0" marL="0">
              <a:lnSpc>
                <a:spcPts val="1351"/>
              </a:lnSpc>
              <a:buNone/>
            </a:pPr>
            <a:r>
              <a:rPr lang="en-US" sz="1108" b="1" spc="-18" kern="0" dirty="0">
                <a:solidFill>
                  <a:srgbClr val="14120F"/>
                </a:solidFill>
                <a:latin typeface="Cambria" pitchFamily="34" charset="0"/>
                <a:ea typeface="Cambria" pitchFamily="34" charset="-122"/>
                <a:cs typeface="Cambria" pitchFamily="34" charset="-120"/>
              </a:rPr>
              <a:t>Maximum quality on repetitive structure</a:t>
            </a:r>
            <a:endParaRPr lang="en-US" sz="1108" dirty="0"/>
          </a:p>
        </p:txBody>
      </p:sp>
      <p:sp>
        <p:nvSpPr>
          <p:cNvPr id="21" name="Shape 19"/>
          <p:cNvSpPr/>
          <p:nvPr/>
        </p:nvSpPr>
        <p:spPr>
          <a:xfrm>
            <a:off x="5032949" y="3225089"/>
            <a:ext cx="7772" cy="386883"/>
          </a:xfrm>
          <a:prstGeom prst="rect">
            <a:avLst/>
          </a:prstGeom>
          <a:solidFill>
            <a:srgbClr val="DFDBD2"/>
          </a:solidFill>
          <a:ln/>
        </p:spPr>
      </p:sp>
      <p:sp>
        <p:nvSpPr>
          <p:cNvPr id="22" name="Text 20"/>
          <p:cNvSpPr txBox="1"/>
          <p:nvPr/>
        </p:nvSpPr>
        <p:spPr>
          <a:xfrm>
            <a:off x="5243993" y="3222163"/>
            <a:ext cx="6426220" cy="398587"/>
          </a:xfrm>
          <a:prstGeom prst="rect">
            <a:avLst/>
          </a:prstGeom>
          <a:noFill/>
          <a:ln/>
        </p:spPr>
        <p:txBody>
          <a:bodyPr wrap="square" lIns="0" tIns="0" rIns="0" bIns="0" rtlCol="0" anchor="t"/>
          <a:lstStyle/>
          <a:p>
            <a:pPr algn="l" indent="0" marL="0">
              <a:lnSpc>
                <a:spcPts val="1523"/>
              </a:lnSpc>
              <a:buNone/>
            </a:pPr>
            <a:r>
              <a:rPr kern="0" lang="en-US" sz="1015" b="1" dirty="0">
                <a:solidFill>
                  <a:srgbClr val="33302B"/>
                </a:solidFill>
                <a:latin typeface="Calibri" pitchFamily="34" charset="0"/>
                <a:ea typeface="Calibri" pitchFamily="34" charset="-122"/>
                <a:cs typeface="Calibri" pitchFamily="34" charset="-120"/>
              </a:rPr>
              <a:t>Restormer</a:t>
            </a:r>
            <a:pPr algn="l" indent="0" marL="0">
              <a:lnSpc>
                <a:spcPts val="1523"/>
              </a:lnSpc>
              <a:buNone/>
            </a:pPr>
            <a:r>
              <a:rPr kern="0" lang="en-US" sz="1015" dirty="0">
                <a:solidFill>
                  <a:srgbClr val="33302B"/>
                </a:solidFill>
                <a:latin typeface="Calibri" pitchFamily="34" charset="0"/>
                <a:ea typeface="Calibri" pitchFamily="34" charset="-122"/>
                <a:cs typeface="Calibri" pitchFamily="34" charset="-120"/>
              </a:rPr>
              <a:t>, or MambaIR if CUDA is guaranteed. Restormer leads Urban100 at every noise level and is the only model past 40 dB on both SIDD and DND; MambaIR takes DND by 0.01 dB. Accept 10.4 s per 256² image on CPU. </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[3]</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[4]</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[7]</a:t>
            </a:r>
            <a:endParaRPr lang="en-US" sz="1015" dirty="0"/>
          </a:p>
        </p:txBody>
      </p:sp>
      <p:sp>
        <p:nvSpPr>
          <p:cNvPr id="23" name="Shape 21"/>
          <p:cNvSpPr/>
          <p:nvPr/>
        </p:nvSpPr>
        <p:spPr>
          <a:xfrm>
            <a:off x="1797528" y="4358305"/>
            <a:ext cx="9831537" cy="7772"/>
          </a:xfrm>
          <a:prstGeom prst="rect">
            <a:avLst/>
          </a:prstGeom>
          <a:solidFill>
            <a:srgbClr val="DFDBD2"/>
          </a:solidFill>
          <a:ln/>
        </p:spPr>
      </p:sp>
      <p:sp>
        <p:nvSpPr>
          <p:cNvPr id="24" name="Shape 22"/>
          <p:cNvSpPr/>
          <p:nvPr/>
        </p:nvSpPr>
        <p:spPr>
          <a:xfrm>
            <a:off x="1531803" y="4008547"/>
            <a:ext cx="78181" cy="78181"/>
          </a:xfrm>
          <a:prstGeom prst="rect">
            <a:avLst/>
          </a:prstGeom>
          <a:solidFill>
            <a:srgbClr val="14343F"/>
          </a:solidFill>
          <a:ln/>
        </p:spPr>
      </p:sp>
      <p:sp>
        <p:nvSpPr>
          <p:cNvPr id="25" name="Text 23"/>
          <p:cNvSpPr txBox="1"/>
          <p:nvPr/>
        </p:nvSpPr>
        <p:spPr>
          <a:xfrm>
            <a:off x="1797528" y="3961821"/>
            <a:ext cx="1593342" cy="171633"/>
          </a:xfrm>
          <a:prstGeom prst="rect">
            <a:avLst/>
          </a:prstGeom>
          <a:noFill/>
          <a:ln/>
        </p:spPr>
        <p:txBody>
          <a:bodyPr wrap="none" lIns="0" tIns="0" rIns="0" bIns="0" rtlCol="0" anchor="t"/>
          <a:lstStyle/>
          <a:p>
            <a:pPr algn="l" indent="0" marL="0">
              <a:lnSpc>
                <a:spcPts val="1351"/>
              </a:lnSpc>
              <a:buNone/>
            </a:pPr>
            <a:r>
              <a:rPr lang="en-US" sz="1108" b="1" spc="-18" kern="0" dirty="0">
                <a:solidFill>
                  <a:srgbClr val="14120F"/>
                </a:solidFill>
                <a:latin typeface="Cambria" pitchFamily="34" charset="0"/>
                <a:ea typeface="Cambria" pitchFamily="34" charset="-122"/>
                <a:cs typeface="Cambria" pitchFamily="34" charset="-120"/>
              </a:rPr>
              <a:t>No clean data exists at all</a:t>
            </a:r>
            <a:endParaRPr lang="en-US" sz="1108" dirty="0"/>
          </a:p>
        </p:txBody>
      </p:sp>
      <p:sp>
        <p:nvSpPr>
          <p:cNvPr id="26" name="Shape 24"/>
          <p:cNvSpPr/>
          <p:nvPr/>
        </p:nvSpPr>
        <p:spPr>
          <a:xfrm>
            <a:off x="5032949" y="3854196"/>
            <a:ext cx="7772" cy="386883"/>
          </a:xfrm>
          <a:prstGeom prst="rect">
            <a:avLst/>
          </a:prstGeom>
          <a:solidFill>
            <a:srgbClr val="DFDBD2"/>
          </a:solidFill>
          <a:ln/>
        </p:spPr>
      </p:sp>
      <p:sp>
        <p:nvSpPr>
          <p:cNvPr id="27" name="Text 25"/>
          <p:cNvSpPr txBox="1"/>
          <p:nvPr/>
        </p:nvSpPr>
        <p:spPr>
          <a:xfrm>
            <a:off x="5243993" y="3851270"/>
            <a:ext cx="6426220" cy="398587"/>
          </a:xfrm>
          <a:prstGeom prst="rect">
            <a:avLst/>
          </a:prstGeom>
          <a:noFill/>
          <a:ln/>
        </p:spPr>
        <p:txBody>
          <a:bodyPr wrap="square" lIns="0" tIns="0" rIns="0" bIns="0" rtlCol="0" anchor="t"/>
          <a:lstStyle/>
          <a:p>
            <a:pPr algn="l" indent="0" marL="0">
              <a:lnSpc>
                <a:spcPts val="1523"/>
              </a:lnSpc>
              <a:buNone/>
            </a:pPr>
            <a:r>
              <a:rPr kern="0" lang="en-US" sz="1015" b="1" dirty="0">
                <a:solidFill>
                  <a:srgbClr val="33302B"/>
                </a:solidFill>
                <a:latin typeface="Calibri" pitchFamily="34" charset="0"/>
                <a:ea typeface="Calibri" pitchFamily="34" charset="-122"/>
                <a:cs typeface="Calibri" pitchFamily="34" charset="-120"/>
              </a:rPr>
              <a:t>P2N</a:t>
            </a:r>
            <a:pPr algn="l" indent="0" marL="0">
              <a:lnSpc>
                <a:spcPts val="1523"/>
              </a:lnSpc>
              <a:buNone/>
            </a:pPr>
            <a:r>
              <a:rPr kern="0" lang="en-US" sz="1015" dirty="0">
                <a:solidFill>
                  <a:srgbClr val="33302B"/>
                </a:solidFill>
                <a:latin typeface="Calibri" pitchFamily="34" charset="0"/>
                <a:ea typeface="Calibri" pitchFamily="34" charset="-122"/>
                <a:cs typeface="Calibri" pitchFamily="34" charset="-120"/>
              </a:rPr>
              <a:t>, or ZS-N2N for a single image with no training corpus and a minute of CPU. Accept per-image test-time optimisation as the price, and accept a quality gap to supervised training that is real and measured. </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[5]</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[6]</a:t>
            </a:r>
            <a:endParaRPr lang="en-US" sz="1015" dirty="0"/>
          </a:p>
        </p:txBody>
      </p:sp>
      <p:sp>
        <p:nvSpPr>
          <p:cNvPr id="28" name="Shape 26"/>
          <p:cNvSpPr/>
          <p:nvPr/>
        </p:nvSpPr>
        <p:spPr>
          <a:xfrm>
            <a:off x="1531803" y="4637745"/>
            <a:ext cx="78181" cy="78181"/>
          </a:xfrm>
          <a:prstGeom prst="rect">
            <a:avLst/>
          </a:prstGeom>
          <a:solidFill>
            <a:srgbClr val="14343F"/>
          </a:solidFill>
          <a:ln/>
        </p:spPr>
      </p:sp>
      <p:sp>
        <p:nvSpPr>
          <p:cNvPr id="29" name="Text 27"/>
          <p:cNvSpPr txBox="1"/>
          <p:nvPr/>
        </p:nvSpPr>
        <p:spPr>
          <a:xfrm>
            <a:off x="1797528" y="4590928"/>
            <a:ext cx="2051731" cy="171633"/>
          </a:xfrm>
          <a:prstGeom prst="rect">
            <a:avLst/>
          </a:prstGeom>
          <a:noFill/>
          <a:ln/>
        </p:spPr>
        <p:txBody>
          <a:bodyPr wrap="none" lIns="0" tIns="0" rIns="0" bIns="0" rtlCol="0" anchor="t"/>
          <a:lstStyle/>
          <a:p>
            <a:pPr algn="l" indent="0" marL="0">
              <a:lnSpc>
                <a:spcPts val="1351"/>
              </a:lnSpc>
              <a:buNone/>
            </a:pPr>
            <a:r>
              <a:rPr lang="en-US" sz="1108" b="1" spc="-18" kern="0" dirty="0">
                <a:solidFill>
                  <a:srgbClr val="14120F"/>
                </a:solidFill>
                <a:latin typeface="Cambria" pitchFamily="34" charset="0"/>
                <a:ea typeface="Cambria" pitchFamily="34" charset="-122"/>
                <a:cs typeface="Cambria" pitchFamily="34" charset="-120"/>
              </a:rPr>
              <a:t>A fast, dependency-free baseline</a:t>
            </a:r>
            <a:endParaRPr lang="en-US" sz="1108" dirty="0"/>
          </a:p>
        </p:txBody>
      </p:sp>
      <p:sp>
        <p:nvSpPr>
          <p:cNvPr id="30" name="Shape 28"/>
          <p:cNvSpPr/>
          <p:nvPr/>
        </p:nvSpPr>
        <p:spPr>
          <a:xfrm>
            <a:off x="5032949" y="4483395"/>
            <a:ext cx="7772" cy="386883"/>
          </a:xfrm>
          <a:prstGeom prst="rect">
            <a:avLst/>
          </a:prstGeom>
          <a:solidFill>
            <a:srgbClr val="DFDBD2"/>
          </a:solidFill>
          <a:ln/>
        </p:spPr>
      </p:sp>
      <p:sp>
        <p:nvSpPr>
          <p:cNvPr id="31" name="Text 29"/>
          <p:cNvSpPr txBox="1"/>
          <p:nvPr/>
        </p:nvSpPr>
        <p:spPr>
          <a:xfrm>
            <a:off x="5243993" y="4480469"/>
            <a:ext cx="6426220" cy="398587"/>
          </a:xfrm>
          <a:prstGeom prst="rect">
            <a:avLst/>
          </a:prstGeom>
          <a:noFill/>
          <a:ln/>
        </p:spPr>
        <p:txBody>
          <a:bodyPr wrap="square" lIns="0" tIns="0" rIns="0" bIns="0" rtlCol="0" anchor="t"/>
          <a:lstStyle/>
          <a:p>
            <a:pPr algn="l" indent="0" marL="0">
              <a:lnSpc>
                <a:spcPts val="1523"/>
              </a:lnSpc>
              <a:buNone/>
            </a:pPr>
            <a:r>
              <a:rPr kern="0" lang="en-US" sz="1015" b="1" dirty="0">
                <a:solidFill>
                  <a:srgbClr val="33302B"/>
                </a:solidFill>
                <a:latin typeface="Calibri" pitchFamily="34" charset="0"/>
                <a:ea typeface="Calibri" pitchFamily="34" charset="-122"/>
                <a:cs typeface="Calibri" pitchFamily="34" charset="-120"/>
              </a:rPr>
              <a:t>BM3D.</a:t>
            </a:r>
            <a:pPr algn="l" indent="0" marL="0">
              <a:lnSpc>
                <a:spcPts val="1523"/>
              </a:lnSpc>
              <a:buNone/>
            </a:pPr>
            <a:r>
              <a:rPr kern="0" lang="en-US" sz="1015" dirty="0">
                <a:solidFill>
                  <a:srgbClr val="33302B"/>
                </a:solidFill>
                <a:latin typeface="Calibri" pitchFamily="34" charset="0"/>
                <a:ea typeface="Calibri" pitchFamily="34" charset="-122"/>
                <a:cs typeface="Calibri" pitchFamily="34" charset="-120"/>
              </a:rPr>
              <a:t> Seventeen years old, needs no data and no GPU, still appears as a live baseline in 2023 papers, and still beats an AWGN-trained DnCNN on real sensor noise by 1.99 dB. </a:t>
            </a:r>
            <a:pPr algn="l" indent="0" marL="0">
              <a:lnSpc>
                <a:spcPts val="1523"/>
              </a:lnSpc>
              <a:buNone/>
            </a:pPr>
            <a:r>
              <a:rPr kern="0" lang="en-US" sz="751" b="1" dirty="0">
                <a:solidFill>
                  <a:srgbClr val="C0451A"/>
                </a:solidFill>
                <a:latin typeface="Calibri" pitchFamily="34" charset="0"/>
                <a:ea typeface="Calibri" pitchFamily="34" charset="-122"/>
                <a:cs typeface="Calibri" pitchFamily="34" charset="-120"/>
              </a:rPr>
              <a:t>[3]</a:t>
            </a:r>
            <a:endParaRPr lang="en-US" sz="1015" dirty="0"/>
          </a:p>
        </p:txBody>
      </p:sp>
      <p:sp>
        <p:nvSpPr>
          <p:cNvPr id="32" name="Shape 30"/>
          <p:cNvSpPr/>
          <p:nvPr/>
        </p:nvSpPr>
        <p:spPr>
          <a:xfrm>
            <a:off x="1531803" y="5143774"/>
            <a:ext cx="10097262" cy="7772"/>
          </a:xfrm>
          <a:prstGeom prst="rect">
            <a:avLst/>
          </a:prstGeom>
          <a:solidFill>
            <a:srgbClr val="DFDBD2"/>
          </a:solidFill>
          <a:ln/>
        </p:spPr>
      </p:sp>
      <p:sp>
        <p:nvSpPr>
          <p:cNvPr id="33" name="Text 31"/>
          <p:cNvSpPr txBox="1"/>
          <p:nvPr/>
        </p:nvSpPr>
        <p:spPr>
          <a:xfrm>
            <a:off x="1531803" y="5284409"/>
            <a:ext cx="139903"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01</a:t>
            </a:r>
            <a:endParaRPr lang="en-US" sz="738" dirty="0"/>
          </a:p>
        </p:txBody>
      </p:sp>
      <p:sp>
        <p:nvSpPr>
          <p:cNvPr id="34" name="Text 32"/>
          <p:cNvSpPr txBox="1"/>
          <p:nvPr/>
        </p:nvSpPr>
        <p:spPr>
          <a:xfrm>
            <a:off x="1859981" y="5273711"/>
            <a:ext cx="9823674" cy="433700"/>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Notice what this list does not contain: a winner.</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Five constraints, five different answers, all current. That is not indecision — it is what an unresolved research question looks like when you have to ship something on Monday.</a:t>
            </a:r>
            <a:endParaRPr lang="en-US" sz="1138" dirty="0"/>
          </a:p>
        </p:txBody>
      </p:sp>
      <p:sp>
        <p:nvSpPr>
          <p:cNvPr id="35" name="Text 33"/>
          <p:cNvSpPr txBox="1"/>
          <p:nvPr/>
        </p:nvSpPr>
        <p:spPr>
          <a:xfrm>
            <a:off x="7003298" y="6248827"/>
            <a:ext cx="4625767"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NAFNet22 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SCUNet23 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[3]</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Restormer22 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[4]</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MambaIR24 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[5]</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P2N25 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[6]</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ZS-N2N23 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[7]</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measured</a:t>
            </a:r>
            <a:endParaRPr lang="en-US" sz="592" dirty="0"/>
          </a:p>
        </p:txBody>
      </p:sp>
      <p:sp>
        <p:nvSpPr>
          <p:cNvPr id="36" name="Shape 34"/>
          <p:cNvSpPr/>
          <p:nvPr/>
        </p:nvSpPr>
        <p:spPr>
          <a:xfrm>
            <a:off x="1531803" y="6537411"/>
            <a:ext cx="10097262" cy="7772"/>
          </a:xfrm>
          <a:prstGeom prst="rect">
            <a:avLst/>
          </a:prstGeom>
          <a:solidFill>
            <a:srgbClr val="C9C4B9"/>
          </a:solidFill>
          <a:ln/>
        </p:spPr>
      </p:sp>
      <p:sp>
        <p:nvSpPr>
          <p:cNvPr id="37" name="Shape 35"/>
          <p:cNvSpPr/>
          <p:nvPr/>
        </p:nvSpPr>
        <p:spPr>
          <a:xfrm>
            <a:off x="1531803" y="6498366"/>
            <a:ext cx="7772" cy="39045"/>
          </a:xfrm>
          <a:prstGeom prst="rect">
            <a:avLst/>
          </a:prstGeom>
          <a:solidFill>
            <a:srgbClr val="C9C4B9"/>
          </a:solidFill>
          <a:ln/>
        </p:spPr>
      </p:sp>
      <p:sp>
        <p:nvSpPr>
          <p:cNvPr id="38" name="Text 36"/>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39" name="Shape 37"/>
          <p:cNvSpPr/>
          <p:nvPr/>
        </p:nvSpPr>
        <p:spPr>
          <a:xfrm>
            <a:off x="5458511" y="6498366"/>
            <a:ext cx="7772" cy="39045"/>
          </a:xfrm>
          <a:prstGeom prst="rect">
            <a:avLst/>
          </a:prstGeom>
          <a:solidFill>
            <a:srgbClr val="C9C4B9"/>
          </a:solidFill>
          <a:ln/>
        </p:spPr>
      </p:sp>
      <p:sp>
        <p:nvSpPr>
          <p:cNvPr id="40" name="Text 38"/>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41" name="Shape 39"/>
          <p:cNvSpPr/>
          <p:nvPr/>
        </p:nvSpPr>
        <p:spPr>
          <a:xfrm>
            <a:off x="7141738" y="6498366"/>
            <a:ext cx="7772" cy="39045"/>
          </a:xfrm>
          <a:prstGeom prst="rect">
            <a:avLst/>
          </a:prstGeom>
          <a:solidFill>
            <a:srgbClr val="C9C4B9"/>
          </a:solidFill>
          <a:ln/>
        </p:spPr>
      </p:sp>
      <p:sp>
        <p:nvSpPr>
          <p:cNvPr id="42" name="Text 40"/>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43" name="Shape 41"/>
          <p:cNvSpPr/>
          <p:nvPr/>
        </p:nvSpPr>
        <p:spPr>
          <a:xfrm>
            <a:off x="9945654" y="6498366"/>
            <a:ext cx="7772" cy="39045"/>
          </a:xfrm>
          <a:prstGeom prst="rect">
            <a:avLst/>
          </a:prstGeom>
          <a:solidFill>
            <a:srgbClr val="C9C4B9"/>
          </a:solidFill>
          <a:ln/>
        </p:spPr>
      </p:sp>
      <p:sp>
        <p:nvSpPr>
          <p:cNvPr id="44" name="Text 42"/>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45" name="Shape 43"/>
          <p:cNvSpPr/>
          <p:nvPr/>
        </p:nvSpPr>
        <p:spPr>
          <a:xfrm>
            <a:off x="11628973" y="6498366"/>
            <a:ext cx="7772" cy="39045"/>
          </a:xfrm>
          <a:prstGeom prst="rect">
            <a:avLst/>
          </a:prstGeom>
          <a:solidFill>
            <a:srgbClr val="C9C4B9"/>
          </a:solidFill>
          <a:ln/>
        </p:spPr>
      </p:sp>
      <p:sp>
        <p:nvSpPr>
          <p:cNvPr id="46" name="Text 44"/>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50032"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91</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990570"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SOTA, QUALIFIED</a:t>
            </a:r>
            <a:endParaRPr lang="en-US" sz="781" dirty="0"/>
          </a:p>
        </p:txBody>
      </p:sp>
      <p:sp>
        <p:nvSpPr>
          <p:cNvPr id="5" name="Text 3"/>
          <p:cNvSpPr txBox="1"/>
          <p:nvPr/>
        </p:nvSpPr>
        <p:spPr>
          <a:xfrm>
            <a:off x="1439540" y="607070"/>
            <a:ext cx="10278953" cy="729691"/>
          </a:xfrm>
          <a:prstGeom prst="rect">
            <a:avLst/>
          </a:prstGeom>
          <a:noFill/>
          <a:ln/>
        </p:spPr>
        <p:txBody>
          <a:bodyPr wrap="squar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Four current methods, two historical baselines — each strong on a different axis</a:t>
            </a:r>
            <a:endParaRPr lang="en-US" sz="2660" dirty="0"/>
          </a:p>
        </p:txBody>
      </p:sp>
      <p:sp>
        <p:nvSpPr>
          <p:cNvPr id="6" name="Text 4"/>
          <p:cNvSpPr txBox="1"/>
          <p:nvPr/>
        </p:nvSpPr>
        <p:spPr>
          <a:xfrm>
            <a:off x="1439540" y="1456731"/>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A state-of-the-art claim is only checkable when the benchmark and metric are named, alongside what distinguishes each method from the others leading elsewhere. This table supplies both, and declines to estimate what no source reports.</a:t>
            </a:r>
            <a:endParaRPr lang="en-US" sz="1157"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1439540" y="2323399"/>
          <a:ext cx="9144000" cy="914400"/>
        </p:xfrm>
        <a:graphic>
          <a:graphicData uri="http://schemas.openxmlformats.org/drawingml/2006/table">
            <a:tbl>
              <a:tblPr/>
              <a:tblGrid>
                <a:gridCol w="1028243"/>
                <a:gridCol w="2056394"/>
                <a:gridCol w="947410"/>
                <a:gridCol w="1108984"/>
                <a:gridCol w="3716304"/>
                <a:gridCol w="1366022"/>
              </a:tblGrid>
              <a:tr h="242407">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LEADS ON</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FIGURE</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PUBLISHED</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WHAT DISTINGUISHES IT</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c>
                  <a:txBody>
                    <a:bodyPr/>
                    <a:lstStyle/>
                    <a:p>
                      <a:pPr algn="l" indent="0" marL="0">
                        <a:lnSpc>
                          <a:spcPts val="882"/>
                        </a:lnSpc>
                        <a:buNone/>
                      </a:pPr>
                      <a:r>
                        <a:rPr lang="en-US" sz="723" b="1" spc="87" kern="0" dirty="0">
                          <a:solidFill>
                            <a:srgbClr val="14120F"/>
                          </a:solidFill>
                          <a:latin typeface="Calibri" pitchFamily="34" charset="0"/>
                          <a:ea typeface="Calibri" pitchFamily="34" charset="-122"/>
                          <a:cs typeface="Calibri" pitchFamily="34" charset="-120"/>
                        </a:rPr>
                        <a:t>COST [MEASURED]</a:t>
                      </a:r>
                      <a:pPr algn="l" indent="0" marL="0">
                        <a:lnSpc>
                          <a:spcPts val="882"/>
                        </a:lnSpc>
                        <a:buNone/>
                      </a:pPr>
                      <a:r>
                        <a:rPr lang="en-US" sz="535" b="1" spc="87" kern="0" dirty="0">
                          <a:solidFill>
                            <a:srgbClr val="C0451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88133" marR="88133" marT="51411" marB="73444" anchor="b">
                    <a:lnL w="0" cap="flat" cmpd="sng" algn="ctr">
                      <a:noFill/>
                    </a:lnL>
                    <a:lnR w="0" cap="flat" cmpd="sng" algn="ctr">
                      <a:noFill/>
                    </a:lnR>
                    <a:lnT w="0" cap="flat" cmpd="sng" algn="ctr">
                      <a:noFill/>
                    </a:lnT>
                    <a:lnB w="14689" cap="flat" cmpd="sng" algn="ctr">
                      <a:solidFill>
                        <a:srgbClr val="14343F"/>
                      </a:solidFill>
                      <a:prstDash val="solid"/>
                      <a:round/>
                      <a:headEnd type="none" w="med" len="med"/>
                      <a:tailEnd type="none" w="med" len="med"/>
                    </a:lnB>
                  </a:tcPr>
                </a:tc>
              </a:tr>
              <a:tr h="451714">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NAFNet</a:t>
                      </a:r>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 (2022)</a:t>
                      </a:r>
                      <a:pPr algn="l" indent="0" marL="0">
                        <a:lnSpc>
                          <a:spcPts val="1164"/>
                        </a:lnSpc>
                        <a:buNone/>
                      </a:pPr>
                      <a:r>
                        <a:rPr kern="0" lang="en-US" sz="706"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SIDD — real sensor noise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40.30 dB</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ECCV 2022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No attention and no activation functions at all; by far the simplest code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116.0 M · 1.90 s CPU</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r>
              <a:tr h="447965">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Restormer</a:t>
                      </a:r>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 (2022)</a:t>
                      </a:r>
                      <a:pPr algn="l" indent="0" marL="0">
                        <a:lnSpc>
                          <a:spcPts val="1164"/>
                        </a:lnSpc>
                        <a:buNone/>
                      </a:pPr>
                      <a:r>
                        <a:rPr kern="0" lang="en-US" sz="706"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Urban100 — long-range structure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28.33 dB</a:t>
                      </a:r>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 σ=50</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CVPR 2022</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First past 40 dB on </a:t>
                      </a:r>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both</a:t>
                      </a:r>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 SIDD and DND; channel attention at linear cost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c>
                  <a:txBody>
                    <a:bodyPr/>
                    <a:lstStyle/>
                    <a:p>
                      <a:pPr algn="l" indent="0" marL="0">
                        <a:lnSpc>
                          <a:spcPts val="1164"/>
                        </a:lnSpc>
                        <a:buNone/>
                      </a:pPr>
                      <a:r>
                        <a:rPr kern="0" lang="en-US" sz="954" b="1" dirty="0">
                          <a:solidFill>
                            <a:srgbClr val="14120F"/>
                          </a:solidFill>
                          <a:latin typeface="Calibri" pitchFamily="34" charset="0"/>
                          <a:ea typeface="Calibri" pitchFamily="34" charset="-122"/>
                          <a:cs typeface="Calibri" pitchFamily="34" charset="-120"/>
                        </a:rPr>
                        <a:t>26.1 M · 10.44 s CPU</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solidFill>
                      <a:srgbClr val="E8E9E7"/>
                    </a:solidFill>
                  </a:tcPr>
                </a:tc>
              </a:tr>
              <a:tr h="447965">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MambaIR</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(2024)</a:t>
                      </a:r>
                      <a:pPr algn="l" indent="0" marL="0">
                        <a:lnSpc>
                          <a:spcPts val="1164"/>
                        </a:lnSpc>
                        <a:buNone/>
                      </a:pPr>
                      <a:r>
                        <a:rPr kern="0" lang="en-US" sz="706" b="1" dirty="0">
                          <a:solidFill>
                            <a:srgbClr val="C0451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DND — held-out real noise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40.04 dB</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ECCV 2024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Global receptive field at linear cost via a selective state-space scan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will not import without CUDA</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447965">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SCUNet</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(2023)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Robustness to synthesised real-world degradation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no single-table lead</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Mach. Intell. Res. 2023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Competes on the </a:t>
                      </a:r>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training distribution</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rather than the architecture</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b="1" dirty="0">
                          <a:solidFill>
                            <a:srgbClr val="33302B"/>
                          </a:solidFill>
                          <a:latin typeface="Calibri" pitchFamily="34" charset="0"/>
                          <a:ea typeface="Calibri" pitchFamily="34" charset="-122"/>
                          <a:cs typeface="Calibri" pitchFamily="34" charset="-120"/>
                        </a:rPr>
                        <a:t>9.7 M</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 1.69 s CPU</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301112">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DnCNN (2017)</a:t>
                      </a:r>
                      <a:pPr algn="l" indent="0" marL="0">
                        <a:lnSpc>
                          <a:spcPts val="1164"/>
                        </a:lnSpc>
                        <a:buNone/>
                      </a:pPr>
                      <a:r>
                        <a:rPr kern="0" lang="en-US" sz="706" b="1" dirty="0">
                          <a:solidFill>
                            <a:srgbClr val="C045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i="1" dirty="0">
                          <a:solidFill>
                            <a:srgbClr val="33302B"/>
                          </a:solidFill>
                          <a:latin typeface="Calibri" pitchFamily="34" charset="0"/>
                          <a:ea typeface="Calibri" pitchFamily="34" charset="-122"/>
                          <a:cs typeface="Calibri" pitchFamily="34" charset="-120"/>
                        </a:rPr>
                        <a:t>Historical</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 BSD68 Gaussian</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29.23 dB</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IEEE TIP 2017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The reference line the whole modern field was built against</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0.67 M · 1.02 s CPU</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r h="447965">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BM3D (2007)</a:t>
                      </a:r>
                      <a:pPr algn="l" indent="0" marL="0">
                        <a:lnSpc>
                          <a:spcPts val="1164"/>
                        </a:lnSpc>
                        <a:buNone/>
                      </a:pPr>
                      <a:r>
                        <a:rPr kern="0" lang="en-US" sz="706" b="1" dirty="0">
                          <a:solidFill>
                            <a:srgbClr val="C045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i="1" dirty="0">
                          <a:solidFill>
                            <a:srgbClr val="33302B"/>
                          </a:solidFill>
                          <a:latin typeface="Calibri" pitchFamily="34" charset="0"/>
                          <a:ea typeface="Calibri" pitchFamily="34" charset="-122"/>
                          <a:cs typeface="Calibri" pitchFamily="34" charset="-120"/>
                        </a:rPr>
                        <a:t>Zero-shot</a:t>
                      </a:r>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 — no training data</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28.57 dB</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IEEE TIP 2007</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Requires no training data and no GPU; still the zero-shot baseline in N2N18, N2V19 and ZS-N2N23</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c>
                  <a:txBody>
                    <a:bodyPr/>
                    <a:lstStyle/>
                    <a:p>
                      <a:pPr algn="l" indent="0" marL="0">
                        <a:lnSpc>
                          <a:spcPts val="1164"/>
                        </a:lnSpc>
                        <a:buNone/>
                      </a:pPr>
                      <a:r>
                        <a:rPr kern="0" lang="en-US" sz="954" dirty="0">
                          <a:solidFill>
                            <a:srgbClr val="33302B"/>
                          </a:solidFill>
                          <a:latin typeface="Calibri" pitchFamily="34" charset="0"/>
                          <a:ea typeface="Calibri" pitchFamily="34" charset="-122"/>
                          <a:cs typeface="Calibri" pitchFamily="34" charset="-120"/>
                        </a:rPr>
                        <a:t>no training · 2.85 s</a:t>
                      </a:r>
                      <a:endParaRPr lang="en-US" sz="1100" dirty="0">
                        <a:latin typeface="Calibri" charset="0"/>
                        <a:ea typeface="Calibri" charset="0"/>
                        <a:cs typeface="Calibri" charset="0"/>
                      </a:endParaRPr>
                    </a:p>
                  </a:txBody>
                  <a:tcPr marL="88133" marR="88133" marT="73444" marB="73444" anchor="ctr">
                    <a:lnL w="0" cap="flat" cmpd="sng" algn="ctr">
                      <a:noFill/>
                    </a:lnL>
                    <a:lnR w="0" cap="flat" cmpd="sng" algn="ctr">
                      <a:noFill/>
                    </a:lnR>
                    <a:lnT w="0" cap="flat" cmpd="sng" algn="ctr">
                      <a:noFill/>
                    </a:lnT>
                    <a:lnB w="7344"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439540" y="5319888"/>
            <a:ext cx="10223358" cy="14722"/>
          </a:xfrm>
          <a:prstGeom prst="rect">
            <a:avLst/>
          </a:prstGeom>
          <a:solidFill>
            <a:srgbClr val="14343F"/>
          </a:solidFill>
          <a:ln/>
        </p:spPr>
      </p:sp>
      <p:sp>
        <p:nvSpPr>
          <p:cNvPr id="9" name="Text 6"/>
          <p:cNvSpPr txBox="1"/>
          <p:nvPr/>
        </p:nvSpPr>
        <p:spPr>
          <a:xfrm>
            <a:off x="1439540" y="5450190"/>
            <a:ext cx="10278953" cy="561807"/>
          </a:xfrm>
          <a:prstGeom prst="rect">
            <a:avLst/>
          </a:prstGeom>
          <a:noFill/>
          <a:ln/>
        </p:spPr>
        <p:txBody>
          <a:bodyPr wrap="squar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No source states a SOTA window, so this deck does not assert one.</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The published date is verifiable; which table a method leads is verifiable from the cited comparison. For how long it held that position is not reported by any paper here, and we do not estimate it. Read the </a:t>
            </a:r>
            <a:pPr algn="l" indent="0" marL="0">
              <a:lnSpc>
                <a:spcPts val="1475"/>
              </a:lnSpc>
              <a:buNone/>
            </a:pPr>
            <a:r>
              <a:rPr kern="0" lang="en-US" sz="983" i="1" dirty="0">
                <a:solidFill>
                  <a:srgbClr val="33302B"/>
                </a:solidFill>
                <a:latin typeface="Calibri" pitchFamily="34" charset="0"/>
                <a:ea typeface="Calibri" pitchFamily="34" charset="-122"/>
                <a:cs typeface="Calibri" pitchFamily="34" charset="-120"/>
              </a:rPr>
              <a:t>Leads on</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column: these methods are not ranked on one axis — they are strong on </a:t>
            </a:r>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different axes</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and those benchmarks measure different capabilities.</a:t>
            </a:r>
            <a:endParaRPr lang="en-US" sz="983" dirty="0"/>
          </a:p>
        </p:txBody>
      </p:sp>
      <p:sp>
        <p:nvSpPr>
          <p:cNvPr id="10" name="Text 7"/>
          <p:cNvSpPr txBox="1"/>
          <p:nvPr/>
        </p:nvSpPr>
        <p:spPr>
          <a:xfrm>
            <a:off x="6652717" y="6285494"/>
            <a:ext cx="5010180" cy="116495"/>
          </a:xfrm>
          <a:prstGeom prst="rect">
            <a:avLst/>
          </a:prstGeom>
          <a:noFill/>
          <a:ln/>
        </p:spPr>
        <p:txBody>
          <a:bodyPr wrap="none" lIns="0" tIns="0" rIns="0" bIns="0" rtlCol="0" anchor="t"/>
          <a:lstStyle/>
          <a:p>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[1]</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NAFNet22 abstract 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[2]</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Restormer22 Tables 4, 6 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[3]</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MambaIR24 Table 6 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[4]</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DnCNN17 Table II </a:t>
            </a:r>
            <a:pPr algn="r" indent="0" marL="0">
              <a:lnSpc>
                <a:spcPts val="917"/>
              </a:lnSpc>
              <a:buNone/>
            </a:pPr>
            <a:r>
              <a:rPr kern="0" lang="en-US" sz="556" b="1" dirty="0">
                <a:solidFill>
                  <a:srgbClr val="C0451A"/>
                </a:solidFill>
                <a:latin typeface="Calibri" pitchFamily="34" charset="0"/>
                <a:ea typeface="Calibri" pitchFamily="34" charset="-122"/>
                <a:cs typeface="Calibri" pitchFamily="34" charset="-120"/>
              </a:rPr>
              <a:t>[5]</a:t>
            </a:r>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 measured, Stage 2</a:t>
            </a:r>
            <a:endParaRPr lang="en-US" sz="556" dirty="0"/>
          </a:p>
        </p:txBody>
      </p:sp>
      <p:sp>
        <p:nvSpPr>
          <p:cNvPr id="11" name="Shape 8"/>
          <p:cNvSpPr/>
          <p:nvPr/>
        </p:nvSpPr>
        <p:spPr>
          <a:xfrm>
            <a:off x="1439540" y="6556705"/>
            <a:ext cx="10223358" cy="7315"/>
          </a:xfrm>
          <a:prstGeom prst="rect">
            <a:avLst/>
          </a:prstGeom>
          <a:solidFill>
            <a:srgbClr val="C9C4B9"/>
          </a:solidFill>
          <a:ln/>
        </p:spPr>
      </p:sp>
      <p:sp>
        <p:nvSpPr>
          <p:cNvPr id="12" name="Shape 9"/>
          <p:cNvSpPr/>
          <p:nvPr/>
        </p:nvSpPr>
        <p:spPr>
          <a:xfrm>
            <a:off x="1439540" y="6519946"/>
            <a:ext cx="7315" cy="36759"/>
          </a:xfrm>
          <a:prstGeom prst="rect">
            <a:avLst/>
          </a:prstGeom>
          <a:solidFill>
            <a:srgbClr val="C9C4B9"/>
          </a:solidFill>
          <a:ln/>
        </p:spPr>
      </p:sp>
      <p:sp>
        <p:nvSpPr>
          <p:cNvPr id="13" name="Text 10"/>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14" name="Shape 11"/>
          <p:cNvSpPr/>
          <p:nvPr/>
        </p:nvSpPr>
        <p:spPr>
          <a:xfrm>
            <a:off x="5415351" y="6519946"/>
            <a:ext cx="7315" cy="36759"/>
          </a:xfrm>
          <a:prstGeom prst="rect">
            <a:avLst/>
          </a:prstGeom>
          <a:solidFill>
            <a:srgbClr val="C9C4B9"/>
          </a:solidFill>
          <a:ln/>
        </p:spPr>
      </p:sp>
      <p:sp>
        <p:nvSpPr>
          <p:cNvPr id="15" name="Text 12"/>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16" name="Shape 13"/>
          <p:cNvSpPr/>
          <p:nvPr/>
        </p:nvSpPr>
        <p:spPr>
          <a:xfrm>
            <a:off x="7119610" y="6519946"/>
            <a:ext cx="7315" cy="36759"/>
          </a:xfrm>
          <a:prstGeom prst="rect">
            <a:avLst/>
          </a:prstGeom>
          <a:solidFill>
            <a:srgbClr val="C9C4B9"/>
          </a:solidFill>
          <a:ln/>
        </p:spPr>
      </p:sp>
      <p:sp>
        <p:nvSpPr>
          <p:cNvPr id="17" name="Text 14"/>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18" name="Shape 15"/>
          <p:cNvSpPr/>
          <p:nvPr/>
        </p:nvSpPr>
        <p:spPr>
          <a:xfrm>
            <a:off x="9958639" y="6519946"/>
            <a:ext cx="7315" cy="36759"/>
          </a:xfrm>
          <a:prstGeom prst="rect">
            <a:avLst/>
          </a:prstGeom>
          <a:solidFill>
            <a:srgbClr val="C9C4B9"/>
          </a:solidFill>
          <a:ln/>
        </p:spPr>
      </p:sp>
      <p:sp>
        <p:nvSpPr>
          <p:cNvPr id="19" name="Text 16"/>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20" name="Shape 17"/>
          <p:cNvSpPr/>
          <p:nvPr/>
        </p:nvSpPr>
        <p:spPr>
          <a:xfrm>
            <a:off x="11662898" y="6519946"/>
            <a:ext cx="7315" cy="36759"/>
          </a:xfrm>
          <a:prstGeom prst="rect">
            <a:avLst/>
          </a:prstGeom>
          <a:solidFill>
            <a:srgbClr val="C9C4B9"/>
          </a:solidFill>
          <a:ln/>
        </p:spPr>
      </p:sp>
      <p:sp>
        <p:nvSpPr>
          <p:cNvPr id="21" name="Text 18"/>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5961"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92</a:t>
            </a:r>
            <a:endParaRPr lang="en-US" sz="2893" dirty="0"/>
          </a:p>
        </p:txBody>
      </p:sp>
      <p:sp>
        <p:nvSpPr>
          <p:cNvPr id="3" name="Shape 1"/>
          <p:cNvSpPr/>
          <p:nvPr/>
        </p:nvSpPr>
        <p:spPr>
          <a:xfrm>
            <a:off x="1636685" y="521117"/>
            <a:ext cx="217079" cy="25055"/>
          </a:xfrm>
          <a:prstGeom prst="rect">
            <a:avLst/>
          </a:prstGeom>
          <a:solidFill>
            <a:srgbClr val="14343F"/>
          </a:solidFill>
          <a:ln/>
        </p:spPr>
      </p:sp>
      <p:sp>
        <p:nvSpPr>
          <p:cNvPr id="4" name="Text 2"/>
          <p:cNvSpPr txBox="1"/>
          <p:nvPr/>
        </p:nvSpPr>
        <p:spPr>
          <a:xfrm>
            <a:off x="1953981" y="464881"/>
            <a:ext cx="1349197"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WHY SEVERAL SOTAS</a:t>
            </a:r>
            <a:endParaRPr lang="en-US" sz="888" dirty="0"/>
          </a:p>
        </p:txBody>
      </p:sp>
      <p:sp>
        <p:nvSpPr>
          <p:cNvPr id="5" name="Text 3"/>
          <p:cNvSpPr txBox="1"/>
          <p:nvPr/>
        </p:nvSpPr>
        <p:spPr>
          <a:xfrm>
            <a:off x="1636685" y="1031077"/>
            <a:ext cx="9517258"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Four reasons the field has not converged on one method</a:t>
            </a:r>
            <a:endParaRPr lang="en-US" sz="3025" dirty="0"/>
          </a:p>
        </p:txBody>
      </p:sp>
      <p:sp>
        <p:nvSpPr>
          <p:cNvPr id="6" name="Text 4"/>
          <p:cNvSpPr txBox="1"/>
          <p:nvPr/>
        </p:nvSpPr>
        <p:spPr>
          <a:xfrm>
            <a:off x="1636685" y="1923075"/>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Newer does not automatically mean universally better. 'Best' is only defined relative to a benchmark, a cost metric and a supervision regime — and the current leaders differ on all three.</a:t>
            </a:r>
            <a:endParaRPr lang="en-US" sz="1315" dirty="0"/>
          </a:p>
        </p:txBody>
      </p:sp>
      <p:sp>
        <p:nvSpPr>
          <p:cNvPr id="7" name="Shape 5"/>
          <p:cNvSpPr/>
          <p:nvPr/>
        </p:nvSpPr>
        <p:spPr>
          <a:xfrm>
            <a:off x="1636685" y="3249412"/>
            <a:ext cx="4793193" cy="16734"/>
          </a:xfrm>
          <a:prstGeom prst="rect">
            <a:avLst/>
          </a:prstGeom>
          <a:solidFill>
            <a:srgbClr val="14343F"/>
          </a:solidFill>
          <a:ln/>
        </p:spPr>
      </p:sp>
      <p:sp>
        <p:nvSpPr>
          <p:cNvPr id="8" name="Text 6"/>
          <p:cNvSpPr txBox="1"/>
          <p:nvPr/>
        </p:nvSpPr>
        <p:spPr>
          <a:xfrm>
            <a:off x="1636685" y="3399556"/>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1</a:t>
            </a:r>
            <a:endParaRPr lang="en-US" sz="756" dirty="0"/>
          </a:p>
        </p:txBody>
      </p:sp>
      <p:sp>
        <p:nvSpPr>
          <p:cNvPr id="9" name="Text 7"/>
          <p:cNvSpPr txBox="1"/>
          <p:nvPr/>
        </p:nvSpPr>
        <p:spPr>
          <a:xfrm>
            <a:off x="1636685" y="3591946"/>
            <a:ext cx="3925153"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The benchmarks measure different capabilities</a:t>
            </a:r>
            <a:endParaRPr lang="en-US" sz="1447" dirty="0"/>
          </a:p>
        </p:txBody>
      </p:sp>
      <p:sp>
        <p:nvSpPr>
          <p:cNvPr id="10" name="Text 8"/>
          <p:cNvSpPr txBox="1"/>
          <p:nvPr/>
        </p:nvSpPr>
        <p:spPr>
          <a:xfrm>
            <a:off x="1636685" y="3920856"/>
            <a:ext cx="4829038" cy="640812"/>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BSD68 measures average-case Gaussian removal and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has saturated</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 0.36 dB in five years. Urban100 measures long-range self-similarity: the same span bought 1.98 dB. SIDD measures real noise: sixteen.</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[1]</a:t>
            </a:r>
            <a:endParaRPr lang="en-US" sz="1085" dirty="0"/>
          </a:p>
        </p:txBody>
      </p:sp>
      <p:sp>
        <p:nvSpPr>
          <p:cNvPr id="11" name="Shape 9"/>
          <p:cNvSpPr/>
          <p:nvPr/>
        </p:nvSpPr>
        <p:spPr>
          <a:xfrm>
            <a:off x="6797284" y="3249412"/>
            <a:ext cx="4793193" cy="16734"/>
          </a:xfrm>
          <a:prstGeom prst="rect">
            <a:avLst/>
          </a:prstGeom>
          <a:solidFill>
            <a:srgbClr val="14343F"/>
          </a:solidFill>
          <a:ln/>
        </p:spPr>
      </p:sp>
      <p:sp>
        <p:nvSpPr>
          <p:cNvPr id="12" name="Text 10"/>
          <p:cNvSpPr txBox="1"/>
          <p:nvPr/>
        </p:nvSpPr>
        <p:spPr>
          <a:xfrm>
            <a:off x="6797284" y="3399556"/>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2</a:t>
            </a:r>
            <a:endParaRPr lang="en-US" sz="756" dirty="0"/>
          </a:p>
        </p:txBody>
      </p:sp>
      <p:sp>
        <p:nvSpPr>
          <p:cNvPr id="13" name="Text 11"/>
          <p:cNvSpPr txBox="1"/>
          <p:nvPr/>
        </p:nvSpPr>
        <p:spPr>
          <a:xfrm>
            <a:off x="6797284" y="3591946"/>
            <a:ext cx="3164373"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The cost axes disagree with each other</a:t>
            </a:r>
            <a:endParaRPr lang="en-US" sz="1447" dirty="0"/>
          </a:p>
        </p:txBody>
      </p:sp>
      <p:sp>
        <p:nvSpPr>
          <p:cNvPr id="14" name="Text 12"/>
          <p:cNvSpPr txBox="1"/>
          <p:nvPr/>
        </p:nvSpPr>
        <p:spPr>
          <a:xfrm>
            <a:off x="6797284" y="3920856"/>
            <a:ext cx="4829038" cy="640812"/>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Our measurements give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three incompatible rankings</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of the same models — by parameters, by CPU wall-clock, by real-noise quality. NAFNet</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[2]</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has 4.4× Restormer's</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[1]</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parameters and 5.5× its speed.</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[5]</a:t>
            </a:r>
            <a:endParaRPr lang="en-US" sz="1085" dirty="0"/>
          </a:p>
        </p:txBody>
      </p:sp>
      <p:sp>
        <p:nvSpPr>
          <p:cNvPr id="15" name="Shape 13"/>
          <p:cNvSpPr/>
          <p:nvPr/>
        </p:nvSpPr>
        <p:spPr>
          <a:xfrm>
            <a:off x="1636685" y="4865980"/>
            <a:ext cx="4793193" cy="16734"/>
          </a:xfrm>
          <a:prstGeom prst="rect">
            <a:avLst/>
          </a:prstGeom>
          <a:solidFill>
            <a:srgbClr val="14343F"/>
          </a:solidFill>
          <a:ln/>
        </p:spPr>
      </p:sp>
      <p:sp>
        <p:nvSpPr>
          <p:cNvPr id="16" name="Text 14"/>
          <p:cNvSpPr txBox="1"/>
          <p:nvPr/>
        </p:nvSpPr>
        <p:spPr>
          <a:xfrm>
            <a:off x="1636685" y="5016124"/>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3</a:t>
            </a:r>
            <a:endParaRPr lang="en-US" sz="756" dirty="0"/>
          </a:p>
        </p:txBody>
      </p:sp>
      <p:sp>
        <p:nvSpPr>
          <p:cNvPr id="17" name="Text 15"/>
          <p:cNvSpPr txBox="1"/>
          <p:nvPr/>
        </p:nvSpPr>
        <p:spPr>
          <a:xfrm>
            <a:off x="1636685" y="5208514"/>
            <a:ext cx="4213098"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Deployment constraints are not quality constraints</a:t>
            </a:r>
            <a:endParaRPr lang="en-US" sz="1447" dirty="0"/>
          </a:p>
        </p:txBody>
      </p:sp>
      <p:sp>
        <p:nvSpPr>
          <p:cNvPr id="18" name="Text 16"/>
          <p:cNvSpPr txBox="1"/>
          <p:nvPr/>
        </p:nvSpPr>
        <p:spPr>
          <a:xfrm>
            <a:off x="1636685" y="5537424"/>
            <a:ext cx="4829038" cy="431414"/>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MambaIR</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[3]</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leads DND by 0.01 dB and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cannot be imported without compiled CUDA</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SCUNet leads no AWGN table and is a third of Restormer's size.</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[5]</a:t>
            </a:r>
            <a:endParaRPr lang="en-US" sz="1085" dirty="0"/>
          </a:p>
        </p:txBody>
      </p:sp>
      <p:sp>
        <p:nvSpPr>
          <p:cNvPr id="19" name="Shape 17"/>
          <p:cNvSpPr/>
          <p:nvPr/>
        </p:nvSpPr>
        <p:spPr>
          <a:xfrm>
            <a:off x="6797284" y="4865980"/>
            <a:ext cx="4793193" cy="16734"/>
          </a:xfrm>
          <a:prstGeom prst="rect">
            <a:avLst/>
          </a:prstGeom>
          <a:solidFill>
            <a:srgbClr val="14343F"/>
          </a:solidFill>
          <a:ln/>
        </p:spPr>
      </p:sp>
      <p:sp>
        <p:nvSpPr>
          <p:cNvPr id="20" name="Text 18"/>
          <p:cNvSpPr txBox="1"/>
          <p:nvPr/>
        </p:nvSpPr>
        <p:spPr>
          <a:xfrm>
            <a:off x="6797284" y="5016124"/>
            <a:ext cx="566745" cy="117135"/>
          </a:xfrm>
          <a:prstGeom prst="rect">
            <a:avLst/>
          </a:prstGeom>
          <a:noFill/>
          <a:ln/>
        </p:spPr>
        <p:txBody>
          <a:bodyPr wrap="none" lIns="0" tIns="0" rIns="0" bIns="0" rtlCol="0" anchor="t"/>
          <a:lstStyle/>
          <a:p>
            <a:pPr algn="l" indent="0" marL="0">
              <a:lnSpc>
                <a:spcPts val="923"/>
              </a:lnSpc>
              <a:buNone/>
            </a:pPr>
            <a:r>
              <a:rPr lang="en-US" sz="756" b="1" spc="112" kern="0" dirty="0">
                <a:solidFill>
                  <a:srgbClr val="14343F"/>
                </a:solidFill>
                <a:latin typeface="Calibri" pitchFamily="34" charset="0"/>
                <a:ea typeface="Calibri" pitchFamily="34" charset="-122"/>
                <a:cs typeface="Calibri" pitchFamily="34" charset="-120"/>
              </a:rPr>
              <a:t>REASON 4</a:t>
            </a:r>
            <a:endParaRPr lang="en-US" sz="756" dirty="0"/>
          </a:p>
        </p:txBody>
      </p:sp>
      <p:sp>
        <p:nvSpPr>
          <p:cNvPr id="21" name="Text 19"/>
          <p:cNvSpPr txBox="1"/>
          <p:nvPr/>
        </p:nvSpPr>
        <p:spPr>
          <a:xfrm>
            <a:off x="6797284" y="5208514"/>
            <a:ext cx="3531230" cy="216804"/>
          </a:xfrm>
          <a:prstGeom prst="rect">
            <a:avLst/>
          </a:prstGeom>
          <a:noFill/>
          <a:ln/>
        </p:spPr>
        <p:txBody>
          <a:bodyPr wrap="none" lIns="0" tIns="0" rIns="0" bIns="0" rtlCol="0" anchor="t"/>
          <a:lstStyle/>
          <a:p>
            <a:pPr algn="l" indent="0" marL="0">
              <a:lnSpc>
                <a:spcPts val="1707"/>
              </a:lnSpc>
              <a:buNone/>
            </a:pPr>
            <a:r>
              <a:rPr lang="en-US" sz="1447" b="1" spc="-26" kern="0" dirty="0">
                <a:solidFill>
                  <a:srgbClr val="14120F"/>
                </a:solidFill>
                <a:latin typeface="Cambria" pitchFamily="34" charset="0"/>
                <a:ea typeface="Cambria" pitchFamily="34" charset="-122"/>
                <a:cs typeface="Cambria" pitchFamily="34" charset="-120"/>
              </a:rPr>
              <a:t>Supervision availability partitions the field</a:t>
            </a:r>
            <a:endParaRPr lang="en-US" sz="1447" dirty="0"/>
          </a:p>
        </p:txBody>
      </p:sp>
      <p:sp>
        <p:nvSpPr>
          <p:cNvPr id="22" name="Text 20"/>
          <p:cNvSpPr txBox="1"/>
          <p:nvPr/>
        </p:nvSpPr>
        <p:spPr>
          <a:xfrm>
            <a:off x="6797284" y="5537424"/>
            <a:ext cx="4829038" cy="418887"/>
          </a:xfrm>
          <a:prstGeom prst="rect">
            <a:avLst/>
          </a:prstGeom>
          <a:noFill/>
          <a:ln/>
        </p:spPr>
        <p:txBody>
          <a:bodyPr wrap="square" lIns="0" tIns="0" rIns="0" bIns="0" rtlCol="0" anchor="t"/>
          <a:lstStyle/>
          <a:p>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Where clean pairs exist, supervision wins by 1.35 dB.</a:t>
            </a:r>
            <a:pPr algn="l" indent="0" marL="0">
              <a:lnSpc>
                <a:spcPts val="1649"/>
              </a:lnSpc>
              <a:buNone/>
            </a:pPr>
            <a:r>
              <a:rPr kern="0" lang="en-US" sz="803" b="1" dirty="0">
                <a:solidFill>
                  <a:srgbClr val="C0451A"/>
                </a:solidFill>
                <a:latin typeface="Calibri" pitchFamily="34" charset="0"/>
                <a:ea typeface="Calibri" pitchFamily="34" charset="-122"/>
                <a:cs typeface="Calibri" pitchFamily="34" charset="-120"/>
              </a:rPr>
              <a:t>[4]</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Where they do not — cryo-TEM, microscopy — self-supervised methods are not </a:t>
            </a:r>
            <a:pPr algn="l" indent="0" marL="0">
              <a:lnSpc>
                <a:spcPts val="1649"/>
              </a:lnSpc>
              <a:buNone/>
            </a:pPr>
            <a:r>
              <a:rPr kern="0" lang="en-US" sz="1085" i="1" dirty="0">
                <a:solidFill>
                  <a:srgbClr val="33302B"/>
                </a:solidFill>
                <a:latin typeface="Calibri" pitchFamily="34" charset="0"/>
                <a:ea typeface="Calibri" pitchFamily="34" charset="-122"/>
                <a:cs typeface="Calibri" pitchFamily="34" charset="-120"/>
              </a:rPr>
              <a:t>worse</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they are the </a:t>
            </a:r>
            <a:pPr algn="l" indent="0" marL="0">
              <a:lnSpc>
                <a:spcPts val="1649"/>
              </a:lnSpc>
              <a:buNone/>
            </a:pPr>
            <a:r>
              <a:rPr kern="0" lang="en-US" sz="1085" b="1" dirty="0">
                <a:solidFill>
                  <a:srgbClr val="33302B"/>
                </a:solidFill>
                <a:latin typeface="Calibri" pitchFamily="34" charset="0"/>
                <a:ea typeface="Calibri" pitchFamily="34" charset="-122"/>
                <a:cs typeface="Calibri" pitchFamily="34" charset="-120"/>
              </a:rPr>
              <a:t>only</a:t>
            </a:r>
            <a:pPr algn="l" indent="0" marL="0">
              <a:lnSpc>
                <a:spcPts val="1649"/>
              </a:lnSpc>
              <a:buNone/>
            </a:pPr>
            <a:r>
              <a:rPr kern="0" lang="en-US" sz="1085" dirty="0">
                <a:solidFill>
                  <a:srgbClr val="33302B"/>
                </a:solidFill>
                <a:latin typeface="Calibri" pitchFamily="34" charset="0"/>
                <a:ea typeface="Calibri" pitchFamily="34" charset="-122"/>
                <a:cs typeface="Calibri" pitchFamily="34" charset="-120"/>
              </a:rPr>
              <a:t> option.</a:t>
            </a:r>
            <a:endParaRPr lang="en-US" sz="1085" dirty="0"/>
          </a:p>
        </p:txBody>
      </p:sp>
      <p:sp>
        <p:nvSpPr>
          <p:cNvPr id="23" name="Text 21"/>
          <p:cNvSpPr txBox="1"/>
          <p:nvPr/>
        </p:nvSpPr>
        <p:spPr>
          <a:xfrm>
            <a:off x="7085137" y="6207039"/>
            <a:ext cx="4505340"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Restormer22 Table 4 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NAFNet22 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[3]</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MambaIR24 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[4]</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N2V19 §4.1 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[5]</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measured, Stage 2</a:t>
            </a:r>
            <a:endParaRPr lang="en-US" sz="633" dirty="0"/>
          </a:p>
        </p:txBody>
      </p:sp>
      <p:sp>
        <p:nvSpPr>
          <p:cNvPr id="24" name="Shape 22"/>
          <p:cNvSpPr/>
          <p:nvPr/>
        </p:nvSpPr>
        <p:spPr>
          <a:xfrm>
            <a:off x="1636685" y="6515466"/>
            <a:ext cx="9953793" cy="8321"/>
          </a:xfrm>
          <a:prstGeom prst="rect">
            <a:avLst/>
          </a:prstGeom>
          <a:solidFill>
            <a:srgbClr val="C9C4B9"/>
          </a:solidFill>
          <a:ln/>
        </p:spPr>
      </p:sp>
      <p:sp>
        <p:nvSpPr>
          <p:cNvPr id="25" name="Shape 23"/>
          <p:cNvSpPr/>
          <p:nvPr/>
        </p:nvSpPr>
        <p:spPr>
          <a:xfrm>
            <a:off x="1636685" y="6473678"/>
            <a:ext cx="8321" cy="41788"/>
          </a:xfrm>
          <a:prstGeom prst="rect">
            <a:avLst/>
          </a:prstGeom>
          <a:solidFill>
            <a:srgbClr val="C9C4B9"/>
          </a:solidFill>
          <a:ln/>
        </p:spPr>
      </p:sp>
      <p:sp>
        <p:nvSpPr>
          <p:cNvPr id="26" name="Text 24"/>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27" name="Shape 25"/>
          <p:cNvSpPr/>
          <p:nvPr/>
        </p:nvSpPr>
        <p:spPr>
          <a:xfrm>
            <a:off x="5507706" y="6473678"/>
            <a:ext cx="8321" cy="41788"/>
          </a:xfrm>
          <a:prstGeom prst="rect">
            <a:avLst/>
          </a:prstGeom>
          <a:solidFill>
            <a:srgbClr val="C9C4B9"/>
          </a:solidFill>
          <a:ln/>
        </p:spPr>
      </p:sp>
      <p:sp>
        <p:nvSpPr>
          <p:cNvPr id="28" name="Text 26"/>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29" name="Shape 27"/>
          <p:cNvSpPr/>
          <p:nvPr/>
        </p:nvSpPr>
        <p:spPr>
          <a:xfrm>
            <a:off x="7166884" y="6473678"/>
            <a:ext cx="8321" cy="41788"/>
          </a:xfrm>
          <a:prstGeom prst="rect">
            <a:avLst/>
          </a:prstGeom>
          <a:solidFill>
            <a:srgbClr val="C9C4B9"/>
          </a:solidFill>
          <a:ln/>
        </p:spPr>
      </p:sp>
      <p:sp>
        <p:nvSpPr>
          <p:cNvPr id="30" name="Text 28"/>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31" name="Shape 29"/>
          <p:cNvSpPr/>
          <p:nvPr/>
        </p:nvSpPr>
        <p:spPr>
          <a:xfrm>
            <a:off x="9931024" y="6473678"/>
            <a:ext cx="8321" cy="41788"/>
          </a:xfrm>
          <a:prstGeom prst="rect">
            <a:avLst/>
          </a:prstGeom>
          <a:solidFill>
            <a:srgbClr val="C9C4B9"/>
          </a:solidFill>
          <a:ln/>
        </p:spPr>
      </p:sp>
      <p:sp>
        <p:nvSpPr>
          <p:cNvPr id="32" name="Text 30"/>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33" name="Shape 31"/>
          <p:cNvSpPr/>
          <p:nvPr/>
        </p:nvSpPr>
        <p:spPr>
          <a:xfrm>
            <a:off x="11590477" y="6473678"/>
            <a:ext cx="8321" cy="41788"/>
          </a:xfrm>
          <a:prstGeom prst="rect">
            <a:avLst/>
          </a:prstGeom>
          <a:solidFill>
            <a:srgbClr val="C9C4B9"/>
          </a:solidFill>
          <a:ln/>
        </p:spPr>
      </p:sp>
      <p:sp>
        <p:nvSpPr>
          <p:cNvPr id="34" name="Text 32"/>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16326"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93</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64582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BEFORE → AFTER, PART 1</a:t>
            </a:r>
            <a:endParaRPr lang="en-US" sz="888" dirty="0"/>
          </a:p>
        </p:txBody>
      </p:sp>
      <p:sp>
        <p:nvSpPr>
          <p:cNvPr id="5" name="Text 3"/>
          <p:cNvSpPr txBox="1"/>
          <p:nvPr/>
        </p:nvSpPr>
        <p:spPr>
          <a:xfrm>
            <a:off x="1636685" y="690281"/>
            <a:ext cx="6974860"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Every step, as an implementation change</a:t>
            </a:r>
            <a:endParaRPr lang="en-US" sz="3025" dirty="0"/>
          </a:p>
        </p:txBody>
      </p:sp>
      <p:sp>
        <p:nvSpPr>
          <p:cNvPr id="6" name="Text 4"/>
          <p:cNvSpPr txBox="1"/>
          <p:nvPr/>
        </p:nvSpPr>
        <p:spPr>
          <a:xfrm>
            <a:off x="1636685" y="1241481"/>
            <a:ext cx="6475598" cy="751545"/>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The same evolution read through the code rather than the papers. Each row names the smallest change that carries the innovation — the connection from contribution, through algorithmic change, to implementation change, to measured improvement.</a:t>
            </a:r>
            <a:endParaRPr lang="en-US" sz="1315"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1636685" y="2226838"/>
          <a:ext cx="9144000" cy="914400"/>
        </p:xfrm>
        <a:graphic>
          <a:graphicData uri="http://schemas.openxmlformats.org/drawingml/2006/table">
            <a:tbl>
              <a:tblPr/>
              <a:tblGrid>
                <a:gridCol w="1173267"/>
                <a:gridCol w="1828800"/>
                <a:gridCol w="1966509"/>
                <a:gridCol w="3077139"/>
                <a:gridCol w="1908078"/>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BEFORE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AFTER</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THE CHANGE IN CODE</a:t>
                      </a:r>
                      <a:pPr algn="l" indent="0" marL="0">
                        <a:lnSpc>
                          <a:spcPts val="1003"/>
                        </a:lnSpc>
                        <a:buNone/>
                      </a:pPr>
                      <a:r>
                        <a:rPr lang="en-US" sz="608" b="1" spc="99" kern="0" dirty="0">
                          <a:solidFill>
                            <a:srgbClr val="C045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MEASURED EFFECT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r>
              <a:tr h="513527">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BM3D → WNNM (2014)</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Shrink a 3-D transform of the patch group</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Recover a low-rank matrix from it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Transform call becomes an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iterated SVD with per-singular-value weights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+0.26 dB ·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271× slower</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WNNM → TNRD (2016)</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while</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loop to a tolerance, one fixed rule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Fixed K stages, each with its own learned filters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Loop becomes a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fixed stack trained by back-propagation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+0.09 dB · 773 s → 0.032 s</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TNRD → DnCNN (2017)</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Stages derived from a diffusion PDE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Plain Conv-BN-ReLU ×17, no pooling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return self.model(x)</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becomes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return x - self.model(x)</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+0.31 dB · one blind model</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DnCNN → N2N (2018)</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target = clean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target = second_noisy_shot</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One assignment.</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Network, optimiser, schedule unchanged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−0.02 dB · clean data no longer needed</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N2N → N2V (2019)</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Two noisy shots of one scene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One noisy image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Replace the centre pixel with a random neighbour</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score the loss only there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−1.15 dB · applicable where no pair exists</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636685" y="5291450"/>
            <a:ext cx="9953793" cy="16734"/>
          </a:xfrm>
          <a:prstGeom prst="rect">
            <a:avLst/>
          </a:prstGeom>
          <a:solidFill>
            <a:srgbClr val="14343F"/>
          </a:solidFill>
          <a:ln/>
        </p:spPr>
      </p:sp>
      <p:sp>
        <p:nvSpPr>
          <p:cNvPr id="9" name="Text 6"/>
          <p:cNvSpPr txBox="1"/>
          <p:nvPr/>
        </p:nvSpPr>
        <p:spPr>
          <a:xfrm>
            <a:off x="1636685" y="5439674"/>
            <a:ext cx="10010303" cy="425836"/>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Read the fourth column down the page.</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An iterated SVD, then a training loop, then a single subtraction, then one assignment, then a masking trick. The size of the code change is uncorrelated with the size of the conceptual change — which is why reading the repositories was worth doing.</a:t>
            </a:r>
            <a:endParaRPr lang="en-US" sz="1118" dirty="0"/>
          </a:p>
        </p:txBody>
      </p:sp>
      <p:sp>
        <p:nvSpPr>
          <p:cNvPr id="10" name="Text 7"/>
          <p:cNvSpPr txBox="1"/>
          <p:nvPr/>
        </p:nvSpPr>
        <p:spPr>
          <a:xfrm>
            <a:off x="6524793" y="6207039"/>
            <a:ext cx="5065685"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DnCNN17 Tables II, IV 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N2N18 Table 1 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[3]</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N2V19 Fig. 4 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[4]</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code measured at the commits on slide 65</a:t>
            </a:r>
            <a:endParaRPr lang="en-US" sz="633" dirty="0"/>
          </a:p>
        </p:txBody>
      </p:sp>
      <p:sp>
        <p:nvSpPr>
          <p:cNvPr id="11" name="Shape 8"/>
          <p:cNvSpPr/>
          <p:nvPr/>
        </p:nvSpPr>
        <p:spPr>
          <a:xfrm>
            <a:off x="1636685" y="6515466"/>
            <a:ext cx="9953793" cy="8321"/>
          </a:xfrm>
          <a:prstGeom prst="rect">
            <a:avLst/>
          </a:prstGeom>
          <a:solidFill>
            <a:srgbClr val="C9C4B9"/>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400782" y="363291"/>
            <a:ext cx="432786" cy="367406"/>
          </a:xfrm>
          <a:prstGeom prst="rect">
            <a:avLst/>
          </a:prstGeom>
          <a:noFill/>
          <a:ln/>
        </p:spPr>
        <p:txBody>
          <a:bodyPr wrap="none" lIns="0" tIns="0" rIns="0" bIns="0" rtlCol="0" anchor="t"/>
          <a:lstStyle/>
          <a:p>
            <a:pPr algn="l" indent="0" marL="0">
              <a:lnSpc>
                <a:spcPts val="2893"/>
              </a:lnSpc>
              <a:buNone/>
            </a:pPr>
            <a:r>
              <a:rPr lang="en-US" sz="2893" b="1" spc="-66" kern="0" dirty="0">
                <a:solidFill>
                  <a:srgbClr val="E3DFD6"/>
                </a:solidFill>
                <a:latin typeface="Cambria" pitchFamily="34" charset="0"/>
                <a:ea typeface="Cambria" pitchFamily="34" charset="-122"/>
                <a:cs typeface="Cambria" pitchFamily="34" charset="-120"/>
              </a:rPr>
              <a:t>94</a:t>
            </a:r>
            <a:endParaRPr lang="en-US" sz="2893" dirty="0"/>
          </a:p>
        </p:txBody>
      </p:sp>
      <p:sp>
        <p:nvSpPr>
          <p:cNvPr id="3" name="Shape 1"/>
          <p:cNvSpPr/>
          <p:nvPr/>
        </p:nvSpPr>
        <p:spPr>
          <a:xfrm>
            <a:off x="1636685" y="492679"/>
            <a:ext cx="217079" cy="25055"/>
          </a:xfrm>
          <a:prstGeom prst="rect">
            <a:avLst/>
          </a:prstGeom>
          <a:solidFill>
            <a:srgbClr val="14343F"/>
          </a:solidFill>
          <a:ln/>
        </p:spPr>
      </p:sp>
      <p:sp>
        <p:nvSpPr>
          <p:cNvPr id="4" name="Text 2"/>
          <p:cNvSpPr txBox="1"/>
          <p:nvPr/>
        </p:nvSpPr>
        <p:spPr>
          <a:xfrm>
            <a:off x="1953981" y="436443"/>
            <a:ext cx="1645829" cy="137526"/>
          </a:xfrm>
          <a:prstGeom prst="rect">
            <a:avLst/>
          </a:prstGeom>
          <a:noFill/>
          <a:ln/>
        </p:spPr>
        <p:txBody>
          <a:bodyPr wrap="none" lIns="0" tIns="0" rIns="0" bIns="0" rtlCol="0" anchor="t"/>
          <a:lstStyle/>
          <a:p>
            <a:pPr algn="l" indent="0" marL="0">
              <a:lnSpc>
                <a:spcPts val="1083"/>
              </a:lnSpc>
              <a:buNone/>
            </a:pPr>
            <a:r>
              <a:rPr lang="en-US" sz="888" b="1" spc="138" kern="0" dirty="0">
                <a:solidFill>
                  <a:srgbClr val="14343F"/>
                </a:solidFill>
                <a:latin typeface="Calibri" pitchFamily="34" charset="0"/>
                <a:ea typeface="Calibri" pitchFamily="34" charset="-122"/>
                <a:cs typeface="Calibri" pitchFamily="34" charset="-120"/>
              </a:rPr>
              <a:t>BEFORE → AFTER, PART 2</a:t>
            </a:r>
            <a:endParaRPr lang="en-US" sz="888" dirty="0"/>
          </a:p>
        </p:txBody>
      </p:sp>
      <p:sp>
        <p:nvSpPr>
          <p:cNvPr id="5" name="Text 3"/>
          <p:cNvSpPr txBox="1"/>
          <p:nvPr/>
        </p:nvSpPr>
        <p:spPr>
          <a:xfrm>
            <a:off x="1636685" y="690281"/>
            <a:ext cx="9353855" cy="414863"/>
          </a:xfrm>
          <a:prstGeom prst="rect">
            <a:avLst/>
          </a:prstGeom>
          <a:noFill/>
          <a:ln/>
        </p:spPr>
        <p:txBody>
          <a:bodyPr wrap="none" lIns="0" tIns="0" rIns="0" bIns="0" rtlCol="0" anchor="t"/>
          <a:lstStyle/>
          <a:p>
            <a:pPr algn="l" indent="0" marL="0">
              <a:lnSpc>
                <a:spcPts val="3267"/>
              </a:lnSpc>
              <a:buNone/>
            </a:pPr>
            <a:r>
              <a:rPr lang="en-US" sz="3025" b="1" spc="-72" kern="0" dirty="0">
                <a:solidFill>
                  <a:srgbClr val="14120F"/>
                </a:solidFill>
                <a:latin typeface="Cambria" pitchFamily="34" charset="0"/>
                <a:ea typeface="Cambria" pitchFamily="34" charset="-122"/>
                <a:cs typeface="Cambria" pitchFamily="34" charset="-120"/>
              </a:rPr>
              <a:t>The architecture branch, as an implementation change</a:t>
            </a:r>
            <a:endParaRPr lang="en-US" sz="3025" dirty="0"/>
          </a:p>
        </p:txBody>
      </p:sp>
      <p:sp>
        <p:nvSpPr>
          <p:cNvPr id="6" name="Text 4"/>
          <p:cNvSpPr txBox="1"/>
          <p:nvPr/>
        </p:nvSpPr>
        <p:spPr>
          <a:xfrm>
            <a:off x="1636685" y="1241481"/>
            <a:ext cx="6475598" cy="501000"/>
          </a:xfrm>
          <a:prstGeom prst="rect">
            <a:avLst/>
          </a:prstGeom>
          <a:noFill/>
          <a:ln/>
        </p:spPr>
        <p:txBody>
          <a:bodyPr wrap="square" lIns="0" tIns="0" rIns="0" bIns="0" rtlCol="0" anchor="t"/>
          <a:lstStyle/>
          <a:p>
            <a:pPr algn="l" indent="0" marL="0">
              <a:lnSpc>
                <a:spcPts val="1973"/>
              </a:lnSpc>
              <a:buNone/>
            </a:pPr>
            <a:r>
              <a:rPr kern="0" lang="en-US" sz="1315" dirty="0">
                <a:solidFill>
                  <a:srgbClr val="5A554D"/>
                </a:solidFill>
                <a:latin typeface="Calibri" pitchFamily="34" charset="0"/>
                <a:ea typeface="Calibri" pitchFamily="34" charset="-122"/>
                <a:cs typeface="Calibri" pitchFamily="34" charset="-120"/>
              </a:rPr>
              <a:t>The same treatment for the three operators that answer bottleneck 3, plus the one method that answers it from the data side instead.</a:t>
            </a:r>
            <a:endParaRPr lang="en-US" sz="1315"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1636685" y="1976293"/>
          <a:ext cx="9144000" cy="914400"/>
        </p:xfrm>
        <a:graphic>
          <a:graphicData uri="http://schemas.openxmlformats.org/drawingml/2006/table">
            <a:tbl>
              <a:tblPr/>
              <a:tblGrid>
                <a:gridCol w="1423721"/>
                <a:gridCol w="1895551"/>
                <a:gridCol w="1745224"/>
                <a:gridCol w="3097987"/>
                <a:gridCol w="1791218"/>
              </a:tblGrid>
              <a:tr h="275600">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BEFORE</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AFTER</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THE CHANGE IN CODE</a:t>
                      </a:r>
                      <a:pPr algn="l" indent="0" marL="0">
                        <a:lnSpc>
                          <a:spcPts val="1003"/>
                        </a:lnSpc>
                        <a:buNone/>
                      </a:pPr>
                      <a:r>
                        <a:rPr lang="en-US" sz="608" b="1" spc="99" kern="0" dirty="0">
                          <a:solidFill>
                            <a:srgbClr val="C0451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c>
                  <a:txBody>
                    <a:bodyPr/>
                    <a:lstStyle/>
                    <a:p>
                      <a:pPr algn="l" indent="0" marL="0">
                        <a:lnSpc>
                          <a:spcPts val="1003"/>
                        </a:lnSpc>
                        <a:buNone/>
                      </a:pPr>
                      <a:r>
                        <a:rPr lang="en-US" sz="822" b="1" spc="99" kern="0" dirty="0">
                          <a:solidFill>
                            <a:srgbClr val="14120F"/>
                          </a:solidFill>
                          <a:latin typeface="Calibri" pitchFamily="34" charset="0"/>
                          <a:ea typeface="Calibri" pitchFamily="34" charset="-122"/>
                          <a:cs typeface="Calibri" pitchFamily="34" charset="-120"/>
                        </a:rPr>
                        <a:t>MEASURED EFFECT</a:t>
                      </a:r>
                      <a:endParaRPr lang="en-US" sz="1100" dirty="0">
                        <a:latin typeface="Calibri" charset="0"/>
                        <a:ea typeface="Calibri" charset="0"/>
                        <a:cs typeface="Calibri" charset="0"/>
                      </a:endParaRPr>
                    </a:p>
                  </a:txBody>
                  <a:tcPr marL="100206" marR="100206" marT="58453" marB="83505" anchor="b">
                    <a:lnL w="0" cap="flat" cmpd="sng" algn="ctr">
                      <a:noFill/>
                    </a:lnL>
                    <a:lnR w="0" cap="flat" cmpd="sng" algn="ctr">
                      <a:noFill/>
                    </a:lnR>
                    <a:lnT w="0" cap="flat" cmpd="sng" algn="ctr">
                      <a:noFill/>
                    </a:lnT>
                    <a:lnB w="16701" cap="flat" cmpd="sng" algn="ctr">
                      <a:solidFill>
                        <a:srgbClr val="14343F"/>
                      </a:solidFill>
                      <a:prstDash val="solid"/>
                      <a:round/>
                      <a:headEnd type="none" w="med" len="med"/>
                      <a:tailEnd type="none" w="med" len="med"/>
                    </a:lnB>
                  </a:tcPr>
                </a:tc>
              </a:tr>
              <a:tr h="680588">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Spatial →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Restormer</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[1]</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(2022)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Attention over HW×HW pixels — 4.3×10⁹ entries at 256²</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Attention over C×C channels — 48×48 at level 1</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One einops pattern: </a:t>
                      </a:r>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'b (head c) h w -&gt; b head c (h w)'</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puts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pixels on the last axis</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Linear in pixels · +1.98 dB on Urban100 vs DnCNN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Attention →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NAFNet</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[2]</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(2022)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GELU, then a gate; CA with ReLU and Sigmoid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The gate </a:t>
                      </a:r>
                      <a:pPr algn="l" indent="0" marL="0">
                        <a:lnSpc>
                          <a:spcPts val="1324"/>
                        </a:lnSpc>
                        <a:buNone/>
                      </a:pPr>
                      <a:r>
                        <a:rPr kern="0" lang="en-US" sz="1085" i="1" dirty="0">
                          <a:solidFill>
                            <a:srgbClr val="33302B"/>
                          </a:solidFill>
                          <a:latin typeface="Calibri" pitchFamily="34" charset="0"/>
                          <a:ea typeface="Calibri" pitchFamily="34" charset="-122"/>
                          <a:cs typeface="Calibri" pitchFamily="34" charset="-120"/>
                        </a:rPr>
                        <a:t>is</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the nonlinearity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976" dirty="0">
                          <a:solidFill>
                            <a:srgbClr val="145A66"/>
                          </a:solidFill>
                          <a:latin typeface="Consolas" pitchFamily="34" charset="0"/>
                          <a:ea typeface="Consolas" pitchFamily="34" charset="-122"/>
                          <a:cs typeface="Consolas" pitchFamily="34" charset="-120"/>
                        </a:rPr>
                        <a:t>x1, x2 = x.chunk(2, dim=1); return x1 * x2</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+0.08 dB over GELU · 40.30 dB SIDD</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67638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Attention →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MambaIR</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[3]</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(2024)</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Quadratic attention, or windows that surrender globality</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Selective state-space recurrence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Flatten to a sequence,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four-directional scan</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plus a local conv and channel attention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Linear cost · best DND at 40.04 dB</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r h="509412">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Architecture →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SCUNet</a:t>
                      </a:r>
                      <a:pPr algn="l" indent="0" marL="0">
                        <a:lnSpc>
                          <a:spcPts val="1324"/>
                        </a:lnSpc>
                        <a:buNone/>
                      </a:pPr>
                      <a:r>
                        <a:rPr kern="0" lang="en-US" sz="803" b="1" dirty="0">
                          <a:solidFill>
                            <a:srgbClr val="C0451A"/>
                          </a:solidFill>
                          <a:latin typeface="Calibri" pitchFamily="34" charset="0"/>
                          <a:ea typeface="Calibri" pitchFamily="34" charset="-122"/>
                          <a:cs typeface="Calibri" pitchFamily="34" charset="-120"/>
                        </a:rPr>
                        <a:t>[4]</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(2023)</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Train on AWGN, test on AWGN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Train on a synthesised degradation pipeline</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The </a:t>
                      </a:r>
                      <a:pPr algn="l" indent="0" marL="0">
                        <a:lnSpc>
                          <a:spcPts val="1324"/>
                        </a:lnSpc>
                        <a:buNone/>
                      </a:pPr>
                      <a:r>
                        <a:rPr kern="0" lang="en-US" sz="1085" b="1" dirty="0">
                          <a:solidFill>
                            <a:srgbClr val="33302B"/>
                          </a:solidFill>
                          <a:latin typeface="Calibri" pitchFamily="34" charset="0"/>
                          <a:ea typeface="Calibri" pitchFamily="34" charset="-122"/>
                          <a:cs typeface="Calibri" pitchFamily="34" charset="-120"/>
                        </a:rPr>
                        <a:t>dataloader</a:t>
                      </a:r>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 becomes the contribution: Poisson, speckle, JPEG, ISP-simulated sensor noise, resizing</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c>
                  <a:txBody>
                    <a:bodyPr/>
                    <a:lstStyle/>
                    <a:p>
                      <a:pPr algn="l" indent="0" marL="0">
                        <a:lnSpc>
                          <a:spcPts val="1324"/>
                        </a:lnSpc>
                        <a:buNone/>
                      </a:pPr>
                      <a:r>
                        <a:rPr kern="0" lang="en-US" sz="1085" dirty="0">
                          <a:solidFill>
                            <a:srgbClr val="33302B"/>
                          </a:solidFill>
                          <a:latin typeface="Calibri" pitchFamily="34" charset="0"/>
                          <a:ea typeface="Calibri" pitchFamily="34" charset="-122"/>
                          <a:cs typeface="Calibri" pitchFamily="34" charset="-120"/>
                        </a:rPr>
                        <a:t>9.7 M params · robust to unseen degradation</a:t>
                      </a:r>
                      <a:endParaRPr lang="en-US" sz="1100" dirty="0">
                        <a:latin typeface="Calibri" charset="0"/>
                        <a:ea typeface="Calibri" charset="0"/>
                        <a:cs typeface="Calibri" charset="0"/>
                      </a:endParaRPr>
                    </a:p>
                  </a:txBody>
                  <a:tcPr marL="100206" marR="100206" marT="83505" marB="83505" anchor="ctr">
                    <a:lnL w="0" cap="flat" cmpd="sng" algn="ctr">
                      <a:noFill/>
                    </a:lnL>
                    <a:lnR w="0" cap="flat" cmpd="sng" algn="ctr">
                      <a:noFill/>
                    </a:lnR>
                    <a:lnT w="0" cap="flat" cmpd="sng" algn="ctr">
                      <a:noFill/>
                    </a:lnT>
                    <a:lnB w="8350"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636685" y="4865614"/>
            <a:ext cx="9953793" cy="16734"/>
          </a:xfrm>
          <a:prstGeom prst="rect">
            <a:avLst/>
          </a:prstGeom>
          <a:solidFill>
            <a:srgbClr val="14343F"/>
          </a:solidFill>
          <a:ln/>
        </p:spPr>
      </p:sp>
      <p:sp>
        <p:nvSpPr>
          <p:cNvPr id="9" name="Text 6"/>
          <p:cNvSpPr txBox="1"/>
          <p:nvPr/>
        </p:nvSpPr>
        <p:spPr>
          <a:xfrm>
            <a:off x="1636685" y="5013838"/>
            <a:ext cx="10010303" cy="425836"/>
          </a:xfrm>
          <a:prstGeom prst="rect">
            <a:avLst/>
          </a:prstGeom>
          <a:noFill/>
          <a:ln/>
        </p:spPr>
        <p:txBody>
          <a:bodyPr wrap="square" lIns="0" tIns="0" rIns="0" bIns="0" rtlCol="0" anchor="t"/>
          <a:lstStyle/>
          <a:p>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And the honest footnote from NAFNet's own ablation:</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the largest single gain in its table is not an architectural component at all — it is </a:t>
            </a:r>
            <a:pPr algn="l" indent="0" marL="0">
              <a:lnSpc>
                <a:spcPts val="1677"/>
              </a:lnSpc>
              <a:buNone/>
            </a:pPr>
            <a:r>
              <a:rPr kern="0" lang="en-US" sz="1118" b="1" dirty="0">
                <a:solidFill>
                  <a:srgbClr val="14120F"/>
                </a:solidFill>
                <a:latin typeface="Calibri" pitchFamily="34" charset="0"/>
                <a:ea typeface="Calibri" pitchFamily="34" charset="-122"/>
                <a:cs typeface="Calibri" pitchFamily="34" charset="-120"/>
              </a:rPr>
              <a:t>LayerNorm, +0.44 dB</a:t>
            </a:r>
            <a:pPr algn="l" indent="0" marL="0">
              <a:lnSpc>
                <a:spcPts val="1677"/>
              </a:lnSpc>
              <a:buNone/>
            </a:pPr>
            <a:r>
              <a:rPr kern="0" lang="en-US" sz="1118" dirty="0">
                <a:solidFill>
                  <a:srgbClr val="33302B"/>
                </a:solidFill>
                <a:latin typeface="Calibri" pitchFamily="34" charset="0"/>
                <a:ea typeface="Calibri" pitchFamily="34" charset="-122"/>
                <a:cs typeface="Calibri" pitchFamily="34" charset="-120"/>
              </a:rPr>
              <a:t>, because it stabilises training at a ten-times larger learning rate. A substantial share of reported architectural progress in restoration is optimisation progress wearing a costume.</a:t>
            </a:r>
            <a:endParaRPr lang="en-US" sz="1118" dirty="0"/>
          </a:p>
        </p:txBody>
      </p:sp>
      <p:sp>
        <p:nvSpPr>
          <p:cNvPr id="10" name="Text 7"/>
          <p:cNvSpPr txBox="1"/>
          <p:nvPr/>
        </p:nvSpPr>
        <p:spPr>
          <a:xfrm>
            <a:off x="6146505" y="6207039"/>
            <a:ext cx="5443972" cy="132405"/>
          </a:xfrm>
          <a:prstGeom prst="rect">
            <a:avLst/>
          </a:prstGeom>
          <a:noFill/>
          <a:ln/>
        </p:spPr>
        <p:txBody>
          <a:bodyPr wrap="none" lIns="0" tIns="0" rIns="0" bIns="0" rtlCol="0" anchor="t"/>
          <a:lstStyle/>
          <a:p>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[1]</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Restormer22 §3.1, Tables 4, 7 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[2]</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NAFNet22 §4, §5 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[3]</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MambaIR24 §3.2 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[4]</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SCUNet23 §3.2 </a:t>
            </a:r>
            <a:pPr algn="r" indent="0" marL="0">
              <a:lnSpc>
                <a:spcPts val="1043"/>
              </a:lnSpc>
              <a:buNone/>
            </a:pPr>
            <a:r>
              <a:rPr kern="0" lang="en-US" sz="633" b="1" dirty="0">
                <a:solidFill>
                  <a:srgbClr val="C0451A"/>
                </a:solidFill>
                <a:latin typeface="Calibri" pitchFamily="34" charset="0"/>
                <a:ea typeface="Calibri" pitchFamily="34" charset="-122"/>
                <a:cs typeface="Calibri" pitchFamily="34" charset="-120"/>
              </a:rPr>
              <a:t>[5]</a:t>
            </a:r>
            <a:pPr algn="r" indent="0" marL="0">
              <a:lnSpc>
                <a:spcPts val="1043"/>
              </a:lnSpc>
              <a:buNone/>
            </a:pPr>
            <a:r>
              <a:rPr kern="0" lang="en-US" sz="855" i="1" dirty="0">
                <a:solidFill>
                  <a:srgbClr val="8A847A"/>
                </a:solidFill>
                <a:latin typeface="Calibri" pitchFamily="34" charset="0"/>
                <a:ea typeface="Calibri" pitchFamily="34" charset="-122"/>
                <a:cs typeface="Calibri" pitchFamily="34" charset="-120"/>
              </a:rPr>
              <a:t> code measured</a:t>
            </a:r>
            <a:endParaRPr lang="en-US" sz="633" dirty="0"/>
          </a:p>
        </p:txBody>
      </p:sp>
      <p:sp>
        <p:nvSpPr>
          <p:cNvPr id="11" name="Shape 8"/>
          <p:cNvSpPr/>
          <p:nvPr/>
        </p:nvSpPr>
        <p:spPr>
          <a:xfrm>
            <a:off x="1636685" y="6515466"/>
            <a:ext cx="9953793" cy="8321"/>
          </a:xfrm>
          <a:prstGeom prst="rect">
            <a:avLst/>
          </a:prstGeom>
          <a:solidFill>
            <a:srgbClr val="C9C4B9"/>
          </a:solidFill>
          <a:ln/>
        </p:spPr>
      </p:sp>
      <p:sp>
        <p:nvSpPr>
          <p:cNvPr id="12" name="Shape 9"/>
          <p:cNvSpPr/>
          <p:nvPr/>
        </p:nvSpPr>
        <p:spPr>
          <a:xfrm>
            <a:off x="1636685" y="6473678"/>
            <a:ext cx="8321" cy="41788"/>
          </a:xfrm>
          <a:prstGeom prst="rect">
            <a:avLst/>
          </a:prstGeom>
          <a:solidFill>
            <a:srgbClr val="C9C4B9"/>
          </a:solidFill>
          <a:ln/>
        </p:spPr>
      </p:sp>
      <p:sp>
        <p:nvSpPr>
          <p:cNvPr id="13" name="Text 10"/>
          <p:cNvSpPr txBox="1"/>
          <p:nvPr/>
        </p:nvSpPr>
        <p:spPr>
          <a:xfrm>
            <a:off x="1526957"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2007</a:t>
            </a:r>
            <a:endParaRPr lang="en-US" sz="658" dirty="0"/>
          </a:p>
        </p:txBody>
      </p:sp>
      <p:sp>
        <p:nvSpPr>
          <p:cNvPr id="14" name="Shape 11"/>
          <p:cNvSpPr/>
          <p:nvPr/>
        </p:nvSpPr>
        <p:spPr>
          <a:xfrm>
            <a:off x="5507706" y="6473678"/>
            <a:ext cx="8321" cy="41788"/>
          </a:xfrm>
          <a:prstGeom prst="rect">
            <a:avLst/>
          </a:prstGeom>
          <a:solidFill>
            <a:srgbClr val="C9C4B9"/>
          </a:solidFill>
          <a:ln/>
        </p:spPr>
      </p:sp>
      <p:sp>
        <p:nvSpPr>
          <p:cNvPr id="15" name="Text 12"/>
          <p:cNvSpPr txBox="1"/>
          <p:nvPr/>
        </p:nvSpPr>
        <p:spPr>
          <a:xfrm>
            <a:off x="539788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2014</a:t>
            </a:r>
            <a:endParaRPr lang="en-US" sz="658" dirty="0"/>
          </a:p>
        </p:txBody>
      </p:sp>
      <p:sp>
        <p:nvSpPr>
          <p:cNvPr id="16" name="Shape 13"/>
          <p:cNvSpPr/>
          <p:nvPr/>
        </p:nvSpPr>
        <p:spPr>
          <a:xfrm>
            <a:off x="7166884" y="6473678"/>
            <a:ext cx="8321" cy="41788"/>
          </a:xfrm>
          <a:prstGeom prst="rect">
            <a:avLst/>
          </a:prstGeom>
          <a:solidFill>
            <a:srgbClr val="C9C4B9"/>
          </a:solidFill>
          <a:ln/>
        </p:spPr>
      </p:sp>
      <p:sp>
        <p:nvSpPr>
          <p:cNvPr id="17" name="Text 14"/>
          <p:cNvSpPr txBox="1"/>
          <p:nvPr/>
        </p:nvSpPr>
        <p:spPr>
          <a:xfrm>
            <a:off x="705715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2017</a:t>
            </a:r>
            <a:endParaRPr lang="en-US" sz="658" dirty="0"/>
          </a:p>
        </p:txBody>
      </p:sp>
      <p:sp>
        <p:nvSpPr>
          <p:cNvPr id="18" name="Shape 15"/>
          <p:cNvSpPr/>
          <p:nvPr/>
        </p:nvSpPr>
        <p:spPr>
          <a:xfrm>
            <a:off x="9931024" y="6473678"/>
            <a:ext cx="8321" cy="41788"/>
          </a:xfrm>
          <a:prstGeom prst="rect">
            <a:avLst/>
          </a:prstGeom>
          <a:solidFill>
            <a:srgbClr val="C9C4B9"/>
          </a:solidFill>
          <a:ln/>
        </p:spPr>
      </p:sp>
      <p:sp>
        <p:nvSpPr>
          <p:cNvPr id="19" name="Text 16"/>
          <p:cNvSpPr txBox="1"/>
          <p:nvPr/>
        </p:nvSpPr>
        <p:spPr>
          <a:xfrm>
            <a:off x="9821296"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2022</a:t>
            </a:r>
            <a:endParaRPr lang="en-US" sz="658" dirty="0"/>
          </a:p>
        </p:txBody>
      </p:sp>
      <p:sp>
        <p:nvSpPr>
          <p:cNvPr id="20" name="Shape 17"/>
          <p:cNvSpPr/>
          <p:nvPr/>
        </p:nvSpPr>
        <p:spPr>
          <a:xfrm>
            <a:off x="11590477" y="6473678"/>
            <a:ext cx="8321" cy="41788"/>
          </a:xfrm>
          <a:prstGeom prst="rect">
            <a:avLst/>
          </a:prstGeom>
          <a:solidFill>
            <a:srgbClr val="C9C4B9"/>
          </a:solidFill>
          <a:ln/>
        </p:spPr>
      </p:sp>
      <p:sp>
        <p:nvSpPr>
          <p:cNvPr id="21" name="Text 18"/>
          <p:cNvSpPr txBox="1"/>
          <p:nvPr/>
        </p:nvSpPr>
        <p:spPr>
          <a:xfrm>
            <a:off x="11480749" y="6543812"/>
            <a:ext cx="219456" cy="101864"/>
          </a:xfrm>
          <a:prstGeom prst="rect">
            <a:avLst/>
          </a:prstGeom>
          <a:noFill/>
          <a:ln/>
        </p:spPr>
        <p:txBody>
          <a:bodyPr wrap="none" lIns="0" tIns="0" rIns="0" bIns="0" rtlCol="0" anchor="t"/>
          <a:lstStyle/>
          <a:p>
            <a:pPr algn="ctr" indent="0" marL="0">
              <a:lnSpc>
                <a:spcPts val="802"/>
              </a:lnSpc>
              <a:buNone/>
            </a:pPr>
            <a:r>
              <a:rPr kern="0" lang="en-US" sz="658" dirty="0">
                <a:solidFill>
                  <a:srgbClr val="B5AFA4"/>
                </a:solidFill>
                <a:latin typeface="Calibri" pitchFamily="34" charset="0"/>
                <a:ea typeface="Calibri" pitchFamily="34" charset="-122"/>
                <a:cs typeface="Calibri" pitchFamily="34" charset="-120"/>
              </a:rPr>
              <a:t>2025</a:t>
            </a:r>
            <a:endParaRPr lang="en-US" sz="658"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93832"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95</a:t>
            </a:r>
            <a:endParaRPr lang="en-US" sz="2708" dirty="0"/>
          </a:p>
        </p:txBody>
      </p:sp>
      <p:sp>
        <p:nvSpPr>
          <p:cNvPr id="3" name="Shape 1"/>
          <p:cNvSpPr/>
          <p:nvPr/>
        </p:nvSpPr>
        <p:spPr>
          <a:xfrm>
            <a:off x="1531803" y="461132"/>
            <a:ext cx="203180" cy="23409"/>
          </a:xfrm>
          <a:prstGeom prst="rect">
            <a:avLst/>
          </a:prstGeom>
          <a:solidFill>
            <a:srgbClr val="14343F"/>
          </a:solidFill>
          <a:ln/>
        </p:spPr>
      </p:sp>
      <p:sp>
        <p:nvSpPr>
          <p:cNvPr id="4" name="Text 2"/>
          <p:cNvSpPr txBox="1"/>
          <p:nvPr/>
        </p:nvSpPr>
        <p:spPr>
          <a:xfrm>
            <a:off x="1828800" y="408462"/>
            <a:ext cx="1394551"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PROPOSAL DIRECTIONS</a:t>
            </a:r>
            <a:endParaRPr lang="en-US" sz="831" dirty="0"/>
          </a:p>
        </p:txBody>
      </p:sp>
      <p:sp>
        <p:nvSpPr>
          <p:cNvPr id="5" name="Text 3"/>
          <p:cNvSpPr txBox="1"/>
          <p:nvPr/>
        </p:nvSpPr>
        <p:spPr>
          <a:xfrm>
            <a:off x="1531803" y="646024"/>
            <a:ext cx="8792230"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Four research directions the limitations actually justify</a:t>
            </a:r>
            <a:endParaRPr lang="en-US" sz="2831" dirty="0"/>
          </a:p>
        </p:txBody>
      </p:sp>
      <p:sp>
        <p:nvSpPr>
          <p:cNvPr id="6" name="Text 4"/>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Each is tied to a specific documented gap — from the papers' own words or from our measurements — and each states what would change and how it would be measured. None claims a paper achieved something it did not.</a:t>
            </a:r>
            <a:endParaRPr lang="en-US" sz="1231"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1531803" y="2084100"/>
          <a:ext cx="9144000" cy="914400"/>
        </p:xfrm>
        <a:graphic>
          <a:graphicData uri="http://schemas.openxmlformats.org/drawingml/2006/table">
            <a:tbl>
              <a:tblPr/>
              <a:tblGrid>
                <a:gridCol w="1859981"/>
                <a:gridCol w="3297966"/>
                <a:gridCol w="2387498"/>
                <a:gridCol w="2551633"/>
              </a:tblGrid>
              <a:tr h="257861">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DIRECTION</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GROUNDED IN</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WHAT WOULD CHANGE</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c>
                  <a:txBody>
                    <a:bodyPr/>
                    <a:lstStyle/>
                    <a:p>
                      <a:pPr algn="l" indent="0" marL="0">
                        <a:lnSpc>
                          <a:spcPts val="938"/>
                        </a:lnSpc>
                        <a:buNone/>
                      </a:pPr>
                      <a:r>
                        <a:rPr lang="en-US" sz="769" b="1" spc="92" kern="0" dirty="0">
                          <a:solidFill>
                            <a:srgbClr val="14120F"/>
                          </a:solidFill>
                          <a:latin typeface="Calibri" pitchFamily="34" charset="0"/>
                          <a:ea typeface="Calibri" pitchFamily="34" charset="-122"/>
                          <a:cs typeface="Calibri" pitchFamily="34" charset="-120"/>
                        </a:rPr>
                        <a:t>HOW YOU WOULD MEASURE IT</a:t>
                      </a:r>
                      <a:endParaRPr lang="en-US" sz="1100" dirty="0">
                        <a:latin typeface="Calibri" charset="0"/>
                        <a:ea typeface="Calibri" charset="0"/>
                        <a:cs typeface="Calibri" charset="0"/>
                      </a:endParaRPr>
                    </a:p>
                  </a:txBody>
                  <a:tcPr marL="93782" marR="93782" marT="54707" marB="78152" anchor="b">
                    <a:lnL w="0" cap="flat" cmpd="sng" algn="ctr">
                      <a:noFill/>
                    </a:lnL>
                    <a:lnR w="0" cap="flat" cmpd="sng" algn="ctr">
                      <a:noFill/>
                    </a:lnR>
                    <a:lnT w="0" cap="flat" cmpd="sng" algn="ctr">
                      <a:noFill/>
                    </a:lnT>
                    <a:lnB w="15630" cap="flat" cmpd="sng" algn="ctr">
                      <a:solidFill>
                        <a:srgbClr val="14343F"/>
                      </a:solidFill>
                      <a:prstDash val="solid"/>
                      <a:round/>
                      <a:headEnd type="none" w="med" len="med"/>
                      <a:tailEnd type="none" w="med" len="med"/>
                    </a:lnB>
                  </a:tcPr>
                </a:tc>
              </a:tr>
              <a:tr h="636971">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Cross the fork</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 self-supervised supervision on a modern backbone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Our own finding: no published work trains a Transformer or SSM backbone under RDC/DCS supervision; P2N still ships the 2018 U-Net verbatim</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Replace </a:t>
                      </a:r>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UNet_n2n_un</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with a Restormer or NAFNet block under P2N's RDC/DCS training signal</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N2V's own protocol on BSD68 σ=25 and on the cryo-TEM / CTC sets — does the 1.35 dB self-supervision gap shrink?</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633039">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A cross-ISP generalisation benchmark</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SCUNet's abstract</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[2]</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a general-purpose blind real denoiser </a:t>
                      </a:r>
                      <a:pPr algn="l" indent="0" marL="0">
                        <a:lnSpc>
                          <a:spcPts val="1239"/>
                        </a:lnSpc>
                        <a:buNone/>
                      </a:pPr>
                      <a:r>
                        <a:rPr kern="0" lang="en-US" sz="1015" i="1" dirty="0">
                          <a:solidFill>
                            <a:srgbClr val="33302B"/>
                          </a:solidFill>
                          <a:latin typeface="Calibri" pitchFamily="34" charset="0"/>
                          <a:ea typeface="Calibri" pitchFamily="34" charset="-122"/>
                          <a:cs typeface="Calibri" pitchFamily="34" charset="-120"/>
                        </a:rPr>
                        <a:t>remains unsolved</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and no benchmark evaluates an unseen camera</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Train on SIDD, evaluate on DND </a:t>
                      </a:r>
                      <a:pPr algn="l" indent="0" marL="0">
                        <a:lnSpc>
                          <a:spcPts val="1239"/>
                        </a:lnSpc>
                        <a:buNone/>
                      </a:pPr>
                      <a:r>
                        <a:rPr kern="0" lang="en-US" sz="1015" i="1" dirty="0">
                          <a:solidFill>
                            <a:srgbClr val="33302B"/>
                          </a:solidFill>
                          <a:latin typeface="Calibri" pitchFamily="34" charset="0"/>
                          <a:ea typeface="Calibri" pitchFamily="34" charset="-122"/>
                          <a:cs typeface="Calibri" pitchFamily="34" charset="-120"/>
                        </a:rPr>
                        <a:t>and</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on a held-out camera; report the drop as the headline number</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Δ PSNR between seen and unseen ISP — a quantity nobody currently reports</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633039">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A perceptual objective that does not surrender fidelity</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Noise2Noise</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[3]</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names L2's </a:t>
                      </a:r>
                      <a:pPr algn="l" indent="0" marL="0">
                        <a:lnSpc>
                          <a:spcPts val="1239"/>
                        </a:lnSpc>
                        <a:buNone/>
                      </a:pPr>
                      <a:r>
                        <a:rPr kern="0" lang="en-US" sz="1015" i="1" dirty="0">
                          <a:solidFill>
                            <a:srgbClr val="33302B"/>
                          </a:solidFill>
                          <a:latin typeface="Calibri" pitchFamily="34" charset="0"/>
                          <a:ea typeface="Calibri" pitchFamily="34" charset="-122"/>
                          <a:cs typeface="Calibri" pitchFamily="34" charset="-120"/>
                        </a:rPr>
                        <a:t>spatial blurriness</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perceptual losses are standard in super-resolution and essentially absent from denoising</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Add an LPIPS or no-reference term to NAFNet's PSNR loss and report both axes rather than one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PSNR </a:t>
                      </a:r>
                      <a:pPr algn="l" indent="0" marL="0">
                        <a:lnSpc>
                          <a:spcPts val="1239"/>
                        </a:lnSpc>
                        <a:buNone/>
                      </a:pPr>
                      <a:r>
                        <a:rPr kern="0" lang="en-US" sz="1015" i="1" dirty="0">
                          <a:solidFill>
                            <a:srgbClr val="33302B"/>
                          </a:solidFill>
                          <a:latin typeface="Calibri" pitchFamily="34" charset="0"/>
                          <a:ea typeface="Calibri" pitchFamily="34" charset="-122"/>
                          <a:cs typeface="Calibri" pitchFamily="34" charset="-120"/>
                        </a:rPr>
                        <a:t>and</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LPIPS jointly on SIDD — accept a small dB loss for a measured perceptual gain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r h="633039">
                <a:tc>
                  <a:txBody>
                    <a:bodyPr/>
                    <a:lstStyle/>
                    <a:p>
                      <a:pPr algn="l" indent="0" marL="0">
                        <a:lnSpc>
                          <a:spcPts val="1239"/>
                        </a:lnSpc>
                        <a:buNone/>
                      </a:pPr>
                      <a:r>
                        <a:rPr kern="0" lang="en-US" sz="1015" b="1" dirty="0">
                          <a:solidFill>
                            <a:srgbClr val="33302B"/>
                          </a:solidFill>
                          <a:latin typeface="Calibri" pitchFamily="34" charset="0"/>
                          <a:ea typeface="Calibri" pitchFamily="34" charset="-122"/>
                          <a:cs typeface="Calibri" pitchFamily="34" charset="-120"/>
                        </a:rPr>
                        <a:t>An efficiency protocol the field can agree on</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Three incompatible rankings from our own measurements</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[5]</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MambaIR's changelog</a:t>
                      </a:r>
                      <a:pPr algn="l" indent="0" marL="0">
                        <a:lnSpc>
                          <a:spcPts val="1239"/>
                        </a:lnSpc>
                        <a:buNone/>
                      </a:pPr>
                      <a:r>
                        <a:rPr kern="0" lang="en-US" sz="751" b="1" dirty="0">
                          <a:solidFill>
                            <a:srgbClr val="C0451A"/>
                          </a:solidFill>
                          <a:latin typeface="Calibri" pitchFamily="34" charset="0"/>
                          <a:ea typeface="Calibri" pitchFamily="34" charset="-122"/>
                          <a:cs typeface="Calibri" pitchFamily="34" charset="-120"/>
                        </a:rPr>
                        <a:t>[4]</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conceding its published </a:t>
                      </a:r>
                      <a:pPr algn="l" indent="0" marL="0">
                        <a:lnSpc>
                          <a:spcPts val="1239"/>
                        </a:lnSpc>
                        <a:buNone/>
                      </a:pPr>
                      <a:r>
                        <a:rPr kern="0" lang="en-US" sz="914" dirty="0">
                          <a:solidFill>
                            <a:srgbClr val="145A66"/>
                          </a:solidFill>
                          <a:latin typeface="Consolas" pitchFamily="34" charset="0"/>
                          <a:ea typeface="Consolas" pitchFamily="34" charset="-122"/>
                          <a:cs typeface="Consolas" pitchFamily="34" charset="-120"/>
                        </a:rPr>
                        <a:t>thop</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figures were wrong</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Report parameters, MACs </a:t>
                      </a:r>
                      <a:pPr algn="l" indent="0" marL="0">
                        <a:lnSpc>
                          <a:spcPts val="1239"/>
                        </a:lnSpc>
                        <a:buNone/>
                      </a:pPr>
                      <a:r>
                        <a:rPr kern="0" lang="en-US" sz="1015" i="1" dirty="0">
                          <a:solidFill>
                            <a:srgbClr val="33302B"/>
                          </a:solidFill>
                          <a:latin typeface="Calibri" pitchFamily="34" charset="0"/>
                          <a:ea typeface="Calibri" pitchFamily="34" charset="-122"/>
                          <a:cs typeface="Calibri" pitchFamily="34" charset="-120"/>
                        </a:rPr>
                        <a:t>and</a:t>
                      </a:r>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 wall-clock on a named device, with the counting method stated alongside</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c>
                  <a:txBody>
                    <a:bodyPr/>
                    <a:lstStyle/>
                    <a:p>
                      <a:pPr algn="l" indent="0" marL="0">
                        <a:lnSpc>
                          <a:spcPts val="1239"/>
                        </a:lnSpc>
                        <a:buNone/>
                      </a:pPr>
                      <a:r>
                        <a:rPr kern="0" lang="en-US" sz="1015" dirty="0">
                          <a:solidFill>
                            <a:srgbClr val="33302B"/>
                          </a:solidFill>
                          <a:latin typeface="Calibri" pitchFamily="34" charset="0"/>
                          <a:ea typeface="Calibri" pitchFamily="34" charset="-122"/>
                          <a:cs typeface="Calibri" pitchFamily="34" charset="-120"/>
                        </a:rPr>
                        <a:t>Reproduce the table across CPU and GPU; the change in ranking is itself the result</a:t>
                      </a:r>
                      <a:endParaRPr lang="en-US" sz="1100" dirty="0">
                        <a:latin typeface="Calibri" charset="0"/>
                        <a:ea typeface="Calibri" charset="0"/>
                        <a:cs typeface="Calibri" charset="0"/>
                      </a:endParaRPr>
                    </a:p>
                  </a:txBody>
                  <a:tcPr marL="93782" marR="93782" marT="78152" marB="78152" anchor="ctr">
                    <a:lnL w="0" cap="flat" cmpd="sng" algn="ctr">
                      <a:noFill/>
                    </a:lnL>
                    <a:lnR w="0" cap="flat" cmpd="sng" algn="ctr">
                      <a:noFill/>
                    </a:lnR>
                    <a:lnT w="0" cap="flat" cmpd="sng" algn="ctr">
                      <a:noFill/>
                    </a:lnT>
                    <a:lnB w="7816"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531803" y="5100798"/>
            <a:ext cx="10097262" cy="15636"/>
          </a:xfrm>
          <a:prstGeom prst="rect">
            <a:avLst/>
          </a:prstGeom>
          <a:solidFill>
            <a:srgbClr val="14343F"/>
          </a:solidFill>
          <a:ln/>
        </p:spPr>
      </p:sp>
      <p:sp>
        <p:nvSpPr>
          <p:cNvPr id="9" name="Text 6"/>
          <p:cNvSpPr txBox="1"/>
          <p:nvPr/>
        </p:nvSpPr>
        <p:spPr>
          <a:xfrm>
            <a:off x="1531803" y="5239512"/>
            <a:ext cx="10153223" cy="398587"/>
          </a:xfrm>
          <a:prstGeom prst="rect">
            <a:avLst/>
          </a:prstGeom>
          <a:noFill/>
          <a:ln/>
        </p:spPr>
        <p:txBody>
          <a:bodyPr wrap="square" lIns="0" tIns="0" rIns="0" bIns="0" rtlCol="0" anchor="t"/>
          <a:lstStyle/>
          <a:p>
            <a:pPr algn="l" indent="0" marL="0">
              <a:lnSpc>
                <a:spcPts val="1569"/>
              </a:lnSpc>
              <a:buNone/>
            </a:pPr>
            <a:r>
              <a:rPr kern="0" lang="en-US" sz="1046" b="1" dirty="0">
                <a:solidFill>
                  <a:srgbClr val="14120F"/>
                </a:solidFill>
                <a:latin typeface="Calibri" pitchFamily="34" charset="0"/>
                <a:ea typeface="Calibri" pitchFamily="34" charset="-122"/>
                <a:cs typeface="Calibri" pitchFamily="34" charset="-120"/>
              </a:rPr>
              <a:t>The one we would pursue is the first.</a:t>
            </a:r>
            <a:pPr algn="l" indent="0" marL="0">
              <a:lnSpc>
                <a:spcPts val="1569"/>
              </a:lnSpc>
              <a:buNone/>
            </a:pPr>
            <a:r>
              <a:rPr kern="0" lang="en-US" sz="1046" dirty="0">
                <a:solidFill>
                  <a:srgbClr val="33302B"/>
                </a:solidFill>
                <a:latin typeface="Calibri" pitchFamily="34" charset="0"/>
                <a:ea typeface="Calibri" pitchFamily="34" charset="-122"/>
                <a:cs typeface="Calibri" pitchFamily="34" charset="-120"/>
              </a:rPr>
              <a:t> It falls directly out of the structural claim this deck has carried since Part IV — the two branches have never merged — it is cheap to test because both halves already exist as working code, and it has a clear negative result if the gap does not close.</a:t>
            </a:r>
            <a:endParaRPr lang="en-US" sz="1046" dirty="0"/>
          </a:p>
        </p:txBody>
      </p:sp>
      <p:sp>
        <p:nvSpPr>
          <p:cNvPr id="10" name="Text 7"/>
          <p:cNvSpPr txBox="1"/>
          <p:nvPr/>
        </p:nvSpPr>
        <p:spPr>
          <a:xfrm>
            <a:off x="6331854" y="6248827"/>
            <a:ext cx="5297119" cy="123993"/>
          </a:xfrm>
          <a:prstGeom prst="rect">
            <a:avLst/>
          </a:prstGeom>
          <a:noFill/>
          <a:ln/>
        </p:spPr>
        <p:txBody>
          <a:bodyPr wrap="none" lIns="0" tIns="0" rIns="0" bIns="0" rtlCol="0" anchor="t"/>
          <a:lstStyle/>
          <a:p>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[1]</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reading, grounded in P2N25 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[2]</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SCUNet23 abstract 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[3]</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N2N18 §2 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[4]</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MambaIR24 changelog </a:t>
            </a:r>
            <a:pPr algn="r" indent="0" marL="0">
              <a:lnSpc>
                <a:spcPts val="976"/>
              </a:lnSpc>
              <a:buNone/>
            </a:pPr>
            <a:r>
              <a:rPr kern="0" lang="en-US" sz="592" b="1" dirty="0">
                <a:solidFill>
                  <a:srgbClr val="C0451A"/>
                </a:solidFill>
                <a:latin typeface="Calibri" pitchFamily="34" charset="0"/>
                <a:ea typeface="Calibri" pitchFamily="34" charset="-122"/>
                <a:cs typeface="Calibri" pitchFamily="34" charset="-120"/>
              </a:rPr>
              <a:t>[5]</a:t>
            </a:r>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 measured, Stage 2</a:t>
            </a:r>
            <a:endParaRPr lang="en-US" sz="592" dirty="0"/>
          </a:p>
        </p:txBody>
      </p:sp>
      <p:sp>
        <p:nvSpPr>
          <p:cNvPr id="11" name="Shape 8"/>
          <p:cNvSpPr/>
          <p:nvPr/>
        </p:nvSpPr>
        <p:spPr>
          <a:xfrm>
            <a:off x="1531803" y="6537411"/>
            <a:ext cx="10097262" cy="7772"/>
          </a:xfrm>
          <a:prstGeom prst="rect">
            <a:avLst/>
          </a:prstGeom>
          <a:solidFill>
            <a:srgbClr val="C9C4B9"/>
          </a:solidFill>
          <a:ln/>
        </p:spPr>
      </p:sp>
      <p:sp>
        <p:nvSpPr>
          <p:cNvPr id="12" name="Shape 9"/>
          <p:cNvSpPr/>
          <p:nvPr/>
        </p:nvSpPr>
        <p:spPr>
          <a:xfrm>
            <a:off x="1531803" y="6498366"/>
            <a:ext cx="7772" cy="39045"/>
          </a:xfrm>
          <a:prstGeom prst="rect">
            <a:avLst/>
          </a:prstGeom>
          <a:solidFill>
            <a:srgbClr val="C9C4B9"/>
          </a:solidFill>
          <a:ln/>
        </p:spPr>
      </p:sp>
      <p:sp>
        <p:nvSpPr>
          <p:cNvPr id="13" name="Text 10"/>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14" name="Shape 11"/>
          <p:cNvSpPr/>
          <p:nvPr/>
        </p:nvSpPr>
        <p:spPr>
          <a:xfrm>
            <a:off x="5458511" y="6498366"/>
            <a:ext cx="7772" cy="39045"/>
          </a:xfrm>
          <a:prstGeom prst="rect">
            <a:avLst/>
          </a:prstGeom>
          <a:solidFill>
            <a:srgbClr val="C9C4B9"/>
          </a:solidFill>
          <a:ln/>
        </p:spPr>
      </p:sp>
      <p:sp>
        <p:nvSpPr>
          <p:cNvPr id="15" name="Text 12"/>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16" name="Shape 13"/>
          <p:cNvSpPr/>
          <p:nvPr/>
        </p:nvSpPr>
        <p:spPr>
          <a:xfrm>
            <a:off x="7141738" y="6498366"/>
            <a:ext cx="7772" cy="39045"/>
          </a:xfrm>
          <a:prstGeom prst="rect">
            <a:avLst/>
          </a:prstGeom>
          <a:solidFill>
            <a:srgbClr val="C9C4B9"/>
          </a:solidFill>
          <a:ln/>
        </p:spPr>
      </p:sp>
      <p:sp>
        <p:nvSpPr>
          <p:cNvPr id="17" name="Text 14"/>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18" name="Shape 15"/>
          <p:cNvSpPr/>
          <p:nvPr/>
        </p:nvSpPr>
        <p:spPr>
          <a:xfrm>
            <a:off x="9945654" y="6498366"/>
            <a:ext cx="7772" cy="39045"/>
          </a:xfrm>
          <a:prstGeom prst="rect">
            <a:avLst/>
          </a:prstGeom>
          <a:solidFill>
            <a:srgbClr val="C9C4B9"/>
          </a:solidFill>
          <a:ln/>
        </p:spPr>
      </p:sp>
      <p:sp>
        <p:nvSpPr>
          <p:cNvPr id="19" name="Text 16"/>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0" name="Shape 17"/>
          <p:cNvSpPr/>
          <p:nvPr/>
        </p:nvSpPr>
        <p:spPr>
          <a:xfrm>
            <a:off x="11628973" y="6498366"/>
            <a:ext cx="7772" cy="39045"/>
          </a:xfrm>
          <a:prstGeom prst="rect">
            <a:avLst/>
          </a:prstGeom>
          <a:solidFill>
            <a:srgbClr val="C9C4B9"/>
          </a:solidFill>
          <a:ln/>
        </p:spPr>
      </p:sp>
      <p:sp>
        <p:nvSpPr>
          <p:cNvPr id="21" name="Text 18"/>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375818"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96</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1627175"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HOW TO PRESENT THIS DECK</a:t>
            </a:r>
            <a:endParaRPr lang="en-US" sz="781" dirty="0"/>
          </a:p>
        </p:txBody>
      </p:sp>
      <p:sp>
        <p:nvSpPr>
          <p:cNvPr id="5" name="Text 3"/>
          <p:cNvSpPr txBox="1"/>
          <p:nvPr/>
        </p:nvSpPr>
        <p:spPr>
          <a:xfrm>
            <a:off x="1439540" y="607070"/>
            <a:ext cx="8711855"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The condensed executive summary, and what it leaves out</a:t>
            </a:r>
            <a:endParaRPr lang="en-US" sz="2660" dirty="0"/>
          </a:p>
        </p:txBody>
      </p:sp>
      <p:sp>
        <p:nvSpPr>
          <p:cNvPr id="6" name="Text 4"/>
          <p:cNvSpPr txBox="1"/>
          <p:nvPr/>
        </p:nvSpPr>
        <p:spPr>
          <a:xfrm>
            <a:off x="1439540" y="1091885"/>
            <a:ext cx="5695340" cy="661020"/>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The brief is explicit that a four-hour presentation is impossible: you present a highly condensed executive summary and are questioned on any part of the full deck. This slide states how that summary is cut, so the choice is deliberate rather than improvised.</a:t>
            </a:r>
            <a:endParaRPr lang="en-US" sz="1157" dirty="0"/>
          </a:p>
        </p:txBody>
      </p:sp>
      <p:sp>
        <p:nvSpPr>
          <p:cNvPr id="7" name="Shape 5"/>
          <p:cNvSpPr/>
          <p:nvPr/>
        </p:nvSpPr>
        <p:spPr>
          <a:xfrm>
            <a:off x="6551219" y="1958553"/>
            <a:ext cx="7315" cy="2849179"/>
          </a:xfrm>
          <a:prstGeom prst="rect">
            <a:avLst/>
          </a:prstGeom>
          <a:solidFill>
            <a:srgbClr val="DFDBD2"/>
          </a:solidFill>
          <a:ln/>
        </p:spPr>
      </p:sp>
      <p:sp>
        <p:nvSpPr>
          <p:cNvPr id="8" name="Shape 6"/>
          <p:cNvSpPr/>
          <p:nvPr/>
        </p:nvSpPr>
        <p:spPr>
          <a:xfrm>
            <a:off x="1439540" y="1958553"/>
            <a:ext cx="4950104" cy="14722"/>
          </a:xfrm>
          <a:prstGeom prst="rect">
            <a:avLst/>
          </a:prstGeom>
          <a:solidFill>
            <a:srgbClr val="14343F"/>
          </a:solidFill>
          <a:ln/>
        </p:spPr>
      </p:sp>
      <p:sp>
        <p:nvSpPr>
          <p:cNvPr id="9" name="Text 7"/>
          <p:cNvSpPr txBox="1"/>
          <p:nvPr/>
        </p:nvSpPr>
        <p:spPr>
          <a:xfrm>
            <a:off x="1439540" y="2083552"/>
            <a:ext cx="2705252"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What the 26-minute summary covers</a:t>
            </a:r>
            <a:endParaRPr lang="en-US" sz="1272" dirty="0"/>
          </a:p>
        </p:txBody>
      </p:sp>
      <p:sp>
        <p:nvSpPr>
          <p:cNvPr id="10" name="Shape 8"/>
          <p:cNvSpPr/>
          <p:nvPr/>
        </p:nvSpPr>
        <p:spPr>
          <a:xfrm>
            <a:off x="1439540" y="2435596"/>
            <a:ext cx="58796" cy="36759"/>
          </a:xfrm>
          <a:prstGeom prst="rect">
            <a:avLst/>
          </a:prstGeom>
          <a:solidFill>
            <a:srgbClr val="14343F"/>
          </a:solidFill>
          <a:ln/>
        </p:spPr>
      </p:sp>
      <p:sp>
        <p:nvSpPr>
          <p:cNvPr id="11" name="Text 9"/>
          <p:cNvSpPr txBox="1"/>
          <p:nvPr/>
        </p:nvSpPr>
        <p:spPr>
          <a:xfrm>
            <a:off x="1586393" y="2374057"/>
            <a:ext cx="4635185"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claim, before the evidence</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 four eras, three bottlenecks, one fork in 2018.</a:t>
            </a:r>
            <a:endParaRPr lang="en-US" sz="1070" dirty="0"/>
          </a:p>
        </p:txBody>
      </p:sp>
      <p:sp>
        <p:nvSpPr>
          <p:cNvPr id="12" name="Shape 10"/>
          <p:cNvSpPr/>
          <p:nvPr/>
        </p:nvSpPr>
        <p:spPr>
          <a:xfrm>
            <a:off x="1439540" y="2756916"/>
            <a:ext cx="58796" cy="36759"/>
          </a:xfrm>
          <a:prstGeom prst="rect">
            <a:avLst/>
          </a:prstGeom>
          <a:solidFill>
            <a:srgbClr val="14343F"/>
          </a:solidFill>
          <a:ln/>
        </p:spPr>
      </p:sp>
      <p:sp>
        <p:nvSpPr>
          <p:cNvPr id="13" name="Text 11"/>
          <p:cNvSpPr txBox="1"/>
          <p:nvPr/>
        </p:nvSpPr>
        <p:spPr>
          <a:xfrm>
            <a:off x="1586393" y="2695377"/>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One Before → After per era</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each with the implementation change named: the iterated SVD,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return x - 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target swap, the einops rearrange,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x1 * x2</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a:t>
            </a:r>
            <a:endParaRPr lang="en-US" sz="1070" dirty="0"/>
          </a:p>
        </p:txBody>
      </p:sp>
      <p:sp>
        <p:nvSpPr>
          <p:cNvPr id="14" name="Shape 12"/>
          <p:cNvSpPr/>
          <p:nvPr/>
        </p:nvSpPr>
        <p:spPr>
          <a:xfrm>
            <a:off x="1439540" y="3291108"/>
            <a:ext cx="58796" cy="36759"/>
          </a:xfrm>
          <a:prstGeom prst="rect">
            <a:avLst/>
          </a:prstGeom>
          <a:solidFill>
            <a:srgbClr val="14343F"/>
          </a:solidFill>
          <a:ln/>
        </p:spPr>
      </p:sp>
      <p:sp>
        <p:nvSpPr>
          <p:cNvPr id="15" name="Text 13"/>
          <p:cNvSpPr txBox="1"/>
          <p:nvPr/>
        </p:nvSpPr>
        <p:spPr>
          <a:xfrm>
            <a:off x="1586393" y="3229569"/>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three bottleneck slides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because they are what make the timeline evidenced rather than chronological.</a:t>
            </a:r>
            <a:endParaRPr lang="en-US" sz="1070" dirty="0"/>
          </a:p>
        </p:txBody>
      </p:sp>
      <p:sp>
        <p:nvSpPr>
          <p:cNvPr id="16" name="Shape 14"/>
          <p:cNvSpPr/>
          <p:nvPr/>
        </p:nvSpPr>
        <p:spPr>
          <a:xfrm>
            <a:off x="1439540" y="3816248"/>
            <a:ext cx="58796" cy="36759"/>
          </a:xfrm>
          <a:prstGeom prst="rect">
            <a:avLst/>
          </a:prstGeom>
          <a:solidFill>
            <a:srgbClr val="14343F"/>
          </a:solidFill>
          <a:ln/>
        </p:spPr>
      </p:sp>
      <p:sp>
        <p:nvSpPr>
          <p:cNvPr id="17" name="Text 15"/>
          <p:cNvSpPr txBox="1"/>
          <p:nvPr/>
        </p:nvSpPr>
        <p:spPr>
          <a:xfrm>
            <a:off x="1586393" y="3754709"/>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SOTA comparison and why several coexist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which is the question most likely to be asked.</a:t>
            </a:r>
            <a:endParaRPr lang="en-US" sz="1070" dirty="0"/>
          </a:p>
        </p:txBody>
      </p:sp>
      <p:sp>
        <p:nvSpPr>
          <p:cNvPr id="18" name="Shape 16"/>
          <p:cNvSpPr/>
          <p:nvPr/>
        </p:nvSpPr>
        <p:spPr>
          <a:xfrm>
            <a:off x="1439540" y="4341297"/>
            <a:ext cx="58796" cy="36759"/>
          </a:xfrm>
          <a:prstGeom prst="rect">
            <a:avLst/>
          </a:prstGeom>
          <a:solidFill>
            <a:srgbClr val="14343F"/>
          </a:solidFill>
          <a:ln/>
        </p:spPr>
      </p:sp>
      <p:sp>
        <p:nvSpPr>
          <p:cNvPr id="19" name="Text 17"/>
          <p:cNvSpPr txBox="1"/>
          <p:nvPr/>
        </p:nvSpPr>
        <p:spPr>
          <a:xfrm>
            <a:off x="1586393" y="4279849"/>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Two presenters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handing over at the bottleneck slide — the seam where one era's debts become the next era's branches.</a:t>
            </a:r>
            <a:endParaRPr lang="en-US" sz="1070" dirty="0"/>
          </a:p>
        </p:txBody>
      </p:sp>
      <p:sp>
        <p:nvSpPr>
          <p:cNvPr id="20" name="Shape 18"/>
          <p:cNvSpPr/>
          <p:nvPr/>
        </p:nvSpPr>
        <p:spPr>
          <a:xfrm>
            <a:off x="6712793" y="1958553"/>
            <a:ext cx="4950104" cy="14722"/>
          </a:xfrm>
          <a:prstGeom prst="rect">
            <a:avLst/>
          </a:prstGeom>
          <a:solidFill>
            <a:srgbClr val="14343F"/>
          </a:solidFill>
          <a:ln/>
        </p:spPr>
      </p:sp>
      <p:sp>
        <p:nvSpPr>
          <p:cNvPr id="21" name="Text 19"/>
          <p:cNvSpPr txBox="1"/>
          <p:nvPr/>
        </p:nvSpPr>
        <p:spPr>
          <a:xfrm>
            <a:off x="6712793" y="2083552"/>
            <a:ext cx="2776941" cy="190652"/>
          </a:xfrm>
          <a:prstGeom prst="rect">
            <a:avLst/>
          </a:prstGeom>
          <a:noFill/>
          <a:ln/>
        </p:spPr>
        <p:txBody>
          <a:bodyPr wrap="none" lIns="0" tIns="0" rIns="0" bIns="0" rtlCol="0" anchor="t"/>
          <a:lstStyle/>
          <a:p>
            <a:pPr algn="l" indent="0" marL="0">
              <a:lnSpc>
                <a:spcPts val="1501"/>
              </a:lnSpc>
              <a:buNone/>
            </a:pPr>
            <a:r>
              <a:rPr lang="en-US" sz="1272" b="1" spc="-23" kern="0" dirty="0">
                <a:solidFill>
                  <a:srgbClr val="14120F"/>
                </a:solidFill>
                <a:latin typeface="Cambria" pitchFamily="34" charset="0"/>
                <a:ea typeface="Cambria" pitchFamily="34" charset="-122"/>
                <a:cs typeface="Cambria" pitchFamily="34" charset="-120"/>
              </a:rPr>
              <a:t>What it deliberately leaves to the deck</a:t>
            </a:r>
            <a:endParaRPr lang="en-US" sz="1272" dirty="0"/>
          </a:p>
        </p:txBody>
      </p:sp>
      <p:sp>
        <p:nvSpPr>
          <p:cNvPr id="22" name="Shape 20"/>
          <p:cNvSpPr/>
          <p:nvPr/>
        </p:nvSpPr>
        <p:spPr>
          <a:xfrm>
            <a:off x="6712793" y="2435596"/>
            <a:ext cx="58796" cy="36759"/>
          </a:xfrm>
          <a:prstGeom prst="rect">
            <a:avLst/>
          </a:prstGeom>
          <a:solidFill>
            <a:srgbClr val="14343F"/>
          </a:solidFill>
          <a:ln/>
        </p:spPr>
      </p:sp>
      <p:sp>
        <p:nvSpPr>
          <p:cNvPr id="23" name="Text 21"/>
          <p:cNvSpPr txBox="1"/>
          <p:nvPr/>
        </p:nvSpPr>
        <p:spPr>
          <a:xfrm>
            <a:off x="6859646" y="2374057"/>
            <a:ext cx="4824466" cy="203820"/>
          </a:xfrm>
          <a:prstGeom prst="rect">
            <a:avLst/>
          </a:prstGeom>
          <a:noFill/>
          <a:ln/>
        </p:spPr>
        <p:txBody>
          <a:bodyPr wrap="non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full classical derivations — MAP, total variation, the WNNM weighting theorem.</a:t>
            </a:r>
            <a:endParaRPr lang="en-US" sz="1070" dirty="0"/>
          </a:p>
        </p:txBody>
      </p:sp>
      <p:sp>
        <p:nvSpPr>
          <p:cNvPr id="24" name="Shape 22"/>
          <p:cNvSpPr/>
          <p:nvPr/>
        </p:nvSpPr>
        <p:spPr>
          <a:xfrm>
            <a:off x="6712793" y="2756916"/>
            <a:ext cx="58796" cy="36759"/>
          </a:xfrm>
          <a:prstGeom prst="rect">
            <a:avLst/>
          </a:prstGeom>
          <a:solidFill>
            <a:srgbClr val="14343F"/>
          </a:solidFill>
          <a:ln/>
        </p:spPr>
      </p:sp>
      <p:sp>
        <p:nvSpPr>
          <p:cNvPr id="25" name="Text 23"/>
          <p:cNvSpPr txBox="1"/>
          <p:nvPr/>
        </p:nvSpPr>
        <p:spPr>
          <a:xfrm>
            <a:off x="6859646" y="2695377"/>
            <a:ext cx="4837176" cy="407640"/>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engineering detail of Part VI: padding constants, framework migration, checkpoint loading, the full measured benchmark.</a:t>
            </a:r>
            <a:endParaRPr lang="en-US" sz="1070" dirty="0"/>
          </a:p>
        </p:txBody>
      </p:sp>
      <p:sp>
        <p:nvSpPr>
          <p:cNvPr id="26" name="Shape 24"/>
          <p:cNvSpPr/>
          <p:nvPr/>
        </p:nvSpPr>
        <p:spPr>
          <a:xfrm>
            <a:off x="6712793" y="3282056"/>
            <a:ext cx="58796" cy="36759"/>
          </a:xfrm>
          <a:prstGeom prst="rect">
            <a:avLst/>
          </a:prstGeom>
          <a:solidFill>
            <a:srgbClr val="14343F"/>
          </a:solidFill>
          <a:ln/>
        </p:spPr>
      </p:sp>
      <p:sp>
        <p:nvSpPr>
          <p:cNvPr id="27" name="Text 25"/>
          <p:cNvSpPr txBox="1"/>
          <p:nvPr/>
        </p:nvSpPr>
        <p:spPr>
          <a:xfrm>
            <a:off x="6859646" y="3220517"/>
            <a:ext cx="4196913" cy="203820"/>
          </a:xfrm>
          <a:prstGeom prst="rect">
            <a:avLst/>
          </a:prstGeom>
          <a:noFill/>
          <a:ln/>
        </p:spPr>
        <p:txBody>
          <a:bodyPr wrap="non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Per-paper training recipes, dataset tables and the complete bibliography.</a:t>
            </a:r>
            <a:endParaRPr lang="en-US" sz="1070" dirty="0"/>
          </a:p>
        </p:txBody>
      </p:sp>
      <p:sp>
        <p:nvSpPr>
          <p:cNvPr id="28" name="Shape 26"/>
          <p:cNvSpPr/>
          <p:nvPr/>
        </p:nvSpPr>
        <p:spPr>
          <a:xfrm>
            <a:off x="6712793" y="3603376"/>
            <a:ext cx="58796" cy="36759"/>
          </a:xfrm>
          <a:prstGeom prst="rect">
            <a:avLst/>
          </a:prstGeom>
          <a:solidFill>
            <a:srgbClr val="14343F"/>
          </a:solidFill>
          <a:ln/>
        </p:spPr>
      </p:sp>
      <p:sp>
        <p:nvSpPr>
          <p:cNvPr id="29" name="Text 27"/>
          <p:cNvSpPr txBox="1"/>
          <p:nvPr/>
        </p:nvSpPr>
        <p:spPr>
          <a:xfrm>
            <a:off x="6859646" y="3541837"/>
            <a:ext cx="483717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These are exactly the parts you will be questioned on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which is why the rule stands: do not put anything on a slide you cannot personally explain.</a:t>
            </a:r>
            <a:endParaRPr lang="en-US" sz="1070" dirty="0"/>
          </a:p>
        </p:txBody>
      </p:sp>
      <p:sp>
        <p:nvSpPr>
          <p:cNvPr id="30" name="Shape 28"/>
          <p:cNvSpPr/>
          <p:nvPr/>
        </p:nvSpPr>
        <p:spPr>
          <a:xfrm>
            <a:off x="6712793" y="4128425"/>
            <a:ext cx="58796" cy="36759"/>
          </a:xfrm>
          <a:prstGeom prst="rect">
            <a:avLst/>
          </a:prstGeom>
          <a:solidFill>
            <a:srgbClr val="14343F"/>
          </a:solidFill>
          <a:ln/>
        </p:spPr>
      </p:sp>
      <p:sp>
        <p:nvSpPr>
          <p:cNvPr id="31" name="Text 29"/>
          <p:cNvSpPr txBox="1"/>
          <p:nvPr/>
        </p:nvSpPr>
        <p:spPr>
          <a:xfrm>
            <a:off x="6859646" y="4066977"/>
            <a:ext cx="4837176" cy="407640"/>
          </a:xfrm>
          <a:prstGeom prst="rect">
            <a:avLst/>
          </a:prstGeom>
          <a:noFill/>
          <a:ln/>
        </p:spPr>
        <p:txBody>
          <a:bodyPr wrap="square" lIns="0" tIns="0" rIns="0" bIns="0" rtlCol="0" anchor="t"/>
          <a:lstStyle/>
          <a:p>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The condensed deck and its run sheet are generated from this deck's own content, so the two cannot drift apart.</a:t>
            </a:r>
            <a:endParaRPr lang="en-US" sz="1070" dirty="0"/>
          </a:p>
        </p:txBody>
      </p:sp>
      <p:sp>
        <p:nvSpPr>
          <p:cNvPr id="32" name="Shape 30"/>
          <p:cNvSpPr/>
          <p:nvPr/>
        </p:nvSpPr>
        <p:spPr>
          <a:xfrm>
            <a:off x="1439540" y="5013381"/>
            <a:ext cx="10223358" cy="14722"/>
          </a:xfrm>
          <a:prstGeom prst="rect">
            <a:avLst/>
          </a:prstGeom>
          <a:solidFill>
            <a:srgbClr val="14343F"/>
          </a:solidFill>
          <a:ln/>
        </p:spPr>
      </p:sp>
      <p:sp>
        <p:nvSpPr>
          <p:cNvPr id="33" name="Text 31"/>
          <p:cNvSpPr txBox="1"/>
          <p:nvPr/>
        </p:nvSpPr>
        <p:spPr>
          <a:xfrm>
            <a:off x="1439540" y="5143683"/>
            <a:ext cx="10278953" cy="374538"/>
          </a:xfrm>
          <a:prstGeom prst="rect">
            <a:avLst/>
          </a:prstGeom>
          <a:noFill/>
          <a:ln/>
        </p:spPr>
        <p:txBody>
          <a:bodyPr wrap="square" lIns="0" tIns="0" rIns="0" bIns="0" rtlCol="0" anchor="t"/>
          <a:lstStyle/>
          <a:p>
            <a:pPr algn="l" indent="0" marL="0">
              <a:lnSpc>
                <a:spcPts val="1475"/>
              </a:lnSpc>
              <a:buNone/>
            </a:pPr>
            <a:r>
              <a:rPr kern="0" lang="en-US" sz="983" b="1" dirty="0">
                <a:solidFill>
                  <a:srgbClr val="14120F"/>
                </a:solidFill>
                <a:latin typeface="Calibri" pitchFamily="34" charset="0"/>
                <a:ea typeface="Calibri" pitchFamily="34" charset="-122"/>
                <a:cs typeface="Calibri" pitchFamily="34" charset="-120"/>
              </a:rPr>
              <a:t>Per the brief:</a:t>
            </a:r>
            <a:pPr algn="l" indent="0" marL="0">
              <a:lnSpc>
                <a:spcPts val="1475"/>
              </a:lnSpc>
              <a:buNone/>
            </a:pPr>
            <a:r>
              <a:rPr kern="0" lang="en-US" sz="983" dirty="0">
                <a:solidFill>
                  <a:srgbClr val="33302B"/>
                </a:solidFill>
                <a:latin typeface="Calibri" pitchFamily="34" charset="0"/>
                <a:ea typeface="Calibri" pitchFamily="34" charset="-122"/>
                <a:cs typeface="Calibri" pitchFamily="34" charset="-120"/>
              </a:rPr>
              <a:t> the deck is the standalone educational artifact and carries the depth; the presentation is a condensed executive summary of it. Both are in this submission, and the summary's backup index maps every anticipated question to a slide number in this deck.</a:t>
            </a:r>
            <a:endParaRPr lang="en-US" sz="983" dirty="0"/>
          </a:p>
        </p:txBody>
      </p:sp>
      <p:sp>
        <p:nvSpPr>
          <p:cNvPr id="34" name="Text 32"/>
          <p:cNvSpPr txBox="1"/>
          <p:nvPr/>
        </p:nvSpPr>
        <p:spPr>
          <a:xfrm>
            <a:off x="9541398" y="6274430"/>
            <a:ext cx="2121499"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brief §9, TA Presentation 3 — format and deliverable</a:t>
            </a:r>
            <a:endParaRPr lang="en-US" sz="752" dirty="0"/>
          </a:p>
        </p:txBody>
      </p:sp>
      <p:sp>
        <p:nvSpPr>
          <p:cNvPr id="35" name="Shape 33"/>
          <p:cNvSpPr/>
          <p:nvPr/>
        </p:nvSpPr>
        <p:spPr>
          <a:xfrm>
            <a:off x="1439540" y="6556705"/>
            <a:ext cx="10223358" cy="7315"/>
          </a:xfrm>
          <a:prstGeom prst="rect">
            <a:avLst/>
          </a:prstGeom>
          <a:solidFill>
            <a:srgbClr val="C9C4B9"/>
          </a:solidFill>
          <a:ln/>
        </p:spPr>
      </p:sp>
      <p:sp>
        <p:nvSpPr>
          <p:cNvPr id="36" name="Shape 34"/>
          <p:cNvSpPr/>
          <p:nvPr/>
        </p:nvSpPr>
        <p:spPr>
          <a:xfrm>
            <a:off x="1439540" y="6519946"/>
            <a:ext cx="7315" cy="36759"/>
          </a:xfrm>
          <a:prstGeom prst="rect">
            <a:avLst/>
          </a:prstGeom>
          <a:solidFill>
            <a:srgbClr val="C9C4B9"/>
          </a:solidFill>
          <a:ln/>
        </p:spPr>
      </p:sp>
      <p:sp>
        <p:nvSpPr>
          <p:cNvPr id="37" name="Text 35"/>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38" name="Shape 36"/>
          <p:cNvSpPr/>
          <p:nvPr/>
        </p:nvSpPr>
        <p:spPr>
          <a:xfrm>
            <a:off x="5415351" y="6519946"/>
            <a:ext cx="7315" cy="36759"/>
          </a:xfrm>
          <a:prstGeom prst="rect">
            <a:avLst/>
          </a:prstGeom>
          <a:solidFill>
            <a:srgbClr val="C9C4B9"/>
          </a:solidFill>
          <a:ln/>
        </p:spPr>
      </p:sp>
      <p:sp>
        <p:nvSpPr>
          <p:cNvPr id="39" name="Text 37"/>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40" name="Shape 38"/>
          <p:cNvSpPr/>
          <p:nvPr/>
        </p:nvSpPr>
        <p:spPr>
          <a:xfrm>
            <a:off x="7119610" y="6519946"/>
            <a:ext cx="7315" cy="36759"/>
          </a:xfrm>
          <a:prstGeom prst="rect">
            <a:avLst/>
          </a:prstGeom>
          <a:solidFill>
            <a:srgbClr val="C9C4B9"/>
          </a:solidFill>
          <a:ln/>
        </p:spPr>
      </p:sp>
      <p:sp>
        <p:nvSpPr>
          <p:cNvPr id="41" name="Text 39"/>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42" name="Shape 40"/>
          <p:cNvSpPr/>
          <p:nvPr/>
        </p:nvSpPr>
        <p:spPr>
          <a:xfrm>
            <a:off x="9958639" y="6519946"/>
            <a:ext cx="7315" cy="36759"/>
          </a:xfrm>
          <a:prstGeom prst="rect">
            <a:avLst/>
          </a:prstGeom>
          <a:solidFill>
            <a:srgbClr val="C9C4B9"/>
          </a:solidFill>
          <a:ln/>
        </p:spPr>
      </p:sp>
      <p:sp>
        <p:nvSpPr>
          <p:cNvPr id="43" name="Text 41"/>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44" name="Shape 42"/>
          <p:cNvSpPr/>
          <p:nvPr/>
        </p:nvSpPr>
        <p:spPr>
          <a:xfrm>
            <a:off x="11662898" y="6519946"/>
            <a:ext cx="7315" cy="36759"/>
          </a:xfrm>
          <a:prstGeom prst="rect">
            <a:avLst/>
          </a:prstGeom>
          <a:solidFill>
            <a:srgbClr val="C9C4B9"/>
          </a:solidFill>
          <a:ln/>
        </p:spPr>
      </p:sp>
      <p:sp>
        <p:nvSpPr>
          <p:cNvPr id="45" name="Text 43"/>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84780"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97</a:t>
            </a:r>
            <a:endParaRPr lang="en-US" sz="2708" dirty="0"/>
          </a:p>
        </p:txBody>
      </p:sp>
      <p:sp>
        <p:nvSpPr>
          <p:cNvPr id="3" name="Shape 1"/>
          <p:cNvSpPr/>
          <p:nvPr/>
        </p:nvSpPr>
        <p:spPr>
          <a:xfrm>
            <a:off x="562722" y="461132"/>
            <a:ext cx="203180" cy="23409"/>
          </a:xfrm>
          <a:prstGeom prst="rect">
            <a:avLst/>
          </a:prstGeom>
          <a:solidFill>
            <a:srgbClr val="C0451A"/>
          </a:solidFill>
          <a:ln/>
        </p:spPr>
      </p:sp>
      <p:sp>
        <p:nvSpPr>
          <p:cNvPr id="4" name="Text 2"/>
          <p:cNvSpPr txBox="1"/>
          <p:nvPr/>
        </p:nvSpPr>
        <p:spPr>
          <a:xfrm>
            <a:off x="859627" y="408462"/>
            <a:ext cx="795894"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C0451A"/>
                </a:solidFill>
                <a:latin typeface="Calibri" pitchFamily="34" charset="0"/>
                <a:ea typeface="Calibri" pitchFamily="34" charset="-122"/>
                <a:cs typeface="Calibri" pitchFamily="34" charset="-120"/>
              </a:rPr>
              <a:t>CONCLUSION</a:t>
            </a:r>
            <a:endParaRPr lang="en-US" sz="831" dirty="0"/>
          </a:p>
        </p:txBody>
      </p:sp>
      <p:sp>
        <p:nvSpPr>
          <p:cNvPr id="5" name="Text 3"/>
          <p:cNvSpPr txBox="1"/>
          <p:nvPr/>
        </p:nvSpPr>
        <p:spPr>
          <a:xfrm>
            <a:off x="562722" y="643189"/>
            <a:ext cx="4028938" cy="487650"/>
          </a:xfrm>
          <a:prstGeom prst="rect">
            <a:avLst/>
          </a:prstGeom>
          <a:noFill/>
          <a:ln/>
        </p:spPr>
        <p:txBody>
          <a:bodyPr wrap="none" lIns="0" tIns="0" rIns="0" bIns="0" rtlCol="0" anchor="t"/>
          <a:lstStyle/>
          <a:p>
            <a:pPr algn="l" indent="0" marL="0">
              <a:lnSpc>
                <a:spcPts val="3840"/>
              </a:lnSpc>
              <a:buNone/>
            </a:pPr>
            <a:r>
              <a:rPr lang="en-US" sz="3692" b="1" spc="-98" kern="0" dirty="0">
                <a:solidFill>
                  <a:srgbClr val="14120F"/>
                </a:solidFill>
                <a:latin typeface="Cambria" pitchFamily="34" charset="0"/>
                <a:ea typeface="Cambria" pitchFamily="34" charset="-122"/>
                <a:cs typeface="Cambria" pitchFamily="34" charset="-120"/>
              </a:rPr>
              <a:t>The thesis, restated</a:t>
            </a:r>
            <a:endParaRPr lang="en-US" sz="3692" dirty="0"/>
          </a:p>
        </p:txBody>
      </p:sp>
      <p:sp>
        <p:nvSpPr>
          <p:cNvPr id="6" name="Shape 4"/>
          <p:cNvSpPr/>
          <p:nvPr/>
        </p:nvSpPr>
        <p:spPr>
          <a:xfrm>
            <a:off x="562722" y="1276960"/>
            <a:ext cx="7337694" cy="15636"/>
          </a:xfrm>
          <a:prstGeom prst="rect">
            <a:avLst/>
          </a:prstGeom>
          <a:solidFill>
            <a:srgbClr val="14120F"/>
          </a:solidFill>
          <a:ln/>
        </p:spPr>
      </p:sp>
      <p:sp>
        <p:nvSpPr>
          <p:cNvPr id="7" name="Text 5"/>
          <p:cNvSpPr txBox="1"/>
          <p:nvPr/>
        </p:nvSpPr>
        <p:spPr>
          <a:xfrm>
            <a:off x="562722" y="1507754"/>
            <a:ext cx="7382683" cy="576986"/>
          </a:xfrm>
          <a:prstGeom prst="rect">
            <a:avLst/>
          </a:prstGeom>
          <a:noFill/>
          <a:ln/>
        </p:spPr>
        <p:txBody>
          <a:bodyPr wrap="square" lIns="0" tIns="0" rIns="0" bIns="0" rtlCol="0" anchor="t"/>
          <a:lstStyle/>
          <a:p>
            <a:pPr algn="l" indent="0" marL="0">
              <a:lnSpc>
                <a:spcPts val="2272"/>
              </a:lnSpc>
              <a:buNone/>
            </a:pPr>
            <a:r>
              <a:rPr kern="0" lang="en-US" sz="1600" i="1" dirty="0">
                <a:solidFill>
                  <a:srgbClr val="14120F"/>
                </a:solidFill>
                <a:latin typeface="Cambria" pitchFamily="34" charset="0"/>
                <a:ea typeface="Cambria" pitchFamily="34" charset="-122"/>
                <a:cs typeface="Cambria" pitchFamily="34" charset="-120"/>
              </a:rPr>
              <a:t>Image denoising is the cleanest available case study in how computer vision replaced hand-designed priors with learned ones.</a:t>
            </a:r>
            <a:endParaRPr lang="en-US" sz="1600" dirty="0"/>
          </a:p>
        </p:txBody>
      </p:sp>
      <p:sp>
        <p:nvSpPr>
          <p:cNvPr id="8" name="Text 6"/>
          <p:cNvSpPr txBox="1"/>
          <p:nvPr/>
        </p:nvSpPr>
        <p:spPr>
          <a:xfrm>
            <a:off x="562722" y="2240920"/>
            <a:ext cx="7382683" cy="1153790"/>
          </a:xfrm>
          <a:prstGeom prst="rect">
            <a:avLst/>
          </a:prstGeom>
          <a:noFill/>
          <a:ln/>
        </p:spPr>
        <p:txBody>
          <a:bodyPr wrap="square" lIns="0" tIns="0" rIns="0" bIns="0" rtlCol="0" anchor="t"/>
          <a:lstStyle/>
          <a:p>
            <a:pPr algn="l" indent="0" marL="0">
              <a:lnSpc>
                <a:spcPts val="2272"/>
              </a:lnSpc>
              <a:buNone/>
            </a:pPr>
            <a:r>
              <a:rPr kern="0" lang="en-US" sz="1600" i="1" dirty="0">
                <a:solidFill>
                  <a:srgbClr val="14120F"/>
                </a:solidFill>
                <a:latin typeface="Cambria" pitchFamily="34" charset="0"/>
                <a:ea typeface="Cambria" pitchFamily="34" charset="-122"/>
                <a:cs typeface="Cambria" pitchFamily="34" charset="-120"/>
              </a:rPr>
              <a:t>Its history divides into four eras separated by three identifiable bottlenecks — manual prior design, the clean-data requirement, and the receptive-field limits of convolution. Each bottleneck was named by the paper that broke it, so the arc is evidenced from the primary sources rather than imposed in hindsight.</a:t>
            </a:r>
            <a:endParaRPr lang="en-US" sz="1600" dirty="0"/>
          </a:p>
        </p:txBody>
      </p:sp>
      <p:sp>
        <p:nvSpPr>
          <p:cNvPr id="9" name="Text 7"/>
          <p:cNvSpPr txBox="1"/>
          <p:nvPr/>
        </p:nvSpPr>
        <p:spPr>
          <a:xfrm>
            <a:off x="562722" y="3550981"/>
            <a:ext cx="7382683" cy="576986"/>
          </a:xfrm>
          <a:prstGeom prst="rect">
            <a:avLst/>
          </a:prstGeom>
          <a:noFill/>
          <a:ln/>
        </p:spPr>
        <p:txBody>
          <a:bodyPr wrap="square" lIns="0" tIns="0" rIns="0" bIns="0" rtlCol="0" anchor="t"/>
          <a:lstStyle/>
          <a:p>
            <a:pPr algn="l" indent="0" marL="0">
              <a:lnSpc>
                <a:spcPts val="2272"/>
              </a:lnSpc>
              <a:buNone/>
            </a:pPr>
            <a:r>
              <a:rPr kern="0" lang="en-US" sz="1600" i="1" dirty="0">
                <a:solidFill>
                  <a:srgbClr val="14120F"/>
                </a:solidFill>
                <a:latin typeface="Cambria" pitchFamily="34" charset="0"/>
                <a:ea typeface="Cambria" pitchFamily="34" charset="-122"/>
                <a:cs typeface="Cambria" pitchFamily="34" charset="-120"/>
              </a:rPr>
              <a:t>In 2018 the response forked. One branch changed what the network is shown; the other changed what the network is. They have never merged.</a:t>
            </a:r>
            <a:endParaRPr lang="en-US" sz="1600" dirty="0"/>
          </a:p>
        </p:txBody>
      </p:sp>
      <p:sp>
        <p:nvSpPr>
          <p:cNvPr id="10" name="Text 8"/>
          <p:cNvSpPr txBox="1"/>
          <p:nvPr/>
        </p:nvSpPr>
        <p:spPr>
          <a:xfrm>
            <a:off x="562722" y="4284147"/>
            <a:ext cx="7382683" cy="865388"/>
          </a:xfrm>
          <a:prstGeom prst="rect">
            <a:avLst/>
          </a:prstGeom>
          <a:noFill/>
          <a:ln/>
        </p:spPr>
        <p:txBody>
          <a:bodyPr wrap="square" lIns="0" tIns="0" rIns="0" bIns="0" rtlCol="0" anchor="t"/>
          <a:lstStyle/>
          <a:p>
            <a:pPr algn="l" indent="0" marL="0">
              <a:lnSpc>
                <a:spcPts val="2272"/>
              </a:lnSpc>
              <a:buNone/>
            </a:pPr>
            <a:r>
              <a:rPr kern="0" lang="en-US" sz="1600" i="1" dirty="0">
                <a:solidFill>
                  <a:srgbClr val="14120F"/>
                </a:solidFill>
                <a:latin typeface="Cambria" pitchFamily="34" charset="0"/>
                <a:ea typeface="Cambria" pitchFamily="34" charset="-122"/>
                <a:cs typeface="Cambria" pitchFamily="34" charset="-120"/>
              </a:rPr>
              <a:t>And because the field currently holds three competing answers to the third bottleneck and none to the first open problem, the story ends in a genuine open question rather than a winner.</a:t>
            </a:r>
            <a:endParaRPr lang="en-US" sz="1600" dirty="0"/>
          </a:p>
        </p:txBody>
      </p:sp>
      <p:sp>
        <p:nvSpPr>
          <p:cNvPr id="11" name="Shape 9"/>
          <p:cNvSpPr/>
          <p:nvPr/>
        </p:nvSpPr>
        <p:spPr>
          <a:xfrm>
            <a:off x="562722" y="5356189"/>
            <a:ext cx="1964680" cy="7772"/>
          </a:xfrm>
          <a:prstGeom prst="rect">
            <a:avLst/>
          </a:prstGeom>
          <a:solidFill>
            <a:srgbClr val="C9C4B9"/>
          </a:solidFill>
          <a:ln/>
        </p:spPr>
      </p:sp>
      <p:sp>
        <p:nvSpPr>
          <p:cNvPr id="12" name="Text 10"/>
          <p:cNvSpPr txBox="1"/>
          <p:nvPr/>
        </p:nvSpPr>
        <p:spPr>
          <a:xfrm>
            <a:off x="562722" y="5481645"/>
            <a:ext cx="1988180" cy="296266"/>
          </a:xfrm>
          <a:prstGeom prst="rect">
            <a:avLst/>
          </a:prstGeom>
          <a:noFill/>
          <a:ln/>
        </p:spPr>
        <p:txBody>
          <a:bodyPr wrap="square" lIns="0" tIns="0" rIns="0" bIns="0" rtlCol="0" anchor="t"/>
          <a:lstStyle/>
          <a:p>
            <a:pPr algn="l" indent="0" marL="0">
              <a:lnSpc>
                <a:spcPts val="1164"/>
              </a:lnSpc>
              <a:buNone/>
            </a:pPr>
            <a:r>
              <a:rPr kern="0" lang="en-US" sz="954" dirty="0">
                <a:solidFill>
                  <a:srgbClr val="8A847A"/>
                </a:solidFill>
                <a:latin typeface="Calibri" pitchFamily="34" charset="0"/>
                <a:ea typeface="Calibri" pitchFamily="34" charset="-122"/>
                <a:cs typeface="Calibri" pitchFamily="34" charset="-120"/>
              </a:rPr>
              <a:t>— The claim this deck has spent 100 slides evidencing.</a:t>
            </a:r>
            <a:endParaRPr lang="en-US" sz="954" dirty="0"/>
          </a:p>
        </p:txBody>
      </p:sp>
      <p:sp>
        <p:nvSpPr>
          <p:cNvPr id="13" name="Text 11"/>
          <p:cNvSpPr txBox="1"/>
          <p:nvPr/>
        </p:nvSpPr>
        <p:spPr>
          <a:xfrm>
            <a:off x="9355592" y="6487119"/>
            <a:ext cx="2273381"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reading — the organising claim, carried since Stage 1</a:t>
            </a:r>
            <a:endParaRPr lang="en-US" sz="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359999"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98</a:t>
            </a:r>
            <a:endParaRPr lang="en-US" sz="2400" dirty="0"/>
          </a:p>
        </p:txBody>
      </p:sp>
      <p:sp>
        <p:nvSpPr>
          <p:cNvPr id="3" name="Shape 1"/>
          <p:cNvSpPr/>
          <p:nvPr/>
        </p:nvSpPr>
        <p:spPr>
          <a:xfrm>
            <a:off x="1357701" y="408737"/>
            <a:ext cx="180137" cy="20757"/>
          </a:xfrm>
          <a:prstGeom prst="rect">
            <a:avLst/>
          </a:prstGeom>
          <a:solidFill>
            <a:srgbClr val="14343F"/>
          </a:solidFill>
          <a:ln/>
        </p:spPr>
      </p:sp>
      <p:sp>
        <p:nvSpPr>
          <p:cNvPr id="4" name="Text 2"/>
          <p:cNvSpPr txBox="1"/>
          <p:nvPr/>
        </p:nvSpPr>
        <p:spPr>
          <a:xfrm>
            <a:off x="1620957" y="362011"/>
            <a:ext cx="800009"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14343F"/>
                </a:solidFill>
                <a:latin typeface="Calibri" pitchFamily="34" charset="0"/>
                <a:ea typeface="Calibri" pitchFamily="34" charset="-122"/>
                <a:cs typeface="Calibri" pitchFamily="34" charset="-120"/>
              </a:rPr>
              <a:t>BIBLIOGRAPHY</a:t>
            </a:r>
            <a:endParaRPr lang="en-US" sz="736" dirty="0"/>
          </a:p>
        </p:txBody>
      </p:sp>
      <p:sp>
        <p:nvSpPr>
          <p:cNvPr id="5" name="Text 3"/>
          <p:cNvSpPr txBox="1"/>
          <p:nvPr/>
        </p:nvSpPr>
        <p:spPr>
          <a:xfrm>
            <a:off x="1357701" y="572597"/>
            <a:ext cx="6090544"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Category A — twelve peer-reviewed papers</a:t>
            </a:r>
            <a:endParaRPr lang="en-US" sz="2509" dirty="0"/>
          </a:p>
        </p:txBody>
      </p:sp>
      <p:sp>
        <p:nvSpPr>
          <p:cNvPr id="6" name="Text 4"/>
          <p:cNvSpPr txBox="1"/>
          <p:nvPr/>
        </p:nvSpPr>
        <p:spPr>
          <a:xfrm>
            <a:off x="1357701" y="1029889"/>
            <a:ext cx="5371734" cy="415595"/>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Citation counts are Google Scholar figures checked on 9 August 2026, except P2N, which was not verified. Counts move continuously; the date is quoted alongside every figure.</a:t>
            </a:r>
            <a:endParaRPr lang="en-US" sz="1091"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1357701" y="1639428"/>
          <a:ext cx="9144000" cy="914400"/>
        </p:xfrm>
        <a:graphic>
          <a:graphicData uri="http://schemas.openxmlformats.org/drawingml/2006/table">
            <a:tbl>
              <a:tblPr/>
              <a:tblGrid>
                <a:gridCol w="488381"/>
                <a:gridCol w="3681740"/>
                <a:gridCol w="2711928"/>
                <a:gridCol w="2462571"/>
                <a:gridCol w="990570"/>
              </a:tblGrid>
              <a:tr h="228600">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PAPER (SHORT TITLE)</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AUTHORS</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VENUE &amp; YEAR</a:t>
                      </a:r>
                      <a:pPr algn="l" indent="0" marL="0">
                        <a:lnSpc>
                          <a:spcPts val="832"/>
                        </a:lnSpc>
                        <a:buNone/>
                      </a:pPr>
                      <a:r>
                        <a:rPr lang="en-US" sz="505" b="1" spc="82" kern="0" dirty="0">
                          <a:solidFill>
                            <a:srgbClr val="C045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CITED BY</a:t>
                      </a:r>
                      <a:pPr algn="l" indent="0" marL="0">
                        <a:lnSpc>
                          <a:spcPts val="832"/>
                        </a:lnSpc>
                        <a:buNone/>
                      </a:pPr>
                      <a:r>
                        <a:rPr lang="en-US" sz="505" b="1" spc="82" kern="0" dirty="0">
                          <a:solidFill>
                            <a:srgbClr val="C045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r>
              <a:tr h="287487">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Sparse 3-D Transform-Domain Collaborative Filtering</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Dabov, Foi, Katkovnik, Egiazarian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IEEE TIP 16(8), 2007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11 976</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Weighted Nuclear Norm Minimization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Gu, Zhang, Zuo, Feng</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CVPR 2014</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2 960</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Trainable Nonlinear Reaction Diffusion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Chen, Pock</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IEEE TPAMI 39(6), 2017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1 626</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A4</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Beyond a Gaussian Denoiser</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Zhang, Zuo, Chen, Meng, Zhang</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IEEE TIP 26(7), 2017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11 674</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A5</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Noise2Noise</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Lehtinen, Munkberg, Hasselgren et al.</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ICML 2018</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3 064</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A6</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Noise2Void</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Krull, Buchholz, Jug</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CVPR 2019</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2 075</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Restormer</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Zamir, Arora, Khan et al.</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CVPR 2022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6 181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A8</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Simple Baselines for Image Restoration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Chen, Chu, Zhang, Sun</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ECCV 2022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2 318</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A9</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Zero-Shot Noise2Noise</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Mansour, Heckel</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CVPR 2023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266</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A10</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Practical Blind Denoising via Swin-Conv-UNet</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Zhang, Li, Liang, Cao et al.</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Mach. Intell. Research 20(6), 2023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391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A11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MambaIR</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Guo, Li, Dai, Ouyang, Ren, Xia</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ECCV 2024</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1 208</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A12</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Positive2Negative</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Li, Wang, Xu, Zhu, Lu, Huang</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CVPR 2025, pp. 17924–17934</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not verified</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357701" y="5477073"/>
            <a:ext cx="10335189" cy="13899"/>
          </a:xfrm>
          <a:prstGeom prst="rect">
            <a:avLst/>
          </a:prstGeom>
          <a:solidFill>
            <a:srgbClr val="14343F"/>
          </a:solidFill>
          <a:ln/>
        </p:spPr>
      </p:sp>
      <p:sp>
        <p:nvSpPr>
          <p:cNvPr id="9" name="Text 6"/>
          <p:cNvSpPr txBox="1"/>
          <p:nvPr/>
        </p:nvSpPr>
        <p:spPr>
          <a:xfrm>
            <a:off x="1357701" y="5600060"/>
            <a:ext cx="10390419" cy="529895"/>
          </a:xfrm>
          <a:prstGeom prst="rect">
            <a:avLst/>
          </a:prstGeom>
          <a:noFill/>
          <a:ln/>
        </p:spPr>
        <p:txBody>
          <a:bodyPr wrap="square" lIns="0" tIns="0" rIns="0" bIns="0" rtlCol="0" anchor="t"/>
          <a:lstStyle/>
          <a:p>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Two observations worth making aloud rather than leaving in the table.</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BM3D and DnCNN sit near twelve thousand citations each, which is precisely why both remain universal baselines nineteen and nine years after publication — the counts corroborate the narrative rather than decorating it. Conversely ZS-N2N at 266 and SCUNet at 391 are low because they are recent, not because they are weak; recency and citation count are confounded, and saying so pre-empts the obvious challenge.</a:t>
            </a:r>
            <a:endParaRPr lang="en-US" sz="927" dirty="0"/>
          </a:p>
        </p:txBody>
      </p:sp>
      <p:sp>
        <p:nvSpPr>
          <p:cNvPr id="10" name="Text 7"/>
          <p:cNvSpPr txBox="1"/>
          <p:nvPr/>
        </p:nvSpPr>
        <p:spPr>
          <a:xfrm>
            <a:off x="8815456" y="6317955"/>
            <a:ext cx="2877525" cy="109819"/>
          </a:xfrm>
          <a:prstGeom prst="rect">
            <a:avLst/>
          </a:prstGeom>
          <a:noFill/>
          <a:ln/>
        </p:spPr>
        <p:txBody>
          <a:bodyPr wrap="none" lIns="0" tIns="0" rIns="0" bIns="0" rtlCol="0" anchor="t"/>
          <a:lstStyle/>
          <a:p>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[1]</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Google Scholar, checked 9 August 2026 </a:t>
            </a:r>
            <a:pPr algn="r" indent="0" marL="0">
              <a:lnSpc>
                <a:spcPts val="865"/>
              </a:lnSpc>
              <a:buNone/>
            </a:pPr>
            <a:r>
              <a:rPr kern="0" lang="en-US" sz="525" b="1" dirty="0">
                <a:solidFill>
                  <a:srgbClr val="C0451A"/>
                </a:solidFill>
                <a:latin typeface="Calibri" pitchFamily="34" charset="0"/>
                <a:ea typeface="Calibri" pitchFamily="34" charset="-122"/>
                <a:cs typeface="Calibri" pitchFamily="34" charset="-120"/>
              </a:rPr>
              <a:t>[2]</a:t>
            </a:r>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 venues verified per slide 100</a:t>
            </a:r>
            <a:endParaRPr lang="en-US" sz="525" dirty="0"/>
          </a:p>
        </p:txBody>
      </p:sp>
      <p:sp>
        <p:nvSpPr>
          <p:cNvPr id="11" name="Shape 8"/>
          <p:cNvSpPr/>
          <p:nvPr/>
        </p:nvSpPr>
        <p:spPr>
          <a:xfrm>
            <a:off x="1357701" y="6573804"/>
            <a:ext cx="10335189" cy="6949"/>
          </a:xfrm>
          <a:prstGeom prst="rect">
            <a:avLst/>
          </a:prstGeom>
          <a:solidFill>
            <a:srgbClr val="C9C4B9"/>
          </a:solidFill>
          <a:ln/>
        </p:spPr>
      </p:sp>
      <p:sp>
        <p:nvSpPr>
          <p:cNvPr id="12" name="Shape 9"/>
          <p:cNvSpPr/>
          <p:nvPr/>
        </p:nvSpPr>
        <p:spPr>
          <a:xfrm>
            <a:off x="1357701" y="6539149"/>
            <a:ext cx="6949" cy="34656"/>
          </a:xfrm>
          <a:prstGeom prst="rect">
            <a:avLst/>
          </a:prstGeom>
          <a:solidFill>
            <a:srgbClr val="C9C4B9"/>
          </a:solidFill>
          <a:ln/>
        </p:spPr>
      </p:sp>
      <p:sp>
        <p:nvSpPr>
          <p:cNvPr id="13" name="Text 10"/>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14" name="Shape 11"/>
          <p:cNvSpPr/>
          <p:nvPr/>
        </p:nvSpPr>
        <p:spPr>
          <a:xfrm>
            <a:off x="5377038" y="6539149"/>
            <a:ext cx="6949" cy="34656"/>
          </a:xfrm>
          <a:prstGeom prst="rect">
            <a:avLst/>
          </a:prstGeom>
          <a:solidFill>
            <a:srgbClr val="C9C4B9"/>
          </a:solidFill>
          <a:ln/>
        </p:spPr>
      </p:sp>
      <p:sp>
        <p:nvSpPr>
          <p:cNvPr id="15" name="Text 12"/>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16" name="Shape 13"/>
          <p:cNvSpPr/>
          <p:nvPr/>
        </p:nvSpPr>
        <p:spPr>
          <a:xfrm>
            <a:off x="7099950" y="6539149"/>
            <a:ext cx="6949" cy="34656"/>
          </a:xfrm>
          <a:prstGeom prst="rect">
            <a:avLst/>
          </a:prstGeom>
          <a:solidFill>
            <a:srgbClr val="C9C4B9"/>
          </a:solidFill>
          <a:ln/>
        </p:spPr>
      </p:sp>
      <p:sp>
        <p:nvSpPr>
          <p:cNvPr id="17" name="Text 14"/>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18" name="Shape 15"/>
          <p:cNvSpPr/>
          <p:nvPr/>
        </p:nvSpPr>
        <p:spPr>
          <a:xfrm>
            <a:off x="9970069" y="6539149"/>
            <a:ext cx="6949" cy="34656"/>
          </a:xfrm>
          <a:prstGeom prst="rect">
            <a:avLst/>
          </a:prstGeom>
          <a:solidFill>
            <a:srgbClr val="C9C4B9"/>
          </a:solidFill>
          <a:ln/>
        </p:spPr>
      </p:sp>
      <p:sp>
        <p:nvSpPr>
          <p:cNvPr id="19" name="Text 16"/>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20" name="Shape 17"/>
          <p:cNvSpPr/>
          <p:nvPr/>
        </p:nvSpPr>
        <p:spPr>
          <a:xfrm>
            <a:off x="11692981" y="6539149"/>
            <a:ext cx="6949" cy="34656"/>
          </a:xfrm>
          <a:prstGeom prst="rect">
            <a:avLst/>
          </a:prstGeom>
          <a:solidFill>
            <a:srgbClr val="C9C4B9"/>
          </a:solidFill>
          <a:ln/>
        </p:spPr>
      </p:sp>
      <p:sp>
        <p:nvSpPr>
          <p:cNvPr id="21" name="Text 18"/>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75087" y="339974"/>
            <a:ext cx="398587" cy="343906"/>
          </a:xfrm>
          <a:prstGeom prst="rect">
            <a:avLst/>
          </a:prstGeom>
          <a:noFill/>
          <a:ln/>
        </p:spPr>
        <p:txBody>
          <a:bodyPr wrap="none" lIns="0" tIns="0" rIns="0" bIns="0" rtlCol="0" anchor="t"/>
          <a:lstStyle/>
          <a:p>
            <a:pPr algn="l" indent="0" marL="0">
              <a:lnSpc>
                <a:spcPts val="2708"/>
              </a:lnSpc>
              <a:buNone/>
            </a:pPr>
            <a:r>
              <a:rPr lang="en-US" sz="2708" b="1" spc="-62" kern="0" dirty="0">
                <a:solidFill>
                  <a:srgbClr val="E3DFD6"/>
                </a:solidFill>
                <a:latin typeface="Cambria" pitchFamily="34" charset="0"/>
                <a:ea typeface="Cambria" pitchFamily="34" charset="-122"/>
                <a:cs typeface="Cambria" pitchFamily="34" charset="-120"/>
              </a:rPr>
              <a:t>99</a:t>
            </a:r>
            <a:endParaRPr lang="en-US" sz="2708" dirty="0"/>
          </a:p>
        </p:txBody>
      </p:sp>
      <p:sp>
        <p:nvSpPr>
          <p:cNvPr id="3" name="Shape 1"/>
          <p:cNvSpPr/>
          <p:nvPr/>
        </p:nvSpPr>
        <p:spPr>
          <a:xfrm>
            <a:off x="1531803" y="461132"/>
            <a:ext cx="203180" cy="23409"/>
          </a:xfrm>
          <a:prstGeom prst="rect">
            <a:avLst/>
          </a:prstGeom>
          <a:solidFill>
            <a:srgbClr val="14343F"/>
          </a:solidFill>
          <a:ln/>
        </p:spPr>
      </p:sp>
      <p:sp>
        <p:nvSpPr>
          <p:cNvPr id="4" name="Text 2"/>
          <p:cNvSpPr txBox="1"/>
          <p:nvPr/>
        </p:nvSpPr>
        <p:spPr>
          <a:xfrm>
            <a:off x="1828800" y="408462"/>
            <a:ext cx="902513" cy="128748"/>
          </a:xfrm>
          <a:prstGeom prst="rect">
            <a:avLst/>
          </a:prstGeom>
          <a:noFill/>
          <a:ln/>
        </p:spPr>
        <p:txBody>
          <a:bodyPr wrap="none" lIns="0" tIns="0" rIns="0" bIns="0" rtlCol="0" anchor="t"/>
          <a:lstStyle/>
          <a:p>
            <a:pPr algn="l" indent="0" marL="0">
              <a:lnSpc>
                <a:spcPts val="1014"/>
              </a:lnSpc>
              <a:buNone/>
            </a:pPr>
            <a:r>
              <a:rPr lang="en-US" sz="831" b="1" spc="129" kern="0" dirty="0">
                <a:solidFill>
                  <a:srgbClr val="14343F"/>
                </a:solidFill>
                <a:latin typeface="Calibri" pitchFamily="34" charset="0"/>
                <a:ea typeface="Calibri" pitchFamily="34" charset="-122"/>
                <a:cs typeface="Calibri" pitchFamily="34" charset="-120"/>
              </a:rPr>
              <a:t>BIBLIOGRAPHY</a:t>
            </a:r>
            <a:endParaRPr lang="en-US" sz="831" dirty="0"/>
          </a:p>
        </p:txBody>
      </p:sp>
      <p:sp>
        <p:nvSpPr>
          <p:cNvPr id="5" name="Text 3"/>
          <p:cNvSpPr txBox="1"/>
          <p:nvPr/>
        </p:nvSpPr>
        <p:spPr>
          <a:xfrm>
            <a:off x="1531803" y="646024"/>
            <a:ext cx="9399392" cy="388254"/>
          </a:xfrm>
          <a:prstGeom prst="rect">
            <a:avLst/>
          </a:prstGeom>
          <a:noFill/>
          <a:ln/>
        </p:spPr>
        <p:txBody>
          <a:bodyPr wrap="none" lIns="0" tIns="0" rIns="0" bIns="0" rtlCol="0" anchor="t"/>
          <a:lstStyle/>
          <a:p>
            <a:pPr algn="l" indent="0" marL="0">
              <a:lnSpc>
                <a:spcPts val="3057"/>
              </a:lnSpc>
              <a:buNone/>
            </a:pPr>
            <a:r>
              <a:rPr lang="en-US" sz="2831" b="1" spc="-68" kern="0" dirty="0">
                <a:solidFill>
                  <a:srgbClr val="14120F"/>
                </a:solidFill>
                <a:latin typeface="Cambria" pitchFamily="34" charset="0"/>
                <a:ea typeface="Cambria" pitchFamily="34" charset="-122"/>
                <a:cs typeface="Cambria" pitchFamily="34" charset="-120"/>
              </a:rPr>
              <a:t>Category B — three auxiliary sources, and why each is here</a:t>
            </a:r>
            <a:endParaRPr lang="en-US" sz="2831" dirty="0"/>
          </a:p>
        </p:txBody>
      </p:sp>
      <p:sp>
        <p:nvSpPr>
          <p:cNvPr id="6" name="Text 4"/>
          <p:cNvSpPr txBox="1"/>
          <p:nvPr/>
        </p:nvSpPr>
        <p:spPr>
          <a:xfrm>
            <a:off x="1531803" y="1161928"/>
            <a:ext cx="6060460" cy="703356"/>
          </a:xfrm>
          <a:prstGeom prst="rect">
            <a:avLst/>
          </a:prstGeom>
          <a:noFill/>
          <a:ln/>
        </p:spPr>
        <p:txBody>
          <a:bodyPr wrap="square" lIns="0" tIns="0" rIns="0" bIns="0" rtlCol="0" anchor="t"/>
          <a:lstStyle/>
          <a:p>
            <a:pPr algn="l" indent="0" marL="0">
              <a:lnSpc>
                <a:spcPts val="1846"/>
              </a:lnSpc>
              <a:buNone/>
            </a:pPr>
            <a:r>
              <a:rPr kern="0" lang="en-US" sz="1231" dirty="0">
                <a:solidFill>
                  <a:srgbClr val="5A554D"/>
                </a:solidFill>
                <a:latin typeface="Calibri" pitchFamily="34" charset="0"/>
                <a:ea typeface="Calibri" pitchFamily="34" charset="-122"/>
                <a:cs typeface="Calibri" pitchFamily="34" charset="-120"/>
              </a:rPr>
              <a:t>Three of fifteen sources, or 20.0%, against the brief's 30% ceiling. Category A is 80.0%, against a 70% floor. Each Category B item is included because it does something no paper in the roster does.</a:t>
            </a:r>
            <a:endParaRPr lang="en-US" sz="1231" dirty="0"/>
          </a:p>
        </p:txBody>
      </p:sp>
      <p:sp>
        <p:nvSpPr>
          <p:cNvPr id="7" name="Shape 5"/>
          <p:cNvSpPr/>
          <p:nvPr/>
        </p:nvSpPr>
        <p:spPr>
          <a:xfrm>
            <a:off x="1531803" y="2084100"/>
            <a:ext cx="10097262" cy="7772"/>
          </a:xfrm>
          <a:prstGeom prst="rect">
            <a:avLst/>
          </a:prstGeom>
          <a:solidFill>
            <a:srgbClr val="DFDBD2"/>
          </a:solidFill>
          <a:ln/>
        </p:spPr>
      </p:sp>
      <p:sp>
        <p:nvSpPr>
          <p:cNvPr id="8" name="Text 6"/>
          <p:cNvSpPr txBox="1"/>
          <p:nvPr/>
        </p:nvSpPr>
        <p:spPr>
          <a:xfrm>
            <a:off x="1531803" y="2224735"/>
            <a:ext cx="139903"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01</a:t>
            </a:r>
            <a:endParaRPr lang="en-US" sz="738" dirty="0"/>
          </a:p>
        </p:txBody>
      </p:sp>
      <p:sp>
        <p:nvSpPr>
          <p:cNvPr id="9" name="Text 7"/>
          <p:cNvSpPr txBox="1"/>
          <p:nvPr/>
        </p:nvSpPr>
        <p:spPr>
          <a:xfrm>
            <a:off x="1859981" y="2214037"/>
            <a:ext cx="9823674" cy="650596"/>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B1 · Stanford CS231n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Convolutional Neural Networks for Visual Recognition</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 recognised academic lecture series, explicitly permitted by the brief. It supplies the backpropagation, convolution-arithmetic and optimisation background that every Category A paper from A4 onward assumes without stating.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Role in the narrative: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it is the reason slides 32–34 can discuss receptive fields and batch normalisation as shared vocabulary rather than deriving them.</a:t>
            </a:r>
            <a:endParaRPr lang="en-US" sz="1138" dirty="0"/>
          </a:p>
        </p:txBody>
      </p:sp>
      <p:sp>
        <p:nvSpPr>
          <p:cNvPr id="10" name="Text 8"/>
          <p:cNvSpPr txBox="1"/>
          <p:nvPr/>
        </p:nvSpPr>
        <p:spPr>
          <a:xfrm>
            <a:off x="1531803" y="3000421"/>
            <a:ext cx="144475"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02</a:t>
            </a:r>
            <a:endParaRPr lang="en-US" sz="738" dirty="0"/>
          </a:p>
        </p:txBody>
      </p:sp>
      <p:sp>
        <p:nvSpPr>
          <p:cNvPr id="11" name="Text 9"/>
          <p:cNvSpPr txBox="1"/>
          <p:nvPr/>
        </p:nvSpPr>
        <p:spPr>
          <a:xfrm>
            <a:off x="1859981" y="2989631"/>
            <a:ext cx="9823674" cy="867491"/>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B2 · Google Research</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Night Sight</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HDR+ technical blog. A highly technical developer publication from an industry leader, explicitly permitted by the brief. It separates photon shot noise from read noise, explains that SNR rises with the square root of exposure time, and describes how a burst of frames is captured, aligned in software and merged.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Role in the narrative: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it is the only source in the roster describing denoising as a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shipped consumer product</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and it supplies the physical grounding for the real-noise argument on slide 83 and 88.</a:t>
            </a:r>
            <a:endParaRPr lang="en-US" sz="1138" dirty="0"/>
          </a:p>
        </p:txBody>
      </p:sp>
      <p:sp>
        <p:nvSpPr>
          <p:cNvPr id="12" name="Text 10"/>
          <p:cNvSpPr txBox="1"/>
          <p:nvPr/>
        </p:nvSpPr>
        <p:spPr>
          <a:xfrm>
            <a:off x="1531803" y="3992910"/>
            <a:ext cx="144567"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03</a:t>
            </a:r>
            <a:endParaRPr lang="en-US" sz="738" dirty="0"/>
          </a:p>
        </p:txBody>
      </p:sp>
      <p:sp>
        <p:nvSpPr>
          <p:cNvPr id="13" name="Text 11"/>
          <p:cNvSpPr txBox="1"/>
          <p:nvPr/>
        </p:nvSpPr>
        <p:spPr>
          <a:xfrm>
            <a:off x="1859981" y="3982212"/>
            <a:ext cx="9823674" cy="867491"/>
          </a:xfrm>
          <a:prstGeom prst="rect">
            <a:avLst/>
          </a:prstGeom>
          <a:noFill/>
          <a:ln/>
        </p:spPr>
        <p:txBody>
          <a:bodyPr wrap="squar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B3 · Gonzalez &amp; Woods</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a:t>
            </a:r>
            <a:pPr algn="l" indent="0" marL="0">
              <a:lnSpc>
                <a:spcPts val="1708"/>
              </a:lnSpc>
              <a:buNone/>
            </a:pPr>
            <a:r>
              <a:rPr kern="0" lang="en-US" sz="1138" i="1" dirty="0">
                <a:solidFill>
                  <a:srgbClr val="33302B"/>
                </a:solidFill>
                <a:latin typeface="Calibri" pitchFamily="34" charset="0"/>
                <a:ea typeface="Calibri" pitchFamily="34" charset="-122"/>
                <a:cs typeface="Calibri" pitchFamily="34" charset="-120"/>
              </a:rPr>
              <a:t>Digital Image Processing</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 the Image Restoration chapter. A textbook chapter, explicitly permitted. It supplies the formal treatment of noise models (Gaussian, Rayleigh, Poisson, salt-and-pepper) and of mean, order-statistic and adaptive filters that Part II's first three slides rest on. </a:t>
            </a:r>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Role in the narrative: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it is the bottom rung of the timeline, below BM3D, and it is the reference against which SCUNet's synthetic degradation pipeline reads critically — SCUNet's noise list is essentially the textbook's noise list, industrialised.</a:t>
            </a:r>
            <a:endParaRPr lang="en-US" sz="1138" dirty="0"/>
          </a:p>
        </p:txBody>
      </p:sp>
      <p:sp>
        <p:nvSpPr>
          <p:cNvPr id="14" name="Text 12"/>
          <p:cNvSpPr txBox="1"/>
          <p:nvPr/>
        </p:nvSpPr>
        <p:spPr>
          <a:xfrm>
            <a:off x="1531803" y="4985492"/>
            <a:ext cx="148864"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04</a:t>
            </a:r>
            <a:endParaRPr lang="en-US" sz="738" dirty="0"/>
          </a:p>
        </p:txBody>
      </p:sp>
      <p:sp>
        <p:nvSpPr>
          <p:cNvPr id="15" name="Text 13"/>
          <p:cNvSpPr txBox="1"/>
          <p:nvPr/>
        </p:nvSpPr>
        <p:spPr>
          <a:xfrm>
            <a:off x="1859981" y="4974702"/>
            <a:ext cx="9337853" cy="216896"/>
          </a:xfrm>
          <a:prstGeom prst="rect">
            <a:avLst/>
          </a:prstGeom>
          <a:noFill/>
          <a:ln/>
        </p:spPr>
        <p:txBody>
          <a:bodyPr wrap="non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Verification note.</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Chapter number and page range differ between the 3rd and 4th editions of Gonzalez &amp; Woods. Cite the exact edition physically in use.</a:t>
            </a:r>
            <a:endParaRPr lang="en-US" sz="1138" dirty="0"/>
          </a:p>
        </p:txBody>
      </p:sp>
      <p:sp>
        <p:nvSpPr>
          <p:cNvPr id="16" name="Text 14"/>
          <p:cNvSpPr txBox="1"/>
          <p:nvPr/>
        </p:nvSpPr>
        <p:spPr>
          <a:xfrm>
            <a:off x="1531803" y="5327386"/>
            <a:ext cx="145664" cy="140635"/>
          </a:xfrm>
          <a:prstGeom prst="rect">
            <a:avLst/>
          </a:prstGeom>
          <a:noFill/>
          <a:ln/>
        </p:spPr>
        <p:txBody>
          <a:bodyPr wrap="none" lIns="0" tIns="0" rIns="0" bIns="0" rtlCol="0" anchor="t"/>
          <a:lstStyle/>
          <a:p>
            <a:pPr algn="l" indent="0" marL="0">
              <a:lnSpc>
                <a:spcPts val="1108"/>
              </a:lnSpc>
              <a:buNone/>
            </a:pPr>
            <a:r>
              <a:rPr kern="0" lang="en-US" sz="738" b="1" dirty="0">
                <a:solidFill>
                  <a:srgbClr val="8A847A"/>
                </a:solidFill>
                <a:latin typeface="Cambria" pitchFamily="34" charset="0"/>
                <a:ea typeface="Cambria" pitchFamily="34" charset="-122"/>
                <a:cs typeface="Cambria" pitchFamily="34" charset="-120"/>
              </a:rPr>
              <a:t>05</a:t>
            </a:r>
            <a:endParaRPr lang="en-US" sz="738" dirty="0"/>
          </a:p>
        </p:txBody>
      </p:sp>
      <p:sp>
        <p:nvSpPr>
          <p:cNvPr id="17" name="Text 15"/>
          <p:cNvSpPr txBox="1"/>
          <p:nvPr/>
        </p:nvSpPr>
        <p:spPr>
          <a:xfrm>
            <a:off x="1859981" y="5316687"/>
            <a:ext cx="8649492" cy="216896"/>
          </a:xfrm>
          <a:prstGeom prst="rect">
            <a:avLst/>
          </a:prstGeom>
          <a:noFill/>
          <a:ln/>
        </p:spPr>
        <p:txBody>
          <a:bodyPr wrap="none" lIns="0" tIns="0" rIns="0" bIns="0" rtlCol="0" anchor="t"/>
          <a:lstStyle/>
          <a:p>
            <a:pPr algn="l" indent="0" marL="0">
              <a:lnSpc>
                <a:spcPts val="1708"/>
              </a:lnSpc>
              <a:buNone/>
            </a:pPr>
            <a:r>
              <a:rPr kern="0" lang="en-US" sz="1138" b="1" dirty="0">
                <a:solidFill>
                  <a:srgbClr val="14120F"/>
                </a:solidFill>
                <a:latin typeface="Calibri" pitchFamily="34" charset="0"/>
                <a:ea typeface="Calibri" pitchFamily="34" charset="-122"/>
                <a:cs typeface="Calibri" pitchFamily="34" charset="-120"/>
              </a:rPr>
              <a:t>The arithmetic.</a:t>
            </a:r>
            <a:pPr algn="l" indent="0" marL="0">
              <a:lnSpc>
                <a:spcPts val="1708"/>
              </a:lnSpc>
              <a:buNone/>
            </a:pPr>
            <a:r>
              <a:rPr kern="0" lang="en-US" sz="1138" dirty="0">
                <a:solidFill>
                  <a:srgbClr val="33302B"/>
                </a:solidFill>
                <a:latin typeface="Calibri" pitchFamily="34" charset="0"/>
                <a:ea typeface="Calibri" pitchFamily="34" charset="-122"/>
                <a:cs typeface="Calibri" pitchFamily="34" charset="-120"/>
              </a:rPr>
              <a:t> 15 sources total. 12 Category A = 80.0% (floor 70%). 3 Category B = 20.0% (ceiling 30%). Compliant with margin on both sides.</a:t>
            </a:r>
            <a:endParaRPr lang="en-US" sz="1138" dirty="0"/>
          </a:p>
        </p:txBody>
      </p:sp>
      <p:sp>
        <p:nvSpPr>
          <p:cNvPr id="18" name="Text 16"/>
          <p:cNvSpPr txBox="1"/>
          <p:nvPr/>
        </p:nvSpPr>
        <p:spPr>
          <a:xfrm>
            <a:off x="10185776" y="6237031"/>
            <a:ext cx="1443198" cy="123993"/>
          </a:xfrm>
          <a:prstGeom prst="rect">
            <a:avLst/>
          </a:prstGeom>
          <a:noFill/>
          <a:ln/>
        </p:spPr>
        <p:txBody>
          <a:bodyPr wrap="none" lIns="0" tIns="0" rIns="0" bIns="0" rtlCol="0" anchor="t"/>
          <a:lstStyle/>
          <a:p>
            <a:pPr algn="r" indent="0" marL="0">
              <a:lnSpc>
                <a:spcPts val="976"/>
              </a:lnSpc>
              <a:buNone/>
            </a:pPr>
            <a:r>
              <a:rPr kern="0" lang="en-US" sz="800" i="1" dirty="0">
                <a:solidFill>
                  <a:srgbClr val="8A847A"/>
                </a:solidFill>
                <a:latin typeface="Calibri" pitchFamily="34" charset="0"/>
                <a:ea typeface="Calibri" pitchFamily="34" charset="-122"/>
                <a:cs typeface="Calibri" pitchFamily="34" charset="-120"/>
              </a:rPr>
              <a:t>brief §2, Source Distribution Rules</a:t>
            </a:r>
            <a:endParaRPr lang="en-US" sz="800" dirty="0"/>
          </a:p>
        </p:txBody>
      </p:sp>
      <p:sp>
        <p:nvSpPr>
          <p:cNvPr id="19" name="Shape 17"/>
          <p:cNvSpPr/>
          <p:nvPr/>
        </p:nvSpPr>
        <p:spPr>
          <a:xfrm>
            <a:off x="1531803" y="6537411"/>
            <a:ext cx="10097262" cy="7772"/>
          </a:xfrm>
          <a:prstGeom prst="rect">
            <a:avLst/>
          </a:prstGeom>
          <a:solidFill>
            <a:srgbClr val="C9C4B9"/>
          </a:solidFill>
          <a:ln/>
        </p:spPr>
      </p:sp>
      <p:sp>
        <p:nvSpPr>
          <p:cNvPr id="20" name="Shape 18"/>
          <p:cNvSpPr/>
          <p:nvPr/>
        </p:nvSpPr>
        <p:spPr>
          <a:xfrm>
            <a:off x="1531803" y="6498366"/>
            <a:ext cx="7772" cy="39045"/>
          </a:xfrm>
          <a:prstGeom prst="rect">
            <a:avLst/>
          </a:prstGeom>
          <a:solidFill>
            <a:srgbClr val="C9C4B9"/>
          </a:solidFill>
          <a:ln/>
        </p:spPr>
      </p:sp>
      <p:sp>
        <p:nvSpPr>
          <p:cNvPr id="21" name="Text 19"/>
          <p:cNvSpPr txBox="1"/>
          <p:nvPr/>
        </p:nvSpPr>
        <p:spPr>
          <a:xfrm>
            <a:off x="142911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2007</a:t>
            </a:r>
            <a:endParaRPr lang="en-US" sz="615" dirty="0"/>
          </a:p>
        </p:txBody>
      </p:sp>
      <p:sp>
        <p:nvSpPr>
          <p:cNvPr id="22" name="Shape 20"/>
          <p:cNvSpPr/>
          <p:nvPr/>
        </p:nvSpPr>
        <p:spPr>
          <a:xfrm>
            <a:off x="5458511" y="6498366"/>
            <a:ext cx="7772" cy="39045"/>
          </a:xfrm>
          <a:prstGeom prst="rect">
            <a:avLst/>
          </a:prstGeom>
          <a:solidFill>
            <a:srgbClr val="C9C4B9"/>
          </a:solidFill>
          <a:ln/>
        </p:spPr>
      </p:sp>
      <p:sp>
        <p:nvSpPr>
          <p:cNvPr id="23" name="Text 21"/>
          <p:cNvSpPr txBox="1"/>
          <p:nvPr/>
        </p:nvSpPr>
        <p:spPr>
          <a:xfrm>
            <a:off x="5355824"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2014</a:t>
            </a:r>
            <a:endParaRPr lang="en-US" sz="615" dirty="0"/>
          </a:p>
        </p:txBody>
      </p:sp>
      <p:sp>
        <p:nvSpPr>
          <p:cNvPr id="24" name="Shape 22"/>
          <p:cNvSpPr/>
          <p:nvPr/>
        </p:nvSpPr>
        <p:spPr>
          <a:xfrm>
            <a:off x="7141738" y="6498366"/>
            <a:ext cx="7772" cy="39045"/>
          </a:xfrm>
          <a:prstGeom prst="rect">
            <a:avLst/>
          </a:prstGeom>
          <a:solidFill>
            <a:srgbClr val="C9C4B9"/>
          </a:solidFill>
          <a:ln/>
        </p:spPr>
      </p:sp>
      <p:sp>
        <p:nvSpPr>
          <p:cNvPr id="25" name="Text 23"/>
          <p:cNvSpPr txBox="1"/>
          <p:nvPr/>
        </p:nvSpPr>
        <p:spPr>
          <a:xfrm>
            <a:off x="7039051"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2017</a:t>
            </a:r>
            <a:endParaRPr lang="en-US" sz="615" dirty="0"/>
          </a:p>
        </p:txBody>
      </p:sp>
      <p:sp>
        <p:nvSpPr>
          <p:cNvPr id="26" name="Shape 24"/>
          <p:cNvSpPr/>
          <p:nvPr/>
        </p:nvSpPr>
        <p:spPr>
          <a:xfrm>
            <a:off x="9945654" y="6498366"/>
            <a:ext cx="7772" cy="39045"/>
          </a:xfrm>
          <a:prstGeom prst="rect">
            <a:avLst/>
          </a:prstGeom>
          <a:solidFill>
            <a:srgbClr val="C9C4B9"/>
          </a:solidFill>
          <a:ln/>
        </p:spPr>
      </p:sp>
      <p:sp>
        <p:nvSpPr>
          <p:cNvPr id="27" name="Text 25"/>
          <p:cNvSpPr txBox="1"/>
          <p:nvPr/>
        </p:nvSpPr>
        <p:spPr>
          <a:xfrm>
            <a:off x="9842967"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2022</a:t>
            </a:r>
            <a:endParaRPr lang="en-US" sz="615" dirty="0"/>
          </a:p>
        </p:txBody>
      </p:sp>
      <p:sp>
        <p:nvSpPr>
          <p:cNvPr id="28" name="Shape 26"/>
          <p:cNvSpPr/>
          <p:nvPr/>
        </p:nvSpPr>
        <p:spPr>
          <a:xfrm>
            <a:off x="11628973" y="6498366"/>
            <a:ext cx="7772" cy="39045"/>
          </a:xfrm>
          <a:prstGeom prst="rect">
            <a:avLst/>
          </a:prstGeom>
          <a:solidFill>
            <a:srgbClr val="C9C4B9"/>
          </a:solidFill>
          <a:ln/>
        </p:spPr>
      </p:sp>
      <p:sp>
        <p:nvSpPr>
          <p:cNvPr id="29" name="Text 27"/>
          <p:cNvSpPr txBox="1"/>
          <p:nvPr/>
        </p:nvSpPr>
        <p:spPr>
          <a:xfrm>
            <a:off x="11526286" y="6564020"/>
            <a:ext cx="205374" cy="95372"/>
          </a:xfrm>
          <a:prstGeom prst="rect">
            <a:avLst/>
          </a:prstGeom>
          <a:noFill/>
          <a:ln/>
        </p:spPr>
        <p:txBody>
          <a:bodyPr wrap="none" lIns="0" tIns="0" rIns="0" bIns="0" rtlCol="0" anchor="t"/>
          <a:lstStyle/>
          <a:p>
            <a:pPr algn="ctr" indent="0" marL="0">
              <a:lnSpc>
                <a:spcPts val="751"/>
              </a:lnSpc>
              <a:buNone/>
            </a:pPr>
            <a:r>
              <a:rPr kern="0" lang="en-US" sz="615" dirty="0">
                <a:solidFill>
                  <a:srgbClr val="B5AFA4"/>
                </a:solidFill>
                <a:latin typeface="Calibri" pitchFamily="34" charset="0"/>
                <a:ea typeface="Calibri" pitchFamily="34" charset="-122"/>
                <a:cs typeface="Calibri" pitchFamily="34" charset="-120"/>
              </a:rPr>
              <a:t>2025</a:t>
            </a:r>
            <a:endParaRPr lang="en-US" sz="615"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52501" y="319491"/>
            <a:ext cx="514533" cy="323149"/>
          </a:xfrm>
          <a:prstGeom prst="rect">
            <a:avLst/>
          </a:prstGeom>
          <a:noFill/>
          <a:ln/>
        </p:spPr>
        <p:txBody>
          <a:bodyPr wrap="none" lIns="0" tIns="0" rIns="0" bIns="0" rtlCol="0" anchor="t"/>
          <a:lstStyle/>
          <a:p>
            <a:pPr algn="l" indent="0" marL="0">
              <a:lnSpc>
                <a:spcPts val="2545"/>
              </a:lnSpc>
              <a:buNone/>
            </a:pPr>
            <a:r>
              <a:rPr lang="en-US" sz="2545" b="1" spc="-58" kern="0" dirty="0">
                <a:solidFill>
                  <a:srgbClr val="E3DFD6"/>
                </a:solidFill>
                <a:latin typeface="Cambria" pitchFamily="34" charset="0"/>
                <a:ea typeface="Cambria" pitchFamily="34" charset="-122"/>
                <a:cs typeface="Cambria" pitchFamily="34" charset="-120"/>
              </a:rPr>
              <a:t>100</a:t>
            </a:r>
            <a:endParaRPr lang="en-US" sz="2545" dirty="0"/>
          </a:p>
        </p:txBody>
      </p:sp>
      <p:sp>
        <p:nvSpPr>
          <p:cNvPr id="3" name="Shape 1"/>
          <p:cNvSpPr/>
          <p:nvPr/>
        </p:nvSpPr>
        <p:spPr>
          <a:xfrm>
            <a:off x="1439540" y="433334"/>
            <a:ext cx="190927" cy="22037"/>
          </a:xfrm>
          <a:prstGeom prst="rect">
            <a:avLst/>
          </a:prstGeom>
          <a:solidFill>
            <a:srgbClr val="14343F"/>
          </a:solidFill>
          <a:ln/>
        </p:spPr>
      </p:sp>
      <p:sp>
        <p:nvSpPr>
          <p:cNvPr id="4" name="Text 2"/>
          <p:cNvSpPr txBox="1"/>
          <p:nvPr/>
        </p:nvSpPr>
        <p:spPr>
          <a:xfrm>
            <a:off x="1718615" y="383865"/>
            <a:ext cx="542788" cy="120975"/>
          </a:xfrm>
          <a:prstGeom prst="rect">
            <a:avLst/>
          </a:prstGeom>
          <a:noFill/>
          <a:ln/>
        </p:spPr>
        <p:txBody>
          <a:bodyPr wrap="none" lIns="0" tIns="0" rIns="0" bIns="0" rtlCol="0" anchor="t"/>
          <a:lstStyle/>
          <a:p>
            <a:pPr algn="l" indent="0" marL="0">
              <a:lnSpc>
                <a:spcPts val="952"/>
              </a:lnSpc>
              <a:buNone/>
            </a:pPr>
            <a:r>
              <a:rPr lang="en-US" sz="781" b="1" spc="121" kern="0" dirty="0">
                <a:solidFill>
                  <a:srgbClr val="14343F"/>
                </a:solidFill>
                <a:latin typeface="Calibri" pitchFamily="34" charset="0"/>
                <a:ea typeface="Calibri" pitchFamily="34" charset="-122"/>
                <a:cs typeface="Calibri" pitchFamily="34" charset="-120"/>
              </a:rPr>
              <a:t>HONESTY</a:t>
            </a:r>
            <a:endParaRPr lang="en-US" sz="781" dirty="0"/>
          </a:p>
        </p:txBody>
      </p:sp>
      <p:sp>
        <p:nvSpPr>
          <p:cNvPr id="5" name="Text 3"/>
          <p:cNvSpPr txBox="1"/>
          <p:nvPr/>
        </p:nvSpPr>
        <p:spPr>
          <a:xfrm>
            <a:off x="1439540" y="607070"/>
            <a:ext cx="6804782" cy="364846"/>
          </a:xfrm>
          <a:prstGeom prst="rect">
            <a:avLst/>
          </a:prstGeom>
          <a:noFill/>
          <a:ln/>
        </p:spPr>
        <p:txBody>
          <a:bodyPr wrap="none" lIns="0" tIns="0" rIns="0" bIns="0" rtlCol="0" anchor="t"/>
          <a:lstStyle/>
          <a:p>
            <a:pPr algn="l" indent="0" marL="0">
              <a:lnSpc>
                <a:spcPts val="2873"/>
              </a:lnSpc>
              <a:buNone/>
            </a:pPr>
            <a:r>
              <a:rPr lang="en-US" sz="2660" b="1" spc="-64" kern="0" dirty="0">
                <a:solidFill>
                  <a:srgbClr val="14120F"/>
                </a:solidFill>
                <a:latin typeface="Cambria" pitchFamily="34" charset="0"/>
                <a:ea typeface="Cambria" pitchFamily="34" charset="-122"/>
                <a:cs typeface="Cambria" pitchFamily="34" charset="-120"/>
              </a:rPr>
              <a:t>Declared limitations — stated, not discovered</a:t>
            </a:r>
            <a:endParaRPr lang="en-US" sz="2660" dirty="0"/>
          </a:p>
        </p:txBody>
      </p:sp>
      <p:sp>
        <p:nvSpPr>
          <p:cNvPr id="6" name="Text 4"/>
          <p:cNvSpPr txBox="1"/>
          <p:nvPr/>
        </p:nvSpPr>
        <p:spPr>
          <a:xfrm>
            <a:off x="1439540" y="1091885"/>
            <a:ext cx="5695340" cy="440649"/>
          </a:xfrm>
          <a:prstGeom prst="rect">
            <a:avLst/>
          </a:prstGeom>
          <a:noFill/>
          <a:ln/>
        </p:spPr>
        <p:txBody>
          <a:bodyPr wrap="square" lIns="0" tIns="0" rIns="0" bIns="0" rtlCol="0" anchor="t"/>
          <a:lstStyle/>
          <a:p>
            <a:pPr algn="l" indent="0" marL="0">
              <a:lnSpc>
                <a:spcPts val="1735"/>
              </a:lnSpc>
              <a:buNone/>
            </a:pPr>
            <a:r>
              <a:rPr kern="0" lang="en-US" sz="1157" dirty="0">
                <a:solidFill>
                  <a:srgbClr val="5A554D"/>
                </a:solidFill>
                <a:latin typeface="Calibri" pitchFamily="34" charset="0"/>
                <a:ea typeface="Calibri" pitchFamily="34" charset="-122"/>
                <a:cs typeface="Calibri" pitchFamily="34" charset="-120"/>
              </a:rPr>
              <a:t>A gap that is stated is a smaller problem than a gap that is found. These are every known weakness in this deck.</a:t>
            </a:r>
            <a:endParaRPr lang="en-US" sz="1157" dirty="0"/>
          </a:p>
        </p:txBody>
      </p:sp>
      <p:sp>
        <p:nvSpPr>
          <p:cNvPr id="7" name="Shape 5"/>
          <p:cNvSpPr/>
          <p:nvPr/>
        </p:nvSpPr>
        <p:spPr>
          <a:xfrm>
            <a:off x="1439540" y="1738183"/>
            <a:ext cx="10223358" cy="7315"/>
          </a:xfrm>
          <a:prstGeom prst="rect">
            <a:avLst/>
          </a:prstGeom>
          <a:solidFill>
            <a:srgbClr val="DFDBD2"/>
          </a:solidFill>
          <a:ln/>
        </p:spPr>
      </p:sp>
      <p:sp>
        <p:nvSpPr>
          <p:cNvPr id="8" name="Text 6"/>
          <p:cNvSpPr txBox="1"/>
          <p:nvPr/>
        </p:nvSpPr>
        <p:spPr>
          <a:xfrm>
            <a:off x="1439540" y="1870405"/>
            <a:ext cx="131491"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01</a:t>
            </a:r>
            <a:endParaRPr lang="en-US" sz="694" dirty="0"/>
          </a:p>
        </p:txBody>
      </p:sp>
      <p:sp>
        <p:nvSpPr>
          <p:cNvPr id="9" name="Text 7"/>
          <p:cNvSpPr txBox="1"/>
          <p:nvPr/>
        </p:nvSpPr>
        <p:spPr>
          <a:xfrm>
            <a:off x="1747967" y="1860347"/>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No quality metric in this deck was computed by us.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Every PSNR and SSIM is reproduced from a published table. Our own measurements cover parameter counts and CPU forward-pass latency only, and used </a:t>
            </a:r>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random tensors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so they carry no image-quality information whatsoever.</a:t>
            </a:r>
            <a:endParaRPr lang="en-US" sz="1070" dirty="0"/>
          </a:p>
        </p:txBody>
      </p:sp>
      <p:sp>
        <p:nvSpPr>
          <p:cNvPr id="10" name="Text 8"/>
          <p:cNvSpPr txBox="1"/>
          <p:nvPr/>
        </p:nvSpPr>
        <p:spPr>
          <a:xfrm>
            <a:off x="1439540" y="2395545"/>
            <a:ext cx="135788"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02</a:t>
            </a:r>
            <a:endParaRPr lang="en-US" sz="694" dirty="0"/>
          </a:p>
        </p:txBody>
      </p:sp>
      <p:sp>
        <p:nvSpPr>
          <p:cNvPr id="11" name="Text 9"/>
          <p:cNvSpPr txBox="1"/>
          <p:nvPr/>
        </p:nvSpPr>
        <p:spPr>
          <a:xfrm>
            <a:off x="1747967" y="2385395"/>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CPU latencies are not comparable to published GPU timings.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Only the ratios between our own measurements are meaningful, and they are meaningful only for the CPU backend we used.</a:t>
            </a:r>
            <a:endParaRPr lang="en-US" sz="1070" dirty="0"/>
          </a:p>
        </p:txBody>
      </p:sp>
      <p:sp>
        <p:nvSpPr>
          <p:cNvPr id="12" name="Text 10"/>
          <p:cNvSpPr txBox="1"/>
          <p:nvPr/>
        </p:nvSpPr>
        <p:spPr>
          <a:xfrm>
            <a:off x="1439540" y="2920685"/>
            <a:ext cx="13588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03</a:t>
            </a:r>
            <a:endParaRPr lang="en-US" sz="694" dirty="0"/>
          </a:p>
        </p:txBody>
      </p:sp>
      <p:sp>
        <p:nvSpPr>
          <p:cNvPr id="13" name="Text 11"/>
          <p:cNvSpPr txBox="1"/>
          <p:nvPr/>
        </p:nvSpPr>
        <p:spPr>
          <a:xfrm>
            <a:off x="1747967" y="2910535"/>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The DnCNN runtime table mixes devices.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Classical methods are timed on CPU, learned methods on GPU, and the paper states that GPU times for CSF and TNRD were copied from their original papers. We reproduce this caveat wherever we reproduce the numbers.</a:t>
            </a:r>
            <a:endParaRPr lang="en-US" sz="1070" dirty="0"/>
          </a:p>
        </p:txBody>
      </p:sp>
      <p:sp>
        <p:nvSpPr>
          <p:cNvPr id="14" name="Text 12"/>
          <p:cNvSpPr txBox="1"/>
          <p:nvPr/>
        </p:nvSpPr>
        <p:spPr>
          <a:xfrm>
            <a:off x="1439540" y="3445825"/>
            <a:ext cx="139903"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04</a:t>
            </a:r>
            <a:endParaRPr lang="en-US" sz="694" dirty="0"/>
          </a:p>
        </p:txBody>
      </p:sp>
      <p:sp>
        <p:nvSpPr>
          <p:cNvPr id="15" name="Text 13"/>
          <p:cNvSpPr txBox="1"/>
          <p:nvPr/>
        </p:nvSpPr>
        <p:spPr>
          <a:xfrm>
            <a:off x="1747967" y="3435675"/>
            <a:ext cx="9969246" cy="611459"/>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One published value is excluded.</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MambaIR's CBSD68 σ=25 figure extracted as 32.24, which is inconsistent with its own row (34.48 at σ=15, 28.66 at σ=50) and with every comparable method. We judged this a probable extraction error and excluded the cell rather than reproduce it. MambaIR's colour results are quoted from Urban100 instead, which is internally consistent.</a:t>
            </a:r>
            <a:endParaRPr lang="en-US" sz="1070" dirty="0"/>
          </a:p>
        </p:txBody>
      </p:sp>
      <p:sp>
        <p:nvSpPr>
          <p:cNvPr id="16" name="Text 14"/>
          <p:cNvSpPr txBox="1"/>
          <p:nvPr/>
        </p:nvSpPr>
        <p:spPr>
          <a:xfrm>
            <a:off x="1439540" y="4174693"/>
            <a:ext cx="136886"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05</a:t>
            </a:r>
            <a:endParaRPr lang="en-US" sz="694" dirty="0"/>
          </a:p>
        </p:txBody>
      </p:sp>
      <p:sp>
        <p:nvSpPr>
          <p:cNvPr id="17" name="Text 15"/>
          <p:cNvSpPr txBox="1"/>
          <p:nvPr/>
        </p:nvSpPr>
        <p:spPr>
          <a:xfrm>
            <a:off x="1747967" y="4164635"/>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Venue verification.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Venues for BM3D, TNRD, Noise2Noise and SCUNet are printed in the source PDFs themselves. The remaining eight are preprint versions carrying no venue, and were confirmed against publisher, CVF Open Access or institutional proceedings records rather than copied from another paper's reference list.</a:t>
            </a:r>
            <a:endParaRPr lang="en-US" sz="1070" dirty="0"/>
          </a:p>
        </p:txBody>
      </p:sp>
      <p:sp>
        <p:nvSpPr>
          <p:cNvPr id="18" name="Text 16"/>
          <p:cNvSpPr txBox="1"/>
          <p:nvPr/>
        </p:nvSpPr>
        <p:spPr>
          <a:xfrm>
            <a:off x="1439540" y="4699833"/>
            <a:ext cx="138532"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06</a:t>
            </a:r>
            <a:endParaRPr lang="en-US" sz="694" dirty="0"/>
          </a:p>
        </p:txBody>
      </p:sp>
      <p:sp>
        <p:nvSpPr>
          <p:cNvPr id="19" name="Text 17"/>
          <p:cNvSpPr txBox="1"/>
          <p:nvPr/>
        </p:nvSpPr>
        <p:spPr>
          <a:xfrm>
            <a:off x="1747967" y="4689775"/>
            <a:ext cx="9921972" cy="203820"/>
          </a:xfrm>
          <a:prstGeom prst="rect">
            <a:avLst/>
          </a:prstGeom>
          <a:noFill/>
          <a:ln/>
        </p:spPr>
        <p:txBody>
          <a:bodyPr wrap="non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TNRD's year is genuinely ambiguous.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The PDF header reads 2016; the citing literature gives TPAMI 39(6), 2017. Both reflect reality — acceptance versus issue. We cite 2017.</a:t>
            </a:r>
            <a:endParaRPr lang="en-US" sz="1070" dirty="0"/>
          </a:p>
        </p:txBody>
      </p:sp>
      <p:sp>
        <p:nvSpPr>
          <p:cNvPr id="20" name="Text 18"/>
          <p:cNvSpPr txBox="1"/>
          <p:nvPr/>
        </p:nvSpPr>
        <p:spPr>
          <a:xfrm>
            <a:off x="1439540" y="5021153"/>
            <a:ext cx="134600"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07</a:t>
            </a:r>
            <a:endParaRPr lang="en-US" sz="694" dirty="0"/>
          </a:p>
        </p:txBody>
      </p:sp>
      <p:sp>
        <p:nvSpPr>
          <p:cNvPr id="21" name="Text 19"/>
          <p:cNvSpPr txBox="1"/>
          <p:nvPr/>
        </p:nvSpPr>
        <p:spPr>
          <a:xfrm>
            <a:off x="1747967" y="5011095"/>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Reference code availability is uneven.</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ZS-N2N has no repository, only a Colab notebook. WNNM has only a third-party mirror with no README or licence. TNRD's available implementation is a same-laboratory re-implementation, not the authors' original release. The P2N paper's printed repository URL returns HTTP 404; the live code is at </a:t>
            </a:r>
            <a:pPr algn="l" indent="0" marL="0">
              <a:lnSpc>
                <a:spcPts val="1605"/>
              </a:lnSpc>
              <a:buNone/>
            </a:pPr>
            <a:r>
              <a:rPr kern="0" lang="en-US" sz="963" dirty="0">
                <a:solidFill>
                  <a:srgbClr val="145A66"/>
                </a:solidFill>
                <a:latin typeface="Consolas" pitchFamily="34" charset="0"/>
                <a:ea typeface="Consolas" pitchFamily="34" charset="-122"/>
                <a:cs typeface="Consolas" pitchFamily="34" charset="-120"/>
              </a:rPr>
              <a:t>P2N-plus</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a:t>
            </a:r>
            <a:endParaRPr lang="en-US" sz="1070" dirty="0"/>
          </a:p>
        </p:txBody>
      </p:sp>
      <p:sp>
        <p:nvSpPr>
          <p:cNvPr id="22" name="Text 20"/>
          <p:cNvSpPr txBox="1"/>
          <p:nvPr/>
        </p:nvSpPr>
        <p:spPr>
          <a:xfrm>
            <a:off x="1439540" y="5555346"/>
            <a:ext cx="140086" cy="132222"/>
          </a:xfrm>
          <a:prstGeom prst="rect">
            <a:avLst/>
          </a:prstGeom>
          <a:noFill/>
          <a:ln/>
        </p:spPr>
        <p:txBody>
          <a:bodyPr wrap="none" lIns="0" tIns="0" rIns="0" bIns="0" rtlCol="0" anchor="t"/>
          <a:lstStyle/>
          <a:p>
            <a:pPr algn="l" indent="0" marL="0">
              <a:lnSpc>
                <a:spcPts val="1041"/>
              </a:lnSpc>
              <a:buNone/>
            </a:pPr>
            <a:r>
              <a:rPr kern="0" lang="en-US" sz="694" b="1" dirty="0">
                <a:solidFill>
                  <a:srgbClr val="8A847A"/>
                </a:solidFill>
                <a:latin typeface="Cambria" pitchFamily="34" charset="0"/>
                <a:ea typeface="Cambria" pitchFamily="34" charset="-122"/>
                <a:cs typeface="Cambria" pitchFamily="34" charset="-120"/>
              </a:rPr>
              <a:t>08</a:t>
            </a:r>
            <a:endParaRPr lang="en-US" sz="694" dirty="0"/>
          </a:p>
        </p:txBody>
      </p:sp>
      <p:sp>
        <p:nvSpPr>
          <p:cNvPr id="23" name="Text 21"/>
          <p:cNvSpPr txBox="1"/>
          <p:nvPr/>
        </p:nvSpPr>
        <p:spPr>
          <a:xfrm>
            <a:off x="1747967" y="5545287"/>
            <a:ext cx="9969246" cy="407640"/>
          </a:xfrm>
          <a:prstGeom prst="rect">
            <a:avLst/>
          </a:prstGeom>
          <a:noFill/>
          <a:ln/>
        </p:spPr>
        <p:txBody>
          <a:bodyPr wrap="square" lIns="0" tIns="0" rIns="0" bIns="0" rtlCol="0" anchor="t"/>
          <a:lstStyle/>
          <a:p>
            <a:pPr algn="l" indent="0" marL="0">
              <a:lnSpc>
                <a:spcPts val="1605"/>
              </a:lnSpc>
              <a:buNone/>
            </a:pPr>
            <a:r>
              <a:rPr kern="0" lang="en-US" sz="1070" b="1" dirty="0">
                <a:solidFill>
                  <a:srgbClr val="14120F"/>
                </a:solidFill>
                <a:latin typeface="Calibri" pitchFamily="34" charset="0"/>
                <a:ea typeface="Calibri" pitchFamily="34" charset="-122"/>
                <a:cs typeface="Calibri" pitchFamily="34" charset="-120"/>
              </a:rPr>
              <a:t>SCUNet's venue is not on the brief's named list.</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a:t>
            </a:r>
            <a:pPr algn="l" indent="0" marL="0">
              <a:lnSpc>
                <a:spcPts val="1605"/>
              </a:lnSpc>
              <a:buNone/>
            </a:pPr>
            <a:r>
              <a:rPr kern="0" lang="en-US" sz="1070" i="1" dirty="0">
                <a:solidFill>
                  <a:srgbClr val="33302B"/>
                </a:solidFill>
                <a:latin typeface="Calibri" pitchFamily="34" charset="0"/>
                <a:ea typeface="Calibri" pitchFamily="34" charset="-122"/>
                <a:cs typeface="Calibri" pitchFamily="34" charset="-120"/>
              </a:rPr>
              <a:t>Machine Intelligence Research</a:t>
            </a:r>
            <a:pPr algn="l" indent="0" marL="0">
              <a:lnSpc>
                <a:spcPts val="1605"/>
              </a:lnSpc>
              <a:buNone/>
            </a:pPr>
            <a:r>
              <a:rPr kern="0" lang="en-US" sz="1070" dirty="0">
                <a:solidFill>
                  <a:srgbClr val="33302B"/>
                </a:solidFill>
                <a:latin typeface="Calibri" pitchFamily="34" charset="0"/>
                <a:ea typeface="Calibri" pitchFamily="34" charset="-122"/>
                <a:cs typeface="Calibri" pitchFamily="34" charset="-120"/>
              </a:rPr>
              <a:t> is a peer-reviewed Springer journal but is not among the venues the brief names. The brief's list is illustrative rather than exhaustive; we flag this rather than conceal it.</a:t>
            </a:r>
            <a:endParaRPr lang="en-US" sz="1070" dirty="0"/>
          </a:p>
        </p:txBody>
      </p:sp>
      <p:sp>
        <p:nvSpPr>
          <p:cNvPr id="24" name="Text 22"/>
          <p:cNvSpPr txBox="1"/>
          <p:nvPr/>
        </p:nvSpPr>
        <p:spPr>
          <a:xfrm>
            <a:off x="10584089" y="6274430"/>
            <a:ext cx="1078809" cy="116495"/>
          </a:xfrm>
          <a:prstGeom prst="rect">
            <a:avLst/>
          </a:prstGeom>
          <a:noFill/>
          <a:ln/>
        </p:spPr>
        <p:txBody>
          <a:bodyPr wrap="none" lIns="0" tIns="0" rIns="0" bIns="0" rtlCol="0" anchor="t"/>
          <a:lstStyle/>
          <a:p>
            <a:pPr algn="r" indent="0" marL="0">
              <a:lnSpc>
                <a:spcPts val="917"/>
              </a:lnSpc>
              <a:buNone/>
            </a:pPr>
            <a:r>
              <a:rPr kern="0" lang="en-US" sz="752" i="1" dirty="0">
                <a:solidFill>
                  <a:srgbClr val="8A847A"/>
                </a:solidFill>
                <a:latin typeface="Calibri" pitchFamily="34" charset="0"/>
                <a:ea typeface="Calibri" pitchFamily="34" charset="-122"/>
                <a:cs typeface="Calibri" pitchFamily="34" charset="-120"/>
              </a:rPr>
              <a:t>reading — self-assessment</a:t>
            </a:r>
            <a:endParaRPr lang="en-US" sz="752" dirty="0"/>
          </a:p>
        </p:txBody>
      </p:sp>
      <p:sp>
        <p:nvSpPr>
          <p:cNvPr id="25" name="Shape 23"/>
          <p:cNvSpPr/>
          <p:nvPr/>
        </p:nvSpPr>
        <p:spPr>
          <a:xfrm>
            <a:off x="1439540" y="6556705"/>
            <a:ext cx="10223358" cy="7315"/>
          </a:xfrm>
          <a:prstGeom prst="rect">
            <a:avLst/>
          </a:prstGeom>
          <a:solidFill>
            <a:srgbClr val="C9C4B9"/>
          </a:solidFill>
          <a:ln/>
        </p:spPr>
      </p:sp>
      <p:sp>
        <p:nvSpPr>
          <p:cNvPr id="26" name="Shape 24"/>
          <p:cNvSpPr/>
          <p:nvPr/>
        </p:nvSpPr>
        <p:spPr>
          <a:xfrm>
            <a:off x="1439540" y="6519946"/>
            <a:ext cx="7315" cy="36759"/>
          </a:xfrm>
          <a:prstGeom prst="rect">
            <a:avLst/>
          </a:prstGeom>
          <a:solidFill>
            <a:srgbClr val="C9C4B9"/>
          </a:solidFill>
          <a:ln/>
        </p:spPr>
      </p:sp>
      <p:sp>
        <p:nvSpPr>
          <p:cNvPr id="27" name="Text 25"/>
          <p:cNvSpPr txBox="1"/>
          <p:nvPr/>
        </p:nvSpPr>
        <p:spPr>
          <a:xfrm>
            <a:off x="134297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2007</a:t>
            </a:r>
            <a:endParaRPr lang="en-US" sz="578" dirty="0"/>
          </a:p>
        </p:txBody>
      </p:sp>
      <p:sp>
        <p:nvSpPr>
          <p:cNvPr id="28" name="Shape 26"/>
          <p:cNvSpPr/>
          <p:nvPr/>
        </p:nvSpPr>
        <p:spPr>
          <a:xfrm>
            <a:off x="5415351" y="6519946"/>
            <a:ext cx="7315" cy="36759"/>
          </a:xfrm>
          <a:prstGeom prst="rect">
            <a:avLst/>
          </a:prstGeom>
          <a:solidFill>
            <a:srgbClr val="C9C4B9"/>
          </a:solidFill>
          <a:ln/>
        </p:spPr>
      </p:sp>
      <p:sp>
        <p:nvSpPr>
          <p:cNvPr id="29" name="Text 27"/>
          <p:cNvSpPr txBox="1"/>
          <p:nvPr/>
        </p:nvSpPr>
        <p:spPr>
          <a:xfrm>
            <a:off x="531879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2014</a:t>
            </a:r>
            <a:endParaRPr lang="en-US" sz="578" dirty="0"/>
          </a:p>
        </p:txBody>
      </p:sp>
      <p:sp>
        <p:nvSpPr>
          <p:cNvPr id="30" name="Shape 28"/>
          <p:cNvSpPr/>
          <p:nvPr/>
        </p:nvSpPr>
        <p:spPr>
          <a:xfrm>
            <a:off x="7119610" y="6519946"/>
            <a:ext cx="7315" cy="36759"/>
          </a:xfrm>
          <a:prstGeom prst="rect">
            <a:avLst/>
          </a:prstGeom>
          <a:solidFill>
            <a:srgbClr val="C9C4B9"/>
          </a:solidFill>
          <a:ln/>
        </p:spPr>
      </p:sp>
      <p:sp>
        <p:nvSpPr>
          <p:cNvPr id="31" name="Text 29"/>
          <p:cNvSpPr txBox="1"/>
          <p:nvPr/>
        </p:nvSpPr>
        <p:spPr>
          <a:xfrm>
            <a:off x="7023049"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2017</a:t>
            </a:r>
            <a:endParaRPr lang="en-US" sz="578" dirty="0"/>
          </a:p>
        </p:txBody>
      </p:sp>
      <p:sp>
        <p:nvSpPr>
          <p:cNvPr id="32" name="Shape 30"/>
          <p:cNvSpPr/>
          <p:nvPr/>
        </p:nvSpPr>
        <p:spPr>
          <a:xfrm>
            <a:off x="9958639" y="6519946"/>
            <a:ext cx="7315" cy="36759"/>
          </a:xfrm>
          <a:prstGeom prst="rect">
            <a:avLst/>
          </a:prstGeom>
          <a:solidFill>
            <a:srgbClr val="C9C4B9"/>
          </a:solidFill>
          <a:ln/>
        </p:spPr>
      </p:sp>
      <p:sp>
        <p:nvSpPr>
          <p:cNvPr id="33" name="Text 31"/>
          <p:cNvSpPr txBox="1"/>
          <p:nvPr/>
        </p:nvSpPr>
        <p:spPr>
          <a:xfrm>
            <a:off x="9862170"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2022</a:t>
            </a:r>
            <a:endParaRPr lang="en-US" sz="578" dirty="0"/>
          </a:p>
        </p:txBody>
      </p:sp>
      <p:sp>
        <p:nvSpPr>
          <p:cNvPr id="34" name="Shape 32"/>
          <p:cNvSpPr/>
          <p:nvPr/>
        </p:nvSpPr>
        <p:spPr>
          <a:xfrm>
            <a:off x="11662898" y="6519946"/>
            <a:ext cx="7315" cy="36759"/>
          </a:xfrm>
          <a:prstGeom prst="rect">
            <a:avLst/>
          </a:prstGeom>
          <a:solidFill>
            <a:srgbClr val="C9C4B9"/>
          </a:solidFill>
          <a:ln/>
        </p:spPr>
      </p:sp>
      <p:sp>
        <p:nvSpPr>
          <p:cNvPr id="35" name="Text 33"/>
          <p:cNvSpPr txBox="1"/>
          <p:nvPr/>
        </p:nvSpPr>
        <p:spPr>
          <a:xfrm>
            <a:off x="11566428" y="6581668"/>
            <a:ext cx="193030" cy="89611"/>
          </a:xfrm>
          <a:prstGeom prst="rect">
            <a:avLst/>
          </a:prstGeom>
          <a:noFill/>
          <a:ln/>
        </p:spPr>
        <p:txBody>
          <a:bodyPr wrap="none" lIns="0" tIns="0" rIns="0" bIns="0" rtlCol="0" anchor="t"/>
          <a:lstStyle/>
          <a:p>
            <a:pPr algn="ctr" indent="0" marL="0">
              <a:lnSpc>
                <a:spcPts val="706"/>
              </a:lnSpc>
              <a:buNone/>
            </a:pPr>
            <a:r>
              <a:rPr kern="0" lang="en-US" sz="578" dirty="0">
                <a:solidFill>
                  <a:srgbClr val="B5AFA4"/>
                </a:solidFill>
                <a:latin typeface="Calibri" pitchFamily="34" charset="0"/>
                <a:ea typeface="Calibri" pitchFamily="34" charset="-122"/>
                <a:cs typeface="Calibri" pitchFamily="34" charset="-120"/>
              </a:rPr>
              <a:t>2025</a:t>
            </a:r>
            <a:endParaRPr lang="en-US" sz="578"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332476" y="301295"/>
            <a:ext cx="462504" cy="304770"/>
          </a:xfrm>
          <a:prstGeom prst="rect">
            <a:avLst/>
          </a:prstGeom>
          <a:noFill/>
          <a:ln/>
        </p:spPr>
        <p:txBody>
          <a:bodyPr wrap="none" lIns="0" tIns="0" rIns="0" bIns="0" rtlCol="0" anchor="t"/>
          <a:lstStyle/>
          <a:p>
            <a:pPr algn="l" indent="0" marL="0">
              <a:lnSpc>
                <a:spcPts val="2400"/>
              </a:lnSpc>
              <a:buNone/>
            </a:pPr>
            <a:r>
              <a:rPr lang="en-US" sz="2400" b="1" spc="-55" kern="0" dirty="0">
                <a:solidFill>
                  <a:srgbClr val="E3DFD6"/>
                </a:solidFill>
                <a:latin typeface="Cambria" pitchFamily="34" charset="0"/>
                <a:ea typeface="Cambria" pitchFamily="34" charset="-122"/>
                <a:cs typeface="Cambria" pitchFamily="34" charset="-120"/>
              </a:rPr>
              <a:t>101</a:t>
            </a:r>
            <a:endParaRPr lang="en-US" sz="2400" dirty="0"/>
          </a:p>
        </p:txBody>
      </p:sp>
      <p:sp>
        <p:nvSpPr>
          <p:cNvPr id="3" name="Shape 1"/>
          <p:cNvSpPr/>
          <p:nvPr/>
        </p:nvSpPr>
        <p:spPr>
          <a:xfrm>
            <a:off x="1357701" y="408737"/>
            <a:ext cx="180137" cy="20757"/>
          </a:xfrm>
          <a:prstGeom prst="rect">
            <a:avLst/>
          </a:prstGeom>
          <a:solidFill>
            <a:srgbClr val="14343F"/>
          </a:solidFill>
          <a:ln/>
        </p:spPr>
      </p:sp>
      <p:sp>
        <p:nvSpPr>
          <p:cNvPr id="4" name="Text 2"/>
          <p:cNvSpPr txBox="1"/>
          <p:nvPr/>
        </p:nvSpPr>
        <p:spPr>
          <a:xfrm>
            <a:off x="1620957" y="362011"/>
            <a:ext cx="760781" cy="114117"/>
          </a:xfrm>
          <a:prstGeom prst="rect">
            <a:avLst/>
          </a:prstGeom>
          <a:noFill/>
          <a:ln/>
        </p:spPr>
        <p:txBody>
          <a:bodyPr wrap="none" lIns="0" tIns="0" rIns="0" bIns="0" rtlCol="0" anchor="t"/>
          <a:lstStyle/>
          <a:p>
            <a:pPr algn="l" indent="0" marL="0">
              <a:lnSpc>
                <a:spcPts val="898"/>
              </a:lnSpc>
              <a:buNone/>
            </a:pPr>
            <a:r>
              <a:rPr lang="en-US" sz="736" b="1" spc="115" kern="0" dirty="0">
                <a:solidFill>
                  <a:srgbClr val="14343F"/>
                </a:solidFill>
                <a:latin typeface="Calibri" pitchFamily="34" charset="0"/>
                <a:ea typeface="Calibri" pitchFamily="34" charset="-122"/>
                <a:cs typeface="Calibri" pitchFamily="34" charset="-120"/>
              </a:rPr>
              <a:t>DEFENCE MAP</a:t>
            </a:r>
            <a:endParaRPr lang="en-US" sz="736" dirty="0"/>
          </a:p>
        </p:txBody>
      </p:sp>
      <p:sp>
        <p:nvSpPr>
          <p:cNvPr id="5" name="Text 3"/>
          <p:cNvSpPr txBox="1"/>
          <p:nvPr/>
        </p:nvSpPr>
        <p:spPr>
          <a:xfrm>
            <a:off x="1357701" y="572597"/>
            <a:ext cx="9445020" cy="344180"/>
          </a:xfrm>
          <a:prstGeom prst="rect">
            <a:avLst/>
          </a:prstGeom>
          <a:noFill/>
          <a:ln/>
        </p:spPr>
        <p:txBody>
          <a:bodyPr wrap="none" lIns="0" tIns="0" rIns="0" bIns="0" rtlCol="0" anchor="t"/>
          <a:lstStyle/>
          <a:p>
            <a:pPr algn="l" indent="0" marL="0">
              <a:lnSpc>
                <a:spcPts val="2710"/>
              </a:lnSpc>
              <a:buNone/>
            </a:pPr>
            <a:r>
              <a:rPr lang="en-US" sz="2509" b="1" spc="-60" kern="0" dirty="0">
                <a:solidFill>
                  <a:srgbClr val="14120F"/>
                </a:solidFill>
                <a:latin typeface="Cambria" pitchFamily="34" charset="0"/>
                <a:ea typeface="Cambria" pitchFamily="34" charset="-122"/>
                <a:cs typeface="Cambria" pitchFamily="34" charset="-120"/>
              </a:rPr>
              <a:t>Where to find the answer to the question you are about to be asked</a:t>
            </a:r>
            <a:endParaRPr lang="en-US" sz="2509" dirty="0"/>
          </a:p>
        </p:txBody>
      </p:sp>
      <p:sp>
        <p:nvSpPr>
          <p:cNvPr id="6" name="Text 4"/>
          <p:cNvSpPr txBox="1"/>
          <p:nvPr/>
        </p:nvSpPr>
        <p:spPr>
          <a:xfrm>
            <a:off x="1357701" y="1029889"/>
            <a:ext cx="5371734" cy="415595"/>
          </a:xfrm>
          <a:prstGeom prst="rect">
            <a:avLst/>
          </a:prstGeom>
          <a:noFill/>
          <a:ln/>
        </p:spPr>
        <p:txBody>
          <a:bodyPr wrap="square" lIns="0" tIns="0" rIns="0" bIns="0" rtlCol="0" anchor="t"/>
          <a:lstStyle/>
          <a:p>
            <a:pPr algn="l" indent="0" marL="0">
              <a:lnSpc>
                <a:spcPts val="1636"/>
              </a:lnSpc>
              <a:buNone/>
            </a:pPr>
            <a:r>
              <a:rPr kern="0" lang="en-US" sz="1091" dirty="0">
                <a:solidFill>
                  <a:srgbClr val="5A554D"/>
                </a:solidFill>
                <a:latin typeface="Calibri" pitchFamily="34" charset="0"/>
                <a:ea typeface="Calibri" pitchFamily="34" charset="-122"/>
                <a:cs typeface="Calibri" pitchFamily="34" charset="-120"/>
              </a:rPr>
              <a:t>The deck is indexed by likely question rather than by topic, because that is how it will be interrogated.</a:t>
            </a:r>
            <a:endParaRPr lang="en-US" sz="1091"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1357701" y="1639428"/>
          <a:ext cx="9144000" cy="914400"/>
        </p:xfrm>
        <a:graphic>
          <a:graphicData uri="http://schemas.openxmlformats.org/drawingml/2006/table">
            <a:tbl>
              <a:tblPr/>
              <a:tblGrid>
                <a:gridCol w="3106765"/>
                <a:gridCol w="554126"/>
                <a:gridCol w="6674297"/>
              </a:tblGrid>
              <a:tr h="228600">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IF THEY ASK…</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GO TO</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c>
                  <a:txBody>
                    <a:bodyPr/>
                    <a:lstStyle/>
                    <a:p>
                      <a:pPr algn="l" indent="0" marL="0">
                        <a:lnSpc>
                          <a:spcPts val="832"/>
                        </a:lnSpc>
                        <a:buNone/>
                      </a:pPr>
                      <a:r>
                        <a:rPr lang="en-US" sz="682" b="1" spc="82" kern="0" dirty="0">
                          <a:solidFill>
                            <a:srgbClr val="14120F"/>
                          </a:solidFill>
                          <a:latin typeface="Calibri" pitchFamily="34" charset="0"/>
                          <a:ea typeface="Calibri" pitchFamily="34" charset="-122"/>
                          <a:cs typeface="Calibri" pitchFamily="34" charset="-120"/>
                        </a:rPr>
                        <a:t>THE ONE-LINE ANSWER</a:t>
                      </a:r>
                      <a:endParaRPr lang="en-US" sz="1100" dirty="0">
                        <a:latin typeface="Calibri" charset="0"/>
                        <a:ea typeface="Calibri" charset="0"/>
                        <a:cs typeface="Calibri" charset="0"/>
                      </a:endParaRPr>
                    </a:p>
                  </a:txBody>
                  <a:tcPr marL="83125" marR="83125" marT="48490" marB="69271" anchor="b">
                    <a:lnL w="0" cap="flat" cmpd="sng" algn="ctr">
                      <a:noFill/>
                    </a:lnL>
                    <a:lnR w="0" cap="flat" cmpd="sng" algn="ctr">
                      <a:noFill/>
                    </a:lnR>
                    <a:lnT w="0" cap="flat" cmpd="sng" algn="ctr">
                      <a:noFill/>
                    </a:lnT>
                    <a:lnB w="13854" cap="flat" cmpd="sng" algn="ctr">
                      <a:solidFill>
                        <a:srgbClr val="14343F"/>
                      </a:solidFill>
                      <a:prstDash val="solid"/>
                      <a:round/>
                      <a:headEnd type="none" w="med" len="med"/>
                      <a:tailEnd type="none" w="med" len="med"/>
                    </a:lnB>
                  </a:tcPr>
                </a:tc>
              </a:tr>
              <a:tr h="287487">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Why is 0.6 dB a big deal?</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10, 37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Practical ceiling over BM3D is 0.3 dB; theoretical bound 0.7 dB.</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Why residual learning?</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y is closer to x than to v, so F(y) would approximate an identity — the hard point in parameter space.</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Why do RL and BN need each other?</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RL makes layer inputs Gaussian-like and content-independent, which is what BN's batch statistics require.</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Why depth 17?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RF (2d+1)² set to 35×35 to match EPLL, the smallest effective patch size in the field.</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Where does DnCNN lose, and why?</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38, 51</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Barbara, −0.71 dB. Repetitive structure meets a non-local prior a 35×35 field cannot reach.</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How can noisy targets work?</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L2 learns the conditional mean; the mean of a zero-mean corrupted target is the clean target.</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Why does the blind spot not learn identity?</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Neighbours carry no information about a pixel's own noise, given conditional pixel-wise independence.</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Where is Restormer's attention linear?</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69</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810" dirty="0">
                          <a:solidFill>
                            <a:srgbClr val="145A66"/>
                          </a:solidFill>
                          <a:latin typeface="Consolas" pitchFamily="34" charset="0"/>
                          <a:ea typeface="Consolas" pitchFamily="34" charset="-122"/>
                          <a:cs typeface="Consolas" pitchFamily="34" charset="-120"/>
                        </a:rPr>
                        <a:t>restormer_arch.py</a:t>
                      </a:r>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 </a:t>
                      </a:r>
                      <a:pPr algn="l" indent="0" marL="0">
                        <a:lnSpc>
                          <a:spcPts val="1098"/>
                        </a:lnSpc>
                        <a:buNone/>
                      </a:pPr>
                      <a:r>
                        <a:rPr kern="0" lang="en-US" sz="810" dirty="0">
                          <a:solidFill>
                            <a:srgbClr val="145A66"/>
                          </a:solidFill>
                          <a:latin typeface="Consolas" pitchFamily="34" charset="0"/>
                          <a:ea typeface="Consolas" pitchFamily="34" charset="-122"/>
                          <a:cs typeface="Consolas" pitchFamily="34" charset="-120"/>
                        </a:rPr>
                        <a:t>Attention.forward</a:t>
                      </a:r>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 — the </a:t>
                      </a:r>
                      <a:pPr algn="l" indent="0" marL="0">
                        <a:lnSpc>
                          <a:spcPts val="1098"/>
                        </a:lnSpc>
                        <a:buNone/>
                      </a:pPr>
                      <a:r>
                        <a:rPr kern="0" lang="en-US" sz="810" dirty="0">
                          <a:solidFill>
                            <a:srgbClr val="145A66"/>
                          </a:solidFill>
                          <a:latin typeface="Consolas" pitchFamily="34" charset="0"/>
                          <a:ea typeface="Consolas" pitchFamily="34" charset="-122"/>
                          <a:cs typeface="Consolas" pitchFamily="34" charset="-120"/>
                        </a:rPr>
                        <a:t>rearrange</a:t>
                      </a:r>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 puts pixels last, so q @ k.transpose(-2,-1) is C×C.</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Why is NAFNet faster with more parameters?</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77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1×1 and depth-wise convolutions hit optimised GEMM paths; </a:t>
                      </a:r>
                      <a:pPr algn="l" indent="0" marL="0">
                        <a:lnSpc>
                          <a:spcPts val="1098"/>
                        </a:lnSpc>
                        <a:buNone/>
                      </a:pPr>
                      <a:r>
                        <a:rPr kern="0" lang="en-US" sz="810" dirty="0">
                          <a:solidFill>
                            <a:srgbClr val="145A66"/>
                          </a:solidFill>
                          <a:latin typeface="Consolas" pitchFamily="34" charset="0"/>
                          <a:ea typeface="Consolas" pitchFamily="34" charset="-122"/>
                          <a:cs typeface="Consolas" pitchFamily="34" charset="-120"/>
                        </a:rPr>
                        <a:t>rearrange</a:t>
                      </a:r>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 forces layout changes.</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What did the code tell you that the papers did not?</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75, 77</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Padding differs 8×; SPI cuts parameters and triples latency; MambaIR needs CUDA to import.</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Which model would you deploy?</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89</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Name the constraint first. Five constraints, five different answers, all current.</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r h="284013">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What is still unsolved?</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87, 88</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c>
                  <a:txBody>
                    <a:bodyPr/>
                    <a:lstStyle/>
                    <a:p>
                      <a:pPr algn="l" indent="0" marL="0">
                        <a:lnSpc>
                          <a:spcPts val="1098"/>
                        </a:lnSpc>
                        <a:buNone/>
                      </a:pPr>
                      <a:r>
                        <a:rPr kern="0" lang="en-US" sz="900" dirty="0">
                          <a:solidFill>
                            <a:srgbClr val="33302B"/>
                          </a:solidFill>
                          <a:latin typeface="Calibri" pitchFamily="34" charset="0"/>
                          <a:ea typeface="Calibri" pitchFamily="34" charset="-122"/>
                          <a:cs typeface="Calibri" pitchFamily="34" charset="-120"/>
                        </a:rPr>
                        <a:t>Blind real denoising, perception–distortion, and an agreed cost metric.</a:t>
                      </a:r>
                      <a:endParaRPr lang="en-US" sz="1100" dirty="0">
                        <a:latin typeface="Calibri" charset="0"/>
                        <a:ea typeface="Calibri" charset="0"/>
                        <a:cs typeface="Calibri" charset="0"/>
                      </a:endParaRPr>
                    </a:p>
                  </a:txBody>
                  <a:tcPr marL="83125" marR="83125" marT="69271" marB="69271" anchor="ctr">
                    <a:lnL w="0" cap="flat" cmpd="sng" algn="ctr">
                      <a:noFill/>
                    </a:lnL>
                    <a:lnR w="0" cap="flat" cmpd="sng" algn="ctr">
                      <a:noFill/>
                    </a:lnR>
                    <a:lnT w="0" cap="flat" cmpd="sng" algn="ctr">
                      <a:noFill/>
                    </a:lnT>
                    <a:lnB w="6927" cap="flat" cmpd="sng" algn="ctr">
                      <a:solidFill>
                        <a:srgbClr val="DFDBD2"/>
                      </a:solidFill>
                      <a:prstDash val="solid"/>
                      <a:round/>
                      <a:headEnd type="none" w="med" len="med"/>
                      <a:tailEnd type="none" w="med" len="med"/>
                    </a:lnB>
                  </a:tcPr>
                </a:tc>
              </a:tr>
            </a:tbl>
          </a:graphicData>
        </a:graphic>
      </p:graphicFrame>
      <p:sp>
        <p:nvSpPr>
          <p:cNvPr id="8" name="Shape 5"/>
          <p:cNvSpPr/>
          <p:nvPr/>
        </p:nvSpPr>
        <p:spPr>
          <a:xfrm>
            <a:off x="1357701" y="5477073"/>
            <a:ext cx="10335189" cy="13899"/>
          </a:xfrm>
          <a:prstGeom prst="rect">
            <a:avLst/>
          </a:prstGeom>
          <a:solidFill>
            <a:srgbClr val="14343F"/>
          </a:solidFill>
          <a:ln/>
        </p:spPr>
      </p:sp>
      <p:sp>
        <p:nvSpPr>
          <p:cNvPr id="9" name="Text 6"/>
          <p:cNvSpPr txBox="1"/>
          <p:nvPr/>
        </p:nvSpPr>
        <p:spPr>
          <a:xfrm>
            <a:off x="1357701" y="5600060"/>
            <a:ext cx="10182210" cy="176662"/>
          </a:xfrm>
          <a:prstGeom prst="rect">
            <a:avLst/>
          </a:prstGeom>
          <a:noFill/>
          <a:ln/>
        </p:spPr>
        <p:txBody>
          <a:bodyPr wrap="none" lIns="0" tIns="0" rIns="0" bIns="0" rtlCol="0" anchor="t"/>
          <a:lstStyle/>
          <a:p>
            <a:pPr algn="l" indent="0" marL="0">
              <a:lnSpc>
                <a:spcPts val="1391"/>
              </a:lnSpc>
              <a:buNone/>
            </a:pPr>
            <a:r>
              <a:rPr kern="0" lang="en-US" sz="927" b="1" dirty="0">
                <a:solidFill>
                  <a:srgbClr val="14120F"/>
                </a:solidFill>
                <a:latin typeface="Calibri" pitchFamily="34" charset="0"/>
                <a:ea typeface="Calibri" pitchFamily="34" charset="-122"/>
                <a:cs typeface="Calibri" pitchFamily="34" charset="-120"/>
              </a:rPr>
              <a:t>The rule for the defence.</a:t>
            </a:r>
            <a:pPr algn="l" indent="0" marL="0">
              <a:lnSpc>
                <a:spcPts val="1391"/>
              </a:lnSpc>
              <a:buNone/>
            </a:pPr>
            <a:r>
              <a:rPr kern="0" lang="en-US" sz="927" dirty="0">
                <a:solidFill>
                  <a:srgbClr val="33302B"/>
                </a:solidFill>
                <a:latin typeface="Calibri" pitchFamily="34" charset="0"/>
                <a:ea typeface="Calibri" pitchFamily="34" charset="-122"/>
                <a:cs typeface="Calibri" pitchFamily="34" charset="-120"/>
              </a:rPr>
              <a:t> Do not put anything on a slide you cannot personally explain. Every slide in this deck was built to be answered from, and the notes field of every slide carries the answer it expects.</a:t>
            </a:r>
            <a:endParaRPr lang="en-US" sz="927" dirty="0"/>
          </a:p>
        </p:txBody>
      </p:sp>
      <p:sp>
        <p:nvSpPr>
          <p:cNvPr id="10" name="Text 7"/>
          <p:cNvSpPr txBox="1"/>
          <p:nvPr/>
        </p:nvSpPr>
        <p:spPr>
          <a:xfrm>
            <a:off x="11371570" y="6307623"/>
            <a:ext cx="321320" cy="109819"/>
          </a:xfrm>
          <a:prstGeom prst="rect">
            <a:avLst/>
          </a:prstGeom>
          <a:noFill/>
          <a:ln/>
        </p:spPr>
        <p:txBody>
          <a:bodyPr wrap="none" lIns="0" tIns="0" rIns="0" bIns="0" rtlCol="0" anchor="t"/>
          <a:lstStyle/>
          <a:p>
            <a:pPr algn="r" indent="0" marL="0">
              <a:lnSpc>
                <a:spcPts val="865"/>
              </a:lnSpc>
              <a:buNone/>
            </a:pPr>
            <a:r>
              <a:rPr kern="0" lang="en-US" sz="709" i="1" dirty="0">
                <a:solidFill>
                  <a:srgbClr val="8A847A"/>
                </a:solidFill>
                <a:latin typeface="Calibri" pitchFamily="34" charset="0"/>
                <a:ea typeface="Calibri" pitchFamily="34" charset="-122"/>
                <a:cs typeface="Calibri" pitchFamily="34" charset="-120"/>
              </a:rPr>
              <a:t>reading</a:t>
            </a:r>
            <a:endParaRPr lang="en-US" sz="709" dirty="0"/>
          </a:p>
        </p:txBody>
      </p:sp>
      <p:sp>
        <p:nvSpPr>
          <p:cNvPr id="11" name="Shape 8"/>
          <p:cNvSpPr/>
          <p:nvPr/>
        </p:nvSpPr>
        <p:spPr>
          <a:xfrm>
            <a:off x="1357701" y="6573804"/>
            <a:ext cx="10335189" cy="6949"/>
          </a:xfrm>
          <a:prstGeom prst="rect">
            <a:avLst/>
          </a:prstGeom>
          <a:solidFill>
            <a:srgbClr val="C9C4B9"/>
          </a:solidFill>
          <a:ln/>
        </p:spPr>
      </p:sp>
      <p:sp>
        <p:nvSpPr>
          <p:cNvPr id="12" name="Shape 9"/>
          <p:cNvSpPr/>
          <p:nvPr/>
        </p:nvSpPr>
        <p:spPr>
          <a:xfrm>
            <a:off x="1357701" y="6539149"/>
            <a:ext cx="6949" cy="34656"/>
          </a:xfrm>
          <a:prstGeom prst="rect">
            <a:avLst/>
          </a:prstGeom>
          <a:solidFill>
            <a:srgbClr val="C9C4B9"/>
          </a:solidFill>
          <a:ln/>
        </p:spPr>
      </p:sp>
      <p:sp>
        <p:nvSpPr>
          <p:cNvPr id="13" name="Text 10"/>
          <p:cNvSpPr txBox="1"/>
          <p:nvPr/>
        </p:nvSpPr>
        <p:spPr>
          <a:xfrm>
            <a:off x="1266718"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2007</a:t>
            </a:r>
            <a:endParaRPr lang="en-US" sz="545" dirty="0"/>
          </a:p>
        </p:txBody>
      </p:sp>
      <p:sp>
        <p:nvSpPr>
          <p:cNvPr id="14" name="Shape 11"/>
          <p:cNvSpPr/>
          <p:nvPr/>
        </p:nvSpPr>
        <p:spPr>
          <a:xfrm>
            <a:off x="5377038" y="6539149"/>
            <a:ext cx="6949" cy="34656"/>
          </a:xfrm>
          <a:prstGeom prst="rect">
            <a:avLst/>
          </a:prstGeom>
          <a:solidFill>
            <a:srgbClr val="C9C4B9"/>
          </a:solidFill>
          <a:ln/>
        </p:spPr>
      </p:sp>
      <p:sp>
        <p:nvSpPr>
          <p:cNvPr id="15" name="Text 12"/>
          <p:cNvSpPr txBox="1"/>
          <p:nvPr/>
        </p:nvSpPr>
        <p:spPr>
          <a:xfrm>
            <a:off x="528605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2014</a:t>
            </a:r>
            <a:endParaRPr lang="en-US" sz="545" dirty="0"/>
          </a:p>
        </p:txBody>
      </p:sp>
      <p:sp>
        <p:nvSpPr>
          <p:cNvPr id="16" name="Shape 13"/>
          <p:cNvSpPr/>
          <p:nvPr/>
        </p:nvSpPr>
        <p:spPr>
          <a:xfrm>
            <a:off x="7099950" y="6539149"/>
            <a:ext cx="6949" cy="34656"/>
          </a:xfrm>
          <a:prstGeom prst="rect">
            <a:avLst/>
          </a:prstGeom>
          <a:solidFill>
            <a:srgbClr val="C9C4B9"/>
          </a:solidFill>
          <a:ln/>
        </p:spPr>
      </p:sp>
      <p:sp>
        <p:nvSpPr>
          <p:cNvPr id="17" name="Text 14"/>
          <p:cNvSpPr txBox="1"/>
          <p:nvPr/>
        </p:nvSpPr>
        <p:spPr>
          <a:xfrm>
            <a:off x="700896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2017</a:t>
            </a:r>
            <a:endParaRPr lang="en-US" sz="545" dirty="0"/>
          </a:p>
        </p:txBody>
      </p:sp>
      <p:sp>
        <p:nvSpPr>
          <p:cNvPr id="18" name="Shape 15"/>
          <p:cNvSpPr/>
          <p:nvPr/>
        </p:nvSpPr>
        <p:spPr>
          <a:xfrm>
            <a:off x="9970069" y="6539149"/>
            <a:ext cx="6949" cy="34656"/>
          </a:xfrm>
          <a:prstGeom prst="rect">
            <a:avLst/>
          </a:prstGeom>
          <a:solidFill>
            <a:srgbClr val="C9C4B9"/>
          </a:solidFill>
          <a:ln/>
        </p:spPr>
      </p:sp>
      <p:sp>
        <p:nvSpPr>
          <p:cNvPr id="19" name="Text 16"/>
          <p:cNvSpPr txBox="1"/>
          <p:nvPr/>
        </p:nvSpPr>
        <p:spPr>
          <a:xfrm>
            <a:off x="9878995"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2022</a:t>
            </a:r>
            <a:endParaRPr lang="en-US" sz="545" dirty="0"/>
          </a:p>
        </p:txBody>
      </p:sp>
      <p:sp>
        <p:nvSpPr>
          <p:cNvPr id="20" name="Shape 17"/>
          <p:cNvSpPr/>
          <p:nvPr/>
        </p:nvSpPr>
        <p:spPr>
          <a:xfrm>
            <a:off x="11692981" y="6539149"/>
            <a:ext cx="6949" cy="34656"/>
          </a:xfrm>
          <a:prstGeom prst="rect">
            <a:avLst/>
          </a:prstGeom>
          <a:solidFill>
            <a:srgbClr val="C9C4B9"/>
          </a:solidFill>
          <a:ln/>
        </p:spPr>
      </p:sp>
      <p:sp>
        <p:nvSpPr>
          <p:cNvPr id="21" name="Text 18"/>
          <p:cNvSpPr txBox="1"/>
          <p:nvPr/>
        </p:nvSpPr>
        <p:spPr>
          <a:xfrm>
            <a:off x="11601907" y="6597396"/>
            <a:ext cx="182057" cy="84491"/>
          </a:xfrm>
          <a:prstGeom prst="rect">
            <a:avLst/>
          </a:prstGeom>
          <a:noFill/>
          <a:ln/>
        </p:spPr>
        <p:txBody>
          <a:bodyPr wrap="none" lIns="0" tIns="0" rIns="0" bIns="0" rtlCol="0" anchor="t"/>
          <a:lstStyle/>
          <a:p>
            <a:pPr algn="ctr" indent="0" marL="0">
              <a:lnSpc>
                <a:spcPts val="665"/>
              </a:lnSpc>
              <a:buNone/>
            </a:pPr>
            <a:r>
              <a:rPr kern="0" lang="en-US" sz="545" dirty="0">
                <a:solidFill>
                  <a:srgbClr val="B5AFA4"/>
                </a:solidFill>
                <a:latin typeface="Calibri" pitchFamily="34" charset="0"/>
                <a:ea typeface="Calibri" pitchFamily="34" charset="-122"/>
                <a:cs typeface="Calibri" pitchFamily="34" charset="-120"/>
              </a:rPr>
              <a:t>2025</a:t>
            </a:r>
            <a:endParaRPr lang="en-US" sz="54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117</Slides>
  <Notes>117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117</vt:i4>
      </vt:variant>
    </vt:vector>
  </HeadingPairs>
  <TitlesOfParts>
    <vt:vector size="1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Denoising — From Foundations to State-of-the-Art · Stage 3 Master Deck</dc:title>
  <dc:subject>PptxGenJS Presentation</dc:subject>
  <dc:creator>PptxGenJS</dc:creator>
  <cp:lastModifiedBy>PptxGenJS</cp:lastModifiedBy>
  <cp:revision>1</cp:revision>
  <dcterms:created xsi:type="dcterms:W3CDTF">2026-09-18T18:21:41Z</dcterms:created>
  <dcterms:modified xsi:type="dcterms:W3CDTF">2026-09-18T18:21:41Z</dcterms:modified>
</cp:coreProperties>
</file>