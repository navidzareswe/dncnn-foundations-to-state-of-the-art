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notesMasterIdLst>
    <p:notesMasterId r:id="rId4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image" Target="../media/image-38-3.png"/><Relationship Id="rId4" Type="http://schemas.openxmlformats.org/officeDocument/2006/relationships/image" Target="../media/image-38-4.png"/><Relationship Id="rId5" Type="http://schemas.openxmlformats.org/officeDocument/2006/relationships/image" Target="../media/image-38-5.png"/><Relationship Id="rId6" Type="http://schemas.openxmlformats.org/officeDocument/2006/relationships/image" Target="../media/image-38-6.png"/><Relationship Id="rId7" Type="http://schemas.openxmlformats.org/officeDocument/2006/relationships/image" Target="../media/image-38-7.png"/><Relationship Id="rId8" Type="http://schemas.openxmlformats.org/officeDocument/2006/relationships/image" Target="../media/image-38-8.png"/><Relationship Id="rId9" Type="http://schemas.openxmlformats.org/officeDocument/2006/relationships/image" Target="../media/image-38-9.png"/><Relationship Id="rId10" Type="http://schemas.openxmlformats.org/officeDocument/2006/relationships/image" Target="../media/image-38-10.png"/><Relationship Id="rId11" Type="http://schemas.openxmlformats.org/officeDocument/2006/relationships/image" Target="../media/image-38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8650" y="528638"/>
            <a:ext cx="85153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108" kern="0" dirty="0">
                <a:solidFill>
                  <a:srgbClr val="B34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DIGITAL IMAGE PROCESSING · FINAL PROJECT · STAGE 3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28650" y="1128713"/>
            <a:ext cx="485775" cy="35719"/>
          </a:xfrm>
          <a:prstGeom prst="roundRect">
            <a:avLst>
              <a:gd name="adj" fmla="val 66666"/>
            </a:avLst>
          </a:prstGeom>
          <a:solidFill>
            <a:srgbClr val="B345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28650" y="1378744"/>
            <a:ext cx="8515350" cy="1117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75"/>
              </a:lnSpc>
              <a:buNone/>
            </a:pPr>
            <a:r>
              <a:rPr lang="en-US" sz="3881" b="1" spc="-85" kern="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Image Denoising:</a:t>
            </a:r>
            <a:endParaRPr lang="en-US" sz="3881" dirty="0"/>
          </a:p>
          <a:p>
            <a:pPr algn="l" indent="0" marL="0">
              <a:lnSpc>
                <a:spcPts val="4075"/>
              </a:lnSpc>
              <a:buNone/>
            </a:pPr>
            <a:r>
              <a:rPr lang="en-US" sz="3881" b="1" spc="-85" kern="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How the Field Actually Evolved</a:t>
            </a:r>
            <a:endParaRPr lang="en-US" sz="3881" dirty="0"/>
          </a:p>
        </p:txBody>
      </p:sp>
      <p:sp>
        <p:nvSpPr>
          <p:cNvPr id="5" name="Text 3"/>
          <p:cNvSpPr/>
          <p:nvPr/>
        </p:nvSpPr>
        <p:spPr>
          <a:xfrm>
            <a:off x="628650" y="2599432"/>
            <a:ext cx="6286500" cy="44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13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Not ten papers in order. One technical story: what each method could not do, what the next one changed, and which line of code changed to do it.</a:t>
            </a:r>
            <a:endParaRPr lang="en-US" sz="1013" dirty="0"/>
          </a:p>
        </p:txBody>
      </p:sp>
      <p:sp>
        <p:nvSpPr>
          <p:cNvPr id="6" name="Shape 4"/>
          <p:cNvSpPr/>
          <p:nvPr/>
        </p:nvSpPr>
        <p:spPr>
          <a:xfrm>
            <a:off x="628650" y="3927053"/>
            <a:ext cx="7886700" cy="0"/>
          </a:xfrm>
          <a:prstGeom prst="line">
            <a:avLst/>
          </a:prstGeom>
          <a:noFill/>
          <a:ln w="7144">
            <a:solidFill>
              <a:srgbClr val="DDD5C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8650" y="4116363"/>
            <a:ext cx="2349097" cy="1422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06" kern="0" dirty="0">
                <a:solidFill>
                  <a:srgbClr val="B34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QUESTION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28650" y="4286027"/>
            <a:ext cx="1800225" cy="300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3"/>
              </a:lnSpc>
              <a:buNone/>
            </a:pPr>
            <a:r>
              <a:rPr lang="en-US" sz="816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did each innovation have to be invented?</a:t>
            </a:r>
            <a:endParaRPr lang="en-US" sz="816" dirty="0"/>
          </a:p>
        </p:txBody>
      </p:sp>
      <p:sp>
        <p:nvSpPr>
          <p:cNvPr id="9" name="Shape 7"/>
          <p:cNvSpPr/>
          <p:nvPr/>
        </p:nvSpPr>
        <p:spPr>
          <a:xfrm>
            <a:off x="2618184" y="4116363"/>
            <a:ext cx="0" cy="469925"/>
          </a:xfrm>
          <a:prstGeom prst="line">
            <a:avLst/>
          </a:prstGeom>
          <a:noFill/>
          <a:ln w="7144">
            <a:solidFill>
              <a:srgbClr val="DDD5C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07494" y="4116363"/>
            <a:ext cx="1735931" cy="1422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06" kern="0" dirty="0">
                <a:solidFill>
                  <a:srgbClr val="B34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ANCHOR PAPER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807494" y="4286027"/>
            <a:ext cx="1735931" cy="300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3"/>
              </a:lnSpc>
              <a:buNone/>
            </a:pPr>
            <a:r>
              <a:rPr lang="en-US" sz="816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DnCNN — Zhang et al. IEEE TIP 26(7), 2017</a:t>
            </a:r>
            <a:endParaRPr lang="en-US" sz="816" dirty="0"/>
          </a:p>
        </p:txBody>
      </p:sp>
      <p:sp>
        <p:nvSpPr>
          <p:cNvPr id="12" name="Shape 10"/>
          <p:cNvSpPr/>
          <p:nvPr/>
        </p:nvSpPr>
        <p:spPr>
          <a:xfrm>
            <a:off x="4732734" y="4116363"/>
            <a:ext cx="0" cy="469925"/>
          </a:xfrm>
          <a:prstGeom prst="line">
            <a:avLst/>
          </a:prstGeom>
          <a:noFill/>
          <a:ln w="7144">
            <a:solidFill>
              <a:srgbClr val="DDD5C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22044" y="4116363"/>
            <a:ext cx="1687711" cy="1422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06" kern="0" dirty="0">
                <a:solidFill>
                  <a:srgbClr val="B34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PRESENTERS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922044" y="4286027"/>
            <a:ext cx="1687711" cy="300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3"/>
              </a:lnSpc>
              <a:buNone/>
            </a:pPr>
            <a:r>
              <a:rPr lang="en-US" sz="816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Navid Zare · Ali Ahmadi · Komeil Khodayar</a:t>
            </a:r>
            <a:endParaRPr lang="en-US" sz="816" dirty="0"/>
          </a:p>
        </p:txBody>
      </p:sp>
      <p:sp>
        <p:nvSpPr>
          <p:cNvPr id="15" name="Shape 13"/>
          <p:cNvSpPr/>
          <p:nvPr/>
        </p:nvSpPr>
        <p:spPr>
          <a:xfrm>
            <a:off x="6799064" y="4116363"/>
            <a:ext cx="0" cy="469925"/>
          </a:xfrm>
          <a:prstGeom prst="line">
            <a:avLst/>
          </a:prstGeom>
          <a:noFill/>
          <a:ln w="7144">
            <a:solidFill>
              <a:srgbClr val="DDD5C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88373" y="4116363"/>
            <a:ext cx="1526977" cy="1422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06" kern="0" dirty="0">
                <a:solidFill>
                  <a:srgbClr val="B34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REFERENCE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988373" y="4286027"/>
            <a:ext cx="1618417" cy="300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3"/>
              </a:lnSpc>
              <a:buNone/>
            </a:pPr>
            <a:r>
              <a:rPr lang="en-US" sz="816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100-slide master deck, submitted separately</a:t>
            </a:r>
            <a:endParaRPr lang="en-US" sz="816" dirty="0"/>
          </a:p>
        </p:txBody>
      </p:sp>
      <p:sp>
        <p:nvSpPr>
          <p:cNvPr id="18" name="Text 16"/>
          <p:cNvSpPr/>
          <p:nvPr/>
        </p:nvSpPr>
        <p:spPr>
          <a:xfrm>
            <a:off x="7022083" y="4834533"/>
            <a:ext cx="16127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647" i="1" dirty="0">
                <a:solidFill>
                  <a:srgbClr val="8A827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brief §3 · full evidence in the master deck</a:t>
            </a:r>
            <a:endParaRPr lang="en-US" sz="647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5738" y="114300"/>
            <a:ext cx="530602" cy="462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250" spc="-45" kern="0" dirty="0">
                <a:solidFill>
                  <a:srgbClr val="1C1917">
                    <a:alpha val="1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457200" y="371475"/>
            <a:ext cx="863600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B34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SHAPE OF THIS TALK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60784"/>
            <a:ext cx="8636000" cy="26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3"/>
              </a:lnSpc>
              <a:buNone/>
            </a:pPr>
            <a:r>
              <a:rPr lang="en-US" sz="1744" b="1" spc="-26" kern="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Four questions we will ask about every method</a:t>
            </a:r>
            <a:endParaRPr lang="en-US" sz="1744" dirty="0"/>
          </a:p>
        </p:txBody>
      </p:sp>
      <p:sp>
        <p:nvSpPr>
          <p:cNvPr id="5" name="Text 3"/>
          <p:cNvSpPr/>
          <p:nvPr/>
        </p:nvSpPr>
        <p:spPr>
          <a:xfrm>
            <a:off x="457200" y="865956"/>
            <a:ext cx="7715250" cy="358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Each algorithm gets the same four-part treatment, so the comparison between them is structural rather than anecdotal. The methods that were state of the art get a fifth.</a:t>
            </a:r>
            <a:endParaRPr lang="en-US" sz="872" dirty="0"/>
          </a:p>
        </p:txBody>
      </p:sp>
      <p:sp>
        <p:nvSpPr>
          <p:cNvPr id="6" name="Text 4"/>
          <p:cNvSpPr/>
          <p:nvPr/>
        </p:nvSpPr>
        <p:spPr>
          <a:xfrm>
            <a:off x="460772" y="1330300"/>
            <a:ext cx="4054078" cy="892411"/>
          </a:xfrm>
          <a:prstGeom prst="roundRect">
            <a:avLst>
              <a:gd name="adj" fmla="val 10673"/>
            </a:avLst>
          </a:prstGeom>
          <a:solidFill>
            <a:srgbClr val="FFFDF7"/>
          </a:solidFill>
          <a:ln w="7144">
            <a:solidFill>
              <a:srgbClr val="DDD5C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7219" y="1462460"/>
            <a:ext cx="212705" cy="628092"/>
          </a:xfrm>
          <a:prstGeom prst="rect">
            <a:avLst/>
          </a:prstGeom>
          <a:noFill/>
          <a:ln/>
        </p:spPr>
        <p:txBody>
          <a:bodyPr wrap="none" lIns="0" tIns="21431" rIns="0" bIns="0" rtlCol="0" anchor="t"/>
          <a:lstStyle/>
          <a:p>
            <a:pPr algn="l" indent="0" marL="0">
              <a:lnSpc>
                <a:spcPts val="1744"/>
              </a:lnSpc>
              <a:buNone/>
            </a:pPr>
            <a:r>
              <a:rPr lang="en-US" sz="1744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1744" dirty="0"/>
          </a:p>
        </p:txBody>
      </p:sp>
      <p:sp>
        <p:nvSpPr>
          <p:cNvPr id="8" name="Text 6"/>
          <p:cNvSpPr/>
          <p:nvPr/>
        </p:nvSpPr>
        <p:spPr>
          <a:xfrm>
            <a:off x="868747" y="1462460"/>
            <a:ext cx="3609384" cy="165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7"/>
              </a:lnSpc>
              <a:buNone/>
            </a:pPr>
            <a:r>
              <a:rPr lang="en-US" sz="928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could the previous method not do?</a:t>
            </a:r>
            <a:endParaRPr lang="en-US" sz="928" dirty="0"/>
          </a:p>
        </p:txBody>
      </p:sp>
      <p:sp>
        <p:nvSpPr>
          <p:cNvPr id="9" name="Text 7"/>
          <p:cNvSpPr/>
          <p:nvPr/>
        </p:nvSpPr>
        <p:spPr>
          <a:xfrm>
            <a:off x="868747" y="1665610"/>
            <a:ext cx="3499656" cy="424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Every innovation in this field was a response to a named, measured failure — usually named by the paper that fixed it, which is what makes this timeline evidenced rather than imposed.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629150" y="1330300"/>
            <a:ext cx="4054078" cy="892411"/>
          </a:xfrm>
          <a:prstGeom prst="roundRect">
            <a:avLst>
              <a:gd name="adj" fmla="val 10673"/>
            </a:avLst>
          </a:prstGeom>
          <a:solidFill>
            <a:srgbClr val="FFFDF7"/>
          </a:solidFill>
          <a:ln w="7144">
            <a:solidFill>
              <a:srgbClr val="DDD5C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775597" y="1462460"/>
            <a:ext cx="212705" cy="628092"/>
          </a:xfrm>
          <a:prstGeom prst="rect">
            <a:avLst/>
          </a:prstGeom>
          <a:noFill/>
          <a:ln/>
        </p:spPr>
        <p:txBody>
          <a:bodyPr wrap="none" lIns="0" tIns="21431" rIns="0" bIns="0" rtlCol="0" anchor="t"/>
          <a:lstStyle/>
          <a:p>
            <a:pPr algn="l" indent="0" marL="0">
              <a:lnSpc>
                <a:spcPts val="1744"/>
              </a:lnSpc>
              <a:buNone/>
            </a:pPr>
            <a:r>
              <a:rPr lang="en-US" sz="1744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1744" dirty="0"/>
          </a:p>
        </p:txBody>
      </p:sp>
      <p:sp>
        <p:nvSpPr>
          <p:cNvPr id="12" name="Text 10"/>
          <p:cNvSpPr/>
          <p:nvPr/>
        </p:nvSpPr>
        <p:spPr>
          <a:xfrm>
            <a:off x="5037125" y="1462460"/>
            <a:ext cx="3609384" cy="165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7"/>
              </a:lnSpc>
              <a:buNone/>
            </a:pPr>
            <a:r>
              <a:rPr lang="en-US" sz="928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changed technically?</a:t>
            </a:r>
            <a:endParaRPr lang="en-US" sz="928" dirty="0"/>
          </a:p>
        </p:txBody>
      </p:sp>
      <p:sp>
        <p:nvSpPr>
          <p:cNvPr id="13" name="Text 11"/>
          <p:cNvSpPr/>
          <p:nvPr/>
        </p:nvSpPr>
        <p:spPr>
          <a:xfrm>
            <a:off x="5037125" y="1665610"/>
            <a:ext cx="3499656" cy="339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algorithmic change: a different prior, a different training target, a different operator. Stated precisely enough that you could implement it.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60772" y="2337011"/>
            <a:ext cx="4054078" cy="750763"/>
          </a:xfrm>
          <a:prstGeom prst="roundRect">
            <a:avLst>
              <a:gd name="adj" fmla="val 12687"/>
            </a:avLst>
          </a:prstGeom>
          <a:solidFill>
            <a:srgbClr val="FFFDF7"/>
          </a:solidFill>
          <a:ln w="7144">
            <a:solidFill>
              <a:srgbClr val="DDD5C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07219" y="2469170"/>
            <a:ext cx="212705" cy="486445"/>
          </a:xfrm>
          <a:prstGeom prst="rect">
            <a:avLst/>
          </a:prstGeom>
          <a:noFill/>
          <a:ln/>
        </p:spPr>
        <p:txBody>
          <a:bodyPr wrap="none" lIns="0" tIns="21431" rIns="0" bIns="0" rtlCol="0" anchor="t"/>
          <a:lstStyle/>
          <a:p>
            <a:pPr algn="l" indent="0" marL="0">
              <a:lnSpc>
                <a:spcPts val="1744"/>
              </a:lnSpc>
              <a:buNone/>
            </a:pPr>
            <a:r>
              <a:rPr lang="en-US" sz="1744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1744" dirty="0"/>
          </a:p>
        </p:txBody>
      </p:sp>
      <p:sp>
        <p:nvSpPr>
          <p:cNvPr id="16" name="Text 14"/>
          <p:cNvSpPr/>
          <p:nvPr/>
        </p:nvSpPr>
        <p:spPr>
          <a:xfrm>
            <a:off x="868747" y="2469170"/>
            <a:ext cx="3609384" cy="165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7"/>
              </a:lnSpc>
              <a:buNone/>
            </a:pPr>
            <a:r>
              <a:rPr lang="en-US" sz="928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Which line of code changed?</a:t>
            </a:r>
            <a:endParaRPr lang="en-US" sz="928" dirty="0"/>
          </a:p>
        </p:txBody>
      </p:sp>
      <p:sp>
        <p:nvSpPr>
          <p:cNvPr id="17" name="Text 15"/>
          <p:cNvSpPr/>
          <p:nvPr/>
        </p:nvSpPr>
        <p:spPr>
          <a:xfrm>
            <a:off x="868747" y="2672321"/>
            <a:ext cx="3499656" cy="2832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Before → After from the reference implementations. Contribution → algorithmic change → implementation change → measured improvement, as one chain.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629150" y="2337011"/>
            <a:ext cx="4054078" cy="750763"/>
          </a:xfrm>
          <a:prstGeom prst="roundRect">
            <a:avLst>
              <a:gd name="adj" fmla="val 12687"/>
            </a:avLst>
          </a:prstGeom>
          <a:solidFill>
            <a:srgbClr val="FFFDF7"/>
          </a:solidFill>
          <a:ln w="7144">
            <a:solidFill>
              <a:srgbClr val="DDD5C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775597" y="2469170"/>
            <a:ext cx="212705" cy="486445"/>
          </a:xfrm>
          <a:prstGeom prst="rect">
            <a:avLst/>
          </a:prstGeom>
          <a:noFill/>
          <a:ln/>
        </p:spPr>
        <p:txBody>
          <a:bodyPr wrap="none" lIns="0" tIns="21431" rIns="0" bIns="0" rtlCol="0" anchor="t"/>
          <a:lstStyle/>
          <a:p>
            <a:pPr algn="l" indent="0" marL="0">
              <a:lnSpc>
                <a:spcPts val="1744"/>
              </a:lnSpc>
              <a:buNone/>
            </a:pPr>
            <a:r>
              <a:rPr lang="en-US" sz="1744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1744" dirty="0"/>
          </a:p>
        </p:txBody>
      </p:sp>
      <p:sp>
        <p:nvSpPr>
          <p:cNvPr id="20" name="Text 18"/>
          <p:cNvSpPr/>
          <p:nvPr/>
        </p:nvSpPr>
        <p:spPr>
          <a:xfrm>
            <a:off x="5037125" y="2469170"/>
            <a:ext cx="3609384" cy="165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7"/>
              </a:lnSpc>
              <a:buNone/>
            </a:pPr>
            <a:r>
              <a:rPr lang="en-US" sz="928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did it buy, and what did it cost?</a:t>
            </a:r>
            <a:endParaRPr lang="en-US" sz="928" dirty="0"/>
          </a:p>
        </p:txBody>
      </p:sp>
      <p:sp>
        <p:nvSpPr>
          <p:cNvPr id="21" name="Text 19"/>
          <p:cNvSpPr/>
          <p:nvPr/>
        </p:nvSpPr>
        <p:spPr>
          <a:xfrm>
            <a:off x="5037125" y="2672321"/>
            <a:ext cx="3499656" cy="2832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measured improvement, the applications it opened, and the new limitation it created — because every step in this story created the next problem.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60772" y="3202074"/>
            <a:ext cx="8222456" cy="353616"/>
          </a:xfrm>
          <a:prstGeom prst="roundRect">
            <a:avLst>
              <a:gd name="adj" fmla="val 26936"/>
            </a:avLst>
          </a:prstGeom>
          <a:solidFill>
            <a:srgbClr val="FAF5EA"/>
          </a:solidFill>
          <a:ln w="7144">
            <a:solidFill>
              <a:srgbClr val="DDD5C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07219" y="3288871"/>
            <a:ext cx="204378" cy="180023"/>
          </a:xfrm>
          <a:prstGeom prst="roundRect">
            <a:avLst>
              <a:gd name="adj" fmla="val 5285700"/>
            </a:avLst>
          </a:prstGeom>
          <a:solidFill>
            <a:srgbClr val="B345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07219" y="3298515"/>
            <a:ext cx="204378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F5F1E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911609" y="3308114"/>
            <a:ext cx="7625172" cy="1511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742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And for the SOTA methods, a fifth: </a:t>
            </a:r>
            <a:pPr algn="l" indent="0" marL="0">
              <a:lnSpc>
                <a:spcPts val="1114"/>
              </a:lnSpc>
              <a:buNone/>
            </a:pPr>
            <a:r>
              <a:rPr lang="en-US" sz="742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made it state of the art, on which benchmark and in which years</a:t>
            </a:r>
            <a:pPr algn="l" indent="0" marL="0">
              <a:lnSpc>
                <a:spcPts val="1114"/>
              </a:lnSpc>
              <a:buNone/>
            </a:pPr>
            <a:r>
              <a:rPr lang="en-US" sz="742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and why it did not make the others obsolete.</a:t>
            </a:r>
            <a:endParaRPr lang="en-US" sz="742" dirty="0"/>
          </a:p>
        </p:txBody>
      </p:sp>
      <p:sp>
        <p:nvSpPr>
          <p:cNvPr id="26" name="Shape 24"/>
          <p:cNvSpPr/>
          <p:nvPr/>
        </p:nvSpPr>
        <p:spPr>
          <a:xfrm>
            <a:off x="457200" y="4577358"/>
            <a:ext cx="8229600" cy="0"/>
          </a:xfrm>
          <a:prstGeom prst="line">
            <a:avLst/>
          </a:prstGeom>
          <a:noFill/>
          <a:ln w="7144">
            <a:solidFill>
              <a:srgbClr val="DDD5C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573786"/>
            <a:ext cx="8229600" cy="248194"/>
          </a:xfrm>
          <a:prstGeom prst="rect">
            <a:avLst/>
          </a:prstGeom>
          <a:noFill/>
          <a:ln/>
        </p:spPr>
        <p:txBody>
          <a:bodyPr wrap="square" lIns="0" tIns="50006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8" kern="0" dirty="0">
                <a:solidFill>
                  <a:srgbClr val="8A82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brief §3 — the structure of this presentation · anchor paper: </a:t>
            </a:r>
            <a:pPr algn="l" indent="0" marL="0">
              <a:lnSpc>
                <a:spcPts val="886"/>
              </a:lnSpc>
              <a:buNone/>
            </a:pPr>
            <a:r>
              <a:rPr lang="en-US" sz="800" spc="18" kern="0" dirty="0">
                <a:solidFill>
                  <a:srgbClr val="57534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DnCNN17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169016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2007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814981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2014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460834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2017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106798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2022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752763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2025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258639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2904604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550457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6196422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7842386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5738" y="114300"/>
            <a:ext cx="530602" cy="462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250" spc="-45" kern="0" dirty="0">
                <a:solidFill>
                  <a:srgbClr val="1C1917">
                    <a:alpha val="1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457200" y="371475"/>
            <a:ext cx="863600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B34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60784"/>
            <a:ext cx="8636000" cy="26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3"/>
              </a:lnSpc>
              <a:buNone/>
            </a:pPr>
            <a:r>
              <a:rPr lang="en-US" sz="1744" b="1" spc="-26" kern="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One equation, three unknowns, eighteen years</a:t>
            </a:r>
            <a:endParaRPr lang="en-US" sz="1744" dirty="0"/>
          </a:p>
        </p:txBody>
      </p:sp>
      <p:sp>
        <p:nvSpPr>
          <p:cNvPr id="5" name="Text 3"/>
          <p:cNvSpPr/>
          <p:nvPr/>
        </p:nvSpPr>
        <p:spPr>
          <a:xfrm>
            <a:off x="457200" y="865956"/>
            <a:ext cx="7715250" cy="358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Given only y, infinitely many splits into x + v are arithmetically valid. Every method in this talk supplies the missing information in a different way — that supplied information is called the prior, and the whole story is about where it lives.</a:t>
            </a:r>
            <a:endParaRPr lang="en-US" sz="872" dirty="0"/>
          </a:p>
        </p:txBody>
      </p:sp>
      <p:sp>
        <p:nvSpPr>
          <p:cNvPr id="6" name="Text 4"/>
          <p:cNvSpPr/>
          <p:nvPr/>
        </p:nvSpPr>
        <p:spPr>
          <a:xfrm>
            <a:off x="1789509" y="1330300"/>
            <a:ext cx="5564981" cy="1104379"/>
          </a:xfrm>
          <a:prstGeom prst="roundRect">
            <a:avLst>
              <a:gd name="adj" fmla="val 8625"/>
            </a:avLst>
          </a:prstGeom>
          <a:solidFill>
            <a:srgbClr val="FFFFFF"/>
          </a:solidFill>
          <a:ln w="7144">
            <a:solidFill>
              <a:srgbClr val="DDD5C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078831" y="1576760"/>
            <a:ext cx="4986338" cy="4752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465"/>
              </a:lnSpc>
              <a:buNone/>
            </a:pPr>
            <a:r>
              <a:rPr lang="en-US" sz="3150" spc="-32" kern="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</a:t>
            </a:r>
            <a:pPr algn="ctr" indent="0" marL="0">
              <a:lnSpc>
                <a:spcPts val="3465"/>
              </a:lnSpc>
              <a:buNone/>
            </a:pPr>
            <a:r>
              <a:rPr lang="en-US" sz="3150" spc="-32" kern="0" dirty="0">
                <a:solidFill>
                  <a:srgbClr val="8A82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ctr" indent="0" marL="0">
              <a:lnSpc>
                <a:spcPts val="3465"/>
              </a:lnSpc>
              <a:buNone/>
            </a:pPr>
            <a:r>
              <a:rPr lang="en-US" sz="3150" spc="-32" kern="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ctr" indent="0" marL="0">
              <a:lnSpc>
                <a:spcPts val="3465"/>
              </a:lnSpc>
              <a:buNone/>
            </a:pPr>
            <a:r>
              <a:rPr lang="en-US" sz="3150" spc="-32" kern="0" dirty="0">
                <a:solidFill>
                  <a:srgbClr val="B34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algn="ctr" indent="0" marL="0">
              <a:lnSpc>
                <a:spcPts val="3465"/>
              </a:lnSpc>
              <a:buNone/>
            </a:pPr>
            <a:r>
              <a:rPr lang="en-US" sz="3150" spc="-32" kern="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ctr" indent="0" marL="0">
              <a:lnSpc>
                <a:spcPts val="3465"/>
              </a:lnSpc>
              <a:buNone/>
            </a:pPr>
            <a:r>
              <a:rPr lang="en-US" sz="3150" spc="-32" kern="0" dirty="0">
                <a:solidFill>
                  <a:srgbClr val="8A82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algn="ctr" indent="0" marL="0">
              <a:lnSpc>
                <a:spcPts val="3465"/>
              </a:lnSpc>
              <a:buNone/>
            </a:pPr>
            <a:r>
              <a:rPr lang="en-US" sz="3150" spc="-32" kern="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ctr" indent="0" marL="0">
              <a:lnSpc>
                <a:spcPts val="3465"/>
              </a:lnSpc>
              <a:buNone/>
            </a:pPr>
            <a:r>
              <a:rPr lang="en-US" sz="3150" spc="-32" kern="0" dirty="0">
                <a:solidFill>
                  <a:srgbClr val="9C8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endParaRPr lang="en-US" sz="3150" dirty="0"/>
          </a:p>
        </p:txBody>
      </p:sp>
      <p:sp>
        <p:nvSpPr>
          <p:cNvPr id="8" name="Text 6"/>
          <p:cNvSpPr/>
          <p:nvPr/>
        </p:nvSpPr>
        <p:spPr>
          <a:xfrm>
            <a:off x="2078831" y="2131070"/>
            <a:ext cx="4986338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b="1" spc="14" kern="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y</a:t>
            </a:r>
            <a:pPr algn="ctr" indent="0" marL="0">
              <a:lnSpc>
                <a:spcPts val="1013"/>
              </a:lnSpc>
              <a:buNone/>
            </a:pPr>
            <a:r>
              <a:rPr lang="en-US" sz="800" spc="14" kern="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what the sensor produced · </a:t>
            </a:r>
            <a:pPr algn="ctr" indent="0" marL="0">
              <a:lnSpc>
                <a:spcPts val="1013"/>
              </a:lnSpc>
              <a:buNone/>
            </a:pPr>
            <a:r>
              <a:rPr lang="en-US" sz="800" b="1" spc="14" kern="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x</a:t>
            </a:r>
            <a:pPr algn="ctr" indent="0" marL="0">
              <a:lnSpc>
                <a:spcPts val="1013"/>
              </a:lnSpc>
              <a:buNone/>
            </a:pPr>
            <a:r>
              <a:rPr lang="en-US" sz="800" spc="14" kern="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the clean image we want · </a:t>
            </a:r>
            <a:pPr algn="ctr" indent="0" marL="0">
              <a:lnSpc>
                <a:spcPts val="1013"/>
              </a:lnSpc>
              <a:buNone/>
            </a:pPr>
            <a:r>
              <a:rPr lang="en-US" sz="800" b="1" spc="14" kern="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</a:t>
            </a:r>
            <a:pPr algn="ctr" indent="0" marL="0">
              <a:lnSpc>
                <a:spcPts val="1013"/>
              </a:lnSpc>
              <a:buNone/>
            </a:pPr>
            <a:r>
              <a:rPr lang="en-US" sz="800" spc="14" kern="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the noise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60772" y="2620417"/>
            <a:ext cx="150019" cy="150019"/>
          </a:xfrm>
          <a:prstGeom prst="roundRect">
            <a:avLst>
              <a:gd name="adj" fmla="val 6342847"/>
            </a:avLst>
          </a:prstGeom>
          <a:noFill/>
          <a:ln w="7144">
            <a:solidFill>
              <a:srgbClr val="B3452C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57200" y="2616845"/>
            <a:ext cx="200025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00088" y="2609701"/>
            <a:ext cx="747236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classical answer writes the prior down as a formula: minimise </a:t>
            </a:r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½‖y − x‖² + λ·Φ(x)</a:t>
            </a:r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 You can read Φ, differentiate it, and argue about it.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60772" y="2856161"/>
            <a:ext cx="150019" cy="150019"/>
          </a:xfrm>
          <a:prstGeom prst="roundRect">
            <a:avLst>
              <a:gd name="adj" fmla="val 6342847"/>
            </a:avLst>
          </a:prstGeom>
          <a:noFill/>
          <a:ln w="7144">
            <a:solidFill>
              <a:srgbClr val="B3452C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57200" y="2852589"/>
            <a:ext cx="200025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00088" y="2845445"/>
            <a:ext cx="747236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deep answer replaces Φ with a tensor of learned weights. You cannot read it, but you can download it — and it runs in </a:t>
            </a:r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60 ms</a:t>
            </a:r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60772" y="3091904"/>
            <a:ext cx="150019" cy="150019"/>
          </a:xfrm>
          <a:prstGeom prst="roundRect">
            <a:avLst>
              <a:gd name="adj" fmla="val 6342847"/>
            </a:avLst>
          </a:prstGeom>
          <a:noFill/>
          <a:ln w="7144">
            <a:solidFill>
              <a:srgbClr val="B3452C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57200" y="3088332"/>
            <a:ext cx="200025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00088" y="3081189"/>
            <a:ext cx="747236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self-supervised answer takes the prior partly from the test image itself, so no clean data is needed at all.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60772" y="3327648"/>
            <a:ext cx="150019" cy="150019"/>
          </a:xfrm>
          <a:prstGeom prst="roundRect">
            <a:avLst>
              <a:gd name="adj" fmla="val 6342847"/>
            </a:avLst>
          </a:prstGeom>
          <a:noFill/>
          <a:ln w="7144">
            <a:solidFill>
              <a:srgbClr val="B3452C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57200" y="3324076"/>
            <a:ext cx="200025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00088" y="3331220"/>
            <a:ext cx="3853160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759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Where the prior lives, and who writes it, is the single axis this whole talk runs along.</a:t>
            </a:r>
            <a:endParaRPr lang="en-US" sz="759" dirty="0"/>
          </a:p>
        </p:txBody>
      </p:sp>
      <p:sp>
        <p:nvSpPr>
          <p:cNvPr id="21" name="Shape 19"/>
          <p:cNvSpPr/>
          <p:nvPr/>
        </p:nvSpPr>
        <p:spPr>
          <a:xfrm>
            <a:off x="457200" y="4577358"/>
            <a:ext cx="8229600" cy="0"/>
          </a:xfrm>
          <a:prstGeom prst="line">
            <a:avLst/>
          </a:prstGeom>
          <a:noFill/>
          <a:ln w="7144">
            <a:solidFill>
              <a:srgbClr val="DDD5C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573786"/>
            <a:ext cx="8636000" cy="248194"/>
          </a:xfrm>
          <a:prstGeom prst="rect">
            <a:avLst/>
          </a:prstGeom>
          <a:noFill/>
          <a:ln/>
        </p:spPr>
        <p:txBody>
          <a:bodyPr wrap="square" lIns="0" tIns="50006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8" kern="0" dirty="0">
                <a:solidFill>
                  <a:srgbClr val="57534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DnCNN17</a:t>
            </a:r>
            <a:pPr algn="l" indent="0" marL="0">
              <a:lnSpc>
                <a:spcPts val="886"/>
              </a:lnSpc>
              <a:buNone/>
            </a:pPr>
            <a:r>
              <a:rPr lang="en-US" sz="800" spc="18" kern="0" dirty="0">
                <a:solidFill>
                  <a:srgbClr val="8A82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§I — standard MAP formulation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169016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2007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814981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2014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460834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2017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106798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2022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752763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2025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258639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2904604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550457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196422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7842386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5738" y="114300"/>
            <a:ext cx="530602" cy="462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250" spc="-45" kern="0" dirty="0">
                <a:solidFill>
                  <a:srgbClr val="1C1917">
                    <a:alpha val="1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457200" y="371475"/>
            <a:ext cx="863600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B34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GROUND RULES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60784"/>
            <a:ext cx="8636000" cy="26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3"/>
              </a:lnSpc>
              <a:buNone/>
            </a:pPr>
            <a:r>
              <a:rPr lang="en-US" sz="1744" b="1" spc="-26" kern="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state of the art means in this talk</a:t>
            </a:r>
            <a:endParaRPr lang="en-US" sz="1744" dirty="0"/>
          </a:p>
        </p:txBody>
      </p:sp>
      <p:sp>
        <p:nvSpPr>
          <p:cNvPr id="5" name="Text 3"/>
          <p:cNvSpPr/>
          <p:nvPr/>
        </p:nvSpPr>
        <p:spPr>
          <a:xfrm>
            <a:off x="457200" y="865956"/>
            <a:ext cx="7715250" cy="358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phrase is used loosely in most presentations. We attach three qualifiers to it, because that is what makes the SOTA comparison later in the talk meaningful rather than rhetorical.</a:t>
            </a:r>
            <a:endParaRPr lang="en-US" sz="872" dirty="0"/>
          </a:p>
        </p:txBody>
      </p:sp>
      <p:sp>
        <p:nvSpPr>
          <p:cNvPr id="6" name="Text 4"/>
          <p:cNvSpPr/>
          <p:nvPr/>
        </p:nvSpPr>
        <p:spPr>
          <a:xfrm>
            <a:off x="460772" y="1330300"/>
            <a:ext cx="4043363" cy="2836069"/>
          </a:xfrm>
          <a:prstGeom prst="roundRect">
            <a:avLst>
              <a:gd name="adj" fmla="val 3359"/>
            </a:avLst>
          </a:prstGeom>
          <a:solidFill>
            <a:srgbClr val="FFFDF7"/>
          </a:solidFill>
          <a:ln w="7144">
            <a:solidFill>
              <a:srgbClr val="DDD5C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35794" y="1491035"/>
            <a:ext cx="3803047" cy="135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77" kern="0" dirty="0">
                <a:solidFill>
                  <a:srgbClr val="B34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SOTA CLAIM NEEDS THREE THINGS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39366" y="1953369"/>
            <a:ext cx="150019" cy="150019"/>
          </a:xfrm>
          <a:prstGeom prst="roundRect">
            <a:avLst>
              <a:gd name="adj" fmla="val 6342847"/>
            </a:avLst>
          </a:prstGeom>
          <a:noFill/>
          <a:ln w="7144">
            <a:solidFill>
              <a:srgbClr val="B3452C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35794" y="1949797"/>
            <a:ext cx="200025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78681" y="1942654"/>
            <a:ext cx="3450431" cy="340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7"/>
              </a:lnSpc>
              <a:buNone/>
            </a:pPr>
            <a:r>
              <a:rPr lang="en-US" sz="800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benchmark and a metric.</a:t>
            </a:r>
            <a:pPr algn="l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Best denoiser is meaningless. Highest PSNR on BSD68 at </a:t>
            </a:r>
            <a:pPr algn="l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σ=25</a:t>
            </a:r>
            <a:pPr algn="l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is a claim you can check.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39366" y="2541389"/>
            <a:ext cx="150019" cy="150019"/>
          </a:xfrm>
          <a:prstGeom prst="roundRect">
            <a:avLst>
              <a:gd name="adj" fmla="val 6342847"/>
            </a:avLst>
          </a:prstGeom>
          <a:noFill/>
          <a:ln w="7144">
            <a:solidFill>
              <a:srgbClr val="B3452C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35794" y="2537817"/>
            <a:ext cx="200025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78681" y="2530673"/>
            <a:ext cx="3450431" cy="51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7"/>
              </a:lnSpc>
              <a:buNone/>
            </a:pPr>
            <a:r>
              <a:rPr lang="en-US" sz="800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comparison protocol.</a:t>
            </a:r>
            <a:pPr algn="l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Two papers reporting on the same dataset can still disagree, so wherever a row compares two methods we take both numbers from one table.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39366" y="3278870"/>
            <a:ext cx="150019" cy="150019"/>
          </a:xfrm>
          <a:prstGeom prst="roundRect">
            <a:avLst>
              <a:gd name="adj" fmla="val 6342847"/>
            </a:avLst>
          </a:prstGeom>
          <a:noFill/>
          <a:ln w="7144">
            <a:solidFill>
              <a:srgbClr val="B3452C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35794" y="3275298"/>
            <a:ext cx="200025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78681" y="3268154"/>
            <a:ext cx="3450431" cy="51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7"/>
              </a:lnSpc>
              <a:buNone/>
            </a:pPr>
            <a:r>
              <a:rPr lang="en-US" sz="800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Honesty about what is not reported.</a:t>
            </a:r>
            <a:pPr algn="l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No paper here states how long it held a position, so this talk does not claim SOTA windows — only the publication date and which table each method leads.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639866" y="1330300"/>
            <a:ext cx="4043363" cy="2836069"/>
          </a:xfrm>
          <a:prstGeom prst="roundRect">
            <a:avLst>
              <a:gd name="adj" fmla="val 3359"/>
            </a:avLst>
          </a:prstGeom>
          <a:solidFill>
            <a:srgbClr val="FAF5EA"/>
          </a:solidFill>
          <a:ln w="7144">
            <a:solidFill>
              <a:srgbClr val="DDD5C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814888" y="1491035"/>
            <a:ext cx="3803047" cy="135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77" kern="0" dirty="0">
                <a:solidFill>
                  <a:srgbClr val="B34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WHICH IS WHY THERE IS NO SINGLE WINNER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814888" y="2058516"/>
            <a:ext cx="157163" cy="14288"/>
          </a:xfrm>
          <a:prstGeom prst="rect">
            <a:avLst/>
          </a:prstGeom>
          <a:solidFill>
            <a:srgbClr val="B345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072063" y="1979935"/>
            <a:ext cx="3436144" cy="51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Different benchmarks measure different capabilities: </a:t>
            </a:r>
            <a:pPr algn="l" indent="0" marL="0">
              <a:lnSpc>
                <a:spcPts val="1177"/>
              </a:lnSpc>
              <a:buNone/>
            </a:pPr>
            <a:r>
              <a:rPr lang="en-US" sz="800" b="1" dirty="0">
                <a:solidFill>
                  <a:srgbClr val="1C191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BSD68</a:t>
            </a:r>
            <a:pPr algn="l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measures average-case Gaussian removal, </a:t>
            </a:r>
            <a:pPr algn="l" indent="0" marL="0">
              <a:lnSpc>
                <a:spcPts val="1177"/>
              </a:lnSpc>
              <a:buNone/>
            </a:pPr>
            <a:r>
              <a:rPr lang="en-US" sz="800" b="1" dirty="0">
                <a:solidFill>
                  <a:srgbClr val="1C191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Urban100</a:t>
            </a:r>
            <a:pPr algn="l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measures long-range self-similarity, </a:t>
            </a:r>
            <a:pPr algn="l" indent="0" marL="0">
              <a:lnSpc>
                <a:spcPts val="1177"/>
              </a:lnSpc>
              <a:buNone/>
            </a:pPr>
            <a:r>
              <a:rPr lang="en-US" sz="800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SIDD</a:t>
            </a:r>
            <a:pPr algn="l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measures real sensor noise.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814888" y="2833390"/>
            <a:ext cx="157163" cy="14288"/>
          </a:xfrm>
          <a:prstGeom prst="rect">
            <a:avLst/>
          </a:prstGeom>
          <a:solidFill>
            <a:srgbClr val="B345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072063" y="2754809"/>
            <a:ext cx="3436144" cy="340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method can lead one and trail another. </a:t>
            </a:r>
            <a:pPr algn="l" indent="0" marL="0">
              <a:lnSpc>
                <a:spcPts val="1177"/>
              </a:lnSpc>
              <a:buNone/>
            </a:pPr>
            <a:r>
              <a:rPr lang="en-US" sz="800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Restormer, NAFNet and MambaIR</a:t>
            </a:r>
            <a:pPr algn="l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each lead a different table today.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814888" y="3458803"/>
            <a:ext cx="157163" cy="14288"/>
          </a:xfrm>
          <a:prstGeom prst="rect">
            <a:avLst/>
          </a:prstGeom>
          <a:solidFill>
            <a:srgbClr val="B345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072063" y="3380222"/>
            <a:ext cx="3436144" cy="340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 return to this on </a:t>
            </a:r>
            <a:pPr algn="l" indent="0" marL="0">
              <a:lnSpc>
                <a:spcPts val="1177"/>
              </a:lnSpc>
              <a:buNone/>
            </a:pPr>
            <a:r>
              <a:rPr lang="en-US" sz="800" b="1" dirty="0">
                <a:solidFill>
                  <a:srgbClr val="1C191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slide 37</a:t>
            </a:r>
            <a:pPr algn="l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with the numbers, because why there are several SOTAs is the question this talk is built to answer.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57200" y="4577358"/>
            <a:ext cx="8229600" cy="0"/>
          </a:xfrm>
          <a:prstGeom prst="line">
            <a:avLst/>
          </a:prstGeom>
          <a:noFill/>
          <a:ln w="7144">
            <a:solidFill>
              <a:srgbClr val="DDD5C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573786"/>
            <a:ext cx="8229600" cy="248194"/>
          </a:xfrm>
          <a:prstGeom prst="rect">
            <a:avLst/>
          </a:prstGeom>
          <a:noFill/>
          <a:ln/>
        </p:spPr>
        <p:txBody>
          <a:bodyPr wrap="square" lIns="0" tIns="50006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8" kern="0" dirty="0">
                <a:solidFill>
                  <a:srgbClr val="8A82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benchmark definitions: </a:t>
            </a:r>
            <a:pPr algn="l" indent="0" marL="0">
              <a:lnSpc>
                <a:spcPts val="886"/>
              </a:lnSpc>
              <a:buNone/>
            </a:pPr>
            <a:r>
              <a:rPr lang="en-US" sz="800" spc="18" kern="0" dirty="0">
                <a:solidFill>
                  <a:srgbClr val="57534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DnCNN17</a:t>
            </a:r>
            <a:pPr algn="l" indent="0" marL="0">
              <a:lnSpc>
                <a:spcPts val="886"/>
              </a:lnSpc>
              <a:buNone/>
            </a:pPr>
            <a:r>
              <a:rPr lang="en-US" sz="800" spc="18" kern="0" dirty="0">
                <a:solidFill>
                  <a:srgbClr val="8A82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§I, §III · </a:t>
            </a:r>
            <a:pPr algn="l" indent="0" marL="0">
              <a:lnSpc>
                <a:spcPts val="886"/>
              </a:lnSpc>
              <a:buNone/>
            </a:pPr>
            <a:r>
              <a:rPr lang="en-US" sz="800" spc="18" kern="0" dirty="0">
                <a:solidFill>
                  <a:srgbClr val="57534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Restormer22</a:t>
            </a:r>
            <a:pPr algn="l" indent="0" marL="0">
              <a:lnSpc>
                <a:spcPts val="886"/>
              </a:lnSpc>
              <a:buNone/>
            </a:pPr>
            <a:r>
              <a:rPr lang="en-US" sz="800" spc="18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§4.1 · </a:t>
            </a:r>
            <a:pPr algn="l" indent="0" marL="0">
              <a:lnSpc>
                <a:spcPts val="886"/>
              </a:lnSpc>
              <a:buNone/>
            </a:pPr>
            <a:r>
              <a:rPr lang="en-US" sz="800" spc="18" kern="0" dirty="0">
                <a:solidFill>
                  <a:srgbClr val="57534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NAFNet22</a:t>
            </a:r>
            <a:pPr algn="l" indent="0" marL="0">
              <a:lnSpc>
                <a:spcPts val="886"/>
              </a:lnSpc>
              <a:buNone/>
            </a:pPr>
            <a:r>
              <a:rPr lang="en-US" sz="800" spc="18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§4.1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169016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2007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814981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2014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460834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2017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106798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2022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752763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2025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258639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2904604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550457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196422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7842386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5738" y="114300"/>
            <a:ext cx="530602" cy="462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250" spc="-45" kern="0" dirty="0">
                <a:solidFill>
                  <a:srgbClr val="1C1917">
                    <a:alpha val="1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457200" y="371475"/>
            <a:ext cx="863600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B34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WE MEASURE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60784"/>
            <a:ext cx="8229600" cy="26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3"/>
              </a:lnSpc>
              <a:buNone/>
            </a:pPr>
            <a:r>
              <a:rPr lang="en-US" sz="1744" b="1" spc="-26" kern="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Three numbers, three opinions — why PSNR alone is not enough</a:t>
            </a:r>
            <a:endParaRPr lang="en-US" sz="1744" dirty="0"/>
          </a:p>
        </p:txBody>
      </p:sp>
      <p:sp>
        <p:nvSpPr>
          <p:cNvPr id="5" name="Text 3"/>
          <p:cNvSpPr/>
          <p:nvPr/>
        </p:nvSpPr>
        <p:spPr>
          <a:xfrm>
            <a:off x="457200" y="865956"/>
            <a:ext cx="7715250" cy="358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brief asks for PSNR, SSIM and perceptual metrics side by side. This talk reports PSNR because its sources do — but every PSNR claim names its table and its σ. This slide is why that discipline matters.</a:t>
            </a:r>
            <a:endParaRPr lang="en-US" sz="872" dirty="0"/>
          </a:p>
        </p:txBody>
      </p:sp>
      <p:sp>
        <p:nvSpPr>
          <p:cNvPr id="6" name="Text 4"/>
          <p:cNvSpPr/>
          <p:nvPr/>
        </p:nvSpPr>
        <p:spPr>
          <a:xfrm>
            <a:off x="460772" y="1301725"/>
            <a:ext cx="2669307" cy="1168896"/>
          </a:xfrm>
          <a:prstGeom prst="roundRect">
            <a:avLst>
              <a:gd name="adj" fmla="val 8149"/>
            </a:avLst>
          </a:prstGeom>
          <a:solidFill>
            <a:srgbClr val="FFFDF7"/>
          </a:solidFill>
          <a:ln w="7144">
            <a:solidFill>
              <a:srgbClr val="DDD5C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85788" y="1412453"/>
            <a:ext cx="241927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102" kern="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PSNR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89359" y="1619622"/>
            <a:ext cx="2412132" cy="272355"/>
          </a:xfrm>
          <a:prstGeom prst="roundRect">
            <a:avLst>
              <a:gd name="adj" fmla="val 24481"/>
            </a:avLst>
          </a:prstGeom>
          <a:solidFill>
            <a:srgbClr val="FAF5EA"/>
          </a:solidFill>
          <a:ln w="7144">
            <a:solidFill>
              <a:srgbClr val="DDD5C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85788" y="1616050"/>
            <a:ext cx="2419276" cy="316361"/>
          </a:xfrm>
          <a:prstGeom prst="rect">
            <a:avLst/>
          </a:prstGeom>
          <a:noFill/>
          <a:ln/>
        </p:spPr>
        <p:txBody>
          <a:bodyPr wrap="square" lIns="85725" tIns="64294" rIns="85725" bIns="64294" rtlCol="0" anchor="t">
            <a:normAutofit/>
          </a:bodyPr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PSNR = 10·log</a:t>
            </a:r>
            <a:pPr algn="l" indent="0" marL="0">
              <a:lnSpc>
                <a:spcPts val="1077"/>
              </a:lnSpc>
              <a:buNone/>
            </a:pPr>
            <a:r>
              <a:rPr lang="en-US" sz="800" baseline="-40000" dirty="0">
                <a:solidFill>
                  <a:srgbClr val="1C191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</a:t>
            </a:r>
            <a:pPr algn="l" indent="0" marL="0">
              <a:lnSpc>
                <a:spcPts val="1077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 MAX² / MSE )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85788" y="1959843"/>
            <a:ext cx="241927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8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Pixel-wise fidelity in decibels. Optimal for the conditional mean — which is smoother than any plausible clean image. Two visibly different images can share one PSNR.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237235" y="1301725"/>
            <a:ext cx="2669418" cy="1168896"/>
          </a:xfrm>
          <a:prstGeom prst="roundRect">
            <a:avLst>
              <a:gd name="adj" fmla="val 8149"/>
            </a:avLst>
          </a:prstGeom>
          <a:solidFill>
            <a:srgbClr val="FFFDF7"/>
          </a:solidFill>
          <a:ln w="7144">
            <a:solidFill>
              <a:srgbClr val="DDD5C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362251" y="1412453"/>
            <a:ext cx="241938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102" kern="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SSIM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365822" y="1619622"/>
            <a:ext cx="2412243" cy="408980"/>
          </a:xfrm>
          <a:prstGeom prst="roundRect">
            <a:avLst>
              <a:gd name="adj" fmla="val 16303"/>
            </a:avLst>
          </a:prstGeom>
          <a:solidFill>
            <a:srgbClr val="FAF5EA"/>
          </a:solidFill>
          <a:ln w="7144">
            <a:solidFill>
              <a:srgbClr val="DDD5C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362251" y="1616050"/>
            <a:ext cx="2419387" cy="452985"/>
          </a:xfrm>
          <a:prstGeom prst="rect">
            <a:avLst/>
          </a:prstGeom>
          <a:noFill/>
          <a:ln/>
        </p:spPr>
        <p:txBody>
          <a:bodyPr wrap="square" lIns="85725" tIns="64294" rIns="85725" bIns="64294" rtlCol="0" anchor="t">
            <a:normAutofit/>
          </a:bodyPr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SSIM(x,y) = ((2μ</a:t>
            </a:r>
            <a:pPr algn="l" indent="0" marL="0">
              <a:lnSpc>
                <a:spcPts val="1077"/>
              </a:lnSpc>
              <a:buNone/>
            </a:pPr>
            <a:r>
              <a:rPr lang="en-US" sz="800" baseline="-4000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algn="l" indent="0" marL="0">
              <a:lnSpc>
                <a:spcPts val="1077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μ</a:t>
            </a:r>
            <a:pPr algn="l" indent="0" marL="0">
              <a:lnSpc>
                <a:spcPts val="1077"/>
              </a:lnSpc>
              <a:buNone/>
            </a:pPr>
            <a:r>
              <a:rPr lang="en-US" sz="800" baseline="-4000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pPr algn="l" indent="0" marL="0">
              <a:lnSpc>
                <a:spcPts val="1077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c</a:t>
            </a:r>
            <a:pPr algn="l" indent="0" marL="0">
              <a:lnSpc>
                <a:spcPts val="1077"/>
              </a:lnSpc>
              <a:buNone/>
            </a:pPr>
            <a:r>
              <a:rPr lang="en-US" sz="800" baseline="-40000" dirty="0">
                <a:solidFill>
                  <a:srgbClr val="1C191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pPr algn="l" indent="0" marL="0">
              <a:lnSpc>
                <a:spcPts val="1077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)(2σ</a:t>
            </a:r>
            <a:pPr algn="l" indent="0" marL="0">
              <a:lnSpc>
                <a:spcPts val="1077"/>
              </a:lnSpc>
              <a:buNone/>
            </a:pPr>
            <a:r>
              <a:rPr lang="en-US" sz="800" baseline="-4000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xy</a:t>
            </a:r>
            <a:pPr algn="l" indent="0" marL="0">
              <a:lnSpc>
                <a:spcPts val="1077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c</a:t>
            </a:r>
            <a:pPr algn="l" indent="0" marL="0">
              <a:lnSpc>
                <a:spcPts val="1077"/>
              </a:lnSpc>
              <a:buNone/>
            </a:pPr>
            <a:r>
              <a:rPr lang="en-US" sz="800" baseline="-40000" dirty="0">
                <a:solidFill>
                  <a:srgbClr val="1C191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pPr algn="l" indent="0" marL="0">
              <a:lnSpc>
                <a:spcPts val="1077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 / ((μ</a:t>
            </a:r>
            <a:pPr algn="l" indent="0" marL="0">
              <a:lnSpc>
                <a:spcPts val="1077"/>
              </a:lnSpc>
              <a:buNone/>
            </a:pPr>
            <a:r>
              <a:rPr lang="en-US" sz="800" baseline="-4000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algn="l" indent="0" marL="0">
              <a:lnSpc>
                <a:spcPts val="1077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² + μ</a:t>
            </a:r>
            <a:pPr algn="l" indent="0" marL="0">
              <a:lnSpc>
                <a:spcPts val="1077"/>
              </a:lnSpc>
              <a:buNone/>
            </a:pPr>
            <a:r>
              <a:rPr lang="en-US" sz="800" baseline="-4000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pPr algn="l" indent="0" marL="0">
              <a:lnSpc>
                <a:spcPts val="1077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² + c</a:t>
            </a:r>
            <a:pPr algn="l" indent="0" marL="0">
              <a:lnSpc>
                <a:spcPts val="1077"/>
              </a:lnSpc>
              <a:buNone/>
            </a:pPr>
            <a:r>
              <a:rPr lang="en-US" sz="800" baseline="-40000" dirty="0">
                <a:solidFill>
                  <a:srgbClr val="1C191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pPr algn="l" indent="0" marL="0">
              <a:lnSpc>
                <a:spcPts val="1077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)(σ</a:t>
            </a:r>
            <a:pPr algn="l" indent="0" marL="0">
              <a:lnSpc>
                <a:spcPts val="1077"/>
              </a:lnSpc>
              <a:buNone/>
            </a:pPr>
            <a:r>
              <a:rPr lang="en-US" sz="800" baseline="-4000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algn="l" indent="0" marL="0">
              <a:lnSpc>
                <a:spcPts val="1077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² + σ</a:t>
            </a:r>
            <a:pPr algn="l" indent="0" marL="0">
              <a:lnSpc>
                <a:spcPts val="1077"/>
              </a:lnSpc>
              <a:buNone/>
            </a:pPr>
            <a:r>
              <a:rPr lang="en-US" sz="800" baseline="-4000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pPr algn="l" indent="0" marL="0">
              <a:lnSpc>
                <a:spcPts val="1077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² + c</a:t>
            </a:r>
            <a:pPr algn="l" indent="0" marL="0">
              <a:lnSpc>
                <a:spcPts val="1077"/>
              </a:lnSpc>
              <a:buNone/>
            </a:pPr>
            <a:r>
              <a:rPr lang="en-US" sz="800" baseline="-40000" dirty="0">
                <a:solidFill>
                  <a:srgbClr val="1C191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pPr algn="l" indent="0" marL="0">
              <a:lnSpc>
                <a:spcPts val="1077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362251" y="2096467"/>
            <a:ext cx="2419387" cy="263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8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Structure-aware: luminance, contrast, correlation. Catches blur that PSNR forgives; still a low-level metric.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013810" y="1301725"/>
            <a:ext cx="2669307" cy="1168896"/>
          </a:xfrm>
          <a:prstGeom prst="roundRect">
            <a:avLst>
              <a:gd name="adj" fmla="val 8149"/>
            </a:avLst>
          </a:prstGeom>
          <a:solidFill>
            <a:srgbClr val="FFFDF7"/>
          </a:solidFill>
          <a:ln w="7144">
            <a:solidFill>
              <a:srgbClr val="DDD5C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138825" y="1412453"/>
            <a:ext cx="241927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102" kern="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LPIPS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142397" y="1619622"/>
            <a:ext cx="2412132" cy="272355"/>
          </a:xfrm>
          <a:prstGeom prst="roundRect">
            <a:avLst>
              <a:gd name="adj" fmla="val 24481"/>
            </a:avLst>
          </a:prstGeom>
          <a:solidFill>
            <a:srgbClr val="FAF5EA"/>
          </a:solidFill>
          <a:ln w="7144">
            <a:solidFill>
              <a:srgbClr val="DDD5C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138825" y="1616050"/>
            <a:ext cx="2419276" cy="316361"/>
          </a:xfrm>
          <a:prstGeom prst="rect">
            <a:avLst/>
          </a:prstGeom>
          <a:noFill/>
          <a:ln/>
        </p:spPr>
        <p:txBody>
          <a:bodyPr wrap="square" lIns="85725" tIns="64294" rIns="85725" bIns="64294" rtlCol="0" anchor="t">
            <a:normAutofit/>
          </a:bodyPr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d(x, x̂) = Σ</a:t>
            </a:r>
            <a:pPr algn="l" indent="0" marL="0">
              <a:lnSpc>
                <a:spcPts val="1077"/>
              </a:lnSpc>
              <a:buNone/>
            </a:pPr>
            <a:r>
              <a:rPr lang="en-US" sz="800" baseline="-4000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pPr algn="l" indent="0" marL="0">
              <a:lnSpc>
                <a:spcPts val="1077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‖w</a:t>
            </a:r>
            <a:pPr algn="l" indent="0" marL="0">
              <a:lnSpc>
                <a:spcPts val="1077"/>
              </a:lnSpc>
              <a:buNone/>
            </a:pPr>
            <a:r>
              <a:rPr lang="en-US" sz="800" baseline="-4000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pPr algn="l" indent="0" marL="0">
              <a:lnSpc>
                <a:spcPts val="1077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⊙ (F</a:t>
            </a:r>
            <a:pPr algn="l" indent="0" marL="0">
              <a:lnSpc>
                <a:spcPts val="1077"/>
              </a:lnSpc>
              <a:buNone/>
            </a:pPr>
            <a:r>
              <a:rPr lang="en-US" sz="800" baseline="-4000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pPr algn="l" indent="0" marL="0">
              <a:lnSpc>
                <a:spcPts val="1077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(x) − F</a:t>
            </a:r>
            <a:pPr algn="l" indent="0" marL="0">
              <a:lnSpc>
                <a:spcPts val="1077"/>
              </a:lnSpc>
              <a:buNone/>
            </a:pPr>
            <a:r>
              <a:rPr lang="en-US" sz="800" baseline="-4000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pPr algn="l" indent="0" marL="0">
              <a:lnSpc>
                <a:spcPts val="1077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(x̂))‖² / (H</a:t>
            </a:r>
            <a:pPr algn="l" indent="0" marL="0">
              <a:lnSpc>
                <a:spcPts val="1077"/>
              </a:lnSpc>
              <a:buNone/>
            </a:pPr>
            <a:r>
              <a:rPr lang="en-US" sz="800" baseline="-4000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pPr algn="l" indent="0" marL="0">
              <a:lnSpc>
                <a:spcPts val="1077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·W</a:t>
            </a:r>
            <a:pPr algn="l" indent="0" marL="0">
              <a:lnSpc>
                <a:spcPts val="1077"/>
              </a:lnSpc>
              <a:buNone/>
            </a:pPr>
            <a:r>
              <a:rPr lang="en-US" sz="800" baseline="-4000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pPr algn="l" indent="0" marL="0">
              <a:lnSpc>
                <a:spcPts val="1077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138825" y="1959843"/>
            <a:ext cx="241927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8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Distance in calibrated deep-feature space. Matches human judgment; standard in super-resolution, absent from denoising leaderboards.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60772" y="2613496"/>
            <a:ext cx="150019" cy="150019"/>
          </a:xfrm>
          <a:prstGeom prst="roundRect">
            <a:avLst>
              <a:gd name="adj" fmla="val 6342847"/>
            </a:avLst>
          </a:prstGeom>
          <a:noFill/>
          <a:ln w="7144">
            <a:solidFill>
              <a:srgbClr val="B3452C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57200" y="2609924"/>
            <a:ext cx="200025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00088" y="2602781"/>
            <a:ext cx="7543800" cy="171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Noise2Noise names the mechanism itself: </a:t>
            </a:r>
            <a:pPr algn="l" indent="0" marL="0">
              <a:lnSpc>
                <a:spcPts val="1097"/>
              </a:lnSpc>
              <a:buNone/>
            </a:pPr>
            <a:r>
              <a:rPr lang="en-US" sz="731" i="1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“L2 training results in spatial blurriness.”</a:t>
            </a:r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While leaderboards rank by PSNR, the incentive points the wrong way. </a:t>
            </a:r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57534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[N2N18 §2]</a:t>
            </a:r>
            <a:endParaRPr lang="en-US" sz="731" dirty="0"/>
          </a:p>
        </p:txBody>
      </p:sp>
      <p:sp>
        <p:nvSpPr>
          <p:cNvPr id="24" name="Text 22"/>
          <p:cNvSpPr/>
          <p:nvPr/>
        </p:nvSpPr>
        <p:spPr>
          <a:xfrm>
            <a:off x="460772" y="2849240"/>
            <a:ext cx="150019" cy="150019"/>
          </a:xfrm>
          <a:prstGeom prst="roundRect">
            <a:avLst>
              <a:gd name="adj" fmla="val 6342847"/>
            </a:avLst>
          </a:prstGeom>
          <a:noFill/>
          <a:ln w="7144">
            <a:solidFill>
              <a:srgbClr val="B3452C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57200" y="2845668"/>
            <a:ext cx="200025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00088" y="2838524"/>
            <a:ext cx="7543800" cy="336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rule for the whole talk: every PSNR number is reproduced from a </a:t>
            </a:r>
            <a:pPr algn="l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named table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(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DnCNN17 Table II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Restormer22 Tables 4–6 …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) at a stated dataset and σ — never recomputed by us.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60772" y="3205200"/>
            <a:ext cx="150019" cy="150019"/>
          </a:xfrm>
          <a:prstGeom prst="roundRect">
            <a:avLst>
              <a:gd name="adj" fmla="val 6342847"/>
            </a:avLst>
          </a:prstGeom>
          <a:noFill/>
          <a:ln w="7144">
            <a:solidFill>
              <a:srgbClr val="B3452C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57200" y="3201628"/>
            <a:ext cx="200025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00088" y="3194484"/>
            <a:ext cx="7543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For applications the metric that matters is </a:t>
            </a:r>
            <a:pPr algn="l" indent="0" marL="0">
              <a:lnSpc>
                <a:spcPts val="1097"/>
              </a:lnSpc>
              <a:buNone/>
            </a:pPr>
            <a:r>
              <a:rPr lang="en-US" sz="731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downstream</a:t>
            </a:r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: detection or segmentation IoU on denoised input. Denoising is preprocessing, not the product — see slide 40.</a:t>
            </a:r>
            <a:endParaRPr lang="en-US" sz="731" dirty="0"/>
          </a:p>
        </p:txBody>
      </p:sp>
      <p:sp>
        <p:nvSpPr>
          <p:cNvPr id="30" name="Shape 28"/>
          <p:cNvSpPr/>
          <p:nvPr/>
        </p:nvSpPr>
        <p:spPr>
          <a:xfrm>
            <a:off x="457200" y="4577358"/>
            <a:ext cx="8229600" cy="0"/>
          </a:xfrm>
          <a:prstGeom prst="line">
            <a:avLst/>
          </a:prstGeom>
          <a:noFill/>
          <a:ln w="7144">
            <a:solidFill>
              <a:srgbClr val="DDD5C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573786"/>
            <a:ext cx="8229600" cy="248194"/>
          </a:xfrm>
          <a:prstGeom prst="rect">
            <a:avLst/>
          </a:prstGeom>
          <a:noFill/>
          <a:ln/>
        </p:spPr>
        <p:txBody>
          <a:bodyPr wrap="square" lIns="0" tIns="50006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8" kern="0" dirty="0">
                <a:solidFill>
                  <a:srgbClr val="8A82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SSIM: </a:t>
            </a:r>
            <a:pPr algn="l" indent="0" marL="0">
              <a:lnSpc>
                <a:spcPts val="886"/>
              </a:lnSpc>
              <a:buNone/>
            </a:pPr>
            <a:r>
              <a:rPr lang="en-US" sz="800" spc="18" kern="0" dirty="0">
                <a:solidFill>
                  <a:srgbClr val="57534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Wang et al., IEEE TIP 2004</a:t>
            </a:r>
            <a:pPr algn="l" indent="0" marL="0">
              <a:lnSpc>
                <a:spcPts val="886"/>
              </a:lnSpc>
              <a:buNone/>
            </a:pPr>
            <a:r>
              <a:rPr lang="en-US" sz="800" spc="18" kern="0" dirty="0">
                <a:solidFill>
                  <a:srgbClr val="8A82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· LPIPS: </a:t>
            </a:r>
            <a:pPr algn="l" indent="0" marL="0">
              <a:lnSpc>
                <a:spcPts val="886"/>
              </a:lnSpc>
              <a:buNone/>
            </a:pPr>
            <a:r>
              <a:rPr lang="en-US" sz="800" spc="18" kern="0" dirty="0">
                <a:solidFill>
                  <a:srgbClr val="57534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Zhang et al., CVPR 2018</a:t>
            </a:r>
            <a:pPr algn="l" indent="0" marL="0">
              <a:lnSpc>
                <a:spcPts val="886"/>
              </a:lnSpc>
              <a:buNone/>
            </a:pPr>
            <a:r>
              <a:rPr lang="en-US" sz="800" spc="18" kern="0" dirty="0">
                <a:solidFill>
                  <a:srgbClr val="8A82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· </a:t>
            </a:r>
            <a:pPr algn="l" indent="0" marL="0">
              <a:lnSpc>
                <a:spcPts val="886"/>
              </a:lnSpc>
              <a:buNone/>
            </a:pPr>
            <a:r>
              <a:rPr lang="en-US" sz="800" spc="18" kern="0" dirty="0">
                <a:solidFill>
                  <a:srgbClr val="57534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N2N18</a:t>
            </a:r>
            <a:pPr algn="l" indent="0" marL="0">
              <a:lnSpc>
                <a:spcPts val="886"/>
              </a:lnSpc>
              <a:buNone/>
            </a:pPr>
            <a:r>
              <a:rPr lang="en-US" sz="800" spc="18" kern="0" dirty="0">
                <a:solidFill>
                  <a:srgbClr val="8A82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§2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169016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2007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814981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2014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460834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2017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106798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2022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752763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2025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258639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2904604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550457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6196422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7842386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5738" y="114300"/>
            <a:ext cx="530602" cy="462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250" spc="-45" kern="0" dirty="0">
                <a:solidFill>
                  <a:srgbClr val="1C1917">
                    <a:alpha val="1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457200" y="1626989"/>
            <a:ext cx="2903220" cy="9155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6750"/>
              </a:lnSpc>
              <a:buNone/>
            </a:pPr>
            <a:r>
              <a:rPr lang="en-US" sz="6750" spc="-270" kern="0" dirty="0">
                <a:solidFill>
                  <a:srgbClr val="B3452C">
                    <a:alpha val="14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6750" dirty="0"/>
          </a:p>
        </p:txBody>
      </p:sp>
      <p:sp>
        <p:nvSpPr>
          <p:cNvPr id="4" name="Text 2"/>
          <p:cNvSpPr/>
          <p:nvPr/>
        </p:nvSpPr>
        <p:spPr>
          <a:xfrm>
            <a:off x="457200" y="2569964"/>
            <a:ext cx="246342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149" kern="0" dirty="0">
                <a:solidFill>
                  <a:srgbClr val="57534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PART 1 / 5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67916" y="2912864"/>
            <a:ext cx="0" cy="117872"/>
          </a:xfrm>
          <a:prstGeom prst="line">
            <a:avLst/>
          </a:prstGeom>
          <a:noFill/>
          <a:ln w="21431">
            <a:solidFill>
              <a:srgbClr val="B345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912864"/>
            <a:ext cx="1814513" cy="164592"/>
          </a:xfrm>
          <a:prstGeom prst="rect">
            <a:avLst/>
          </a:prstGeom>
          <a:noFill/>
          <a:ln/>
        </p:spPr>
        <p:txBody>
          <a:bodyPr wrap="none" lIns="85725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BASELINE · 2007 – 2014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571750" y="628650"/>
            <a:ext cx="7144" cy="3500438"/>
          </a:xfrm>
          <a:prstGeom prst="rect">
            <a:avLst/>
          </a:prstGeom>
          <a:solidFill>
            <a:srgbClr val="DDD5C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964656" y="1259867"/>
            <a:ext cx="6008251" cy="416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813" b="1" spc="-42" kern="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Hand-Written Prior</a:t>
            </a:r>
            <a:endParaRPr lang="en-US" sz="2813" dirty="0"/>
          </a:p>
        </p:txBody>
      </p:sp>
      <p:sp>
        <p:nvSpPr>
          <p:cNvPr id="9" name="Shape 7"/>
          <p:cNvSpPr/>
          <p:nvPr/>
        </p:nvSpPr>
        <p:spPr>
          <a:xfrm>
            <a:off x="2964656" y="1834939"/>
            <a:ext cx="5722144" cy="0"/>
          </a:xfrm>
          <a:prstGeom prst="line">
            <a:avLst/>
          </a:prstGeom>
          <a:noFill/>
          <a:ln w="7144">
            <a:solidFill>
              <a:srgbClr val="DDD5C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78944" y="1952811"/>
            <a:ext cx="182947" cy="142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233328" y="1931380"/>
            <a:ext cx="5439184" cy="163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1"/>
              </a:lnSpc>
              <a:buNone/>
            </a:pPr>
            <a:r>
              <a:rPr lang="en-US" sz="956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BM3D — the baseline everything is measured against</a:t>
            </a:r>
            <a:endParaRPr lang="en-US" sz="956" dirty="0"/>
          </a:p>
        </p:txBody>
      </p:sp>
      <p:sp>
        <p:nvSpPr>
          <p:cNvPr id="12" name="Shape 10"/>
          <p:cNvSpPr/>
          <p:nvPr/>
        </p:nvSpPr>
        <p:spPr>
          <a:xfrm>
            <a:off x="2964656" y="2191680"/>
            <a:ext cx="5722144" cy="0"/>
          </a:xfrm>
          <a:prstGeom prst="line">
            <a:avLst/>
          </a:prstGeom>
          <a:noFill/>
          <a:ln w="7144">
            <a:solidFill>
              <a:srgbClr val="DDD5C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78944" y="2309552"/>
            <a:ext cx="182947" cy="142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233328" y="2288121"/>
            <a:ext cx="5439184" cy="163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1"/>
              </a:lnSpc>
              <a:buNone/>
            </a:pPr>
            <a:r>
              <a:rPr lang="en-US" sz="956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WNNM — the classical ceiling</a:t>
            </a:r>
            <a:endParaRPr lang="en-US" sz="956" dirty="0"/>
          </a:p>
        </p:txBody>
      </p:sp>
      <p:sp>
        <p:nvSpPr>
          <p:cNvPr id="15" name="Shape 13"/>
          <p:cNvSpPr/>
          <p:nvPr/>
        </p:nvSpPr>
        <p:spPr>
          <a:xfrm>
            <a:off x="2964656" y="2548421"/>
            <a:ext cx="5722144" cy="0"/>
          </a:xfrm>
          <a:prstGeom prst="line">
            <a:avLst/>
          </a:prstGeom>
          <a:noFill/>
          <a:ln w="7144">
            <a:solidFill>
              <a:srgbClr val="DDD5C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964656" y="2905162"/>
            <a:ext cx="5722144" cy="0"/>
          </a:xfrm>
          <a:prstGeom prst="line">
            <a:avLst/>
          </a:prstGeom>
          <a:noFill/>
          <a:ln w="7144">
            <a:solidFill>
              <a:srgbClr val="DDD5C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78944" y="2666293"/>
            <a:ext cx="182947" cy="142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233328" y="2644862"/>
            <a:ext cx="5439184" cy="163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1"/>
              </a:lnSpc>
              <a:buNone/>
            </a:pPr>
            <a:r>
              <a:rPr lang="en-US" sz="956" dirty="0">
                <a:solidFill>
                  <a:srgbClr val="1C191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Bottleneck 1 — why the era ended</a:t>
            </a:r>
            <a:endParaRPr lang="en-US" sz="956" dirty="0"/>
          </a:p>
        </p:txBody>
      </p:sp>
      <p:sp>
        <p:nvSpPr>
          <p:cNvPr id="19" name="Text 17"/>
          <p:cNvSpPr/>
          <p:nvPr/>
        </p:nvSpPr>
        <p:spPr>
          <a:xfrm>
            <a:off x="2964656" y="3108759"/>
            <a:ext cx="5722144" cy="389111"/>
          </a:xfrm>
          <a:prstGeom prst="rect">
            <a:avLst/>
          </a:prstGeom>
          <a:solidFill>
            <a:srgbClr val="FAF5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2964656" y="3112331"/>
            <a:ext cx="5722144" cy="0"/>
          </a:xfrm>
          <a:prstGeom prst="line">
            <a:avLst/>
          </a:prstGeom>
          <a:noFill/>
          <a:ln w="7144">
            <a:solidFill>
              <a:srgbClr val="DDD5C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3228" y="3108759"/>
            <a:ext cx="0" cy="389111"/>
          </a:xfrm>
          <a:prstGeom prst="line">
            <a:avLst/>
          </a:prstGeom>
          <a:noFill/>
          <a:ln w="7144">
            <a:solidFill>
              <a:srgbClr val="DDD5C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64656" y="3494298"/>
            <a:ext cx="5722144" cy="0"/>
          </a:xfrm>
          <a:prstGeom prst="line">
            <a:avLst/>
          </a:prstGeom>
          <a:noFill/>
          <a:ln w="7144">
            <a:solidFill>
              <a:srgbClr val="DDD5C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75372" y="3108759"/>
            <a:ext cx="0" cy="389111"/>
          </a:xfrm>
          <a:prstGeom prst="line">
            <a:avLst/>
          </a:prstGeom>
          <a:noFill/>
          <a:ln w="21431">
            <a:solidFill>
              <a:srgbClr val="B3452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28963" y="3223059"/>
            <a:ext cx="5407819" cy="1605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4"/>
              </a:lnSpc>
              <a:buNone/>
            </a:pPr>
            <a:r>
              <a:rPr lang="en-US" sz="816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Where the field started: </a:t>
            </a:r>
            <a:pPr algn="l" indent="0" marL="0">
              <a:lnSpc>
                <a:spcPts val="1264"/>
              </a:lnSpc>
              <a:buNone/>
            </a:pPr>
            <a:r>
              <a:rPr lang="en-US" sz="816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formula a human wrote, re-solved from scratch for every image.</a:t>
            </a:r>
            <a:endParaRPr lang="en-US" sz="816" dirty="0"/>
          </a:p>
        </p:txBody>
      </p:sp>
      <p:sp>
        <p:nvSpPr>
          <p:cNvPr id="25" name="Shape 23"/>
          <p:cNvSpPr/>
          <p:nvPr/>
        </p:nvSpPr>
        <p:spPr>
          <a:xfrm>
            <a:off x="457200" y="4577358"/>
            <a:ext cx="8229600" cy="0"/>
          </a:xfrm>
          <a:prstGeom prst="line">
            <a:avLst/>
          </a:prstGeom>
          <a:noFill/>
          <a:ln w="7144">
            <a:solidFill>
              <a:srgbClr val="DDD5C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573786"/>
            <a:ext cx="8636000" cy="248194"/>
          </a:xfrm>
          <a:prstGeom prst="rect">
            <a:avLst/>
          </a:prstGeom>
          <a:noFill/>
          <a:ln/>
        </p:spPr>
        <p:txBody>
          <a:bodyPr wrap="none" lIns="0" tIns="50006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8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brief §2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169016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2007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814981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2014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460834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2017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106798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2022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752763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2025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258639" y="4823817"/>
            <a:ext cx="42863" cy="42863"/>
          </a:xfrm>
          <a:prstGeom prst="ellipse">
            <a:avLst/>
          </a:prstGeom>
          <a:solidFill>
            <a:srgbClr val="B3452C"/>
          </a:solidFill>
          <a:ln w="7144">
            <a:solidFill>
              <a:srgbClr val="B3452C"/>
            </a:solidFill>
            <a:prstDash val="solid"/>
          </a:ln>
          <a:effectLst>
            <a:outerShdw sx="100000" sy="100000" kx="0" ky="0" algn="bl" rotWithShape="0" blurRad="101600" dist="50800" dir="16200000">
              <a:srgbClr val="B3452C">
                <a:alpha val="1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2904604" y="4823817"/>
            <a:ext cx="42863" cy="42863"/>
          </a:xfrm>
          <a:prstGeom prst="ellipse">
            <a:avLst/>
          </a:prstGeom>
          <a:solidFill>
            <a:srgbClr val="B3452C"/>
          </a:solidFill>
          <a:ln w="7144">
            <a:solidFill>
              <a:srgbClr val="B3452C"/>
            </a:solidFill>
            <a:prstDash val="solid"/>
          </a:ln>
          <a:effectLst>
            <a:outerShdw sx="100000" sy="100000" kx="0" ky="0" algn="bl" rotWithShape="0" blurRad="101600" dist="50800" dir="16200000">
              <a:srgbClr val="B3452C">
                <a:alpha val="1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550457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196422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7842386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5738" y="114300"/>
            <a:ext cx="530602" cy="462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250" spc="-45" kern="0" dirty="0">
                <a:solidFill>
                  <a:srgbClr val="1C1917">
                    <a:alpha val="1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457200" y="371475"/>
            <a:ext cx="8636000" cy="161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B34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CLASSICAL DIP · BM3D · 2007 · THE BASELINE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60784"/>
            <a:ext cx="8229600" cy="26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3"/>
              </a:lnSpc>
              <a:buNone/>
            </a:pPr>
            <a:r>
              <a:rPr lang="en-US" sz="1744" b="1" spc="-26" kern="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innovation: filter patches together, not alone</a:t>
            </a:r>
            <a:endParaRPr lang="en-US" sz="1744" dirty="0"/>
          </a:p>
        </p:txBody>
      </p:sp>
      <p:sp>
        <p:nvSpPr>
          <p:cNvPr id="5" name="Text 3"/>
          <p:cNvSpPr/>
          <p:nvPr/>
        </p:nvSpPr>
        <p:spPr>
          <a:xfrm>
            <a:off x="457200" y="865956"/>
            <a:ext cx="7715250" cy="358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Dabov et al., IEEE TIP 2007. Previous transform-domain methods shrank each patch independently. BM3D groups similar patches first, creating a third axis along which the signal is nearly constant and the noise is not.</a:t>
            </a:r>
            <a:endParaRPr lang="en-US" sz="872" dirty="0"/>
          </a:p>
        </p:txBody>
      </p:sp>
      <p:sp>
        <p:nvSpPr>
          <p:cNvPr id="6" name="Text 4"/>
          <p:cNvSpPr/>
          <p:nvPr/>
        </p:nvSpPr>
        <p:spPr>
          <a:xfrm>
            <a:off x="2289572" y="1301725"/>
            <a:ext cx="4564856" cy="2232645"/>
          </a:xfrm>
          <a:prstGeom prst="roundRect">
            <a:avLst>
              <a:gd name="adj" fmla="val 4266"/>
            </a:avLst>
          </a:prstGeom>
          <a:solidFill>
            <a:srgbClr val="FFFFFF"/>
          </a:solidFill>
          <a:ln w="7144">
            <a:solidFill>
              <a:srgbClr val="DDD5C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" name="Image 0" descr="/tmp/h2p-fit-1789755820668-atno4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53804" y="1376735"/>
            <a:ext cx="3636280" cy="18002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364581" y="3219822"/>
            <a:ext cx="4414838" cy="239539"/>
          </a:xfrm>
          <a:prstGeom prst="rect">
            <a:avLst/>
          </a:prstGeom>
          <a:noFill/>
          <a:ln/>
        </p:spPr>
        <p:txBody>
          <a:bodyPr wrap="square" lIns="28575" tIns="0" rIns="28575" bIns="14288" rtlCol="0" anchor="t"/>
          <a:lstStyle/>
          <a:p>
            <a:pPr algn="ctr" indent="0" marL="0">
              <a:lnSpc>
                <a:spcPts val="856"/>
              </a:lnSpc>
              <a:buNone/>
            </a:pPr>
            <a:r>
              <a:rPr lang="en-US" sz="800" dirty="0">
                <a:solidFill>
                  <a:srgbClr val="8A827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Block matching in practice: the reference patch R and the similar patches BM3D groups with it before collaborative 3-D filtering. </a:t>
            </a:r>
            <a:pPr algn="ctr" indent="0" marL="0">
              <a:lnSpc>
                <a:spcPts val="856"/>
              </a:lnSpc>
              <a:buNone/>
            </a:pPr>
            <a:r>
              <a:rPr lang="en-US" sz="80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[BM3D07 · Fig. 2]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67916" y="3652242"/>
            <a:ext cx="0" cy="126802"/>
          </a:xfrm>
          <a:prstGeom prst="line">
            <a:avLst/>
          </a:prstGeom>
          <a:noFill/>
          <a:ln w="21431">
            <a:solidFill>
              <a:srgbClr val="B3452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3652242"/>
            <a:ext cx="978694" cy="185493"/>
          </a:xfrm>
          <a:prstGeom prst="rect">
            <a:avLst/>
          </a:prstGeom>
          <a:noFill/>
          <a:ln/>
        </p:spPr>
        <p:txBody>
          <a:bodyPr wrap="none" lIns="78581" tIns="14288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89" kern="0" dirty="0">
                <a:solidFill>
                  <a:srgbClr val="B34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CHANGED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500188" y="3652242"/>
            <a:ext cx="7186613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1"/>
              </a:lnSpc>
              <a:buNone/>
            </a:pPr>
            <a:r>
              <a:rPr lang="en-US" sz="742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Block-match similar patches into a 3-D stack, transform the stack, hard-threshold, invert, aggregate — then repeat using the cleaner estimate as a </a:t>
            </a:r>
            <a:pPr algn="l" indent="0" marL="0">
              <a:lnSpc>
                <a:spcPts val="1151"/>
              </a:lnSpc>
              <a:buNone/>
            </a:pPr>
            <a:r>
              <a:rPr lang="en-US" sz="742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Wiener pilot</a:t>
            </a:r>
            <a:pPr algn="l" indent="0" marL="0">
              <a:lnSpc>
                <a:spcPts val="1151"/>
              </a:lnSpc>
              <a:buNone/>
            </a:pPr>
            <a:r>
              <a:rPr lang="en-US" sz="742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742" dirty="0"/>
          </a:p>
        </p:txBody>
      </p:sp>
      <p:sp>
        <p:nvSpPr>
          <p:cNvPr id="12" name="Shape 9"/>
          <p:cNvSpPr/>
          <p:nvPr/>
        </p:nvSpPr>
        <p:spPr>
          <a:xfrm>
            <a:off x="467916" y="3884079"/>
            <a:ext cx="0" cy="126802"/>
          </a:xfrm>
          <a:prstGeom prst="line">
            <a:avLst/>
          </a:prstGeom>
          <a:noFill/>
          <a:ln w="21431">
            <a:solidFill>
              <a:srgbClr val="B3452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3884079"/>
            <a:ext cx="978694" cy="185493"/>
          </a:xfrm>
          <a:prstGeom prst="rect">
            <a:avLst/>
          </a:prstGeom>
          <a:noFill/>
          <a:ln/>
        </p:spPr>
        <p:txBody>
          <a:bodyPr wrap="none" lIns="78581" tIns="14288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89" kern="0" dirty="0">
                <a:solidFill>
                  <a:srgbClr val="B34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IT WORKS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500188" y="3884079"/>
            <a:ext cx="7186613" cy="176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1"/>
              </a:lnSpc>
              <a:buNone/>
            </a:pPr>
            <a:r>
              <a:rPr lang="en-US" sz="742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paper own ablation: even a transform that is random apart from the DC loses only </a:t>
            </a:r>
            <a:pPr algn="l" indent="0" marL="0">
              <a:lnSpc>
                <a:spcPts val="1151"/>
              </a:lnSpc>
              <a:buNone/>
            </a:pPr>
            <a:r>
              <a:rPr lang="en-US" sz="742" dirty="0">
                <a:solidFill>
                  <a:srgbClr val="1C191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0.1–0.4 dB</a:t>
            </a:r>
            <a:pPr algn="l" indent="0" marL="0">
              <a:lnSpc>
                <a:spcPts val="1151"/>
              </a:lnSpc>
              <a:buNone/>
            </a:pPr>
            <a:r>
              <a:rPr lang="en-US" sz="742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 </a:t>
            </a:r>
            <a:pPr algn="l" indent="0" marL="0">
              <a:lnSpc>
                <a:spcPts val="1151"/>
              </a:lnSpc>
              <a:buNone/>
            </a:pPr>
            <a:r>
              <a:rPr lang="en-US" sz="742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grouping does the work, not the transform.</a:t>
            </a:r>
            <a:pPr algn="l" indent="0" marL="0">
              <a:lnSpc>
                <a:spcPts val="1151"/>
              </a:lnSpc>
              <a:buNone/>
            </a:pPr>
            <a:r>
              <a:rPr lang="en-US" sz="742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1151"/>
              </a:lnSpc>
              <a:buNone/>
            </a:pPr>
            <a:r>
              <a:rPr lang="en-US" sz="742" dirty="0">
                <a:solidFill>
                  <a:srgbClr val="57534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[BM3D07 §V]</a:t>
            </a:r>
            <a:endParaRPr lang="en-US" sz="742" dirty="0"/>
          </a:p>
        </p:txBody>
      </p:sp>
      <p:sp>
        <p:nvSpPr>
          <p:cNvPr id="15" name="Shape 12"/>
          <p:cNvSpPr/>
          <p:nvPr/>
        </p:nvSpPr>
        <p:spPr>
          <a:xfrm>
            <a:off x="457200" y="4577358"/>
            <a:ext cx="8229600" cy="0"/>
          </a:xfrm>
          <a:prstGeom prst="line">
            <a:avLst/>
          </a:prstGeom>
          <a:noFill/>
          <a:ln w="7144">
            <a:solidFill>
              <a:srgbClr val="DDD5C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4573786"/>
            <a:ext cx="8229600" cy="248194"/>
          </a:xfrm>
          <a:prstGeom prst="rect">
            <a:avLst/>
          </a:prstGeom>
          <a:noFill/>
          <a:ln/>
        </p:spPr>
        <p:txBody>
          <a:bodyPr wrap="square" lIns="0" tIns="50006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8" kern="0" dirty="0">
                <a:solidFill>
                  <a:srgbClr val="57534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BM3D07</a:t>
            </a:r>
            <a:pPr algn="l" indent="0" marL="0">
              <a:lnSpc>
                <a:spcPts val="886"/>
              </a:lnSpc>
              <a:buNone/>
            </a:pPr>
            <a:r>
              <a:rPr lang="en-US" sz="800" spc="18" kern="0" dirty="0">
                <a:solidFill>
                  <a:srgbClr val="8A82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§II-C, §V · </a:t>
            </a:r>
            <a:pPr algn="l" indent="0" marL="0">
              <a:lnSpc>
                <a:spcPts val="886"/>
              </a:lnSpc>
              <a:buNone/>
            </a:pPr>
            <a:r>
              <a:rPr lang="en-US" sz="800" spc="18" kern="0" dirty="0">
                <a:solidFill>
                  <a:srgbClr val="57534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DnCNN17</a:t>
            </a:r>
            <a:pPr algn="l" indent="0" marL="0">
              <a:lnSpc>
                <a:spcPts val="886"/>
              </a:lnSpc>
              <a:buNone/>
            </a:pPr>
            <a:r>
              <a:rPr lang="en-US" sz="800" spc="18" kern="0" dirty="0">
                <a:solidFill>
                  <a:srgbClr val="8A82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Table II, Table IV · baselines in </a:t>
            </a:r>
            <a:pPr algn="l" indent="0" marL="0">
              <a:lnSpc>
                <a:spcPts val="886"/>
              </a:lnSpc>
              <a:buNone/>
            </a:pPr>
            <a:r>
              <a:rPr lang="en-US" sz="800" spc="18" kern="0" dirty="0">
                <a:solidFill>
                  <a:srgbClr val="57534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N2N18</a:t>
            </a:r>
            <a:pPr algn="l" indent="0" marL="0">
              <a:lnSpc>
                <a:spcPts val="886"/>
              </a:lnSpc>
              <a:buNone/>
            </a:pPr>
            <a:r>
              <a:rPr lang="en-US" sz="800" spc="18" kern="0" dirty="0">
                <a:solidFill>
                  <a:srgbClr val="8A82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ts val="886"/>
              </a:lnSpc>
              <a:buNone/>
            </a:pPr>
            <a:r>
              <a:rPr lang="en-US" sz="800" spc="18" kern="0" dirty="0">
                <a:solidFill>
                  <a:srgbClr val="57534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N2V19</a:t>
            </a:r>
            <a:pPr algn="l" indent="0" marL="0">
              <a:lnSpc>
                <a:spcPts val="886"/>
              </a:lnSpc>
              <a:buNone/>
            </a:pPr>
            <a:r>
              <a:rPr lang="en-US" sz="800" spc="18" kern="0" dirty="0">
                <a:solidFill>
                  <a:srgbClr val="8A82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ts val="886"/>
              </a:lnSpc>
              <a:buNone/>
            </a:pPr>
            <a:r>
              <a:rPr lang="en-US" sz="800" spc="18" kern="0" dirty="0">
                <a:solidFill>
                  <a:srgbClr val="57534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ZS-N2N23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1169016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2007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2814981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2014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4460834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2017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6106798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2022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7752763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2025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1258639" y="4823817"/>
            <a:ext cx="42863" cy="42863"/>
          </a:xfrm>
          <a:prstGeom prst="ellipse">
            <a:avLst/>
          </a:prstGeom>
          <a:solidFill>
            <a:srgbClr val="B3452C"/>
          </a:solidFill>
          <a:ln w="7144">
            <a:solidFill>
              <a:srgbClr val="B3452C"/>
            </a:solidFill>
            <a:prstDash val="solid"/>
          </a:ln>
          <a:effectLst>
            <a:outerShdw sx="100000" sy="100000" kx="0" ky="0" algn="bl" rotWithShape="0" blurRad="101600" dist="50800" dir="16200000">
              <a:srgbClr val="B3452C">
                <a:alpha val="1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2904604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4550457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6196422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7842386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5738" y="114300"/>
            <a:ext cx="530602" cy="462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250" spc="-45" kern="0" dirty="0">
                <a:solidFill>
                  <a:srgbClr val="1C1917">
                    <a:alpha val="1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457200" y="371475"/>
            <a:ext cx="8636000" cy="161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B34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CLASSICAL DIP · BM3D · 2007 · THE BASELINE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93432" y="640928"/>
            <a:ext cx="605879" cy="108496"/>
          </a:xfrm>
          <a:prstGeom prst="roundRect">
            <a:avLst>
              <a:gd name="adj" fmla="val 8770346"/>
            </a:avLst>
          </a:prstGeom>
          <a:solidFill>
            <a:srgbClr val="B345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560784"/>
            <a:ext cx="8229600" cy="26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3"/>
              </a:lnSpc>
              <a:buNone/>
            </a:pPr>
            <a:r>
              <a:rPr lang="en-US" sz="1744" b="1" spc="-26" kern="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innovation: filter patches together, not alone</a:t>
            </a:r>
            <a:pPr algn="l" indent="0" marL="0">
              <a:lnSpc>
                <a:spcPts val="1953"/>
              </a:lnSpc>
              <a:buNone/>
            </a:pPr>
            <a:r>
              <a:rPr lang="en-US" sz="800" b="1" spc="68" kern="0" dirty="0">
                <a:solidFill>
                  <a:srgbClr val="F5F1E8"/>
                </a:solidFill>
                <a:highlight>
                  <a:srgbClr val="B3452C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CONTINUED</a:t>
            </a:r>
            <a:endParaRPr lang="en-US" sz="1744" dirty="0"/>
          </a:p>
        </p:txBody>
      </p:sp>
      <p:sp>
        <p:nvSpPr>
          <p:cNvPr id="6" name="Text 4"/>
          <p:cNvSpPr/>
          <p:nvPr/>
        </p:nvSpPr>
        <p:spPr>
          <a:xfrm>
            <a:off x="460772" y="955253"/>
            <a:ext cx="8222456" cy="571835"/>
          </a:xfrm>
          <a:prstGeom prst="roundRect">
            <a:avLst>
              <a:gd name="adj" fmla="val 16657"/>
            </a:avLst>
          </a:prstGeom>
          <a:solidFill>
            <a:srgbClr val="FFFDF7"/>
          </a:solidFill>
          <a:ln w="7144">
            <a:solidFill>
              <a:srgbClr val="DDD5C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35794" y="1080269"/>
            <a:ext cx="7872413" cy="1350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77" kern="0" dirty="0">
                <a:solidFill>
                  <a:srgbClr val="B34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IMPACT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35794" y="1242789"/>
            <a:ext cx="7872413" cy="159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759" dirty="0">
                <a:solidFill>
                  <a:srgbClr val="57534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BSD68, σ=25: </a:t>
            </a:r>
            <a:pPr algn="l" indent="0" marL="0">
              <a:lnSpc>
                <a:spcPts val="1215"/>
              </a:lnSpc>
              <a:buNone/>
            </a:pPr>
            <a:r>
              <a:rPr lang="en-US" sz="759" dirty="0">
                <a:solidFill>
                  <a:srgbClr val="1C191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28.57 dB</a:t>
            </a:r>
            <a:pPr algn="l" indent="0" marL="0">
              <a:lnSpc>
                <a:spcPts val="1215"/>
              </a:lnSpc>
              <a:buNone/>
            </a:pPr>
            <a:r>
              <a:rPr lang="en-US" sz="759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at </a:t>
            </a:r>
            <a:pPr algn="l" indent="0" marL="0">
              <a:lnSpc>
                <a:spcPts val="1215"/>
              </a:lnSpc>
              <a:buNone/>
            </a:pPr>
            <a:r>
              <a:rPr lang="en-US" sz="759" dirty="0">
                <a:solidFill>
                  <a:srgbClr val="1C191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2.85 s</a:t>
            </a:r>
            <a:pPr algn="l" indent="0" marL="0">
              <a:lnSpc>
                <a:spcPts val="1215"/>
              </a:lnSpc>
              <a:buNone/>
            </a:pPr>
            <a:r>
              <a:rPr lang="en-US" sz="759" dirty="0">
                <a:solidFill>
                  <a:srgbClr val="57534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per 512×512 image [DnCNN17 Table II, Table IV]</a:t>
            </a:r>
            <a:pPr algn="l" indent="0" marL="0">
              <a:lnSpc>
                <a:spcPts val="1215"/>
              </a:lnSpc>
              <a:buNone/>
            </a:pPr>
            <a:r>
              <a:rPr lang="en-US" sz="759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 Became the </a:t>
            </a:r>
            <a:pPr algn="l" indent="0" marL="0">
              <a:lnSpc>
                <a:spcPts val="1215"/>
              </a:lnSpc>
              <a:buNone/>
            </a:pPr>
            <a:r>
              <a:rPr lang="en-US" sz="759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reference line every paper for a decade had to beat</a:t>
            </a:r>
            <a:pPr algn="l" indent="0" marL="0">
              <a:lnSpc>
                <a:spcPts val="1215"/>
              </a:lnSpc>
              <a:buNone/>
            </a:pPr>
            <a:r>
              <a:rPr lang="en-US" sz="759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759" dirty="0"/>
          </a:p>
        </p:txBody>
      </p:sp>
      <p:sp>
        <p:nvSpPr>
          <p:cNvPr id="9" name="Text 7"/>
          <p:cNvSpPr/>
          <p:nvPr/>
        </p:nvSpPr>
        <p:spPr>
          <a:xfrm>
            <a:off x="460772" y="1627101"/>
            <a:ext cx="8222456" cy="721072"/>
          </a:xfrm>
          <a:prstGeom prst="roundRect">
            <a:avLst>
              <a:gd name="adj" fmla="val 13209"/>
            </a:avLst>
          </a:prstGeom>
          <a:solidFill>
            <a:srgbClr val="FFFDF7"/>
          </a:solidFill>
          <a:ln w="7144">
            <a:solidFill>
              <a:srgbClr val="DDD5C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35794" y="1752116"/>
            <a:ext cx="7872413" cy="1350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77" kern="0" dirty="0">
                <a:solidFill>
                  <a:srgbClr val="B34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STILL IN USE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35794" y="1914637"/>
            <a:ext cx="7872413" cy="308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Appears as a live baseline in </a:t>
            </a:r>
            <a:pPr algn="l" indent="0" marL="0">
              <a:lnSpc>
                <a:spcPts val="1215"/>
              </a:lnSpc>
              <a:buNone/>
            </a:pPr>
            <a:r>
              <a:rPr lang="en-US" sz="800" b="1" dirty="0">
                <a:solidFill>
                  <a:srgbClr val="1C191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Noise2Noise (2018)</a:t>
            </a:r>
            <a:pPr algn="l" indent="0" marL="0">
              <a:lnSpc>
                <a:spcPts val="1215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</a:t>
            </a:r>
            <a:pPr algn="l" indent="0" marL="0">
              <a:lnSpc>
                <a:spcPts val="1215"/>
              </a:lnSpc>
              <a:buNone/>
            </a:pPr>
            <a:r>
              <a:rPr lang="en-US" sz="800" b="1" dirty="0">
                <a:solidFill>
                  <a:srgbClr val="1C191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Noise2Void (2019)</a:t>
            </a:r>
            <a:pPr algn="l" indent="0" marL="0">
              <a:lnSpc>
                <a:spcPts val="1215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</a:t>
            </a:r>
            <a:pPr algn="l" indent="0" marL="0">
              <a:lnSpc>
                <a:spcPts val="1215"/>
              </a:lnSpc>
              <a:buNone/>
            </a:pPr>
            <a:r>
              <a:rPr lang="en-US" sz="800" b="1" dirty="0">
                <a:solidFill>
                  <a:srgbClr val="1C191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ZS-N2N (2023)</a:t>
            </a:r>
            <a:pPr algn="l" indent="0" marL="0">
              <a:lnSpc>
                <a:spcPts val="1215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and </a:t>
            </a:r>
            <a:pPr algn="l" indent="0" marL="0">
              <a:lnSpc>
                <a:spcPts val="1215"/>
              </a:lnSpc>
              <a:buNone/>
            </a:pPr>
            <a:r>
              <a:rPr lang="en-US" sz="800" b="1" dirty="0">
                <a:solidFill>
                  <a:srgbClr val="1C191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Restormer (2022)</a:t>
            </a:r>
            <a:pPr algn="l" indent="0" marL="0">
              <a:lnSpc>
                <a:spcPts val="1215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a seventeen-year-old algorithm is still what new zero-shot methods must beat, </a:t>
            </a:r>
            <a:pPr algn="l" indent="0" marL="0">
              <a:lnSpc>
                <a:spcPts val="1215"/>
              </a:lnSpc>
              <a:buNone/>
            </a:pPr>
            <a:r>
              <a:rPr lang="en-US" sz="800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because it needs no training data</a:t>
            </a:r>
            <a:pPr algn="l" indent="0" marL="0">
              <a:lnSpc>
                <a:spcPts val="1215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60772" y="2448185"/>
            <a:ext cx="8222456" cy="731118"/>
          </a:xfrm>
          <a:prstGeom prst="roundRect">
            <a:avLst>
              <a:gd name="adj" fmla="val 13028"/>
            </a:avLst>
          </a:prstGeom>
          <a:solidFill>
            <a:srgbClr val="FFFDF7"/>
          </a:solidFill>
          <a:ln w="7144">
            <a:solidFill>
              <a:srgbClr val="DDD5C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35794" y="2573201"/>
            <a:ext cx="7872413" cy="1350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77" kern="0" dirty="0">
                <a:solidFill>
                  <a:srgbClr val="B34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APPLICATIONS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35794" y="2735721"/>
            <a:ext cx="7872413" cy="318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zero-shot comparison in those same papers, and the fallback where there is neither training data nor a GPU. On real sensor noise it still beats an AWGN-trained DnCNN by </a:t>
            </a:r>
            <a:pPr algn="l" indent="0" marL="0">
              <a:lnSpc>
                <a:spcPts val="1215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1.99 dB</a:t>
            </a:r>
            <a:pPr algn="l" indent="0" marL="0">
              <a:lnSpc>
                <a:spcPts val="1215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</a:t>
            </a:r>
            <a:pPr algn="l" indent="0" marL="0">
              <a:lnSpc>
                <a:spcPts val="1215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BM3D 25.65 vs DnCNN 23.66 on SIDD</a:t>
            </a:r>
            <a:pPr algn="l" indent="0" marL="0">
              <a:lnSpc>
                <a:spcPts val="1215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both from </a:t>
            </a:r>
            <a:pPr algn="l" indent="0" marL="0">
              <a:lnSpc>
                <a:spcPts val="1215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Restormer22 Table 6</a:t>
            </a:r>
            <a:pPr algn="l" indent="0" marL="0">
              <a:lnSpc>
                <a:spcPts val="1215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60772" y="3315035"/>
            <a:ext cx="2669307" cy="610791"/>
          </a:xfrm>
          <a:prstGeom prst="roundRect">
            <a:avLst>
              <a:gd name="adj" fmla="val 15595"/>
            </a:avLst>
          </a:prstGeom>
          <a:solidFill>
            <a:srgbClr val="FAF5EA"/>
          </a:solidFill>
          <a:ln w="7144">
            <a:solidFill>
              <a:srgbClr val="DDD5C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92931" y="3418619"/>
            <a:ext cx="2404988" cy="2261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72"/>
              </a:lnSpc>
              <a:buNone/>
            </a:pPr>
            <a:r>
              <a:rPr lang="en-US" sz="1688" spc="-17" kern="0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28.57 dB</a:t>
            </a:r>
            <a:endParaRPr lang="en-US" sz="1688" dirty="0"/>
          </a:p>
        </p:txBody>
      </p:sp>
      <p:sp>
        <p:nvSpPr>
          <p:cNvPr id="17" name="Text 15"/>
          <p:cNvSpPr/>
          <p:nvPr/>
        </p:nvSpPr>
        <p:spPr>
          <a:xfrm>
            <a:off x="592931" y="3672222"/>
            <a:ext cx="240498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68" kern="0" dirty="0">
                <a:solidFill>
                  <a:srgbClr val="1C191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BSD68 Σ=25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237235" y="3315035"/>
            <a:ext cx="2669418" cy="610791"/>
          </a:xfrm>
          <a:prstGeom prst="roundRect">
            <a:avLst>
              <a:gd name="adj" fmla="val 15595"/>
            </a:avLst>
          </a:prstGeom>
          <a:solidFill>
            <a:srgbClr val="FAF5EA"/>
          </a:solidFill>
          <a:ln w="7144">
            <a:solidFill>
              <a:srgbClr val="DDD5C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369394" y="3418619"/>
            <a:ext cx="2405100" cy="2261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72"/>
              </a:lnSpc>
              <a:buNone/>
            </a:pPr>
            <a:r>
              <a:rPr lang="en-US" sz="1688" spc="-17" kern="0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2.85 s</a:t>
            </a:r>
            <a:endParaRPr lang="en-US" sz="1688" dirty="0"/>
          </a:p>
        </p:txBody>
      </p:sp>
      <p:sp>
        <p:nvSpPr>
          <p:cNvPr id="20" name="Text 18"/>
          <p:cNvSpPr/>
          <p:nvPr/>
        </p:nvSpPr>
        <p:spPr>
          <a:xfrm>
            <a:off x="3369394" y="3672222"/>
            <a:ext cx="24051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68" kern="0" dirty="0">
                <a:solidFill>
                  <a:srgbClr val="1C191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512×512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013810" y="3315035"/>
            <a:ext cx="2669307" cy="610791"/>
          </a:xfrm>
          <a:prstGeom prst="roundRect">
            <a:avLst>
              <a:gd name="adj" fmla="val 15595"/>
            </a:avLst>
          </a:prstGeom>
          <a:solidFill>
            <a:srgbClr val="FAF5EA"/>
          </a:solidFill>
          <a:ln w="7144">
            <a:solidFill>
              <a:srgbClr val="DDD5C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145969" y="3418619"/>
            <a:ext cx="2404988" cy="2261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72"/>
              </a:lnSpc>
              <a:buNone/>
            </a:pPr>
            <a:r>
              <a:rPr lang="en-US" sz="1688" spc="-17" kern="0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+1.99 dB</a:t>
            </a:r>
            <a:endParaRPr lang="en-US" sz="1688" dirty="0"/>
          </a:p>
        </p:txBody>
      </p:sp>
      <p:sp>
        <p:nvSpPr>
          <p:cNvPr id="23" name="Text 21"/>
          <p:cNvSpPr/>
          <p:nvPr/>
        </p:nvSpPr>
        <p:spPr>
          <a:xfrm>
            <a:off x="6145969" y="3672222"/>
            <a:ext cx="240498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68" kern="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VS DNCNN ON SIDD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57200" y="4577358"/>
            <a:ext cx="8229600" cy="0"/>
          </a:xfrm>
          <a:prstGeom prst="line">
            <a:avLst/>
          </a:prstGeom>
          <a:noFill/>
          <a:ln w="7144">
            <a:solidFill>
              <a:srgbClr val="DDD5C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573786"/>
            <a:ext cx="8229600" cy="248194"/>
          </a:xfrm>
          <a:prstGeom prst="rect">
            <a:avLst/>
          </a:prstGeom>
          <a:noFill/>
          <a:ln/>
        </p:spPr>
        <p:txBody>
          <a:bodyPr wrap="square" lIns="0" tIns="50006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8" kern="0" dirty="0">
                <a:solidFill>
                  <a:srgbClr val="57534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BM3D07</a:t>
            </a:r>
            <a:pPr algn="l" indent="0" marL="0">
              <a:lnSpc>
                <a:spcPts val="886"/>
              </a:lnSpc>
              <a:buNone/>
            </a:pPr>
            <a:r>
              <a:rPr lang="en-US" sz="800" spc="18" kern="0" dirty="0">
                <a:solidFill>
                  <a:srgbClr val="8A82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§II-C, §V · </a:t>
            </a:r>
            <a:pPr algn="l" indent="0" marL="0">
              <a:lnSpc>
                <a:spcPts val="886"/>
              </a:lnSpc>
              <a:buNone/>
            </a:pPr>
            <a:r>
              <a:rPr lang="en-US" sz="800" spc="18" kern="0" dirty="0">
                <a:solidFill>
                  <a:srgbClr val="57534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DnCNN17</a:t>
            </a:r>
            <a:pPr algn="l" indent="0" marL="0">
              <a:lnSpc>
                <a:spcPts val="886"/>
              </a:lnSpc>
              <a:buNone/>
            </a:pPr>
            <a:r>
              <a:rPr lang="en-US" sz="800" spc="18" kern="0" dirty="0">
                <a:solidFill>
                  <a:srgbClr val="8A82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Table II, Table IV · </a:t>
            </a:r>
            <a:pPr algn="l" indent="0" marL="0">
              <a:lnSpc>
                <a:spcPts val="886"/>
              </a:lnSpc>
              <a:buNone/>
            </a:pPr>
            <a:r>
              <a:rPr lang="en-US" sz="800" spc="18" kern="0" dirty="0">
                <a:solidFill>
                  <a:srgbClr val="57534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Restormer22</a:t>
            </a:r>
            <a:pPr algn="l" indent="0" marL="0">
              <a:lnSpc>
                <a:spcPts val="886"/>
              </a:lnSpc>
              <a:buNone/>
            </a:pPr>
            <a:r>
              <a:rPr lang="en-US" sz="800" spc="18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Table 6 · baselines in </a:t>
            </a:r>
            <a:pPr algn="l" indent="0" marL="0">
              <a:lnSpc>
                <a:spcPts val="886"/>
              </a:lnSpc>
              <a:buNone/>
            </a:pPr>
            <a:r>
              <a:rPr lang="en-US" sz="800" spc="18" kern="0" dirty="0">
                <a:solidFill>
                  <a:srgbClr val="57534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N2N18</a:t>
            </a:r>
            <a:pPr algn="l" indent="0" marL="0">
              <a:lnSpc>
                <a:spcPts val="886"/>
              </a:lnSpc>
              <a:buNone/>
            </a:pPr>
            <a:r>
              <a:rPr lang="en-US" sz="800" spc="18" kern="0" dirty="0">
                <a:solidFill>
                  <a:srgbClr val="8A82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ts val="886"/>
              </a:lnSpc>
              <a:buNone/>
            </a:pPr>
            <a:r>
              <a:rPr lang="en-US" sz="800" spc="18" kern="0" dirty="0">
                <a:solidFill>
                  <a:srgbClr val="57534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N2V19</a:t>
            </a:r>
            <a:pPr algn="l" indent="0" marL="0">
              <a:lnSpc>
                <a:spcPts val="886"/>
              </a:lnSpc>
              <a:buNone/>
            </a:pPr>
            <a:r>
              <a:rPr lang="en-US" sz="800" spc="18" kern="0" dirty="0">
                <a:solidFill>
                  <a:srgbClr val="8A82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ts val="886"/>
              </a:lnSpc>
              <a:buNone/>
            </a:pPr>
            <a:r>
              <a:rPr lang="en-US" sz="800" spc="18" kern="0" dirty="0">
                <a:solidFill>
                  <a:srgbClr val="57534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ZS-N2N23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169016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2007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814981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2014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460834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2017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106798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2022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752763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2025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258639" y="4823817"/>
            <a:ext cx="42863" cy="42863"/>
          </a:xfrm>
          <a:prstGeom prst="ellipse">
            <a:avLst/>
          </a:prstGeom>
          <a:solidFill>
            <a:srgbClr val="B3452C"/>
          </a:solidFill>
          <a:ln w="7144">
            <a:solidFill>
              <a:srgbClr val="B3452C"/>
            </a:solidFill>
            <a:prstDash val="solid"/>
          </a:ln>
          <a:effectLst>
            <a:outerShdw sx="100000" sy="100000" kx="0" ky="0" algn="bl" rotWithShape="0" blurRad="101600" dist="50800" dir="16200000">
              <a:srgbClr val="B3452C">
                <a:alpha val="1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2904604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550457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196422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7842386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5738" y="114300"/>
            <a:ext cx="530602" cy="462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250" spc="-45" kern="0" dirty="0">
                <a:solidFill>
                  <a:srgbClr val="1C1917">
                    <a:alpha val="1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457200" y="371475"/>
            <a:ext cx="8636000" cy="161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B34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CLASSICAL DIP · WNNM · 2014 · BEFORE → AFTER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60784"/>
            <a:ext cx="8229600" cy="26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3"/>
              </a:lnSpc>
              <a:buNone/>
            </a:pPr>
            <a:r>
              <a:rPr lang="en-US" sz="1744" b="1" spc="-26" kern="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WNNM vs BM3D — the same grouping, a better estimator</a:t>
            </a:r>
            <a:endParaRPr lang="en-US" sz="1744" dirty="0"/>
          </a:p>
        </p:txBody>
      </p:sp>
      <p:sp>
        <p:nvSpPr>
          <p:cNvPr id="5" name="Text 3"/>
          <p:cNvSpPr/>
          <p:nvPr/>
        </p:nvSpPr>
        <p:spPr>
          <a:xfrm>
            <a:off x="457200" y="865956"/>
            <a:ext cx="7715250" cy="358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Gu et al., CVPR 2014. WNNM keeps BM3D non-local grouping and replaces what happens to the group. The first clean Before → After in the story, entirely inside one step.</a:t>
            </a:r>
            <a:endParaRPr lang="en-US" sz="872" dirty="0"/>
          </a:p>
        </p:txBody>
      </p:sp>
      <p:sp>
        <p:nvSpPr>
          <p:cNvPr id="6" name="Text 4"/>
          <p:cNvSpPr/>
          <p:nvPr/>
        </p:nvSpPr>
        <p:spPr>
          <a:xfrm>
            <a:off x="460772" y="1287438"/>
            <a:ext cx="8222456" cy="466241"/>
          </a:xfrm>
          <a:prstGeom prst="roundRect">
            <a:avLst>
              <a:gd name="adj" fmla="val 20429"/>
            </a:avLst>
          </a:prstGeom>
          <a:solidFill>
            <a:srgbClr val="FAF5EA"/>
          </a:solidFill>
          <a:ln w="7144">
            <a:solidFill>
              <a:srgbClr val="DDD5C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999415" y="1383878"/>
            <a:ext cx="314517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X̂ = argmin</a:t>
            </a:r>
            <a:pPr algn="ctr" indent="0" marL="0">
              <a:lnSpc>
                <a:spcPts val="1223"/>
              </a:lnSpc>
              <a:buNone/>
            </a:pPr>
            <a:r>
              <a:rPr lang="en-US" sz="800" baseline="-4000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algn="ctr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½‖Y − X‖²</a:t>
            </a:r>
            <a:pPr algn="ctr" indent="0" marL="0">
              <a:lnSpc>
                <a:spcPts val="1223"/>
              </a:lnSpc>
              <a:buNone/>
            </a:pPr>
            <a:r>
              <a:rPr lang="en-US" sz="800" baseline="-4000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algn="ctr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Σ</a:t>
            </a:r>
            <a:pPr algn="ctr" indent="0" marL="0">
              <a:lnSpc>
                <a:spcPts val="1223"/>
              </a:lnSpc>
              <a:buNone/>
            </a:pPr>
            <a:r>
              <a:rPr lang="en-US" sz="800" baseline="-4000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algn="ctr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</a:t>
            </a:r>
            <a:pPr algn="ctr" indent="0" marL="0">
              <a:lnSpc>
                <a:spcPts val="1223"/>
              </a:lnSpc>
              <a:buNone/>
            </a:pPr>
            <a:r>
              <a:rPr lang="en-US" sz="800" baseline="-4000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algn="ctr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·σ</a:t>
            </a:r>
            <a:pPr algn="ctr" indent="0" marL="0">
              <a:lnSpc>
                <a:spcPts val="1223"/>
              </a:lnSpc>
              <a:buNone/>
            </a:pPr>
            <a:r>
              <a:rPr lang="en-US" sz="800" baseline="-4000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algn="ctr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(X), w</a:t>
            </a:r>
            <a:pPr algn="ctr" indent="0" marL="0">
              <a:lnSpc>
                <a:spcPts val="1223"/>
              </a:lnSpc>
              <a:buNone/>
            </a:pPr>
            <a:r>
              <a:rPr lang="en-US" sz="800" baseline="-4000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algn="ctr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∝ 1/σ</a:t>
            </a:r>
            <a:pPr algn="ctr" indent="0" marL="0">
              <a:lnSpc>
                <a:spcPts val="1223"/>
              </a:lnSpc>
              <a:buNone/>
            </a:pPr>
            <a:r>
              <a:rPr lang="en-US" sz="800" baseline="-4000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endParaRPr lang="en-US" sz="816" dirty="0"/>
          </a:p>
        </p:txBody>
      </p:sp>
      <p:sp>
        <p:nvSpPr>
          <p:cNvPr id="8" name="Text 6"/>
          <p:cNvSpPr/>
          <p:nvPr/>
        </p:nvSpPr>
        <p:spPr>
          <a:xfrm>
            <a:off x="592931" y="1553542"/>
            <a:ext cx="7958138" cy="125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weighted nuclear norm: large singular values carry the image and are shrunk less </a:t>
            </a:r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[WNNM14 §3]</a:t>
            </a:r>
            <a:endParaRPr lang="en-US" sz="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42976"/>
          <a:ext cx="8229600" cy="914400"/>
        </p:xfrm>
        <a:graphic>
          <a:graphicData uri="http://schemas.openxmlformats.org/drawingml/2006/table">
            <a:tbl>
              <a:tblPr/>
              <a:tblGrid>
                <a:gridCol w="942975"/>
                <a:gridCol w="1771650"/>
                <a:gridCol w="2014538"/>
                <a:gridCol w="3500438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7534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ASPECT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28575" marR="71438" marT="71438" marB="35719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7534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BM3D (2007)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28575" marR="71438" marT="71438" marB="35719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7534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WNNM (2014)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28575" marR="71438" marT="71438" marB="35719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7534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WHY IT MATTERS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28575" marR="71438" marT="71438" marB="35719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C191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Core algorithm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753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Group patches, shrink in a 3-D transform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753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Group patches, recover a low-rank matrix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753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Stacked near-copies are low rank by construction — a stronger structural assumption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C191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Key innovation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A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753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Collaborative hard-thresholding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A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753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Weighted nuclear norm, wi ∝ 1/σi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A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753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Standard NNM shrinks all singular values equally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A">
                        <a:alpha val="5500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C191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Implementation change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753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3-D DCT + threshold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753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SVD per patch group + per-value shrinkage, iterated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753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One transform call becomes an iterated SVD — the entire cost difference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C191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Performance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A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C191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28.57 dB · 2.85 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A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C191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28.83 dB · 773.2 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A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C191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+0.26 dB for a 271× slowdown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A">
                        <a:alpha val="5500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C191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Limitation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753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Fixed hand-set parameters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753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Non-convex; still per-image optimisation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753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Neither can reuse anything learned from one image on the next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C191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Applications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A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753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General-purpose, real-time-ish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A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753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Offline / quality-critical restoration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A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753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The cost makes WNNM impractical for interactive or batch use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A">
                        <a:alpha val="5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3794113"/>
            <a:ext cx="8229600" cy="423156"/>
          </a:xfrm>
          <a:prstGeom prst="roundRect">
            <a:avLst>
              <a:gd name="adj" fmla="val 13506"/>
            </a:avLst>
          </a:prstGeom>
          <a:solidFill>
            <a:srgbClr val="B3452C">
              <a:alpha val="7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471488" y="3794113"/>
            <a:ext cx="0" cy="423156"/>
          </a:xfrm>
          <a:prstGeom prst="line">
            <a:avLst/>
          </a:prstGeom>
          <a:noFill/>
          <a:ln w="28575">
            <a:solidFill>
              <a:srgbClr val="B3452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3794113"/>
            <a:ext cx="8229600" cy="507787"/>
          </a:xfrm>
          <a:prstGeom prst="rect">
            <a:avLst/>
          </a:prstGeom>
          <a:noFill/>
          <a:ln/>
        </p:spPr>
        <p:txBody>
          <a:bodyPr wrap="square" lIns="114300" tIns="71438" rIns="114300" bIns="71438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This row is the whole argument for what comes next. Seven years of hand-designed priors bought </a:t>
            </a:r>
            <a:pPr algn="l" indent="0" marL="0">
              <a:lnSpc>
                <a:spcPts val="1080"/>
              </a:lnSpc>
              <a:buNone/>
            </a:pPr>
            <a:r>
              <a:rPr lang="en-US" sz="800" b="1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0.26 dB</a:t>
            </a:r>
            <a:pPr algn="l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on BSD68 at σ=25, and the best method became </a:t>
            </a:r>
            <a:pPr algn="l" indent="0" marL="0">
              <a:lnSpc>
                <a:spcPts val="1080"/>
              </a:lnSpc>
              <a:buNone/>
            </a:pPr>
            <a:r>
              <a:rPr lang="en-US" sz="800" b="1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271×</a:t>
            </a:r>
            <a:pPr algn="l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slower than the second best. The era hit a wall in quality and cost simultaneously.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457200" y="4577358"/>
            <a:ext cx="8229600" cy="0"/>
          </a:xfrm>
          <a:prstGeom prst="line">
            <a:avLst/>
          </a:prstGeom>
          <a:noFill/>
          <a:ln w="7144">
            <a:solidFill>
              <a:srgbClr val="DDD5C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4573786"/>
            <a:ext cx="8636000" cy="248194"/>
          </a:xfrm>
          <a:prstGeom prst="rect">
            <a:avLst/>
          </a:prstGeom>
          <a:noFill/>
          <a:ln/>
        </p:spPr>
        <p:txBody>
          <a:bodyPr wrap="square" lIns="0" tIns="50006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8" kern="0" dirty="0">
                <a:solidFill>
                  <a:srgbClr val="57534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DnCNN17</a:t>
            </a:r>
            <a:pPr algn="l" indent="0" marL="0">
              <a:lnSpc>
                <a:spcPts val="886"/>
              </a:lnSpc>
              <a:buNone/>
            </a:pPr>
            <a:r>
              <a:rPr lang="en-US" sz="800" spc="18" kern="0" dirty="0">
                <a:solidFill>
                  <a:srgbClr val="8A82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Table II, Table IV · </a:t>
            </a:r>
            <a:pPr algn="l" indent="0" marL="0">
              <a:lnSpc>
                <a:spcPts val="886"/>
              </a:lnSpc>
              <a:buNone/>
            </a:pPr>
            <a:r>
              <a:rPr lang="en-US" sz="800" spc="18" kern="0" dirty="0">
                <a:solidFill>
                  <a:srgbClr val="57534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WNNM14</a:t>
            </a:r>
            <a:pPr algn="l" indent="0" marL="0">
              <a:lnSpc>
                <a:spcPts val="886"/>
              </a:lnSpc>
              <a:buNone/>
            </a:pPr>
            <a:r>
              <a:rPr lang="en-US" sz="800" spc="18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§3, Theorem 2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169016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2007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2814981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2014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4460834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2017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6106798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2022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7752763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2025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1258639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2904604" y="4823817"/>
            <a:ext cx="42863" cy="42863"/>
          </a:xfrm>
          <a:prstGeom prst="ellipse">
            <a:avLst/>
          </a:prstGeom>
          <a:solidFill>
            <a:srgbClr val="B3452C"/>
          </a:solidFill>
          <a:ln w="7144">
            <a:solidFill>
              <a:srgbClr val="B3452C"/>
            </a:solidFill>
            <a:prstDash val="solid"/>
          </a:ln>
          <a:effectLst>
            <a:outerShdw sx="100000" sy="100000" kx="0" ky="0" algn="bl" rotWithShape="0" blurRad="101600" dist="50800" dir="16200000">
              <a:srgbClr val="B3452C">
                <a:alpha val="1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4550457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6196422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7842386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5738" y="114300"/>
            <a:ext cx="530602" cy="462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250" spc="-45" kern="0" dirty="0">
                <a:solidFill>
                  <a:srgbClr val="1C1917">
                    <a:alpha val="1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457200" y="371475"/>
            <a:ext cx="8636000" cy="161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CLASSICAL DIP · BOTTLENECK 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60784"/>
            <a:ext cx="8636000" cy="26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3"/>
              </a:lnSpc>
              <a:buNone/>
            </a:pPr>
            <a:r>
              <a:rPr lang="en-US" sz="1744" b="1" spc="-26" kern="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the era ended — stated by the paper that ended it</a:t>
            </a:r>
            <a:endParaRPr lang="en-US" sz="1744" dirty="0"/>
          </a:p>
        </p:txBody>
      </p:sp>
      <p:sp>
        <p:nvSpPr>
          <p:cNvPr id="5" name="Text 3"/>
          <p:cNvSpPr/>
          <p:nvPr/>
        </p:nvSpPr>
        <p:spPr>
          <a:xfrm>
            <a:off x="457200" y="865956"/>
            <a:ext cx="7715250" cy="358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DnCNN introduction names the classical era drawbacks in its own words. Quoting the paper that broke the bottleneck, rather than asserting it ourselves, is what makes this an evidenced timeline.</a:t>
            </a:r>
            <a:endParaRPr lang="en-US" sz="872" dirty="0"/>
          </a:p>
        </p:txBody>
      </p:sp>
      <p:sp>
        <p:nvSpPr>
          <p:cNvPr id="6" name="Text 4"/>
          <p:cNvSpPr/>
          <p:nvPr/>
        </p:nvSpPr>
        <p:spPr>
          <a:xfrm>
            <a:off x="460772" y="1330300"/>
            <a:ext cx="4050506" cy="1350169"/>
          </a:xfrm>
          <a:prstGeom prst="roundRect">
            <a:avLst>
              <a:gd name="adj" fmla="val 7055"/>
            </a:avLst>
          </a:prstGeom>
          <a:solidFill>
            <a:srgbClr val="FFFDF7"/>
          </a:solidFill>
          <a:ln w="7144">
            <a:solidFill>
              <a:srgbClr val="DDD5C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21506" y="1669852"/>
            <a:ext cx="3729038" cy="1350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77" kern="0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DRAWBACK 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21506" y="1832372"/>
            <a:ext cx="3838766" cy="170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956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prior is paid for once per image</a:t>
            </a:r>
            <a:endParaRPr lang="en-US" sz="956" dirty="0"/>
          </a:p>
        </p:txBody>
      </p:sp>
      <p:sp>
        <p:nvSpPr>
          <p:cNvPr id="9" name="Text 7"/>
          <p:cNvSpPr/>
          <p:nvPr/>
        </p:nvSpPr>
        <p:spPr>
          <a:xfrm>
            <a:off x="621506" y="2047354"/>
            <a:ext cx="3729038" cy="34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i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“Prior-based methods involve a complex optimization problem in the testing stage.”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Nothing learned on image 1 helps image 2. WNNM: 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773 s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every time. 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[DnCNN17 §I]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632722" y="1330300"/>
            <a:ext cx="4050506" cy="1350169"/>
          </a:xfrm>
          <a:prstGeom prst="roundRect">
            <a:avLst>
              <a:gd name="adj" fmla="val 7055"/>
            </a:avLst>
          </a:prstGeom>
          <a:solidFill>
            <a:srgbClr val="FFFDF7"/>
          </a:solidFill>
          <a:ln w="7144">
            <a:solidFill>
              <a:srgbClr val="DDD5C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793456" y="1669852"/>
            <a:ext cx="3729038" cy="1350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77" kern="0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DRAWBACK 2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793456" y="1832372"/>
            <a:ext cx="3838765" cy="170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956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prior is written by hand</a:t>
            </a:r>
            <a:endParaRPr lang="en-US" sz="956" dirty="0"/>
          </a:p>
        </p:txBody>
      </p:sp>
      <p:sp>
        <p:nvSpPr>
          <p:cNvPr id="13" name="Text 11"/>
          <p:cNvSpPr/>
          <p:nvPr/>
        </p:nvSpPr>
        <p:spPr>
          <a:xfrm>
            <a:off x="4793456" y="2047354"/>
            <a:ext cx="3729038" cy="34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i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“The models are generally non-convex and involve several manually chosen parameters”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block size, thresholds, λ, different values above and below 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σ=40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 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[DnCNN17 §I]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60772" y="2801913"/>
            <a:ext cx="4050506" cy="1350169"/>
          </a:xfrm>
          <a:prstGeom prst="roundRect">
            <a:avLst>
              <a:gd name="adj" fmla="val 7055"/>
            </a:avLst>
          </a:prstGeom>
          <a:solidFill>
            <a:srgbClr val="FFFDF7"/>
          </a:solidFill>
          <a:ln w="7144">
            <a:solidFill>
              <a:srgbClr val="DDD5C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21506" y="3141464"/>
            <a:ext cx="3729038" cy="1350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77" kern="0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DRAWBACK 3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21506" y="3303984"/>
            <a:ext cx="3838766" cy="170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956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Its form limits the ceiling</a:t>
            </a:r>
            <a:endParaRPr lang="en-US" sz="956" dirty="0"/>
          </a:p>
        </p:txBody>
      </p:sp>
      <p:sp>
        <p:nvSpPr>
          <p:cNvPr id="17" name="Text 15"/>
          <p:cNvSpPr/>
          <p:nvPr/>
        </p:nvSpPr>
        <p:spPr>
          <a:xfrm>
            <a:off x="621506" y="3518967"/>
            <a:ext cx="3729038" cy="34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i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“Performance is inherently restricted to the specified forms of prior.”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You cannot exceed what your formula can express, however well you tune it. 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[DnCNN17 §I]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632722" y="2801913"/>
            <a:ext cx="4050506" cy="1350169"/>
          </a:xfrm>
          <a:prstGeom prst="roundRect">
            <a:avLst>
              <a:gd name="adj" fmla="val 7055"/>
            </a:avLst>
          </a:prstGeom>
          <a:solidFill>
            <a:srgbClr val="FFFDF7"/>
          </a:solidFill>
          <a:ln w="7144">
            <a:solidFill>
              <a:srgbClr val="DDD5C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793456" y="3141464"/>
            <a:ext cx="3729038" cy="1350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77" kern="0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DRAWBACK 4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793456" y="3303984"/>
            <a:ext cx="3729038" cy="170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956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One model per noise level</a:t>
            </a:r>
            <a:endParaRPr lang="en-US" sz="956" dirty="0"/>
          </a:p>
        </p:txBody>
      </p:sp>
      <p:sp>
        <p:nvSpPr>
          <p:cNvPr id="21" name="Text 19"/>
          <p:cNvSpPr/>
          <p:nvPr/>
        </p:nvSpPr>
        <p:spPr>
          <a:xfrm>
            <a:off x="4793456" y="3518967"/>
            <a:ext cx="3729038" cy="34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i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“Bridge methods train a specific model for a certain noise level and are limited in blind image denoising.”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In a real camera, σ is never known. 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[DnCNN17 §I]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57200" y="4577358"/>
            <a:ext cx="8229600" cy="0"/>
          </a:xfrm>
          <a:prstGeom prst="line">
            <a:avLst/>
          </a:prstGeom>
          <a:noFill/>
          <a:ln w="7144">
            <a:solidFill>
              <a:srgbClr val="DDD5C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573786"/>
            <a:ext cx="8229600" cy="248194"/>
          </a:xfrm>
          <a:prstGeom prst="rect">
            <a:avLst/>
          </a:prstGeom>
          <a:noFill/>
          <a:ln/>
        </p:spPr>
        <p:txBody>
          <a:bodyPr wrap="square" lIns="0" tIns="50006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8" kern="0" dirty="0">
                <a:solidFill>
                  <a:srgbClr val="57534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DnCNN17</a:t>
            </a:r>
            <a:pPr algn="l" indent="0" marL="0">
              <a:lnSpc>
                <a:spcPts val="886"/>
              </a:lnSpc>
              <a:buNone/>
            </a:pPr>
            <a:r>
              <a:rPr lang="en-US" sz="800" spc="18" kern="0" dirty="0">
                <a:solidFill>
                  <a:srgbClr val="8A82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§I — all four quoted from the paper introduction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169016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2007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814981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2014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460834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2017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106798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2022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752763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2025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258639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2904604" y="4823817"/>
            <a:ext cx="42863" cy="42863"/>
          </a:xfrm>
          <a:prstGeom prst="ellipse">
            <a:avLst/>
          </a:prstGeom>
          <a:solidFill>
            <a:srgbClr val="B3452C"/>
          </a:solidFill>
          <a:ln w="7144">
            <a:solidFill>
              <a:srgbClr val="B3452C"/>
            </a:solidFill>
            <a:prstDash val="solid"/>
          </a:ln>
          <a:effectLst>
            <a:outerShdw sx="100000" sy="100000" kx="0" ky="0" algn="bl" rotWithShape="0" blurRad="101600" dist="50800" dir="16200000">
              <a:srgbClr val="B3452C">
                <a:alpha val="1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550457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196422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7842386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5738" y="114300"/>
            <a:ext cx="530602" cy="462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250" spc="-45" kern="0" dirty="0">
                <a:solidFill>
                  <a:srgbClr val="1C1917">
                    <a:alpha val="1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457200" y="1626989"/>
            <a:ext cx="2903220" cy="9155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6750"/>
              </a:lnSpc>
              <a:buNone/>
            </a:pPr>
            <a:r>
              <a:rPr lang="en-US" sz="6750" spc="-270" kern="0" dirty="0">
                <a:solidFill>
                  <a:srgbClr val="B3452C">
                    <a:alpha val="14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6750" dirty="0"/>
          </a:p>
        </p:txBody>
      </p:sp>
      <p:sp>
        <p:nvSpPr>
          <p:cNvPr id="4" name="Text 2"/>
          <p:cNvSpPr/>
          <p:nvPr/>
        </p:nvSpPr>
        <p:spPr>
          <a:xfrm>
            <a:off x="457200" y="2569964"/>
            <a:ext cx="246342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149" kern="0" dirty="0">
                <a:solidFill>
                  <a:srgbClr val="57534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PART 2 / 5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67916" y="2912864"/>
            <a:ext cx="0" cy="117872"/>
          </a:xfrm>
          <a:prstGeom prst="line">
            <a:avLst/>
          </a:prstGeom>
          <a:noFill/>
          <a:ln w="21431">
            <a:solidFill>
              <a:srgbClr val="B345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912864"/>
            <a:ext cx="1814513" cy="164592"/>
          </a:xfrm>
          <a:prstGeom prst="rect">
            <a:avLst/>
          </a:prstGeom>
          <a:noFill/>
          <a:ln/>
        </p:spPr>
        <p:txBody>
          <a:bodyPr wrap="none" lIns="85725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THE BREAK · 2016 – 2017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571750" y="628650"/>
            <a:ext cx="7144" cy="3500438"/>
          </a:xfrm>
          <a:prstGeom prst="rect">
            <a:avLst/>
          </a:prstGeom>
          <a:solidFill>
            <a:srgbClr val="DDD5C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964656" y="1179612"/>
            <a:ext cx="6008251" cy="416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813" b="1" spc="-42" kern="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Prior Becomes a File</a:t>
            </a:r>
            <a:endParaRPr lang="en-US" sz="2813" dirty="0"/>
          </a:p>
        </p:txBody>
      </p:sp>
      <p:sp>
        <p:nvSpPr>
          <p:cNvPr id="9" name="Shape 7"/>
          <p:cNvSpPr/>
          <p:nvPr/>
        </p:nvSpPr>
        <p:spPr>
          <a:xfrm>
            <a:off x="2964656" y="1754684"/>
            <a:ext cx="5722144" cy="0"/>
          </a:xfrm>
          <a:prstGeom prst="line">
            <a:avLst/>
          </a:prstGeom>
          <a:noFill/>
          <a:ln w="7144">
            <a:solidFill>
              <a:srgbClr val="DDD5C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78944" y="1872555"/>
            <a:ext cx="182947" cy="142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233328" y="1851124"/>
            <a:ext cx="5439184" cy="163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1"/>
              </a:lnSpc>
              <a:buNone/>
            </a:pPr>
            <a:r>
              <a:rPr lang="en-US" sz="956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TNRD — the bridge nobody skips</a:t>
            </a:r>
            <a:endParaRPr lang="en-US" sz="956" dirty="0"/>
          </a:p>
        </p:txBody>
      </p:sp>
      <p:sp>
        <p:nvSpPr>
          <p:cNvPr id="12" name="Shape 10"/>
          <p:cNvSpPr/>
          <p:nvPr/>
        </p:nvSpPr>
        <p:spPr>
          <a:xfrm>
            <a:off x="2964656" y="2111425"/>
            <a:ext cx="5722144" cy="0"/>
          </a:xfrm>
          <a:prstGeom prst="line">
            <a:avLst/>
          </a:prstGeom>
          <a:noFill/>
          <a:ln w="7144">
            <a:solidFill>
              <a:srgbClr val="DDD5C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78944" y="2229296"/>
            <a:ext cx="182947" cy="142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233328" y="2207865"/>
            <a:ext cx="5439184" cy="163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1"/>
              </a:lnSpc>
              <a:buNone/>
            </a:pPr>
            <a:r>
              <a:rPr lang="en-US" sz="956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DnCNN — innovation, implementation, impact</a:t>
            </a:r>
            <a:endParaRPr lang="en-US" sz="956" dirty="0"/>
          </a:p>
        </p:txBody>
      </p:sp>
      <p:sp>
        <p:nvSpPr>
          <p:cNvPr id="15" name="Shape 13"/>
          <p:cNvSpPr/>
          <p:nvPr/>
        </p:nvSpPr>
        <p:spPr>
          <a:xfrm>
            <a:off x="2964656" y="2468166"/>
            <a:ext cx="5722144" cy="0"/>
          </a:xfrm>
          <a:prstGeom prst="line">
            <a:avLst/>
          </a:prstGeom>
          <a:noFill/>
          <a:ln w="7144">
            <a:solidFill>
              <a:srgbClr val="DDD5C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964656" y="2824907"/>
            <a:ext cx="5722144" cy="0"/>
          </a:xfrm>
          <a:prstGeom prst="line">
            <a:avLst/>
          </a:prstGeom>
          <a:noFill/>
          <a:ln w="7144">
            <a:solidFill>
              <a:srgbClr val="DDD5C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78944" y="2586038"/>
            <a:ext cx="182947" cy="142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233328" y="2564606"/>
            <a:ext cx="5439184" cy="163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1"/>
              </a:lnSpc>
              <a:buNone/>
            </a:pPr>
            <a:r>
              <a:rPr lang="en-US" sz="956" dirty="0">
                <a:solidFill>
                  <a:srgbClr val="1C191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Bottlenecks 2 and 3</a:t>
            </a:r>
            <a:endParaRPr lang="en-US" sz="956" dirty="0"/>
          </a:p>
        </p:txBody>
      </p:sp>
      <p:sp>
        <p:nvSpPr>
          <p:cNvPr id="19" name="Text 17"/>
          <p:cNvSpPr/>
          <p:nvPr/>
        </p:nvSpPr>
        <p:spPr>
          <a:xfrm>
            <a:off x="2964656" y="3028504"/>
            <a:ext cx="5722144" cy="549622"/>
          </a:xfrm>
          <a:prstGeom prst="rect">
            <a:avLst/>
          </a:prstGeom>
          <a:solidFill>
            <a:srgbClr val="FAF5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2964656" y="3032075"/>
            <a:ext cx="5722144" cy="0"/>
          </a:xfrm>
          <a:prstGeom prst="line">
            <a:avLst/>
          </a:prstGeom>
          <a:noFill/>
          <a:ln w="7144">
            <a:solidFill>
              <a:srgbClr val="DDD5C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3228" y="3028504"/>
            <a:ext cx="0" cy="549622"/>
          </a:xfrm>
          <a:prstGeom prst="line">
            <a:avLst/>
          </a:prstGeom>
          <a:noFill/>
          <a:ln w="7144">
            <a:solidFill>
              <a:srgbClr val="DDD5C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64656" y="3574554"/>
            <a:ext cx="5722144" cy="0"/>
          </a:xfrm>
          <a:prstGeom prst="line">
            <a:avLst/>
          </a:prstGeom>
          <a:noFill/>
          <a:ln w="7144">
            <a:solidFill>
              <a:srgbClr val="DDD5C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75372" y="3028504"/>
            <a:ext cx="0" cy="549622"/>
          </a:xfrm>
          <a:prstGeom prst="line">
            <a:avLst/>
          </a:prstGeom>
          <a:noFill/>
          <a:ln w="21431">
            <a:solidFill>
              <a:srgbClr val="B3452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28963" y="3142804"/>
            <a:ext cx="5407819" cy="321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4"/>
              </a:lnSpc>
              <a:buNone/>
            </a:pPr>
            <a:r>
              <a:rPr lang="en-US" sz="816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One architecture answers all four drawbacks at once — </a:t>
            </a:r>
            <a:pPr algn="l" indent="0" marL="0">
              <a:lnSpc>
                <a:spcPts val="1264"/>
              </a:lnSpc>
              <a:buNone/>
            </a:pPr>
            <a:r>
              <a:rPr lang="en-US" sz="816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and creates the two problems the rest of the talk is about.</a:t>
            </a:r>
            <a:endParaRPr lang="en-US" sz="816" dirty="0"/>
          </a:p>
        </p:txBody>
      </p:sp>
      <p:sp>
        <p:nvSpPr>
          <p:cNvPr id="25" name="Shape 23"/>
          <p:cNvSpPr/>
          <p:nvPr/>
        </p:nvSpPr>
        <p:spPr>
          <a:xfrm>
            <a:off x="457200" y="4577358"/>
            <a:ext cx="8229600" cy="0"/>
          </a:xfrm>
          <a:prstGeom prst="line">
            <a:avLst/>
          </a:prstGeom>
          <a:noFill/>
          <a:ln w="7144">
            <a:solidFill>
              <a:srgbClr val="DDD5C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573786"/>
            <a:ext cx="8636000" cy="248194"/>
          </a:xfrm>
          <a:prstGeom prst="rect">
            <a:avLst/>
          </a:prstGeom>
          <a:noFill/>
          <a:ln/>
        </p:spPr>
        <p:txBody>
          <a:bodyPr wrap="none" lIns="0" tIns="50006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8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brief §3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169016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2007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814981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2014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460834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2017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106798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2022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752763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2025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258639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2904604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550457" y="4823817"/>
            <a:ext cx="42863" cy="42863"/>
          </a:xfrm>
          <a:prstGeom prst="ellipse">
            <a:avLst/>
          </a:prstGeom>
          <a:solidFill>
            <a:srgbClr val="B3452C"/>
          </a:solidFill>
          <a:ln w="7144">
            <a:solidFill>
              <a:srgbClr val="B3452C"/>
            </a:solidFill>
            <a:prstDash val="solid"/>
          </a:ln>
          <a:effectLst>
            <a:outerShdw sx="100000" sy="100000" kx="0" ky="0" algn="bl" rotWithShape="0" blurRad="101600" dist="50800" dir="16200000">
              <a:srgbClr val="B3452C">
                <a:alpha val="1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196422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7842386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5738" y="114300"/>
            <a:ext cx="530602" cy="462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250" spc="-45" kern="0" dirty="0">
                <a:solidFill>
                  <a:srgbClr val="1C1917">
                    <a:alpha val="1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457200" y="371475"/>
            <a:ext cx="8636000" cy="161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B34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BRIDGE · TNRD · TPAMI 2017 · BEFORE → AFTER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60784"/>
            <a:ext cx="8229600" cy="26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3"/>
              </a:lnSpc>
              <a:buNone/>
            </a:pPr>
            <a:r>
              <a:rPr lang="en-US" sz="1744" b="1" spc="-26" kern="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Unrolling — the step that made the transition continuous</a:t>
            </a:r>
            <a:endParaRPr lang="en-US" sz="1744" dirty="0"/>
          </a:p>
        </p:txBody>
      </p:sp>
      <p:sp>
        <p:nvSpPr>
          <p:cNvPr id="5" name="Text 3"/>
          <p:cNvSpPr/>
          <p:nvPr/>
        </p:nvSpPr>
        <p:spPr>
          <a:xfrm>
            <a:off x="457200" y="865956"/>
            <a:ext cx="7715250" cy="358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Chen &amp; Pock, IEEE TPAMI 2017. Worth ninety seconds because it is the conceptual bridge: it shows that a classical optimiser and a neural network are the same object viewed differently, which is why the move to deep learning was not a rupture.</a:t>
            </a:r>
            <a:endParaRPr lang="en-US" sz="872" dirty="0"/>
          </a:p>
        </p:txBody>
      </p:sp>
      <p:sp>
        <p:nvSpPr>
          <p:cNvPr id="6" name="Text 4"/>
          <p:cNvSpPr/>
          <p:nvPr/>
        </p:nvSpPr>
        <p:spPr>
          <a:xfrm>
            <a:off x="1646634" y="1287438"/>
            <a:ext cx="5850731" cy="1502420"/>
          </a:xfrm>
          <a:prstGeom prst="roundRect">
            <a:avLst>
              <a:gd name="adj" fmla="val 6340"/>
            </a:avLst>
          </a:prstGeom>
          <a:solidFill>
            <a:srgbClr val="FFFFFF"/>
          </a:solidFill>
          <a:ln w="7144">
            <a:solidFill>
              <a:srgbClr val="DDD5C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" name="Image 0" descr="/tmp/h2p-fit-1789755827333-58qzk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7349" y="1362447"/>
            <a:ext cx="5489302" cy="117871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21644" y="2584028"/>
            <a:ext cx="5700713" cy="130820"/>
          </a:xfrm>
          <a:prstGeom prst="rect">
            <a:avLst/>
          </a:prstGeom>
          <a:noFill/>
          <a:ln/>
        </p:spPr>
        <p:txBody>
          <a:bodyPr wrap="square" lIns="28575" tIns="0" rIns="28575" bIns="14288" rtlCol="0" anchor="t"/>
          <a:lstStyle/>
          <a:p>
            <a:pPr algn="ctr" indent="0" marL="0">
              <a:lnSpc>
                <a:spcPts val="856"/>
              </a:lnSpc>
              <a:buNone/>
            </a:pPr>
            <a:r>
              <a:rPr lang="en-US" sz="600" dirty="0">
                <a:solidFill>
                  <a:srgbClr val="8A827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diffusion network unrolled as a feed-forward graph: learned filters, trainable nonlinearity and reaction force applied at every stage. </a:t>
            </a:r>
            <a:pPr algn="ctr" indent="0" marL="0">
              <a:lnSpc>
                <a:spcPts val="856"/>
              </a:lnSpc>
              <a:buNone/>
            </a:pPr>
            <a:r>
              <a:rPr lang="en-US" sz="60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[TNRD17 · Fig. 1]</a:t>
            </a:r>
            <a:endParaRPr lang="en-US" sz="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879154"/>
          <a:ext cx="8229600" cy="914400"/>
        </p:xfrm>
        <a:graphic>
          <a:graphicData uri="http://schemas.openxmlformats.org/drawingml/2006/table">
            <a:tbl>
              <a:tblPr/>
              <a:tblGrid>
                <a:gridCol w="971550"/>
                <a:gridCol w="1985963"/>
                <a:gridCol w="2143125"/>
                <a:gridCol w="3128963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7534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ASPECT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28575" marR="71438" marT="71438" marB="35719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7534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CLASSICAL OPTIMISER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28575" marR="71438" marT="71438" marB="35719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7534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TNRD (UNROLLED)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28575" marR="71438" marT="71438" marB="35719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7534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WHY IT MATTERS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28575" marR="71438" marT="71438" marB="35719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C191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Iteration count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753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Run to convergence, unbounded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753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Truncated to a fixed K (usually &lt; 10)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753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Runtime becomes a constant — the first half of bottleneck 1 is gone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C191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Parameters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A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753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Same hand-set rule every iteration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A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753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Every stage has its own learned filters and nonlinearities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A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753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The prior is no longer one formula; it is K different learned ones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A">
                        <a:alpha val="5500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C191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What is learned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753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Nothing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753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Filters and influence functions, jointly, from data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753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Earlier diffusion models fixed the filters and chose the diffusivity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C191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Implementation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A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753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while loop to a tolerance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A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753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A fixed stack trained by back-propagation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A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753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Structurally a CNN — well-suited for parallel computation on GPUs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A">
                        <a:alpha val="5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457200" y="4577358"/>
            <a:ext cx="8229600" cy="0"/>
          </a:xfrm>
          <a:prstGeom prst="line">
            <a:avLst/>
          </a:prstGeom>
          <a:noFill/>
          <a:ln w="7144">
            <a:solidFill>
              <a:srgbClr val="DDD5C3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57200" y="4573786"/>
            <a:ext cx="8229600" cy="248194"/>
          </a:xfrm>
          <a:prstGeom prst="rect">
            <a:avLst/>
          </a:prstGeom>
          <a:noFill/>
          <a:ln/>
        </p:spPr>
        <p:txBody>
          <a:bodyPr wrap="square" lIns="0" tIns="50006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8" kern="0" dirty="0">
                <a:solidFill>
                  <a:srgbClr val="57534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TNRD17</a:t>
            </a:r>
            <a:pPr algn="l" indent="0" marL="0">
              <a:lnSpc>
                <a:spcPts val="886"/>
              </a:lnSpc>
              <a:buNone/>
            </a:pPr>
            <a:r>
              <a:rPr lang="en-US" sz="800" spc="18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(Chen &amp; Pock, TPAMI) §1.2, §2, §3 · </a:t>
            </a:r>
            <a:pPr algn="l" indent="0" marL="0">
              <a:lnSpc>
                <a:spcPts val="886"/>
              </a:lnSpc>
              <a:buNone/>
            </a:pPr>
            <a:r>
              <a:rPr lang="en-US" sz="800" spc="18" kern="0" dirty="0">
                <a:solidFill>
                  <a:srgbClr val="57534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DnCNN17</a:t>
            </a:r>
            <a:pPr algn="l" indent="0" marL="0">
              <a:lnSpc>
                <a:spcPts val="886"/>
              </a:lnSpc>
              <a:buNone/>
            </a:pPr>
            <a:r>
              <a:rPr lang="en-US" sz="800" spc="18" kern="0" dirty="0">
                <a:solidFill>
                  <a:srgbClr val="8A82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Tables II, IV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1169016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2007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2814981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2014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4460834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2017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6106798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2022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7752763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2025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1258639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2904604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4550457" y="4823817"/>
            <a:ext cx="42863" cy="42863"/>
          </a:xfrm>
          <a:prstGeom prst="ellipse">
            <a:avLst/>
          </a:prstGeom>
          <a:solidFill>
            <a:srgbClr val="B3452C"/>
          </a:solidFill>
          <a:ln w="7144">
            <a:solidFill>
              <a:srgbClr val="B3452C"/>
            </a:solidFill>
            <a:prstDash val="solid"/>
          </a:ln>
          <a:effectLst>
            <a:outerShdw sx="100000" sy="100000" kx="0" ky="0" algn="bl" rotWithShape="0" blurRad="101600" dist="50800" dir="16200000">
              <a:srgbClr val="B3452C">
                <a:alpha val="1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6196422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7842386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5738" y="114300"/>
            <a:ext cx="530602" cy="462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250" spc="-45" kern="0" dirty="0">
                <a:solidFill>
                  <a:srgbClr val="1C1917">
                    <a:alpha val="1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13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457200" y="371475"/>
            <a:ext cx="8636000" cy="161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B34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BRIDGE · TNRD · TPAMI 2017 · BEFORE → AFTER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334385" y="640928"/>
            <a:ext cx="605879" cy="108496"/>
          </a:xfrm>
          <a:prstGeom prst="roundRect">
            <a:avLst>
              <a:gd name="adj" fmla="val 8770346"/>
            </a:avLst>
          </a:prstGeom>
          <a:solidFill>
            <a:srgbClr val="B345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560784"/>
            <a:ext cx="8229600" cy="220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3"/>
              </a:lnSpc>
              <a:buNone/>
            </a:pPr>
            <a:r>
              <a:rPr lang="en-US" sz="1744" b="1" spc="-26" kern="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Unrolling — the step that made the transition continuous</a:t>
            </a:r>
            <a:pPr algn="l" indent="0" marL="0">
              <a:lnSpc>
                <a:spcPts val="1953"/>
              </a:lnSpc>
              <a:buNone/>
            </a:pPr>
            <a:r>
              <a:rPr lang="en-US" sz="800" b="1" spc="68" kern="0" dirty="0">
                <a:solidFill>
                  <a:srgbClr val="F5F1E8"/>
                </a:solidFill>
                <a:highlight>
                  <a:srgbClr val="B3452C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CONTINUED</a:t>
            </a:r>
            <a:endParaRPr lang="en-US" sz="1744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97818"/>
          <a:ext cx="8229600" cy="914400"/>
        </p:xfrm>
        <a:graphic>
          <a:graphicData uri="http://schemas.openxmlformats.org/drawingml/2006/table">
            <a:tbl>
              <a:tblPr/>
              <a:tblGrid>
                <a:gridCol w="857250"/>
                <a:gridCol w="2143125"/>
                <a:gridCol w="2286000"/>
                <a:gridCol w="2943225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7534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ASPECT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5719" marR="85725" marT="85725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7534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WNNM (CLASSICAL CEILING)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5719" marR="85725" marT="85725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7534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TNRD (UNROLLED)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5719" marR="85725" marT="85725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7534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WHY IT MATTERS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5719" marR="85725" marT="85725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C191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Performance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8581" marR="85725" marT="85725" marB="78581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C191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28.83 dB · 773 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8581" marR="85725" marT="85725" marB="78581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C191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28.92 dB · 0.032 s (GPU)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8581" marR="85725" marT="85725" marB="78581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753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Best quality-per-second of the era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8581" marR="85725" marT="85725" marB="78581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C191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Limitation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8581" marR="85725" marT="85725" marB="78581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A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753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—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8581" marR="85725" marT="85725" marB="78581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A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753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Still one model per noise level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8581" marR="85725" marT="85725" marB="78581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A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753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Blind denoising remains unsolved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8581" marR="85725" marT="85725" marB="78581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A">
                        <a:alpha val="5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2254969"/>
            <a:ext cx="8229600" cy="722188"/>
          </a:xfrm>
          <a:prstGeom prst="rect">
            <a:avLst/>
          </a:prstGeom>
          <a:solidFill>
            <a:srgbClr val="FAF5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457200" y="2258541"/>
            <a:ext cx="8229600" cy="0"/>
          </a:xfrm>
          <a:prstGeom prst="line">
            <a:avLst/>
          </a:prstGeom>
          <a:noFill/>
          <a:ln w="7144">
            <a:solidFill>
              <a:srgbClr val="DDD5C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683228" y="2254969"/>
            <a:ext cx="0" cy="722188"/>
          </a:xfrm>
          <a:prstGeom prst="line">
            <a:avLst/>
          </a:prstGeom>
          <a:noFill/>
          <a:ln w="7144">
            <a:solidFill>
              <a:srgbClr val="DDD5C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2973586"/>
            <a:ext cx="8229600" cy="0"/>
          </a:xfrm>
          <a:prstGeom prst="line">
            <a:avLst/>
          </a:prstGeom>
          <a:noFill/>
          <a:ln w="7144">
            <a:solidFill>
              <a:srgbClr val="DDD5C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1488" y="2254969"/>
            <a:ext cx="0" cy="722188"/>
          </a:xfrm>
          <a:prstGeom prst="line">
            <a:avLst/>
          </a:prstGeom>
          <a:noFill/>
          <a:ln w="28575">
            <a:solidFill>
              <a:srgbClr val="B3452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5800" y="2433563"/>
            <a:ext cx="7903559" cy="149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83" kern="0" dirty="0">
                <a:solidFill>
                  <a:srgbClr val="B34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KEEP THIS IN MIND FOR THE NEXT SLIDE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685800" y="2610371"/>
            <a:ext cx="7793831" cy="188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2"/>
              </a:lnSpc>
              <a:buNone/>
            </a:pPr>
            <a:r>
              <a:rPr lang="en-US" sz="956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DnCNN derives part of its own justification from a </a:t>
            </a:r>
            <a:pPr algn="l" indent="0" marL="0">
              <a:lnSpc>
                <a:spcPts val="1482"/>
              </a:lnSpc>
              <a:buNone/>
            </a:pPr>
            <a:r>
              <a:rPr lang="en-US" sz="956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one-stage TNRD</a:t>
            </a:r>
            <a:pPr algn="l" indent="0" marL="0">
              <a:lnSpc>
                <a:spcPts val="1482"/>
              </a:lnSpc>
              <a:buNone/>
            </a:pPr>
            <a:r>
              <a:rPr lang="en-US" sz="956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the two are directly connected, not merely adjacent in time.</a:t>
            </a:r>
            <a:endParaRPr lang="en-US" sz="956" dirty="0"/>
          </a:p>
        </p:txBody>
      </p:sp>
      <p:sp>
        <p:nvSpPr>
          <p:cNvPr id="14" name="Text 11"/>
          <p:cNvSpPr/>
          <p:nvPr/>
        </p:nvSpPr>
        <p:spPr>
          <a:xfrm>
            <a:off x="460772" y="3137892"/>
            <a:ext cx="8222456" cy="592931"/>
          </a:xfrm>
          <a:prstGeom prst="roundRect">
            <a:avLst>
              <a:gd name="adj" fmla="val 16064"/>
            </a:avLst>
          </a:prstGeom>
          <a:solidFill>
            <a:srgbClr val="FFFDF7"/>
          </a:solidFill>
          <a:ln w="7144">
            <a:solidFill>
              <a:srgbClr val="DDD5C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664369" y="3284339"/>
            <a:ext cx="3794001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2250" spc="-23" kern="0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28.92 dB · 0.032 s</a:t>
            </a:r>
            <a:endParaRPr lang="en-US" sz="2250" dirty="0"/>
          </a:p>
        </p:txBody>
      </p:sp>
      <p:sp>
        <p:nvSpPr>
          <p:cNvPr id="16" name="Text 13"/>
          <p:cNvSpPr/>
          <p:nvPr/>
        </p:nvSpPr>
        <p:spPr>
          <a:xfrm>
            <a:off x="3885307" y="3284339"/>
            <a:ext cx="7144" cy="300038"/>
          </a:xfrm>
          <a:prstGeom prst="rect">
            <a:avLst/>
          </a:prstGeom>
          <a:solidFill>
            <a:srgbClr val="DDD5C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4078188" y="3356670"/>
            <a:ext cx="4401443" cy="170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quality of WNNM at </a:t>
            </a:r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1C191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1/24,000</a:t>
            </a:r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of its runtime </a:t>
            </a:r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[DnCNN17 Tables II, IV]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457200" y="4577358"/>
            <a:ext cx="8229600" cy="0"/>
          </a:xfrm>
          <a:prstGeom prst="line">
            <a:avLst/>
          </a:prstGeom>
          <a:noFill/>
          <a:ln w="7144">
            <a:solidFill>
              <a:srgbClr val="DDD5C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7200" y="4573786"/>
            <a:ext cx="8636000" cy="248194"/>
          </a:xfrm>
          <a:prstGeom prst="rect">
            <a:avLst/>
          </a:prstGeom>
          <a:noFill/>
          <a:ln/>
        </p:spPr>
        <p:txBody>
          <a:bodyPr wrap="square" lIns="0" tIns="50006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8" kern="0" dirty="0">
                <a:solidFill>
                  <a:srgbClr val="57534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TNRD17</a:t>
            </a:r>
            <a:pPr algn="l" indent="0" marL="0">
              <a:lnSpc>
                <a:spcPts val="886"/>
              </a:lnSpc>
              <a:buNone/>
            </a:pPr>
            <a:r>
              <a:rPr lang="en-US" sz="800" spc="18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§1.2, §2, §3 · </a:t>
            </a:r>
            <a:pPr algn="l" indent="0" marL="0">
              <a:lnSpc>
                <a:spcPts val="886"/>
              </a:lnSpc>
              <a:buNone/>
            </a:pPr>
            <a:r>
              <a:rPr lang="en-US" sz="800" spc="18" kern="0" dirty="0">
                <a:solidFill>
                  <a:srgbClr val="57534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DnCNN17</a:t>
            </a:r>
            <a:pPr algn="l" indent="0" marL="0">
              <a:lnSpc>
                <a:spcPts val="886"/>
              </a:lnSpc>
              <a:buNone/>
            </a:pPr>
            <a:r>
              <a:rPr lang="en-US" sz="800" spc="18" kern="0" dirty="0">
                <a:solidFill>
                  <a:srgbClr val="8A82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Tables II, IV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1169016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2007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2814981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2014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4460834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2017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6106798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2022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7752763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2025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1258639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2904604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4550457" y="4823817"/>
            <a:ext cx="42863" cy="42863"/>
          </a:xfrm>
          <a:prstGeom prst="ellipse">
            <a:avLst/>
          </a:prstGeom>
          <a:solidFill>
            <a:srgbClr val="B3452C"/>
          </a:solidFill>
          <a:ln w="7144">
            <a:solidFill>
              <a:srgbClr val="B3452C"/>
            </a:solidFill>
            <a:prstDash val="solid"/>
          </a:ln>
          <a:effectLst>
            <a:outerShdw sx="100000" sy="100000" kx="0" ky="0" algn="bl" rotWithShape="0" blurRad="101600" dist="50800" dir="16200000">
              <a:srgbClr val="B3452C">
                <a:alpha val="1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6196422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7842386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5738" y="114300"/>
            <a:ext cx="530602" cy="462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250" spc="-45" kern="0" dirty="0">
                <a:solidFill>
                  <a:srgbClr val="1C1917">
                    <a:alpha val="1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14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457200" y="371475"/>
            <a:ext cx="8636000" cy="161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B34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BREAK · DNCNN · 2017 · BEFORE → AFTER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60784"/>
            <a:ext cx="8636000" cy="26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3"/>
              </a:lnSpc>
              <a:buNone/>
            </a:pPr>
            <a:r>
              <a:rPr lang="en-US" sz="1744" b="1" spc="-26" kern="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DnCNN vs TNRD — remove the optimiser entirely</a:t>
            </a:r>
            <a:endParaRPr lang="en-US" sz="1744" dirty="0"/>
          </a:p>
        </p:txBody>
      </p:sp>
      <p:sp>
        <p:nvSpPr>
          <p:cNvPr id="5" name="Text 3"/>
          <p:cNvSpPr/>
          <p:nvPr/>
        </p:nvSpPr>
        <p:spPr>
          <a:xfrm>
            <a:off x="457200" y="865956"/>
            <a:ext cx="7715250" cy="358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Zhang et al., IEEE TIP 26(7), 2017. TNRD unrolled the optimiser; DnCNN throws away the optimisation heritage and keeps only the network. The technical change is small; the consequence is the largest single step in this story.</a:t>
            </a:r>
            <a:endParaRPr lang="en-US" sz="872" dirty="0"/>
          </a:p>
        </p:txBody>
      </p:sp>
      <p:sp>
        <p:nvSpPr>
          <p:cNvPr id="6" name="Text 4"/>
          <p:cNvSpPr/>
          <p:nvPr/>
        </p:nvSpPr>
        <p:spPr>
          <a:xfrm>
            <a:off x="896541" y="1287438"/>
            <a:ext cx="7350919" cy="1523851"/>
          </a:xfrm>
          <a:prstGeom prst="roundRect">
            <a:avLst>
              <a:gd name="adj" fmla="val 6251"/>
            </a:avLst>
          </a:prstGeom>
          <a:solidFill>
            <a:srgbClr val="FFFFFF"/>
          </a:solidFill>
          <a:ln w="7144">
            <a:solidFill>
              <a:srgbClr val="DDD5C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" name="Image 0" descr="/tmp/h2p-fit-1789755832647-bm7ej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423" y="1362447"/>
            <a:ext cx="7159154" cy="12001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71550" y="2605460"/>
            <a:ext cx="7200900" cy="130820"/>
          </a:xfrm>
          <a:prstGeom prst="rect">
            <a:avLst/>
          </a:prstGeom>
          <a:noFill/>
          <a:ln/>
        </p:spPr>
        <p:txBody>
          <a:bodyPr wrap="square" lIns="28575" tIns="0" rIns="28575" bIns="14288" rtlCol="0" anchor="t"/>
          <a:lstStyle/>
          <a:p>
            <a:pPr algn="ctr" indent="0" marL="0">
              <a:lnSpc>
                <a:spcPts val="856"/>
              </a:lnSpc>
              <a:buNone/>
            </a:pPr>
            <a:r>
              <a:rPr lang="en-US" sz="800" dirty="0">
                <a:solidFill>
                  <a:srgbClr val="8A827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DnCNN architecture: Conv(+BN)+ReLU layers predict the residual noise, not the clean image. </a:t>
            </a:r>
            <a:pPr algn="ctr" indent="0" marL="0">
              <a:lnSpc>
                <a:spcPts val="856"/>
              </a:lnSpc>
              <a:buNone/>
            </a:pPr>
            <a:r>
              <a:rPr lang="en-US" sz="80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[DnCNN17 · Fig. 1]</a:t>
            </a:r>
            <a:endParaRPr lang="en-US" sz="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900586"/>
          <a:ext cx="8229600" cy="914400"/>
        </p:xfrm>
        <a:graphic>
          <a:graphicData uri="http://schemas.openxmlformats.org/drawingml/2006/table">
            <a:tbl>
              <a:tblPr/>
              <a:tblGrid>
                <a:gridCol w="1071563"/>
                <a:gridCol w="1985963"/>
                <a:gridCol w="2200275"/>
                <a:gridCol w="29718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7534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ASPECT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28575" marR="71438" marT="71438" marB="35719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7534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TNRD (2017 TPAMI)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28575" marR="71438" marT="71438" marB="35719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7534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DNCNN (2017 TIP)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28575" marR="71438" marT="71438" marB="35719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7534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WHY IT MATTERS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28575" marR="71438" marT="71438" marB="35719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C191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Core algorithm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753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K diffusion stages, PDE-derived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753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Plain deep CNN: Conv-BN-ReLU ×17, no pooling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753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The architecture no longer has to resemble an optimiser at all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C191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What the net outputs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A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753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The restored image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A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753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The noise — x = y − R(y)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A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753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Residual learning: the do-nothing solution moves to zero, which is trivially reachable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A">
                        <a:alpha val="5500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C191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Key enabler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753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Learned influence functions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753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Residual learning + batch normalisation, together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753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Neither works nearly as well alone — the paper most-cited empirical finding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C191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Noise levels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A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753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One model per σ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A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753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DnCNN-B: one blind model, σ ∈ [0, 55]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A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753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Drawback 4 solved; no noise estimate needed at test time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A">
                        <a:alpha val="5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457200" y="4577358"/>
            <a:ext cx="8229600" cy="0"/>
          </a:xfrm>
          <a:prstGeom prst="line">
            <a:avLst/>
          </a:prstGeom>
          <a:noFill/>
          <a:ln w="7144">
            <a:solidFill>
              <a:srgbClr val="DDD5C3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57200" y="4573786"/>
            <a:ext cx="8229600" cy="248194"/>
          </a:xfrm>
          <a:prstGeom prst="rect">
            <a:avLst/>
          </a:prstGeom>
          <a:noFill/>
          <a:ln/>
        </p:spPr>
        <p:txBody>
          <a:bodyPr wrap="square" lIns="0" tIns="50006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8" kern="0" dirty="0">
                <a:solidFill>
                  <a:srgbClr val="57534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DnCNN17</a:t>
            </a:r>
            <a:pPr algn="l" indent="0" marL="0">
              <a:lnSpc>
                <a:spcPts val="886"/>
              </a:lnSpc>
              <a:buNone/>
            </a:pPr>
            <a:r>
              <a:rPr lang="en-US" sz="800" spc="18" kern="0" dirty="0">
                <a:solidFill>
                  <a:srgbClr val="8A82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§II-A, §III-A, §III-C, §III-D, Table II, Table IV · </a:t>
            </a:r>
            <a:pPr algn="l" indent="0" marL="0">
              <a:lnSpc>
                <a:spcPts val="886"/>
              </a:lnSpc>
              <a:buNone/>
            </a:pPr>
            <a:r>
              <a:rPr lang="en-US" sz="800" spc="18" kern="0" dirty="0">
                <a:solidFill>
                  <a:srgbClr val="57534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TNRD17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1169016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2007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2814981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2014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4460834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2017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6106798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2022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7752763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2025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1258639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2904604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4550457" y="4823817"/>
            <a:ext cx="42863" cy="42863"/>
          </a:xfrm>
          <a:prstGeom prst="ellipse">
            <a:avLst/>
          </a:prstGeom>
          <a:solidFill>
            <a:srgbClr val="B3452C"/>
          </a:solidFill>
          <a:ln w="7144">
            <a:solidFill>
              <a:srgbClr val="B3452C"/>
            </a:solidFill>
            <a:prstDash val="solid"/>
          </a:ln>
          <a:effectLst>
            <a:outerShdw sx="100000" sy="100000" kx="0" ky="0" algn="bl" rotWithShape="0" blurRad="101600" dist="50800" dir="16200000">
              <a:srgbClr val="B3452C">
                <a:alpha val="1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6196422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7842386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5738" y="114300"/>
            <a:ext cx="530602" cy="462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250" spc="-45" kern="0" dirty="0">
                <a:solidFill>
                  <a:srgbClr val="1C1917">
                    <a:alpha val="1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15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457200" y="371475"/>
            <a:ext cx="8636000" cy="161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B34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BREAK · DNCNN · 2017 · BEFORE → AFTER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572348" y="640928"/>
            <a:ext cx="605879" cy="108496"/>
          </a:xfrm>
          <a:prstGeom prst="roundRect">
            <a:avLst>
              <a:gd name="adj" fmla="val 8770346"/>
            </a:avLst>
          </a:prstGeom>
          <a:solidFill>
            <a:srgbClr val="B345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560784"/>
            <a:ext cx="8229600" cy="220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3"/>
              </a:lnSpc>
              <a:buNone/>
            </a:pPr>
            <a:r>
              <a:rPr lang="en-US" sz="1744" b="1" spc="-26" kern="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DnCNN vs TNRD — remove the optimiser entirely</a:t>
            </a:r>
            <a:pPr algn="l" indent="0" marL="0">
              <a:lnSpc>
                <a:spcPts val="1953"/>
              </a:lnSpc>
              <a:buNone/>
            </a:pPr>
            <a:r>
              <a:rPr lang="en-US" sz="800" b="1" spc="68" kern="0" dirty="0">
                <a:solidFill>
                  <a:srgbClr val="F5F1E8"/>
                </a:solidFill>
                <a:highlight>
                  <a:srgbClr val="B3452C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CONTINUED</a:t>
            </a:r>
            <a:endParaRPr lang="en-US" sz="1744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0143"/>
          <a:ext cx="8229600" cy="914400"/>
        </p:xfrm>
        <a:graphic>
          <a:graphicData uri="http://schemas.openxmlformats.org/drawingml/2006/table">
            <a:tbl>
              <a:tblPr/>
              <a:tblGrid>
                <a:gridCol w="828675"/>
                <a:gridCol w="1828800"/>
                <a:gridCol w="2400300"/>
                <a:gridCol w="3171825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7534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ASPECT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5719" marR="85725" marT="85725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7534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TNRD (2017)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5719" marR="85725" marT="85725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7534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DNCNN (2017)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5719" marR="85725" marT="85725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7534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WHY IT MATTERS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5719" marR="85725" marT="85725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C191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Performance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85725" marT="85725" marB="71438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C191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28.92 dB · 0.032 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85725" marT="85725" marB="71438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C191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29.23 dB · 0.060 s (blind: 29.16)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85725" marT="85725" marB="71438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C191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+0.66 / +0.66 / +0.61 dB over BM3D at σ = 25 / 15 / 50 [DnCNN17 Table II]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85725" marT="85725" marB="71438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C191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Applications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85725" marT="85725" marB="71438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A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753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Gaussian denoising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85725" marT="85725" marB="71438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A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753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One model for denoising + super-resolution + JPEG deblocking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85725" marT="85725" marB="71438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A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753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Redefine v and the same network solves three tasks [DnCNN17 §III-D, Table V]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85725" marT="85725" marB="71438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A">
                        <a:alpha val="5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60772" y="2550654"/>
            <a:ext cx="2659819" cy="1157846"/>
          </a:xfrm>
          <a:prstGeom prst="roundRect">
            <a:avLst>
              <a:gd name="adj" fmla="val 8226"/>
            </a:avLst>
          </a:prstGeom>
          <a:solidFill>
            <a:srgbClr val="FFFDF7"/>
          </a:solidFill>
          <a:ln w="7144">
            <a:solidFill>
              <a:srgbClr val="DDD5C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21506" y="2697100"/>
            <a:ext cx="2338350" cy="2861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244"/>
              </a:lnSpc>
              <a:buNone/>
            </a:pPr>
            <a:r>
              <a:rPr lang="en-US" sz="2138" spc="-21" kern="0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+0.66 dB</a:t>
            </a:r>
            <a:endParaRPr lang="en-US" sz="2138" dirty="0"/>
          </a:p>
        </p:txBody>
      </p:sp>
      <p:sp>
        <p:nvSpPr>
          <p:cNvPr id="9" name="Text 6"/>
          <p:cNvSpPr/>
          <p:nvPr/>
        </p:nvSpPr>
        <p:spPr>
          <a:xfrm>
            <a:off x="621506" y="3010644"/>
            <a:ext cx="2338350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68" kern="0" dirty="0">
                <a:solidFill>
                  <a:srgbClr val="1C191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OVER BM3D · BSD68 Σ=25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21506" y="3160663"/>
            <a:ext cx="2338350" cy="4013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σ=15: +0.66 · σ=50: +0.61 — one paper took more than seven years of classical refinement (WNNM +0.26, TNRD +0.35, EPLL +0.11) </a:t>
            </a:r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[DnCNN17 Table II]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3242035" y="2550654"/>
            <a:ext cx="2659819" cy="1157846"/>
          </a:xfrm>
          <a:prstGeom prst="roundRect">
            <a:avLst>
              <a:gd name="adj" fmla="val 8226"/>
            </a:avLst>
          </a:prstGeom>
          <a:solidFill>
            <a:srgbClr val="FFFDF7"/>
          </a:solidFill>
          <a:ln w="7144">
            <a:solidFill>
              <a:srgbClr val="DDD5C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3402769" y="2697100"/>
            <a:ext cx="2338350" cy="2861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244"/>
              </a:lnSpc>
              <a:buNone/>
            </a:pPr>
            <a:r>
              <a:rPr lang="en-US" sz="2138" spc="-21" kern="0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12,900×</a:t>
            </a:r>
            <a:endParaRPr lang="en-US" sz="2138" dirty="0"/>
          </a:p>
        </p:txBody>
      </p:sp>
      <p:sp>
        <p:nvSpPr>
          <p:cNvPr id="13" name="Text 10"/>
          <p:cNvSpPr/>
          <p:nvPr/>
        </p:nvSpPr>
        <p:spPr>
          <a:xfrm>
            <a:off x="3402769" y="3010644"/>
            <a:ext cx="2338350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68" kern="0" dirty="0">
                <a:solidFill>
                  <a:srgbClr val="1C191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FASTER THAN WNNM · 512×512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3402769" y="3160663"/>
            <a:ext cx="2338350" cy="4013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773.2 s CPU → 0.060 s GPU. The device differs and the paper says so; the order of magnitude is the point </a:t>
            </a:r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[DnCNN17 Table IV]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6023297" y="2550654"/>
            <a:ext cx="2659931" cy="1157846"/>
          </a:xfrm>
          <a:prstGeom prst="roundRect">
            <a:avLst>
              <a:gd name="adj" fmla="val 8226"/>
            </a:avLst>
          </a:prstGeom>
          <a:solidFill>
            <a:srgbClr val="FFFDF7"/>
          </a:solidFill>
          <a:ln w="7144">
            <a:solidFill>
              <a:srgbClr val="DDD5C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6184032" y="2697100"/>
            <a:ext cx="2338462" cy="2861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244"/>
              </a:lnSpc>
              <a:buNone/>
            </a:pPr>
            <a:r>
              <a:rPr lang="en-US" sz="2138" spc="-21" kern="0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 tasks</a:t>
            </a:r>
            <a:endParaRPr lang="en-US" sz="2138" dirty="0"/>
          </a:p>
        </p:txBody>
      </p:sp>
      <p:sp>
        <p:nvSpPr>
          <p:cNvPr id="17" name="Text 14"/>
          <p:cNvSpPr/>
          <p:nvPr/>
        </p:nvSpPr>
        <p:spPr>
          <a:xfrm>
            <a:off x="6184032" y="3010644"/>
            <a:ext cx="2338462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68" kern="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MODEL, ONE LOSS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6184032" y="3160663"/>
            <a:ext cx="2338462" cy="4013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DnCNN-3 handles denoising, SR and JPEG deblocking, beating a specialist baseline on all three </a:t>
            </a:r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[DnCNN17 Table V]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457200" y="4577358"/>
            <a:ext cx="8229600" cy="0"/>
          </a:xfrm>
          <a:prstGeom prst="line">
            <a:avLst/>
          </a:prstGeom>
          <a:noFill/>
          <a:ln w="7144">
            <a:solidFill>
              <a:srgbClr val="DDD5C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57200" y="4573786"/>
            <a:ext cx="8636000" cy="248194"/>
          </a:xfrm>
          <a:prstGeom prst="rect">
            <a:avLst/>
          </a:prstGeom>
          <a:noFill/>
          <a:ln/>
        </p:spPr>
        <p:txBody>
          <a:bodyPr wrap="square" lIns="0" tIns="50006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8" kern="0" dirty="0">
                <a:solidFill>
                  <a:srgbClr val="57534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DnCNN17</a:t>
            </a:r>
            <a:pPr algn="l" indent="0" marL="0">
              <a:lnSpc>
                <a:spcPts val="886"/>
              </a:lnSpc>
              <a:buNone/>
            </a:pPr>
            <a:r>
              <a:rPr lang="en-US" sz="800" spc="18" kern="0" dirty="0">
                <a:solidFill>
                  <a:srgbClr val="8A82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Table II, Table IV, Table V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1169016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2007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2814981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2014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4460834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2017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106798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2022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7752763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2025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1258639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2904604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4550457" y="4823817"/>
            <a:ext cx="42863" cy="42863"/>
          </a:xfrm>
          <a:prstGeom prst="ellipse">
            <a:avLst/>
          </a:prstGeom>
          <a:solidFill>
            <a:srgbClr val="B3452C"/>
          </a:solidFill>
          <a:ln w="7144">
            <a:solidFill>
              <a:srgbClr val="B3452C"/>
            </a:solidFill>
            <a:prstDash val="solid"/>
          </a:ln>
          <a:effectLst>
            <a:outerShdw sx="100000" sy="100000" kx="0" ky="0" algn="bl" rotWithShape="0" blurRad="101600" dist="50800" dir="16200000">
              <a:srgbClr val="B3452C">
                <a:alpha val="1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6196422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7842386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5738" y="114300"/>
            <a:ext cx="530602" cy="462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250" spc="-45" kern="0" dirty="0">
                <a:solidFill>
                  <a:srgbClr val="1C1917">
                    <a:alpha val="1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16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457200" y="371475"/>
            <a:ext cx="8636000" cy="161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B34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BREAK</a:t>
            </a:r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9C8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B34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DNCNN</a:t>
            </a:r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9C8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B34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IMPLEMENTATION CHANGE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60784"/>
            <a:ext cx="8636000" cy="26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3"/>
              </a:lnSpc>
              <a:buNone/>
            </a:pPr>
            <a:r>
              <a:rPr lang="en-US" sz="1744" b="1" spc="-26" kern="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innovation is one line of code</a:t>
            </a:r>
            <a:endParaRPr lang="en-US" sz="1744" dirty="0"/>
          </a:p>
        </p:txBody>
      </p:sp>
      <p:sp>
        <p:nvSpPr>
          <p:cNvPr id="5" name="Text 3"/>
          <p:cNvSpPr/>
          <p:nvPr/>
        </p:nvSpPr>
        <p:spPr>
          <a:xfrm>
            <a:off x="457200" y="865956"/>
            <a:ext cx="7715250" cy="191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cszn/KAIR, </a:t>
            </a:r>
            <a:pPr algn="l" indent="0" marL="0">
              <a:lnSpc>
                <a:spcPts val="1308"/>
              </a:lnSpc>
              <a:buNone/>
            </a:pPr>
            <a:r>
              <a:rPr lang="en-US" sz="820" dirty="0">
                <a:solidFill>
                  <a:srgbClr val="5753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models/network_dncnn.py</a:t>
            </a:r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by DnCNN own first author. The architecture is a list comprehension; the contribution is the return statement.</a:t>
            </a:r>
            <a:endParaRPr lang="en-US" sz="872" dirty="0"/>
          </a:p>
        </p:txBody>
      </p:sp>
      <p:sp>
        <p:nvSpPr>
          <p:cNvPr id="6" name="Text 4"/>
          <p:cNvSpPr/>
          <p:nvPr/>
        </p:nvSpPr>
        <p:spPr>
          <a:xfrm>
            <a:off x="457200" y="1172021"/>
            <a:ext cx="3414713" cy="135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30" kern="0" dirty="0">
                <a:solidFill>
                  <a:srgbClr val="9C8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KAIR/models/network_dncnn.py — the whole network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334542"/>
            <a:ext cx="3414713" cy="1981498"/>
          </a:xfrm>
          <a:prstGeom prst="roundRect">
            <a:avLst>
              <a:gd name="adj" fmla="val 4807"/>
            </a:avLst>
          </a:prstGeom>
          <a:solidFill>
            <a:srgbClr val="29241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85788" y="1448842"/>
            <a:ext cx="3267266" cy="1074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62"/>
              </a:lnSpc>
              <a:buNone/>
            </a:pPr>
            <a:r>
              <a:rPr lang="en-US" sz="800" dirty="0">
                <a:solidFill>
                  <a:srgbClr val="E9E2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m_head = B.conv(in_nc, nc, mode=…)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85788" y="1583680"/>
            <a:ext cx="3267266" cy="1074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62"/>
              </a:lnSpc>
              <a:buNone/>
            </a:pPr>
            <a:r>
              <a:rPr lang="en-US" sz="800" dirty="0">
                <a:solidFill>
                  <a:srgbClr val="E9E2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m_body = [B.conv(nc, nc, mode=…)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85788" y="1718518"/>
            <a:ext cx="3267266" cy="1074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62"/>
              </a:lnSpc>
              <a:buNone/>
            </a:pPr>
            <a:r>
              <a:rPr lang="en-US" sz="800" dirty="0">
                <a:solidFill>
                  <a:srgbClr val="E9E2D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for _ in range(nb-2)] </a:t>
            </a:r>
            <a:pPr algn="l" indent="0" marL="0">
              <a:lnSpc>
                <a:spcPts val="1062"/>
              </a:lnSpc>
              <a:buNone/>
            </a:pPr>
            <a:r>
              <a:rPr lang="en-US" sz="800" dirty="0">
                <a:solidFill>
                  <a:srgbClr val="F0B7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← the entire network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85788" y="1853357"/>
            <a:ext cx="3267266" cy="175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2"/>
              </a:lnSpc>
              <a:buNone/>
            </a:pPr>
            <a:r>
              <a:rPr lang="en-US" sz="800" dirty="0">
                <a:solidFill>
                  <a:srgbClr val="E9E2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m_tail = B.conv(nc, out_nc, mode=…)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85788" y="2123033"/>
            <a:ext cx="3157538" cy="1074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62"/>
              </a:lnSpc>
              <a:buNone/>
            </a:pPr>
            <a:r>
              <a:rPr lang="en-US" sz="800" dirty="0">
                <a:solidFill>
                  <a:srgbClr val="E9E2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forward(self, x):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85788" y="2257871"/>
            <a:ext cx="3157538" cy="1074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62"/>
              </a:lnSpc>
              <a:buNone/>
            </a:pPr>
            <a:r>
              <a:rPr lang="en-US" sz="800" dirty="0">
                <a:solidFill>
                  <a:srgbClr val="E9E2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= self.model(x)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85788" y="2392710"/>
            <a:ext cx="3267266" cy="175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2"/>
              </a:lnSpc>
              <a:buNone/>
            </a:pPr>
            <a:r>
              <a:rPr lang="en-US" sz="800" dirty="0">
                <a:solidFill>
                  <a:srgbClr val="E9E2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x-n </a:t>
            </a:r>
            <a:pPr algn="l" indent="0" marL="0">
              <a:lnSpc>
                <a:spcPts val="1062"/>
              </a:lnSpc>
              <a:buNone/>
            </a:pPr>
            <a:r>
              <a:rPr lang="en-US" sz="800" dirty="0">
                <a:solidFill>
                  <a:srgbClr val="F0B7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← the contribution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85788" y="2676674"/>
            <a:ext cx="2348691" cy="130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2"/>
              </a:lnSpc>
              <a:buNone/>
            </a:pPr>
            <a:r>
              <a:rPr lang="en-US" sz="664" i="1" dirty="0">
                <a:solidFill>
                  <a:srgbClr val="8F8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BEFORE (discriminative CNNs, ~2012–2016):</a:t>
            </a:r>
            <a:endParaRPr lang="en-US" sz="664" dirty="0"/>
          </a:p>
        </p:txBody>
      </p:sp>
      <p:sp>
        <p:nvSpPr>
          <p:cNvPr id="16" name="Text 14"/>
          <p:cNvSpPr/>
          <p:nvPr/>
        </p:nvSpPr>
        <p:spPr>
          <a:xfrm>
            <a:off x="585788" y="2811512"/>
            <a:ext cx="2512519" cy="130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2"/>
              </a:lnSpc>
              <a:buNone/>
            </a:pPr>
            <a:r>
              <a:rPr lang="en-US" sz="800" i="1" dirty="0">
                <a:solidFill>
                  <a:srgbClr val="8F8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return self.model(x) → learn F(y) = x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85788" y="2946350"/>
            <a:ext cx="1268409" cy="1301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62"/>
              </a:lnSpc>
              <a:buNone/>
            </a:pPr>
            <a:r>
              <a:rPr lang="en-US" sz="664" i="1" dirty="0">
                <a:solidFill>
                  <a:srgbClr val="8F86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# AFTER (DnCNN, 2017):</a:t>
            </a:r>
            <a:endParaRPr lang="en-US" sz="664" dirty="0"/>
          </a:p>
        </p:txBody>
      </p:sp>
      <p:sp>
        <p:nvSpPr>
          <p:cNvPr id="18" name="Text 16"/>
          <p:cNvSpPr/>
          <p:nvPr/>
        </p:nvSpPr>
        <p:spPr>
          <a:xfrm>
            <a:off x="585788" y="3081189"/>
            <a:ext cx="2512519" cy="120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2"/>
              </a:lnSpc>
              <a:buNone/>
            </a:pPr>
            <a:r>
              <a:rPr lang="en-US" sz="800" i="1" dirty="0">
                <a:solidFill>
                  <a:srgbClr val="8F8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return x - self.model(x) → learn R(y) = v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089797" y="1368475"/>
            <a:ext cx="150019" cy="150019"/>
          </a:xfrm>
          <a:prstGeom prst="roundRect">
            <a:avLst>
              <a:gd name="adj" fmla="val 6342847"/>
            </a:avLst>
          </a:prstGeom>
          <a:noFill/>
          <a:ln w="7144">
            <a:solidFill>
              <a:srgbClr val="B3452C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086225" y="1364903"/>
            <a:ext cx="200025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329113" y="1357759"/>
            <a:ext cx="43576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that one change matters.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From ResNet: a mapping close to the identity is hard to optimise. And </a:t>
            </a:r>
            <a:pPr algn="l" indent="0" marL="0">
              <a:lnSpc>
                <a:spcPts val="1055"/>
              </a:lnSpc>
              <a:buNone/>
            </a:pPr>
            <a:r>
              <a:rPr lang="en-US" sz="800" i="1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y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is much more like </a:t>
            </a:r>
            <a:pPr algn="l" indent="0" marL="0">
              <a:lnSpc>
                <a:spcPts val="1055"/>
              </a:lnSpc>
              <a:buNone/>
            </a:pPr>
            <a:r>
              <a:rPr lang="en-US" sz="800" i="1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x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than it is like </a:t>
            </a:r>
            <a:pPr algn="l" indent="0" marL="0">
              <a:lnSpc>
                <a:spcPts val="1055"/>
              </a:lnSpc>
              <a:buNone/>
            </a:pPr>
            <a:r>
              <a:rPr lang="en-US" sz="800" i="1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so learning the image forces the network toward an identity transform, which seventeen ReLU layers have no natural way to express.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089797" y="1884611"/>
            <a:ext cx="150019" cy="150019"/>
          </a:xfrm>
          <a:prstGeom prst="roundRect">
            <a:avLst>
              <a:gd name="adj" fmla="val 6342847"/>
            </a:avLst>
          </a:prstGeom>
          <a:noFill/>
          <a:ln w="7144">
            <a:solidFill>
              <a:srgbClr val="B3452C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086225" y="1881039"/>
            <a:ext cx="200025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329113" y="1873895"/>
            <a:ext cx="4357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Learning the noise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moves the trivial solution to zero, reachable by driving weights toward zero. Same function class, far easier optimisation landscape.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089797" y="2266801"/>
            <a:ext cx="150019" cy="150019"/>
          </a:xfrm>
          <a:prstGeom prst="roundRect">
            <a:avLst>
              <a:gd name="adj" fmla="val 6342847"/>
            </a:avLst>
          </a:prstGeom>
          <a:noFill/>
          <a:ln w="7144">
            <a:solidFill>
              <a:srgbClr val="B3452C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086225" y="2263229"/>
            <a:ext cx="200025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329113" y="2256086"/>
            <a:ext cx="4357688" cy="5014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synergy, in one sentence.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Residual learning strips the image out of the hidden layers, making activations Gaussian-like and content-independent — exactly the regime batch-norm batch statistics assume. Without residual learning, BN has a certain adverse effect on convergence. 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[DnCNN17 §III-C]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089797" y="2789188"/>
            <a:ext cx="150019" cy="150019"/>
          </a:xfrm>
          <a:prstGeom prst="roundRect">
            <a:avLst>
              <a:gd name="adj" fmla="val 6342847"/>
            </a:avLst>
          </a:prstGeom>
          <a:noFill/>
          <a:ln w="7144">
            <a:solidFill>
              <a:srgbClr val="B3452C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086225" y="2785616"/>
            <a:ext cx="200025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329113" y="2778472"/>
            <a:ext cx="4357688" cy="336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Where the prior went.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Nowhere in this file. It is in the 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.pth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checkpoint this class will load — the moment the prior stopped being readable and started being downloadable.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57200" y="4577358"/>
            <a:ext cx="8229600" cy="0"/>
          </a:xfrm>
          <a:prstGeom prst="line">
            <a:avLst/>
          </a:prstGeom>
          <a:noFill/>
          <a:ln w="7144">
            <a:solidFill>
              <a:srgbClr val="DDD5C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573786"/>
            <a:ext cx="8229600" cy="248194"/>
          </a:xfrm>
          <a:prstGeom prst="rect">
            <a:avLst/>
          </a:prstGeom>
          <a:noFill/>
          <a:ln/>
        </p:spPr>
        <p:txBody>
          <a:bodyPr wrap="square" lIns="0" tIns="50006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8" kern="0" dirty="0">
                <a:solidFill>
                  <a:srgbClr val="9C8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measured — cszn/KAIR, verbatim</a:t>
            </a:r>
            <a:pPr algn="l" indent="0" marL="0">
              <a:lnSpc>
                <a:spcPts val="886"/>
              </a:lnSpc>
              <a:buNone/>
            </a:pPr>
            <a:r>
              <a:rPr lang="en-US" sz="800" spc="18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· DnCNN17 §II-A, §III-C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169016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2007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2814981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2014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460834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2017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106798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2022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752763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2025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258639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2904604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4550457" y="4823817"/>
            <a:ext cx="42863" cy="42863"/>
          </a:xfrm>
          <a:prstGeom prst="ellipse">
            <a:avLst/>
          </a:prstGeom>
          <a:solidFill>
            <a:srgbClr val="B3452C"/>
          </a:solidFill>
          <a:ln w="7144">
            <a:solidFill>
              <a:srgbClr val="B3452C"/>
            </a:solidFill>
            <a:prstDash val="solid"/>
          </a:ln>
          <a:effectLst>
            <a:outerShdw sx="100000" sy="100000" kx="0" ky="0" algn="bl" rotWithShape="0" blurRad="101600" dist="50800" dir="16200000">
              <a:srgbClr val="B3452C">
                <a:alpha val="1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196422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7842386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5738" y="114300"/>
            <a:ext cx="530602" cy="462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250" spc="-45" kern="0" dirty="0">
                <a:solidFill>
                  <a:srgbClr val="1C1917">
                    <a:alpha val="1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17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457200" y="371475"/>
            <a:ext cx="8636000" cy="161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B34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BREAK</a:t>
            </a:r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9C8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B34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DNCNN</a:t>
            </a:r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9C8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B34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IT WAS SOTA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60784"/>
            <a:ext cx="8636000" cy="26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3"/>
              </a:lnSpc>
              <a:buNone/>
            </a:pPr>
            <a:r>
              <a:rPr lang="en-US" sz="1744" b="1" spc="-26" kern="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made it state of the art, and for how long</a:t>
            </a:r>
            <a:endParaRPr lang="en-US" sz="1744" dirty="0"/>
          </a:p>
        </p:txBody>
      </p:sp>
      <p:sp>
        <p:nvSpPr>
          <p:cNvPr id="5" name="Text 3"/>
          <p:cNvSpPr/>
          <p:nvPr/>
        </p:nvSpPr>
        <p:spPr>
          <a:xfrm>
            <a:off x="457200" y="865956"/>
            <a:ext cx="7715250" cy="179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SOTA claim with its qualifiers attached: the benchmark, the margin, and the context.</a:t>
            </a:r>
            <a:endParaRPr lang="en-US" sz="872" dirty="0"/>
          </a:p>
        </p:txBody>
      </p:sp>
      <p:sp>
        <p:nvSpPr>
          <p:cNvPr id="6" name="Text 4"/>
          <p:cNvSpPr/>
          <p:nvPr/>
        </p:nvSpPr>
        <p:spPr>
          <a:xfrm>
            <a:off x="460772" y="1164208"/>
            <a:ext cx="2640732" cy="1170236"/>
          </a:xfrm>
          <a:prstGeom prst="roundRect">
            <a:avLst>
              <a:gd name="adj" fmla="val 8139"/>
            </a:avLst>
          </a:prstGeom>
          <a:solidFill>
            <a:srgbClr val="FFFDF7"/>
          </a:solidFill>
          <a:ln w="7144">
            <a:solidFill>
              <a:srgbClr val="DDD5C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92931" y="1282080"/>
            <a:ext cx="2376413" cy="2261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72"/>
              </a:lnSpc>
              <a:buNone/>
            </a:pPr>
            <a:r>
              <a:rPr lang="en-US" sz="1688" spc="-17" kern="0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+0.66 dB</a:t>
            </a:r>
            <a:endParaRPr lang="en-US" sz="1688" dirty="0"/>
          </a:p>
        </p:txBody>
      </p:sp>
      <p:sp>
        <p:nvSpPr>
          <p:cNvPr id="8" name="Text 6"/>
          <p:cNvSpPr/>
          <p:nvPr/>
        </p:nvSpPr>
        <p:spPr>
          <a:xfrm>
            <a:off x="592931" y="1535683"/>
            <a:ext cx="2376413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68" kern="0" dirty="0">
                <a:solidFill>
                  <a:srgbClr val="1C191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OVER BM3D · BSD68 Σ=25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92931" y="1685702"/>
            <a:ext cx="2376413" cy="530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σ=15: +0.66, σ=50: +0.61. Seven years of classical refinement had bought +0.11–0.39 dB (EPLL, WNNM, TNRD); DnCNN took more in one paper. </a:t>
            </a:r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[DnCNN17 Table II]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251522" y="1164208"/>
            <a:ext cx="2640843" cy="1170236"/>
          </a:xfrm>
          <a:prstGeom prst="roundRect">
            <a:avLst>
              <a:gd name="adj" fmla="val 8139"/>
            </a:avLst>
          </a:prstGeom>
          <a:solidFill>
            <a:srgbClr val="FFFDF7"/>
          </a:solidFill>
          <a:ln w="7144">
            <a:solidFill>
              <a:srgbClr val="DDD5C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383682" y="1282080"/>
            <a:ext cx="2376525" cy="2261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72"/>
              </a:lnSpc>
              <a:buNone/>
            </a:pPr>
            <a:r>
              <a:rPr lang="en-US" sz="1688" spc="-17" kern="0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12,900×</a:t>
            </a:r>
            <a:endParaRPr lang="en-US" sz="1688" dirty="0"/>
          </a:p>
        </p:txBody>
      </p:sp>
      <p:sp>
        <p:nvSpPr>
          <p:cNvPr id="12" name="Text 10"/>
          <p:cNvSpPr/>
          <p:nvPr/>
        </p:nvSpPr>
        <p:spPr>
          <a:xfrm>
            <a:off x="3383682" y="1535683"/>
            <a:ext cx="2376525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68" kern="0" dirty="0">
                <a:solidFill>
                  <a:srgbClr val="1C191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FASTER THAN WNNM · 512²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383682" y="1685702"/>
            <a:ext cx="2376525" cy="485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773.2 s CPU → 0.060 s GPU. The device differs and the paper says so; the order of magnitude is the point. </a:t>
            </a:r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[DnCNN17 Table IV]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042385" y="1164208"/>
            <a:ext cx="2640843" cy="1170236"/>
          </a:xfrm>
          <a:prstGeom prst="roundRect">
            <a:avLst>
              <a:gd name="adj" fmla="val 8139"/>
            </a:avLst>
          </a:prstGeom>
          <a:solidFill>
            <a:srgbClr val="FFFDF7"/>
          </a:solidFill>
          <a:ln w="7144">
            <a:solidFill>
              <a:srgbClr val="DDD5C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174544" y="1282080"/>
            <a:ext cx="2376525" cy="2261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72"/>
              </a:lnSpc>
              <a:buNone/>
            </a:pPr>
            <a:r>
              <a:rPr lang="en-US" sz="1688" spc="-17" kern="0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 tasks</a:t>
            </a:r>
            <a:endParaRPr lang="en-US" sz="1688" dirty="0"/>
          </a:p>
        </p:txBody>
      </p:sp>
      <p:sp>
        <p:nvSpPr>
          <p:cNvPr id="16" name="Text 14"/>
          <p:cNvSpPr/>
          <p:nvPr/>
        </p:nvSpPr>
        <p:spPr>
          <a:xfrm>
            <a:off x="6174544" y="1535683"/>
            <a:ext cx="2376525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68" kern="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MODEL, ONE LOSS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174544" y="1685702"/>
            <a:ext cx="2376525" cy="485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DnCNN-3 handles denoising, super-resolution and JPEG deblocking by redefining </a:t>
            </a:r>
            <a:pPr algn="l" indent="0" marL="0">
              <a:lnSpc>
                <a:spcPts val="1020"/>
              </a:lnSpc>
              <a:buNone/>
            </a:pPr>
            <a:r>
              <a:rPr lang="en-US" sz="800" i="1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</a:t>
            </a:r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beating a specialist baseline on all three. </a:t>
            </a:r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[DnCNN17 §III-D, Table V]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60772" y="2505894"/>
            <a:ext cx="150019" cy="150019"/>
          </a:xfrm>
          <a:prstGeom prst="roundRect">
            <a:avLst>
              <a:gd name="adj" fmla="val 6342847"/>
            </a:avLst>
          </a:prstGeom>
          <a:noFill/>
          <a:ln w="7144">
            <a:solidFill>
              <a:srgbClr val="B3452C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57200" y="2502322"/>
            <a:ext cx="200025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00088" y="2495178"/>
            <a:ext cx="7986713" cy="172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And it did it blind.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DnCNN-B reaches 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57534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29.16 dB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at σ=25 without being told σ — within 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57534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0.07 dB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of the noise-specific model. Drawback 4 closed. 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57534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[DnCNN17 Table II]</a:t>
            </a:r>
            <a:endParaRPr lang="en-US" sz="703" dirty="0"/>
          </a:p>
        </p:txBody>
      </p:sp>
      <p:sp>
        <p:nvSpPr>
          <p:cNvPr id="21" name="Text 19"/>
          <p:cNvSpPr/>
          <p:nvPr/>
        </p:nvSpPr>
        <p:spPr>
          <a:xfrm>
            <a:off x="460772" y="2770212"/>
            <a:ext cx="150019" cy="150019"/>
          </a:xfrm>
          <a:prstGeom prst="roundRect">
            <a:avLst>
              <a:gd name="adj" fmla="val 6342847"/>
            </a:avLst>
          </a:prstGeom>
          <a:noFill/>
          <a:ln w="7144">
            <a:solidFill>
              <a:srgbClr val="B3452C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57200" y="2766640"/>
            <a:ext cx="200025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00088" y="2759497"/>
            <a:ext cx="7986713" cy="172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Applications it opened: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real-time denoising in imaging pipelines; the 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5753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.pth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checkpoint as a shippable artefact; denoising as a reusable plug-and-play prior inside other solvers. 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57534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[SCUNet23 §1]</a:t>
            </a:r>
            <a:endParaRPr lang="en-US" sz="703" dirty="0"/>
          </a:p>
        </p:txBody>
      </p:sp>
      <p:sp>
        <p:nvSpPr>
          <p:cNvPr id="24" name="Text 22"/>
          <p:cNvSpPr/>
          <p:nvPr/>
        </p:nvSpPr>
        <p:spPr>
          <a:xfrm>
            <a:off x="460772" y="3034531"/>
            <a:ext cx="150019" cy="150019"/>
          </a:xfrm>
          <a:prstGeom prst="roundRect">
            <a:avLst>
              <a:gd name="adj" fmla="val 6342847"/>
            </a:avLst>
          </a:prstGeom>
          <a:noFill/>
          <a:ln w="7144">
            <a:solidFill>
              <a:srgbClr val="B3452C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57200" y="3030959"/>
            <a:ext cx="200025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00088" y="3023815"/>
            <a:ext cx="7986713" cy="172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it was not.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On real sensor noise DnCNN was never the leader — 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57534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23.66 dB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on SIDD 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57534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[Restormer22 Table 6]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 That gap is slide 41 subject (Open 1).</a:t>
            </a:r>
            <a:endParaRPr lang="en-US" sz="703" dirty="0"/>
          </a:p>
        </p:txBody>
      </p:sp>
      <p:sp>
        <p:nvSpPr>
          <p:cNvPr id="27" name="Shape 25"/>
          <p:cNvSpPr/>
          <p:nvPr/>
        </p:nvSpPr>
        <p:spPr>
          <a:xfrm>
            <a:off x="457200" y="4577358"/>
            <a:ext cx="8229600" cy="0"/>
          </a:xfrm>
          <a:prstGeom prst="line">
            <a:avLst/>
          </a:prstGeom>
          <a:noFill/>
          <a:ln w="7144">
            <a:solidFill>
              <a:srgbClr val="DDD5C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573786"/>
            <a:ext cx="8229600" cy="248194"/>
          </a:xfrm>
          <a:prstGeom prst="rect">
            <a:avLst/>
          </a:prstGeom>
          <a:noFill/>
          <a:ln/>
        </p:spPr>
        <p:txBody>
          <a:bodyPr wrap="square" lIns="0" tIns="50006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8" kern="0" dirty="0">
                <a:solidFill>
                  <a:srgbClr val="9C856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DnCNN17 Table II, Table IV, §III-D</a:t>
            </a:r>
            <a:pPr algn="l" indent="0" marL="0">
              <a:lnSpc>
                <a:spcPts val="886"/>
              </a:lnSpc>
              <a:buNone/>
            </a:pPr>
            <a:r>
              <a:rPr lang="en-US" sz="800" spc="18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· SCUNet23 §1 · Restormer22 Table 6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169016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2007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814981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2014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460834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2017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106798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2022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752763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2025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258639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2904604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550457" y="4823817"/>
            <a:ext cx="42863" cy="42863"/>
          </a:xfrm>
          <a:prstGeom prst="ellipse">
            <a:avLst/>
          </a:prstGeom>
          <a:solidFill>
            <a:srgbClr val="B3452C"/>
          </a:solidFill>
          <a:ln w="7144">
            <a:solidFill>
              <a:srgbClr val="B3452C"/>
            </a:solidFill>
            <a:prstDash val="solid"/>
          </a:ln>
          <a:effectLst>
            <a:outerShdw sx="100000" sy="100000" kx="0" ky="0" algn="bl" rotWithShape="0" blurRad="101600" dist="50800" dir="16200000">
              <a:srgbClr val="B3452C">
                <a:alpha val="1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196422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7842386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5738" y="114300"/>
            <a:ext cx="530602" cy="462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250" spc="-45" kern="0" dirty="0">
                <a:solidFill>
                  <a:srgbClr val="1C1917">
                    <a:alpha val="1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18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457200" y="371475"/>
            <a:ext cx="8636000" cy="161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B34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BREAK</a:t>
            </a:r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9C8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BOTTLENECKS 2 AND 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60784"/>
            <a:ext cx="8636000" cy="26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3"/>
              </a:lnSpc>
              <a:buNone/>
            </a:pPr>
            <a:r>
              <a:rPr lang="en-US" sz="1744" b="1" spc="-26" kern="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DnCNN broke, and the two bills it left</a:t>
            </a:r>
            <a:endParaRPr lang="en-US" sz="1744" dirty="0"/>
          </a:p>
        </p:txBody>
      </p:sp>
      <p:sp>
        <p:nvSpPr>
          <p:cNvPr id="5" name="Text 3"/>
          <p:cNvSpPr/>
          <p:nvPr/>
        </p:nvSpPr>
        <p:spPr>
          <a:xfrm>
            <a:off x="457200" y="865956"/>
            <a:ext cx="7715250" cy="358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This slide is the hinge of the whole talk. Everything after it is the field paying off these two debts — paid off by two different communities, independently, and never merged.</a:t>
            </a:r>
            <a:endParaRPr lang="en-US" sz="872" dirty="0"/>
          </a:p>
        </p:txBody>
      </p:sp>
      <p:sp>
        <p:nvSpPr>
          <p:cNvPr id="6" name="Text 4"/>
          <p:cNvSpPr/>
          <p:nvPr/>
        </p:nvSpPr>
        <p:spPr>
          <a:xfrm>
            <a:off x="460772" y="1330300"/>
            <a:ext cx="4021931" cy="1590377"/>
          </a:xfrm>
          <a:prstGeom prst="roundRect">
            <a:avLst>
              <a:gd name="adj" fmla="val 5989"/>
            </a:avLst>
          </a:prstGeom>
          <a:solidFill>
            <a:srgbClr val="FFFDF7"/>
          </a:solidFill>
          <a:ln w="7144">
            <a:solidFill>
              <a:srgbClr val="DDD5C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92931" y="1448172"/>
            <a:ext cx="3867341" cy="135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77" kern="0" dirty="0">
                <a:solidFill>
                  <a:srgbClr val="9C856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BOTTLENECK 2 — IT NEEDS CLEAN 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92931" y="1610692"/>
            <a:ext cx="3867341" cy="172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loss is 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‖R(y) − (y − x)‖²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 It requires </a:t>
            </a:r>
            <a:pPr algn="l" indent="0" marL="0">
              <a:lnSpc>
                <a:spcPts val="1055"/>
              </a:lnSpc>
              <a:buNone/>
            </a:pPr>
            <a:r>
              <a:rPr lang="en-US" sz="800" i="1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x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92931" y="1822326"/>
            <a:ext cx="3757613" cy="311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For fluorescence microscopy, cryo-EM, MRI and astronomy a clean ground truth does not exist and cannot be acquired — you cannot photograph the same cell noiselessly.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92931" y="2161654"/>
            <a:ext cx="37576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 the most valuable applications of denoising were the ones DnCNN could not serve.</a:t>
            </a:r>
            <a:endParaRPr lang="en-US" sz="703" dirty="0"/>
          </a:p>
        </p:txBody>
      </p:sp>
      <p:sp>
        <p:nvSpPr>
          <p:cNvPr id="11" name="Shape 9"/>
          <p:cNvSpPr/>
          <p:nvPr/>
        </p:nvSpPr>
        <p:spPr>
          <a:xfrm>
            <a:off x="592931" y="2579563"/>
            <a:ext cx="3757613" cy="0"/>
          </a:xfrm>
          <a:prstGeom prst="line">
            <a:avLst/>
          </a:prstGeom>
          <a:noFill/>
          <a:ln w="7144">
            <a:solidFill>
              <a:srgbClr val="DDD5C3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592931" y="2575992"/>
            <a:ext cx="3757613" cy="226814"/>
          </a:xfrm>
          <a:prstGeom prst="rect">
            <a:avLst/>
          </a:prstGeom>
          <a:noFill/>
          <a:ln/>
        </p:spPr>
        <p:txBody>
          <a:bodyPr wrap="square" lIns="0" tIns="85725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B3452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→ Answered by Branch A — the data branch. Part 3, slides 21–26.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661297" y="1330300"/>
            <a:ext cx="4021931" cy="1590377"/>
          </a:xfrm>
          <a:prstGeom prst="roundRect">
            <a:avLst>
              <a:gd name="adj" fmla="val 5989"/>
            </a:avLst>
          </a:prstGeom>
          <a:solidFill>
            <a:srgbClr val="FFFDF7"/>
          </a:solidFill>
          <a:ln w="7144">
            <a:solidFill>
              <a:srgbClr val="DDD5C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793456" y="1448172"/>
            <a:ext cx="3867340" cy="135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77" kern="0" dirty="0">
                <a:solidFill>
                  <a:srgbClr val="9C8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BOTTLENECK 3 — IT CANNOT SEE FAR ENOUGH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793456" y="1610692"/>
            <a:ext cx="3757613" cy="324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Receptive field is 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35×35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pixels, chosen deliberately to match EPLL, the smallest effective patch size in the field 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[DnCNN17 Table I]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 WNNM effective patch is 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361×361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793456" y="1962522"/>
            <a:ext cx="3757613" cy="3181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Visible in DnCNN own Table III: on Barbara it loses to BM3D by 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0.71 dB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the one Set12 image dominated by repetitive texture.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793456" y="2308101"/>
            <a:ext cx="375761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paper explains it: repetitive images meet well with the non-local similarity prior that a 35×35 convolution stack cannot reach.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793456" y="2579563"/>
            <a:ext cx="3757613" cy="0"/>
          </a:xfrm>
          <a:prstGeom prst="line">
            <a:avLst/>
          </a:prstGeom>
          <a:noFill/>
          <a:ln w="7144">
            <a:solidFill>
              <a:srgbClr val="DDD5C3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4793456" y="2575992"/>
            <a:ext cx="3757613" cy="226814"/>
          </a:xfrm>
          <a:prstGeom prst="rect">
            <a:avLst/>
          </a:prstGeom>
          <a:noFill/>
          <a:ln/>
        </p:spPr>
        <p:txBody>
          <a:bodyPr wrap="square" lIns="0" tIns="85725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B3452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→ Answered by Branch B — the architecture branch. Part 4, slides 28–34.</a:t>
            </a:r>
            <a:endParaRPr lang="en-US" sz="703" dirty="0"/>
          </a:p>
        </p:txBody>
      </p:sp>
      <p:sp>
        <p:nvSpPr>
          <p:cNvPr id="20" name="Text 18"/>
          <p:cNvSpPr/>
          <p:nvPr/>
        </p:nvSpPr>
        <p:spPr>
          <a:xfrm>
            <a:off x="460772" y="3042121"/>
            <a:ext cx="8222456" cy="369689"/>
          </a:xfrm>
          <a:prstGeom prst="roundRect">
            <a:avLst>
              <a:gd name="adj" fmla="val 25765"/>
            </a:avLst>
          </a:prstGeom>
          <a:solidFill>
            <a:srgbClr val="FAF5EA"/>
          </a:solidFill>
          <a:ln w="7144">
            <a:solidFill>
              <a:srgbClr val="DDD5C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57200" y="3038549"/>
            <a:ext cx="8229600" cy="463052"/>
          </a:xfrm>
          <a:prstGeom prst="rect">
            <a:avLst/>
          </a:prstGeom>
          <a:noFill/>
          <a:ln/>
        </p:spPr>
        <p:txBody>
          <a:bodyPr wrap="square" lIns="128588" tIns="114300" rIns="128588" bIns="11430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limitation visible in 2017, in the winning paper own results table, that took until 2022 to fix. That is what an honest evolution story looks like.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57200" y="4577358"/>
            <a:ext cx="8229600" cy="0"/>
          </a:xfrm>
          <a:prstGeom prst="line">
            <a:avLst/>
          </a:prstGeom>
          <a:noFill/>
          <a:ln w="7144">
            <a:solidFill>
              <a:srgbClr val="DDD5C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573786"/>
            <a:ext cx="8229600" cy="248194"/>
          </a:xfrm>
          <a:prstGeom prst="rect">
            <a:avLst/>
          </a:prstGeom>
          <a:noFill/>
          <a:ln/>
        </p:spPr>
        <p:txBody>
          <a:bodyPr wrap="square" lIns="0" tIns="50006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8" kern="0" dirty="0">
                <a:solidFill>
                  <a:srgbClr val="9C8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DnCNN17 §III-A Eq. (1), Table I, Table III</a:t>
            </a:r>
            <a:pPr algn="l" indent="0" marL="0">
              <a:lnSpc>
                <a:spcPts val="886"/>
              </a:lnSpc>
              <a:buNone/>
            </a:pPr>
            <a:r>
              <a:rPr lang="en-US" sz="800" spc="18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· N2V19 §1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169016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2007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814981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2014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460834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2017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106798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2022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752763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2025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258639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2904604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550457" y="4823817"/>
            <a:ext cx="42863" cy="42863"/>
          </a:xfrm>
          <a:prstGeom prst="ellipse">
            <a:avLst/>
          </a:prstGeom>
          <a:solidFill>
            <a:srgbClr val="B3452C"/>
          </a:solidFill>
          <a:ln w="7144">
            <a:solidFill>
              <a:srgbClr val="B3452C"/>
            </a:solidFill>
            <a:prstDash val="solid"/>
          </a:ln>
          <a:effectLst>
            <a:outerShdw sx="100000" sy="100000" kx="0" ky="0" algn="bl" rotWithShape="0" blurRad="101600" dist="50800" dir="16200000">
              <a:srgbClr val="B3452C">
                <a:alpha val="1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196422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7842386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5738" y="114300"/>
            <a:ext cx="530602" cy="462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250" spc="-45" kern="0" dirty="0">
                <a:solidFill>
                  <a:srgbClr val="1C1917">
                    <a:alpha val="1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19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457200" y="371475"/>
            <a:ext cx="863600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B34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HANDOVER</a:t>
            </a:r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9C8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PRESENTER 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60784"/>
            <a:ext cx="8636000" cy="26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3"/>
              </a:lnSpc>
              <a:buNone/>
            </a:pPr>
            <a:r>
              <a:rPr lang="en-US" sz="1744" b="1" spc="-26" kern="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2018: the field forks, and never merges</a:t>
            </a:r>
            <a:endParaRPr lang="en-US" sz="1744" dirty="0"/>
          </a:p>
        </p:txBody>
      </p:sp>
      <p:sp>
        <p:nvSpPr>
          <p:cNvPr id="5" name="Text 3"/>
          <p:cNvSpPr/>
          <p:nvPr/>
        </p:nvSpPr>
        <p:spPr>
          <a:xfrm>
            <a:off x="457200" y="865956"/>
            <a:ext cx="7715250" cy="358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Two debts, two communities, two independent answers. Neither branch has adopted the other advance — which is itself one of the findings of this project, and the source of the open problem we end on.</a:t>
            </a:r>
            <a:endParaRPr lang="en-US" sz="872" dirty="0"/>
          </a:p>
        </p:txBody>
      </p:sp>
      <p:sp>
        <p:nvSpPr>
          <p:cNvPr id="6" name="Text 4"/>
          <p:cNvSpPr/>
          <p:nvPr/>
        </p:nvSpPr>
        <p:spPr>
          <a:xfrm>
            <a:off x="460772" y="1330300"/>
            <a:ext cx="4021931" cy="851892"/>
          </a:xfrm>
          <a:prstGeom prst="roundRect">
            <a:avLst>
              <a:gd name="adj" fmla="val 11181"/>
            </a:avLst>
          </a:prstGeom>
          <a:solidFill>
            <a:srgbClr val="FFFDF7"/>
          </a:solidFill>
          <a:ln w="7144">
            <a:solidFill>
              <a:srgbClr val="DDD5C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92931" y="1448172"/>
            <a:ext cx="3757613" cy="135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77" kern="0" dirty="0">
                <a:solidFill>
                  <a:srgbClr val="9C8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BRANCH A · BOTTLENECK 2 — CHANGE WHAT THE NETWORK IS SHOWN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92931" y="1610692"/>
            <a:ext cx="3867341" cy="158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14" kern="0" dirty="0">
                <a:solidFill>
                  <a:srgbClr val="B34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Noise2Noise → Noise2Void → ZS-N2N → P2N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92931" y="1796430"/>
            <a:ext cx="3757613" cy="267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architecture stays almost exactly where DnCNN left it; what moves is the training target. Each paper removes one more requirement until nothing is needed but the noisy image itself.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661297" y="1330300"/>
            <a:ext cx="4021931" cy="851892"/>
          </a:xfrm>
          <a:prstGeom prst="roundRect">
            <a:avLst>
              <a:gd name="adj" fmla="val 11181"/>
            </a:avLst>
          </a:prstGeom>
          <a:solidFill>
            <a:srgbClr val="FFFDF7"/>
          </a:solidFill>
          <a:ln w="7144">
            <a:solidFill>
              <a:srgbClr val="DDD5C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793456" y="1448172"/>
            <a:ext cx="3867341" cy="135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77" kern="0" dirty="0">
                <a:solidFill>
                  <a:srgbClr val="9C8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BRANCH B · BOTTLENECK 3 — CHANGE WHAT THE NETWORK IS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793456" y="1610692"/>
            <a:ext cx="3867341" cy="158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14" kern="0" dirty="0">
                <a:solidFill>
                  <a:srgbClr val="B34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Restormer, NAFNet, SCUNet, MambaIR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793456" y="1796430"/>
            <a:ext cx="3757613" cy="267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Supervision stays exactly as DnCNN had it — paired data, same loss family. What moves is the operator that replaces the 3×3 convolution.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60772" y="2317924"/>
            <a:ext cx="4021931" cy="818852"/>
          </a:xfrm>
          <a:prstGeom prst="roundRect">
            <a:avLst>
              <a:gd name="adj" fmla="val 11632"/>
            </a:avLst>
          </a:prstGeom>
          <a:solidFill>
            <a:srgbClr val="FAF5EA"/>
          </a:solidFill>
          <a:ln w="7144">
            <a:solidFill>
              <a:srgbClr val="DDD5C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92931" y="2435796"/>
            <a:ext cx="3757613" cy="135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77" kern="0" dirty="0">
                <a:solidFill>
                  <a:srgbClr val="9C8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EVIDENCE THEY NEVER MERGED — P2N SHIPS THE 2018 NETWORK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92931" y="2598316"/>
            <a:ext cx="3757613" cy="420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 the official P2N repository the class is literally named 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UNet_n2n_un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with the 2018 Noise2Noise channel widths. Seven years, and the backbone is unchanged. 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[repository: Li-Tong-621/P2N-plus, measured]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661297" y="2317924"/>
            <a:ext cx="4021931" cy="818852"/>
          </a:xfrm>
          <a:prstGeom prst="roundRect">
            <a:avLst>
              <a:gd name="adj" fmla="val 11632"/>
            </a:avLst>
          </a:prstGeom>
          <a:solidFill>
            <a:srgbClr val="FAF5EA"/>
          </a:solidFill>
          <a:ln w="7144">
            <a:solidFill>
              <a:srgbClr val="DDD5C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793456" y="2435796"/>
            <a:ext cx="3867340" cy="135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77" kern="0" dirty="0">
                <a:solidFill>
                  <a:srgbClr val="9C8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OPEN QUESTION — NOBODY HAS COMBINED THEM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793456" y="2598316"/>
            <a:ext cx="375761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As far as we found, no published work trains a Transformer or state-space backbone under self-supervised RDC/DCS supervision. We return to this as a concrete proposal on slide 42.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57200" y="4577358"/>
            <a:ext cx="8229600" cy="0"/>
          </a:xfrm>
          <a:prstGeom prst="line">
            <a:avLst/>
          </a:prstGeom>
          <a:noFill/>
          <a:ln w="7144">
            <a:solidFill>
              <a:srgbClr val="DDD5C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573786"/>
            <a:ext cx="8229600" cy="248194"/>
          </a:xfrm>
          <a:prstGeom prst="rect">
            <a:avLst/>
          </a:prstGeom>
          <a:noFill/>
          <a:ln/>
        </p:spPr>
        <p:txBody>
          <a:bodyPr wrap="square" lIns="0" tIns="50006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8" kern="0" dirty="0">
                <a:solidFill>
                  <a:srgbClr val="9C8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structural claim of this project</a:t>
            </a:r>
            <a:pPr algn="l" indent="0" marL="0">
              <a:lnSpc>
                <a:spcPts val="886"/>
              </a:lnSpc>
              <a:buNone/>
            </a:pPr>
            <a:r>
              <a:rPr lang="en-US" sz="800" spc="18" kern="0" dirty="0">
                <a:solidFill>
                  <a:srgbClr val="8A82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· repository: Li-Tong-621/P2N-plus [measured]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169016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2007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814981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2014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460834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2017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106798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2022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752763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2025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258639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2904604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550457" y="4823817"/>
            <a:ext cx="42863" cy="42863"/>
          </a:xfrm>
          <a:prstGeom prst="ellipse">
            <a:avLst/>
          </a:prstGeom>
          <a:solidFill>
            <a:srgbClr val="B3452C"/>
          </a:solidFill>
          <a:ln w="7144">
            <a:solidFill>
              <a:srgbClr val="B3452C"/>
            </a:solidFill>
            <a:prstDash val="solid"/>
          </a:ln>
          <a:effectLst>
            <a:outerShdw sx="100000" sy="100000" kx="0" ky="0" algn="bl" rotWithShape="0" blurRad="101600" dist="50800" dir="16200000">
              <a:srgbClr val="B3452C">
                <a:alpha val="1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196422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7842386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5738" y="114300"/>
            <a:ext cx="530602" cy="462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250" spc="-45" kern="0" dirty="0">
                <a:solidFill>
                  <a:srgbClr val="1C1917">
                    <a:alpha val="1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457200" y="714375"/>
            <a:ext cx="2571750" cy="925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750"/>
              </a:lnSpc>
              <a:buNone/>
            </a:pPr>
            <a:r>
              <a:rPr lang="en-US" sz="6750" spc="-270" kern="0" dirty="0">
                <a:solidFill>
                  <a:srgbClr val="B3452C">
                    <a:alpha val="14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6750" dirty="0"/>
          </a:p>
        </p:txBody>
      </p:sp>
      <p:sp>
        <p:nvSpPr>
          <p:cNvPr id="4" name="Text 2"/>
          <p:cNvSpPr/>
          <p:nvPr/>
        </p:nvSpPr>
        <p:spPr>
          <a:xfrm>
            <a:off x="457200" y="1685925"/>
            <a:ext cx="220929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162" kern="0" dirty="0">
                <a:solidFill>
                  <a:srgbClr val="57534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PART 3 / 5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475309" y="757238"/>
            <a:ext cx="0" cy="117872"/>
          </a:xfrm>
          <a:prstGeom prst="line">
            <a:avLst/>
          </a:prstGeom>
          <a:noFill/>
          <a:ln w="21431">
            <a:solidFill>
              <a:srgbClr val="B345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464594" y="757238"/>
            <a:ext cx="6222206" cy="164592"/>
          </a:xfrm>
          <a:prstGeom prst="rect">
            <a:avLst/>
          </a:prstGeom>
          <a:noFill/>
          <a:ln/>
        </p:spPr>
        <p:txBody>
          <a:bodyPr wrap="none" lIns="85725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9C856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BRANCH A · 2018 – 2025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464594" y="975122"/>
            <a:ext cx="6533317" cy="437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89"/>
              </a:lnSpc>
              <a:buNone/>
            </a:pPr>
            <a:r>
              <a:rPr lang="en-US" sz="3038" b="1" spc="-61" kern="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Removing the Clean Image</a:t>
            </a:r>
            <a:endParaRPr lang="en-US" sz="3038" dirty="0"/>
          </a:p>
        </p:txBody>
      </p:sp>
      <p:sp>
        <p:nvSpPr>
          <p:cNvPr id="8" name="Shape 6"/>
          <p:cNvSpPr/>
          <p:nvPr/>
        </p:nvSpPr>
        <p:spPr>
          <a:xfrm>
            <a:off x="2464594" y="1597968"/>
            <a:ext cx="6222206" cy="0"/>
          </a:xfrm>
          <a:prstGeom prst="line">
            <a:avLst/>
          </a:prstGeom>
          <a:noFill/>
          <a:ln w="7144">
            <a:solidFill>
              <a:srgbClr val="DDD5C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59659" y="1737271"/>
            <a:ext cx="18422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710383" y="1694408"/>
            <a:ext cx="5976417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1C191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Noise2Noise — the statistical result</a:t>
            </a:r>
            <a:endParaRPr lang="en-US" sz="956" dirty="0"/>
          </a:p>
        </p:txBody>
      </p:sp>
      <p:sp>
        <p:nvSpPr>
          <p:cNvPr id="11" name="Shape 9"/>
          <p:cNvSpPr/>
          <p:nvPr/>
        </p:nvSpPr>
        <p:spPr>
          <a:xfrm>
            <a:off x="2464594" y="1973014"/>
            <a:ext cx="6222206" cy="0"/>
          </a:xfrm>
          <a:prstGeom prst="line">
            <a:avLst/>
          </a:prstGeom>
          <a:noFill/>
          <a:ln w="7144">
            <a:solidFill>
              <a:srgbClr val="DDD5C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59659" y="2112318"/>
            <a:ext cx="18422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710383" y="2069455"/>
            <a:ext cx="5976417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1C191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Noise2Void — the blind spot</a:t>
            </a:r>
            <a:endParaRPr lang="en-US" sz="956" dirty="0"/>
          </a:p>
        </p:txBody>
      </p:sp>
      <p:sp>
        <p:nvSpPr>
          <p:cNvPr id="14" name="Shape 12"/>
          <p:cNvSpPr/>
          <p:nvPr/>
        </p:nvSpPr>
        <p:spPr>
          <a:xfrm>
            <a:off x="2464594" y="2348061"/>
            <a:ext cx="6222206" cy="0"/>
          </a:xfrm>
          <a:prstGeom prst="line">
            <a:avLst/>
          </a:prstGeom>
          <a:noFill/>
          <a:ln w="7144">
            <a:solidFill>
              <a:srgbClr val="DDD5C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59659" y="2487364"/>
            <a:ext cx="18422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710383" y="2444502"/>
            <a:ext cx="5976417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1C191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ZS-N2N and P2N — down to one image</a:t>
            </a:r>
            <a:endParaRPr lang="en-US" sz="956" dirty="0"/>
          </a:p>
        </p:txBody>
      </p:sp>
      <p:sp>
        <p:nvSpPr>
          <p:cNvPr id="17" name="Shape 15"/>
          <p:cNvSpPr/>
          <p:nvPr/>
        </p:nvSpPr>
        <p:spPr>
          <a:xfrm>
            <a:off x="2464594" y="2723108"/>
            <a:ext cx="6222206" cy="0"/>
          </a:xfrm>
          <a:prstGeom prst="line">
            <a:avLst/>
          </a:prstGeom>
          <a:noFill/>
          <a:ln w="7144">
            <a:solidFill>
              <a:srgbClr val="DDD5C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64594" y="3098155"/>
            <a:ext cx="6222206" cy="0"/>
          </a:xfrm>
          <a:prstGeom prst="line">
            <a:avLst/>
          </a:prstGeom>
          <a:noFill/>
          <a:ln w="7144">
            <a:solidFill>
              <a:srgbClr val="DDD5C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59659" y="2862411"/>
            <a:ext cx="18422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710383" y="2819549"/>
            <a:ext cx="5976417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self-supervision costs</a:t>
            </a:r>
            <a:endParaRPr lang="en-US" sz="956" dirty="0"/>
          </a:p>
        </p:txBody>
      </p:sp>
      <p:sp>
        <p:nvSpPr>
          <p:cNvPr id="21" name="Text 19"/>
          <p:cNvSpPr/>
          <p:nvPr/>
        </p:nvSpPr>
        <p:spPr>
          <a:xfrm>
            <a:off x="2464594" y="3430339"/>
            <a:ext cx="6222206" cy="403622"/>
          </a:xfrm>
          <a:prstGeom prst="roundRect">
            <a:avLst>
              <a:gd name="adj" fmla="val 23599"/>
            </a:avLst>
          </a:prstGeom>
          <a:solidFill>
            <a:srgbClr val="FAF5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2464594" y="3433911"/>
            <a:ext cx="6222206" cy="0"/>
          </a:xfrm>
          <a:prstGeom prst="line">
            <a:avLst/>
          </a:prstGeom>
          <a:noFill/>
          <a:ln w="7144">
            <a:solidFill>
              <a:srgbClr val="DDD5C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83228" y="3430339"/>
            <a:ext cx="0" cy="403622"/>
          </a:xfrm>
          <a:prstGeom prst="line">
            <a:avLst/>
          </a:prstGeom>
          <a:noFill/>
          <a:ln w="7144">
            <a:solidFill>
              <a:srgbClr val="DDD5C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464594" y="3830389"/>
            <a:ext cx="6222206" cy="0"/>
          </a:xfrm>
          <a:prstGeom prst="line">
            <a:avLst/>
          </a:prstGeom>
          <a:noFill/>
          <a:ln w="7144">
            <a:solidFill>
              <a:srgbClr val="DDD5C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475309" y="3430339"/>
            <a:ext cx="0" cy="403622"/>
          </a:xfrm>
          <a:prstGeom prst="line">
            <a:avLst/>
          </a:prstGeom>
          <a:noFill/>
          <a:ln w="21431">
            <a:solidFill>
              <a:srgbClr val="B3452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64594" y="3430339"/>
            <a:ext cx="6222206" cy="435912"/>
          </a:xfrm>
          <a:prstGeom prst="rect">
            <a:avLst/>
          </a:prstGeom>
          <a:noFill/>
          <a:ln/>
        </p:spPr>
        <p:txBody>
          <a:bodyPr wrap="square" lIns="142875" tIns="114300" rIns="142875" bIns="11430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Four papers, each removing exactly one requirement its predecessor could not drop.</a:t>
            </a:r>
            <a:endParaRPr lang="en-US" sz="844" dirty="0"/>
          </a:p>
        </p:txBody>
      </p:sp>
      <p:sp>
        <p:nvSpPr>
          <p:cNvPr id="27" name="Shape 25"/>
          <p:cNvSpPr/>
          <p:nvPr/>
        </p:nvSpPr>
        <p:spPr>
          <a:xfrm>
            <a:off x="457200" y="4577358"/>
            <a:ext cx="8229600" cy="0"/>
          </a:xfrm>
          <a:prstGeom prst="line">
            <a:avLst/>
          </a:prstGeom>
          <a:noFill/>
          <a:ln w="7144">
            <a:solidFill>
              <a:srgbClr val="DDD5C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8859" y="4638080"/>
            <a:ext cx="509118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8" kern="0" dirty="0">
                <a:solidFill>
                  <a:srgbClr val="9C856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brief §4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169016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2007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814981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2014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460834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2017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106798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2022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752763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2025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258639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2904604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550457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196422" y="4823817"/>
            <a:ext cx="42863" cy="42863"/>
          </a:xfrm>
          <a:prstGeom prst="ellipse">
            <a:avLst/>
          </a:prstGeom>
          <a:solidFill>
            <a:srgbClr val="B3452C"/>
          </a:solidFill>
          <a:ln w="7144">
            <a:solidFill>
              <a:srgbClr val="B3452C"/>
            </a:solidFill>
            <a:prstDash val="solid"/>
          </a:ln>
          <a:effectLst>
            <a:outerShdw sx="100000" sy="100000" kx="0" ky="0" algn="bl" rotWithShape="0" blurRad="101600" dist="50800" dir="16200000">
              <a:srgbClr val="B3452C">
                <a:alpha val="1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7842386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5738" y="114300"/>
            <a:ext cx="530602" cy="462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250" spc="-45" kern="0" dirty="0">
                <a:solidFill>
                  <a:srgbClr val="1C1917">
                    <a:alpha val="1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21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457200" y="371475"/>
            <a:ext cx="8636000" cy="161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B34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BRANCH</a:t>
            </a:r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9C8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NOISE2NOISE</a:t>
            </a:r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9C8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2018</a:t>
            </a:r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9C8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B34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 → AFTER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60784"/>
            <a:ext cx="8636000" cy="26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3"/>
              </a:lnSpc>
              <a:buNone/>
            </a:pPr>
            <a:r>
              <a:rPr lang="en-US" sz="1744" b="1" spc="-26" kern="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theorem worth one conditional</a:t>
            </a:r>
            <a:endParaRPr lang="en-US" sz="1744" dirty="0"/>
          </a:p>
        </p:txBody>
      </p:sp>
      <p:sp>
        <p:nvSpPr>
          <p:cNvPr id="5" name="Text 3"/>
          <p:cNvSpPr/>
          <p:nvPr/>
        </p:nvSpPr>
        <p:spPr>
          <a:xfrm>
            <a:off x="457200" y="865956"/>
            <a:ext cx="7715250" cy="358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Lehtinen et al., ICML 2018. The most striking ratio in this story: a substantial statistical result whose implementation change is a single branch on which tensor becomes the target.</a:t>
            </a:r>
            <a:endParaRPr lang="en-US" sz="872" dirty="0"/>
          </a:p>
        </p:txBody>
      </p:sp>
      <p:sp>
        <p:nvSpPr>
          <p:cNvPr id="6" name="Text 4"/>
          <p:cNvSpPr/>
          <p:nvPr/>
        </p:nvSpPr>
        <p:spPr>
          <a:xfrm>
            <a:off x="460772" y="1330300"/>
            <a:ext cx="8222456" cy="2302966"/>
          </a:xfrm>
          <a:prstGeom prst="roundRect">
            <a:avLst>
              <a:gd name="adj" fmla="val 4136"/>
            </a:avLst>
          </a:prstGeom>
          <a:solidFill>
            <a:srgbClr val="FFFFFF"/>
          </a:solidFill>
          <a:ln w="7144">
            <a:solidFill>
              <a:srgbClr val="DDD5C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" name="Image 0" descr="/tmp/h2p-fit-1789755843784-n9u72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5781" y="1405310"/>
            <a:ext cx="8072438" cy="197926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35781" y="3427437"/>
            <a:ext cx="8072438" cy="130820"/>
          </a:xfrm>
          <a:prstGeom prst="rect">
            <a:avLst/>
          </a:prstGeom>
          <a:noFill/>
          <a:ln/>
        </p:spPr>
        <p:txBody>
          <a:bodyPr wrap="square" lIns="28575" tIns="0" rIns="28575" bIns="14288" rtlCol="0" anchor="t"/>
          <a:lstStyle/>
          <a:p>
            <a:pPr algn="l" indent="0" marL="0">
              <a:lnSpc>
                <a:spcPts val="856"/>
              </a:lnSpc>
              <a:buNone/>
            </a:pPr>
            <a:r>
              <a:rPr lang="en-US" sz="800" dirty="0">
                <a:solidFill>
                  <a:srgbClr val="8A827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Noise2Noise own result: training on noisy targets (orange) tracks clean-target training (blue) almost exactly. </a:t>
            </a:r>
            <a:pPr algn="l" indent="0" marL="0">
              <a:lnSpc>
                <a:spcPts val="856"/>
              </a:lnSpc>
              <a:buNone/>
            </a:pPr>
            <a:r>
              <a:rPr lang="en-US" sz="80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[N2N18 · Fig. 1]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60772" y="3726135"/>
            <a:ext cx="8222456" cy="482203"/>
          </a:xfrm>
          <a:prstGeom prst="roundRect">
            <a:avLst>
              <a:gd name="adj" fmla="val 19753"/>
            </a:avLst>
          </a:prstGeom>
          <a:solidFill>
            <a:srgbClr val="FAF5EA"/>
          </a:solidFill>
          <a:ln w="7144">
            <a:solidFill>
              <a:srgbClr val="DDD5C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457200" y="3722563"/>
            <a:ext cx="8229600" cy="556768"/>
          </a:xfrm>
          <a:prstGeom prst="rect">
            <a:avLst/>
          </a:prstGeom>
          <a:noFill/>
          <a:ln/>
        </p:spPr>
        <p:txBody>
          <a:bodyPr wrap="square" lIns="128588" tIns="92869" rIns="128588" bIns="92869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Given a noisy input and a corrupted target whose expectation equals the clean target, L2 regression converges to the same optimum — the corrupted target is a full substitute for ground truth. </a:t>
            </a:r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[N2N18 §2]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457200" y="4577358"/>
            <a:ext cx="8229600" cy="0"/>
          </a:xfrm>
          <a:prstGeom prst="line">
            <a:avLst/>
          </a:prstGeom>
          <a:noFill/>
          <a:ln w="7144">
            <a:solidFill>
              <a:srgbClr val="DDD5C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4638080"/>
            <a:ext cx="1531357" cy="105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600" spc="18" kern="0" dirty="0">
                <a:solidFill>
                  <a:srgbClr val="9C856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N2N18 §2, Eq. (2)–(6), Table 1</a:t>
            </a:r>
            <a:endParaRPr lang="en-US" sz="600" dirty="0"/>
          </a:p>
        </p:txBody>
      </p:sp>
      <p:sp>
        <p:nvSpPr>
          <p:cNvPr id="13" name="Text 10"/>
          <p:cNvSpPr/>
          <p:nvPr/>
        </p:nvSpPr>
        <p:spPr>
          <a:xfrm>
            <a:off x="1169016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2007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2814981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2014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460834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2017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6106798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2022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7752763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2025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1258639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2904604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4550457" y="4823817"/>
            <a:ext cx="42863" cy="42863"/>
          </a:xfrm>
          <a:prstGeom prst="ellipse">
            <a:avLst/>
          </a:prstGeom>
          <a:solidFill>
            <a:srgbClr val="B3452C"/>
          </a:solidFill>
          <a:ln w="7144">
            <a:solidFill>
              <a:srgbClr val="B3452C"/>
            </a:solidFill>
            <a:prstDash val="solid"/>
          </a:ln>
          <a:effectLst>
            <a:outerShdw sx="100000" sy="100000" kx="0" ky="0" algn="bl" rotWithShape="0" blurRad="101600" dist="50800" dir="16200000">
              <a:srgbClr val="B3452C">
                <a:alpha val="1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6196422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7842386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5738" y="114300"/>
            <a:ext cx="530602" cy="462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250" spc="-45" kern="0" dirty="0">
                <a:solidFill>
                  <a:srgbClr val="1C1917">
                    <a:alpha val="1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22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457200" y="371475"/>
            <a:ext cx="8636000" cy="161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B34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BRANCH</a:t>
            </a:r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9C8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NOISE2NOISE</a:t>
            </a:r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9C8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2018</a:t>
            </a:r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9C8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B34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 → AFTER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874703" y="640928"/>
            <a:ext cx="605879" cy="108496"/>
          </a:xfrm>
          <a:prstGeom prst="roundRect">
            <a:avLst>
              <a:gd name="adj" fmla="val 8770346"/>
            </a:avLst>
          </a:prstGeom>
          <a:solidFill>
            <a:srgbClr val="9C856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560784"/>
            <a:ext cx="8636000" cy="26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3"/>
              </a:lnSpc>
              <a:buNone/>
            </a:pPr>
            <a:r>
              <a:rPr lang="en-US" sz="1744" b="1" spc="-26" kern="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theorem worth one conditional</a:t>
            </a:r>
            <a:pPr algn="l" indent="0" marL="0">
              <a:lnSpc>
                <a:spcPts val="1953"/>
              </a:lnSpc>
              <a:buNone/>
            </a:pPr>
            <a:r>
              <a:rPr lang="en-US" sz="800" b="1" spc="68" kern="0" dirty="0">
                <a:solidFill>
                  <a:srgbClr val="F5F1E8"/>
                </a:solidFill>
                <a:highlight>
                  <a:srgbClr val="9C8565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CONTINUED</a:t>
            </a:r>
            <a:endParaRPr lang="en-US" sz="1744" dirty="0"/>
          </a:p>
        </p:txBody>
      </p:sp>
      <p:sp>
        <p:nvSpPr>
          <p:cNvPr id="6" name="Text 4"/>
          <p:cNvSpPr/>
          <p:nvPr/>
        </p:nvSpPr>
        <p:spPr>
          <a:xfrm>
            <a:off x="457200" y="1663824"/>
            <a:ext cx="4271879" cy="1350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77" kern="0" dirty="0">
                <a:solidFill>
                  <a:srgbClr val="9C8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CHANGE, IN ESSENCE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826344"/>
            <a:ext cx="3571875" cy="1470720"/>
          </a:xfrm>
          <a:prstGeom prst="roundRect">
            <a:avLst>
              <a:gd name="adj" fmla="val 6476"/>
            </a:avLst>
          </a:prstGeom>
          <a:solidFill>
            <a:srgbClr val="29241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0075" y="1969219"/>
            <a:ext cx="1911694" cy="130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2"/>
              </a:lnSpc>
              <a:buNone/>
            </a:pPr>
            <a:r>
              <a:rPr lang="en-US" sz="664" i="1" dirty="0">
                <a:solidFill>
                  <a:srgbClr val="8F86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# BEFORE — supervised (DnCNN, 2017)</a:t>
            </a:r>
            <a:endParaRPr lang="en-US" sz="664" dirty="0"/>
          </a:p>
        </p:txBody>
      </p:sp>
      <p:sp>
        <p:nvSpPr>
          <p:cNvPr id="9" name="Text 7"/>
          <p:cNvSpPr/>
          <p:nvPr/>
        </p:nvSpPr>
        <p:spPr>
          <a:xfrm>
            <a:off x="600075" y="2089770"/>
            <a:ext cx="3395853" cy="1074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62"/>
              </a:lnSpc>
              <a:buNone/>
            </a:pPr>
            <a:r>
              <a:rPr lang="en-US" sz="800" dirty="0">
                <a:solidFill>
                  <a:srgbClr val="E9E2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 = clean </a:t>
            </a:r>
            <a:pPr algn="l" indent="0" marL="0">
              <a:lnSpc>
                <a:spcPts val="1062"/>
              </a:lnSpc>
              <a:buNone/>
            </a:pPr>
            <a:r>
              <a:rPr lang="en-US" sz="800" i="1" dirty="0">
                <a:solidFill>
                  <a:srgbClr val="8F8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requires ground truth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00075" y="2224608"/>
            <a:ext cx="3395853" cy="175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2"/>
              </a:lnSpc>
              <a:buNone/>
            </a:pPr>
            <a:r>
              <a:rPr lang="en-US" sz="800" dirty="0">
                <a:solidFill>
                  <a:srgbClr val="E9E2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loss = mse(net(noisy), target)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00075" y="2508572"/>
            <a:ext cx="1529428" cy="130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2"/>
              </a:lnSpc>
              <a:buNone/>
            </a:pPr>
            <a:r>
              <a:rPr lang="en-US" sz="664" i="1" dirty="0">
                <a:solidFill>
                  <a:srgbClr val="8F86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# AFTER — Noise2Noise (2018)</a:t>
            </a:r>
            <a:endParaRPr lang="en-US" sz="664" dirty="0"/>
          </a:p>
        </p:txBody>
      </p:sp>
      <p:sp>
        <p:nvSpPr>
          <p:cNvPr id="12" name="Text 10"/>
          <p:cNvSpPr/>
          <p:nvPr/>
        </p:nvSpPr>
        <p:spPr>
          <a:xfrm>
            <a:off x="600075" y="2629123"/>
            <a:ext cx="3395853" cy="1074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62"/>
              </a:lnSpc>
              <a:buNone/>
            </a:pPr>
            <a:r>
              <a:rPr lang="en-US" sz="800" dirty="0">
                <a:solidFill>
                  <a:srgbClr val="E9E2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 = second_noisy_shot </a:t>
            </a:r>
            <a:pPr algn="l" indent="0" marL="0">
              <a:lnSpc>
                <a:spcPts val="1062"/>
              </a:lnSpc>
              <a:buNone/>
            </a:pPr>
            <a:r>
              <a:rPr lang="en-US" sz="800" dirty="0">
                <a:solidFill>
                  <a:srgbClr val="F0B7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← the entire change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00075" y="2763962"/>
            <a:ext cx="3395853" cy="175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2"/>
              </a:lnSpc>
              <a:buNone/>
            </a:pPr>
            <a:r>
              <a:rPr lang="en-US" sz="800" dirty="0">
                <a:solidFill>
                  <a:srgbClr val="E9E2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loss = mse(net(noisy), target)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00075" y="3047926"/>
            <a:ext cx="2933291" cy="120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2"/>
              </a:lnSpc>
              <a:buNone/>
            </a:pPr>
            <a:r>
              <a:rPr lang="en-US" sz="664" i="1" dirty="0">
                <a:solidFill>
                  <a:srgbClr val="8F8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network, optimiser, schedule, loss family: all unchanged</a:t>
            </a:r>
            <a:endParaRPr lang="en-US" sz="664" dirty="0"/>
          </a:p>
        </p:txBody>
      </p:sp>
      <p:sp>
        <p:nvSpPr>
          <p:cNvPr id="15" name="Text 13"/>
          <p:cNvSpPr/>
          <p:nvPr/>
        </p:nvSpPr>
        <p:spPr>
          <a:xfrm>
            <a:off x="4246959" y="1674540"/>
            <a:ext cx="150019" cy="150019"/>
          </a:xfrm>
          <a:prstGeom prst="roundRect">
            <a:avLst>
              <a:gd name="adj" fmla="val 6342847"/>
            </a:avLst>
          </a:prstGeom>
          <a:noFill/>
          <a:ln w="7144">
            <a:solidFill>
              <a:srgbClr val="B3452C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243388" y="1670968"/>
            <a:ext cx="200025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486275" y="1663824"/>
            <a:ext cx="420052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it works.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L2 regression learns the conditional mean of the target. The paper states the consequence as a triviality: on expectation, the estimate remains unchanged if we replace the targets with random numbers whose expectations match the targets.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246959" y="2190676"/>
            <a:ext cx="150019" cy="150019"/>
          </a:xfrm>
          <a:prstGeom prst="roundRect">
            <a:avLst>
              <a:gd name="adj" fmla="val 6342847"/>
            </a:avLst>
          </a:prstGeom>
          <a:noFill/>
          <a:ln w="7144">
            <a:solidFill>
              <a:srgbClr val="B3452C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243388" y="2187104"/>
            <a:ext cx="200025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486275" y="2179960"/>
            <a:ext cx="420052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 a second noisy photograph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of the same scene is a valid target, because the noise is zero-mean. Given infinite data the solution is identical to clean-target training; for finite data the extra variance shrinks with dataset size.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246959" y="2706812"/>
            <a:ext cx="150019" cy="150019"/>
          </a:xfrm>
          <a:prstGeom prst="roundRect">
            <a:avLst>
              <a:gd name="adj" fmla="val 6342847"/>
            </a:avLst>
          </a:prstGeom>
          <a:noFill/>
          <a:ln w="7144">
            <a:solidFill>
              <a:srgbClr val="B3452C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243388" y="2703240"/>
            <a:ext cx="200025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486275" y="2696096"/>
            <a:ext cx="420052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it does NOT need: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no likelihood model of the corruption, no density model of clean images.</a:t>
            </a:r>
            <a:endParaRPr lang="en-US" sz="703" dirty="0"/>
          </a:p>
        </p:txBody>
      </p:sp>
      <p:sp>
        <p:nvSpPr>
          <p:cNvPr id="24" name="Text 22"/>
          <p:cNvSpPr/>
          <p:nvPr/>
        </p:nvSpPr>
        <p:spPr>
          <a:xfrm>
            <a:off x="4246959" y="2985418"/>
            <a:ext cx="150019" cy="150019"/>
          </a:xfrm>
          <a:prstGeom prst="roundRect">
            <a:avLst>
              <a:gd name="adj" fmla="val 6342847"/>
            </a:avLst>
          </a:prstGeom>
          <a:noFill/>
          <a:ln w="7144">
            <a:solidFill>
              <a:srgbClr val="B3452C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243388" y="2981846"/>
            <a:ext cx="200025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486275" y="2974702"/>
            <a:ext cx="4200525" cy="3445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b="1" dirty="0">
                <a:solidFill>
                  <a:srgbClr val="1C191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Measured cost: 0.02 dB.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Kodak/BSD300/Set14 at σ=25 — clean targets 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31.63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noisy targets 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31.61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 The clean-data requirement was never actually necessary. 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[N2N18 Table 1]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57200" y="4577358"/>
            <a:ext cx="8229600" cy="0"/>
          </a:xfrm>
          <a:prstGeom prst="line">
            <a:avLst/>
          </a:prstGeom>
          <a:noFill/>
          <a:ln w="7144">
            <a:solidFill>
              <a:srgbClr val="DDD5C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638080"/>
            <a:ext cx="1531357" cy="105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600" spc="18" kern="0" dirty="0">
                <a:solidFill>
                  <a:srgbClr val="9C856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N2N18 §2, Eq. (2)–(6), Table 1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1169016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2007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814981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2014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460834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2017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106798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2022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752763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2025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258639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2904604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550457" y="4823817"/>
            <a:ext cx="42863" cy="42863"/>
          </a:xfrm>
          <a:prstGeom prst="ellipse">
            <a:avLst/>
          </a:prstGeom>
          <a:solidFill>
            <a:srgbClr val="B3452C"/>
          </a:solidFill>
          <a:ln w="7144">
            <a:solidFill>
              <a:srgbClr val="B3452C"/>
            </a:solidFill>
            <a:prstDash val="solid"/>
          </a:ln>
          <a:effectLst>
            <a:outerShdw sx="100000" sy="100000" kx="0" ky="0" algn="bl" rotWithShape="0" blurRad="101600" dist="50800" dir="16200000">
              <a:srgbClr val="B3452C">
                <a:alpha val="1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196422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7842386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5738" y="114300"/>
            <a:ext cx="530602" cy="462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250" spc="-45" kern="0" dirty="0">
                <a:solidFill>
                  <a:srgbClr val="1C1917">
                    <a:alpha val="1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23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457200" y="371475"/>
            <a:ext cx="8636000" cy="161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B34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BRANCH</a:t>
            </a:r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9C8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NOISE2VOID</a:t>
            </a:r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9C8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2019</a:t>
            </a:r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9C8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B34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 → AFTER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60784"/>
            <a:ext cx="8636000" cy="26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3"/>
              </a:lnSpc>
              <a:buNone/>
            </a:pPr>
            <a:r>
              <a:rPr lang="en-US" sz="1744" b="1" spc="-26" kern="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N2V vs N2N — removing the second photograph</a:t>
            </a:r>
            <a:endParaRPr lang="en-US" sz="1744" dirty="0"/>
          </a:p>
        </p:txBody>
      </p:sp>
      <p:sp>
        <p:nvSpPr>
          <p:cNvPr id="5" name="Text 3"/>
          <p:cNvSpPr/>
          <p:nvPr/>
        </p:nvSpPr>
        <p:spPr>
          <a:xfrm>
            <a:off x="457200" y="865956"/>
            <a:ext cx="7715250" cy="358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Krull et al., CVPR 2019. Noise2Noise still needs two independent shots of one scene, which rules out anything that moves and every archival image. N2V removes that too — and pays for it.</a:t>
            </a:r>
            <a:endParaRPr lang="en-US" sz="872" dirty="0"/>
          </a:p>
        </p:txBody>
      </p:sp>
      <p:sp>
        <p:nvSpPr>
          <p:cNvPr id="6" name="Text 4"/>
          <p:cNvSpPr/>
          <p:nvPr/>
        </p:nvSpPr>
        <p:spPr>
          <a:xfrm>
            <a:off x="2146697" y="1330300"/>
            <a:ext cx="4850606" cy="1868984"/>
          </a:xfrm>
          <a:prstGeom prst="roundRect">
            <a:avLst>
              <a:gd name="adj" fmla="val 5096"/>
            </a:avLst>
          </a:prstGeom>
          <a:solidFill>
            <a:srgbClr val="FFFFFF"/>
          </a:solidFill>
          <a:ln w="7144">
            <a:solidFill>
              <a:srgbClr val="DDD5C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" name="Image 0" descr="/tmp/h2p-fit-1789755845039-y0pa6q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0757" y="1405310"/>
            <a:ext cx="3462486" cy="14287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221706" y="2876922"/>
            <a:ext cx="4700588" cy="247352"/>
          </a:xfrm>
          <a:prstGeom prst="rect">
            <a:avLst/>
          </a:prstGeom>
          <a:noFill/>
          <a:ln/>
        </p:spPr>
        <p:txBody>
          <a:bodyPr wrap="square" lIns="28575" tIns="0" rIns="28575" bIns="14288" rtlCol="0" anchor="t"/>
          <a:lstStyle/>
          <a:p>
            <a:pPr algn="l" indent="0" marL="0">
              <a:lnSpc>
                <a:spcPts val="856"/>
              </a:lnSpc>
              <a:buNone/>
            </a:pPr>
            <a:r>
              <a:rPr lang="en-US" sz="800" dirty="0">
                <a:solidFill>
                  <a:srgbClr val="8A827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Traditional, Noise2Noise and Noise2Void training schemes side by side, with N2V single-image blind-spot result on the right. </a:t>
            </a:r>
            <a:pPr algn="l" indent="0" marL="0">
              <a:lnSpc>
                <a:spcPts val="856"/>
              </a:lnSpc>
              <a:buNone/>
            </a:pPr>
            <a:r>
              <a:rPr lang="en-US" sz="80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[N2V19 · Fig. 1]</a:t>
            </a:r>
            <a:endParaRPr lang="en-US" sz="8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302868"/>
          <a:ext cx="8229600" cy="914400"/>
        </p:xfrm>
        <a:graphic>
          <a:graphicData uri="http://schemas.openxmlformats.org/drawingml/2006/table">
            <a:tbl>
              <a:tblPr/>
              <a:tblGrid>
                <a:gridCol w="1006376"/>
                <a:gridCol w="1700213"/>
                <a:gridCol w="2143125"/>
                <a:gridCol w="3379887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7534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ASPECT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5719" marR="71438" marT="71438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7534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NOISE2NOISE (2018)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5719" marR="71438" marT="71438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7534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NOISE2VOID (2019)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5719" marR="71438" marT="71438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7534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WHY IT MATTERS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5719" marR="71438" marT="71438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C191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Requires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71438" marT="71438" marB="5715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753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Two noisy shots per scene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71438" marT="71438" marB="5715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753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One noisy image. That is all.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71438" marT="71438" marB="5715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753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Applicable to any archive, any moving subject, any single acquisition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71438" marT="71438" marB="5715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C191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Key innovation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71438" marT="71438" marB="5715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A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753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Corrupted target with matching mean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71438" marT="71438" marB="5715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A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753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Blind-spot receptive field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71438" marT="71438" marB="5715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A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753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Prediction for pixel i uses its neighbourhood except pixel i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71438" marT="71438" marB="5715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A">
                        <a:alpha val="5500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C191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Why it cannot cheat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71438" marT="71438" marB="5715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753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Target is independent of input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71438" marT="71438" marB="5715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753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Noise is conditionally pixel-wise independent, so neighbours carry no information about ni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71438" marT="71438" marB="5715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753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The identity solution becomes unreachable by construction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71438" marT="71438" marB="5715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457200" y="4577358"/>
            <a:ext cx="8229600" cy="0"/>
          </a:xfrm>
          <a:prstGeom prst="line">
            <a:avLst/>
          </a:prstGeom>
          <a:noFill/>
          <a:ln w="7144">
            <a:solidFill>
              <a:srgbClr val="DDD5C3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57200" y="4573786"/>
            <a:ext cx="8636000" cy="248194"/>
          </a:xfrm>
          <a:prstGeom prst="rect">
            <a:avLst/>
          </a:prstGeom>
          <a:noFill/>
          <a:ln/>
        </p:spPr>
        <p:txBody>
          <a:bodyPr wrap="square" lIns="0" tIns="50006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8" kern="0" dirty="0">
                <a:solidFill>
                  <a:srgbClr val="9C856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N2V19 §3.1, §3.4, §3.5, §4.1, Fig. 4</a:t>
            </a:r>
            <a:pPr algn="l" indent="0" marL="0">
              <a:lnSpc>
                <a:spcPts val="886"/>
              </a:lnSpc>
              <a:buNone/>
            </a:pPr>
            <a:r>
              <a:rPr lang="en-US" sz="800" spc="18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· N2N18 Table 1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1169016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2007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2814981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2014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4460834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2017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6106798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2022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7752763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2025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1258639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2904604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4550457" y="4823817"/>
            <a:ext cx="42863" cy="42863"/>
          </a:xfrm>
          <a:prstGeom prst="ellipse">
            <a:avLst/>
          </a:prstGeom>
          <a:solidFill>
            <a:srgbClr val="B3452C"/>
          </a:solidFill>
          <a:ln w="7144">
            <a:solidFill>
              <a:srgbClr val="B3452C"/>
            </a:solidFill>
            <a:prstDash val="solid"/>
          </a:ln>
          <a:effectLst>
            <a:outerShdw sx="100000" sy="100000" kx="0" ky="0" algn="bl" rotWithShape="0" blurRad="101600" dist="50800" dir="16200000">
              <a:srgbClr val="B3452C">
                <a:alpha val="1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6196422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7842386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5738" y="114300"/>
            <a:ext cx="530602" cy="462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250" spc="-45" kern="0" dirty="0">
                <a:solidFill>
                  <a:srgbClr val="1C1917">
                    <a:alpha val="1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24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457200" y="371475"/>
            <a:ext cx="8636000" cy="161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B34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BRANCH</a:t>
            </a:r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9C8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NOISE2VOID</a:t>
            </a:r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9C8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2019</a:t>
            </a:r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9C8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B34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 → AFTER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92428" y="640928"/>
            <a:ext cx="605879" cy="108496"/>
          </a:xfrm>
          <a:prstGeom prst="roundRect">
            <a:avLst>
              <a:gd name="adj" fmla="val 8770346"/>
            </a:avLst>
          </a:prstGeom>
          <a:solidFill>
            <a:srgbClr val="9C856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560784"/>
            <a:ext cx="8229600" cy="26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3"/>
              </a:lnSpc>
              <a:buNone/>
            </a:pPr>
            <a:r>
              <a:rPr lang="en-US" sz="1744" b="1" spc="-26" kern="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N2V vs N2N — removing the second photograph</a:t>
            </a:r>
            <a:pPr algn="l" indent="0" marL="0">
              <a:lnSpc>
                <a:spcPts val="1953"/>
              </a:lnSpc>
              <a:buNone/>
            </a:pPr>
            <a:r>
              <a:rPr lang="en-US" sz="800" b="1" spc="68" kern="0" dirty="0">
                <a:solidFill>
                  <a:srgbClr val="F5F1E8"/>
                </a:solidFill>
                <a:highlight>
                  <a:srgbClr val="9C8565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CONTINUED</a:t>
            </a:r>
            <a:endParaRPr lang="en-US" sz="1744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5956"/>
          <a:ext cx="8229600" cy="914400"/>
        </p:xfrm>
        <a:graphic>
          <a:graphicData uri="http://schemas.openxmlformats.org/drawingml/2006/table">
            <a:tbl>
              <a:tblPr/>
              <a:tblGrid>
                <a:gridCol w="1351173"/>
                <a:gridCol w="1607344"/>
                <a:gridCol w="2200275"/>
                <a:gridCol w="3070808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7534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ASPECT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5719" marR="71438" marT="71438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7534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NOISE2NOISE (2018)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5719" marR="71438" marT="71438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7534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NOISE2VOID (2019)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5719" marR="71438" marT="71438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7534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WHY IT MATTERS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5719" marR="71438" marT="71438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C191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Implementation change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71438" marT="71438" marB="5715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753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Swap the target tensor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71438" marT="71438" marB="5715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753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Replace the centre pixel with a random neighbour; score the loss only there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71438" marT="71438" marB="5715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753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A masking trick, not an architecture — any standard CNN acquires the property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71438" marT="71438" marB="5715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C191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Performance (BSD68, σ=25)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71438" marT="71438" marB="5715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A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C191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28.86 dB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71438" marT="71438" marB="5715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A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C191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27.71 dB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71438" marT="71438" marB="5715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A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753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−1.15 dB vs N2N, and 0.88 dB below BM3D (28.59 in the same table) — the cost is real and the paper does not hide it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71438" marT="71438" marB="5715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A">
                        <a:alpha val="5500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C191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Applications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71438" marT="71438" marB="5715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753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Burst photography, rendering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71438" marT="71438" marB="5715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753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Cryo-TEM, fluorescence microscopy, cell tracking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71438" marT="71438" marB="5715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753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Domains where the paper own figure captions the ground-truth column does not exist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71438" marT="71438" marB="5715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60772" y="2361567"/>
            <a:ext cx="8222456" cy="789608"/>
          </a:xfrm>
          <a:prstGeom prst="roundRect">
            <a:avLst>
              <a:gd name="adj" fmla="val 12063"/>
            </a:avLst>
          </a:prstGeom>
          <a:solidFill>
            <a:srgbClr val="B3452C">
              <a:alpha val="6000"/>
            </a:srgbClr>
          </a:solidFill>
          <a:ln w="7144">
            <a:solidFill>
              <a:srgbClr val="B3452C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35794" y="2508014"/>
            <a:ext cx="7872413" cy="149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77" kern="0" dirty="0">
                <a:solidFill>
                  <a:srgbClr val="B34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HONEST FRAMING — AND THE ONE TO USE IF CHALLENGED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35794" y="2684822"/>
            <a:ext cx="7872413" cy="319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Self-supervision is not a quality technique, it is an availability technique.</a:t>
            </a:r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Where clean data exists, supervision wins by </a:t>
            </a:r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1.35 dB</a:t>
            </a:r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the supervised baseline scores </a:t>
            </a:r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29.06 against N2V 27.71</a:t>
            </a:r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both numbers from N2V own comparison </a:t>
            </a:r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[N2V19]</a:t>
            </a:r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 Where it does not, the comparison is not </a:t>
            </a:r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27.71</a:t>
            </a:r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against </a:t>
            </a:r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29.06</a:t>
            </a:r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it is </a:t>
            </a:r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27.71</a:t>
            </a:r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against nothing at all.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457200" y="324047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8" kern="0" dirty="0">
                <a:solidFill>
                  <a:srgbClr val="8A82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BM3D is 28.57 in DnCNN17 Table II and 28.59 in N2V19 comparison — we quote each table own number and never mix the two.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457200" y="4577358"/>
            <a:ext cx="8229600" cy="0"/>
          </a:xfrm>
          <a:prstGeom prst="line">
            <a:avLst/>
          </a:prstGeom>
          <a:noFill/>
          <a:ln w="7144">
            <a:solidFill>
              <a:srgbClr val="DDD5C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4573786"/>
            <a:ext cx="8229600" cy="248194"/>
          </a:xfrm>
          <a:prstGeom prst="rect">
            <a:avLst/>
          </a:prstGeom>
          <a:noFill/>
          <a:ln/>
        </p:spPr>
        <p:txBody>
          <a:bodyPr wrap="square" lIns="0" tIns="50006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8" kern="0" dirty="0">
                <a:solidFill>
                  <a:srgbClr val="9C8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N2V19 §3.1, §3.4, §3.5, §4.1, Fig. 4, results table</a:t>
            </a:r>
            <a:pPr algn="l" indent="0" marL="0">
              <a:lnSpc>
                <a:spcPts val="886"/>
              </a:lnSpc>
              <a:buNone/>
            </a:pPr>
            <a:r>
              <a:rPr lang="en-US" sz="800" spc="18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· N2N18 Table 1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1169016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2007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2814981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2014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460834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2017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6106798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2022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7752763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2025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1258639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2904604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4550457" y="4823817"/>
            <a:ext cx="42863" cy="42863"/>
          </a:xfrm>
          <a:prstGeom prst="ellipse">
            <a:avLst/>
          </a:prstGeom>
          <a:solidFill>
            <a:srgbClr val="B3452C"/>
          </a:solidFill>
          <a:ln w="7144">
            <a:solidFill>
              <a:srgbClr val="B3452C"/>
            </a:solidFill>
            <a:prstDash val="solid"/>
          </a:ln>
          <a:effectLst>
            <a:outerShdw sx="100000" sy="100000" kx="0" ky="0" algn="bl" rotWithShape="0" blurRad="101600" dist="50800" dir="16200000">
              <a:srgbClr val="B3452C">
                <a:alpha val="1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6196422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7842386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5738" y="114300"/>
            <a:ext cx="530602" cy="462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250" spc="-45" kern="0" dirty="0">
                <a:solidFill>
                  <a:srgbClr val="1C1917">
                    <a:alpha val="1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25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457200" y="371475"/>
            <a:ext cx="8636000" cy="161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B34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BRANCH</a:t>
            </a:r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9C8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ZS-N2N</a:t>
            </a:r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9C8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2023</a:t>
            </a:r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9C8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P2N</a:t>
            </a:r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9C8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60784"/>
            <a:ext cx="8636000" cy="26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3"/>
              </a:lnSpc>
              <a:buNone/>
            </a:pPr>
            <a:r>
              <a:rPr lang="en-US" sz="1744" b="1" spc="-26" kern="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Down to one image, then down to no sacrifice</a:t>
            </a:r>
            <a:endParaRPr lang="en-US" sz="1744" dirty="0"/>
          </a:p>
        </p:txBody>
      </p:sp>
      <p:sp>
        <p:nvSpPr>
          <p:cNvPr id="5" name="Text 3"/>
          <p:cNvSpPr/>
          <p:nvPr/>
        </p:nvSpPr>
        <p:spPr>
          <a:xfrm>
            <a:off x="457200" y="865956"/>
            <a:ext cx="7715250" cy="358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branch finishes by removing the last two requirements. Compressed into one slide because the pattern is now familiar — each paper removes exactly one thing.</a:t>
            </a:r>
            <a:endParaRPr lang="en-US" sz="872" dirty="0"/>
          </a:p>
        </p:txBody>
      </p:sp>
      <p:sp>
        <p:nvSpPr>
          <p:cNvPr id="6" name="Text 4"/>
          <p:cNvSpPr/>
          <p:nvPr/>
        </p:nvSpPr>
        <p:spPr>
          <a:xfrm>
            <a:off x="2146697" y="1330300"/>
            <a:ext cx="4850606" cy="1754014"/>
          </a:xfrm>
          <a:prstGeom prst="roundRect">
            <a:avLst>
              <a:gd name="adj" fmla="val 5430"/>
            </a:avLst>
          </a:prstGeom>
          <a:solidFill>
            <a:srgbClr val="FFFFFF"/>
          </a:solidFill>
          <a:ln w="7144">
            <a:solidFill>
              <a:srgbClr val="DDD5C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" name="Image 0" descr="/tmp/h2p-fit-1789755849720-84msu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77319" y="1405310"/>
            <a:ext cx="2389361" cy="132159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221706" y="2769766"/>
            <a:ext cx="4700588" cy="239539"/>
          </a:xfrm>
          <a:prstGeom prst="rect">
            <a:avLst/>
          </a:prstGeom>
          <a:noFill/>
          <a:ln/>
        </p:spPr>
        <p:txBody>
          <a:bodyPr wrap="square" lIns="28575" tIns="0" rIns="28575" bIns="14288" rtlCol="0" anchor="t"/>
          <a:lstStyle/>
          <a:p>
            <a:pPr algn="l" indent="0" marL="0">
              <a:lnSpc>
                <a:spcPts val="856"/>
              </a:lnSpc>
              <a:buNone/>
            </a:pPr>
            <a:r>
              <a:rPr lang="en-US" sz="800" dirty="0">
                <a:solidFill>
                  <a:srgbClr val="8A827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information-lossy barrier made visible: ZS-N2N, MASH and ATBSN all lose fine structure that P2N renoise-and-agree supervision keeps. </a:t>
            </a:r>
            <a:pPr algn="l" indent="0" marL="0">
              <a:lnSpc>
                <a:spcPts val="856"/>
              </a:lnSpc>
              <a:buNone/>
            </a:pPr>
            <a:r>
              <a:rPr lang="en-US" sz="80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[P2N25 · Fig. 2]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60772" y="3191470"/>
            <a:ext cx="4021931" cy="1174254"/>
          </a:xfrm>
          <a:prstGeom prst="roundRect">
            <a:avLst>
              <a:gd name="adj" fmla="val 8112"/>
            </a:avLst>
          </a:prstGeom>
          <a:solidFill>
            <a:srgbClr val="FFFDF7"/>
          </a:solidFill>
          <a:ln w="7144">
            <a:solidFill>
              <a:srgbClr val="DDD5C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592931" y="3295055"/>
            <a:ext cx="3757613" cy="1350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77" kern="0" dirty="0">
                <a:solidFill>
                  <a:srgbClr val="9C856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ZS-N2N (2023)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92931" y="3457575"/>
            <a:ext cx="37576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Requirement removed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The training set. No corpus, no pretraining.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92931" y="3655814"/>
            <a:ext cx="3757613" cy="304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Key innovation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A pair downsampler: two fixed diagonal filters split one image into a noisy pair with similar signal and independent noise.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592931" y="3987998"/>
            <a:ext cx="3757613" cy="27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Implementation change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— Two fixed stride-2 convolutions; a 20,000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-parameter two-layer net fitted to that one image; residual + consistency loss.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4661297" y="3191470"/>
            <a:ext cx="4021931" cy="1174254"/>
          </a:xfrm>
          <a:prstGeom prst="roundRect">
            <a:avLst>
              <a:gd name="adj" fmla="val 8112"/>
            </a:avLst>
          </a:prstGeom>
          <a:solidFill>
            <a:srgbClr val="FFFDF7"/>
          </a:solidFill>
          <a:ln w="7144">
            <a:solidFill>
              <a:srgbClr val="DDD5C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4793456" y="3295055"/>
            <a:ext cx="3757613" cy="1350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77" kern="0" dirty="0">
                <a:solidFill>
                  <a:srgbClr val="9C856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P2N (2025)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4793456" y="3457575"/>
            <a:ext cx="37576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Requirement removed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The information loss itself.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4793456" y="3655814"/>
            <a:ext cx="3757613" cy="3110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Key innovation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RDC: renoise the model own output with + and −, giving 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y+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and 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y−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at full resolution. DCS: train the two denoised results to agree.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4793456" y="3994249"/>
            <a:ext cx="3757613" cy="267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Implementation change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Three forward passes per step, on tensors that do not exist until the model has run once. Output compared against output, not against a target.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457200" y="4577358"/>
            <a:ext cx="8229600" cy="0"/>
          </a:xfrm>
          <a:prstGeom prst="line">
            <a:avLst/>
          </a:prstGeom>
          <a:noFill/>
          <a:ln w="7144">
            <a:solidFill>
              <a:srgbClr val="DDD5C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57200" y="4573786"/>
            <a:ext cx="8229600" cy="248194"/>
          </a:xfrm>
          <a:prstGeom prst="rect">
            <a:avLst/>
          </a:prstGeom>
          <a:noFill/>
          <a:ln/>
        </p:spPr>
        <p:txBody>
          <a:bodyPr wrap="square" lIns="0" tIns="50006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8" kern="0" dirty="0">
                <a:solidFill>
                  <a:srgbClr val="9C856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ZS-N2N23 §3, §4</a:t>
            </a:r>
            <a:pPr algn="l" indent="0" marL="0">
              <a:lnSpc>
                <a:spcPts val="886"/>
              </a:lnSpc>
              <a:buNone/>
            </a:pPr>
            <a:r>
              <a:rPr lang="en-US" sz="800" spc="18" kern="0" dirty="0">
                <a:solidFill>
                  <a:srgbClr val="8A82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· P2N25 (CVPR 2025) · repository measured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1169016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2007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2814981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2014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4460834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2017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106798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2022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7752763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2025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1258639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2904604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4550457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6196422" y="4823817"/>
            <a:ext cx="42863" cy="42863"/>
          </a:xfrm>
          <a:prstGeom prst="ellipse">
            <a:avLst/>
          </a:prstGeom>
          <a:solidFill>
            <a:srgbClr val="B3452C"/>
          </a:solidFill>
          <a:ln w="7144">
            <a:solidFill>
              <a:srgbClr val="B3452C"/>
            </a:solidFill>
            <a:prstDash val="solid"/>
          </a:ln>
          <a:effectLst>
            <a:outerShdw sx="100000" sy="100000" kx="0" ky="0" algn="bl" rotWithShape="0" blurRad="101600" dist="50800" dir="16200000">
              <a:srgbClr val="B3452C">
                <a:alpha val="1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7842386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5738" y="114300"/>
            <a:ext cx="530602" cy="462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250" spc="-45" kern="0" dirty="0">
                <a:solidFill>
                  <a:srgbClr val="1C1917">
                    <a:alpha val="1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26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457200" y="371475"/>
            <a:ext cx="8636000" cy="161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B34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BRANCH</a:t>
            </a:r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9C8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ZS-N2N</a:t>
            </a:r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9C8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2023</a:t>
            </a:r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9C8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P2N</a:t>
            </a:r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9C8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205673" y="640928"/>
            <a:ext cx="605879" cy="108496"/>
          </a:xfrm>
          <a:prstGeom prst="roundRect">
            <a:avLst>
              <a:gd name="adj" fmla="val 8770346"/>
            </a:avLst>
          </a:prstGeom>
          <a:solidFill>
            <a:srgbClr val="9C856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560784"/>
            <a:ext cx="8229600" cy="26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3"/>
              </a:lnSpc>
              <a:buNone/>
            </a:pPr>
            <a:r>
              <a:rPr lang="en-US" sz="1744" b="1" spc="-26" kern="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Down to one image, then down to no sacrifice</a:t>
            </a:r>
            <a:pPr algn="l" indent="0" marL="0">
              <a:lnSpc>
                <a:spcPts val="1953"/>
              </a:lnSpc>
              <a:buNone/>
            </a:pPr>
            <a:r>
              <a:rPr lang="en-US" sz="800" b="1" spc="68" kern="0" dirty="0">
                <a:solidFill>
                  <a:srgbClr val="F5F1E8"/>
                </a:solidFill>
                <a:highlight>
                  <a:srgbClr val="9C8565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CONTINUED</a:t>
            </a:r>
            <a:endParaRPr lang="en-US" sz="1744" dirty="0"/>
          </a:p>
        </p:txBody>
      </p:sp>
      <p:sp>
        <p:nvSpPr>
          <p:cNvPr id="6" name="Text 4"/>
          <p:cNvSpPr/>
          <p:nvPr/>
        </p:nvSpPr>
        <p:spPr>
          <a:xfrm>
            <a:off x="460772" y="1107504"/>
            <a:ext cx="4021931" cy="1613595"/>
          </a:xfrm>
          <a:prstGeom prst="roundRect">
            <a:avLst>
              <a:gd name="adj" fmla="val 5903"/>
            </a:avLst>
          </a:prstGeom>
          <a:solidFill>
            <a:srgbClr val="FFFDF7"/>
          </a:solidFill>
          <a:ln w="7144">
            <a:solidFill>
              <a:srgbClr val="DDD5C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35794" y="1268239"/>
            <a:ext cx="3671888" cy="1350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77" kern="0" dirty="0">
                <a:solidFill>
                  <a:srgbClr val="9C856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ZS-N2N (2023)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35794" y="1430759"/>
            <a:ext cx="3671888" cy="16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it is not just a new loss</a:t>
            </a:r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It is a new input construction.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35794" y="1685702"/>
            <a:ext cx="3671888" cy="345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Cost paid</a:t>
            </a:r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Half the spatial resolution during training; </a:t>
            </a:r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1–2 K</a:t>
            </a:r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gradient steps per image.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35794" y="2100597"/>
            <a:ext cx="3671888" cy="350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Applications</a:t>
            </a:r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Single archival images, one-off scientific captures; </a:t>
            </a:r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~1 min on CPU vs Self2Self 1.2 h</a:t>
            </a:r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on GPU.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661297" y="1107504"/>
            <a:ext cx="4021931" cy="1613595"/>
          </a:xfrm>
          <a:prstGeom prst="roundRect">
            <a:avLst>
              <a:gd name="adj" fmla="val 5903"/>
            </a:avLst>
          </a:prstGeom>
          <a:solidFill>
            <a:srgbClr val="FFFDF7"/>
          </a:solidFill>
          <a:ln w="7144">
            <a:solidFill>
              <a:srgbClr val="DDD5C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836319" y="1268239"/>
            <a:ext cx="3671888" cy="1350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77" kern="0" dirty="0">
                <a:solidFill>
                  <a:srgbClr val="9C856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P2N (2025)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836319" y="1430759"/>
            <a:ext cx="3671888" cy="509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it is not just a new loss</a:t>
            </a:r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Same: a loss scores a fixed prediction against a fixed target. P2N changes what goes in, how many passes, and which pair is compared.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836319" y="1995562"/>
            <a:ext cx="3671888" cy="16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788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Cost paid</a:t>
            </a:r>
            <a:pPr algn="l" indent="0" marL="0">
              <a:lnSpc>
                <a:spcPts val="1221"/>
              </a:lnSpc>
              <a:buNone/>
            </a:pPr>
            <a:r>
              <a:rPr lang="en-US" sz="788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Three passes per step; still per-image test-time optimisation.</a:t>
            </a:r>
            <a:endParaRPr lang="en-US" sz="788" dirty="0"/>
          </a:p>
        </p:txBody>
      </p:sp>
      <p:sp>
        <p:nvSpPr>
          <p:cNvPr id="15" name="Text 13"/>
          <p:cNvSpPr/>
          <p:nvPr/>
        </p:nvSpPr>
        <p:spPr>
          <a:xfrm>
            <a:off x="4836319" y="2250504"/>
            <a:ext cx="3671888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Applications</a:t>
            </a:r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Self-supervised denoising where masking artefacts are unacceptable.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60772" y="2913980"/>
            <a:ext cx="8222456" cy="939403"/>
          </a:xfrm>
          <a:prstGeom prst="roundRect">
            <a:avLst>
              <a:gd name="adj" fmla="val 10139"/>
            </a:avLst>
          </a:prstGeom>
          <a:solidFill>
            <a:srgbClr val="B3452C">
              <a:alpha val="6000"/>
            </a:srgbClr>
          </a:solidFill>
          <a:ln w="7144">
            <a:solidFill>
              <a:srgbClr val="B3452C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35794" y="3046140"/>
            <a:ext cx="78724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through-line:</a:t>
            </a:r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the network never moved, the target did.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35794" y="3269346"/>
            <a:ext cx="1073237" cy="234029"/>
          </a:xfrm>
          <a:prstGeom prst="roundRect">
            <a:avLst>
              <a:gd name="adj" fmla="val 24420"/>
            </a:avLst>
          </a:prstGeom>
          <a:solidFill>
            <a:srgbClr val="FFFDF7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35794" y="3281883"/>
            <a:ext cx="1073237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Clean image (2018)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780468" y="3316709"/>
            <a:ext cx="9144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3452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907716" y="3269346"/>
            <a:ext cx="1073237" cy="234029"/>
          </a:xfrm>
          <a:prstGeom prst="roundRect">
            <a:avLst>
              <a:gd name="adj" fmla="val 24420"/>
            </a:avLst>
          </a:prstGeom>
          <a:solidFill>
            <a:srgbClr val="FFFDF7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907716" y="3281883"/>
            <a:ext cx="1073237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second copy (2019)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052390" y="3316709"/>
            <a:ext cx="9144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3452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179638" y="3269346"/>
            <a:ext cx="1122462" cy="234029"/>
          </a:xfrm>
          <a:prstGeom prst="roundRect">
            <a:avLst>
              <a:gd name="adj" fmla="val 24420"/>
            </a:avLst>
          </a:prstGeom>
          <a:solidFill>
            <a:srgbClr val="FFFDF7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179638" y="3281883"/>
            <a:ext cx="1122462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training set (2023)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373538" y="3316709"/>
            <a:ext cx="9144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3452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500786" y="3269346"/>
            <a:ext cx="1319696" cy="234029"/>
          </a:xfrm>
          <a:prstGeom prst="roundRect">
            <a:avLst>
              <a:gd name="adj" fmla="val 24420"/>
            </a:avLst>
          </a:prstGeom>
          <a:solidFill>
            <a:srgbClr val="FFFDF7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500786" y="3281883"/>
            <a:ext cx="1319696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information loss (2025)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35794" y="3576563"/>
            <a:ext cx="7872413" cy="144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Four papers, four requirements removed, one U-Net throughout.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57200" y="4577358"/>
            <a:ext cx="8229600" cy="0"/>
          </a:xfrm>
          <a:prstGeom prst="line">
            <a:avLst/>
          </a:prstGeom>
          <a:noFill/>
          <a:ln w="7144">
            <a:solidFill>
              <a:srgbClr val="DDD5C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573786"/>
            <a:ext cx="8229600" cy="248194"/>
          </a:xfrm>
          <a:prstGeom prst="rect">
            <a:avLst/>
          </a:prstGeom>
          <a:noFill/>
          <a:ln/>
        </p:spPr>
        <p:txBody>
          <a:bodyPr wrap="square" lIns="0" tIns="50006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8" kern="0" dirty="0">
                <a:solidFill>
                  <a:srgbClr val="9C856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ZS-N2N23 §3, §4</a:t>
            </a:r>
            <a:pPr algn="l" indent="0" marL="0">
              <a:lnSpc>
                <a:spcPts val="886"/>
              </a:lnSpc>
              <a:buNone/>
            </a:pPr>
            <a:r>
              <a:rPr lang="en-US" sz="800" spc="18" kern="0" dirty="0">
                <a:solidFill>
                  <a:srgbClr val="8A82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· P2N25 (CVPR 2025) · repository measured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169016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2007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814981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2014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460834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2017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106798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2022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752763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2025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258639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2904604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550457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6196422" y="4823817"/>
            <a:ext cx="42863" cy="42863"/>
          </a:xfrm>
          <a:prstGeom prst="ellipse">
            <a:avLst/>
          </a:prstGeom>
          <a:solidFill>
            <a:srgbClr val="B3452C"/>
          </a:solidFill>
          <a:ln w="7144">
            <a:solidFill>
              <a:srgbClr val="B3452C"/>
            </a:solidFill>
            <a:prstDash val="solid"/>
          </a:ln>
          <a:effectLst>
            <a:outerShdw sx="100000" sy="100000" kx="0" ky="0" algn="bl" rotWithShape="0" blurRad="101600" dist="50800" dir="16200000">
              <a:srgbClr val="B3452C">
                <a:alpha val="1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7842386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5738" y="114300"/>
            <a:ext cx="530602" cy="462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250" spc="-45" kern="0" dirty="0">
                <a:solidFill>
                  <a:srgbClr val="1C1917">
                    <a:alpha val="1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27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457200" y="657225"/>
            <a:ext cx="2571750" cy="925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750"/>
              </a:lnSpc>
              <a:buNone/>
            </a:pPr>
            <a:r>
              <a:rPr lang="en-US" sz="6750" spc="-270" kern="0" dirty="0">
                <a:solidFill>
                  <a:srgbClr val="B3452C">
                    <a:alpha val="14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6750" dirty="0"/>
          </a:p>
        </p:txBody>
      </p:sp>
      <p:sp>
        <p:nvSpPr>
          <p:cNvPr id="4" name="Text 2"/>
          <p:cNvSpPr/>
          <p:nvPr/>
        </p:nvSpPr>
        <p:spPr>
          <a:xfrm>
            <a:off x="457200" y="1628775"/>
            <a:ext cx="220929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162" kern="0" dirty="0">
                <a:solidFill>
                  <a:srgbClr val="57534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PART 4 / 5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475309" y="700088"/>
            <a:ext cx="0" cy="117872"/>
          </a:xfrm>
          <a:prstGeom prst="line">
            <a:avLst/>
          </a:prstGeom>
          <a:noFill/>
          <a:ln w="21431">
            <a:solidFill>
              <a:srgbClr val="B345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464594" y="700088"/>
            <a:ext cx="6222206" cy="164592"/>
          </a:xfrm>
          <a:prstGeom prst="rect">
            <a:avLst/>
          </a:prstGeom>
          <a:noFill/>
          <a:ln/>
        </p:spPr>
        <p:txBody>
          <a:bodyPr wrap="none" lIns="85725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9C856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BRANCH B · 2021 – 2024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464594" y="917972"/>
            <a:ext cx="6679406" cy="437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89"/>
              </a:lnSpc>
              <a:buNone/>
            </a:pPr>
            <a:r>
              <a:rPr lang="en-US" sz="3038" b="1" spc="-61" kern="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Replacing the Convolution</a:t>
            </a:r>
            <a:endParaRPr lang="en-US" sz="3038" dirty="0"/>
          </a:p>
        </p:txBody>
      </p:sp>
      <p:sp>
        <p:nvSpPr>
          <p:cNvPr id="8" name="Shape 6"/>
          <p:cNvSpPr/>
          <p:nvPr/>
        </p:nvSpPr>
        <p:spPr>
          <a:xfrm>
            <a:off x="2464594" y="1512243"/>
            <a:ext cx="6222206" cy="0"/>
          </a:xfrm>
          <a:prstGeom prst="line">
            <a:avLst/>
          </a:prstGeom>
          <a:noFill/>
          <a:ln w="7144">
            <a:solidFill>
              <a:srgbClr val="DDD5C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59659" y="1637258"/>
            <a:ext cx="18422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710383" y="1594396"/>
            <a:ext cx="5976417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1C191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The evidence for bottleneck 3</a:t>
            </a:r>
            <a:endParaRPr lang="en-US" sz="956" dirty="0"/>
          </a:p>
        </p:txBody>
      </p:sp>
      <p:sp>
        <p:nvSpPr>
          <p:cNvPr id="11" name="Shape 9"/>
          <p:cNvSpPr/>
          <p:nvPr/>
        </p:nvSpPr>
        <p:spPr>
          <a:xfrm>
            <a:off x="2464594" y="1858714"/>
            <a:ext cx="6222206" cy="0"/>
          </a:xfrm>
          <a:prstGeom prst="line">
            <a:avLst/>
          </a:prstGeom>
          <a:noFill/>
          <a:ln w="7144">
            <a:solidFill>
              <a:srgbClr val="DDD5C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59659" y="1983730"/>
            <a:ext cx="18422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710383" y="1940868"/>
            <a:ext cx="5976417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Restormer — attention on a different axis</a:t>
            </a:r>
            <a:endParaRPr lang="en-US" sz="956" dirty="0"/>
          </a:p>
        </p:txBody>
      </p:sp>
      <p:sp>
        <p:nvSpPr>
          <p:cNvPr id="14" name="Shape 12"/>
          <p:cNvSpPr/>
          <p:nvPr/>
        </p:nvSpPr>
        <p:spPr>
          <a:xfrm>
            <a:off x="2464594" y="2205186"/>
            <a:ext cx="6222206" cy="0"/>
          </a:xfrm>
          <a:prstGeom prst="line">
            <a:avLst/>
          </a:prstGeom>
          <a:noFill/>
          <a:ln w="7144">
            <a:solidFill>
              <a:srgbClr val="DDD5C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59659" y="2330202"/>
            <a:ext cx="18422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710383" y="2287339"/>
            <a:ext cx="5976417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NAFNet — delete the mechanisms</a:t>
            </a:r>
            <a:endParaRPr lang="en-US" sz="956" dirty="0"/>
          </a:p>
        </p:txBody>
      </p:sp>
      <p:sp>
        <p:nvSpPr>
          <p:cNvPr id="17" name="Shape 15"/>
          <p:cNvSpPr/>
          <p:nvPr/>
        </p:nvSpPr>
        <p:spPr>
          <a:xfrm>
            <a:off x="2464594" y="2551658"/>
            <a:ext cx="6222206" cy="0"/>
          </a:xfrm>
          <a:prstGeom prst="line">
            <a:avLst/>
          </a:prstGeom>
          <a:noFill/>
          <a:ln w="7144">
            <a:solidFill>
              <a:srgbClr val="DDD5C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59659" y="2676674"/>
            <a:ext cx="18422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710383" y="2633811"/>
            <a:ext cx="5976417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SCUNet and MambaIR</a:t>
            </a:r>
            <a:endParaRPr lang="en-US" sz="956" dirty="0"/>
          </a:p>
        </p:txBody>
      </p:sp>
      <p:sp>
        <p:nvSpPr>
          <p:cNvPr id="20" name="Shape 18"/>
          <p:cNvSpPr/>
          <p:nvPr/>
        </p:nvSpPr>
        <p:spPr>
          <a:xfrm>
            <a:off x="2464594" y="2898130"/>
            <a:ext cx="6222206" cy="0"/>
          </a:xfrm>
          <a:prstGeom prst="line">
            <a:avLst/>
          </a:prstGeom>
          <a:noFill/>
          <a:ln w="7144">
            <a:solidFill>
              <a:srgbClr val="DDD5C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464594" y="3244602"/>
            <a:ext cx="6222206" cy="0"/>
          </a:xfrm>
          <a:prstGeom prst="line">
            <a:avLst/>
          </a:prstGeom>
          <a:noFill/>
          <a:ln w="7144">
            <a:solidFill>
              <a:srgbClr val="DDD5C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459659" y="3023146"/>
            <a:ext cx="18422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710383" y="2980283"/>
            <a:ext cx="5976417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there are several SOTAs</a:t>
            </a:r>
            <a:endParaRPr lang="en-US" sz="956" dirty="0"/>
          </a:p>
        </p:txBody>
      </p:sp>
      <p:sp>
        <p:nvSpPr>
          <p:cNvPr id="24" name="Text 22"/>
          <p:cNvSpPr/>
          <p:nvPr/>
        </p:nvSpPr>
        <p:spPr>
          <a:xfrm>
            <a:off x="2464594" y="3505349"/>
            <a:ext cx="6222206" cy="408198"/>
          </a:xfrm>
          <a:prstGeom prst="roundRect">
            <a:avLst>
              <a:gd name="adj" fmla="val 23334"/>
            </a:avLst>
          </a:prstGeom>
          <a:solidFill>
            <a:srgbClr val="FAF5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2464594" y="3508921"/>
            <a:ext cx="6222206" cy="0"/>
          </a:xfrm>
          <a:prstGeom prst="line">
            <a:avLst/>
          </a:prstGeom>
          <a:noFill/>
          <a:ln w="7144">
            <a:solidFill>
              <a:srgbClr val="DDD5C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683228" y="3505349"/>
            <a:ext cx="0" cy="408198"/>
          </a:xfrm>
          <a:prstGeom prst="line">
            <a:avLst/>
          </a:prstGeom>
          <a:noFill/>
          <a:ln w="7144">
            <a:solidFill>
              <a:srgbClr val="DDD5C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464594" y="3909975"/>
            <a:ext cx="6222206" cy="0"/>
          </a:xfrm>
          <a:prstGeom prst="line">
            <a:avLst/>
          </a:prstGeom>
          <a:noFill/>
          <a:ln w="7144">
            <a:solidFill>
              <a:srgbClr val="DDD5C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475309" y="3505349"/>
            <a:ext cx="0" cy="408198"/>
          </a:xfrm>
          <a:prstGeom prst="line">
            <a:avLst/>
          </a:prstGeom>
          <a:noFill/>
          <a:ln w="21431">
            <a:solidFill>
              <a:srgbClr val="B3452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464594" y="3505349"/>
            <a:ext cx="6222206" cy="440854"/>
          </a:xfrm>
          <a:prstGeom prst="rect">
            <a:avLst/>
          </a:prstGeom>
          <a:noFill/>
          <a:ln/>
        </p:spPr>
        <p:txBody>
          <a:bodyPr wrap="square" lIns="142875" tIns="114300" rIns="142875" bIns="11430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other debt: a </a:t>
            </a:r>
            <a:pPr algn="l" indent="0" marL="0">
              <a:lnSpc>
                <a:spcPts val="1266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35×35</a:t>
            </a:r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receptive field, and three competing operators that fix it.</a:t>
            </a:r>
            <a:endParaRPr lang="en-US" sz="844" dirty="0"/>
          </a:p>
        </p:txBody>
      </p:sp>
      <p:sp>
        <p:nvSpPr>
          <p:cNvPr id="30" name="Shape 28"/>
          <p:cNvSpPr/>
          <p:nvPr/>
        </p:nvSpPr>
        <p:spPr>
          <a:xfrm>
            <a:off x="457200" y="4577358"/>
            <a:ext cx="8229600" cy="0"/>
          </a:xfrm>
          <a:prstGeom prst="line">
            <a:avLst/>
          </a:prstGeom>
          <a:noFill/>
          <a:ln w="7144">
            <a:solidFill>
              <a:srgbClr val="DDD5C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8859" y="4638080"/>
            <a:ext cx="509118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8" kern="0" dirty="0">
                <a:solidFill>
                  <a:srgbClr val="9C856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brief §4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169016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2007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814981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2014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460834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2017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106798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2022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752763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2025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258639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2904604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550457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6196422" y="4823817"/>
            <a:ext cx="42863" cy="42863"/>
          </a:xfrm>
          <a:prstGeom prst="ellipse">
            <a:avLst/>
          </a:prstGeom>
          <a:solidFill>
            <a:srgbClr val="B3452C"/>
          </a:solidFill>
          <a:ln w="7144">
            <a:solidFill>
              <a:srgbClr val="B3452C"/>
            </a:solidFill>
            <a:prstDash val="solid"/>
          </a:ln>
          <a:effectLst>
            <a:outerShdw sx="100000" sy="100000" kx="0" ky="0" algn="bl" rotWithShape="0" blurRad="101600" dist="50800" dir="16200000">
              <a:srgbClr val="B3452C">
                <a:alpha val="1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7842386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5738" y="114300"/>
            <a:ext cx="530602" cy="462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250" spc="-45" kern="0" dirty="0">
                <a:solidFill>
                  <a:srgbClr val="1C1917">
                    <a:alpha val="1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28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457200" y="371475"/>
            <a:ext cx="8636000" cy="161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B34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9C8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BOTTLENECK 3</a:t>
            </a:r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9C8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B34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RECEIPT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60784"/>
            <a:ext cx="8229600" cy="26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3"/>
              </a:lnSpc>
              <a:buNone/>
            </a:pPr>
            <a:r>
              <a:rPr lang="en-US" sz="1744" b="1" spc="-26" kern="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One number points to the receptive field as the problem</a:t>
            </a:r>
            <a:endParaRPr lang="en-US" sz="1744" dirty="0"/>
          </a:p>
        </p:txBody>
      </p:sp>
      <p:sp>
        <p:nvSpPr>
          <p:cNvPr id="5" name="Text 3"/>
          <p:cNvSpPr/>
          <p:nvPr/>
        </p:nvSpPr>
        <p:spPr>
          <a:xfrm>
            <a:off x="457200" y="865956"/>
            <a:ext cx="7715250" cy="179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Identical models, identical table, identical noise level. The only thing that changes is the dataset — and the gain changes by a factor of five.</a:t>
            </a:r>
            <a:endParaRPr lang="en-US" sz="872" dirty="0"/>
          </a:p>
        </p:txBody>
      </p:sp>
      <p:sp>
        <p:nvSpPr>
          <p:cNvPr id="6" name="Text 4"/>
          <p:cNvSpPr/>
          <p:nvPr/>
        </p:nvSpPr>
        <p:spPr>
          <a:xfrm>
            <a:off x="460772" y="1164208"/>
            <a:ext cx="8222456" cy="1788170"/>
          </a:xfrm>
          <a:prstGeom prst="roundRect">
            <a:avLst>
              <a:gd name="adj" fmla="val 5327"/>
            </a:avLst>
          </a:prstGeom>
          <a:solidFill>
            <a:srgbClr val="FFFFFF"/>
          </a:solidFill>
          <a:ln w="7144">
            <a:solidFill>
              <a:srgbClr val="DDD5C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" name="Image 0" descr="/tmp/h2p-fit-1789755851127-wznu2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5781" y="1239217"/>
            <a:ext cx="8072438" cy="146446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35781" y="2746549"/>
            <a:ext cx="8072438" cy="130820"/>
          </a:xfrm>
          <a:prstGeom prst="rect">
            <a:avLst/>
          </a:prstGeom>
          <a:noFill/>
          <a:ln/>
        </p:spPr>
        <p:txBody>
          <a:bodyPr wrap="square" lIns="28575" tIns="0" rIns="28575" bIns="14288" rtlCol="0" anchor="t"/>
          <a:lstStyle/>
          <a:p>
            <a:pPr algn="l" indent="0" marL="0">
              <a:lnSpc>
                <a:spcPts val="856"/>
              </a:lnSpc>
              <a:buNone/>
            </a:pPr>
            <a:r>
              <a:rPr lang="en-US" sz="600" dirty="0">
                <a:solidFill>
                  <a:srgbClr val="8A827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Effective receptive field: CNNs stay tightly local, Transformers spread further, the Mamba-based backbone activates the widest field. </a:t>
            </a:r>
            <a:pPr algn="l" indent="0" marL="0">
              <a:lnSpc>
                <a:spcPts val="856"/>
              </a:lnSpc>
              <a:buNone/>
            </a:pPr>
            <a:r>
              <a:rPr lang="en-US" sz="60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[MambaIR24 · Fig. 1]</a:t>
            </a:r>
            <a:endParaRPr lang="en-US" sz="600" dirty="0"/>
          </a:p>
        </p:txBody>
      </p:sp>
      <p:sp>
        <p:nvSpPr>
          <p:cNvPr id="9" name="Text 6"/>
          <p:cNvSpPr/>
          <p:nvPr/>
        </p:nvSpPr>
        <p:spPr>
          <a:xfrm>
            <a:off x="460772" y="3059534"/>
            <a:ext cx="2640732" cy="1005706"/>
          </a:xfrm>
          <a:prstGeom prst="roundRect">
            <a:avLst>
              <a:gd name="adj" fmla="val 9471"/>
            </a:avLst>
          </a:prstGeom>
          <a:solidFill>
            <a:srgbClr val="FFFDF7"/>
          </a:solidFill>
          <a:ln w="7144">
            <a:solidFill>
              <a:srgbClr val="DDD5C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592931" y="3163119"/>
            <a:ext cx="2376413" cy="2261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72"/>
              </a:lnSpc>
              <a:buNone/>
            </a:pPr>
            <a:r>
              <a:rPr lang="en-US" sz="1688" spc="-17" kern="0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+0.39 dB</a:t>
            </a:r>
            <a:endParaRPr lang="en-US" sz="1688" dirty="0"/>
          </a:p>
        </p:txBody>
      </p:sp>
      <p:sp>
        <p:nvSpPr>
          <p:cNvPr id="11" name="Text 8"/>
          <p:cNvSpPr/>
          <p:nvPr/>
        </p:nvSpPr>
        <p:spPr>
          <a:xfrm>
            <a:off x="592931" y="3416722"/>
            <a:ext cx="2486141" cy="122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68" kern="0" dirty="0">
                <a:solidFill>
                  <a:srgbClr val="1C191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BSD68 · Σ=50 · DNCNN → RESTORMER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92931" y="3566740"/>
            <a:ext cx="2376413" cy="394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26.23 → 26.62</a:t>
            </a:r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blind models, one table. Ordinary natural images, little long-range repetition: five years of architecture research buys almost nothing.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3251522" y="3059534"/>
            <a:ext cx="2640843" cy="1005706"/>
          </a:xfrm>
          <a:prstGeom prst="roundRect">
            <a:avLst>
              <a:gd name="adj" fmla="val 9471"/>
            </a:avLst>
          </a:prstGeom>
          <a:solidFill>
            <a:srgbClr val="FFFDF7"/>
          </a:solidFill>
          <a:ln w="7144">
            <a:solidFill>
              <a:srgbClr val="DDD5C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3383682" y="3163119"/>
            <a:ext cx="2376525" cy="2261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72"/>
              </a:lnSpc>
              <a:buNone/>
            </a:pPr>
            <a:r>
              <a:rPr lang="en-US" sz="1688" spc="-17" kern="0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+1.98 dB</a:t>
            </a:r>
            <a:endParaRPr lang="en-US" sz="1688" dirty="0"/>
          </a:p>
        </p:txBody>
      </p:sp>
      <p:sp>
        <p:nvSpPr>
          <p:cNvPr id="15" name="Text 12"/>
          <p:cNvSpPr/>
          <p:nvPr/>
        </p:nvSpPr>
        <p:spPr>
          <a:xfrm>
            <a:off x="3383682" y="3416722"/>
            <a:ext cx="2486253" cy="122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68" kern="0" dirty="0">
                <a:solidFill>
                  <a:srgbClr val="1C191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URBAN100 · Σ=50 · SAME TWO MODELS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3383682" y="3566740"/>
            <a:ext cx="2376525" cy="394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26.35 → 28.33</a:t>
            </a:r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same table. Photographs of buildings — windows and railings repeating across hundreds of pixels. Five times the gain, on the dataset made of repetition.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6042385" y="3059534"/>
            <a:ext cx="2640843" cy="1005706"/>
          </a:xfrm>
          <a:prstGeom prst="roundRect">
            <a:avLst>
              <a:gd name="adj" fmla="val 9471"/>
            </a:avLst>
          </a:prstGeom>
          <a:solidFill>
            <a:srgbClr val="FFFDF7"/>
          </a:solidFill>
          <a:ln w="7144">
            <a:solidFill>
              <a:srgbClr val="DDD5C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6174544" y="3163119"/>
            <a:ext cx="2376525" cy="2261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72"/>
              </a:lnSpc>
              <a:buNone/>
            </a:pPr>
            <a:r>
              <a:rPr lang="en-US" sz="1688" spc="-17" kern="0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−0.71 dB</a:t>
            </a:r>
            <a:endParaRPr lang="en-US" sz="1688" dirty="0"/>
          </a:p>
        </p:txBody>
      </p:sp>
      <p:sp>
        <p:nvSpPr>
          <p:cNvPr id="19" name="Text 16"/>
          <p:cNvSpPr/>
          <p:nvPr/>
        </p:nvSpPr>
        <p:spPr>
          <a:xfrm>
            <a:off x="6174544" y="3416722"/>
            <a:ext cx="2486253" cy="122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68" kern="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BARBARA · Σ=25 · DNCNN VS BM3D · 2017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6174544" y="3566740"/>
            <a:ext cx="2376525" cy="394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same phenomenon five years earlier, in DnCNN own results — the one Set12 image dominated by repetitive texture.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457200" y="4577358"/>
            <a:ext cx="8229600" cy="0"/>
          </a:xfrm>
          <a:prstGeom prst="line">
            <a:avLst/>
          </a:prstGeom>
          <a:noFill/>
          <a:ln w="7144">
            <a:solidFill>
              <a:srgbClr val="DDD5C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7200" y="4573786"/>
            <a:ext cx="8229600" cy="248194"/>
          </a:xfrm>
          <a:prstGeom prst="rect">
            <a:avLst/>
          </a:prstGeom>
          <a:noFill/>
          <a:ln/>
        </p:spPr>
        <p:txBody>
          <a:bodyPr wrap="square" lIns="0" tIns="50006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8" kern="0" dirty="0">
                <a:solidFill>
                  <a:srgbClr val="9C8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Restormer22 Table 4 (the four σ=50 numbers, single table)</a:t>
            </a:r>
            <a:pPr algn="l" indent="0" marL="0">
              <a:lnSpc>
                <a:spcPts val="886"/>
              </a:lnSpc>
              <a:buNone/>
            </a:pPr>
            <a:r>
              <a:rPr lang="en-US" sz="800" spc="18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· DnCNN17 Table III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1169016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2007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2814981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2014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4460834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2017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6106798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2022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7752763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2025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1258639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2904604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4550457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6196422" y="4823817"/>
            <a:ext cx="42863" cy="42863"/>
          </a:xfrm>
          <a:prstGeom prst="ellipse">
            <a:avLst/>
          </a:prstGeom>
          <a:solidFill>
            <a:srgbClr val="B3452C"/>
          </a:solidFill>
          <a:ln w="7144">
            <a:solidFill>
              <a:srgbClr val="B3452C"/>
            </a:solidFill>
            <a:prstDash val="solid"/>
          </a:ln>
          <a:effectLst>
            <a:outerShdw sx="100000" sy="100000" kx="0" ky="0" algn="bl" rotWithShape="0" blurRad="101600" dist="50800" dir="16200000">
              <a:srgbClr val="B3452C">
                <a:alpha val="1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7842386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5738" y="114300"/>
            <a:ext cx="530602" cy="462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250" spc="-45" kern="0" dirty="0">
                <a:solidFill>
                  <a:srgbClr val="1C1917">
                    <a:alpha val="1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29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457200" y="371475"/>
            <a:ext cx="8636000" cy="161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B34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9C8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BOTTLENECK 3</a:t>
            </a:r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9C8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B34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RECEIPT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227899" y="640928"/>
            <a:ext cx="605879" cy="108496"/>
          </a:xfrm>
          <a:prstGeom prst="roundRect">
            <a:avLst>
              <a:gd name="adj" fmla="val 8770346"/>
            </a:avLst>
          </a:prstGeom>
          <a:solidFill>
            <a:srgbClr val="9C856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560784"/>
            <a:ext cx="8229600" cy="26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3"/>
              </a:lnSpc>
              <a:buNone/>
            </a:pPr>
            <a:r>
              <a:rPr lang="en-US" sz="1744" b="1" spc="-26" kern="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One number points to the receptive field as the problem</a:t>
            </a:r>
            <a:pPr algn="l" indent="0" marL="0">
              <a:lnSpc>
                <a:spcPts val="1953"/>
              </a:lnSpc>
              <a:buNone/>
            </a:pPr>
            <a:r>
              <a:rPr lang="en-US" sz="800" b="1" spc="68" kern="0" dirty="0">
                <a:solidFill>
                  <a:srgbClr val="F5F1E8"/>
                </a:solidFill>
                <a:highlight>
                  <a:srgbClr val="9C8565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CONTINUED</a:t>
            </a:r>
            <a:endParaRPr lang="en-US" sz="1744" dirty="0"/>
          </a:p>
        </p:txBody>
      </p:sp>
      <p:sp>
        <p:nvSpPr>
          <p:cNvPr id="6" name="Text 4"/>
          <p:cNvSpPr/>
          <p:nvPr/>
        </p:nvSpPr>
        <p:spPr>
          <a:xfrm>
            <a:off x="460772" y="1370149"/>
            <a:ext cx="150019" cy="150019"/>
          </a:xfrm>
          <a:prstGeom prst="roundRect">
            <a:avLst>
              <a:gd name="adj" fmla="val 6342847"/>
            </a:avLst>
          </a:prstGeom>
          <a:noFill/>
          <a:ln w="7144">
            <a:solidFill>
              <a:srgbClr val="B3452C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7200" y="1366577"/>
            <a:ext cx="200025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00088" y="1359433"/>
            <a:ext cx="7986713" cy="357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816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this suggests.</a:t>
            </a:r>
            <a:pPr algn="l" indent="0" marL="0">
              <a:lnSpc>
                <a:spcPts val="1305"/>
              </a:lnSpc>
              <a:buNone/>
            </a:pPr>
            <a:r>
              <a:rPr lang="en-US" sz="816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The architecture branch did not make denoising uniformly better. It made denoising better specifically where non-locality matters — which is exactly the capability a 3×3 convolution stack structurally lacks.</a:t>
            </a:r>
            <a:endParaRPr lang="en-US" sz="816" dirty="0"/>
          </a:p>
        </p:txBody>
      </p:sp>
      <p:sp>
        <p:nvSpPr>
          <p:cNvPr id="9" name="Text 7"/>
          <p:cNvSpPr/>
          <p:nvPr/>
        </p:nvSpPr>
        <p:spPr>
          <a:xfrm>
            <a:off x="460772" y="1944328"/>
            <a:ext cx="150019" cy="150019"/>
          </a:xfrm>
          <a:prstGeom prst="roundRect">
            <a:avLst>
              <a:gd name="adj" fmla="val 6342847"/>
            </a:avLst>
          </a:prstGeom>
          <a:noFill/>
          <a:ln w="7144">
            <a:solidFill>
              <a:srgbClr val="B3452C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57200" y="1940756"/>
            <a:ext cx="200025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00088" y="1933612"/>
            <a:ext cx="7986713" cy="36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816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it does not prove.</a:t>
            </a:r>
            <a:pPr algn="l" indent="0" marL="0">
              <a:lnSpc>
                <a:spcPts val="1305"/>
              </a:lnSpc>
              <a:buNone/>
            </a:pPr>
            <a:r>
              <a:rPr lang="en-US" sz="816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The comparison changes several variables at once: capacity, normalisation, and five years of training practice. NAFNet own ablation (slide 32) will show LayerNorm alone is worth </a:t>
            </a:r>
            <a:pPr algn="l" indent="0" marL="0">
              <a:lnSpc>
                <a:spcPts val="1305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+0.44 dB</a:t>
            </a:r>
            <a:pPr algn="l" indent="0" marL="0">
              <a:lnSpc>
                <a:spcPts val="1305"/>
              </a:lnSpc>
              <a:buNone/>
            </a:pPr>
            <a:r>
              <a:rPr lang="en-US" sz="816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 The honest claim: the gain pattern is consistent with the receptive-field hypothesis — evidence, not proof.</a:t>
            </a:r>
            <a:endParaRPr lang="en-US" sz="816" dirty="0"/>
          </a:p>
        </p:txBody>
      </p:sp>
      <p:sp>
        <p:nvSpPr>
          <p:cNvPr id="12" name="Text 10"/>
          <p:cNvSpPr/>
          <p:nvPr/>
        </p:nvSpPr>
        <p:spPr>
          <a:xfrm>
            <a:off x="460772" y="2522860"/>
            <a:ext cx="150019" cy="150019"/>
          </a:xfrm>
          <a:prstGeom prst="roundRect">
            <a:avLst>
              <a:gd name="adj" fmla="val 6342847"/>
            </a:avLst>
          </a:prstGeom>
          <a:noFill/>
          <a:ln w="7144">
            <a:solidFill>
              <a:srgbClr val="B3452C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57200" y="2519288"/>
            <a:ext cx="200025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00088" y="2512144"/>
            <a:ext cx="7986713" cy="36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816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depth cannot fix it.</a:t>
            </a:r>
            <a:pPr algn="l" indent="0" marL="0">
              <a:lnSpc>
                <a:spcPts val="1305"/>
              </a:lnSpc>
              <a:buNone/>
            </a:pPr>
            <a:r>
              <a:rPr lang="en-US" sz="816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Receptive field grows linearly with depth: </a:t>
            </a:r>
            <a:pPr algn="l" indent="0" marL="0">
              <a:lnSpc>
                <a:spcPts val="1305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(2d+1)²</a:t>
            </a:r>
            <a:pPr algn="l" indent="0" marL="0">
              <a:lnSpc>
                <a:spcPts val="1305"/>
              </a:lnSpc>
              <a:buNone/>
            </a:pPr>
            <a:r>
              <a:rPr lang="en-US" sz="816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 Reaching WNNM </a:t>
            </a:r>
            <a:pPr algn="l" indent="0" marL="0">
              <a:lnSpc>
                <a:spcPts val="1305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361×361</a:t>
            </a:r>
            <a:pPr algn="l" indent="0" marL="0">
              <a:lnSpc>
                <a:spcPts val="1305"/>
              </a:lnSpc>
              <a:buNone/>
            </a:pPr>
            <a:r>
              <a:rPr lang="en-US" sz="816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the DnCNN way needs about </a:t>
            </a:r>
            <a:pPr algn="l" indent="0" marL="0">
              <a:lnSpc>
                <a:spcPts val="1305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180</a:t>
            </a:r>
            <a:pPr algn="l" indent="0" marL="0">
              <a:lnSpc>
                <a:spcPts val="1305"/>
              </a:lnSpc>
              <a:buNone/>
            </a:pPr>
            <a:r>
              <a:rPr lang="en-US" sz="816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layers. The fix had to be a different operator, not more of the same one.</a:t>
            </a:r>
            <a:endParaRPr lang="en-US" sz="816" dirty="0"/>
          </a:p>
        </p:txBody>
      </p:sp>
      <p:sp>
        <p:nvSpPr>
          <p:cNvPr id="15" name="Text 13"/>
          <p:cNvSpPr/>
          <p:nvPr/>
        </p:nvSpPr>
        <p:spPr>
          <a:xfrm>
            <a:off x="460772" y="3165686"/>
            <a:ext cx="8222456" cy="432197"/>
          </a:xfrm>
          <a:prstGeom prst="roundRect">
            <a:avLst>
              <a:gd name="adj" fmla="val 22039"/>
            </a:avLst>
          </a:prstGeom>
          <a:solidFill>
            <a:srgbClr val="FAF5EA"/>
          </a:solidFill>
          <a:ln w="7144">
            <a:solidFill>
              <a:srgbClr val="DDD5C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57200" y="3162114"/>
            <a:ext cx="8229600" cy="642693"/>
          </a:xfrm>
          <a:prstGeom prst="rect">
            <a:avLst/>
          </a:prstGeom>
          <a:noFill/>
          <a:ln/>
        </p:spPr>
        <p:txBody>
          <a:bodyPr wrap="square" lIns="128588" tIns="100013" rIns="128588" bIns="100013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spc="18" kern="0" dirty="0">
                <a:solidFill>
                  <a:srgbClr val="9C8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Provenance:</a:t>
            </a:r>
            <a:pPr algn="l" indent="0" marL="0">
              <a:lnSpc>
                <a:spcPts val="886"/>
              </a:lnSpc>
              <a:buNone/>
            </a:pPr>
            <a:r>
              <a:rPr lang="en-US" sz="800" spc="18" kern="0" dirty="0">
                <a:solidFill>
                  <a:srgbClr val="8A82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the 0.39-vs-1.98 comparison is our own analysis of published values, both pairs taken from Restormer Table 4 so the protocol is identical. Say computed from Table 4 if challenged.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57200" y="4577358"/>
            <a:ext cx="8229600" cy="0"/>
          </a:xfrm>
          <a:prstGeom prst="line">
            <a:avLst/>
          </a:prstGeom>
          <a:noFill/>
          <a:ln w="7144">
            <a:solidFill>
              <a:srgbClr val="DDD5C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573786"/>
            <a:ext cx="8229600" cy="248194"/>
          </a:xfrm>
          <a:prstGeom prst="rect">
            <a:avLst/>
          </a:prstGeom>
          <a:noFill/>
          <a:ln/>
        </p:spPr>
        <p:txBody>
          <a:bodyPr wrap="square" lIns="0" tIns="50006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8" kern="0" dirty="0">
                <a:solidFill>
                  <a:srgbClr val="9C856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Restormer22 Table 4</a:t>
            </a:r>
            <a:pPr algn="l" indent="0" marL="0">
              <a:lnSpc>
                <a:spcPts val="886"/>
              </a:lnSpc>
              <a:buNone/>
            </a:pPr>
            <a:r>
              <a:rPr lang="en-US" sz="800" spc="18" kern="0" dirty="0">
                <a:solidFill>
                  <a:srgbClr val="8A82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· DnCNN17 Table I, Table III · NAFNet22 §4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169016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2007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814981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2014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460834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2017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106798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2022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752763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2025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258639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2904604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550457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196422" y="4823817"/>
            <a:ext cx="42863" cy="42863"/>
          </a:xfrm>
          <a:prstGeom prst="ellipse">
            <a:avLst/>
          </a:prstGeom>
          <a:solidFill>
            <a:srgbClr val="B3452C"/>
          </a:solidFill>
          <a:ln w="7144">
            <a:solidFill>
              <a:srgbClr val="B3452C"/>
            </a:solidFill>
            <a:prstDash val="solid"/>
          </a:ln>
          <a:effectLst>
            <a:outerShdw sx="100000" sy="100000" kx="0" ky="0" algn="bl" rotWithShape="0" blurRad="101600" dist="50800" dir="16200000">
              <a:srgbClr val="B3452C">
                <a:alpha val="1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7842386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5738" y="114300"/>
            <a:ext cx="530602" cy="462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250" spc="-45" kern="0" dirty="0">
                <a:solidFill>
                  <a:srgbClr val="1C1917">
                    <a:alpha val="1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30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457200" y="371475"/>
            <a:ext cx="8636000" cy="161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B34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9C8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B34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RESTORMER</a:t>
            </a:r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9C8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2022</a:t>
            </a:r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9C8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B34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 → AFTER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60784"/>
            <a:ext cx="8229600" cy="26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3"/>
              </a:lnSpc>
              <a:buNone/>
            </a:pPr>
            <a:r>
              <a:rPr lang="en-US" sz="1744" b="1" spc="-26" kern="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Attention becomes affordable by changing one axis</a:t>
            </a:r>
            <a:endParaRPr lang="en-US" sz="1744" dirty="0"/>
          </a:p>
        </p:txBody>
      </p:sp>
      <p:sp>
        <p:nvSpPr>
          <p:cNvPr id="5" name="Text 3"/>
          <p:cNvSpPr/>
          <p:nvPr/>
        </p:nvSpPr>
        <p:spPr>
          <a:xfrm>
            <a:off x="457200" y="865956"/>
            <a:ext cx="7715250" cy="3710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Zamir et al., CVPR 2022. Standard self-attention costs </a:t>
            </a:r>
            <a:pPr algn="l" indent="0" marL="0">
              <a:lnSpc>
                <a:spcPts val="1308"/>
              </a:lnSpc>
              <a:buNone/>
            </a:pPr>
            <a:r>
              <a:rPr lang="en-US" sz="820" dirty="0">
                <a:solidFill>
                  <a:srgbClr val="5753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O(W²H²)</a:t>
            </a:r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a 256×256 image needs a 4.3-billion-entry attention matrix, against 196 tokens for a ViT. Restormer attends over channels instead of pixels.</a:t>
            </a:r>
            <a:endParaRPr lang="en-US" sz="872" dirty="0"/>
          </a:p>
        </p:txBody>
      </p:sp>
      <p:sp>
        <p:nvSpPr>
          <p:cNvPr id="6" name="Text 4"/>
          <p:cNvSpPr/>
          <p:nvPr/>
        </p:nvSpPr>
        <p:spPr>
          <a:xfrm>
            <a:off x="457200" y="1844873"/>
            <a:ext cx="3607594" cy="135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24" kern="0" dirty="0">
                <a:solidFill>
                  <a:srgbClr val="9C8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Restormer/basicsr/…/restormer_arch.py — Attention.forward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2007394"/>
            <a:ext cx="3607594" cy="1740396"/>
          </a:xfrm>
          <a:prstGeom prst="roundRect">
            <a:avLst>
              <a:gd name="adj" fmla="val 5473"/>
            </a:avLst>
          </a:prstGeom>
          <a:solidFill>
            <a:srgbClr val="29241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0075" y="2150269"/>
            <a:ext cx="2348691" cy="130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2"/>
              </a:lnSpc>
              <a:buNone/>
            </a:pPr>
            <a:r>
              <a:rPr lang="en-US" sz="664" i="1" dirty="0">
                <a:solidFill>
                  <a:srgbClr val="8F8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BEFORE — spatial attention (ViT / SwinIR)</a:t>
            </a:r>
            <a:endParaRPr lang="en-US" sz="664" dirty="0"/>
          </a:p>
        </p:txBody>
      </p:sp>
      <p:sp>
        <p:nvSpPr>
          <p:cNvPr id="9" name="Text 7"/>
          <p:cNvSpPr/>
          <p:nvPr/>
        </p:nvSpPr>
        <p:spPr>
          <a:xfrm>
            <a:off x="600075" y="2270820"/>
            <a:ext cx="3431572" cy="1074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62"/>
              </a:lnSpc>
              <a:buNone/>
            </a:pPr>
            <a:r>
              <a:rPr lang="en-US" sz="800" dirty="0">
                <a:solidFill>
                  <a:srgbClr val="A8B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 c h w -&gt; b head (h w) c'</a:t>
            </a:r>
            <a:pPr algn="l" indent="0" marL="0">
              <a:lnSpc>
                <a:spcPts val="1062"/>
              </a:lnSpc>
              <a:buNone/>
            </a:pPr>
            <a:r>
              <a:rPr lang="en-US" sz="800" dirty="0">
                <a:solidFill>
                  <a:srgbClr val="E9E2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→ q@kT is (HW × HW)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00075" y="2405658"/>
            <a:ext cx="3321844" cy="1755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62"/>
              </a:lnSpc>
              <a:buNone/>
            </a:pPr>
            <a:r>
              <a:rPr lang="en-US" sz="800" dirty="0">
                <a:solidFill>
                  <a:srgbClr val="E9E2D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256×256 → 65,536 × 65,536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00075" y="2689622"/>
            <a:ext cx="1383695" cy="1301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62"/>
              </a:lnSpc>
              <a:buNone/>
            </a:pPr>
            <a:r>
              <a:rPr lang="en-US" sz="664" i="1" dirty="0">
                <a:solidFill>
                  <a:srgbClr val="8F8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AFTER — Restormer MDTA</a:t>
            </a:r>
            <a:endParaRPr lang="en-US" sz="664" dirty="0"/>
          </a:p>
        </p:txBody>
      </p:sp>
      <p:sp>
        <p:nvSpPr>
          <p:cNvPr id="12" name="Text 10"/>
          <p:cNvSpPr/>
          <p:nvPr/>
        </p:nvSpPr>
        <p:spPr>
          <a:xfrm>
            <a:off x="600075" y="2810173"/>
            <a:ext cx="3431572" cy="1074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62"/>
              </a:lnSpc>
              <a:buNone/>
            </a:pPr>
            <a:r>
              <a:rPr lang="en-US" sz="800" dirty="0">
                <a:solidFill>
                  <a:srgbClr val="E9E2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 = rearrange(q, </a:t>
            </a:r>
            <a:pPr algn="l" indent="0" marL="0">
              <a:lnSpc>
                <a:spcPts val="1062"/>
              </a:lnSpc>
              <a:buNone/>
            </a:pPr>
            <a:r>
              <a:rPr lang="en-US" sz="800" dirty="0">
                <a:solidFill>
                  <a:srgbClr val="A8B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 (head c) h w -&gt; b head c (h w)',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00075" y="2945011"/>
            <a:ext cx="3431572" cy="1074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62"/>
              </a:lnSpc>
              <a:buNone/>
            </a:pPr>
            <a:r>
              <a:rPr lang="en-US" sz="800" dirty="0">
                <a:solidFill>
                  <a:srgbClr val="E9E2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head=self.num_heads) </a:t>
            </a:r>
            <a:pPr algn="l" indent="0" marL="0">
              <a:lnSpc>
                <a:spcPts val="1062"/>
              </a:lnSpc>
              <a:buNone/>
            </a:pPr>
            <a:r>
              <a:rPr lang="en-US" sz="800" dirty="0">
                <a:solidFill>
                  <a:srgbClr val="F0B7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← pixels on the LAST axis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00075" y="3079849"/>
            <a:ext cx="3431572" cy="1074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62"/>
              </a:lnSpc>
              <a:buNone/>
            </a:pPr>
            <a:r>
              <a:rPr lang="en-US" sz="800" dirty="0">
                <a:solidFill>
                  <a:srgbClr val="E9E2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 = rearrange(k, …); v = rearrange(v, …)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00075" y="3214688"/>
            <a:ext cx="3321844" cy="1074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62"/>
              </a:lnSpc>
              <a:buNone/>
            </a:pPr>
            <a:r>
              <a:rPr lang="en-US" sz="800" dirty="0">
                <a:solidFill>
                  <a:srgbClr val="E9E2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 = F.normalize(q, dim=-1); k = F.normalize(k, dim=-1)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00075" y="3349526"/>
            <a:ext cx="3321844" cy="1074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62"/>
              </a:lnSpc>
              <a:buNone/>
            </a:pPr>
            <a:r>
              <a:rPr lang="en-US" sz="800" dirty="0">
                <a:solidFill>
                  <a:srgbClr val="E9E2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attn = (q @ k.transpose(-2,-1)) * self.temperature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00075" y="3498652"/>
            <a:ext cx="2933291" cy="120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2"/>
              </a:lnSpc>
              <a:buNone/>
            </a:pPr>
            <a:r>
              <a:rPr lang="en-US" sz="664" i="1" dirty="0">
                <a:solidFill>
                  <a:srgbClr val="8F8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→ (C/head × C/head). At level 1: 48 × 48, any image size</a:t>
            </a:r>
            <a:endParaRPr lang="en-US" sz="664" dirty="0"/>
          </a:p>
        </p:txBody>
      </p:sp>
      <p:sp>
        <p:nvSpPr>
          <p:cNvPr id="18" name="Text 16"/>
          <p:cNvSpPr/>
          <p:nvPr/>
        </p:nvSpPr>
        <p:spPr>
          <a:xfrm>
            <a:off x="4282678" y="1855589"/>
            <a:ext cx="150019" cy="150019"/>
          </a:xfrm>
          <a:prstGeom prst="roundRect">
            <a:avLst>
              <a:gd name="adj" fmla="val 6342847"/>
            </a:avLst>
          </a:prstGeom>
          <a:noFill/>
          <a:ln w="7144">
            <a:solidFill>
              <a:srgbClr val="B3452C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279106" y="1852017"/>
            <a:ext cx="200025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521994" y="1844873"/>
            <a:ext cx="4164806" cy="5091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One einops pattern is the entire complexity claim.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Putting pixels on the last axis makes 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q @ k.transpose(-2,-1)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 C×C matrix — 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48×48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whether the image is 256² or 4000×3000. Cost becomes linear in pixels.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282678" y="2369939"/>
            <a:ext cx="150019" cy="150019"/>
          </a:xfrm>
          <a:prstGeom prst="roundRect">
            <a:avLst>
              <a:gd name="adj" fmla="val 6342847"/>
            </a:avLst>
          </a:prstGeom>
          <a:noFill/>
          <a:ln w="7144">
            <a:solidFill>
              <a:srgbClr val="B3452C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279106" y="2366367"/>
            <a:ext cx="200025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521994" y="2359223"/>
            <a:ext cx="416480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Is it really global? Honestly: not pairwise-pixel.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Every channel is computed from every pixel, so channel statistics carry image-wide information; the paper says global relationships are implicitly modelled and never claims otherwise.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282678" y="2871788"/>
            <a:ext cx="150019" cy="150019"/>
          </a:xfrm>
          <a:prstGeom prst="roundRect">
            <a:avLst>
              <a:gd name="adj" fmla="val 6342847"/>
            </a:avLst>
          </a:prstGeom>
          <a:noFill/>
          <a:ln w="7144">
            <a:solidFill>
              <a:srgbClr val="B3452C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279106" y="2868216"/>
            <a:ext cx="200025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521994" y="2861072"/>
            <a:ext cx="4164806" cy="3445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depth-wise convolutions are load-bearing, not decoration.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Removing 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qkv_dwconv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costs 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0.15 dB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on Urban100 σ=50 — more than most architecture papers gain in total. 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[Restormer22 Table 7]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282678" y="3252192"/>
            <a:ext cx="150019" cy="150019"/>
          </a:xfrm>
          <a:prstGeom prst="roundRect">
            <a:avLst>
              <a:gd name="adj" fmla="val 6342847"/>
            </a:avLst>
          </a:prstGeom>
          <a:noFill/>
          <a:ln w="7144">
            <a:solidFill>
              <a:srgbClr val="B3452C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279106" y="3248620"/>
            <a:ext cx="200025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521994" y="3241477"/>
            <a:ext cx="4164806" cy="681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SOTA: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the first method past 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40 dB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on both real-noise benchmarks — SIDD 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40.02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/ DND 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40.03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the only one to do so in its own comparison table 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[Restormer22 Table 6]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 Leads Urban100 at every noise level 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[Table 4]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; 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3.14×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fewer FLOPs and 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13×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faster than SwinIR. Published at CVPR 2022 — how long it held those tables is not something any source states.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57200" y="4577358"/>
            <a:ext cx="8229600" cy="0"/>
          </a:xfrm>
          <a:prstGeom prst="line">
            <a:avLst/>
          </a:prstGeom>
          <a:noFill/>
          <a:ln w="7144">
            <a:solidFill>
              <a:srgbClr val="DDD5C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573786"/>
            <a:ext cx="8229600" cy="248194"/>
          </a:xfrm>
          <a:prstGeom prst="rect">
            <a:avLst/>
          </a:prstGeom>
          <a:noFill/>
          <a:ln/>
        </p:spPr>
        <p:txBody>
          <a:bodyPr wrap="square" lIns="0" tIns="50006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8" kern="0" dirty="0">
                <a:solidFill>
                  <a:srgbClr val="9C856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measured — swz30/Restormer, verbatim</a:t>
            </a:r>
            <a:pPr algn="l" indent="0" marL="0">
              <a:lnSpc>
                <a:spcPts val="886"/>
              </a:lnSpc>
              <a:buNone/>
            </a:pPr>
            <a:r>
              <a:rPr lang="en-US" sz="800" spc="18" kern="0" dirty="0">
                <a:solidFill>
                  <a:srgbClr val="8A82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· Restormer22 §1, §3.1, Tables 4, 6, 7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169016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2007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814981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2014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460834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2017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106798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2022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752763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2025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258639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2904604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550457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6196422" y="4823817"/>
            <a:ext cx="42863" cy="42863"/>
          </a:xfrm>
          <a:prstGeom prst="ellipse">
            <a:avLst/>
          </a:prstGeom>
          <a:solidFill>
            <a:srgbClr val="B3452C"/>
          </a:solidFill>
          <a:ln w="7144">
            <a:solidFill>
              <a:srgbClr val="B3452C"/>
            </a:solidFill>
            <a:prstDash val="solid"/>
          </a:ln>
          <a:effectLst>
            <a:outerShdw sx="100000" sy="100000" kx="0" ky="0" algn="bl" rotWithShape="0" blurRad="101600" dist="50800" dir="16200000">
              <a:srgbClr val="B3452C">
                <a:alpha val="1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7842386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5738" y="114300"/>
            <a:ext cx="530602" cy="462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250" spc="-45" kern="0" dirty="0">
                <a:solidFill>
                  <a:srgbClr val="1C1917">
                    <a:alpha val="1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31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457200" y="371475"/>
            <a:ext cx="8636000" cy="161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B34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 </a:t>
            </a:r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9C8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B34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NAFNET </a:t>
            </a:r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9C8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2022 </a:t>
            </a:r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9C8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B34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BEFORE → AFTER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60784"/>
            <a:ext cx="8636000" cy="263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3"/>
              </a:lnSpc>
              <a:buNone/>
            </a:pPr>
            <a:r>
              <a:rPr lang="en-US" sz="1744" b="1" spc="-26" kern="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paper that asked whether any of it was necessary</a:t>
            </a:r>
            <a:endParaRPr lang="en-US" sz="1744" dirty="0"/>
          </a:p>
        </p:txBody>
      </p:sp>
      <p:sp>
        <p:nvSpPr>
          <p:cNvPr id="5" name="Text 3"/>
          <p:cNvSpPr/>
          <p:nvPr/>
        </p:nvSpPr>
        <p:spPr>
          <a:xfrm>
            <a:off x="457200" y="851669"/>
            <a:ext cx="7715250" cy="358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Chen et al., ECCV 2022. While everyone added mechanisms, NAFNet removed them and scored higher. Its derivation is the most elegant reasoning in the modern half of this story.</a:t>
            </a:r>
            <a:endParaRPr lang="en-US" sz="872" dirty="0"/>
          </a:p>
        </p:txBody>
      </p:sp>
      <p:sp>
        <p:nvSpPr>
          <p:cNvPr id="6" name="Text 4"/>
          <p:cNvSpPr/>
          <p:nvPr/>
        </p:nvSpPr>
        <p:spPr>
          <a:xfrm>
            <a:off x="1646634" y="1287438"/>
            <a:ext cx="5850731" cy="2501875"/>
          </a:xfrm>
          <a:prstGeom prst="roundRect">
            <a:avLst>
              <a:gd name="adj" fmla="val 3807"/>
            </a:avLst>
          </a:prstGeom>
          <a:solidFill>
            <a:srgbClr val="FFFFFF"/>
          </a:solidFill>
          <a:ln w="7144">
            <a:solidFill>
              <a:srgbClr val="DDD5C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" name="Image 0" descr="/tmp/h2p-fit-1789755856421-85qwy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7926" y="1362447"/>
            <a:ext cx="3048149" cy="220027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21644" y="3605585"/>
            <a:ext cx="5700713" cy="123006"/>
          </a:xfrm>
          <a:prstGeom prst="rect">
            <a:avLst/>
          </a:prstGeom>
          <a:noFill/>
          <a:ln/>
        </p:spPr>
        <p:txBody>
          <a:bodyPr wrap="square" lIns="28575" tIns="0" rIns="28575" bIns="14288" rtlCol="0" anchor="t"/>
          <a:lstStyle/>
          <a:p>
            <a:pPr algn="ctr" indent="0" marL="0">
              <a:lnSpc>
                <a:spcPts val="856"/>
              </a:lnSpc>
              <a:buNone/>
            </a:pPr>
            <a:r>
              <a:rPr lang="en-US" sz="600" dirty="0">
                <a:solidFill>
                  <a:srgbClr val="8A827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lineage NAFNet derives in one figure: the transformer block simplified step by step down to SimpleGate and SCA. [NAFNet22 · Fig. 3]</a:t>
            </a:r>
            <a:endParaRPr lang="en-US" sz="600" dirty="0"/>
          </a:p>
        </p:txBody>
      </p:sp>
      <p:sp>
        <p:nvSpPr>
          <p:cNvPr id="9" name="Text 6"/>
          <p:cNvSpPr/>
          <p:nvPr/>
        </p:nvSpPr>
        <p:spPr>
          <a:xfrm>
            <a:off x="457200" y="3892897"/>
            <a:ext cx="8229600" cy="464902"/>
          </a:xfrm>
          <a:prstGeom prst="roundRect">
            <a:avLst>
              <a:gd name="adj" fmla="val 20488"/>
            </a:avLst>
          </a:prstGeom>
          <a:solidFill>
            <a:srgbClr val="FAF5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457200" y="3896469"/>
            <a:ext cx="8229600" cy="0"/>
          </a:xfrm>
          <a:prstGeom prst="line">
            <a:avLst/>
          </a:prstGeom>
          <a:noFill/>
          <a:ln w="7144">
            <a:solidFill>
              <a:srgbClr val="DDD5C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683228" y="3892897"/>
            <a:ext cx="0" cy="464902"/>
          </a:xfrm>
          <a:prstGeom prst="line">
            <a:avLst/>
          </a:prstGeom>
          <a:noFill/>
          <a:ln w="7144">
            <a:solidFill>
              <a:srgbClr val="DDD5C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" y="4354227"/>
            <a:ext cx="8229600" cy="0"/>
          </a:xfrm>
          <a:prstGeom prst="line">
            <a:avLst/>
          </a:prstGeom>
          <a:noFill/>
          <a:ln w="7144">
            <a:solidFill>
              <a:srgbClr val="DDD5C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67916" y="3892897"/>
            <a:ext cx="0" cy="464902"/>
          </a:xfrm>
          <a:prstGeom prst="line">
            <a:avLst/>
          </a:prstGeom>
          <a:noFill/>
          <a:ln w="21431">
            <a:solidFill>
              <a:srgbClr val="B3452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7219" y="3978622"/>
            <a:ext cx="7943850" cy="293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method: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take a standard transformer restoration block and delete every component you cannot justify — the activation, the softmax, the sigmoid. Each deletion is argued from first principles, and each deletion improves the score. 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[NAFNet22 §4]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457200" y="4577358"/>
            <a:ext cx="8229600" cy="0"/>
          </a:xfrm>
          <a:prstGeom prst="line">
            <a:avLst/>
          </a:prstGeom>
          <a:noFill/>
          <a:ln w="7144">
            <a:solidFill>
              <a:srgbClr val="DDD5C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4573786"/>
            <a:ext cx="8229600" cy="248194"/>
          </a:xfrm>
          <a:prstGeom prst="rect">
            <a:avLst/>
          </a:prstGeom>
          <a:noFill/>
          <a:ln/>
        </p:spPr>
        <p:txBody>
          <a:bodyPr wrap="square" lIns="0" tIns="50006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8" kern="0" dirty="0">
                <a:solidFill>
                  <a:srgbClr val="8A82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measured — megvii-research/NAFNet, verbatim · NAFNet22 §4, §5, abstract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1169016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2007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2814981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2014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4460834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2017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6106798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2022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7752763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2025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1258639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2904604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4550457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6196422" y="4823817"/>
            <a:ext cx="42863" cy="42863"/>
          </a:xfrm>
          <a:prstGeom prst="ellipse">
            <a:avLst/>
          </a:prstGeom>
          <a:solidFill>
            <a:srgbClr val="B3452C"/>
          </a:solidFill>
          <a:ln w="7144">
            <a:solidFill>
              <a:srgbClr val="B3452C"/>
            </a:solidFill>
            <a:prstDash val="solid"/>
          </a:ln>
          <a:effectLst>
            <a:outerShdw sx="100000" sy="100000" kx="0" ky="0" algn="bl" rotWithShape="0" blurRad="101600" dist="50800" dir="16200000">
              <a:srgbClr val="B3452C">
                <a:alpha val="1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7842386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5738" y="114300"/>
            <a:ext cx="530602" cy="462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250" spc="-45" kern="0" dirty="0">
                <a:solidFill>
                  <a:srgbClr val="1C1917">
                    <a:alpha val="1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32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457200" y="371475"/>
            <a:ext cx="8636000" cy="161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B34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 </a:t>
            </a:r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9C8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B34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NAFNET </a:t>
            </a:r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9C8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2022 </a:t>
            </a:r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9C8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B34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BEFORE → AFTER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017493" y="640928"/>
            <a:ext cx="605879" cy="108496"/>
          </a:xfrm>
          <a:prstGeom prst="roundRect">
            <a:avLst>
              <a:gd name="adj" fmla="val 8770346"/>
            </a:avLst>
          </a:prstGeom>
          <a:solidFill>
            <a:srgbClr val="9C856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560784"/>
            <a:ext cx="8636000" cy="26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3"/>
              </a:lnSpc>
              <a:buNone/>
            </a:pPr>
            <a:r>
              <a:rPr lang="en-US" sz="1744" b="1" spc="-26" kern="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paper that asked whether any of it was necessary</a:t>
            </a:r>
            <a:pPr algn="l" indent="0" marL="0">
              <a:lnSpc>
                <a:spcPts val="1953"/>
              </a:lnSpc>
              <a:buNone/>
            </a:pPr>
            <a:r>
              <a:rPr lang="en-US" sz="800" b="1" spc="68" kern="0" dirty="0">
                <a:solidFill>
                  <a:srgbClr val="F5F1E8"/>
                </a:solidFill>
                <a:highlight>
                  <a:srgbClr val="9C8565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CONTINUED</a:t>
            </a:r>
            <a:endParaRPr lang="en-US" sz="1744" dirty="0"/>
          </a:p>
        </p:txBody>
      </p:sp>
      <p:sp>
        <p:nvSpPr>
          <p:cNvPr id="6" name="Text 4"/>
          <p:cNvSpPr/>
          <p:nvPr/>
        </p:nvSpPr>
        <p:spPr>
          <a:xfrm>
            <a:off x="457200" y="865956"/>
            <a:ext cx="4000500" cy="2032397"/>
          </a:xfrm>
          <a:prstGeom prst="roundRect">
            <a:avLst>
              <a:gd name="adj" fmla="val 4687"/>
            </a:avLst>
          </a:prstGeom>
          <a:solidFill>
            <a:srgbClr val="29241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85788" y="980256"/>
            <a:ext cx="3853053" cy="158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800" spc="68" kern="0" dirty="0">
                <a:solidFill>
                  <a:srgbClr val="8F8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NAFNet/basicsr/…/NAFNet_arch.py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85788" y="1180281"/>
            <a:ext cx="1614396" cy="1301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62"/>
              </a:lnSpc>
              <a:buNone/>
            </a:pPr>
            <a:r>
              <a:rPr lang="en-US" sz="800" i="1" dirty="0">
                <a:solidFill>
                  <a:srgbClr val="8F8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BEFORE — GELU, then a gate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85788" y="1300832"/>
            <a:ext cx="3743325" cy="1074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62"/>
              </a:lnSpc>
              <a:buNone/>
            </a:pPr>
            <a:r>
              <a:rPr lang="en-US" sz="800" dirty="0">
                <a:solidFill>
                  <a:srgbClr val="E9E2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GELU(x) = 0.5x(1+tanh[sqrt(2/pi)(x+0.044715x³)])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85788" y="1435671"/>
            <a:ext cx="3853053" cy="175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2"/>
              </a:lnSpc>
              <a:buNone/>
            </a:pPr>
            <a:r>
              <a:rPr lang="en-US" sz="800" dirty="0">
                <a:solidFill>
                  <a:srgbClr val="E9E2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CA(X) = X · sigmoid(W2 relu(W1 pool(X)))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85788" y="1719635"/>
            <a:ext cx="2730957" cy="130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2"/>
              </a:lnSpc>
              <a:buNone/>
            </a:pPr>
            <a:r>
              <a:rPr lang="en-US" sz="664" i="1" dirty="0">
                <a:solidFill>
                  <a:srgbClr val="8F8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AFTER — SimpleGate: the gate IS the nonlinearity</a:t>
            </a:r>
            <a:endParaRPr lang="en-US" sz="664" dirty="0"/>
          </a:p>
        </p:txBody>
      </p:sp>
      <p:sp>
        <p:nvSpPr>
          <p:cNvPr id="12" name="Text 10"/>
          <p:cNvSpPr/>
          <p:nvPr/>
        </p:nvSpPr>
        <p:spPr>
          <a:xfrm>
            <a:off x="585788" y="1840185"/>
            <a:ext cx="3743325" cy="1074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62"/>
              </a:lnSpc>
              <a:buNone/>
            </a:pPr>
            <a:r>
              <a:rPr lang="en-US" sz="800" dirty="0">
                <a:solidFill>
                  <a:srgbClr val="E8A8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algn="l" indent="0" marL="0">
              <a:lnSpc>
                <a:spcPts val="1062"/>
              </a:lnSpc>
              <a:buNone/>
            </a:pPr>
            <a:r>
              <a:rPr lang="en-US" sz="800" dirty="0">
                <a:solidFill>
                  <a:srgbClr val="E9E2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forward(self, x):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85788" y="1975024"/>
            <a:ext cx="3743325" cy="1074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62"/>
              </a:lnSpc>
              <a:buNone/>
            </a:pPr>
            <a:r>
              <a:rPr lang="en-US" sz="800" dirty="0">
                <a:solidFill>
                  <a:srgbClr val="E9E2D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x1, x2 = x.chunk(2, dim=1)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85788" y="2109862"/>
            <a:ext cx="3853053" cy="175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2"/>
              </a:lnSpc>
              <a:buNone/>
            </a:pPr>
            <a:r>
              <a:rPr lang="en-US" sz="800" dirty="0">
                <a:solidFill>
                  <a:srgbClr val="E8A8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ts val="1062"/>
              </a:lnSpc>
              <a:buNone/>
            </a:pPr>
            <a:r>
              <a:rPr lang="en-US" sz="800" dirty="0">
                <a:solidFill>
                  <a:srgbClr val="E9E2D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x1 * x2 </a:t>
            </a:r>
            <a:pPr algn="l" indent="0" marL="0">
              <a:lnSpc>
                <a:spcPts val="1062"/>
              </a:lnSpc>
              <a:buNone/>
            </a:pPr>
            <a:r>
              <a:rPr lang="en-US" sz="800" dirty="0">
                <a:solidFill>
                  <a:srgbClr val="F0B7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← replaces GELU entirely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85788" y="2393826"/>
            <a:ext cx="1857085" cy="130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2"/>
              </a:lnSpc>
              <a:buNone/>
            </a:pPr>
            <a:r>
              <a:rPr lang="en-US" sz="664" i="1" dirty="0">
                <a:solidFill>
                  <a:srgbClr val="8F8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AFTER — SCA: no sigmoid, no relu</a:t>
            </a:r>
            <a:endParaRPr lang="en-US" sz="664" dirty="0"/>
          </a:p>
        </p:txBody>
      </p:sp>
      <p:sp>
        <p:nvSpPr>
          <p:cNvPr id="16" name="Text 14"/>
          <p:cNvSpPr/>
          <p:nvPr/>
        </p:nvSpPr>
        <p:spPr>
          <a:xfrm>
            <a:off x="585788" y="2514377"/>
            <a:ext cx="3743325" cy="1074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62"/>
              </a:lnSpc>
              <a:buNone/>
            </a:pPr>
            <a:r>
              <a:rPr lang="en-US" sz="800" dirty="0">
                <a:solidFill>
                  <a:srgbClr val="E9E2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self.sca = nn.Sequential(nn.AdaptiveAvgPool2d(1),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85788" y="2649215"/>
            <a:ext cx="3743325" cy="134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62"/>
              </a:lnSpc>
              <a:buNone/>
            </a:pPr>
            <a:r>
              <a:rPr lang="en-US" sz="800" dirty="0">
                <a:solidFill>
                  <a:srgbClr val="E9E2D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nn.Conv2d(c, c, 1))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618434" y="876672"/>
            <a:ext cx="150019" cy="150019"/>
          </a:xfrm>
          <a:prstGeom prst="roundRect">
            <a:avLst>
              <a:gd name="adj" fmla="val 6342847"/>
            </a:avLst>
          </a:prstGeom>
          <a:noFill/>
          <a:ln w="7144">
            <a:solidFill>
              <a:srgbClr val="B3452C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614863" y="873100"/>
            <a:ext cx="200025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857750" y="865956"/>
            <a:ext cx="3829050" cy="50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derivation.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GELU is a special case of a gated linear unit. But a GLU itself contains nonlinearity: f(X)⊙g(X) is nonlinear because a product of two linear maps is not linear. So delete the activation — the gate already supplies it.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618434" y="1415467"/>
            <a:ext cx="150019" cy="150019"/>
          </a:xfrm>
          <a:prstGeom prst="roundRect">
            <a:avLst>
              <a:gd name="adj" fmla="val 6342847"/>
            </a:avLst>
          </a:prstGeom>
          <a:noFill/>
          <a:ln w="7144">
            <a:solidFill>
              <a:srgbClr val="B3452C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614863" y="1411895"/>
            <a:ext cx="200025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857750" y="1404751"/>
            <a:ext cx="3829050" cy="686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Apply the same argument to channel attention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and both its nonlinearities vanish too. Result: no Sigmoid, no ReLU, no GELU, no Softmax anywhere — the first work demonstrating that nonlinear activation functions may not be necessary for SOTA computer vision methods. 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[NAFNet22 abstract]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618434" y="2103834"/>
            <a:ext cx="150019" cy="150019"/>
          </a:xfrm>
          <a:prstGeom prst="roundRect">
            <a:avLst>
              <a:gd name="adj" fmla="val 6342847"/>
            </a:avLst>
          </a:prstGeom>
          <a:noFill/>
          <a:ln w="7144">
            <a:solidFill>
              <a:srgbClr val="B3452C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614863" y="2100263"/>
            <a:ext cx="200025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857750" y="2093119"/>
            <a:ext cx="3829050" cy="353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Both simplifications improved the score.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SimpleGate beats GELU (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+0.08 dB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), SCA beats CA (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+0.03 dB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) on SIDD. 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[NAFNet22 §4]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618434" y="2510135"/>
            <a:ext cx="150019" cy="150019"/>
          </a:xfrm>
          <a:prstGeom prst="roundRect">
            <a:avLst>
              <a:gd name="adj" fmla="val 6342847"/>
            </a:avLst>
          </a:prstGeom>
          <a:noFill/>
          <a:ln w="7144">
            <a:solidFill>
              <a:srgbClr val="B3452C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614863" y="2506563"/>
            <a:ext cx="200025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857750" y="2499420"/>
            <a:ext cx="3829050" cy="6934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uncomfortable finding in their own ablation: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the largest single gain is LayerNorm, 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+0.44 dB (39.29 → 39.73)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because it stabilises training at a 10× larger learning rate. A large share of reported architectural progress in restoration is optimisation progress wearing a costume. 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[NAFNet22 §4]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57200" y="3229198"/>
            <a:ext cx="8229600" cy="498946"/>
          </a:xfrm>
          <a:prstGeom prst="roundRect">
            <a:avLst>
              <a:gd name="adj" fmla="val 19090"/>
            </a:avLst>
          </a:prstGeom>
          <a:solidFill>
            <a:srgbClr val="FAF5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457200" y="3232770"/>
            <a:ext cx="8229600" cy="0"/>
          </a:xfrm>
          <a:prstGeom prst="line">
            <a:avLst/>
          </a:prstGeom>
          <a:noFill/>
          <a:ln w="7144">
            <a:solidFill>
              <a:srgbClr val="DDD5C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683228" y="3229198"/>
            <a:ext cx="0" cy="498946"/>
          </a:xfrm>
          <a:prstGeom prst="line">
            <a:avLst/>
          </a:prstGeom>
          <a:noFill/>
          <a:ln w="7144">
            <a:solidFill>
              <a:srgbClr val="DDD5C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3724573"/>
            <a:ext cx="8229600" cy="0"/>
          </a:xfrm>
          <a:prstGeom prst="line">
            <a:avLst/>
          </a:prstGeom>
          <a:noFill/>
          <a:ln w="7144">
            <a:solidFill>
              <a:srgbClr val="DDD5C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7916" y="3229198"/>
            <a:ext cx="0" cy="498946"/>
          </a:xfrm>
          <a:prstGeom prst="line">
            <a:avLst/>
          </a:prstGeom>
          <a:noFill/>
          <a:ln w="21431">
            <a:solidFill>
              <a:srgbClr val="B3452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7219" y="3329211"/>
            <a:ext cx="7943850" cy="298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7"/>
              </a:lnSpc>
              <a:buNone/>
            </a:pPr>
            <a:r>
              <a:rPr lang="en-US" sz="800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SOTA:</a:t>
            </a:r>
            <a:pPr algn="l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40.30 dB</a:t>
            </a:r>
            <a:pPr algn="l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on SIDD — the highest real-noise result in our comparison, </a:t>
            </a:r>
            <a:pPr algn="l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+0.28 dB</a:t>
            </a:r>
            <a:pPr algn="l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over Restormer </a:t>
            </a:r>
            <a:pPr algn="l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40.02</a:t>
            </a:r>
            <a:pPr algn="l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at less than half the previous best compute. Published at ECCV 2022. And by far the simplest code to maintain. </a:t>
            </a:r>
            <a:pPr algn="l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[NAFNet22 abstract]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57200" y="4577358"/>
            <a:ext cx="8229600" cy="0"/>
          </a:xfrm>
          <a:prstGeom prst="line">
            <a:avLst/>
          </a:prstGeom>
          <a:noFill/>
          <a:ln w="7144">
            <a:solidFill>
              <a:srgbClr val="DDD5C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573786"/>
            <a:ext cx="8229600" cy="248194"/>
          </a:xfrm>
          <a:prstGeom prst="rect">
            <a:avLst/>
          </a:prstGeom>
          <a:noFill/>
          <a:ln/>
        </p:spPr>
        <p:txBody>
          <a:bodyPr wrap="square" lIns="0" tIns="50006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8" kern="0" dirty="0">
                <a:solidFill>
                  <a:srgbClr val="8A82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measured — megvii-research/NAFNet, verbatim · NAFNet22 §4, §5, abstract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169016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2007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2814981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2014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460834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2017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106798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2022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752763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2025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1258639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2904604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4550457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6196422" y="4823817"/>
            <a:ext cx="42863" cy="42863"/>
          </a:xfrm>
          <a:prstGeom prst="ellipse">
            <a:avLst/>
          </a:prstGeom>
          <a:solidFill>
            <a:srgbClr val="B3452C"/>
          </a:solidFill>
          <a:ln w="7144">
            <a:solidFill>
              <a:srgbClr val="B3452C"/>
            </a:solidFill>
            <a:prstDash val="solid"/>
          </a:ln>
          <a:effectLst>
            <a:outerShdw sx="100000" sy="100000" kx="0" ky="0" algn="bl" rotWithShape="0" blurRad="101600" dist="50800" dir="16200000">
              <a:srgbClr val="B3452C">
                <a:alpha val="1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7842386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5738" y="114300"/>
            <a:ext cx="530602" cy="462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250" spc="-45" kern="0" dirty="0">
                <a:solidFill>
                  <a:srgbClr val="1C1917">
                    <a:alpha val="1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33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457200" y="371475"/>
            <a:ext cx="8636000" cy="161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B34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 </a:t>
            </a:r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9C8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B34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SCUNET </a:t>
            </a:r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9C8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2023 </a:t>
            </a:r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9C8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B34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MAMBAIR </a:t>
            </a:r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9C8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2024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60784"/>
            <a:ext cx="8636000" cy="263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3"/>
              </a:lnSpc>
              <a:buNone/>
            </a:pPr>
            <a:r>
              <a:rPr lang="en-US" sz="1744" b="1" spc="-26" kern="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Two more answers — one architectural, one not about architecture at all</a:t>
            </a:r>
            <a:endParaRPr lang="en-US" sz="1744" dirty="0"/>
          </a:p>
        </p:txBody>
      </p:sp>
      <p:sp>
        <p:nvSpPr>
          <p:cNvPr id="5" name="Text 3"/>
          <p:cNvSpPr/>
          <p:nvPr/>
        </p:nvSpPr>
        <p:spPr>
          <a:xfrm>
            <a:off x="457200" y="851669"/>
            <a:ext cx="7715250" cy="179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branch does not end with Transformers. MambaIR proposes a different operator again; SCUNet argues the operator was never the problem.</a:t>
            </a:r>
            <a:endParaRPr lang="en-US" sz="872" dirty="0"/>
          </a:p>
        </p:txBody>
      </p:sp>
      <p:sp>
        <p:nvSpPr>
          <p:cNvPr id="6" name="Text 4"/>
          <p:cNvSpPr/>
          <p:nvPr/>
        </p:nvSpPr>
        <p:spPr>
          <a:xfrm>
            <a:off x="460772" y="1107058"/>
            <a:ext cx="8222456" cy="1558900"/>
          </a:xfrm>
          <a:prstGeom prst="roundRect">
            <a:avLst>
              <a:gd name="adj" fmla="val 6110"/>
            </a:avLst>
          </a:prstGeom>
          <a:solidFill>
            <a:srgbClr val="FFFFFF"/>
          </a:solidFill>
          <a:ln w="7144">
            <a:solidFill>
              <a:srgbClr val="DDD5C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" name="Image 0" descr="/tmp/h2p-fit-1789755861940-z0fd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5781" y="1182067"/>
            <a:ext cx="8072438" cy="12573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35781" y="2482230"/>
            <a:ext cx="8072438" cy="123006"/>
          </a:xfrm>
          <a:prstGeom prst="rect">
            <a:avLst/>
          </a:prstGeom>
          <a:noFill/>
          <a:ln/>
        </p:spPr>
        <p:txBody>
          <a:bodyPr wrap="square" lIns="28575" tIns="0" rIns="28575" bIns="14288" rtlCol="0" anchor="t"/>
          <a:lstStyle/>
          <a:p>
            <a:pPr algn="ctr" indent="0" marL="0">
              <a:lnSpc>
                <a:spcPts val="856"/>
              </a:lnSpc>
              <a:buNone/>
            </a:pPr>
            <a:r>
              <a:rPr lang="en-US" sz="600" dirty="0">
                <a:solidFill>
                  <a:srgbClr val="8A827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Swin-Conv-UNet pipeline: swin-conv blocks combine local and non-local modelling on the way down and back up a UNet backbone. [SCUNet23 · Fig. 1]</a:t>
            </a:r>
            <a:endParaRPr lang="en-US" sz="600" dirty="0"/>
          </a:p>
        </p:txBody>
      </p:sp>
      <p:sp>
        <p:nvSpPr>
          <p:cNvPr id="9" name="Text 6"/>
          <p:cNvSpPr/>
          <p:nvPr/>
        </p:nvSpPr>
        <p:spPr>
          <a:xfrm>
            <a:off x="460772" y="2801689"/>
            <a:ext cx="4050506" cy="1045220"/>
          </a:xfrm>
          <a:prstGeom prst="roundRect">
            <a:avLst>
              <a:gd name="adj" fmla="val 9113"/>
            </a:avLst>
          </a:prstGeom>
          <a:solidFill>
            <a:srgbClr val="FFFDF7"/>
          </a:solidFill>
          <a:ln w="7144">
            <a:solidFill>
              <a:srgbClr val="DDD5C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592931" y="2919561"/>
            <a:ext cx="3786188" cy="1350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77" kern="0" dirty="0">
                <a:solidFill>
                  <a:srgbClr val="9C856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MAMBAIR (2024)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92931" y="3082082"/>
            <a:ext cx="3786188" cy="3317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claim —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Attention is quadratic; windowing surrenders globality. Borrow a selective state-space model — 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C86F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global receptive field at linear cost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92931" y="3441278"/>
            <a:ext cx="3786188" cy="287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Technical change —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S6 recurrence with input-dependent B, C, Δ. Dual form: recurrent (unbounded memory) for reach, convolutional for parallel training.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4632722" y="2801689"/>
            <a:ext cx="4050506" cy="1045220"/>
          </a:xfrm>
          <a:prstGeom prst="roundRect">
            <a:avLst>
              <a:gd name="adj" fmla="val 9113"/>
            </a:avLst>
          </a:prstGeom>
          <a:solidFill>
            <a:srgbClr val="FFFDF7"/>
          </a:solidFill>
          <a:ln w="7144">
            <a:solidFill>
              <a:srgbClr val="DDD5C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4764881" y="2919561"/>
            <a:ext cx="3786188" cy="1350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77" kern="0" dirty="0">
                <a:solidFill>
                  <a:srgbClr val="9C856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SCUNET (2023)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764881" y="3082082"/>
            <a:ext cx="3786188" cy="3317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claim —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The benchmark is the problem. A model trained on AWGN performs poorly for most of real images due to 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C86F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noise assumption mismatch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4764881" y="3441278"/>
            <a:ext cx="3786188" cy="287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Technical change —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Keep local and non-local priors in parallel: split the feature map, half to a Swin block, half to a residual conv block.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457200" y="4577358"/>
            <a:ext cx="8229600" cy="0"/>
          </a:xfrm>
          <a:prstGeom prst="line">
            <a:avLst/>
          </a:prstGeom>
          <a:noFill/>
          <a:ln w="7144">
            <a:solidFill>
              <a:srgbClr val="DDD5C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7200" y="4573786"/>
            <a:ext cx="8229600" cy="248194"/>
          </a:xfrm>
          <a:prstGeom prst="rect">
            <a:avLst/>
          </a:prstGeom>
          <a:noFill/>
          <a:ln/>
        </p:spPr>
        <p:txBody>
          <a:bodyPr wrap="square" lIns="0" tIns="50006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8" kern="0" dirty="0">
                <a:solidFill>
                  <a:srgbClr val="8A82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MambaIR24 §3.1, §3.2, Tables 1, 2, 6 · SCUNet23 abstract, §1, §3.1, §3.2 · measured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169016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2007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2814981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2014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4460834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2017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6106798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2022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7752763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2025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1258639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2904604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4550457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6196422" y="4823817"/>
            <a:ext cx="42863" cy="42863"/>
          </a:xfrm>
          <a:prstGeom prst="ellipse">
            <a:avLst/>
          </a:prstGeom>
          <a:solidFill>
            <a:srgbClr val="B3452C"/>
          </a:solidFill>
          <a:ln w="7144">
            <a:solidFill>
              <a:srgbClr val="B3452C"/>
            </a:solidFill>
            <a:prstDash val="solid"/>
          </a:ln>
          <a:effectLst>
            <a:outerShdw sx="100000" sy="100000" kx="0" ky="0" algn="bl" rotWithShape="0" blurRad="101600" dist="50800" dir="16200000">
              <a:srgbClr val="B3452C">
                <a:alpha val="1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7842386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5738" y="114300"/>
            <a:ext cx="530602" cy="462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250" spc="-45" kern="0" dirty="0">
                <a:solidFill>
                  <a:srgbClr val="1C1917">
                    <a:alpha val="1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34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457200" y="371475"/>
            <a:ext cx="8636000" cy="161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B34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 </a:t>
            </a:r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9C8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B34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SCUNET </a:t>
            </a:r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9C8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2023 </a:t>
            </a:r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9C8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B34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MAMBAIR </a:t>
            </a:r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9C8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2024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881454" y="640928"/>
            <a:ext cx="605879" cy="108496"/>
          </a:xfrm>
          <a:prstGeom prst="roundRect">
            <a:avLst>
              <a:gd name="adj" fmla="val 8770346"/>
            </a:avLst>
          </a:prstGeom>
          <a:solidFill>
            <a:srgbClr val="9C856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560784"/>
            <a:ext cx="8636000" cy="26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3"/>
              </a:lnSpc>
              <a:buNone/>
            </a:pPr>
            <a:r>
              <a:rPr lang="en-US" sz="1744" b="1" spc="-26" kern="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Two more answers — one architectural, one not about architecture at all</a:t>
            </a:r>
            <a:pPr algn="l" indent="0" marL="0">
              <a:lnSpc>
                <a:spcPts val="1953"/>
              </a:lnSpc>
              <a:buNone/>
            </a:pPr>
            <a:r>
              <a:rPr lang="en-US" sz="800" b="1" spc="68" kern="0" dirty="0">
                <a:solidFill>
                  <a:srgbClr val="F5F1E8"/>
                </a:solidFill>
                <a:highlight>
                  <a:srgbClr val="9C8565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CONTINUED</a:t>
            </a:r>
            <a:endParaRPr lang="en-US" sz="1744" dirty="0"/>
          </a:p>
        </p:txBody>
      </p:sp>
      <p:sp>
        <p:nvSpPr>
          <p:cNvPr id="6" name="Text 4"/>
          <p:cNvSpPr/>
          <p:nvPr/>
        </p:nvSpPr>
        <p:spPr>
          <a:xfrm>
            <a:off x="460772" y="898103"/>
            <a:ext cx="4050506" cy="3221831"/>
          </a:xfrm>
          <a:prstGeom prst="roundRect">
            <a:avLst>
              <a:gd name="adj" fmla="val 2956"/>
            </a:avLst>
          </a:prstGeom>
          <a:solidFill>
            <a:srgbClr val="FFFDF7"/>
          </a:solidFill>
          <a:ln w="7144">
            <a:solidFill>
              <a:srgbClr val="DDD5C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7219" y="1015975"/>
            <a:ext cx="3757613" cy="99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77" kern="0" dirty="0">
                <a:solidFill>
                  <a:srgbClr val="9C856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MAMBAIR (2024)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07219" y="1975135"/>
            <a:ext cx="3757613" cy="0"/>
          </a:xfrm>
          <a:prstGeom prst="line">
            <a:avLst/>
          </a:prstGeom>
          <a:noFill/>
          <a:ln w="7144">
            <a:solidFill>
              <a:srgbClr val="DDD5C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7219" y="1413235"/>
            <a:ext cx="3757613" cy="339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Implementation change —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Flatten the image to a sequence; four-directional scan; add a local conv (fixes local pixel forgetting) and channel attention (fixes redundancy).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07219" y="2935412"/>
            <a:ext cx="3757613" cy="0"/>
          </a:xfrm>
          <a:prstGeom prst="line">
            <a:avLst/>
          </a:prstGeom>
          <a:noFill/>
          <a:ln w="7144">
            <a:solidFill>
              <a:srgbClr val="DDD5C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7219" y="2233761"/>
            <a:ext cx="3757613" cy="523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SOTA / where —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Best DND result, 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40.04 dB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by 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0.01 dB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over Restormer 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40.03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[MambaIR24 Table 6]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 Leads super-resolution on Manga109 ×2 by 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0.41 dB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over SwinIR.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07219" y="3259001"/>
            <a:ext cx="3757613" cy="5167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Cost / limitation —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Will not import without compiled CUDA extensions. Its own changelog records that published thop complexity figures were wrong; the denoising model parameter count is not reported in the paper. 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[measured]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632722" y="898103"/>
            <a:ext cx="4050506" cy="3221831"/>
          </a:xfrm>
          <a:prstGeom prst="roundRect">
            <a:avLst>
              <a:gd name="adj" fmla="val 2956"/>
            </a:avLst>
          </a:prstGeom>
          <a:solidFill>
            <a:srgbClr val="FFFDF7"/>
          </a:solidFill>
          <a:ln w="7144">
            <a:solidFill>
              <a:srgbClr val="DDD5C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779169" y="1015975"/>
            <a:ext cx="3757613" cy="99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77" kern="0" dirty="0">
                <a:solidFill>
                  <a:srgbClr val="9C856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SCUNET (2023)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779169" y="1975135"/>
            <a:ext cx="3757613" cy="0"/>
          </a:xfrm>
          <a:prstGeom prst="line">
            <a:avLst/>
          </a:prstGeom>
          <a:noFill/>
          <a:ln w="7144">
            <a:solidFill>
              <a:srgbClr val="DDD5C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79169" y="1341351"/>
            <a:ext cx="3757613" cy="50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Implementation change —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The dataloader becomes the contribution: Gaussian, Poisson, speckle, JPEG and sensor noise synthesised through a real inverted ISP, plus resizing and double degradation.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779169" y="3183992"/>
            <a:ext cx="3757613" cy="0"/>
          </a:xfrm>
          <a:prstGeom prst="line">
            <a:avLst/>
          </a:prstGeom>
          <a:noFill/>
          <a:ln w="7144">
            <a:solidFill>
              <a:srgbClr val="DDD5C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79169" y="2214116"/>
            <a:ext cx="3757613" cy="8634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SOTA / where —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Trained purely on synthetic mixed degradation (no SIDD/DND pairs). Among blind models on standard colour denoising it edges Restormer where non-locality matters: Urban100 σ=50 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30.14 vs 30.02, CBSD68 σ=50 28.61 vs 28.60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[SCUNet23 comparison table]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 Not top of any AWGN leaderboard — and it does not need to be.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779169" y="3383235"/>
            <a:ext cx="3757613" cy="5167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Cost / limitation —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9.66 M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parameters, smallest of the four, built to survive real photographs. Its abstract still concedes a general-purpose blind real denoiser remains unsolved.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57200" y="4577358"/>
            <a:ext cx="8229600" cy="0"/>
          </a:xfrm>
          <a:prstGeom prst="line">
            <a:avLst/>
          </a:prstGeom>
          <a:noFill/>
          <a:ln w="7144">
            <a:solidFill>
              <a:srgbClr val="DDD5C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573786"/>
            <a:ext cx="8229600" cy="248194"/>
          </a:xfrm>
          <a:prstGeom prst="rect">
            <a:avLst/>
          </a:prstGeom>
          <a:noFill/>
          <a:ln/>
        </p:spPr>
        <p:txBody>
          <a:bodyPr wrap="square" lIns="0" tIns="50006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8" kern="0" dirty="0">
                <a:solidFill>
                  <a:srgbClr val="8A82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MambaIR24 §3.1, §3.2, Tables 1, 2, 6 · SCUNet23 abstract, §1, §3.1, §3.2, blind comparison table · measured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169016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2007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814981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2014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460834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2017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106798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2022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752763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2025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258639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2904604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550457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196422" y="4823817"/>
            <a:ext cx="42863" cy="42863"/>
          </a:xfrm>
          <a:prstGeom prst="ellipse">
            <a:avLst/>
          </a:prstGeom>
          <a:solidFill>
            <a:srgbClr val="B3452C"/>
          </a:solidFill>
          <a:ln w="7144">
            <a:solidFill>
              <a:srgbClr val="B3452C"/>
            </a:solidFill>
            <a:prstDash val="solid"/>
          </a:ln>
          <a:effectLst>
            <a:outerShdw sx="100000" sy="100000" kx="0" ky="0" algn="bl" rotWithShape="0" blurRad="101600" dist="50800" dir="16200000">
              <a:srgbClr val="B3452C">
                <a:alpha val="1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7842386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5738" y="114300"/>
            <a:ext cx="530602" cy="462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250" spc="-45" kern="0" dirty="0">
                <a:solidFill>
                  <a:srgbClr val="1C1917">
                    <a:alpha val="1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35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457200" y="371475"/>
            <a:ext cx="8636000" cy="161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B34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PRACTICAL DEEP-DIVE </a:t>
            </a:r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9C8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B34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FROM CHECKPOINT TO OUTPUT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60784"/>
            <a:ext cx="8636000" cy="263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3"/>
              </a:lnSpc>
              <a:buNone/>
            </a:pPr>
            <a:r>
              <a:rPr lang="en-US" sz="1744" b="1" spc="-26" kern="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prior is a file — the whole pipeline in practice</a:t>
            </a:r>
            <a:endParaRPr lang="en-US" sz="1744" dirty="0"/>
          </a:p>
        </p:txBody>
      </p:sp>
      <p:sp>
        <p:nvSpPr>
          <p:cNvPr id="5" name="Text 3"/>
          <p:cNvSpPr/>
          <p:nvPr/>
        </p:nvSpPr>
        <p:spPr>
          <a:xfrm>
            <a:off x="457200" y="851669"/>
            <a:ext cx="7715250" cy="179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the brief calls the practical half: the data pipeline, the loss functions that create the file, and the three lines that load it back.</a:t>
            </a:r>
            <a:endParaRPr lang="en-US" sz="872" dirty="0"/>
          </a:p>
        </p:txBody>
      </p:sp>
      <p:sp>
        <p:nvSpPr>
          <p:cNvPr id="6" name="Text 4"/>
          <p:cNvSpPr/>
          <p:nvPr/>
        </p:nvSpPr>
        <p:spPr>
          <a:xfrm>
            <a:off x="460772" y="1121346"/>
            <a:ext cx="4279106" cy="2071129"/>
          </a:xfrm>
          <a:prstGeom prst="roundRect">
            <a:avLst>
              <a:gd name="adj" fmla="val 4599"/>
            </a:avLst>
          </a:prstGeom>
          <a:solidFill>
            <a:srgbClr val="FFFDF7"/>
          </a:solidFill>
          <a:ln w="7144">
            <a:solidFill>
              <a:srgbClr val="DDD5C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78644" y="1224930"/>
            <a:ext cx="4153091" cy="135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77" kern="0" dirty="0">
                <a:solidFill>
                  <a:srgbClr val="9C8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LOSS THAT CREATES THE FILE — one row per era</a:t>
            </a:r>
            <a:endParaRPr lang="en-US" sz="8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8644" y="1387450"/>
          <a:ext cx="4043363" cy="914400"/>
        </p:xfrm>
        <a:graphic>
          <a:graphicData uri="http://schemas.openxmlformats.org/drawingml/2006/table">
            <a:tbl>
              <a:tblPr/>
              <a:tblGrid>
                <a:gridCol w="1200150"/>
                <a:gridCol w="1628775"/>
                <a:gridCol w="1214438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7534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ERA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28575" marR="64294" marT="64294" marB="35719" anchor="ctr">
                    <a:lnL w="6350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7534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DATA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28575" marR="64294" marT="64294" marB="35719" anchor="ctr">
                    <a:lnL w="6350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7534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LOSS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28575" marR="64294" marT="64294" marB="35719" anchor="ctr">
                    <a:lnL w="6350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C191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Supervised — DnCNN, Restormer, NAFNet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64294" marT="64294" marB="42863" anchor="t">
                    <a:lnL w="6350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753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pairs (y, x): synthetic AWGN or real SIDD pairs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64294" marT="64294" marB="42863" anchor="t">
                    <a:lnL w="6350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753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‖R(y) − (y−x)‖² or L1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64294" marT="64294" marB="42863" anchor="t">
                    <a:lnL w="6350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C191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Noise2Noise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64294" marT="64294" marB="42863" anchor="t">
                    <a:lnL w="6350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A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753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pairs (y1, y2): two noisy shots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64294" marT="64294" marB="42863" anchor="t">
                    <a:lnL w="6350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A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753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same MSE — targets swapped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64294" marT="64294" marB="42863" anchor="t">
                    <a:lnL w="6350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A">
                        <a:alpha val="5500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C191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Noise2Void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64294" marT="64294" marB="42863" anchor="t">
                    <a:lnL w="6350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753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single noisy y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64294" marT="64294" marB="42863" anchor="t">
                    <a:lnL w="6350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753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MSE scored only at masked centre pixels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64294" marT="64294" marB="42863" anchor="t">
                    <a:lnL w="6350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C191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ZS-N2N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64294" marT="64294" marB="42863" anchor="t">
                    <a:lnL w="6350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A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753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one image → two downsampled views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64294" marT="64294" marB="42863" anchor="t">
                    <a:lnL w="6350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A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753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residual + consistency loss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64294" marT="64294" marB="42863" anchor="t">
                    <a:lnL w="6350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A">
                        <a:alpha val="5500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C191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P2N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64294" marT="64294" marB="42863" anchor="t">
                    <a:lnL w="6350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753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model output renoised ±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64294" marT="64294" marB="42863" anchor="t">
                    <a:lnL w="6350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753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agreement loss — no target at all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64294" marT="64294" marB="42863" anchor="t">
                    <a:lnL w="6350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857750" y="1117774"/>
            <a:ext cx="3829050" cy="2429768"/>
          </a:xfrm>
          <a:prstGeom prst="roundRect">
            <a:avLst>
              <a:gd name="adj" fmla="val 3920"/>
            </a:avLst>
          </a:prstGeom>
          <a:solidFill>
            <a:srgbClr val="29241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4986338" y="1232074"/>
            <a:ext cx="3681603" cy="1511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800" spc="68" kern="0" dirty="0">
                <a:solidFill>
                  <a:srgbClr val="8F8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loading the pretrained prior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4986338" y="1424955"/>
            <a:ext cx="2949516" cy="130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2"/>
              </a:lnSpc>
              <a:buNone/>
            </a:pPr>
            <a:r>
              <a:rPr lang="en-US" sz="800" i="1" dirty="0">
                <a:solidFill>
                  <a:srgbClr val="8F8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 — the prior is a 2.7 MB file (0.67 M params, fp32)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4986338" y="1545506"/>
            <a:ext cx="3571875" cy="1074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62"/>
              </a:lnSpc>
              <a:buNone/>
            </a:pPr>
            <a:r>
              <a:rPr lang="en-US" sz="800" dirty="0">
                <a:solidFill>
                  <a:srgbClr val="E9E2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 = DnCNN(in_nc=1, out_nc=1, nc=64, nb=17, act_mode=R)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4986338" y="1680344"/>
            <a:ext cx="3571875" cy="1074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62"/>
              </a:lnSpc>
              <a:buNone/>
            </a:pPr>
            <a:r>
              <a:rPr lang="en-US" sz="800" dirty="0">
                <a:solidFill>
                  <a:srgbClr val="E9E2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ckpt = torch.load(</a:t>
            </a:r>
            <a:pPr algn="l" indent="0" marL="0">
              <a:lnSpc>
                <a:spcPts val="1062"/>
              </a:lnSpc>
              <a:buNone/>
            </a:pPr>
            <a:r>
              <a:rPr lang="en-US" sz="800" dirty="0">
                <a:solidFill>
                  <a:srgbClr val="A8B88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'dncnn_sigma25.pth'</a:t>
            </a:r>
            <a:pPr algn="l" indent="0" marL="0">
              <a:lnSpc>
                <a:spcPts val="1062"/>
              </a:lnSpc>
              <a:buNone/>
            </a:pPr>
            <a:r>
              <a:rPr lang="en-US" sz="800" dirty="0">
                <a:solidFill>
                  <a:srgbClr val="E9E2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map_location=</a:t>
            </a:r>
            <a:pPr algn="l" indent="0" marL="0">
              <a:lnSpc>
                <a:spcPts val="1062"/>
              </a:lnSpc>
              <a:buNone/>
            </a:pPr>
            <a:r>
              <a:rPr lang="en-US" sz="800" dirty="0">
                <a:solidFill>
                  <a:srgbClr val="A8B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'cpu'</a:t>
            </a:r>
            <a:pPr algn="l" indent="0" marL="0">
              <a:lnSpc>
                <a:spcPts val="1062"/>
              </a:lnSpc>
              <a:buNone/>
            </a:pPr>
            <a:r>
              <a:rPr lang="en-US" sz="800" dirty="0">
                <a:solidFill>
                  <a:srgbClr val="E9E2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4986338" y="1815182"/>
            <a:ext cx="3681603" cy="1074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62"/>
              </a:lnSpc>
              <a:buNone/>
            </a:pPr>
            <a:r>
              <a:rPr lang="en-US" sz="800" dirty="0">
                <a:solidFill>
                  <a:srgbClr val="E9E2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net.load_state_dict(ckpt)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986338" y="1950021"/>
            <a:ext cx="3681603" cy="175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2"/>
              </a:lnSpc>
              <a:buNone/>
            </a:pPr>
            <a:r>
              <a:rPr lang="en-US" sz="800" dirty="0">
                <a:solidFill>
                  <a:srgbClr val="E9E2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net.eval() </a:t>
            </a:r>
            <a:pPr algn="l" indent="0" marL="0">
              <a:lnSpc>
                <a:spcPts val="1062"/>
              </a:lnSpc>
              <a:buNone/>
            </a:pPr>
            <a:r>
              <a:rPr lang="en-US" sz="800" i="1" dirty="0">
                <a:solidFill>
                  <a:srgbClr val="8F8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freeze batch-norm statistics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4986338" y="2233985"/>
            <a:ext cx="2567129" cy="130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2"/>
              </a:lnSpc>
              <a:buNone/>
            </a:pPr>
            <a:r>
              <a:rPr lang="en-US" sz="800" i="1" dirty="0">
                <a:solidFill>
                  <a:srgbClr val="8F8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 — one noisy image through the trained prior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4986338" y="2354535"/>
            <a:ext cx="3571875" cy="1074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62"/>
              </a:lnSpc>
              <a:buNone/>
            </a:pPr>
            <a:r>
              <a:rPr lang="en-US" sz="800" dirty="0">
                <a:solidFill>
                  <a:srgbClr val="E9E2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torch.from_numpy(img).permute(2,0,1).unsqueeze(0)/255.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4986338" y="2489374"/>
            <a:ext cx="3571875" cy="1074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62"/>
              </a:lnSpc>
              <a:buNone/>
            </a:pPr>
            <a:r>
              <a:rPr lang="en-US" sz="800" dirty="0">
                <a:solidFill>
                  <a:srgbClr val="E8A8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pPr algn="l" indent="0" marL="0">
              <a:lnSpc>
                <a:spcPts val="1062"/>
              </a:lnSpc>
              <a:buNone/>
            </a:pPr>
            <a:r>
              <a:rPr lang="en-US" sz="800" dirty="0">
                <a:solidFill>
                  <a:srgbClr val="E9E2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torch.no_grad(): </a:t>
            </a:r>
            <a:pPr algn="l" indent="0" marL="0">
              <a:lnSpc>
                <a:spcPts val="1062"/>
              </a:lnSpc>
              <a:buNone/>
            </a:pPr>
            <a:r>
              <a:rPr lang="en-US" sz="800" i="1" dirty="0">
                <a:solidFill>
                  <a:srgbClr val="8F8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 optimisation at test time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4986338" y="2624212"/>
            <a:ext cx="3681603" cy="1074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62"/>
              </a:lnSpc>
              <a:buNone/>
            </a:pPr>
            <a:r>
              <a:rPr lang="en-US" sz="800" dirty="0">
                <a:solidFill>
                  <a:srgbClr val="E9E2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= net(y) </a:t>
            </a:r>
            <a:pPr algn="l" indent="0" marL="0">
              <a:lnSpc>
                <a:spcPts val="1062"/>
              </a:lnSpc>
              <a:buNone/>
            </a:pPr>
            <a:r>
              <a:rPr lang="en-US" sz="800" i="1" dirty="0">
                <a:solidFill>
                  <a:srgbClr val="8F8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R(y): the noise, learned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4986338" y="2759050"/>
            <a:ext cx="3681603" cy="175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2"/>
              </a:lnSpc>
              <a:buNone/>
            </a:pPr>
            <a:r>
              <a:rPr lang="en-US" sz="800" dirty="0">
                <a:solidFill>
                  <a:srgbClr val="E9E2D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out = (y - n).clamp(0,1) </a:t>
            </a:r>
            <a:pPr algn="l" indent="0" marL="0">
              <a:lnSpc>
                <a:spcPts val="1062"/>
              </a:lnSpc>
              <a:buNone/>
            </a:pPr>
            <a:r>
              <a:rPr lang="en-US" sz="800" i="1" dirty="0">
                <a:solidFill>
                  <a:srgbClr val="8F8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x = y - R(y) → return x-n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4986338" y="3043014"/>
            <a:ext cx="2239472" cy="130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2"/>
              </a:lnSpc>
              <a:buNone/>
            </a:pPr>
            <a:r>
              <a:rPr lang="en-US" sz="800" i="1" dirty="0">
                <a:solidFill>
                  <a:srgbClr val="8F8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 — Hugging Face variant, same pattern: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4986338" y="3177853"/>
            <a:ext cx="2376971" cy="130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2"/>
              </a:lnSpc>
              <a:buNone/>
            </a:pPr>
            <a:r>
              <a:rPr lang="en-US" sz="664" i="1" dirty="0">
                <a:solidFill>
                  <a:srgbClr val="8F8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from huggingface_hub import snapshot_download</a:t>
            </a:r>
            <a:endParaRPr lang="en-US" sz="664" dirty="0"/>
          </a:p>
        </p:txBody>
      </p:sp>
      <p:sp>
        <p:nvSpPr>
          <p:cNvPr id="23" name="Text 20"/>
          <p:cNvSpPr/>
          <p:nvPr/>
        </p:nvSpPr>
        <p:spPr>
          <a:xfrm>
            <a:off x="4986338" y="3312691"/>
            <a:ext cx="2579229" cy="120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2"/>
              </a:lnSpc>
              <a:buNone/>
            </a:pPr>
            <a:r>
              <a:rPr lang="en-US" sz="664" i="1" dirty="0">
                <a:solidFill>
                  <a:srgbClr val="8F8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path = snapshot_download(repo_id) # → local .pth</a:t>
            </a:r>
            <a:endParaRPr lang="en-US" sz="664" dirty="0"/>
          </a:p>
        </p:txBody>
      </p:sp>
      <p:sp>
        <p:nvSpPr>
          <p:cNvPr id="24" name="Text 21"/>
          <p:cNvSpPr/>
          <p:nvPr/>
        </p:nvSpPr>
        <p:spPr>
          <a:xfrm>
            <a:off x="457200" y="3633267"/>
            <a:ext cx="8229600" cy="297359"/>
          </a:xfrm>
          <a:prstGeom prst="roundRect">
            <a:avLst>
              <a:gd name="adj" fmla="val 32032"/>
            </a:avLst>
          </a:prstGeom>
          <a:solidFill>
            <a:srgbClr val="FAF5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2"/>
          <p:cNvSpPr/>
          <p:nvPr/>
        </p:nvSpPr>
        <p:spPr>
          <a:xfrm>
            <a:off x="457200" y="3636838"/>
            <a:ext cx="8229600" cy="0"/>
          </a:xfrm>
          <a:prstGeom prst="line">
            <a:avLst/>
          </a:prstGeom>
          <a:noFill/>
          <a:ln w="7144">
            <a:solidFill>
              <a:srgbClr val="DDD5C3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683228" y="3633267"/>
            <a:ext cx="0" cy="297359"/>
          </a:xfrm>
          <a:prstGeom prst="line">
            <a:avLst/>
          </a:prstGeom>
          <a:noFill/>
          <a:ln w="7144">
            <a:solidFill>
              <a:srgbClr val="DDD5C3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57200" y="3927053"/>
            <a:ext cx="8229600" cy="0"/>
          </a:xfrm>
          <a:prstGeom prst="line">
            <a:avLst/>
          </a:prstGeom>
          <a:noFill/>
          <a:ln w="7144">
            <a:solidFill>
              <a:srgbClr val="DDD5C3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67916" y="3633267"/>
            <a:ext cx="0" cy="297359"/>
          </a:xfrm>
          <a:prstGeom prst="line">
            <a:avLst/>
          </a:prstGeom>
          <a:noFill/>
          <a:ln w="21431">
            <a:solidFill>
              <a:srgbClr val="B3452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07219" y="3711848"/>
            <a:ext cx="7943850" cy="140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Every era of this talk in one line: </a:t>
            </a:r>
            <a:pPr algn="l" indent="0" marL="0">
              <a:lnSpc>
                <a:spcPts val="1055"/>
              </a:lnSpc>
              <a:buNone/>
            </a:pPr>
            <a:r>
              <a:rPr lang="en-US" sz="703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classical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= solve an optimisation per image; </a:t>
            </a:r>
            <a:pPr algn="l" indent="0" marL="0">
              <a:lnSpc>
                <a:spcPts val="1055"/>
              </a:lnSpc>
              <a:buNone/>
            </a:pPr>
            <a:r>
              <a:rPr lang="en-US" sz="703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= 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5753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load_state_dict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57534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once, forward in 60 ms; </a:t>
            </a:r>
            <a:pPr algn="l" indent="0" marL="0">
              <a:lnSpc>
                <a:spcPts val="1055"/>
              </a:lnSpc>
              <a:buNone/>
            </a:pPr>
            <a:r>
              <a:rPr lang="en-US" sz="703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self-supervised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= the same file, fitted to one image.</a:t>
            </a:r>
            <a:endParaRPr lang="en-US" sz="703" dirty="0"/>
          </a:p>
        </p:txBody>
      </p:sp>
      <p:sp>
        <p:nvSpPr>
          <p:cNvPr id="30" name="Shape 27"/>
          <p:cNvSpPr/>
          <p:nvPr/>
        </p:nvSpPr>
        <p:spPr>
          <a:xfrm>
            <a:off x="457200" y="4577358"/>
            <a:ext cx="8229600" cy="0"/>
          </a:xfrm>
          <a:prstGeom prst="line">
            <a:avLst/>
          </a:prstGeom>
          <a:noFill/>
          <a:ln w="7144">
            <a:solidFill>
              <a:srgbClr val="DDD5C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57200" y="4573786"/>
            <a:ext cx="8229600" cy="248194"/>
          </a:xfrm>
          <a:prstGeom prst="rect">
            <a:avLst/>
          </a:prstGeom>
          <a:noFill/>
          <a:ln/>
        </p:spPr>
        <p:txBody>
          <a:bodyPr wrap="square" lIns="0" tIns="50006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8" kern="0" dirty="0">
                <a:solidFill>
                  <a:srgbClr val="8A82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cszn/KAIR, verbatim · DnCNN17 §II-B · N2N18 Eq. (2)–(6) · N2V19 §3.4 · ZS-N2N23 §3 · P2N25 §3 · huggingface_hub docs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1169016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2007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2814981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2014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4460834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2017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6106798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2022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7752763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2025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1258639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5"/>
          <p:cNvSpPr/>
          <p:nvPr/>
        </p:nvSpPr>
        <p:spPr>
          <a:xfrm>
            <a:off x="2904604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6"/>
          <p:cNvSpPr/>
          <p:nvPr/>
        </p:nvSpPr>
        <p:spPr>
          <a:xfrm>
            <a:off x="4550457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7"/>
          <p:cNvSpPr/>
          <p:nvPr/>
        </p:nvSpPr>
        <p:spPr>
          <a:xfrm>
            <a:off x="6196422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8"/>
          <p:cNvSpPr/>
          <p:nvPr/>
        </p:nvSpPr>
        <p:spPr>
          <a:xfrm>
            <a:off x="7842386" y="4823817"/>
            <a:ext cx="42863" cy="42863"/>
          </a:xfrm>
          <a:prstGeom prst="ellipse">
            <a:avLst/>
          </a:prstGeom>
          <a:solidFill>
            <a:srgbClr val="B3452C"/>
          </a:solidFill>
          <a:ln w="7144">
            <a:solidFill>
              <a:srgbClr val="B3452C"/>
            </a:solidFill>
            <a:prstDash val="solid"/>
          </a:ln>
          <a:effectLst>
            <a:outerShdw sx="100000" sy="100000" kx="0" ky="0" algn="bl" rotWithShape="0" blurRad="101600" dist="50800" dir="16200000">
              <a:srgbClr val="B3452C">
                <a:alpha val="1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5738" y="114300"/>
            <a:ext cx="530602" cy="462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250" spc="-45" kern="0" dirty="0">
                <a:solidFill>
                  <a:srgbClr val="1C1917">
                    <a:alpha val="1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36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457200" y="857250"/>
            <a:ext cx="2857500" cy="9155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6750"/>
              </a:lnSpc>
              <a:buNone/>
            </a:pPr>
            <a:r>
              <a:rPr lang="en-US" sz="6750" spc="-270" kern="0" dirty="0">
                <a:solidFill>
                  <a:srgbClr val="B3452C">
                    <a:alpha val="14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endParaRPr lang="en-US" sz="6750" dirty="0"/>
          </a:p>
        </p:txBody>
      </p:sp>
      <p:sp>
        <p:nvSpPr>
          <p:cNvPr id="4" name="Text 2"/>
          <p:cNvSpPr/>
          <p:nvPr/>
        </p:nvSpPr>
        <p:spPr>
          <a:xfrm>
            <a:off x="457200" y="1800225"/>
            <a:ext cx="245477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162" kern="0" dirty="0">
                <a:solidFill>
                  <a:srgbClr val="57534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PART 5 / 5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653903" y="785813"/>
            <a:ext cx="0" cy="117872"/>
          </a:xfrm>
          <a:prstGeom prst="line">
            <a:avLst/>
          </a:prstGeom>
          <a:noFill/>
          <a:ln w="21431">
            <a:solidFill>
              <a:srgbClr val="B345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643188" y="785813"/>
            <a:ext cx="6043613" cy="164592"/>
          </a:xfrm>
          <a:prstGeom prst="rect">
            <a:avLst/>
          </a:prstGeom>
          <a:noFill/>
          <a:ln/>
        </p:spPr>
        <p:txBody>
          <a:bodyPr wrap="none" lIns="85725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9C856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SYNTHESIS · 2007 – 2025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643188" y="1003697"/>
            <a:ext cx="6500813" cy="433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9"/>
              </a:lnSpc>
              <a:buNone/>
            </a:pPr>
            <a:r>
              <a:rPr lang="en-US" sz="2925" b="1" spc="-58" kern="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There Is No Single Winner</a:t>
            </a:r>
            <a:endParaRPr lang="en-US" sz="2925" dirty="0"/>
          </a:p>
        </p:txBody>
      </p:sp>
      <p:sp>
        <p:nvSpPr>
          <p:cNvPr id="8" name="Shape 6"/>
          <p:cNvSpPr/>
          <p:nvPr/>
        </p:nvSpPr>
        <p:spPr>
          <a:xfrm>
            <a:off x="2643188" y="1579885"/>
            <a:ext cx="6043613" cy="0"/>
          </a:xfrm>
          <a:prstGeom prst="line">
            <a:avLst/>
          </a:prstGeom>
          <a:noFill/>
          <a:ln w="7144">
            <a:solidFill>
              <a:srgbClr val="DDD5C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26812" y="1697757"/>
            <a:ext cx="184221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851807" y="1662038"/>
            <a:ext cx="5834993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SOTA comparison table</a:t>
            </a:r>
            <a:endParaRPr lang="en-US" sz="844" dirty="0"/>
          </a:p>
        </p:txBody>
      </p:sp>
      <p:sp>
        <p:nvSpPr>
          <p:cNvPr id="11" name="Shape 9"/>
          <p:cNvSpPr/>
          <p:nvPr/>
        </p:nvSpPr>
        <p:spPr>
          <a:xfrm>
            <a:off x="2643188" y="1904926"/>
            <a:ext cx="6043613" cy="0"/>
          </a:xfrm>
          <a:prstGeom prst="line">
            <a:avLst/>
          </a:prstGeom>
          <a:noFill/>
          <a:ln w="7144">
            <a:solidFill>
              <a:srgbClr val="DDD5C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26812" y="2022797"/>
            <a:ext cx="184221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851807" y="1987079"/>
            <a:ext cx="5834993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same crop through every era</a:t>
            </a:r>
            <a:endParaRPr lang="en-US" sz="844" dirty="0"/>
          </a:p>
        </p:txBody>
      </p:sp>
      <p:sp>
        <p:nvSpPr>
          <p:cNvPr id="14" name="Shape 12"/>
          <p:cNvSpPr/>
          <p:nvPr/>
        </p:nvSpPr>
        <p:spPr>
          <a:xfrm>
            <a:off x="2643188" y="2229966"/>
            <a:ext cx="6043613" cy="0"/>
          </a:xfrm>
          <a:prstGeom prst="line">
            <a:avLst/>
          </a:prstGeom>
          <a:noFill/>
          <a:ln w="7144">
            <a:solidFill>
              <a:srgbClr val="DDD5C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26812" y="2347838"/>
            <a:ext cx="184221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851807" y="2312119"/>
            <a:ext cx="5834993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several coexist</a:t>
            </a:r>
            <a:endParaRPr lang="en-US" sz="844" dirty="0"/>
          </a:p>
        </p:txBody>
      </p:sp>
      <p:sp>
        <p:nvSpPr>
          <p:cNvPr id="17" name="Shape 15"/>
          <p:cNvSpPr/>
          <p:nvPr/>
        </p:nvSpPr>
        <p:spPr>
          <a:xfrm>
            <a:off x="2643188" y="2555007"/>
            <a:ext cx="6043613" cy="0"/>
          </a:xfrm>
          <a:prstGeom prst="line">
            <a:avLst/>
          </a:prstGeom>
          <a:noFill/>
          <a:ln w="7144">
            <a:solidFill>
              <a:srgbClr val="DDD5C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26812" y="2672879"/>
            <a:ext cx="184221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851807" y="2637160"/>
            <a:ext cx="5834993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Applications and trade-offs</a:t>
            </a:r>
            <a:endParaRPr lang="en-US" sz="844" dirty="0"/>
          </a:p>
        </p:txBody>
      </p:sp>
      <p:sp>
        <p:nvSpPr>
          <p:cNvPr id="20" name="Shape 18"/>
          <p:cNvSpPr/>
          <p:nvPr/>
        </p:nvSpPr>
        <p:spPr>
          <a:xfrm>
            <a:off x="2643188" y="2880047"/>
            <a:ext cx="6043613" cy="0"/>
          </a:xfrm>
          <a:prstGeom prst="line">
            <a:avLst/>
          </a:prstGeom>
          <a:noFill/>
          <a:ln w="7144">
            <a:solidFill>
              <a:srgbClr val="DDD5C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643188" y="3205088"/>
            <a:ext cx="6043613" cy="0"/>
          </a:xfrm>
          <a:prstGeom prst="line">
            <a:avLst/>
          </a:prstGeom>
          <a:noFill/>
          <a:ln w="7144">
            <a:solidFill>
              <a:srgbClr val="DDD5C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26812" y="2997919"/>
            <a:ext cx="184221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851807" y="2962201"/>
            <a:ext cx="5834993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Open problems and proposals</a:t>
            </a:r>
            <a:endParaRPr lang="en-US" sz="844" dirty="0"/>
          </a:p>
        </p:txBody>
      </p:sp>
      <p:sp>
        <p:nvSpPr>
          <p:cNvPr id="24" name="Text 22"/>
          <p:cNvSpPr/>
          <p:nvPr/>
        </p:nvSpPr>
        <p:spPr>
          <a:xfrm>
            <a:off x="2643188" y="3380110"/>
            <a:ext cx="4572000" cy="350044"/>
          </a:xfrm>
          <a:prstGeom prst="roundRect">
            <a:avLst>
              <a:gd name="adj" fmla="val 27211"/>
            </a:avLst>
          </a:prstGeom>
          <a:solidFill>
            <a:srgbClr val="FAF5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2643188" y="3383682"/>
            <a:ext cx="4572000" cy="0"/>
          </a:xfrm>
          <a:prstGeom prst="line">
            <a:avLst/>
          </a:prstGeom>
          <a:noFill/>
          <a:ln w="7144">
            <a:solidFill>
              <a:srgbClr val="DDD5C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211616" y="3380110"/>
            <a:ext cx="0" cy="350044"/>
          </a:xfrm>
          <a:prstGeom prst="line">
            <a:avLst/>
          </a:prstGeom>
          <a:noFill/>
          <a:ln w="7144">
            <a:solidFill>
              <a:srgbClr val="DDD5C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643188" y="3726582"/>
            <a:ext cx="4572000" cy="0"/>
          </a:xfrm>
          <a:prstGeom prst="line">
            <a:avLst/>
          </a:prstGeom>
          <a:noFill/>
          <a:ln w="7144">
            <a:solidFill>
              <a:srgbClr val="DDD5C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653903" y="3380110"/>
            <a:ext cx="0" cy="350044"/>
          </a:xfrm>
          <a:prstGeom prst="line">
            <a:avLst/>
          </a:prstGeom>
          <a:noFill/>
          <a:ln w="21431">
            <a:solidFill>
              <a:srgbClr val="B3452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807494" y="3480122"/>
            <a:ext cx="4257675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question this talk was built to answer, now with the numbers behind it.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57200" y="4577358"/>
            <a:ext cx="8229600" cy="0"/>
          </a:xfrm>
          <a:prstGeom prst="line">
            <a:avLst/>
          </a:prstGeom>
          <a:noFill/>
          <a:ln w="7144">
            <a:solidFill>
              <a:srgbClr val="DDD5C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573786"/>
            <a:ext cx="8636000" cy="248194"/>
          </a:xfrm>
          <a:prstGeom prst="rect">
            <a:avLst/>
          </a:prstGeom>
          <a:noFill/>
          <a:ln/>
        </p:spPr>
        <p:txBody>
          <a:bodyPr wrap="none" lIns="0" tIns="50006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8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brief §6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169016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2007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814981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2014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460834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2017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106798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2022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752763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2025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258639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2904604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550457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6196422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7842386" y="4823817"/>
            <a:ext cx="42863" cy="42863"/>
          </a:xfrm>
          <a:prstGeom prst="ellipse">
            <a:avLst/>
          </a:prstGeom>
          <a:solidFill>
            <a:srgbClr val="B3452C"/>
          </a:solidFill>
          <a:ln w="7144">
            <a:solidFill>
              <a:srgbClr val="B3452C"/>
            </a:solidFill>
            <a:prstDash val="solid"/>
          </a:ln>
          <a:effectLst>
            <a:outerShdw sx="100000" sy="100000" kx="0" ky="0" algn="bl" rotWithShape="0" blurRad="101600" dist="50800" dir="16200000">
              <a:srgbClr val="B3452C">
                <a:alpha val="1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5738" y="114300"/>
            <a:ext cx="530602" cy="462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250" spc="-45" kern="0" dirty="0">
                <a:solidFill>
                  <a:srgbClr val="1C1917">
                    <a:alpha val="1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37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457200" y="371475"/>
            <a:ext cx="8636000" cy="161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B34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SYNTHESIS </a:t>
            </a:r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9C8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B34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SOTA COMPARISON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60784"/>
            <a:ext cx="8636000" cy="263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3"/>
              </a:lnSpc>
              <a:buNone/>
            </a:pPr>
            <a:r>
              <a:rPr lang="en-US" sz="1744" b="1" spc="-26" kern="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Six methods — each leads a different table</a:t>
            </a:r>
            <a:endParaRPr lang="en-US" sz="1744" dirty="0"/>
          </a:p>
        </p:txBody>
      </p:sp>
      <p:sp>
        <p:nvSpPr>
          <p:cNvPr id="5" name="Text 3"/>
          <p:cNvSpPr/>
          <p:nvPr/>
        </p:nvSpPr>
        <p:spPr>
          <a:xfrm>
            <a:off x="457200" y="851669"/>
            <a:ext cx="7715250" cy="358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Every row names the benchmark and the metric — a claim without those is not checkable. Quality figures reproduced from published tables; parameters and CPU latency are our own measurements.</a:t>
            </a:r>
            <a:endParaRPr lang="en-US" sz="872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41003"/>
          <a:ext cx="7858125" cy="914400"/>
        </p:xfrm>
        <a:graphic>
          <a:graphicData uri="http://schemas.openxmlformats.org/drawingml/2006/table">
            <a:tbl>
              <a:tblPr/>
              <a:tblGrid>
                <a:gridCol w="800100"/>
                <a:gridCol w="1557338"/>
                <a:gridCol w="1128713"/>
                <a:gridCol w="757238"/>
                <a:gridCol w="2357438"/>
                <a:gridCol w="12573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7534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METHOD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21431" marR="57150" marT="57150" marB="28575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7534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LEADS ON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21431" marR="57150" marT="57150" marB="28575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7534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HEADLINE FIGURE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21431" marR="57150" marT="57150" marB="28575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7534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PUBLISHED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21431" marR="57150" marT="57150" marB="28575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7534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WHAT DISTINGUISHES IT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21431" marR="57150" marT="57150" marB="28575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7534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COST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21431" marR="57150" marT="57150" marB="28575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C191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NAFNet (2022)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57150" marT="57150" marB="35719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753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SIDD — real sensor noise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57150" marT="57150" marB="35719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C191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40.30 dB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5719" marR="57150" marT="57150" marB="35719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753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ECCV 2022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57150" marT="57150" marB="35719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753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No attention, no activation functions at all; simplest code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57150" marT="57150" marB="35719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7534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116.0 M · 1.90 s CPU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5719" marR="57150" marT="57150" marB="35719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C191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Restormer (2022)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57150" marT="57150" marB="35719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A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753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Urban100 — long-range structure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57150" marT="57150" marB="35719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A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C191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σ=50: 28.33SIDD 40.02 / DND 40.03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5719" marR="57150" marT="57150" marB="35719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A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753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CVPR 2022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57150" marT="57150" marB="35719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A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753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First past 40 dB on both real-noise benchmarks; channel attention at linear cost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57150" marT="57150" marB="35719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A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7534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26.1 M · 10.44 s CPU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5719" marR="57150" marT="57150" marB="35719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A">
                        <a:alpha val="5500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C191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MambaIR (2024)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57150" marT="57150" marB="35719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753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DND — held-out real noise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57150" marT="57150" marB="35719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C191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40.04 dB (+0.01)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5719" marR="57150" marT="57150" marB="35719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753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ECCV 2024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57150" marT="57150" marB="35719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753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Global receptive field at linear cost via selective state-space scan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57150" marT="57150" marB="35719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7534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CUDA-compiled ext. to import; DN params not in paper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5719" marR="57150" marT="57150" marB="35719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C191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SCUNet (2023)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57150" marT="57150" marB="35719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A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753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Its own blind mixed-noise benchmark — no standard table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57150" marT="57150" marB="35719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A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C191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Urban100 σ=50: 30.14top among blind models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5719" marR="57150" marT="57150" marB="35719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A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753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Mach. Intell. Res. 2023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57150" marT="57150" marB="35719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A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753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Competes on the training distribution, not the architecture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57150" marT="57150" marB="35719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A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7534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9.7 M · 1.69 s CPU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5719" marR="57150" marT="57150" marB="35719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A">
                        <a:alpha val="5500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C191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DnCNN (2017)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57150" marT="57150" marB="35719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753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Historical — BSD68 Gaussian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57150" marT="57150" marB="35719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C191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29.23 dB (σ=25)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5719" marR="57150" marT="57150" marB="35719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753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IEEE TIP 2017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57150" marT="57150" marB="35719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753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The reference the whole field was built against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57150" marT="57150" marB="35719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7534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0.67 M · 1.02 s CPU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5719" marR="57150" marT="57150" marB="35719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C191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BM3D (2007)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57150" marT="57150" marB="35719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A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753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Zero-shot — no training data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57150" marT="57150" marB="35719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A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C191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28.57 dB (σ=25)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5719" marR="57150" marT="57150" marB="35719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A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753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IEEE TIP 2007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57150" marT="57150" marB="35719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A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753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No training, no GPU; still the zero-shot baseline in N2N18, N2V19, ZS-N2N23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57150" marT="57150" marB="35719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A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7534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 training · 2.85 s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5719" marR="57150" marT="57150" marB="35719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A">
                        <a:alpha val="5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3567187"/>
            <a:ext cx="8229600" cy="377056"/>
          </a:xfrm>
          <a:prstGeom prst="roundRect">
            <a:avLst>
              <a:gd name="adj" fmla="val 25261"/>
            </a:avLst>
          </a:prstGeom>
          <a:solidFill>
            <a:srgbClr val="FAF5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457200" y="3570759"/>
            <a:ext cx="8229600" cy="0"/>
          </a:xfrm>
          <a:prstGeom prst="line">
            <a:avLst/>
          </a:prstGeom>
          <a:noFill/>
          <a:ln w="7144">
            <a:solidFill>
              <a:srgbClr val="DDD5C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683228" y="3567187"/>
            <a:ext cx="0" cy="377056"/>
          </a:xfrm>
          <a:prstGeom prst="line">
            <a:avLst/>
          </a:prstGeom>
          <a:noFill/>
          <a:ln w="7144">
            <a:solidFill>
              <a:srgbClr val="DDD5C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3940671"/>
            <a:ext cx="8229600" cy="0"/>
          </a:xfrm>
          <a:prstGeom prst="line">
            <a:avLst/>
          </a:prstGeom>
          <a:noFill/>
          <a:ln w="7144">
            <a:solidFill>
              <a:srgbClr val="DDD5C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7916" y="3567187"/>
            <a:ext cx="0" cy="377056"/>
          </a:xfrm>
          <a:prstGeom prst="line">
            <a:avLst/>
          </a:prstGeom>
          <a:noFill/>
          <a:ln w="21431">
            <a:solidFill>
              <a:srgbClr val="B3452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2931" y="3631481"/>
            <a:ext cx="7972425" cy="248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source states a SOTA window, so this deck does not assert one.</a:t>
            </a:r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Read the Leads-on column: these methods are not ranked on one axis — they lead different benchmarks, and those benchmarks measure different capabilities.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457200" y="4577358"/>
            <a:ext cx="8229600" cy="0"/>
          </a:xfrm>
          <a:prstGeom prst="line">
            <a:avLst/>
          </a:prstGeom>
          <a:noFill/>
          <a:ln w="7144">
            <a:solidFill>
              <a:srgbClr val="DDD5C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4573786"/>
            <a:ext cx="8229600" cy="248194"/>
          </a:xfrm>
          <a:prstGeom prst="rect">
            <a:avLst/>
          </a:prstGeom>
          <a:noFill/>
          <a:ln/>
        </p:spPr>
        <p:txBody>
          <a:bodyPr wrap="square" lIns="0" tIns="50006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8" kern="0" dirty="0">
                <a:solidFill>
                  <a:srgbClr val="8A82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NAFNet22 abstract · Restormer22 Tables 4, 6 · MambaIR24 Table 6 · SCUNet23 · DnCNN17 Table II · measured [Stage 2]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169016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2007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2814981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2014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4460834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2017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6106798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2022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7752763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2025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1258639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2904604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4550457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6196422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7842386" y="4823817"/>
            <a:ext cx="42863" cy="42863"/>
          </a:xfrm>
          <a:prstGeom prst="ellipse">
            <a:avLst/>
          </a:prstGeom>
          <a:solidFill>
            <a:srgbClr val="B3452C"/>
          </a:solidFill>
          <a:ln w="7144">
            <a:solidFill>
              <a:srgbClr val="B3452C"/>
            </a:solidFill>
            <a:prstDash val="solid"/>
          </a:ln>
          <a:effectLst>
            <a:outerShdw sx="100000" sy="100000" kx="0" ky="0" algn="bl" rotWithShape="0" blurRad="101600" dist="50800" dir="16200000">
              <a:srgbClr val="B3452C">
                <a:alpha val="1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5738" y="114300"/>
            <a:ext cx="530602" cy="462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250" spc="-45" kern="0" dirty="0">
                <a:solidFill>
                  <a:srgbClr val="1C1917">
                    <a:alpha val="1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38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457200" y="371475"/>
            <a:ext cx="8636000" cy="161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B34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SYNTHESIS </a:t>
            </a:r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9C8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B34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QUALITATIVE COMPARISON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60784"/>
            <a:ext cx="8636000" cy="263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3"/>
              </a:lnSpc>
              <a:buNone/>
            </a:pPr>
            <a:r>
              <a:rPr lang="en-US" sz="1744" b="1" spc="-26" kern="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same crop through every era</a:t>
            </a:r>
            <a:endParaRPr lang="en-US" sz="1744" dirty="0"/>
          </a:p>
        </p:txBody>
      </p:sp>
      <p:sp>
        <p:nvSpPr>
          <p:cNvPr id="5" name="Text 3"/>
          <p:cNvSpPr/>
          <p:nvPr/>
        </p:nvSpPr>
        <p:spPr>
          <a:xfrm>
            <a:off x="457200" y="851669"/>
            <a:ext cx="7715250" cy="179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Quantitative tables rank; crops reveal. Two published comparisons, one image each — every tile reproduced verbatim from the cited figure.</a:t>
            </a:r>
            <a:endParaRPr lang="en-US" sz="872" dirty="0"/>
          </a:p>
        </p:txBody>
      </p:sp>
      <p:sp>
        <p:nvSpPr>
          <p:cNvPr id="6" name="Text 4"/>
          <p:cNvSpPr/>
          <p:nvPr/>
        </p:nvSpPr>
        <p:spPr>
          <a:xfrm>
            <a:off x="457200" y="1103486"/>
            <a:ext cx="8636000" cy="129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79" kern="0" dirty="0">
                <a:solidFill>
                  <a:srgbClr val="9C8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GAUSSIAN DENOISING — ONE CROP, FOUR GENERATIONS · [RESTORMER22 · FIG. 6, TOP ROW]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60772" y="1264221"/>
            <a:ext cx="1286991" cy="1045443"/>
          </a:xfrm>
          <a:prstGeom prst="roundRect">
            <a:avLst>
              <a:gd name="adj" fmla="val 9111"/>
            </a:avLst>
          </a:prstGeom>
          <a:solidFill>
            <a:srgbClr val="FFFFFF"/>
          </a:solidFill>
          <a:ln w="7144">
            <a:solidFill>
              <a:srgbClr val="DDD5C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8" name="Image 0" descr="/tmp/h2p-fit-1789755868324-xovxo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350" y="1317799"/>
            <a:ext cx="1179835" cy="82867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14350" y="2182192"/>
            <a:ext cx="117983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95"/>
              </a:lnSpc>
              <a:buNone/>
            </a:pPr>
            <a:r>
              <a:rPr lang="en-US" sz="800" spc="32" kern="0" dirty="0">
                <a:solidFill>
                  <a:srgbClr val="8A82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NOISY INPUT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847776" y="1264221"/>
            <a:ext cx="1287103" cy="1045443"/>
          </a:xfrm>
          <a:prstGeom prst="roundRect">
            <a:avLst>
              <a:gd name="adj" fmla="val 9111"/>
            </a:avLst>
          </a:prstGeom>
          <a:solidFill>
            <a:srgbClr val="FFFFFF"/>
          </a:solidFill>
          <a:ln w="7144">
            <a:solidFill>
              <a:srgbClr val="DDD5C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1" name="Image 1" descr="/tmp/h2p-fit-1789755868297-t89fz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354" y="1317799"/>
            <a:ext cx="1179947" cy="82867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901354" y="2182192"/>
            <a:ext cx="1179947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95"/>
              </a:lnSpc>
              <a:buNone/>
            </a:pPr>
            <a:r>
              <a:rPr lang="en-US" sz="800" spc="32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DnCNN · 2017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3234891" y="1264221"/>
            <a:ext cx="1286991" cy="1045443"/>
          </a:xfrm>
          <a:prstGeom prst="roundRect">
            <a:avLst>
              <a:gd name="adj" fmla="val 9111"/>
            </a:avLst>
          </a:prstGeom>
          <a:solidFill>
            <a:srgbClr val="FFFFFF"/>
          </a:solidFill>
          <a:ln w="7144">
            <a:solidFill>
              <a:srgbClr val="DDD5C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4" name="Image 2" descr="/tmp/h2p-fit-1789755868346-vm3oc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8469" y="1317799"/>
            <a:ext cx="1179835" cy="82867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288469" y="2182192"/>
            <a:ext cx="117983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95"/>
              </a:lnSpc>
              <a:buNone/>
            </a:pPr>
            <a:r>
              <a:rPr lang="en-US" sz="800" spc="32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DRUNet · 2021</a:t>
            </a:r>
            <a:endParaRPr lang="en-US" sz="800" dirty="0"/>
          </a:p>
        </p:txBody>
      </p:sp>
      <p:sp>
        <p:nvSpPr>
          <p:cNvPr id="16" name="Text 11"/>
          <p:cNvSpPr/>
          <p:nvPr/>
        </p:nvSpPr>
        <p:spPr>
          <a:xfrm>
            <a:off x="4621895" y="1264221"/>
            <a:ext cx="1287103" cy="1045443"/>
          </a:xfrm>
          <a:prstGeom prst="roundRect">
            <a:avLst>
              <a:gd name="adj" fmla="val 9111"/>
            </a:avLst>
          </a:prstGeom>
          <a:solidFill>
            <a:srgbClr val="FFFFFF"/>
          </a:solidFill>
          <a:ln w="7144">
            <a:solidFill>
              <a:srgbClr val="DDD5C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7" name="Image 3" descr="/tmp/h2p-fit-1789755868305-lg3ae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5473" y="1317799"/>
            <a:ext cx="1179947" cy="82867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675473" y="2182192"/>
            <a:ext cx="1179947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95"/>
              </a:lnSpc>
              <a:buNone/>
            </a:pPr>
            <a:r>
              <a:rPr lang="en-US" sz="800" spc="32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SwinIR · 2021</a:t>
            </a:r>
            <a:endParaRPr lang="en-US" sz="800" dirty="0"/>
          </a:p>
        </p:txBody>
      </p:sp>
      <p:sp>
        <p:nvSpPr>
          <p:cNvPr id="19" name="Text 13"/>
          <p:cNvSpPr/>
          <p:nvPr/>
        </p:nvSpPr>
        <p:spPr>
          <a:xfrm>
            <a:off x="6009010" y="1264221"/>
            <a:ext cx="1287103" cy="1045443"/>
          </a:xfrm>
          <a:prstGeom prst="roundRect">
            <a:avLst>
              <a:gd name="adj" fmla="val 9111"/>
            </a:avLst>
          </a:prstGeom>
          <a:solidFill>
            <a:srgbClr val="FFFFFF"/>
          </a:solidFill>
          <a:ln w="7144">
            <a:solidFill>
              <a:srgbClr val="DDD5C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0" name="Image 4" descr="/tmp/h2p-fit-1789755868365-p6fwxu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2588" y="1317799"/>
            <a:ext cx="1179947" cy="828675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062588" y="2182192"/>
            <a:ext cx="1179947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95"/>
              </a:lnSpc>
              <a:buNone/>
            </a:pPr>
            <a:r>
              <a:rPr lang="en-US" sz="800" spc="32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RESTORMER · 2022</a:t>
            </a:r>
            <a:endParaRPr lang="en-US" sz="800" dirty="0"/>
          </a:p>
        </p:txBody>
      </p:sp>
      <p:sp>
        <p:nvSpPr>
          <p:cNvPr id="22" name="Text 15"/>
          <p:cNvSpPr/>
          <p:nvPr/>
        </p:nvSpPr>
        <p:spPr>
          <a:xfrm>
            <a:off x="7396125" y="1264221"/>
            <a:ext cx="1287103" cy="1045443"/>
          </a:xfrm>
          <a:prstGeom prst="roundRect">
            <a:avLst>
              <a:gd name="adj" fmla="val 9111"/>
            </a:avLst>
          </a:prstGeom>
          <a:solidFill>
            <a:srgbClr val="FFFFFF"/>
          </a:solidFill>
          <a:ln w="7144">
            <a:solidFill>
              <a:srgbClr val="DDD5C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3" name="Image 5" descr="/tmp/h2p-fit-1789755868378-lexnz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49703" y="1317799"/>
            <a:ext cx="1179947" cy="828675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7449703" y="2182192"/>
            <a:ext cx="1179947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95"/>
              </a:lnSpc>
              <a:buNone/>
            </a:pPr>
            <a:r>
              <a:rPr lang="en-US" sz="800" spc="32" kern="0" dirty="0">
                <a:solidFill>
                  <a:srgbClr val="B34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GROUND TRUTH</a:t>
            </a:r>
            <a:endParaRPr lang="en-US" sz="800" dirty="0"/>
          </a:p>
        </p:txBody>
      </p:sp>
      <p:sp>
        <p:nvSpPr>
          <p:cNvPr id="25" name="Text 17"/>
          <p:cNvSpPr/>
          <p:nvPr/>
        </p:nvSpPr>
        <p:spPr>
          <a:xfrm>
            <a:off x="457200" y="2406104"/>
            <a:ext cx="8636000" cy="129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79" kern="0" dirty="0">
                <a:solidFill>
                  <a:srgbClr val="9C8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 SENSOR NOISE — SIDD · [NAFNET22 · FIG. 5]</a:t>
            </a:r>
            <a:endParaRPr lang="en-US" sz="800" dirty="0"/>
          </a:p>
        </p:txBody>
      </p:sp>
      <p:sp>
        <p:nvSpPr>
          <p:cNvPr id="26" name="Text 18"/>
          <p:cNvSpPr/>
          <p:nvPr/>
        </p:nvSpPr>
        <p:spPr>
          <a:xfrm>
            <a:off x="460772" y="2566839"/>
            <a:ext cx="1564481" cy="731118"/>
          </a:xfrm>
          <a:prstGeom prst="roundRect">
            <a:avLst>
              <a:gd name="adj" fmla="val 13028"/>
            </a:avLst>
          </a:prstGeom>
          <a:solidFill>
            <a:srgbClr val="FFFFFF"/>
          </a:solidFill>
          <a:ln w="7144">
            <a:solidFill>
              <a:srgbClr val="DDD5C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7" name="Image 6" descr="/tmp/h2p-fit-1789755868358-bi0s3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4350" y="2620417"/>
            <a:ext cx="1457325" cy="51435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514350" y="3170486"/>
            <a:ext cx="145732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95"/>
              </a:lnSpc>
              <a:buNone/>
            </a:pPr>
            <a:r>
              <a:rPr lang="en-US" sz="800" spc="32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NOISY · 19.01 dB</a:t>
            </a:r>
            <a:endParaRPr lang="en-US" sz="800" dirty="0"/>
          </a:p>
        </p:txBody>
      </p:sp>
      <p:sp>
        <p:nvSpPr>
          <p:cNvPr id="29" name="Text 20"/>
          <p:cNvSpPr/>
          <p:nvPr/>
        </p:nvSpPr>
        <p:spPr>
          <a:xfrm>
            <a:off x="2125266" y="2566839"/>
            <a:ext cx="1564481" cy="731118"/>
          </a:xfrm>
          <a:prstGeom prst="roundRect">
            <a:avLst>
              <a:gd name="adj" fmla="val 13028"/>
            </a:avLst>
          </a:prstGeom>
          <a:solidFill>
            <a:srgbClr val="FFFFFF"/>
          </a:solidFill>
          <a:ln w="7144">
            <a:solidFill>
              <a:srgbClr val="DDD5C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0" name="Image 7" descr="/tmp/h2p-fit-1789755868315-r4i1xc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78844" y="2620417"/>
            <a:ext cx="1457325" cy="514350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2178844" y="3170486"/>
            <a:ext cx="145732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95"/>
              </a:lnSpc>
              <a:buNone/>
            </a:pPr>
            <a:r>
              <a:rPr lang="en-US" sz="800" spc="32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MPRNet · 34.96</a:t>
            </a:r>
            <a:endParaRPr lang="en-US" sz="800" dirty="0"/>
          </a:p>
        </p:txBody>
      </p:sp>
      <p:sp>
        <p:nvSpPr>
          <p:cNvPr id="32" name="Text 22"/>
          <p:cNvSpPr/>
          <p:nvPr/>
        </p:nvSpPr>
        <p:spPr>
          <a:xfrm>
            <a:off x="3789759" y="2566839"/>
            <a:ext cx="1564481" cy="731118"/>
          </a:xfrm>
          <a:prstGeom prst="roundRect">
            <a:avLst>
              <a:gd name="adj" fmla="val 13028"/>
            </a:avLst>
          </a:prstGeom>
          <a:solidFill>
            <a:srgbClr val="FFFFFF"/>
          </a:solidFill>
          <a:ln w="7144">
            <a:solidFill>
              <a:srgbClr val="DDD5C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3" name="Image 8" descr="/tmp/h2p-fit-1789755868295-c46lap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43338" y="2620417"/>
            <a:ext cx="1457325" cy="514350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3843338" y="3170486"/>
            <a:ext cx="145732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95"/>
              </a:lnSpc>
              <a:buNone/>
            </a:pPr>
            <a:r>
              <a:rPr lang="en-US" sz="800" spc="32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RESTORMER · 35.01</a:t>
            </a:r>
            <a:endParaRPr lang="en-US" sz="800" dirty="0"/>
          </a:p>
        </p:txBody>
      </p:sp>
      <p:sp>
        <p:nvSpPr>
          <p:cNvPr id="35" name="Text 24"/>
          <p:cNvSpPr/>
          <p:nvPr/>
        </p:nvSpPr>
        <p:spPr>
          <a:xfrm>
            <a:off x="5454253" y="2566839"/>
            <a:ext cx="1564481" cy="731118"/>
          </a:xfrm>
          <a:prstGeom prst="roundRect">
            <a:avLst>
              <a:gd name="adj" fmla="val 13028"/>
            </a:avLst>
          </a:prstGeom>
          <a:solidFill>
            <a:srgbClr val="FFFFFF"/>
          </a:solidFill>
          <a:ln w="7144">
            <a:solidFill>
              <a:srgbClr val="DDD5C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6" name="Image 9" descr="/tmp/h2p-fit-1789755868315-vxjso5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07831" y="2620417"/>
            <a:ext cx="1457325" cy="514350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5507831" y="3170486"/>
            <a:ext cx="145732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95"/>
              </a:lnSpc>
              <a:buNone/>
            </a:pPr>
            <a:r>
              <a:rPr lang="en-US" sz="800" spc="32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NAFNET · 35.77</a:t>
            </a:r>
            <a:endParaRPr lang="en-US" sz="800" dirty="0"/>
          </a:p>
        </p:txBody>
      </p:sp>
      <p:sp>
        <p:nvSpPr>
          <p:cNvPr id="38" name="Text 26"/>
          <p:cNvSpPr/>
          <p:nvPr/>
        </p:nvSpPr>
        <p:spPr>
          <a:xfrm>
            <a:off x="7118747" y="2566839"/>
            <a:ext cx="1564481" cy="731118"/>
          </a:xfrm>
          <a:prstGeom prst="roundRect">
            <a:avLst>
              <a:gd name="adj" fmla="val 13028"/>
            </a:avLst>
          </a:prstGeom>
          <a:solidFill>
            <a:srgbClr val="FFFFFF"/>
          </a:solidFill>
          <a:ln w="7144">
            <a:solidFill>
              <a:srgbClr val="DDD5C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9" name="Image 10" descr="/tmp/h2p-fit-1789755868356-7l72zg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72325" y="2620417"/>
            <a:ext cx="1457325" cy="514350"/>
          </a:xfrm>
          <a:prstGeom prst="rect">
            <a:avLst/>
          </a:prstGeom>
        </p:spPr>
      </p:pic>
      <p:sp>
        <p:nvSpPr>
          <p:cNvPr id="40" name="Text 27"/>
          <p:cNvSpPr/>
          <p:nvPr/>
        </p:nvSpPr>
        <p:spPr>
          <a:xfrm>
            <a:off x="7172325" y="3170486"/>
            <a:ext cx="145732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95"/>
              </a:lnSpc>
              <a:buNone/>
            </a:pPr>
            <a:r>
              <a:rPr lang="en-US" sz="800" spc="32" kern="0" dirty="0">
                <a:solidFill>
                  <a:srgbClr val="B34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GROUND TRUTH</a:t>
            </a:r>
            <a:endParaRPr lang="en-US" sz="800" dirty="0"/>
          </a:p>
        </p:txBody>
      </p:sp>
      <p:sp>
        <p:nvSpPr>
          <p:cNvPr id="41" name="Text 28"/>
          <p:cNvSpPr/>
          <p:nvPr/>
        </p:nvSpPr>
        <p:spPr>
          <a:xfrm>
            <a:off x="460772" y="3412257"/>
            <a:ext cx="150019" cy="150019"/>
          </a:xfrm>
          <a:prstGeom prst="roundRect">
            <a:avLst>
              <a:gd name="adj" fmla="val 6342847"/>
            </a:avLst>
          </a:prstGeom>
          <a:noFill/>
          <a:ln w="7144">
            <a:solidFill>
              <a:srgbClr val="B3452C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29"/>
          <p:cNvSpPr/>
          <p:nvPr/>
        </p:nvSpPr>
        <p:spPr>
          <a:xfrm>
            <a:off x="457200" y="3408685"/>
            <a:ext cx="200025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43" name="Text 30"/>
          <p:cNvSpPr/>
          <p:nvPr/>
        </p:nvSpPr>
        <p:spPr>
          <a:xfrm>
            <a:off x="700088" y="3401541"/>
            <a:ext cx="798671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top row is the architecture branch made visible: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as the receptive field widens (slide 28), the repeating texture returns — DnCNN leaves it smooth, DRUNet and SwinIR recover part of it, Restormer restores it.</a:t>
            </a:r>
            <a:endParaRPr lang="en-US" sz="800" dirty="0"/>
          </a:p>
        </p:txBody>
      </p:sp>
      <p:sp>
        <p:nvSpPr>
          <p:cNvPr id="44" name="Text 31"/>
          <p:cNvSpPr/>
          <p:nvPr/>
        </p:nvSpPr>
        <p:spPr>
          <a:xfrm>
            <a:off x="460772" y="3719438"/>
            <a:ext cx="150019" cy="150019"/>
          </a:xfrm>
          <a:prstGeom prst="roundRect">
            <a:avLst>
              <a:gd name="adj" fmla="val 6342847"/>
            </a:avLst>
          </a:prstGeom>
          <a:noFill/>
          <a:ln w="7144">
            <a:solidFill>
              <a:srgbClr val="B3452C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32"/>
          <p:cNvSpPr/>
          <p:nvPr/>
        </p:nvSpPr>
        <p:spPr>
          <a:xfrm>
            <a:off x="457200" y="3715866"/>
            <a:ext cx="200025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46" name="Text 33"/>
          <p:cNvSpPr/>
          <p:nvPr/>
        </p:nvSpPr>
        <p:spPr>
          <a:xfrm>
            <a:off x="700088" y="3708722"/>
            <a:ext cx="7986713" cy="337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bottom row is the real-noise story: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0.8 dB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separate MPRNet from NAFNet in PSNR, but the texture difference is what a practitioner sees first — the case slide 5 made for reporting SSIM and LPIPS alongside PSNR.</a:t>
            </a:r>
            <a:endParaRPr lang="en-US" sz="800" dirty="0"/>
          </a:p>
        </p:txBody>
      </p:sp>
      <p:sp>
        <p:nvSpPr>
          <p:cNvPr id="47" name="Text 34"/>
          <p:cNvSpPr/>
          <p:nvPr/>
        </p:nvSpPr>
        <p:spPr>
          <a:xfrm>
            <a:off x="460772" y="4033205"/>
            <a:ext cx="150019" cy="150019"/>
          </a:xfrm>
          <a:prstGeom prst="roundRect">
            <a:avLst>
              <a:gd name="adj" fmla="val 6342847"/>
            </a:avLst>
          </a:prstGeom>
          <a:noFill/>
          <a:ln w="7144">
            <a:solidFill>
              <a:srgbClr val="B3452C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35"/>
          <p:cNvSpPr/>
          <p:nvPr/>
        </p:nvSpPr>
        <p:spPr>
          <a:xfrm>
            <a:off x="457200" y="4029633"/>
            <a:ext cx="200025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49" name="Text 36"/>
          <p:cNvSpPr/>
          <p:nvPr/>
        </p:nvSpPr>
        <p:spPr>
          <a:xfrm>
            <a:off x="700088" y="4022489"/>
            <a:ext cx="79867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Method note: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crops are reproduced verbatim from the published figures cited below — same image per row, no cherry-picking on our side.</a:t>
            </a:r>
            <a:endParaRPr lang="en-US" sz="800" dirty="0"/>
          </a:p>
        </p:txBody>
      </p:sp>
      <p:sp>
        <p:nvSpPr>
          <p:cNvPr id="50" name="Shape 37"/>
          <p:cNvSpPr/>
          <p:nvPr/>
        </p:nvSpPr>
        <p:spPr>
          <a:xfrm>
            <a:off x="457200" y="4577358"/>
            <a:ext cx="8229600" cy="0"/>
          </a:xfrm>
          <a:prstGeom prst="line">
            <a:avLst/>
          </a:prstGeom>
          <a:noFill/>
          <a:ln w="7144">
            <a:solidFill>
              <a:srgbClr val="DDD5C3"/>
            </a:solidFill>
            <a:prstDash val="solid"/>
          </a:ln>
        </p:spPr>
      </p:sp>
      <p:sp>
        <p:nvSpPr>
          <p:cNvPr id="51" name="Text 38"/>
          <p:cNvSpPr/>
          <p:nvPr/>
        </p:nvSpPr>
        <p:spPr>
          <a:xfrm>
            <a:off x="457200" y="4573786"/>
            <a:ext cx="8229600" cy="248194"/>
          </a:xfrm>
          <a:prstGeom prst="rect">
            <a:avLst/>
          </a:prstGeom>
          <a:noFill/>
          <a:ln/>
        </p:spPr>
        <p:txBody>
          <a:bodyPr wrap="square" lIns="0" tIns="50006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8" kern="0" dirty="0">
                <a:solidFill>
                  <a:srgbClr val="8A82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Restormer22 Fig. 6 (top row) · NAFNet22 Fig. 5 — tiles reproduced from the published figures</a:t>
            </a:r>
            <a:endParaRPr lang="en-US" sz="800" dirty="0"/>
          </a:p>
        </p:txBody>
      </p:sp>
      <p:sp>
        <p:nvSpPr>
          <p:cNvPr id="52" name="Text 39"/>
          <p:cNvSpPr/>
          <p:nvPr/>
        </p:nvSpPr>
        <p:spPr>
          <a:xfrm>
            <a:off x="1169016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2007</a:t>
            </a:r>
            <a:endParaRPr lang="en-US" sz="800" dirty="0"/>
          </a:p>
        </p:txBody>
      </p:sp>
      <p:sp>
        <p:nvSpPr>
          <p:cNvPr id="53" name="Text 40"/>
          <p:cNvSpPr/>
          <p:nvPr/>
        </p:nvSpPr>
        <p:spPr>
          <a:xfrm>
            <a:off x="2814981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2014</a:t>
            </a:r>
            <a:endParaRPr lang="en-US" sz="800" dirty="0"/>
          </a:p>
        </p:txBody>
      </p:sp>
      <p:sp>
        <p:nvSpPr>
          <p:cNvPr id="54" name="Text 41"/>
          <p:cNvSpPr/>
          <p:nvPr/>
        </p:nvSpPr>
        <p:spPr>
          <a:xfrm>
            <a:off x="4460834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2017</a:t>
            </a:r>
            <a:endParaRPr lang="en-US" sz="800" dirty="0"/>
          </a:p>
        </p:txBody>
      </p:sp>
      <p:sp>
        <p:nvSpPr>
          <p:cNvPr id="55" name="Text 42"/>
          <p:cNvSpPr/>
          <p:nvPr/>
        </p:nvSpPr>
        <p:spPr>
          <a:xfrm>
            <a:off x="6106798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2022</a:t>
            </a:r>
            <a:endParaRPr lang="en-US" sz="800" dirty="0"/>
          </a:p>
        </p:txBody>
      </p:sp>
      <p:sp>
        <p:nvSpPr>
          <p:cNvPr id="56" name="Text 43"/>
          <p:cNvSpPr/>
          <p:nvPr/>
        </p:nvSpPr>
        <p:spPr>
          <a:xfrm>
            <a:off x="7752763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2025</a:t>
            </a:r>
            <a:endParaRPr lang="en-US" sz="800" dirty="0"/>
          </a:p>
        </p:txBody>
      </p:sp>
      <p:sp>
        <p:nvSpPr>
          <p:cNvPr id="57" name="Text 44"/>
          <p:cNvSpPr/>
          <p:nvPr/>
        </p:nvSpPr>
        <p:spPr>
          <a:xfrm>
            <a:off x="1258639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45"/>
          <p:cNvSpPr/>
          <p:nvPr/>
        </p:nvSpPr>
        <p:spPr>
          <a:xfrm>
            <a:off x="2904604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46"/>
          <p:cNvSpPr/>
          <p:nvPr/>
        </p:nvSpPr>
        <p:spPr>
          <a:xfrm>
            <a:off x="4550457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47"/>
          <p:cNvSpPr/>
          <p:nvPr/>
        </p:nvSpPr>
        <p:spPr>
          <a:xfrm>
            <a:off x="6196422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48"/>
          <p:cNvSpPr/>
          <p:nvPr/>
        </p:nvSpPr>
        <p:spPr>
          <a:xfrm>
            <a:off x="7842386" y="4823817"/>
            <a:ext cx="42863" cy="42863"/>
          </a:xfrm>
          <a:prstGeom prst="ellipse">
            <a:avLst/>
          </a:prstGeom>
          <a:solidFill>
            <a:srgbClr val="B3452C"/>
          </a:solidFill>
          <a:ln w="7144">
            <a:solidFill>
              <a:srgbClr val="B3452C"/>
            </a:solidFill>
            <a:prstDash val="solid"/>
          </a:ln>
          <a:effectLst>
            <a:outerShdw sx="100000" sy="100000" kx="0" ky="0" algn="bl" rotWithShape="0" blurRad="101600" dist="50800" dir="16200000">
              <a:srgbClr val="B3452C">
                <a:alpha val="1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5738" y="114300"/>
            <a:ext cx="530602" cy="462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250" spc="-45" kern="0" dirty="0">
                <a:solidFill>
                  <a:srgbClr val="1C1917">
                    <a:alpha val="1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39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457200" y="371475"/>
            <a:ext cx="8636000" cy="161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B34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SYNTHESIS </a:t>
            </a:r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9C8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B34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WHY SEVERAL SOTAS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60784"/>
            <a:ext cx="8636000" cy="263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3"/>
              </a:lnSpc>
              <a:buNone/>
            </a:pPr>
            <a:r>
              <a:rPr lang="en-US" sz="1744" b="1" spc="-26" kern="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Four reasons the field has not converged on one method</a:t>
            </a:r>
            <a:endParaRPr lang="en-US" sz="1744" dirty="0"/>
          </a:p>
        </p:txBody>
      </p:sp>
      <p:sp>
        <p:nvSpPr>
          <p:cNvPr id="5" name="Text 3"/>
          <p:cNvSpPr/>
          <p:nvPr/>
        </p:nvSpPr>
        <p:spPr>
          <a:xfrm>
            <a:off x="457200" y="851669"/>
            <a:ext cx="7715250" cy="179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This is the question the professor is most likely to ask, so it gets its own slide rather than a sentence.</a:t>
            </a:r>
            <a:endParaRPr lang="en-US" sz="872" dirty="0"/>
          </a:p>
        </p:txBody>
      </p:sp>
      <p:sp>
        <p:nvSpPr>
          <p:cNvPr id="6" name="Text 4"/>
          <p:cNvSpPr/>
          <p:nvPr/>
        </p:nvSpPr>
        <p:spPr>
          <a:xfrm>
            <a:off x="460772" y="1121346"/>
            <a:ext cx="4057650" cy="1500188"/>
          </a:xfrm>
          <a:prstGeom prst="roundRect">
            <a:avLst>
              <a:gd name="adj" fmla="val 6349"/>
            </a:avLst>
          </a:prstGeom>
          <a:solidFill>
            <a:srgbClr val="FFFDF7"/>
          </a:solidFill>
          <a:ln w="7144">
            <a:solidFill>
              <a:srgbClr val="DDD5C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92931" y="1224930"/>
            <a:ext cx="3793331" cy="1350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77" kern="0" dirty="0">
                <a:solidFill>
                  <a:srgbClr val="9C856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REASON 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92931" y="1387450"/>
            <a:ext cx="3903059" cy="1504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44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benchmarks measure different things</a:t>
            </a:r>
            <a:endParaRPr lang="en-US" sz="844" dirty="0"/>
          </a:p>
        </p:txBody>
      </p:sp>
      <p:sp>
        <p:nvSpPr>
          <p:cNvPr id="9" name="Text 7"/>
          <p:cNvSpPr/>
          <p:nvPr/>
        </p:nvSpPr>
        <p:spPr>
          <a:xfrm>
            <a:off x="592931" y="1576760"/>
            <a:ext cx="3793331" cy="870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BSD68 measures average-case Gaussian removal and has saturated: 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+0.35 dB across five years at σ=25 (DnCNN-B 29.16 → Restormer 29.51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both blind models, one table 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[Restormer22 Table 4]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). Urban100 measures long-range self-similarity; SIDD and DND measure real sensor noise. A method can lead one and trail another without any contradiction.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625578" y="1121346"/>
            <a:ext cx="4057650" cy="1500188"/>
          </a:xfrm>
          <a:prstGeom prst="roundRect">
            <a:avLst>
              <a:gd name="adj" fmla="val 6349"/>
            </a:avLst>
          </a:prstGeom>
          <a:solidFill>
            <a:srgbClr val="FFFDF7"/>
          </a:solidFill>
          <a:ln w="7144">
            <a:solidFill>
              <a:srgbClr val="DDD5C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757738" y="1224930"/>
            <a:ext cx="3793331" cy="1350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77" kern="0" dirty="0">
                <a:solidFill>
                  <a:srgbClr val="9C856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REASON 2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757738" y="1387450"/>
            <a:ext cx="3903059" cy="1504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44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cost axes disagree with each other</a:t>
            </a:r>
            <a:endParaRPr lang="en-US" sz="844" dirty="0"/>
          </a:p>
        </p:txBody>
      </p:sp>
      <p:sp>
        <p:nvSpPr>
          <p:cNvPr id="13" name="Text 11"/>
          <p:cNvSpPr/>
          <p:nvPr/>
        </p:nvSpPr>
        <p:spPr>
          <a:xfrm>
            <a:off x="4757738" y="1576760"/>
            <a:ext cx="3793331" cy="686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own measurements give three incompatible rankings of the same models: by parameters DnCNN wins; by CPU wall-clock the P2N backbone wins; by real-noise quality NAFNet wins. NAFNet has 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4.4×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Restormer parameters and runs 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5.5×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faster. More efficient is meaningless without naming the metric and the device.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60772" y="2728689"/>
            <a:ext cx="4057650" cy="1500188"/>
          </a:xfrm>
          <a:prstGeom prst="roundRect">
            <a:avLst>
              <a:gd name="adj" fmla="val 6349"/>
            </a:avLst>
          </a:prstGeom>
          <a:solidFill>
            <a:srgbClr val="FFFDF7"/>
          </a:solidFill>
          <a:ln w="7144">
            <a:solidFill>
              <a:srgbClr val="DDD5C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92931" y="2832274"/>
            <a:ext cx="3793331" cy="1350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77" kern="0" dirty="0">
                <a:solidFill>
                  <a:srgbClr val="9C856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REASON 3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92931" y="2994794"/>
            <a:ext cx="3793331" cy="1504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44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Deployment constraints are not quality constraints</a:t>
            </a:r>
            <a:endParaRPr lang="en-US" sz="844" dirty="0"/>
          </a:p>
        </p:txBody>
      </p:sp>
      <p:sp>
        <p:nvSpPr>
          <p:cNvPr id="17" name="Text 15"/>
          <p:cNvSpPr/>
          <p:nvPr/>
        </p:nvSpPr>
        <p:spPr>
          <a:xfrm>
            <a:off x="592931" y="3184103"/>
            <a:ext cx="3793331" cy="5167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MambaIR leads DND by 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0.01 dB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and cannot be imported without compiled CUDA extensions. SCUNet leads no standard leaderboard and is a third of Restormer size. Which one is best depends entirely on what you are shipping onto what hardware.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625578" y="2728689"/>
            <a:ext cx="4057650" cy="1500188"/>
          </a:xfrm>
          <a:prstGeom prst="roundRect">
            <a:avLst>
              <a:gd name="adj" fmla="val 6349"/>
            </a:avLst>
          </a:prstGeom>
          <a:solidFill>
            <a:srgbClr val="FFFDF7"/>
          </a:solidFill>
          <a:ln w="7144">
            <a:solidFill>
              <a:srgbClr val="DDD5C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757738" y="2832274"/>
            <a:ext cx="3793331" cy="1350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77" kern="0" dirty="0">
                <a:solidFill>
                  <a:srgbClr val="9C856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REASON 4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757738" y="2994794"/>
            <a:ext cx="3903059" cy="1504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44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Supervision availability partitions the field</a:t>
            </a:r>
            <a:endParaRPr lang="en-US" sz="844" dirty="0"/>
          </a:p>
        </p:txBody>
      </p:sp>
      <p:sp>
        <p:nvSpPr>
          <p:cNvPr id="21" name="Text 19"/>
          <p:cNvSpPr/>
          <p:nvPr/>
        </p:nvSpPr>
        <p:spPr>
          <a:xfrm>
            <a:off x="4757738" y="3184103"/>
            <a:ext cx="3793331" cy="686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Branch A and branch B answer different questions. Where clean pairs exist, supervision wins by 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1.35 dB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29.06 vs 27.71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both numbers from N2V own comparison 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[N2V19]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 Where they do not, the self-supervised methods are not worse — they are the only option, and the supervised SOTA is simply unavailable.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57200" y="4577358"/>
            <a:ext cx="8229600" cy="0"/>
          </a:xfrm>
          <a:prstGeom prst="line">
            <a:avLst/>
          </a:prstGeom>
          <a:noFill/>
          <a:ln w="7144">
            <a:solidFill>
              <a:srgbClr val="DDD5C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573786"/>
            <a:ext cx="8229600" cy="248194"/>
          </a:xfrm>
          <a:prstGeom prst="rect">
            <a:avLst/>
          </a:prstGeom>
          <a:noFill/>
          <a:ln/>
        </p:spPr>
        <p:txBody>
          <a:bodyPr wrap="square" lIns="0" tIns="50006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8" kern="0" dirty="0">
                <a:solidFill>
                  <a:srgbClr val="8A82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Restormer22 Table 4 · NAFNet22 · MambaIR24 · N2V19 results table · measured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169016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2007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814981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2014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460834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2017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106798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2022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752763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2025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258639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2904604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550457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196422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7842386" y="4823817"/>
            <a:ext cx="42863" cy="42863"/>
          </a:xfrm>
          <a:prstGeom prst="ellipse">
            <a:avLst/>
          </a:prstGeom>
          <a:solidFill>
            <a:srgbClr val="B3452C"/>
          </a:solidFill>
          <a:ln w="7144">
            <a:solidFill>
              <a:srgbClr val="B3452C"/>
            </a:solidFill>
            <a:prstDash val="solid"/>
          </a:ln>
          <a:effectLst>
            <a:outerShdw sx="100000" sy="100000" kx="0" ky="0" algn="bl" rotWithShape="0" blurRad="101600" dist="50800" dir="16200000">
              <a:srgbClr val="B3452C">
                <a:alpha val="1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5738" y="114300"/>
            <a:ext cx="530602" cy="462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250" spc="-45" kern="0" dirty="0">
                <a:solidFill>
                  <a:srgbClr val="1C1917">
                    <a:alpha val="1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40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457200" y="371475"/>
            <a:ext cx="8636000" cy="161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B34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SYNTHESIS </a:t>
            </a:r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9C8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B34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APPLICATIONS AND TRADE-OFFS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60784"/>
            <a:ext cx="8636000" cy="263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3"/>
              </a:lnSpc>
              <a:buNone/>
            </a:pPr>
            <a:r>
              <a:rPr lang="en-US" sz="1744" b="1" spc="-26" kern="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you would actually deploy, and why</a:t>
            </a:r>
            <a:endParaRPr lang="en-US" sz="1744" dirty="0"/>
          </a:p>
        </p:txBody>
      </p:sp>
      <p:sp>
        <p:nvSpPr>
          <p:cNvPr id="5" name="Text 3"/>
          <p:cNvSpPr/>
          <p:nvPr/>
        </p:nvSpPr>
        <p:spPr>
          <a:xfrm>
            <a:off x="457200" y="851669"/>
            <a:ext cx="7715250" cy="358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honest answer to which is best names the constraint first. Five constraints, five different answers, all current — which is what an unresolved research question looks like when you have to ship something.</a:t>
            </a:r>
            <a:endParaRPr lang="en-US" sz="872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3866"/>
          <a:ext cx="8229600" cy="914400"/>
        </p:xfrm>
        <a:graphic>
          <a:graphicData uri="http://schemas.openxmlformats.org/drawingml/2006/table">
            <a:tbl>
              <a:tblPr/>
              <a:tblGrid>
                <a:gridCol w="1783593"/>
                <a:gridCol w="954360"/>
                <a:gridCol w="3833068"/>
                <a:gridCol w="1658578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7534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IF YOUR CONSTRAINT IS…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28575" marR="71438" marT="71438" marB="35719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7534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DEPLOY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28575" marR="71438" marT="71438" marB="35719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7534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BECAUSE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28575" marR="71438" marT="71438" marB="35719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7534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ACCEPT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28575" marR="71438" marT="71438" marB="35719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C191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Real photos, GPU, paired data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71438" marT="71438" marB="5715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C191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NAFNet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71438" marT="71438" marB="5715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753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40.30 dB on SIDD; best accuracy-per-millisecond we measured; simplest code to maintain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71438" marT="71438" marB="5715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753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116 M parameters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71438" marT="71438" marB="5715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C191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Repetitive structure, max quality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71438" marT="71438" marB="5715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A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C191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Restormer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71438" marT="71438" marB="5715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A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753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Leads Urban100 at every σ [Table 4]; first method past 40 dB on both real-noise benchmarks (SIDD 40.02 / DND 40.03)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71438" marT="71438" marB="5715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A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753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10.4 s per 256² on CPU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71438" marT="71438" marB="5715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A">
                        <a:alpha val="5500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C191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CPU or memory bound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71438" marT="71438" marB="5715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C191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SCUNet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71438" marT="71438" marB="5715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753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9.7 M parameters; synthetic-degradation training survives resized and JPEG-compressed input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71438" marT="71438" marB="5715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753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Not top of any AWGN leaderboard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71438" marT="71438" marB="5715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C191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No clean data exists at all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71438" marT="71438" marB="5715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A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C191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P2N / ZS-N2N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71438" marT="71438" marB="5715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A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753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Microscopy, cryo-EM, astronomy — where ground truth cannot be acquired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71438" marT="71438" marB="5715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A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753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Per-image test-time optimisation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71438" marT="71438" marB="5715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A">
                        <a:alpha val="5500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C191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No data, no GPU, no dependencies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71438" marT="71438" marB="5715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C191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BM3D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71438" marT="71438" marB="5715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753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Seventeen years old and still beats AWGN-trained DnCNN on real noise by 1.99 dB [Restormer22 Table 6]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71438" marT="71438" marB="5715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753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2.85 s, and a quality ceiling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71438" marT="71438" marB="57150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3425205"/>
            <a:ext cx="8229600" cy="459879"/>
          </a:xfrm>
          <a:prstGeom prst="roundRect">
            <a:avLst>
              <a:gd name="adj" fmla="val 20712"/>
            </a:avLst>
          </a:prstGeom>
          <a:solidFill>
            <a:srgbClr val="FAF5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457200" y="3428777"/>
            <a:ext cx="8229600" cy="0"/>
          </a:xfrm>
          <a:prstGeom prst="line">
            <a:avLst/>
          </a:prstGeom>
          <a:noFill/>
          <a:ln w="7144">
            <a:solidFill>
              <a:srgbClr val="DDD5C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683228" y="3425205"/>
            <a:ext cx="0" cy="459879"/>
          </a:xfrm>
          <a:prstGeom prst="line">
            <a:avLst/>
          </a:prstGeom>
          <a:noFill/>
          <a:ln w="7144">
            <a:solidFill>
              <a:srgbClr val="DDD5C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3881512"/>
            <a:ext cx="8229600" cy="0"/>
          </a:xfrm>
          <a:prstGeom prst="line">
            <a:avLst/>
          </a:prstGeom>
          <a:noFill/>
          <a:ln w="7144">
            <a:solidFill>
              <a:srgbClr val="DDD5C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7916" y="3425205"/>
            <a:ext cx="0" cy="459879"/>
          </a:xfrm>
          <a:prstGeom prst="line">
            <a:avLst/>
          </a:prstGeom>
          <a:noFill/>
          <a:ln w="21431">
            <a:solidFill>
              <a:srgbClr val="B3452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07219" y="3518074"/>
            <a:ext cx="7943850" cy="27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Denoising is rarely the product: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it is preprocessing for detection and segmentation — where the metric that matters is downstream IoU (slide 5) — and a plug-and-play prior inside other solvers. 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[SCUNet23 §1 · DnCNN17 §III-D]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457200" y="4577358"/>
            <a:ext cx="8229600" cy="0"/>
          </a:xfrm>
          <a:prstGeom prst="line">
            <a:avLst/>
          </a:prstGeom>
          <a:noFill/>
          <a:ln w="7144">
            <a:solidFill>
              <a:srgbClr val="DDD5C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4573786"/>
            <a:ext cx="8229600" cy="248194"/>
          </a:xfrm>
          <a:prstGeom prst="rect">
            <a:avLst/>
          </a:prstGeom>
          <a:noFill/>
          <a:ln/>
        </p:spPr>
        <p:txBody>
          <a:bodyPr wrap="square" lIns="0" tIns="50006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8" kern="0" dirty="0">
                <a:solidFill>
                  <a:srgbClr val="8A82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NAFNet22 · Restormer22 Tables 4, 6 · SCUNet23 · P2N25 · ZS-N2N23 · measured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169016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2007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2814981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2014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4460834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2017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6106798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2022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7752763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2025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1258639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2904604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4550457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6196422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7842386" y="4823817"/>
            <a:ext cx="42863" cy="42863"/>
          </a:xfrm>
          <a:prstGeom prst="ellipse">
            <a:avLst/>
          </a:prstGeom>
          <a:solidFill>
            <a:srgbClr val="B3452C"/>
          </a:solidFill>
          <a:ln w="7144">
            <a:solidFill>
              <a:srgbClr val="B3452C"/>
            </a:solidFill>
            <a:prstDash val="solid"/>
          </a:ln>
          <a:effectLst>
            <a:outerShdw sx="100000" sy="100000" kx="0" ky="0" algn="bl" rotWithShape="0" blurRad="101600" dist="50800" dir="16200000">
              <a:srgbClr val="B3452C">
                <a:alpha val="1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5738" y="114300"/>
            <a:ext cx="530602" cy="462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250" spc="-45" kern="0" dirty="0">
                <a:solidFill>
                  <a:srgbClr val="1C1917">
                    <a:alpha val="1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41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457200" y="371475"/>
            <a:ext cx="863600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B34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SYNTHESIS </a:t>
            </a:r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9C8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B34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OPEN PROBLEMS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60784"/>
            <a:ext cx="8636000" cy="263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3"/>
              </a:lnSpc>
              <a:buNone/>
            </a:pPr>
            <a:r>
              <a:rPr lang="en-US" sz="1744" b="1" spc="-26" kern="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eighteen years did not solve</a:t>
            </a:r>
            <a:endParaRPr lang="en-US" sz="1744" dirty="0"/>
          </a:p>
        </p:txBody>
      </p:sp>
      <p:sp>
        <p:nvSpPr>
          <p:cNvPr id="5" name="Text 3"/>
          <p:cNvSpPr/>
          <p:nvPr/>
        </p:nvSpPr>
        <p:spPr>
          <a:xfrm>
            <a:off x="457200" y="851669"/>
            <a:ext cx="7715250" cy="179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Each of these is grounded in a documented limitation from the papers themselves or in our own measurements — not speculation.</a:t>
            </a:r>
            <a:endParaRPr lang="en-US" sz="872" dirty="0"/>
          </a:p>
        </p:txBody>
      </p:sp>
      <p:sp>
        <p:nvSpPr>
          <p:cNvPr id="6" name="Text 4"/>
          <p:cNvSpPr/>
          <p:nvPr/>
        </p:nvSpPr>
        <p:spPr>
          <a:xfrm>
            <a:off x="460772" y="1114202"/>
            <a:ext cx="4057650" cy="1535906"/>
          </a:xfrm>
          <a:prstGeom prst="roundRect">
            <a:avLst>
              <a:gd name="adj" fmla="val 6202"/>
            </a:avLst>
          </a:prstGeom>
          <a:solidFill>
            <a:srgbClr val="FFFDF7"/>
          </a:solidFill>
          <a:ln w="7144">
            <a:solidFill>
              <a:srgbClr val="DDD5C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92931" y="1217786"/>
            <a:ext cx="3793331" cy="1350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77" kern="0" dirty="0">
                <a:solidFill>
                  <a:srgbClr val="9C856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OPEN 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92931" y="1380306"/>
            <a:ext cx="3903059" cy="1504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44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blind denoiser for real cameras</a:t>
            </a:r>
            <a:endParaRPr lang="en-US" sz="844" dirty="0"/>
          </a:p>
        </p:txBody>
      </p:sp>
      <p:sp>
        <p:nvSpPr>
          <p:cNvPr id="9" name="Text 7"/>
          <p:cNvSpPr/>
          <p:nvPr/>
        </p:nvSpPr>
        <p:spPr>
          <a:xfrm>
            <a:off x="592931" y="1569616"/>
            <a:ext cx="3793331" cy="97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SCUNet abstract states it remains unsolved. Neither synthetic degradation nor SIDD-trained models generalise to an unseen camera with an unseen ISP, and no benchmark currently measures that. DnCNN scores </a:t>
            </a:r>
            <a:pPr algn="l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23.66 dB</a:t>
            </a:r>
            <a:pPr algn="l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on SIDD </a:t>
            </a:r>
            <a:pPr algn="l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[Restormer22 Table 6]</a:t>
            </a:r>
            <a:pPr algn="l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</a:t>
            </a:r>
            <a:pPr algn="l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5.6 dB below its own BSD68 score, and 16.4 dB</a:t>
            </a:r>
            <a:pPr algn="l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behind Restormer </a:t>
            </a:r>
            <a:pPr algn="l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40.02</a:t>
            </a:r>
            <a:pPr algn="l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in the same table. Synthetic training does not survive contact with real sensor noise: a cliff, not a graceful degradation.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625578" y="1114202"/>
            <a:ext cx="4057650" cy="1535906"/>
          </a:xfrm>
          <a:prstGeom prst="roundRect">
            <a:avLst>
              <a:gd name="adj" fmla="val 6202"/>
            </a:avLst>
          </a:prstGeom>
          <a:solidFill>
            <a:srgbClr val="FFFDF7"/>
          </a:solidFill>
          <a:ln w="7144">
            <a:solidFill>
              <a:srgbClr val="DDD5C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757738" y="1217786"/>
            <a:ext cx="3793331" cy="1350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77" kern="0" dirty="0">
                <a:solidFill>
                  <a:srgbClr val="9C856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OPEN 2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757738" y="1380306"/>
            <a:ext cx="3903059" cy="1504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44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Fidelity metrics reward blur</a:t>
            </a:r>
            <a:endParaRPr lang="en-US" sz="844" dirty="0"/>
          </a:p>
        </p:txBody>
      </p:sp>
      <p:sp>
        <p:nvSpPr>
          <p:cNvPr id="13" name="Text 11"/>
          <p:cNvSpPr/>
          <p:nvPr/>
        </p:nvSpPr>
        <p:spPr>
          <a:xfrm>
            <a:off x="4757738" y="1569616"/>
            <a:ext cx="3793331" cy="6653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Every loss in the modern field is L1, L2 or PSNR, and all three recover a conditional mean — which is smoother than any plausible clean image. Noise2Noise names the mechanism itself: </a:t>
            </a:r>
            <a:pPr algn="l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C86F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L2 training results in spatial blurriness</a:t>
            </a:r>
            <a:pPr algn="l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 While leaderboards rank by PSNR, the incentive points the wrong way. </a:t>
            </a:r>
            <a:pPr algn="l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[N2N18 §2]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60772" y="2757264"/>
            <a:ext cx="4057650" cy="1535906"/>
          </a:xfrm>
          <a:prstGeom prst="roundRect">
            <a:avLst>
              <a:gd name="adj" fmla="val 6202"/>
            </a:avLst>
          </a:prstGeom>
          <a:solidFill>
            <a:srgbClr val="FFFDF7"/>
          </a:solidFill>
          <a:ln w="7144">
            <a:solidFill>
              <a:srgbClr val="DDD5C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92931" y="2860849"/>
            <a:ext cx="3793331" cy="1350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77" kern="0" dirty="0">
                <a:solidFill>
                  <a:srgbClr val="9C856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OPEN 3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92931" y="3023369"/>
            <a:ext cx="3903059" cy="1504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44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Nobody agrees what efficient means</a:t>
            </a:r>
            <a:endParaRPr lang="en-US" sz="844" dirty="0"/>
          </a:p>
        </p:txBody>
      </p:sp>
      <p:sp>
        <p:nvSpPr>
          <p:cNvPr id="17" name="Text 15"/>
          <p:cNvSpPr/>
          <p:nvPr/>
        </p:nvSpPr>
        <p:spPr>
          <a:xfrm>
            <a:off x="592931" y="3212678"/>
            <a:ext cx="3793331" cy="493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Three incompatible rankings from our own measurements, and MambaIR changelog concedes its published complexity figures were wrong. Efficiency claims across papers are close to uncheckable.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625578" y="2757264"/>
            <a:ext cx="4057650" cy="1535906"/>
          </a:xfrm>
          <a:prstGeom prst="roundRect">
            <a:avLst>
              <a:gd name="adj" fmla="val 6202"/>
            </a:avLst>
          </a:prstGeom>
          <a:solidFill>
            <a:srgbClr val="FFFDF7"/>
          </a:solidFill>
          <a:ln w="7144">
            <a:solidFill>
              <a:srgbClr val="DDD5C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757738" y="2860849"/>
            <a:ext cx="3793331" cy="1350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77" kern="0" dirty="0">
                <a:solidFill>
                  <a:srgbClr val="9C856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OPEN 4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757738" y="3023369"/>
            <a:ext cx="3903059" cy="1504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44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benchmarks have saturated</a:t>
            </a:r>
            <a:endParaRPr lang="en-US" sz="844" dirty="0"/>
          </a:p>
        </p:txBody>
      </p:sp>
      <p:sp>
        <p:nvSpPr>
          <p:cNvPr id="21" name="Text 19"/>
          <p:cNvSpPr/>
          <p:nvPr/>
        </p:nvSpPr>
        <p:spPr>
          <a:xfrm>
            <a:off x="4757738" y="3212678"/>
            <a:ext cx="3793331" cy="68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At σ=50, BSD68 moved 0.39 dB in five years while Urban100 moved 1.98</a:t>
            </a:r>
            <a:pPr algn="l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five times as much </a:t>
            </a:r>
            <a:pPr algn="l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[Restormer22 Table 4]</a:t>
            </a:r>
            <a:pPr algn="l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 On SIDD, the DnCNN-to-Restormer gap in one table is </a:t>
            </a:r>
            <a:pPr algn="l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16.4 dB</a:t>
            </a:r>
            <a:pPr algn="l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[Restormer22 Table 6]</a:t>
            </a:r>
            <a:pPr algn="l" indent="0" marL="0">
              <a:lnSpc>
                <a:spcPts val="1080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 A benchmark that cannot distinguish 2017 from 2022 is no longer measuring what the field works on.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57200" y="4577358"/>
            <a:ext cx="8229600" cy="0"/>
          </a:xfrm>
          <a:prstGeom prst="line">
            <a:avLst/>
          </a:prstGeom>
          <a:noFill/>
          <a:ln w="7144">
            <a:solidFill>
              <a:srgbClr val="DDD5C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573786"/>
            <a:ext cx="8229600" cy="248194"/>
          </a:xfrm>
          <a:prstGeom prst="rect">
            <a:avLst/>
          </a:prstGeom>
          <a:noFill/>
          <a:ln/>
        </p:spPr>
        <p:txBody>
          <a:bodyPr wrap="square" lIns="0" tIns="50006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8" kern="0" dirty="0">
                <a:solidFill>
                  <a:srgbClr val="8A82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SCUNet23 abstract · Restormer22 Tables 4, 6 · N2N18 §2 · measured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169016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2007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814981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2014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460834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2017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106798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2022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752763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2025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258639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2904604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550457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196422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7842386" y="4823817"/>
            <a:ext cx="42863" cy="42863"/>
          </a:xfrm>
          <a:prstGeom prst="ellipse">
            <a:avLst/>
          </a:prstGeom>
          <a:solidFill>
            <a:srgbClr val="B3452C"/>
          </a:solidFill>
          <a:ln w="7144">
            <a:solidFill>
              <a:srgbClr val="B3452C"/>
            </a:solidFill>
            <a:prstDash val="solid"/>
          </a:ln>
          <a:effectLst>
            <a:outerShdw sx="100000" sy="100000" kx="0" ky="0" algn="bl" rotWithShape="0" blurRad="101600" dist="50800" dir="16200000">
              <a:srgbClr val="B3452C">
                <a:alpha val="1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5738" y="114300"/>
            <a:ext cx="530602" cy="462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250" spc="-45" kern="0" dirty="0">
                <a:solidFill>
                  <a:srgbClr val="1C1917">
                    <a:alpha val="1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42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457200" y="371475"/>
            <a:ext cx="8636000" cy="161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B34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SYNTHESIS </a:t>
            </a:r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9C8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B34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PROPOSAL DIRECTIONS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60784"/>
            <a:ext cx="8636000" cy="263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3"/>
              </a:lnSpc>
              <a:buNone/>
            </a:pPr>
            <a:r>
              <a:rPr lang="en-US" sz="1744" b="1" spc="-26" kern="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Four research directions the limitations actually justify</a:t>
            </a:r>
            <a:endParaRPr lang="en-US" sz="1744" dirty="0"/>
          </a:p>
        </p:txBody>
      </p:sp>
      <p:sp>
        <p:nvSpPr>
          <p:cNvPr id="5" name="Text 3"/>
          <p:cNvSpPr/>
          <p:nvPr/>
        </p:nvSpPr>
        <p:spPr>
          <a:xfrm>
            <a:off x="457200" y="851669"/>
            <a:ext cx="7715250" cy="358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Each is tied to a specific documented gap, states what would change, and names how it would be measured. None of these claims a paper achieved something it did not.</a:t>
            </a:r>
            <a:endParaRPr lang="en-US" sz="872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69578"/>
          <a:ext cx="7858125" cy="914400"/>
        </p:xfrm>
        <a:graphic>
          <a:graphicData uri="http://schemas.openxmlformats.org/drawingml/2006/table">
            <a:tbl>
              <a:tblPr/>
              <a:tblGrid>
                <a:gridCol w="1400175"/>
                <a:gridCol w="2057400"/>
                <a:gridCol w="1914525"/>
                <a:gridCol w="2486025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7534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DIRECTION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28575" marR="71438" marT="71438" marB="35719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7534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GROUNDED IN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28575" marR="71438" marT="71438" marB="35719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7534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WHAT WOULD CHANGE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28575" marR="71438" marT="71438" marB="35719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7534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HOW YOU WOULD MEASURE IT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28575" marR="71438" marT="71438" marB="35719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C191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Cross the fork: self-supervised supervision on a modern backbone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753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Our own finding — no published work trains a Transformer or SSM backbone under RDC/DCS supervision; P2N still ships the 2018 U-Net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753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Replace UNet_n2n_un with a Restormer or NAFNet block under P2N RDC/DCS training signal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753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N2V own protocol on BSD68 σ=25 and on cryo-TEM / CTC sets — does the 1.35 dB gap (slide 24) shrink?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C191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Cross-ISP generalisation benchmark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A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753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SCUNet abstract: a general blind real denoiser remains unsolved, and no benchmark tests unseen cameras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A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753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Train on SIDD, evaluate on DND and a held-out camera; report the drop as the headline number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A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753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Δ PSNR between seen and unseen ISP — a metric nobody currently reports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A">
                        <a:alpha val="5500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C191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Perceptual objective without losing fidelity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753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Noise2Noise names L2 spatial blurriness; perceptual losses are common in SR and absent from denoising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753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Add an LPIPS or no-reference term to NAFNet PSNR loss; report both axes, not one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753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PSNR and LPIPS jointly on SIDD — accept a small dB loss for a measured perceptual gain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C191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An efficiency protocol the field can agree on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A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753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Three incompatible rankings from our measurements; MambaIR corrected thop figures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A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753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Report parameters, MACs and wall-clock on a named device, with the counting method stated explicitly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A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753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Reproduce the table across CPU and GPU; the ratio changes are themselves the result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A">
                        <a:alpha val="5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3472979"/>
            <a:ext cx="8229600" cy="439341"/>
          </a:xfrm>
          <a:prstGeom prst="roundRect">
            <a:avLst>
              <a:gd name="adj" fmla="val 21680"/>
            </a:avLst>
          </a:prstGeom>
          <a:solidFill>
            <a:srgbClr val="FAF5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457200" y="3476551"/>
            <a:ext cx="8229600" cy="0"/>
          </a:xfrm>
          <a:prstGeom prst="line">
            <a:avLst/>
          </a:prstGeom>
          <a:noFill/>
          <a:ln w="7144">
            <a:solidFill>
              <a:srgbClr val="DDD5C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683228" y="3472979"/>
            <a:ext cx="0" cy="439341"/>
          </a:xfrm>
          <a:prstGeom prst="line">
            <a:avLst/>
          </a:prstGeom>
          <a:noFill/>
          <a:ln w="7144">
            <a:solidFill>
              <a:srgbClr val="DDD5C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3908747"/>
            <a:ext cx="8229600" cy="0"/>
          </a:xfrm>
          <a:prstGeom prst="line">
            <a:avLst/>
          </a:prstGeom>
          <a:noFill/>
          <a:ln w="7144">
            <a:solidFill>
              <a:srgbClr val="DDD5C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7916" y="3472979"/>
            <a:ext cx="0" cy="439341"/>
          </a:xfrm>
          <a:prstGeom prst="line">
            <a:avLst/>
          </a:prstGeom>
          <a:noFill/>
          <a:ln w="21431">
            <a:solidFill>
              <a:srgbClr val="B3452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07219" y="3558704"/>
            <a:ext cx="7943850" cy="267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first row is the one we would pursue.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It falls directly out of the structural claim of this project — the two branches have never merged — and it is cheap to test, because both halves already exist as working code.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457200" y="4577358"/>
            <a:ext cx="8229600" cy="0"/>
          </a:xfrm>
          <a:prstGeom prst="line">
            <a:avLst/>
          </a:prstGeom>
          <a:noFill/>
          <a:ln w="7144">
            <a:solidFill>
              <a:srgbClr val="DDD5C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4573786"/>
            <a:ext cx="8229600" cy="248194"/>
          </a:xfrm>
          <a:prstGeom prst="rect">
            <a:avLst/>
          </a:prstGeom>
          <a:noFill/>
          <a:ln/>
        </p:spPr>
        <p:txBody>
          <a:bodyPr wrap="square" lIns="0" tIns="50006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8" kern="0" dirty="0">
                <a:solidFill>
                  <a:srgbClr val="8A82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grounded in P2N25, SCUNet23 abstract, N2N18 §2, MambaIR24 changelog, and our own measurements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169016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2007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2814981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2014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4460834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2017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6106798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2022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7752763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2025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1258639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2904604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4550457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6196422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7842386" y="4823817"/>
            <a:ext cx="42863" cy="42863"/>
          </a:xfrm>
          <a:prstGeom prst="ellipse">
            <a:avLst/>
          </a:prstGeom>
          <a:solidFill>
            <a:srgbClr val="B3452C"/>
          </a:solidFill>
          <a:ln w="7144">
            <a:solidFill>
              <a:srgbClr val="B3452C"/>
            </a:solidFill>
            <a:prstDash val="solid"/>
          </a:ln>
          <a:effectLst>
            <a:outerShdw sx="100000" sy="100000" kx="0" ky="0" algn="bl" rotWithShape="0" blurRad="101600" dist="50800" dir="16200000">
              <a:srgbClr val="B3452C">
                <a:alpha val="1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5738" y="114300"/>
            <a:ext cx="530602" cy="462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250" spc="-45" kern="0" dirty="0">
                <a:solidFill>
                  <a:srgbClr val="1C1917">
                    <a:alpha val="1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43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457200" y="371475"/>
            <a:ext cx="863600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B34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CONCLUSION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60784"/>
            <a:ext cx="8636000" cy="26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3"/>
              </a:lnSpc>
              <a:buNone/>
            </a:pPr>
            <a:r>
              <a:rPr lang="en-US" sz="1744" b="1" spc="-26" kern="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evolution, in one paragraph</a:t>
            </a:r>
            <a:endParaRPr lang="en-US" sz="1744" dirty="0"/>
          </a:p>
        </p:txBody>
      </p:sp>
      <p:sp>
        <p:nvSpPr>
          <p:cNvPr id="5" name="Text 3"/>
          <p:cNvSpPr/>
          <p:nvPr/>
        </p:nvSpPr>
        <p:spPr>
          <a:xfrm>
            <a:off x="457200" y="1223144"/>
            <a:ext cx="7000875" cy="445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4"/>
              </a:lnSpc>
              <a:buNone/>
            </a:pPr>
            <a:r>
              <a:rPr lang="en-US" sz="928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Denoising is the cleanest case study in how computer vision replaced hand-designed priors with learned ones, because here </a:t>
            </a:r>
            <a:pPr algn="l" indent="0" marL="0">
              <a:lnSpc>
                <a:spcPts val="1624"/>
              </a:lnSpc>
              <a:buNone/>
            </a:pPr>
            <a:r>
              <a:rPr lang="en-US" sz="928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prior is written down explicitly and you can watch it move</a:t>
            </a:r>
            <a:pPr algn="l" indent="0" marL="0">
              <a:lnSpc>
                <a:spcPts val="1624"/>
              </a:lnSpc>
              <a:buNone/>
            </a:pPr>
            <a:r>
              <a:rPr lang="en-US" sz="928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928" dirty="0"/>
          </a:p>
        </p:txBody>
      </p:sp>
      <p:sp>
        <p:nvSpPr>
          <p:cNvPr id="6" name="Text 4"/>
          <p:cNvSpPr/>
          <p:nvPr/>
        </p:nvSpPr>
        <p:spPr>
          <a:xfrm>
            <a:off x="457200" y="1864296"/>
            <a:ext cx="7000875" cy="445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4"/>
              </a:lnSpc>
              <a:buNone/>
            </a:pPr>
            <a:r>
              <a:rPr lang="en-US" sz="928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Four eras, three bottlenecks.</a:t>
            </a:r>
            <a:pPr algn="l" indent="0" marL="0">
              <a:lnSpc>
                <a:spcPts val="1624"/>
              </a:lnSpc>
              <a:buNone/>
            </a:pPr>
            <a:r>
              <a:rPr lang="en-US" sz="928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Manual prior design ended when DnCNN made the prior a downloadable file. That created two new debts — it needed clean data, and it could only see 35 pixels — and in 2018 the field forked to pay them off separately.</a:t>
            </a:r>
            <a:endParaRPr lang="en-US" sz="928" dirty="0"/>
          </a:p>
        </p:txBody>
      </p:sp>
      <p:sp>
        <p:nvSpPr>
          <p:cNvPr id="7" name="Text 5"/>
          <p:cNvSpPr/>
          <p:nvPr/>
        </p:nvSpPr>
        <p:spPr>
          <a:xfrm>
            <a:off x="457200" y="2505447"/>
            <a:ext cx="7000875" cy="445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4"/>
              </a:lnSpc>
              <a:buNone/>
            </a:pPr>
            <a:r>
              <a:rPr lang="en-US" sz="928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Neither branch has adopted the other advance. And because three architectures now lead three different benchmarks while none solves real-camera generalisation, </a:t>
            </a:r>
            <a:pPr algn="l" indent="0" marL="0">
              <a:lnSpc>
                <a:spcPts val="1624"/>
              </a:lnSpc>
              <a:buNone/>
            </a:pPr>
            <a:r>
              <a:rPr lang="en-US" sz="928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story ends in an open question rather than a winner</a:t>
            </a:r>
            <a:pPr algn="l" indent="0" marL="0">
              <a:lnSpc>
                <a:spcPts val="1624"/>
              </a:lnSpc>
              <a:buNone/>
            </a:pPr>
            <a:r>
              <a:rPr lang="en-US" sz="928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928" dirty="0"/>
          </a:p>
        </p:txBody>
      </p:sp>
      <p:sp>
        <p:nvSpPr>
          <p:cNvPr id="8" name="Shape 6"/>
          <p:cNvSpPr/>
          <p:nvPr/>
        </p:nvSpPr>
        <p:spPr>
          <a:xfrm>
            <a:off x="457200" y="3250183"/>
            <a:ext cx="7000875" cy="0"/>
          </a:xfrm>
          <a:prstGeom prst="line">
            <a:avLst/>
          </a:prstGeom>
          <a:noFill/>
          <a:ln w="7144">
            <a:solidFill>
              <a:srgbClr val="DDD5C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24631" y="3432349"/>
            <a:ext cx="2233444" cy="131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08"/>
              </a:lnSpc>
              <a:buNone/>
            </a:pPr>
            <a:r>
              <a:rPr lang="en-US" sz="872" i="1" dirty="0">
                <a:solidFill>
                  <a:srgbClr val="B3452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What the evidence in this talk supports.</a:t>
            </a:r>
            <a:endParaRPr lang="en-US" sz="872" dirty="0"/>
          </a:p>
        </p:txBody>
      </p:sp>
      <p:sp>
        <p:nvSpPr>
          <p:cNvPr id="10" name="Shape 8"/>
          <p:cNvSpPr/>
          <p:nvPr/>
        </p:nvSpPr>
        <p:spPr>
          <a:xfrm>
            <a:off x="457200" y="4577358"/>
            <a:ext cx="8229600" cy="0"/>
          </a:xfrm>
          <a:prstGeom prst="line">
            <a:avLst/>
          </a:prstGeom>
          <a:noFill/>
          <a:ln w="7144">
            <a:solidFill>
              <a:srgbClr val="DDD5C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573786"/>
            <a:ext cx="8229600" cy="248194"/>
          </a:xfrm>
          <a:prstGeom prst="rect">
            <a:avLst/>
          </a:prstGeom>
          <a:noFill/>
          <a:ln/>
        </p:spPr>
        <p:txBody>
          <a:bodyPr wrap="square" lIns="0" tIns="50006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8" kern="0" dirty="0">
                <a:solidFill>
                  <a:srgbClr val="8A82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organising claim, carried since Stage 1 · evidence: DnCNN17 · N2N18 · N2V19 · Restormer22 · NAFNet22 · SCUNet23 · MambaIR24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169016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2007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814981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2014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460834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2017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106798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752763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2025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258639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904604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550457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196422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842386" y="4823817"/>
            <a:ext cx="42863" cy="42863"/>
          </a:xfrm>
          <a:prstGeom prst="ellipse">
            <a:avLst/>
          </a:prstGeom>
          <a:solidFill>
            <a:srgbClr val="B3452C"/>
          </a:solidFill>
          <a:ln w="7144">
            <a:solidFill>
              <a:srgbClr val="B3452C"/>
            </a:solidFill>
            <a:prstDash val="solid"/>
          </a:ln>
          <a:effectLst>
            <a:outerShdw sx="100000" sy="100000" kx="0" ky="0" algn="bl" rotWithShape="0" blurRad="101600" dist="50800" dir="16200000">
              <a:srgbClr val="B3452C">
                <a:alpha val="1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5738" y="114300"/>
            <a:ext cx="530602" cy="462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250" spc="-45" kern="0" dirty="0">
                <a:solidFill>
                  <a:srgbClr val="1C1917">
                    <a:alpha val="1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44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457200" y="371475"/>
            <a:ext cx="8636000" cy="161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B34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BACKUP </a:t>
            </a:r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9C8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B34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THE MATHEMATICS IN ONE PLACE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60784"/>
            <a:ext cx="8636000" cy="263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3"/>
              </a:lnSpc>
              <a:buNone/>
            </a:pPr>
            <a:r>
              <a:rPr lang="en-US" sz="1744" b="1" spc="-26" kern="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Every equation this talk leaned on</a:t>
            </a:r>
            <a:endParaRPr lang="en-US" sz="1744" dirty="0"/>
          </a:p>
        </p:txBody>
      </p:sp>
      <p:sp>
        <p:nvSpPr>
          <p:cNvPr id="5" name="Text 3"/>
          <p:cNvSpPr/>
          <p:nvPr/>
        </p:nvSpPr>
        <p:spPr>
          <a:xfrm>
            <a:off x="457200" y="851669"/>
            <a:ext cx="7715250" cy="179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Kept for the defence: the formulas named on the method slides, written as equations with their sources.</a:t>
            </a:r>
            <a:endParaRPr lang="en-US" sz="872" dirty="0"/>
          </a:p>
        </p:txBody>
      </p:sp>
      <p:sp>
        <p:nvSpPr>
          <p:cNvPr id="6" name="Text 4"/>
          <p:cNvSpPr/>
          <p:nvPr/>
        </p:nvSpPr>
        <p:spPr>
          <a:xfrm>
            <a:off x="460772" y="1135633"/>
            <a:ext cx="2669307" cy="1186644"/>
          </a:xfrm>
          <a:prstGeom prst="roundRect">
            <a:avLst>
              <a:gd name="adj" fmla="val 8027"/>
            </a:avLst>
          </a:prstGeom>
          <a:solidFill>
            <a:srgbClr val="FFFDF7"/>
          </a:solidFill>
          <a:ln w="7144">
            <a:solidFill>
              <a:srgbClr val="DDD5C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85788" y="1246361"/>
            <a:ext cx="2419276" cy="1493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77" kern="0" dirty="0">
                <a:solidFill>
                  <a:srgbClr val="9C8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 — THE CLASSICAL PRIOR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89359" y="1426741"/>
            <a:ext cx="2412132" cy="294791"/>
          </a:xfrm>
          <a:prstGeom prst="roundRect">
            <a:avLst>
              <a:gd name="adj" fmla="val 22618"/>
            </a:avLst>
          </a:prstGeom>
          <a:solidFill>
            <a:srgbClr val="FAF5EA"/>
          </a:solidFill>
          <a:ln w="7144">
            <a:solidFill>
              <a:srgbClr val="DDD5C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85788" y="1423169"/>
            <a:ext cx="2419276" cy="331653"/>
          </a:xfrm>
          <a:prstGeom prst="rect">
            <a:avLst/>
          </a:prstGeom>
          <a:noFill/>
          <a:ln/>
        </p:spPr>
        <p:txBody>
          <a:bodyPr wrap="square" lIns="78581" tIns="64294" rIns="78581" bIns="64294" rtlCol="0" anchor="t">
            <a:normAutofit/>
          </a:bodyPr>
          <a:lstStyle/>
          <a:p>
            <a:pPr algn="l" indent="0" marL="0">
              <a:lnSpc>
                <a:spcPts val="1253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x̂ = argmin</a:t>
            </a:r>
            <a:pPr algn="l" indent="0" marL="0">
              <a:lnSpc>
                <a:spcPts val="1253"/>
              </a:lnSpc>
              <a:buNone/>
            </a:pPr>
            <a:r>
              <a:rPr lang="en-US" sz="800" baseline="-4000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algn="l" indent="0" marL="0">
              <a:lnSpc>
                <a:spcPts val="1253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½‖y − x‖² + λ·Φ(x)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85788" y="1782254"/>
            <a:ext cx="2419276" cy="149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692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prior written down: explicit, differentiable, arguable.</a:t>
            </a:r>
            <a:endParaRPr lang="en-US" sz="692" dirty="0"/>
          </a:p>
        </p:txBody>
      </p:sp>
      <p:sp>
        <p:nvSpPr>
          <p:cNvPr id="11" name="Text 9"/>
          <p:cNvSpPr/>
          <p:nvPr/>
        </p:nvSpPr>
        <p:spPr>
          <a:xfrm>
            <a:off x="585788" y="1959620"/>
            <a:ext cx="241927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28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[DnCNN17 §I]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237235" y="1135633"/>
            <a:ext cx="2669418" cy="1186644"/>
          </a:xfrm>
          <a:prstGeom prst="roundRect">
            <a:avLst>
              <a:gd name="adj" fmla="val 8027"/>
            </a:avLst>
          </a:prstGeom>
          <a:solidFill>
            <a:srgbClr val="FFFDF7"/>
          </a:solidFill>
          <a:ln w="7144">
            <a:solidFill>
              <a:srgbClr val="DDD5C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362251" y="1246361"/>
            <a:ext cx="2529115" cy="149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77" kern="0" dirty="0">
                <a:solidFill>
                  <a:srgbClr val="9C8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WNNM — WEIGHTED NUCLEAR NORM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365822" y="1426741"/>
            <a:ext cx="2412243" cy="453851"/>
          </a:xfrm>
          <a:prstGeom prst="roundRect">
            <a:avLst>
              <a:gd name="adj" fmla="val 14691"/>
            </a:avLst>
          </a:prstGeom>
          <a:solidFill>
            <a:srgbClr val="FAF5EA"/>
          </a:solidFill>
          <a:ln w="7144">
            <a:solidFill>
              <a:srgbClr val="DDD5C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362251" y="1423169"/>
            <a:ext cx="2419387" cy="490713"/>
          </a:xfrm>
          <a:prstGeom prst="rect">
            <a:avLst/>
          </a:prstGeom>
          <a:noFill/>
          <a:ln/>
        </p:spPr>
        <p:txBody>
          <a:bodyPr wrap="square" lIns="78581" tIns="64294" rIns="78581" bIns="64294" rtlCol="0" anchor="t">
            <a:normAutofit/>
          </a:bodyPr>
          <a:lstStyle/>
          <a:p>
            <a:pPr algn="l" indent="0" marL="0">
              <a:lnSpc>
                <a:spcPts val="1253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X̂ = argmin</a:t>
            </a:r>
            <a:pPr algn="l" indent="0" marL="0">
              <a:lnSpc>
                <a:spcPts val="1253"/>
              </a:lnSpc>
              <a:buNone/>
            </a:pPr>
            <a:r>
              <a:rPr lang="en-US" sz="800" baseline="-4000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algn="l" indent="0" marL="0">
              <a:lnSpc>
                <a:spcPts val="1253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½‖Y − X‖²</a:t>
            </a:r>
            <a:pPr algn="l" indent="0" marL="0">
              <a:lnSpc>
                <a:spcPts val="1253"/>
              </a:lnSpc>
              <a:buNone/>
            </a:pPr>
            <a:r>
              <a:rPr lang="en-US" sz="800" baseline="-4000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algn="l" indent="0" marL="0">
              <a:lnSpc>
                <a:spcPts val="1253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Σ</a:t>
            </a:r>
            <a:pPr algn="l" indent="0" marL="0">
              <a:lnSpc>
                <a:spcPts val="1253"/>
              </a:lnSpc>
              <a:buNone/>
            </a:pPr>
            <a:r>
              <a:rPr lang="en-US" sz="800" baseline="-4000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algn="l" indent="0" marL="0">
              <a:lnSpc>
                <a:spcPts val="1253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</a:t>
            </a:r>
            <a:pPr algn="l" indent="0" marL="0">
              <a:lnSpc>
                <a:spcPts val="1253"/>
              </a:lnSpc>
              <a:buNone/>
            </a:pPr>
            <a:r>
              <a:rPr lang="en-US" sz="800" baseline="-4000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algn="l" indent="0" marL="0">
              <a:lnSpc>
                <a:spcPts val="1253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·σ</a:t>
            </a:r>
            <a:pPr algn="l" indent="0" marL="0">
              <a:lnSpc>
                <a:spcPts val="1253"/>
              </a:lnSpc>
              <a:buNone/>
            </a:pPr>
            <a:r>
              <a:rPr lang="en-US" sz="800" baseline="-4000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algn="l" indent="0" marL="0">
              <a:lnSpc>
                <a:spcPts val="1253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(X), w</a:t>
            </a:r>
            <a:pPr algn="l" indent="0" marL="0">
              <a:lnSpc>
                <a:spcPts val="1253"/>
              </a:lnSpc>
              <a:buNone/>
            </a:pPr>
            <a:r>
              <a:rPr lang="en-US" sz="800" baseline="-4000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algn="l" indent="0" marL="0">
              <a:lnSpc>
                <a:spcPts val="1253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∝ 1/σ</a:t>
            </a:r>
            <a:pPr algn="l" indent="0" marL="0">
              <a:lnSpc>
                <a:spcPts val="1253"/>
              </a:lnSpc>
              <a:buNone/>
            </a:pPr>
            <a:r>
              <a:rPr lang="en-US" sz="800" baseline="-4000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62251" y="1941314"/>
            <a:ext cx="2419387" cy="149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692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Large singular values carry the image and are shrunk less.</a:t>
            </a:r>
            <a:endParaRPr lang="en-US" sz="692" dirty="0"/>
          </a:p>
        </p:txBody>
      </p:sp>
      <p:sp>
        <p:nvSpPr>
          <p:cNvPr id="17" name="Text 15"/>
          <p:cNvSpPr/>
          <p:nvPr/>
        </p:nvSpPr>
        <p:spPr>
          <a:xfrm>
            <a:off x="3362251" y="2118680"/>
            <a:ext cx="2419387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28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[WNNM14 §3, Thm 2]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013810" y="1135633"/>
            <a:ext cx="2669307" cy="1186644"/>
          </a:xfrm>
          <a:prstGeom prst="roundRect">
            <a:avLst>
              <a:gd name="adj" fmla="val 8027"/>
            </a:avLst>
          </a:prstGeom>
          <a:solidFill>
            <a:srgbClr val="FFFDF7"/>
          </a:solidFill>
          <a:ln w="7144">
            <a:solidFill>
              <a:srgbClr val="DDD5C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138825" y="1246361"/>
            <a:ext cx="2419276" cy="1493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77" kern="0" dirty="0">
                <a:solidFill>
                  <a:srgbClr val="9C8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DnCNN — RESIDUAL LEARNING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142397" y="1426741"/>
            <a:ext cx="2412132" cy="294791"/>
          </a:xfrm>
          <a:prstGeom prst="roundRect">
            <a:avLst>
              <a:gd name="adj" fmla="val 22618"/>
            </a:avLst>
          </a:prstGeom>
          <a:solidFill>
            <a:srgbClr val="FAF5EA"/>
          </a:solidFill>
          <a:ln w="7144">
            <a:solidFill>
              <a:srgbClr val="DDD5C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138825" y="1423169"/>
            <a:ext cx="2419276" cy="331653"/>
          </a:xfrm>
          <a:prstGeom prst="rect">
            <a:avLst/>
          </a:prstGeom>
          <a:noFill/>
          <a:ln/>
        </p:spPr>
        <p:txBody>
          <a:bodyPr wrap="square" lIns="78581" tIns="64294" rIns="78581" bIns="64294" rtlCol="0" anchor="t">
            <a:normAutofit/>
          </a:bodyPr>
          <a:lstStyle/>
          <a:p>
            <a:pPr algn="l" indent="0" marL="0">
              <a:lnSpc>
                <a:spcPts val="1253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ℓ(Θ) = 1/2N Σ</a:t>
            </a:r>
            <a:pPr algn="l" indent="0" marL="0">
              <a:lnSpc>
                <a:spcPts val="1253"/>
              </a:lnSpc>
              <a:buNone/>
            </a:pPr>
            <a:r>
              <a:rPr lang="en-US" sz="800" baseline="-4000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algn="l" indent="0" marL="0">
              <a:lnSpc>
                <a:spcPts val="1253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‖R(y</a:t>
            </a:r>
            <a:pPr algn="l" indent="0" marL="0">
              <a:lnSpc>
                <a:spcPts val="1253"/>
              </a:lnSpc>
              <a:buNone/>
            </a:pPr>
            <a:r>
              <a:rPr lang="en-US" sz="800" baseline="-4000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algn="l" indent="0" marL="0">
              <a:lnSpc>
                <a:spcPts val="1253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Θ) − (y</a:t>
            </a:r>
            <a:pPr algn="l" indent="0" marL="0">
              <a:lnSpc>
                <a:spcPts val="1253"/>
              </a:lnSpc>
              <a:buNone/>
            </a:pPr>
            <a:r>
              <a:rPr lang="en-US" sz="800" baseline="-4000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algn="l" indent="0" marL="0">
              <a:lnSpc>
                <a:spcPts val="1253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− x</a:t>
            </a:r>
            <a:pPr algn="l" indent="0" marL="0">
              <a:lnSpc>
                <a:spcPts val="1253"/>
              </a:lnSpc>
              <a:buNone/>
            </a:pPr>
            <a:r>
              <a:rPr lang="en-US" sz="800" baseline="-4000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algn="l" indent="0" marL="0">
              <a:lnSpc>
                <a:spcPts val="1253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)‖²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138825" y="1782254"/>
            <a:ext cx="2529004" cy="149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692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network learns v, not x; the output is y − R(y).</a:t>
            </a:r>
            <a:endParaRPr lang="en-US" sz="692" dirty="0"/>
          </a:p>
        </p:txBody>
      </p:sp>
      <p:sp>
        <p:nvSpPr>
          <p:cNvPr id="23" name="Text 21"/>
          <p:cNvSpPr/>
          <p:nvPr/>
        </p:nvSpPr>
        <p:spPr>
          <a:xfrm>
            <a:off x="6138825" y="1959620"/>
            <a:ext cx="241927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28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[DnCNN17 Eq. (1)]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60772" y="2429433"/>
            <a:ext cx="2669307" cy="1314004"/>
          </a:xfrm>
          <a:prstGeom prst="roundRect">
            <a:avLst>
              <a:gd name="adj" fmla="val 7249"/>
            </a:avLst>
          </a:prstGeom>
          <a:solidFill>
            <a:srgbClr val="FFFDF7"/>
          </a:solidFill>
          <a:ln w="7144">
            <a:solidFill>
              <a:srgbClr val="DDD5C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85788" y="2540161"/>
            <a:ext cx="2419276" cy="1493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77" kern="0" dirty="0">
                <a:solidFill>
                  <a:srgbClr val="9C856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NOISE2NOISE — THE THEOREM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89359" y="2720541"/>
            <a:ext cx="2412132" cy="453851"/>
          </a:xfrm>
          <a:prstGeom prst="roundRect">
            <a:avLst>
              <a:gd name="adj" fmla="val 14691"/>
            </a:avLst>
          </a:prstGeom>
          <a:solidFill>
            <a:srgbClr val="FAF5EA"/>
          </a:solidFill>
          <a:ln w="7144">
            <a:solidFill>
              <a:srgbClr val="DDD5C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85788" y="2716969"/>
            <a:ext cx="2419276" cy="490713"/>
          </a:xfrm>
          <a:prstGeom prst="rect">
            <a:avLst/>
          </a:prstGeom>
          <a:noFill/>
          <a:ln/>
        </p:spPr>
        <p:txBody>
          <a:bodyPr wrap="square" lIns="78581" tIns="64294" rIns="78581" bIns="64294" rtlCol="0" anchor="t">
            <a:normAutofit/>
          </a:bodyPr>
          <a:lstStyle/>
          <a:p>
            <a:pPr algn="l" indent="0" marL="0">
              <a:lnSpc>
                <a:spcPts val="1253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argmin</a:t>
            </a:r>
            <a:pPr algn="l" indent="0" marL="0">
              <a:lnSpc>
                <a:spcPts val="1253"/>
              </a:lnSpc>
              <a:buNone/>
            </a:pPr>
            <a:r>
              <a:rPr lang="en-US" sz="800" baseline="-4000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θ</a:t>
            </a:r>
            <a:pPr algn="l" indent="0" marL="0">
              <a:lnSpc>
                <a:spcPts val="1253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E‖f(y;θ) − z‖² ⇒ f* = E[z|y]; E{z′} = E{z} ⇒ same optimum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85788" y="3235114"/>
            <a:ext cx="2419276" cy="149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692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zero-mean corrupted target is as good as a clean one.</a:t>
            </a:r>
            <a:endParaRPr lang="en-US" sz="692" dirty="0"/>
          </a:p>
        </p:txBody>
      </p:sp>
      <p:sp>
        <p:nvSpPr>
          <p:cNvPr id="29" name="Text 27"/>
          <p:cNvSpPr/>
          <p:nvPr/>
        </p:nvSpPr>
        <p:spPr>
          <a:xfrm>
            <a:off x="585788" y="3412480"/>
            <a:ext cx="241927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28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[N2N18 Eq. (2)–(6)]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237235" y="2429433"/>
            <a:ext cx="2669418" cy="1314004"/>
          </a:xfrm>
          <a:prstGeom prst="roundRect">
            <a:avLst>
              <a:gd name="adj" fmla="val 7249"/>
            </a:avLst>
          </a:prstGeom>
          <a:solidFill>
            <a:srgbClr val="FFFDF7"/>
          </a:solidFill>
          <a:ln w="7144">
            <a:solidFill>
              <a:srgbClr val="DDD5C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3362251" y="2540161"/>
            <a:ext cx="2419387" cy="1493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77" kern="0" dirty="0">
                <a:solidFill>
                  <a:srgbClr val="9C8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RESTORMER — MDTA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365822" y="2720541"/>
            <a:ext cx="2412243" cy="453851"/>
          </a:xfrm>
          <a:prstGeom prst="roundRect">
            <a:avLst>
              <a:gd name="adj" fmla="val 14691"/>
            </a:avLst>
          </a:prstGeom>
          <a:solidFill>
            <a:srgbClr val="FAF5EA"/>
          </a:solidFill>
          <a:ln w="7144">
            <a:solidFill>
              <a:srgbClr val="DDD5C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3362251" y="2716969"/>
            <a:ext cx="2419387" cy="490713"/>
          </a:xfrm>
          <a:prstGeom prst="rect">
            <a:avLst/>
          </a:prstGeom>
          <a:noFill/>
          <a:ln/>
        </p:spPr>
        <p:txBody>
          <a:bodyPr wrap="square" lIns="78581" tIns="64294" rIns="78581" bIns="64294" rtlCol="0" anchor="t">
            <a:normAutofit/>
          </a:bodyPr>
          <a:lstStyle/>
          <a:p>
            <a:pPr algn="l" indent="0" marL="0">
              <a:lnSpc>
                <a:spcPts val="1253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Attn = softmax(τ·QK</a:t>
            </a:r>
            <a:pPr algn="l" indent="0" marL="0">
              <a:lnSpc>
                <a:spcPts val="1253"/>
              </a:lnSpc>
              <a:buNone/>
            </a:pPr>
            <a:r>
              <a:rPr lang="en-US" sz="800" baseline="3000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pPr algn="l" indent="0" marL="0">
              <a:lnSpc>
                <a:spcPts val="1253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∈ ℝ</a:t>
            </a:r>
            <a:pPr algn="l" indent="0" marL="0">
              <a:lnSpc>
                <a:spcPts val="1253"/>
              </a:lnSpc>
              <a:buNone/>
            </a:pPr>
            <a:r>
              <a:rPr lang="en-US" sz="800" baseline="3000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C×C</a:t>
            </a:r>
            <a:pPr algn="l" indent="0" marL="0">
              <a:lnSpc>
                <a:spcPts val="1253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out = V·Attn</a:t>
            </a:r>
            <a:pPr algn="l" indent="0" marL="0">
              <a:lnSpc>
                <a:spcPts val="1253"/>
              </a:lnSpc>
              <a:buNone/>
            </a:pPr>
            <a:r>
              <a:rPr lang="en-US" sz="800" baseline="3000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362251" y="3235114"/>
            <a:ext cx="2419387" cy="277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Pixels on the last axis: attention over channels, cost linear in HW.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362251" y="3539840"/>
            <a:ext cx="2419387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28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[Restormer22 §3.1]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013810" y="2429433"/>
            <a:ext cx="2669307" cy="1314004"/>
          </a:xfrm>
          <a:prstGeom prst="roundRect">
            <a:avLst>
              <a:gd name="adj" fmla="val 7249"/>
            </a:avLst>
          </a:prstGeom>
          <a:solidFill>
            <a:srgbClr val="FFFDF7"/>
          </a:solidFill>
          <a:ln w="7144">
            <a:solidFill>
              <a:srgbClr val="DDD5C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138825" y="2540161"/>
            <a:ext cx="2419276" cy="1493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77" kern="0" dirty="0">
                <a:solidFill>
                  <a:srgbClr val="9C856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MAMBA — S6 RECURRENCE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142397" y="2720541"/>
            <a:ext cx="2412132" cy="453851"/>
          </a:xfrm>
          <a:prstGeom prst="roundRect">
            <a:avLst>
              <a:gd name="adj" fmla="val 14691"/>
            </a:avLst>
          </a:prstGeom>
          <a:solidFill>
            <a:srgbClr val="FAF5EA"/>
          </a:solidFill>
          <a:ln w="7144">
            <a:solidFill>
              <a:srgbClr val="DDD5C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6138825" y="2716969"/>
            <a:ext cx="2419276" cy="490713"/>
          </a:xfrm>
          <a:prstGeom prst="rect">
            <a:avLst/>
          </a:prstGeom>
          <a:noFill/>
          <a:ln/>
        </p:spPr>
        <p:txBody>
          <a:bodyPr wrap="square" lIns="78581" tIns="64294" rIns="78581" bIns="64294" rtlCol="0" anchor="t">
            <a:normAutofit/>
          </a:bodyPr>
          <a:lstStyle/>
          <a:p>
            <a:pPr algn="l" indent="0" marL="0">
              <a:lnSpc>
                <a:spcPts val="1253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pPr algn="l" indent="0" marL="0">
              <a:lnSpc>
                <a:spcPts val="1253"/>
              </a:lnSpc>
              <a:buNone/>
            </a:pPr>
            <a:r>
              <a:rPr lang="en-US" sz="800" baseline="-4000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pPr algn="l" indent="0" marL="0">
              <a:lnSpc>
                <a:spcPts val="1253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Āh</a:t>
            </a:r>
            <a:pPr algn="l" indent="0" marL="0">
              <a:lnSpc>
                <a:spcPts val="1253"/>
              </a:lnSpc>
              <a:buNone/>
            </a:pPr>
            <a:r>
              <a:rPr lang="en-US" sz="800" baseline="-40000" dirty="0">
                <a:solidFill>
                  <a:srgbClr val="1C191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t−1</a:t>
            </a:r>
            <a:pPr algn="l" indent="0" marL="0">
              <a:lnSpc>
                <a:spcPts val="1253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B̄</a:t>
            </a:r>
            <a:pPr algn="l" indent="0" marL="0">
              <a:lnSpc>
                <a:spcPts val="1253"/>
              </a:lnSpc>
              <a:buNone/>
            </a:pPr>
            <a:r>
              <a:rPr lang="en-US" sz="800" baseline="-4000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pPr algn="l" indent="0" marL="0">
              <a:lnSpc>
                <a:spcPts val="1253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·x</a:t>
            </a:r>
            <a:pPr algn="l" indent="0" marL="0">
              <a:lnSpc>
                <a:spcPts val="1253"/>
              </a:lnSpc>
              <a:buNone/>
            </a:pPr>
            <a:r>
              <a:rPr lang="en-US" sz="800" baseline="-4000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pPr algn="l" indent="0" marL="0">
              <a:lnSpc>
                <a:spcPts val="1253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y</a:t>
            </a:r>
            <a:pPr algn="l" indent="0" marL="0">
              <a:lnSpc>
                <a:spcPts val="1253"/>
              </a:lnSpc>
              <a:buNone/>
            </a:pPr>
            <a:r>
              <a:rPr lang="en-US" sz="800" baseline="-4000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pPr algn="l" indent="0" marL="0">
              <a:lnSpc>
                <a:spcPts val="1253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C</a:t>
            </a:r>
            <a:pPr algn="l" indent="0" marL="0">
              <a:lnSpc>
                <a:spcPts val="1253"/>
              </a:lnSpc>
              <a:buNone/>
            </a:pPr>
            <a:r>
              <a:rPr lang="en-US" sz="800" baseline="-4000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pPr algn="l" indent="0" marL="0">
              <a:lnSpc>
                <a:spcPts val="1253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·h</a:t>
            </a:r>
            <a:pPr algn="l" indent="0" marL="0">
              <a:lnSpc>
                <a:spcPts val="1253"/>
              </a:lnSpc>
              <a:buNone/>
            </a:pPr>
            <a:r>
              <a:rPr lang="en-US" sz="800" baseline="-4000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pPr algn="l" indent="0" marL="0">
              <a:lnSpc>
                <a:spcPts val="1253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Ā = exp(Δ</a:t>
            </a:r>
            <a:pPr algn="l" indent="0" marL="0">
              <a:lnSpc>
                <a:spcPts val="1253"/>
              </a:lnSpc>
              <a:buNone/>
            </a:pPr>
            <a:r>
              <a:rPr lang="en-US" sz="800" baseline="-4000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pPr algn="l" indent="0" marL="0">
              <a:lnSpc>
                <a:spcPts val="1253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·A), B̄</a:t>
            </a:r>
            <a:pPr algn="l" indent="0" marL="0">
              <a:lnSpc>
                <a:spcPts val="1253"/>
              </a:lnSpc>
              <a:buNone/>
            </a:pPr>
            <a:r>
              <a:rPr lang="en-US" sz="800" baseline="-4000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pPr algn="l" indent="0" marL="0">
              <a:lnSpc>
                <a:spcPts val="1253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Δ</a:t>
            </a:r>
            <a:pPr algn="l" indent="0" marL="0">
              <a:lnSpc>
                <a:spcPts val="1253"/>
              </a:lnSpc>
              <a:buNone/>
            </a:pPr>
            <a:r>
              <a:rPr lang="en-US" sz="800" baseline="-4000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pPr algn="l" indent="0" marL="0">
              <a:lnSpc>
                <a:spcPts val="1253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·B</a:t>
            </a:r>
            <a:pPr algn="l" indent="0" marL="0">
              <a:lnSpc>
                <a:spcPts val="1253"/>
              </a:lnSpc>
              <a:buNone/>
            </a:pPr>
            <a:r>
              <a:rPr lang="en-US" sz="800" baseline="-4000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138825" y="3235114"/>
            <a:ext cx="2419276" cy="277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Selective state space: Δ, B, C are input-dependent — global reach at linear cost.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138825" y="3539840"/>
            <a:ext cx="2529004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28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[MambaIR24 §2 · Gu &amp; Dao 2023]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57200" y="4577358"/>
            <a:ext cx="8229600" cy="0"/>
          </a:xfrm>
          <a:prstGeom prst="line">
            <a:avLst/>
          </a:prstGeom>
          <a:noFill/>
          <a:ln w="7144">
            <a:solidFill>
              <a:srgbClr val="DDD5C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4573786"/>
            <a:ext cx="8229600" cy="248194"/>
          </a:xfrm>
          <a:prstGeom prst="rect">
            <a:avLst/>
          </a:prstGeom>
          <a:noFill/>
          <a:ln/>
        </p:spPr>
        <p:txBody>
          <a:bodyPr wrap="square" lIns="0" tIns="50006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8" kern="0" dirty="0">
                <a:solidFill>
                  <a:srgbClr val="8A82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 equations reproduced from the cited sections · SSIM and LPIPS definitions: slide 05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169016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2007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2814981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2014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460834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2017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106798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2022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7752763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2025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1258639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2904604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4550457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6196422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7842386" y="4823817"/>
            <a:ext cx="42863" cy="42863"/>
          </a:xfrm>
          <a:prstGeom prst="ellipse">
            <a:avLst/>
          </a:prstGeom>
          <a:solidFill>
            <a:srgbClr val="B3452C"/>
          </a:solidFill>
          <a:ln w="7144">
            <a:solidFill>
              <a:srgbClr val="B3452C"/>
            </a:solidFill>
            <a:prstDash val="solid"/>
          </a:ln>
          <a:effectLst>
            <a:outerShdw sx="100000" sy="100000" kx="0" ky="0" algn="bl" rotWithShape="0" blurRad="101600" dist="50800" dir="16200000">
              <a:srgbClr val="B3452C">
                <a:alpha val="1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5738" y="114300"/>
            <a:ext cx="530602" cy="462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250" spc="-45" kern="0" dirty="0">
                <a:solidFill>
                  <a:srgbClr val="1C1917">
                    <a:alpha val="1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45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457200" y="371475"/>
            <a:ext cx="863600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B34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BACKUP </a:t>
            </a:r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9C8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B345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QUESTION INDEX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60784"/>
            <a:ext cx="8636000" cy="256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3"/>
              </a:lnSpc>
              <a:buNone/>
            </a:pPr>
            <a:r>
              <a:rPr lang="en-US" sz="1744" b="1" spc="-26" kern="0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Where to find the answer to what you are about to be asked</a:t>
            </a:r>
            <a:endParaRPr lang="en-US" sz="1744" dirty="0"/>
          </a:p>
        </p:txBody>
      </p:sp>
      <p:sp>
        <p:nvSpPr>
          <p:cNvPr id="5" name="Text 3"/>
          <p:cNvSpPr/>
          <p:nvPr/>
        </p:nvSpPr>
        <p:spPr>
          <a:xfrm>
            <a:off x="457200" y="844525"/>
            <a:ext cx="7715250" cy="179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Kept for the Q&amp;A. The full evidence for every claim in this talk is in the 100-slide master deck, indexed here by the question likely to prompt it.</a:t>
            </a:r>
            <a:endParaRPr lang="en-US" sz="872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82055"/>
          <a:ext cx="8229600" cy="914400"/>
        </p:xfrm>
        <a:graphic>
          <a:graphicData uri="http://schemas.openxmlformats.org/drawingml/2006/table">
            <a:tbl>
              <a:tblPr/>
              <a:tblGrid>
                <a:gridCol w="1700213"/>
                <a:gridCol w="5686425"/>
                <a:gridCol w="842963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7534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IF ASKED…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28575" marR="64294" marT="64294" marB="35719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7534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ANSWER IN ONE LINE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28575" marR="64294" marT="64294" marB="35719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7534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MASTER DECK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28575" marR="64294" marT="64294" marB="35719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C191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Why is 0.6 dB a big deal?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64294" marT="64294" marB="35719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753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Seven years of classical refinement bought +0.11–0.39 dB over BM3D at σ=25; DnCNN took +0.66 dB in one paper [DnCNN17 Table II]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64294" marT="64294" marB="35719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7534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10, 37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5719" marR="64294" marT="64294" marB="35719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C191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Why predict noise, not the image?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64294" marT="64294" marB="35719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A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753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y is closer to x than to v, so learning the image forces an identity mapping — the hard point in parameter space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64294" marT="64294" marB="35719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A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7534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33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5719" marR="64294" marT="64294" marB="35719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A">
                        <a:alpha val="5500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C191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Why do RL and BN need each other?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64294" marT="64294" marB="35719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753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RL makes layer inputs Gaussian-like and content-independent — what BN batch statistics assume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64294" marT="64294" marB="35719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7534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34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5719" marR="64294" marT="64294" marB="35719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C191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Why depth 17?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64294" marT="64294" marB="35719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A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753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RF = (2d+1)² set to 35×35 to match EPLL, the smallest effective patch size in the field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64294" marT="64294" marB="35719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A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7534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35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5719" marR="64294" marT="64294" marB="35719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A">
                        <a:alpha val="5500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C191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How can noisy targets work?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64294" marT="64294" marB="35719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753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L2 learns the conditional mean; the mean of a zero-mean corrupted target is the clean target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64294" marT="64294" marB="35719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7534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43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5719" marR="64294" marT="64294" marB="35719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C191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Where is Restormer attention linear?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64294" marT="64294" marB="35719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A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753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Attention.forward — the rearrange puts pixels last, so q@kT is C×C not HW×HW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64294" marT="64294" marB="35719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A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7534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69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5719" marR="64294" marT="64294" marB="35719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A">
                        <a:alpha val="5500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C191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Why is NAFNet faster with more parameters?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64294" marT="64294" marB="35719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753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1×1 and depth-wise convs hit optimised GEMM paths; rearrange forces tensor-layout changes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64294" marT="64294" marB="35719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7534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77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5719" marR="64294" marT="64294" marB="35719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C191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What did the code tell you that the papers did not?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64294" marT="64294" marB="35719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A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753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Padding constants differ 8×; SPI cuts parameters and triples latency; MambaIR needs CUDA to import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64294" marT="64294" marB="35719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A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7534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75, 77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5719" marR="64294" marT="64294" marB="35719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A">
                        <a:alpha val="5500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C191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Which would you deploy?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64294" marT="64294" marB="35719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753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Name the constraint first — five constraints, five answers, all current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64294" marT="64294" marB="35719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7534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89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5719" marR="64294" marT="64294" marB="35719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C191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Did you verify the PSNRs yourself?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64294" marT="64294" marB="35719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A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753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No. Every quality figure is reproduced from a named published table; only parameters and latency are ours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64294" marT="64294" marB="35719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A">
                        <a:alpha val="5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7534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81, 93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5719" marR="64294" marT="64294" marB="35719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A">
                        <a:alpha val="5500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C191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Where are the equations?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64294" marT="64294" marB="35719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7534E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Slide 44 of this deck — WNNM, MDTA, S6 and the rest in one place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64294" marT="64294" marB="35719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7534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this deck, 44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5719" marR="64294" marT="64294" marB="35719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3766207"/>
            <a:ext cx="8229600" cy="285750"/>
          </a:xfrm>
          <a:prstGeom prst="roundRect">
            <a:avLst>
              <a:gd name="adj" fmla="val 33333"/>
            </a:avLst>
          </a:prstGeom>
          <a:solidFill>
            <a:srgbClr val="FAF5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457200" y="3769779"/>
            <a:ext cx="8229600" cy="0"/>
          </a:xfrm>
          <a:prstGeom prst="line">
            <a:avLst/>
          </a:prstGeom>
          <a:noFill/>
          <a:ln w="7144">
            <a:solidFill>
              <a:srgbClr val="DDD5C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683228" y="3766207"/>
            <a:ext cx="0" cy="285750"/>
          </a:xfrm>
          <a:prstGeom prst="line">
            <a:avLst/>
          </a:prstGeom>
          <a:noFill/>
          <a:ln w="7144">
            <a:solidFill>
              <a:srgbClr val="DDD5C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4048385"/>
            <a:ext cx="8229600" cy="0"/>
          </a:xfrm>
          <a:prstGeom prst="line">
            <a:avLst/>
          </a:prstGeom>
          <a:noFill/>
          <a:ln w="7144">
            <a:solidFill>
              <a:srgbClr val="DDD5C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7916" y="3766207"/>
            <a:ext cx="0" cy="285750"/>
          </a:xfrm>
          <a:prstGeom prst="line">
            <a:avLst/>
          </a:prstGeom>
          <a:noFill/>
          <a:ln w="21431">
            <a:solidFill>
              <a:srgbClr val="B3452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2931" y="3844789"/>
            <a:ext cx="7972425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rule for the defence:</a:t>
            </a:r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do not put anything on a slide you cannot personally explain. Every claim in this talk traces to a named table in a named paper, or to a measurement whose method is stated.</a:t>
            </a:r>
            <a:endParaRPr lang="en-US" sz="675" dirty="0"/>
          </a:p>
        </p:txBody>
      </p:sp>
      <p:sp>
        <p:nvSpPr>
          <p:cNvPr id="13" name="Shape 10"/>
          <p:cNvSpPr/>
          <p:nvPr/>
        </p:nvSpPr>
        <p:spPr>
          <a:xfrm>
            <a:off x="457200" y="4577358"/>
            <a:ext cx="8229600" cy="0"/>
          </a:xfrm>
          <a:prstGeom prst="line">
            <a:avLst/>
          </a:prstGeom>
          <a:noFill/>
          <a:ln w="7144">
            <a:solidFill>
              <a:srgbClr val="DDD5C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4573786"/>
            <a:ext cx="8229600" cy="248194"/>
          </a:xfrm>
          <a:prstGeom prst="rect">
            <a:avLst/>
          </a:prstGeom>
          <a:noFill/>
          <a:ln/>
        </p:spPr>
        <p:txBody>
          <a:bodyPr wrap="square" lIns="0" tIns="50006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8" kern="0" dirty="0">
                <a:solidFill>
                  <a:srgbClr val="8A82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Q&amp;A index · master-deck numbers refer to the 100-slide deck submitted separately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169016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2007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2814981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2014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4460834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2017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6106798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8A827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2022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7752763" y="4898827"/>
            <a:ext cx="332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spc="43" kern="0" dirty="0">
                <a:solidFill>
                  <a:srgbClr val="B345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2025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1258639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2904604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4550457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6196422" y="4823817"/>
            <a:ext cx="42863" cy="42863"/>
          </a:xfrm>
          <a:prstGeom prst="ellipse">
            <a:avLst/>
          </a:prstGeom>
          <a:solidFill>
            <a:srgbClr val="CDC4AE"/>
          </a:solidFill>
          <a:ln w="7144">
            <a:solidFill>
              <a:srgbClr val="9C856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7842386" y="4823817"/>
            <a:ext cx="42863" cy="42863"/>
          </a:xfrm>
          <a:prstGeom prst="ellipse">
            <a:avLst/>
          </a:prstGeom>
          <a:solidFill>
            <a:srgbClr val="B3452C"/>
          </a:solidFill>
          <a:ln w="7144">
            <a:solidFill>
              <a:srgbClr val="B3452C"/>
            </a:solidFill>
            <a:prstDash val="solid"/>
          </a:ln>
          <a:effectLst>
            <a:outerShdw sx="100000" sy="100000" kx="0" ky="0" algn="bl" rotWithShape="0" blurRad="101600" dist="50800" dir="16200000">
              <a:srgbClr val="B3452C">
                <a:alpha val="1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2026-09-18T18:24:38Z</dcterms:created>
  <dcterms:modified xsi:type="dcterms:W3CDTF">2026-09-18T18:24:38Z</dcterms:modified>
</cp:coreProperties>
</file>