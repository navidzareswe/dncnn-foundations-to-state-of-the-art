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30s. Say the framing sentence and move. Do not read the meta cards — they answer questions before they are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35s. This slide is a contract with the audience. It also tells the TA exactly what to listen for, which is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55s. This is the only theory slide. Everything else is evolution. Do not derive MAP here — the master deck has it and the audience does not need it to follow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38s. Setting this up now means the SOTA comparison later lands as a payoff rather than a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8s. Just say 'Era one' and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72s. The random-transform ablation is the memorable fact — lead with it if pressed for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06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78s. Point at the highlighted row and say the sentence in the footnote. This is the slide that motivates the entire deep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38s. Fast. These four cards are the setup for DnCNN answering all four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58s. If you are running late, this is the first slide to compress — but do not cut it entirely, the TA may ask how the transition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10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78s. The two highlighted rows are the innovation and the payoff. Say both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11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92s. The most important implementation slide in the talk. Point at return x-n, then at the BEFORE/AFTER comment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58s. '85% of the available headroom' is the phrase that makes 0.6 dB sound like what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72s. Slow down. Then hand over. Rehearse the handover sentence so it is not awkward.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42s. Presenter 2 opens here. This slide is the map for the next twelve minutes — deliver it with energy, it re-engages the room after the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64s. The 0.02 dB number is the punchline — say it last and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17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64s. Volunteering the 'worse than BM3D' row before anyone asks is a rigour move. It also sets up the availability argument as your own point rather than a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18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58s. Do not try to explain both methods fully. Deliver the footnote — it is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19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56s. This is the strongest analytical slide in the talk. It is your own reading of published numbers, which is what 'synthesis' means in the grading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21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74s. 'Show me where the attention is actually linear' is the single most likely code question in the defence. Point at the rearrange.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74s. The LayerNorm finding is the intellectually honest highlight of the whole talk.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23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58s. The MambaIR import failure is a genuine deployment result nobody reports — worth mentioning, it shows you ran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24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74s. The centrepiece of the synthesis. Walk the second column, then deliver the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62s. If you only have time for one slide in this section, it is this one. It demonstrates understanding rather than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52s. Never answer 'which would you use' with a single name. Answer with the constraint that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44s. These four set up the proposals on the next slide — do not linger, the payoff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60s. This is the slide that answers 'can you identify a proposal'. The footnote commits to one — have a reason ready for why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40s. Deliver from memory, slide behind you. Then stop and invite questions — do not trail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Not presented. Do not present this slide. Have it open during questions. Print it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2191695" cy="75164"/>
          </a:xfrm>
          <a:prstGeom prst="rect">
            <a:avLst/>
          </a:prstGeom>
          <a:solidFill>
            <a:srgbClr val="14120F"/>
          </a:solidFill>
          <a:ln/>
        </p:spPr>
      </p:sp>
      <p:sp>
        <p:nvSpPr>
          <p:cNvPr id="3" name="Shape 1"/>
          <p:cNvSpPr/>
          <p:nvPr/>
        </p:nvSpPr>
        <p:spPr>
          <a:xfrm>
            <a:off x="601218" y="893460"/>
            <a:ext cx="217079" cy="25055"/>
          </a:xfrm>
          <a:prstGeom prst="rect">
            <a:avLst/>
          </a:prstGeom>
          <a:solidFill>
            <a:srgbClr val="C0451A"/>
          </a:solidFill>
          <a:ln/>
        </p:spPr>
      </p:sp>
      <p:sp>
        <p:nvSpPr>
          <p:cNvPr id="4" name="Text 2"/>
          <p:cNvSpPr txBox="1"/>
          <p:nvPr/>
        </p:nvSpPr>
        <p:spPr>
          <a:xfrm>
            <a:off x="918515" y="837225"/>
            <a:ext cx="361672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DIGITAL IMAGE PROCESSING · FINAL PROJECT · STAGE 3</a:t>
            </a:r>
            <a:endParaRPr lang="en-US" sz="888" dirty="0"/>
          </a:p>
        </p:txBody>
      </p:sp>
      <p:sp>
        <p:nvSpPr>
          <p:cNvPr id="5" name="Text 3"/>
          <p:cNvSpPr txBox="1"/>
          <p:nvPr/>
        </p:nvSpPr>
        <p:spPr>
          <a:xfrm>
            <a:off x="601218" y="1088045"/>
            <a:ext cx="11049884" cy="1042050"/>
          </a:xfrm>
          <a:prstGeom prst="rect">
            <a:avLst/>
          </a:prstGeom>
          <a:noFill/>
          <a:ln/>
        </p:spPr>
        <p:txBody>
          <a:bodyPr wrap="square" lIns="0" tIns="0" rIns="0" bIns="0" rtlCol="0" anchor="t"/>
          <a:lstStyle/>
          <a:p>
            <a:pPr algn="l" indent="0" marL="0">
              <a:lnSpc>
                <a:spcPts val="4103"/>
              </a:lnSpc>
              <a:buNone/>
            </a:pPr>
            <a:r>
              <a:rPr lang="en-US" sz="3945" b="1" spc="-105" kern="0" dirty="0">
                <a:solidFill>
                  <a:srgbClr val="14120F"/>
                </a:solidFill>
                <a:latin typeface="Cambria" pitchFamily="34" charset="0"/>
                <a:ea typeface="Cambria" pitchFamily="34" charset="-122"/>
                <a:cs typeface="Cambria" pitchFamily="34" charset="-120"/>
              </a:rPr>
              <a:t>Image Denoising:</a:t>
            </a:r>
            <a:endParaRPr lang="en-US" sz="3945" dirty="0"/>
          </a:p>
          <a:p>
            <a:pPr algn="l" indent="0" marL="0">
              <a:lnSpc>
                <a:spcPts val="4103"/>
              </a:lnSpc>
              <a:buNone/>
            </a:pPr>
            <a:r>
              <a:rPr lang="en-US" sz="3945" b="1" spc="-105" kern="0" dirty="0">
                <a:solidFill>
                  <a:srgbClr val="14120F"/>
                </a:solidFill>
                <a:latin typeface="Cambria" pitchFamily="34" charset="0"/>
                <a:ea typeface="Cambria" pitchFamily="34" charset="-122"/>
                <a:cs typeface="Cambria" pitchFamily="34" charset="-120"/>
              </a:rPr>
              <a:t>How the Field Actually Evolved</a:t>
            </a:r>
            <a:endParaRPr lang="en-US" sz="3945" dirty="0"/>
          </a:p>
        </p:txBody>
      </p:sp>
      <p:sp>
        <p:nvSpPr>
          <p:cNvPr id="6" name="Text 4"/>
          <p:cNvSpPr txBox="1"/>
          <p:nvPr/>
        </p:nvSpPr>
        <p:spPr>
          <a:xfrm>
            <a:off x="601218" y="2284537"/>
            <a:ext cx="5285689" cy="507675"/>
          </a:xfrm>
          <a:prstGeom prst="rect">
            <a:avLst/>
          </a:prstGeom>
          <a:noFill/>
          <a:ln/>
        </p:spPr>
        <p:txBody>
          <a:bodyPr wrap="square" lIns="0" tIns="0" rIns="0" bIns="0" rtlCol="0" anchor="t"/>
          <a:lstStyle/>
          <a:p>
            <a:pPr algn="l" indent="0" marL="0">
              <a:lnSpc>
                <a:spcPts val="1999"/>
              </a:lnSpc>
              <a:buNone/>
            </a:pPr>
            <a:r>
              <a:rPr kern="0" lang="en-US" sz="1315" dirty="0">
                <a:solidFill>
                  <a:srgbClr val="5A554D"/>
                </a:solidFill>
                <a:latin typeface="Calibri" pitchFamily="34" charset="0"/>
                <a:ea typeface="Calibri" pitchFamily="34" charset="-122"/>
                <a:cs typeface="Calibri" pitchFamily="34" charset="-120"/>
              </a:rPr>
              <a:t>Not ten papers in order. One technical story: what each method could not do, what the next one changed, and which line of code changed to do it.</a:t>
            </a:r>
            <a:endParaRPr lang="en-US" sz="1315" dirty="0"/>
          </a:p>
        </p:txBody>
      </p:sp>
      <p:sp>
        <p:nvSpPr>
          <p:cNvPr id="7" name="Shape 5"/>
          <p:cNvSpPr/>
          <p:nvPr/>
        </p:nvSpPr>
        <p:spPr>
          <a:xfrm>
            <a:off x="601218" y="3094330"/>
            <a:ext cx="10989259" cy="16734"/>
          </a:xfrm>
          <a:prstGeom prst="rect">
            <a:avLst/>
          </a:prstGeom>
          <a:solidFill>
            <a:srgbClr val="14120F"/>
          </a:solidFill>
          <a:ln/>
        </p:spPr>
      </p:sp>
      <p:sp>
        <p:nvSpPr>
          <p:cNvPr id="8" name="Text 6"/>
          <p:cNvSpPr txBox="1"/>
          <p:nvPr/>
        </p:nvSpPr>
        <p:spPr>
          <a:xfrm>
            <a:off x="601218" y="3273826"/>
            <a:ext cx="809335"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THE QUESTION</a:t>
            </a:r>
            <a:endParaRPr lang="en-US" sz="756" dirty="0"/>
          </a:p>
        </p:txBody>
      </p:sp>
      <p:sp>
        <p:nvSpPr>
          <p:cNvPr id="9" name="Text 7"/>
          <p:cNvSpPr txBox="1"/>
          <p:nvPr/>
        </p:nvSpPr>
        <p:spPr>
          <a:xfrm>
            <a:off x="601218" y="3500872"/>
            <a:ext cx="2005279"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Why did each innovation</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have to be invented?</a:t>
            </a:r>
            <a:endParaRPr lang="en-US" sz="1052" dirty="0"/>
          </a:p>
        </p:txBody>
      </p:sp>
      <p:sp>
        <p:nvSpPr>
          <p:cNvPr id="10" name="Shape 8"/>
          <p:cNvSpPr/>
          <p:nvPr/>
        </p:nvSpPr>
        <p:spPr>
          <a:xfrm>
            <a:off x="2798978" y="3278124"/>
            <a:ext cx="8321" cy="620969"/>
          </a:xfrm>
          <a:prstGeom prst="rect">
            <a:avLst/>
          </a:prstGeom>
          <a:solidFill>
            <a:srgbClr val="C9C4B9"/>
          </a:solidFill>
          <a:ln/>
        </p:spPr>
      </p:sp>
      <p:sp>
        <p:nvSpPr>
          <p:cNvPr id="11" name="Text 9"/>
          <p:cNvSpPr txBox="1"/>
          <p:nvPr/>
        </p:nvSpPr>
        <p:spPr>
          <a:xfrm>
            <a:off x="3024469" y="3273826"/>
            <a:ext cx="845363"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ANCHOR PAPER</a:t>
            </a:r>
            <a:endParaRPr lang="en-US" sz="756" dirty="0"/>
          </a:p>
        </p:txBody>
      </p:sp>
      <p:sp>
        <p:nvSpPr>
          <p:cNvPr id="12" name="Text 10"/>
          <p:cNvSpPr txBox="1"/>
          <p:nvPr/>
        </p:nvSpPr>
        <p:spPr>
          <a:xfrm>
            <a:off x="3024469" y="3500872"/>
            <a:ext cx="1779057"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DnCNN — Zhang et al.</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IEEE TIP 26(7), 2017</a:t>
            </a:r>
            <a:endParaRPr lang="en-US" sz="1052" dirty="0"/>
          </a:p>
        </p:txBody>
      </p:sp>
      <p:sp>
        <p:nvSpPr>
          <p:cNvPr id="13" name="Shape 11"/>
          <p:cNvSpPr/>
          <p:nvPr/>
        </p:nvSpPr>
        <p:spPr>
          <a:xfrm>
            <a:off x="4996830" y="3278124"/>
            <a:ext cx="8321" cy="620969"/>
          </a:xfrm>
          <a:prstGeom prst="rect">
            <a:avLst/>
          </a:prstGeom>
          <a:solidFill>
            <a:srgbClr val="C9C4B9"/>
          </a:solidFill>
          <a:ln/>
        </p:spPr>
      </p:sp>
      <p:sp>
        <p:nvSpPr>
          <p:cNvPr id="14" name="Text 12"/>
          <p:cNvSpPr txBox="1"/>
          <p:nvPr/>
        </p:nvSpPr>
        <p:spPr>
          <a:xfrm>
            <a:off x="5222321" y="3273826"/>
            <a:ext cx="685160"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PRESENTERS</a:t>
            </a:r>
            <a:endParaRPr lang="en-US" sz="756" dirty="0"/>
          </a:p>
        </p:txBody>
      </p:sp>
      <p:sp>
        <p:nvSpPr>
          <p:cNvPr id="15" name="Text 13"/>
          <p:cNvSpPr txBox="1"/>
          <p:nvPr/>
        </p:nvSpPr>
        <p:spPr>
          <a:xfrm>
            <a:off x="5222321" y="3500872"/>
            <a:ext cx="1779057"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Navid Zare · Ali Ahmadi</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Komeil Khodayar</a:t>
            </a:r>
            <a:endParaRPr lang="en-US" sz="1052" dirty="0"/>
          </a:p>
        </p:txBody>
      </p:sp>
      <p:sp>
        <p:nvSpPr>
          <p:cNvPr id="16" name="Shape 14"/>
          <p:cNvSpPr/>
          <p:nvPr/>
        </p:nvSpPr>
        <p:spPr>
          <a:xfrm>
            <a:off x="7194682" y="3278124"/>
            <a:ext cx="8321" cy="620969"/>
          </a:xfrm>
          <a:prstGeom prst="rect">
            <a:avLst/>
          </a:prstGeom>
          <a:solidFill>
            <a:srgbClr val="C9C4B9"/>
          </a:solidFill>
          <a:ln/>
        </p:spPr>
      </p:sp>
      <p:sp>
        <p:nvSpPr>
          <p:cNvPr id="17" name="Text 15"/>
          <p:cNvSpPr txBox="1"/>
          <p:nvPr/>
        </p:nvSpPr>
        <p:spPr>
          <a:xfrm>
            <a:off x="7420173" y="3273826"/>
            <a:ext cx="624078"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REFERENCE</a:t>
            </a:r>
            <a:endParaRPr lang="en-US" sz="756" dirty="0"/>
          </a:p>
        </p:txBody>
      </p:sp>
      <p:sp>
        <p:nvSpPr>
          <p:cNvPr id="18" name="Text 16"/>
          <p:cNvSpPr txBox="1"/>
          <p:nvPr/>
        </p:nvSpPr>
        <p:spPr>
          <a:xfrm>
            <a:off x="7420173" y="3500872"/>
            <a:ext cx="1779057"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100-slide master deck</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submitted separately</a:t>
            </a:r>
            <a:endParaRPr lang="en-US" sz="1052" dirty="0"/>
          </a:p>
        </p:txBody>
      </p:sp>
      <p:sp>
        <p:nvSpPr>
          <p:cNvPr id="19" name="Text 17"/>
          <p:cNvSpPr txBox="1"/>
          <p:nvPr/>
        </p:nvSpPr>
        <p:spPr>
          <a:xfrm>
            <a:off x="9722175" y="6461790"/>
            <a:ext cx="1868211"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§3 · full evidence in the master deck</a:t>
            </a:r>
            <a:endParaRPr lang="en-US" sz="85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8894"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02</a:t>
            </a:r>
            <a:endParaRPr lang="en-US" sz="2708" dirty="0"/>
          </a:p>
        </p:txBody>
      </p:sp>
      <p:sp>
        <p:nvSpPr>
          <p:cNvPr id="3" name="Shape 1"/>
          <p:cNvSpPr/>
          <p:nvPr/>
        </p:nvSpPr>
        <p:spPr>
          <a:xfrm>
            <a:off x="1531803" y="486827"/>
            <a:ext cx="203180" cy="23409"/>
          </a:xfrm>
          <a:prstGeom prst="rect">
            <a:avLst/>
          </a:prstGeom>
          <a:solidFill>
            <a:srgbClr val="14343F"/>
          </a:solidFill>
          <a:ln/>
        </p:spPr>
      </p:sp>
      <p:sp>
        <p:nvSpPr>
          <p:cNvPr id="4" name="Text 2"/>
          <p:cNvSpPr txBox="1"/>
          <p:nvPr/>
        </p:nvSpPr>
        <p:spPr>
          <a:xfrm>
            <a:off x="1828800" y="434249"/>
            <a:ext cx="1507846"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THE SHAPE OF THIS TALK</a:t>
            </a:r>
            <a:endParaRPr lang="en-US" sz="831" dirty="0"/>
          </a:p>
        </p:txBody>
      </p:sp>
      <p:sp>
        <p:nvSpPr>
          <p:cNvPr id="5" name="Text 3"/>
          <p:cNvSpPr txBox="1"/>
          <p:nvPr/>
        </p:nvSpPr>
        <p:spPr>
          <a:xfrm>
            <a:off x="1531803" y="963412"/>
            <a:ext cx="8151053"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Four questions we will answer about every method</a:t>
            </a:r>
            <a:endParaRPr lang="en-US" sz="2831" dirty="0"/>
          </a:p>
        </p:txBody>
      </p:sp>
      <p:sp>
        <p:nvSpPr>
          <p:cNvPr id="6" name="Text 4"/>
          <p:cNvSpPr txBox="1"/>
          <p:nvPr/>
        </p:nvSpPr>
        <p:spPr>
          <a:xfrm>
            <a:off x="1531803" y="1796796"/>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Each algorithm gets the same four-part treatment, so the comparison between them is structural rather than anecdotal. The methods that were state of the art get a fifth question.</a:t>
            </a:r>
            <a:endParaRPr lang="en-US" sz="1231" dirty="0"/>
          </a:p>
        </p:txBody>
      </p:sp>
      <p:sp>
        <p:nvSpPr>
          <p:cNvPr id="7" name="Shape 5"/>
          <p:cNvSpPr/>
          <p:nvPr/>
        </p:nvSpPr>
        <p:spPr>
          <a:xfrm>
            <a:off x="1531803" y="2801996"/>
            <a:ext cx="4876678" cy="15636"/>
          </a:xfrm>
          <a:prstGeom prst="rect">
            <a:avLst/>
          </a:prstGeom>
          <a:solidFill>
            <a:srgbClr val="14343F"/>
          </a:solidFill>
          <a:ln/>
        </p:spPr>
      </p:sp>
      <p:sp>
        <p:nvSpPr>
          <p:cNvPr id="8" name="Text 6"/>
          <p:cNvSpPr txBox="1"/>
          <p:nvPr/>
        </p:nvSpPr>
        <p:spPr>
          <a:xfrm>
            <a:off x="1531803" y="2942539"/>
            <a:ext cx="105705"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1</a:t>
            </a:r>
            <a:endParaRPr lang="en-US" sz="708" dirty="0"/>
          </a:p>
        </p:txBody>
      </p:sp>
      <p:sp>
        <p:nvSpPr>
          <p:cNvPr id="9" name="Text 7"/>
          <p:cNvSpPr txBox="1"/>
          <p:nvPr/>
        </p:nvSpPr>
        <p:spPr>
          <a:xfrm>
            <a:off x="1531803" y="3122585"/>
            <a:ext cx="3128528"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What could the previous method not do?</a:t>
            </a:r>
            <a:endParaRPr lang="en-US" sz="1354" dirty="0"/>
          </a:p>
        </p:txBody>
      </p:sp>
      <p:sp>
        <p:nvSpPr>
          <p:cNvPr id="10" name="Text 8"/>
          <p:cNvSpPr txBox="1"/>
          <p:nvPr/>
        </p:nvSpPr>
        <p:spPr>
          <a:xfrm>
            <a:off x="1531803" y="3430463"/>
            <a:ext cx="4911791" cy="392003"/>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Every innovation in this field was a response to a </a:t>
            </a:r>
            <a:pPr algn="l" indent="0" marL="0">
              <a:lnSpc>
                <a:spcPts val="1543"/>
              </a:lnSpc>
              <a:buNone/>
            </a:pPr>
            <a:r>
              <a:rPr kern="0" lang="en-US" sz="1015" i="1" dirty="0">
                <a:solidFill>
                  <a:srgbClr val="33302B"/>
                </a:solidFill>
                <a:latin typeface="Calibri" pitchFamily="34" charset="0"/>
                <a:ea typeface="Calibri" pitchFamily="34" charset="-122"/>
                <a:cs typeface="Calibri" pitchFamily="34" charset="-120"/>
              </a:rPr>
              <a:t>named, measured</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failure — usually named by the paper that fixed it, which is what makes this timeline evidenced rather than imposed.</a:t>
            </a:r>
            <a:endParaRPr lang="en-US" sz="1015" dirty="0"/>
          </a:p>
        </p:txBody>
      </p:sp>
      <p:sp>
        <p:nvSpPr>
          <p:cNvPr id="11" name="Shape 9"/>
          <p:cNvSpPr/>
          <p:nvPr/>
        </p:nvSpPr>
        <p:spPr>
          <a:xfrm>
            <a:off x="6752295" y="2801996"/>
            <a:ext cx="4876678" cy="15636"/>
          </a:xfrm>
          <a:prstGeom prst="rect">
            <a:avLst/>
          </a:prstGeom>
          <a:solidFill>
            <a:srgbClr val="14343F"/>
          </a:solidFill>
          <a:ln/>
        </p:spPr>
      </p:sp>
      <p:sp>
        <p:nvSpPr>
          <p:cNvPr id="12" name="Text 10"/>
          <p:cNvSpPr txBox="1"/>
          <p:nvPr/>
        </p:nvSpPr>
        <p:spPr>
          <a:xfrm>
            <a:off x="6752295" y="2942539"/>
            <a:ext cx="105705"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2</a:t>
            </a:r>
            <a:endParaRPr lang="en-US" sz="708" dirty="0"/>
          </a:p>
        </p:txBody>
      </p:sp>
      <p:sp>
        <p:nvSpPr>
          <p:cNvPr id="13" name="Text 11"/>
          <p:cNvSpPr txBox="1"/>
          <p:nvPr/>
        </p:nvSpPr>
        <p:spPr>
          <a:xfrm>
            <a:off x="6752295" y="3122585"/>
            <a:ext cx="2076877"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What changed technically?</a:t>
            </a:r>
            <a:endParaRPr lang="en-US" sz="1354" dirty="0"/>
          </a:p>
        </p:txBody>
      </p:sp>
      <p:sp>
        <p:nvSpPr>
          <p:cNvPr id="14" name="Text 12"/>
          <p:cNvSpPr txBox="1"/>
          <p:nvPr/>
        </p:nvSpPr>
        <p:spPr>
          <a:xfrm>
            <a:off x="6752295" y="3430463"/>
            <a:ext cx="4911791" cy="392003"/>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The algorithmic change: a different prior, a different training target, a different operator. Stated precisely enough that you could implement it.</a:t>
            </a:r>
            <a:endParaRPr lang="en-US" sz="1015" dirty="0"/>
          </a:p>
        </p:txBody>
      </p:sp>
      <p:sp>
        <p:nvSpPr>
          <p:cNvPr id="15" name="Shape 13"/>
          <p:cNvSpPr/>
          <p:nvPr/>
        </p:nvSpPr>
        <p:spPr>
          <a:xfrm>
            <a:off x="1531803" y="4118275"/>
            <a:ext cx="4876678" cy="15636"/>
          </a:xfrm>
          <a:prstGeom prst="rect">
            <a:avLst/>
          </a:prstGeom>
          <a:solidFill>
            <a:srgbClr val="14343F"/>
          </a:solidFill>
          <a:ln/>
        </p:spPr>
      </p:sp>
      <p:sp>
        <p:nvSpPr>
          <p:cNvPr id="16" name="Text 14"/>
          <p:cNvSpPr txBox="1"/>
          <p:nvPr/>
        </p:nvSpPr>
        <p:spPr>
          <a:xfrm>
            <a:off x="1531803" y="4258818"/>
            <a:ext cx="105705"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3</a:t>
            </a:r>
            <a:endParaRPr lang="en-US" sz="708" dirty="0"/>
          </a:p>
        </p:txBody>
      </p:sp>
      <p:sp>
        <p:nvSpPr>
          <p:cNvPr id="17" name="Text 15"/>
          <p:cNvSpPr txBox="1"/>
          <p:nvPr/>
        </p:nvSpPr>
        <p:spPr>
          <a:xfrm>
            <a:off x="1531803" y="4438772"/>
            <a:ext cx="2180112"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Which line of code changed?</a:t>
            </a:r>
            <a:endParaRPr lang="en-US" sz="1354" dirty="0"/>
          </a:p>
        </p:txBody>
      </p:sp>
      <p:sp>
        <p:nvSpPr>
          <p:cNvPr id="18" name="Text 16"/>
          <p:cNvSpPr txBox="1"/>
          <p:nvPr/>
        </p:nvSpPr>
        <p:spPr>
          <a:xfrm>
            <a:off x="1531803" y="4746650"/>
            <a:ext cx="4911791" cy="392003"/>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A Before → After from the reference implementations. Contribution → algorithmic change → </a:t>
            </a:r>
            <a:pPr algn="l" indent="0" marL="0">
              <a:lnSpc>
                <a:spcPts val="1543"/>
              </a:lnSpc>
              <a:buNone/>
            </a:pPr>
            <a:r>
              <a:rPr kern="0" lang="en-US" sz="1015" b="1" dirty="0">
                <a:solidFill>
                  <a:srgbClr val="33302B"/>
                </a:solidFill>
                <a:latin typeface="Calibri" pitchFamily="34" charset="0"/>
                <a:ea typeface="Calibri" pitchFamily="34" charset="-122"/>
                <a:cs typeface="Calibri" pitchFamily="34" charset="-120"/>
              </a:rPr>
              <a:t>implementation change</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 measured improvement, as one chain.</a:t>
            </a:r>
            <a:endParaRPr lang="en-US" sz="1015" dirty="0"/>
          </a:p>
        </p:txBody>
      </p:sp>
      <p:sp>
        <p:nvSpPr>
          <p:cNvPr id="19" name="Shape 17"/>
          <p:cNvSpPr/>
          <p:nvPr/>
        </p:nvSpPr>
        <p:spPr>
          <a:xfrm>
            <a:off x="6752295" y="4118275"/>
            <a:ext cx="4876678" cy="15636"/>
          </a:xfrm>
          <a:prstGeom prst="rect">
            <a:avLst/>
          </a:prstGeom>
          <a:solidFill>
            <a:srgbClr val="14343F"/>
          </a:solidFill>
          <a:ln/>
        </p:spPr>
      </p:sp>
      <p:sp>
        <p:nvSpPr>
          <p:cNvPr id="20" name="Text 18"/>
          <p:cNvSpPr txBox="1"/>
          <p:nvPr/>
        </p:nvSpPr>
        <p:spPr>
          <a:xfrm>
            <a:off x="6752295" y="4258818"/>
            <a:ext cx="105705"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4</a:t>
            </a:r>
            <a:endParaRPr lang="en-US" sz="708" dirty="0"/>
          </a:p>
        </p:txBody>
      </p:sp>
      <p:sp>
        <p:nvSpPr>
          <p:cNvPr id="21" name="Text 19"/>
          <p:cNvSpPr txBox="1"/>
          <p:nvPr/>
        </p:nvSpPr>
        <p:spPr>
          <a:xfrm>
            <a:off x="6752295" y="4438772"/>
            <a:ext cx="2843052"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What did it buy, and what did it cost?</a:t>
            </a:r>
            <a:endParaRPr lang="en-US" sz="1354" dirty="0"/>
          </a:p>
        </p:txBody>
      </p:sp>
      <p:sp>
        <p:nvSpPr>
          <p:cNvPr id="22" name="Text 20"/>
          <p:cNvSpPr txBox="1"/>
          <p:nvPr/>
        </p:nvSpPr>
        <p:spPr>
          <a:xfrm>
            <a:off x="6752295" y="4746650"/>
            <a:ext cx="4911791" cy="392003"/>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The measured improvement, the applications it opened, and the new limitation it created — because every step in this story created the next problem.</a:t>
            </a:r>
            <a:endParaRPr lang="en-US" sz="1015" dirty="0"/>
          </a:p>
        </p:txBody>
      </p:sp>
      <p:sp>
        <p:nvSpPr>
          <p:cNvPr id="23" name="Shape 21"/>
          <p:cNvSpPr/>
          <p:nvPr/>
        </p:nvSpPr>
        <p:spPr>
          <a:xfrm>
            <a:off x="1531803" y="5653278"/>
            <a:ext cx="10097262" cy="15636"/>
          </a:xfrm>
          <a:prstGeom prst="rect">
            <a:avLst/>
          </a:prstGeom>
          <a:solidFill>
            <a:srgbClr val="14343F"/>
          </a:solidFill>
          <a:ln/>
        </p:spPr>
      </p:sp>
      <p:sp>
        <p:nvSpPr>
          <p:cNvPr id="24" name="Text 22"/>
          <p:cNvSpPr txBox="1"/>
          <p:nvPr/>
        </p:nvSpPr>
        <p:spPr>
          <a:xfrm>
            <a:off x="1531803" y="5791992"/>
            <a:ext cx="8512332" cy="199248"/>
          </a:xfrm>
          <a:prstGeom prst="rect">
            <a:avLst/>
          </a:prstGeom>
          <a:noFill/>
          <a:ln/>
        </p:spPr>
        <p:txBody>
          <a:bodyPr wrap="non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And for the SOTA methods, a fifth:</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what made it state of the art,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on which benchmark and in which years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why it did not make the others obsolete.</a:t>
            </a:r>
            <a:endParaRPr lang="en-US" sz="1046" dirty="0"/>
          </a:p>
        </p:txBody>
      </p:sp>
      <p:sp>
        <p:nvSpPr>
          <p:cNvPr id="25" name="Text 23"/>
          <p:cNvSpPr txBox="1"/>
          <p:nvPr/>
        </p:nvSpPr>
        <p:spPr>
          <a:xfrm>
            <a:off x="9747778" y="6237031"/>
            <a:ext cx="1881195"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reading — the structure of this presentation</a:t>
            </a:r>
            <a:endParaRPr lang="en-US" sz="800" dirty="0"/>
          </a:p>
        </p:txBody>
      </p:sp>
      <p:sp>
        <p:nvSpPr>
          <p:cNvPr id="26" name="Shape 24"/>
          <p:cNvSpPr/>
          <p:nvPr/>
        </p:nvSpPr>
        <p:spPr>
          <a:xfrm>
            <a:off x="1531803" y="6537411"/>
            <a:ext cx="10097262" cy="7772"/>
          </a:xfrm>
          <a:prstGeom prst="rect">
            <a:avLst/>
          </a:prstGeom>
          <a:solidFill>
            <a:srgbClr val="C9C4B9"/>
          </a:solidFill>
          <a:ln/>
        </p:spPr>
      </p:sp>
      <p:sp>
        <p:nvSpPr>
          <p:cNvPr id="27" name="Shape 25"/>
          <p:cNvSpPr/>
          <p:nvPr/>
        </p:nvSpPr>
        <p:spPr>
          <a:xfrm>
            <a:off x="1531803" y="6498366"/>
            <a:ext cx="7772" cy="39045"/>
          </a:xfrm>
          <a:prstGeom prst="rect">
            <a:avLst/>
          </a:prstGeom>
          <a:solidFill>
            <a:srgbClr val="C9C4B9"/>
          </a:solidFill>
          <a:ln/>
        </p:spPr>
      </p:sp>
      <p:sp>
        <p:nvSpPr>
          <p:cNvPr id="28" name="Text 26"/>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9" name="Shape 27"/>
          <p:cNvSpPr/>
          <p:nvPr/>
        </p:nvSpPr>
        <p:spPr>
          <a:xfrm>
            <a:off x="5458511" y="6498366"/>
            <a:ext cx="7772" cy="39045"/>
          </a:xfrm>
          <a:prstGeom prst="rect">
            <a:avLst/>
          </a:prstGeom>
          <a:solidFill>
            <a:srgbClr val="C9C4B9"/>
          </a:solidFill>
          <a:ln/>
        </p:spPr>
      </p:sp>
      <p:sp>
        <p:nvSpPr>
          <p:cNvPr id="30" name="Text 28"/>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1" name="Shape 29"/>
          <p:cNvSpPr/>
          <p:nvPr/>
        </p:nvSpPr>
        <p:spPr>
          <a:xfrm>
            <a:off x="7141738" y="6498366"/>
            <a:ext cx="7772" cy="39045"/>
          </a:xfrm>
          <a:prstGeom prst="rect">
            <a:avLst/>
          </a:prstGeom>
          <a:solidFill>
            <a:srgbClr val="C9C4B9"/>
          </a:solidFill>
          <a:ln/>
        </p:spPr>
      </p:sp>
      <p:sp>
        <p:nvSpPr>
          <p:cNvPr id="32" name="Text 30"/>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3" name="Shape 31"/>
          <p:cNvSpPr/>
          <p:nvPr/>
        </p:nvSpPr>
        <p:spPr>
          <a:xfrm>
            <a:off x="9945654" y="6498366"/>
            <a:ext cx="7772" cy="39045"/>
          </a:xfrm>
          <a:prstGeom prst="rect">
            <a:avLst/>
          </a:prstGeom>
          <a:solidFill>
            <a:srgbClr val="C9C4B9"/>
          </a:solidFill>
          <a:ln/>
        </p:spPr>
      </p:sp>
      <p:sp>
        <p:nvSpPr>
          <p:cNvPr id="34" name="Text 32"/>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5" name="Shape 33"/>
          <p:cNvSpPr/>
          <p:nvPr/>
        </p:nvSpPr>
        <p:spPr>
          <a:xfrm>
            <a:off x="11628973" y="6498366"/>
            <a:ext cx="7772" cy="39045"/>
          </a:xfrm>
          <a:prstGeom prst="rect">
            <a:avLst/>
          </a:prstGeom>
          <a:solidFill>
            <a:srgbClr val="C9C4B9"/>
          </a:solidFill>
          <a:ln/>
        </p:spPr>
      </p:sp>
      <p:sp>
        <p:nvSpPr>
          <p:cNvPr id="36" name="Text 34"/>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03</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91449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PROBLEM</a:t>
            </a:r>
            <a:endParaRPr lang="en-US" sz="888" dirty="0"/>
          </a:p>
        </p:txBody>
      </p:sp>
      <p:sp>
        <p:nvSpPr>
          <p:cNvPr id="5" name="Text 3"/>
          <p:cNvSpPr txBox="1"/>
          <p:nvPr/>
        </p:nvSpPr>
        <p:spPr>
          <a:xfrm>
            <a:off x="1636685" y="690281"/>
            <a:ext cx="794101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One equation, three unknowns, eighteen years</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Given only y, infinitely many splits into x + v are arithmetically valid. Every method in this talk supplies the missing information in a different way — that supplied information is called the prior, and the whole story is about where it lives.</a:t>
            </a:r>
            <a:endParaRPr lang="en-US" sz="1315" dirty="0"/>
          </a:p>
        </p:txBody>
      </p:sp>
      <p:sp>
        <p:nvSpPr>
          <p:cNvPr id="7" name="Shape 5"/>
          <p:cNvSpPr/>
          <p:nvPr/>
        </p:nvSpPr>
        <p:spPr>
          <a:xfrm>
            <a:off x="1636685" y="2226838"/>
            <a:ext cx="9953793" cy="886328"/>
          </a:xfrm>
          <a:prstGeom prst="rect">
            <a:avLst/>
          </a:prstGeom>
          <a:solidFill>
            <a:srgbClr val="EAEBE9"/>
          </a:solidFill>
          <a:ln/>
        </p:spPr>
      </p:sp>
      <p:sp>
        <p:nvSpPr>
          <p:cNvPr id="8" name="Shape 6"/>
          <p:cNvSpPr/>
          <p:nvPr/>
        </p:nvSpPr>
        <p:spPr>
          <a:xfrm>
            <a:off x="1636685" y="2226838"/>
            <a:ext cx="33376" cy="886328"/>
          </a:xfrm>
          <a:prstGeom prst="rect">
            <a:avLst/>
          </a:prstGeom>
          <a:solidFill>
            <a:srgbClr val="14343F"/>
          </a:solidFill>
          <a:ln/>
        </p:spPr>
      </p:sp>
      <p:pic>
        <p:nvPicPr>
          <p:cNvPr id="9" name="Image 0" descr="y \;=\; x \;+\; v">    </p:cNvPr>
          <p:cNvPicPr>
            <a:picLocks noChangeAspect="1"/>
          </p:cNvPicPr>
          <p:nvPr/>
        </p:nvPicPr>
        <p:blipFill>
          <a:blip r:embed="rId1"/>
          <a:stretch>
            <a:fillRect/>
          </a:stretch>
        </p:blipFill>
        <p:spPr>
          <a:xfrm>
            <a:off x="1870497" y="2368753"/>
            <a:ext cx="1866473" cy="333665"/>
          </a:xfrm>
          <a:prstGeom prst="rect">
            <a:avLst/>
          </a:prstGeom>
        </p:spPr>
      </p:pic>
      <p:sp>
        <p:nvSpPr>
          <p:cNvPr id="10" name="Text 7"/>
          <p:cNvSpPr txBox="1"/>
          <p:nvPr/>
        </p:nvSpPr>
        <p:spPr>
          <a:xfrm>
            <a:off x="1870497" y="2785080"/>
            <a:ext cx="4061673"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y — what the sensor produced · x — the clean image we want · v — the noise</a:t>
            </a:r>
            <a:endParaRPr lang="en-US" sz="986" dirty="0"/>
          </a:p>
        </p:txBody>
      </p:sp>
      <p:sp>
        <p:nvSpPr>
          <p:cNvPr id="11" name="Shape 8"/>
          <p:cNvSpPr/>
          <p:nvPr/>
        </p:nvSpPr>
        <p:spPr>
          <a:xfrm>
            <a:off x="1636685" y="3238439"/>
            <a:ext cx="9953793" cy="8321"/>
          </a:xfrm>
          <a:prstGeom prst="rect">
            <a:avLst/>
          </a:prstGeom>
          <a:solidFill>
            <a:srgbClr val="DFDBD2"/>
          </a:solidFill>
          <a:ln/>
        </p:spPr>
      </p:sp>
      <p:sp>
        <p:nvSpPr>
          <p:cNvPr id="12" name="Text 9"/>
          <p:cNvSpPr txBox="1"/>
          <p:nvPr/>
        </p:nvSpPr>
        <p:spPr>
          <a:xfrm>
            <a:off x="1636685" y="338876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3" name="Text 10"/>
          <p:cNvSpPr txBox="1"/>
          <p:nvPr/>
        </p:nvSpPr>
        <p:spPr>
          <a:xfrm>
            <a:off x="1987448" y="3377245"/>
            <a:ext cx="8919149"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classical answer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writes the prior down as a formula: minimise ½‖y − x‖² + λ·Φ(x). You can read Φ, differentiate it, and argue about it.</a:t>
            </a:r>
            <a:endParaRPr lang="en-US" sz="1216" dirty="0"/>
          </a:p>
        </p:txBody>
      </p:sp>
      <p:sp>
        <p:nvSpPr>
          <p:cNvPr id="14" name="Text 11"/>
          <p:cNvSpPr txBox="1"/>
          <p:nvPr/>
        </p:nvSpPr>
        <p:spPr>
          <a:xfrm>
            <a:off x="1636685" y="3754069"/>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5" name="Text 12"/>
          <p:cNvSpPr txBox="1"/>
          <p:nvPr/>
        </p:nvSpPr>
        <p:spPr>
          <a:xfrm>
            <a:off x="1987448" y="3742548"/>
            <a:ext cx="8316742"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deep answer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replaces Φ with a tensor of learned weights. You cannot read it, but you can download it and it runs in 60 ms.</a:t>
            </a:r>
            <a:endParaRPr lang="en-US" sz="1216" dirty="0"/>
          </a:p>
        </p:txBody>
      </p:sp>
      <p:sp>
        <p:nvSpPr>
          <p:cNvPr id="16" name="Text 13"/>
          <p:cNvSpPr txBox="1"/>
          <p:nvPr/>
        </p:nvSpPr>
        <p:spPr>
          <a:xfrm>
            <a:off x="1636685" y="4119372"/>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7" name="Text 14"/>
          <p:cNvSpPr txBox="1"/>
          <p:nvPr/>
        </p:nvSpPr>
        <p:spPr>
          <a:xfrm>
            <a:off x="1987448" y="4107942"/>
            <a:ext cx="710708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self-supervised answer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takes the prior partly from the test image itself, so no clean data is needed at all.</a:t>
            </a:r>
            <a:endParaRPr lang="en-US" sz="1216" dirty="0"/>
          </a:p>
        </p:txBody>
      </p:sp>
      <p:sp>
        <p:nvSpPr>
          <p:cNvPr id="18" name="Text 15"/>
          <p:cNvSpPr txBox="1"/>
          <p:nvPr/>
        </p:nvSpPr>
        <p:spPr>
          <a:xfrm>
            <a:off x="1636685" y="4484766"/>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9" name="Text 16"/>
          <p:cNvSpPr txBox="1"/>
          <p:nvPr/>
        </p:nvSpPr>
        <p:spPr>
          <a:xfrm>
            <a:off x="1987448" y="4473245"/>
            <a:ext cx="5602986"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Where the prior lives, and who writes it, is the single axis this whole talk runs along.</a:t>
            </a:r>
            <a:endParaRPr lang="en-US" sz="1216" dirty="0"/>
          </a:p>
        </p:txBody>
      </p:sp>
      <p:sp>
        <p:nvSpPr>
          <p:cNvPr id="20" name="Text 17"/>
          <p:cNvSpPr txBox="1"/>
          <p:nvPr/>
        </p:nvSpPr>
        <p:spPr>
          <a:xfrm>
            <a:off x="9730222" y="6194511"/>
            <a:ext cx="1860255"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§I · standard MAP formulation</a:t>
            </a:r>
            <a:endParaRPr lang="en-US" sz="855" dirty="0"/>
          </a:p>
        </p:txBody>
      </p:sp>
      <p:sp>
        <p:nvSpPr>
          <p:cNvPr id="21" name="Shape 18"/>
          <p:cNvSpPr/>
          <p:nvPr/>
        </p:nvSpPr>
        <p:spPr>
          <a:xfrm>
            <a:off x="1636685" y="6515466"/>
            <a:ext cx="9953793" cy="8321"/>
          </a:xfrm>
          <a:prstGeom prst="rect">
            <a:avLst/>
          </a:prstGeom>
          <a:solidFill>
            <a:srgbClr val="C9C4B9"/>
          </a:solidFill>
          <a:ln/>
        </p:spPr>
      </p:sp>
      <p:sp>
        <p:nvSpPr>
          <p:cNvPr id="22" name="Shape 19"/>
          <p:cNvSpPr/>
          <p:nvPr/>
        </p:nvSpPr>
        <p:spPr>
          <a:xfrm>
            <a:off x="1636685" y="6473678"/>
            <a:ext cx="8321" cy="41788"/>
          </a:xfrm>
          <a:prstGeom prst="rect">
            <a:avLst/>
          </a:prstGeom>
          <a:solidFill>
            <a:srgbClr val="C9C4B9"/>
          </a:solidFill>
          <a:ln/>
        </p:spPr>
      </p:sp>
      <p:sp>
        <p:nvSpPr>
          <p:cNvPr id="23" name="Text 2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4" name="Shape 21"/>
          <p:cNvSpPr/>
          <p:nvPr/>
        </p:nvSpPr>
        <p:spPr>
          <a:xfrm>
            <a:off x="5507706" y="6473678"/>
            <a:ext cx="8321" cy="41788"/>
          </a:xfrm>
          <a:prstGeom prst="rect">
            <a:avLst/>
          </a:prstGeom>
          <a:solidFill>
            <a:srgbClr val="C9C4B9"/>
          </a:solidFill>
          <a:ln/>
        </p:spPr>
      </p:sp>
      <p:sp>
        <p:nvSpPr>
          <p:cNvPr id="25" name="Text 2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6" name="Shape 23"/>
          <p:cNvSpPr/>
          <p:nvPr/>
        </p:nvSpPr>
        <p:spPr>
          <a:xfrm>
            <a:off x="7166884" y="6473678"/>
            <a:ext cx="8321" cy="41788"/>
          </a:xfrm>
          <a:prstGeom prst="rect">
            <a:avLst/>
          </a:prstGeom>
          <a:solidFill>
            <a:srgbClr val="C9C4B9"/>
          </a:solidFill>
          <a:ln/>
        </p:spPr>
      </p:sp>
      <p:sp>
        <p:nvSpPr>
          <p:cNvPr id="27" name="Text 2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8" name="Shape 25"/>
          <p:cNvSpPr/>
          <p:nvPr/>
        </p:nvSpPr>
        <p:spPr>
          <a:xfrm>
            <a:off x="9931024" y="6473678"/>
            <a:ext cx="8321" cy="41788"/>
          </a:xfrm>
          <a:prstGeom prst="rect">
            <a:avLst/>
          </a:prstGeom>
          <a:solidFill>
            <a:srgbClr val="C9C4B9"/>
          </a:solidFill>
          <a:ln/>
        </p:spPr>
      </p:sp>
      <p:sp>
        <p:nvSpPr>
          <p:cNvPr id="29" name="Text 2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0" name="Shape 27"/>
          <p:cNvSpPr/>
          <p:nvPr/>
        </p:nvSpPr>
        <p:spPr>
          <a:xfrm>
            <a:off x="11590477" y="6473678"/>
            <a:ext cx="8321" cy="41788"/>
          </a:xfrm>
          <a:prstGeom prst="rect">
            <a:avLst/>
          </a:prstGeom>
          <a:solidFill>
            <a:srgbClr val="C9C4B9"/>
          </a:solidFill>
          <a:ln/>
        </p:spPr>
      </p:sp>
      <p:sp>
        <p:nvSpPr>
          <p:cNvPr id="31" name="Text 2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251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04</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00949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GROUND RULES</a:t>
            </a:r>
            <a:endParaRPr lang="en-US" sz="888" dirty="0"/>
          </a:p>
        </p:txBody>
      </p:sp>
      <p:sp>
        <p:nvSpPr>
          <p:cNvPr id="5" name="Text 3"/>
          <p:cNvSpPr txBox="1"/>
          <p:nvPr/>
        </p:nvSpPr>
        <p:spPr>
          <a:xfrm>
            <a:off x="1636685" y="690281"/>
            <a:ext cx="679198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'state of the art' means in this talk</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phrase is used loosely in most presentations. We use it with three qualifiers attached, because that is what makes the SOTA comparison later in the talk meaningful rather than rhetorical.</a:t>
            </a:r>
            <a:endParaRPr lang="en-US" sz="1315" dirty="0"/>
          </a:p>
        </p:txBody>
      </p:sp>
      <p:sp>
        <p:nvSpPr>
          <p:cNvPr id="7" name="Shape 5"/>
          <p:cNvSpPr/>
          <p:nvPr/>
        </p:nvSpPr>
        <p:spPr>
          <a:xfrm>
            <a:off x="6613581" y="2226838"/>
            <a:ext cx="8321" cy="2730216"/>
          </a:xfrm>
          <a:prstGeom prst="rect">
            <a:avLst/>
          </a:prstGeom>
          <a:solidFill>
            <a:srgbClr val="DFDBD2"/>
          </a:solidFill>
          <a:ln/>
        </p:spPr>
      </p:sp>
      <p:sp>
        <p:nvSpPr>
          <p:cNvPr id="8" name="Shape 6"/>
          <p:cNvSpPr/>
          <p:nvPr/>
        </p:nvSpPr>
        <p:spPr>
          <a:xfrm>
            <a:off x="1636685" y="2226838"/>
            <a:ext cx="4793193" cy="16734"/>
          </a:xfrm>
          <a:prstGeom prst="rect">
            <a:avLst/>
          </a:prstGeom>
          <a:solidFill>
            <a:srgbClr val="14343F"/>
          </a:solidFill>
          <a:ln/>
        </p:spPr>
      </p:sp>
      <p:sp>
        <p:nvSpPr>
          <p:cNvPr id="9" name="Text 7"/>
          <p:cNvSpPr txBox="1"/>
          <p:nvPr/>
        </p:nvSpPr>
        <p:spPr>
          <a:xfrm>
            <a:off x="1636685" y="2368936"/>
            <a:ext cx="2665842"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A SOTA claim needs three things</a:t>
            </a:r>
            <a:endParaRPr lang="en-US" sz="1447" dirty="0"/>
          </a:p>
        </p:txBody>
      </p:sp>
      <p:sp>
        <p:nvSpPr>
          <p:cNvPr id="10" name="Shape 8"/>
          <p:cNvSpPr/>
          <p:nvPr/>
        </p:nvSpPr>
        <p:spPr>
          <a:xfrm>
            <a:off x="1636685" y="2769260"/>
            <a:ext cx="66843" cy="41788"/>
          </a:xfrm>
          <a:prstGeom prst="rect">
            <a:avLst/>
          </a:prstGeom>
          <a:solidFill>
            <a:srgbClr val="14343F"/>
          </a:solidFill>
          <a:ln/>
        </p:spPr>
      </p:sp>
      <p:sp>
        <p:nvSpPr>
          <p:cNvPr id="11" name="Text 9"/>
          <p:cNvSpPr txBox="1"/>
          <p:nvPr/>
        </p:nvSpPr>
        <p:spPr>
          <a:xfrm>
            <a:off x="1803745" y="2699309"/>
            <a:ext cx="466133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 benchmark and a metric.</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'Best denoiser' is meaningless. 'Highest PSNR on BSD68 at σ=25' is a claim you can check.</a:t>
            </a:r>
            <a:endParaRPr lang="en-US" sz="1216" dirty="0"/>
          </a:p>
        </p:txBody>
      </p:sp>
      <p:sp>
        <p:nvSpPr>
          <p:cNvPr id="12" name="Shape 10"/>
          <p:cNvSpPr/>
          <p:nvPr/>
        </p:nvSpPr>
        <p:spPr>
          <a:xfrm>
            <a:off x="1636685" y="3366272"/>
            <a:ext cx="66843" cy="41788"/>
          </a:xfrm>
          <a:prstGeom prst="rect">
            <a:avLst/>
          </a:prstGeom>
          <a:solidFill>
            <a:srgbClr val="14343F"/>
          </a:solidFill>
          <a:ln/>
        </p:spPr>
      </p:sp>
      <p:sp>
        <p:nvSpPr>
          <p:cNvPr id="13" name="Text 11"/>
          <p:cNvSpPr txBox="1"/>
          <p:nvPr/>
        </p:nvSpPr>
        <p:spPr>
          <a:xfrm>
            <a:off x="1803745" y="3296321"/>
            <a:ext cx="466133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 comparison protocol.</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Two papers reporting on the same dataset can still disagree, so wherever a row compares two methods we take both numbers from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one table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14" name="Shape 12"/>
          <p:cNvSpPr/>
          <p:nvPr/>
        </p:nvSpPr>
        <p:spPr>
          <a:xfrm>
            <a:off x="1636685" y="4195084"/>
            <a:ext cx="66843" cy="41788"/>
          </a:xfrm>
          <a:prstGeom prst="rect">
            <a:avLst/>
          </a:prstGeom>
          <a:solidFill>
            <a:srgbClr val="14343F"/>
          </a:solidFill>
          <a:ln/>
        </p:spPr>
      </p:sp>
      <p:sp>
        <p:nvSpPr>
          <p:cNvPr id="15" name="Text 13"/>
          <p:cNvSpPr txBox="1"/>
          <p:nvPr/>
        </p:nvSpPr>
        <p:spPr>
          <a:xfrm>
            <a:off x="1803745" y="4125133"/>
            <a:ext cx="466133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Honesty about what is not reported.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No paper here states how long it held a position, so this talk does not claim SOTA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windows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only the publication date and which table each method leads.</a:t>
            </a:r>
            <a:endParaRPr lang="en-US" sz="1216" dirty="0"/>
          </a:p>
        </p:txBody>
      </p:sp>
      <p:sp>
        <p:nvSpPr>
          <p:cNvPr id="16" name="Shape 14"/>
          <p:cNvSpPr/>
          <p:nvPr/>
        </p:nvSpPr>
        <p:spPr>
          <a:xfrm>
            <a:off x="6797284" y="2226838"/>
            <a:ext cx="4793193" cy="16734"/>
          </a:xfrm>
          <a:prstGeom prst="rect">
            <a:avLst/>
          </a:prstGeom>
          <a:solidFill>
            <a:srgbClr val="14343F"/>
          </a:solidFill>
          <a:ln/>
        </p:spPr>
      </p:sp>
      <p:sp>
        <p:nvSpPr>
          <p:cNvPr id="17" name="Text 15"/>
          <p:cNvSpPr txBox="1"/>
          <p:nvPr/>
        </p:nvSpPr>
        <p:spPr>
          <a:xfrm>
            <a:off x="6797284" y="2368936"/>
            <a:ext cx="3190616"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Which is why there is no single winner</a:t>
            </a:r>
            <a:endParaRPr lang="en-US" sz="1447" dirty="0"/>
          </a:p>
        </p:txBody>
      </p:sp>
      <p:sp>
        <p:nvSpPr>
          <p:cNvPr id="18" name="Shape 16"/>
          <p:cNvSpPr/>
          <p:nvPr/>
        </p:nvSpPr>
        <p:spPr>
          <a:xfrm>
            <a:off x="6797284" y="2769260"/>
            <a:ext cx="66843" cy="41788"/>
          </a:xfrm>
          <a:prstGeom prst="rect">
            <a:avLst/>
          </a:prstGeom>
          <a:solidFill>
            <a:srgbClr val="14343F"/>
          </a:solidFill>
          <a:ln/>
        </p:spPr>
      </p:sp>
      <p:sp>
        <p:nvSpPr>
          <p:cNvPr id="19" name="Text 17"/>
          <p:cNvSpPr txBox="1"/>
          <p:nvPr/>
        </p:nvSpPr>
        <p:spPr>
          <a:xfrm>
            <a:off x="6964253" y="2699309"/>
            <a:ext cx="4661337" cy="6952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Different benchmarks measure different capabilities: BSD68 measures average-case Gaussian removal, Urban100 measures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long-range self-similarity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SIDD measures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real sensor noise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0" name="Shape 18"/>
          <p:cNvSpPr/>
          <p:nvPr/>
        </p:nvSpPr>
        <p:spPr>
          <a:xfrm>
            <a:off x="6797284" y="3597981"/>
            <a:ext cx="66843" cy="41788"/>
          </a:xfrm>
          <a:prstGeom prst="rect">
            <a:avLst/>
          </a:prstGeom>
          <a:solidFill>
            <a:srgbClr val="14343F"/>
          </a:solidFill>
          <a:ln/>
        </p:spPr>
      </p:sp>
      <p:sp>
        <p:nvSpPr>
          <p:cNvPr id="21" name="Text 19"/>
          <p:cNvSpPr txBox="1"/>
          <p:nvPr/>
        </p:nvSpPr>
        <p:spPr>
          <a:xfrm>
            <a:off x="6964253" y="3528121"/>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 method can lead one and trail another. Restormer, NAFNet and MambaIR each lead a different table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today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2" name="Shape 20"/>
          <p:cNvSpPr/>
          <p:nvPr/>
        </p:nvSpPr>
        <p:spPr>
          <a:xfrm>
            <a:off x="6797284" y="4195084"/>
            <a:ext cx="66843" cy="41788"/>
          </a:xfrm>
          <a:prstGeom prst="rect">
            <a:avLst/>
          </a:prstGeom>
          <a:solidFill>
            <a:srgbClr val="14343F"/>
          </a:solidFill>
          <a:ln/>
        </p:spPr>
      </p:sp>
      <p:sp>
        <p:nvSpPr>
          <p:cNvPr id="23" name="Text 21"/>
          <p:cNvSpPr txBox="1"/>
          <p:nvPr/>
        </p:nvSpPr>
        <p:spPr>
          <a:xfrm>
            <a:off x="6964253" y="4125133"/>
            <a:ext cx="466133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We return to this on slide 36</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with the numbers, because 'why are there several SOTAs' is the question this talk is built to answer.</a:t>
            </a:r>
            <a:endParaRPr lang="en-US" sz="1216" dirty="0"/>
          </a:p>
        </p:txBody>
      </p:sp>
      <p:sp>
        <p:nvSpPr>
          <p:cNvPr id="24" name="Text 22"/>
          <p:cNvSpPr txBox="1"/>
          <p:nvPr/>
        </p:nvSpPr>
        <p:spPr>
          <a:xfrm>
            <a:off x="7405177" y="6194511"/>
            <a:ext cx="418520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grounded in the benchmark definitions used by DnCNN17, Restormer22, NAFNet22</a:t>
            </a:r>
            <a:endParaRPr lang="en-US" sz="855" dirty="0"/>
          </a:p>
        </p:txBody>
      </p:sp>
      <p:sp>
        <p:nvSpPr>
          <p:cNvPr id="25" name="Shape 23"/>
          <p:cNvSpPr/>
          <p:nvPr/>
        </p:nvSpPr>
        <p:spPr>
          <a:xfrm>
            <a:off x="1636685" y="6515466"/>
            <a:ext cx="9953793" cy="8321"/>
          </a:xfrm>
          <a:prstGeom prst="rect">
            <a:avLst/>
          </a:prstGeom>
          <a:solidFill>
            <a:srgbClr val="C9C4B9"/>
          </a:solidFill>
          <a:ln/>
        </p:spPr>
      </p:sp>
      <p:sp>
        <p:nvSpPr>
          <p:cNvPr id="26" name="Shape 24"/>
          <p:cNvSpPr/>
          <p:nvPr/>
        </p:nvSpPr>
        <p:spPr>
          <a:xfrm>
            <a:off x="1636685" y="6473678"/>
            <a:ext cx="8321" cy="41788"/>
          </a:xfrm>
          <a:prstGeom prst="rect">
            <a:avLst/>
          </a:prstGeom>
          <a:solidFill>
            <a:srgbClr val="C9C4B9"/>
          </a:solidFill>
          <a:ln/>
        </p:spPr>
      </p:sp>
      <p:sp>
        <p:nvSpPr>
          <p:cNvPr id="27" name="Text 2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8" name="Shape 26"/>
          <p:cNvSpPr/>
          <p:nvPr/>
        </p:nvSpPr>
        <p:spPr>
          <a:xfrm>
            <a:off x="5507706" y="6473678"/>
            <a:ext cx="8321" cy="41788"/>
          </a:xfrm>
          <a:prstGeom prst="rect">
            <a:avLst/>
          </a:prstGeom>
          <a:solidFill>
            <a:srgbClr val="C9C4B9"/>
          </a:solidFill>
          <a:ln/>
        </p:spPr>
      </p:sp>
      <p:sp>
        <p:nvSpPr>
          <p:cNvPr id="29" name="Text 2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0" name="Shape 28"/>
          <p:cNvSpPr/>
          <p:nvPr/>
        </p:nvSpPr>
        <p:spPr>
          <a:xfrm>
            <a:off x="7166884" y="6473678"/>
            <a:ext cx="8321" cy="41788"/>
          </a:xfrm>
          <a:prstGeom prst="rect">
            <a:avLst/>
          </a:prstGeom>
          <a:solidFill>
            <a:srgbClr val="C9C4B9"/>
          </a:solidFill>
          <a:ln/>
        </p:spPr>
      </p:sp>
      <p:sp>
        <p:nvSpPr>
          <p:cNvPr id="31" name="Text 2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2" name="Shape 30"/>
          <p:cNvSpPr/>
          <p:nvPr/>
        </p:nvSpPr>
        <p:spPr>
          <a:xfrm>
            <a:off x="9931024" y="6473678"/>
            <a:ext cx="8321" cy="41788"/>
          </a:xfrm>
          <a:prstGeom prst="rect">
            <a:avLst/>
          </a:prstGeom>
          <a:solidFill>
            <a:srgbClr val="C9C4B9"/>
          </a:solidFill>
          <a:ln/>
        </p:spPr>
      </p:sp>
      <p:sp>
        <p:nvSpPr>
          <p:cNvPr id="33" name="Text 3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4" name="Shape 32"/>
          <p:cNvSpPr/>
          <p:nvPr/>
        </p:nvSpPr>
        <p:spPr>
          <a:xfrm>
            <a:off x="11590477" y="6473678"/>
            <a:ext cx="8321" cy="41788"/>
          </a:xfrm>
          <a:prstGeom prst="rect">
            <a:avLst/>
          </a:prstGeom>
          <a:solidFill>
            <a:srgbClr val="C9C4B9"/>
          </a:solidFill>
          <a:ln/>
        </p:spPr>
      </p:sp>
      <p:sp>
        <p:nvSpPr>
          <p:cNvPr id="35" name="Text 3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497891"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7C5E2A"/>
                </a:solidFill>
                <a:latin typeface="Cambria" pitchFamily="34" charset="0"/>
                <a:ea typeface="Cambria" pitchFamily="34" charset="-122"/>
                <a:cs typeface="Cambria" pitchFamily="34" charset="-120"/>
              </a:rPr>
              <a:t>1</a:t>
            </a:r>
            <a:endParaRPr lang="en-US" sz="8416" dirty="0"/>
          </a:p>
        </p:txBody>
      </p:sp>
      <p:sp>
        <p:nvSpPr>
          <p:cNvPr id="4" name="Shape 2"/>
          <p:cNvSpPr/>
          <p:nvPr/>
        </p:nvSpPr>
        <p:spPr>
          <a:xfrm>
            <a:off x="434249" y="1663294"/>
            <a:ext cx="1002091" cy="33376"/>
          </a:xfrm>
          <a:prstGeom prst="rect">
            <a:avLst/>
          </a:prstGeom>
          <a:solidFill>
            <a:srgbClr val="7C5E2A"/>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Hand-Written Prior</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153701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BASELINE · 2007 – 2014</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319930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BM3D — the baseline everything is measured against</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78381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WNNM — the classical ceiling</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207943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Bottleneck 1 — why the era ended</a:t>
            </a:r>
            <a:endParaRPr lang="en-US" sz="1118" dirty="0"/>
          </a:p>
        </p:txBody>
      </p:sp>
      <p:sp>
        <p:nvSpPr>
          <p:cNvPr id="20" name="Text 18"/>
          <p:cNvSpPr txBox="1"/>
          <p:nvPr/>
        </p:nvSpPr>
        <p:spPr>
          <a:xfrm>
            <a:off x="5526999" y="2846161"/>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Where the field started: a formula a human wrote, re-solved from scratch for every image.</a:t>
            </a:r>
            <a:endParaRPr lang="en-US" sz="1085" dirty="0"/>
          </a:p>
        </p:txBody>
      </p:sp>
      <p:sp>
        <p:nvSpPr>
          <p:cNvPr id="21" name="Text 19"/>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§2</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5453"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06</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638148"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BM3D · 2007 · THE BASELINE</a:t>
            </a:r>
            <a:endParaRPr lang="en-US" sz="781" dirty="0"/>
          </a:p>
        </p:txBody>
      </p:sp>
      <p:sp>
        <p:nvSpPr>
          <p:cNvPr id="6" name="Text 4"/>
          <p:cNvSpPr txBox="1"/>
          <p:nvPr/>
        </p:nvSpPr>
        <p:spPr>
          <a:xfrm>
            <a:off x="1439540" y="607070"/>
            <a:ext cx="7315109"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innovation: filter patches together, not alone</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Dabov et al., IEEE TIP 2007. Previous transform-domain methods shrank each patch independently. BM3D's innovation is to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group</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similar patches first, creating a third axis along which the signal is nearly constant and the noise is not.</a:t>
            </a:r>
            <a:endParaRPr lang="en-US" sz="1157" dirty="0"/>
          </a:p>
        </p:txBody>
      </p:sp>
      <p:sp>
        <p:nvSpPr>
          <p:cNvPr id="8" name="Shape 6"/>
          <p:cNvSpPr/>
          <p:nvPr/>
        </p:nvSpPr>
        <p:spPr>
          <a:xfrm>
            <a:off x="4587362" y="1958553"/>
            <a:ext cx="3927622"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4587362" y="1958553"/>
            <a:ext cx="3927622" cy="7315"/>
          </a:xfrm>
          <a:prstGeom prst="rect">
            <a:avLst/>
          </a:prstGeom>
          <a:solidFill>
            <a:srgbClr val="C9C4B9"/>
          </a:solidFill>
          <a:ln/>
        </p:spPr>
      </p:sp>
      <p:sp>
        <p:nvSpPr>
          <p:cNvPr id="10" name="Shape 8"/>
          <p:cNvSpPr/>
          <p:nvPr/>
        </p:nvSpPr>
        <p:spPr>
          <a:xfrm>
            <a:off x="4587362" y="4007632"/>
            <a:ext cx="3927622" cy="7315"/>
          </a:xfrm>
          <a:prstGeom prst="rect">
            <a:avLst/>
          </a:prstGeom>
          <a:solidFill>
            <a:srgbClr val="C9C4B9"/>
          </a:solidFill>
          <a:ln/>
        </p:spPr>
      </p:sp>
      <p:sp>
        <p:nvSpPr>
          <p:cNvPr id="11" name="Shape 9"/>
          <p:cNvSpPr/>
          <p:nvPr/>
        </p:nvSpPr>
        <p:spPr>
          <a:xfrm>
            <a:off x="4587362" y="1958553"/>
            <a:ext cx="7315" cy="2056394"/>
          </a:xfrm>
          <a:prstGeom prst="rect">
            <a:avLst/>
          </a:prstGeom>
          <a:solidFill>
            <a:srgbClr val="C9C4B9"/>
          </a:solidFill>
          <a:ln/>
        </p:spPr>
      </p:sp>
      <p:sp>
        <p:nvSpPr>
          <p:cNvPr id="12" name="Shape 10"/>
          <p:cNvSpPr/>
          <p:nvPr/>
        </p:nvSpPr>
        <p:spPr>
          <a:xfrm>
            <a:off x="8507669" y="1958553"/>
            <a:ext cx="7315" cy="2056394"/>
          </a:xfrm>
          <a:prstGeom prst="rect">
            <a:avLst/>
          </a:prstGeom>
          <a:solidFill>
            <a:srgbClr val="C9C4B9"/>
          </a:solidFill>
          <a:ln/>
        </p:spPr>
      </p:sp>
      <p:pic>
        <p:nvPicPr>
          <p:cNvPr id="13" name="Image 0" descr="Block matching in practice: the reference patch R and the similar patches BM3D groups with it before collaborative 3-D filtering.">    </p:cNvPr>
          <p:cNvPicPr>
            <a:picLocks noChangeAspect="1"/>
          </p:cNvPicPr>
          <p:nvPr/>
        </p:nvPicPr>
        <p:blipFill>
          <a:blip r:embed="rId1"/>
          <a:stretch>
            <a:fillRect/>
          </a:stretch>
        </p:blipFill>
        <p:spPr>
          <a:xfrm>
            <a:off x="4697547" y="2068739"/>
            <a:ext cx="3707343" cy="1836115"/>
          </a:xfrm>
          <a:prstGeom prst="rect">
            <a:avLst/>
          </a:prstGeom>
        </p:spPr>
      </p:pic>
      <p:sp>
        <p:nvSpPr>
          <p:cNvPr id="14" name="Text 11"/>
          <p:cNvSpPr txBox="1"/>
          <p:nvPr/>
        </p:nvSpPr>
        <p:spPr>
          <a:xfrm>
            <a:off x="3397453" y="4115623"/>
            <a:ext cx="6307348"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Block matching in practice: the reference patch R and the similar patches BM3D groups with it before collaborative 3-D filtering. [BM3D07 · Fig. 2]</a:t>
            </a:r>
            <a:endParaRPr lang="en-US" sz="810" dirty="0"/>
          </a:p>
        </p:txBody>
      </p:sp>
      <p:sp>
        <p:nvSpPr>
          <p:cNvPr id="15" name="Shape 12"/>
          <p:cNvSpPr/>
          <p:nvPr/>
        </p:nvSpPr>
        <p:spPr>
          <a:xfrm>
            <a:off x="1476207" y="4643598"/>
            <a:ext cx="7315" cy="804306"/>
          </a:xfrm>
          <a:prstGeom prst="rect">
            <a:avLst/>
          </a:prstGeom>
          <a:solidFill>
            <a:srgbClr val="C9C4B9"/>
          </a:solidFill>
          <a:ln/>
        </p:spPr>
      </p:sp>
      <p:sp>
        <p:nvSpPr>
          <p:cNvPr id="16" name="Shape 13"/>
          <p:cNvSpPr/>
          <p:nvPr/>
        </p:nvSpPr>
        <p:spPr>
          <a:xfrm>
            <a:off x="1689171" y="5036515"/>
            <a:ext cx="9973727" cy="7315"/>
          </a:xfrm>
          <a:prstGeom prst="rect">
            <a:avLst/>
          </a:prstGeom>
          <a:solidFill>
            <a:srgbClr val="DFDBD2"/>
          </a:solidFill>
          <a:ln/>
        </p:spPr>
      </p:sp>
      <p:sp>
        <p:nvSpPr>
          <p:cNvPr id="17" name="Shape 14"/>
          <p:cNvSpPr/>
          <p:nvPr/>
        </p:nvSpPr>
        <p:spPr>
          <a:xfrm>
            <a:off x="1439540" y="4707880"/>
            <a:ext cx="73426" cy="73426"/>
          </a:xfrm>
          <a:prstGeom prst="rect">
            <a:avLst/>
          </a:prstGeom>
          <a:solidFill>
            <a:srgbClr val="7C5E2A"/>
          </a:solidFill>
          <a:ln/>
        </p:spPr>
      </p:sp>
      <p:sp>
        <p:nvSpPr>
          <p:cNvPr id="18" name="Text 15"/>
          <p:cNvSpPr txBox="1"/>
          <p:nvPr/>
        </p:nvSpPr>
        <p:spPr>
          <a:xfrm>
            <a:off x="1689171" y="4663989"/>
            <a:ext cx="868954"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What changed</a:t>
            </a:r>
            <a:endParaRPr lang="en-US" sz="1041" dirty="0"/>
          </a:p>
        </p:txBody>
      </p:sp>
      <p:sp>
        <p:nvSpPr>
          <p:cNvPr id="19" name="Shape 16"/>
          <p:cNvSpPr/>
          <p:nvPr/>
        </p:nvSpPr>
        <p:spPr>
          <a:xfrm>
            <a:off x="4729825" y="4562856"/>
            <a:ext cx="7315" cy="363565"/>
          </a:xfrm>
          <a:prstGeom prst="rect">
            <a:avLst/>
          </a:prstGeom>
          <a:solidFill>
            <a:srgbClr val="DFDBD2"/>
          </a:solidFill>
          <a:ln/>
        </p:spPr>
      </p:sp>
      <p:sp>
        <p:nvSpPr>
          <p:cNvPr id="20" name="Text 17"/>
          <p:cNvSpPr txBox="1"/>
          <p:nvPr/>
        </p:nvSpPr>
        <p:spPr>
          <a:xfrm>
            <a:off x="4928067" y="4560021"/>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Block-match similar patches into a 3-D stack, transform the </a:t>
            </a:r>
            <a:pPr algn="l" indent="0" marL="0">
              <a:lnSpc>
                <a:spcPts val="1431"/>
              </a:lnSpc>
              <a:buNone/>
            </a:pPr>
            <a:r>
              <a:rPr kern="0" lang="en-US" sz="954" b="1" dirty="0">
                <a:solidFill>
                  <a:srgbClr val="33302B"/>
                </a:solidFill>
                <a:latin typeface="Calibri" pitchFamily="34" charset="0"/>
                <a:ea typeface="Calibri" pitchFamily="34" charset="-122"/>
                <a:cs typeface="Calibri" pitchFamily="34" charset="-120"/>
              </a:rPr>
              <a:t>stack</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hard-threshold, invert, aggregate — then repeat using the cleaner estimate as a Wiener pilot.</a:t>
            </a:r>
            <a:endParaRPr lang="en-US" sz="954" dirty="0"/>
          </a:p>
        </p:txBody>
      </p:sp>
      <p:sp>
        <p:nvSpPr>
          <p:cNvPr id="21" name="Shape 18"/>
          <p:cNvSpPr/>
          <p:nvPr/>
        </p:nvSpPr>
        <p:spPr>
          <a:xfrm>
            <a:off x="1689171" y="5631515"/>
            <a:ext cx="9973727" cy="7315"/>
          </a:xfrm>
          <a:prstGeom prst="rect">
            <a:avLst/>
          </a:prstGeom>
          <a:solidFill>
            <a:srgbClr val="DFDBD2"/>
          </a:solidFill>
          <a:ln/>
        </p:spPr>
      </p:sp>
      <p:sp>
        <p:nvSpPr>
          <p:cNvPr id="22" name="Shape 19"/>
          <p:cNvSpPr/>
          <p:nvPr/>
        </p:nvSpPr>
        <p:spPr>
          <a:xfrm>
            <a:off x="1439540" y="5300960"/>
            <a:ext cx="73426" cy="73426"/>
          </a:xfrm>
          <a:prstGeom prst="rect">
            <a:avLst/>
          </a:prstGeom>
          <a:solidFill>
            <a:srgbClr val="7C5E2A"/>
          </a:solidFill>
          <a:ln/>
        </p:spPr>
      </p:sp>
      <p:sp>
        <p:nvSpPr>
          <p:cNvPr id="23" name="Text 20"/>
          <p:cNvSpPr txBox="1"/>
          <p:nvPr/>
        </p:nvSpPr>
        <p:spPr>
          <a:xfrm>
            <a:off x="1689171" y="5256977"/>
            <a:ext cx="809335"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Why it works</a:t>
            </a:r>
            <a:endParaRPr lang="en-US" sz="1041" dirty="0"/>
          </a:p>
        </p:txBody>
      </p:sp>
      <p:sp>
        <p:nvSpPr>
          <p:cNvPr id="24" name="Shape 21"/>
          <p:cNvSpPr/>
          <p:nvPr/>
        </p:nvSpPr>
        <p:spPr>
          <a:xfrm>
            <a:off x="4729825" y="5154016"/>
            <a:ext cx="7315" cy="367314"/>
          </a:xfrm>
          <a:prstGeom prst="rect">
            <a:avLst/>
          </a:prstGeom>
          <a:solidFill>
            <a:srgbClr val="DFDBD2"/>
          </a:solidFill>
          <a:ln/>
        </p:spPr>
      </p:sp>
      <p:sp>
        <p:nvSpPr>
          <p:cNvPr id="25" name="Text 22"/>
          <p:cNvSpPr txBox="1"/>
          <p:nvPr/>
        </p:nvSpPr>
        <p:spPr>
          <a:xfrm>
            <a:off x="4928067" y="5151272"/>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The paper's own ablation: even a transform that is </a:t>
            </a:r>
            <a:pPr algn="l" indent="0" marL="0">
              <a:lnSpc>
                <a:spcPts val="1431"/>
              </a:lnSpc>
              <a:buNone/>
            </a:pPr>
            <a:r>
              <a:rPr kern="0" lang="en-US" sz="954" i="1" dirty="0">
                <a:solidFill>
                  <a:srgbClr val="33302B"/>
                </a:solidFill>
                <a:latin typeface="Calibri" pitchFamily="34" charset="0"/>
                <a:ea typeface="Calibri" pitchFamily="34" charset="-122"/>
                <a:cs typeface="Calibri" pitchFamily="34" charset="-120"/>
              </a:rPr>
              <a:t>random apart from the DC</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loses only 0.1–0.4 dB. </a:t>
            </a:r>
            <a:pPr algn="l" indent="0" marL="0">
              <a:lnSpc>
                <a:spcPts val="1431"/>
              </a:lnSpc>
              <a:buNone/>
            </a:pPr>
            <a:r>
              <a:rPr kern="0" lang="en-US" sz="954" b="1" dirty="0">
                <a:solidFill>
                  <a:srgbClr val="33302B"/>
                </a:solidFill>
                <a:latin typeface="Calibri" pitchFamily="34" charset="0"/>
                <a:ea typeface="Calibri" pitchFamily="34" charset="-122"/>
                <a:cs typeface="Calibri" pitchFamily="34" charset="-120"/>
              </a:rPr>
              <a:t>The grouping does the work, not the transform.</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a:t>
            </a:r>
            <a:pPr algn="l" indent="0" marL="0">
              <a:lnSpc>
                <a:spcPts val="1431"/>
              </a:lnSpc>
              <a:buNone/>
            </a:pPr>
            <a:r>
              <a:rPr kern="0" lang="en-US" sz="859" dirty="0">
                <a:solidFill>
                  <a:srgbClr val="145A66"/>
                </a:solidFill>
                <a:latin typeface="Consolas" pitchFamily="34" charset="0"/>
                <a:ea typeface="Consolas" pitchFamily="34" charset="-122"/>
                <a:cs typeface="Consolas" pitchFamily="34" charset="-120"/>
              </a:rPr>
              <a:t>[BM3D07 §V]</a:t>
            </a:r>
            <a:endParaRPr lang="en-US" sz="954" dirty="0"/>
          </a:p>
        </p:txBody>
      </p:sp>
      <p:sp>
        <p:nvSpPr>
          <p:cNvPr id="26" name="Text 23"/>
          <p:cNvSpPr txBox="1"/>
          <p:nvPr/>
        </p:nvSpPr>
        <p:spPr>
          <a:xfrm>
            <a:off x="8199608" y="6274430"/>
            <a:ext cx="3463290"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BM3D07 §II-C, §V · DnCNN17 Table II, Table IV · baselines in N2N18, N2V19, ZS-N2N23</a:t>
            </a:r>
            <a:endParaRPr lang="en-US" sz="752" dirty="0"/>
          </a:p>
        </p:txBody>
      </p:sp>
      <p:sp>
        <p:nvSpPr>
          <p:cNvPr id="27" name="Shape 24"/>
          <p:cNvSpPr/>
          <p:nvPr/>
        </p:nvSpPr>
        <p:spPr>
          <a:xfrm>
            <a:off x="1439540" y="6556705"/>
            <a:ext cx="10223358" cy="7315"/>
          </a:xfrm>
          <a:prstGeom prst="rect">
            <a:avLst/>
          </a:prstGeom>
          <a:solidFill>
            <a:srgbClr val="C9C4B9"/>
          </a:solidFill>
          <a:ln/>
        </p:spPr>
      </p:sp>
      <p:sp>
        <p:nvSpPr>
          <p:cNvPr id="28" name="Shape 25"/>
          <p:cNvSpPr/>
          <p:nvPr/>
        </p:nvSpPr>
        <p:spPr>
          <a:xfrm>
            <a:off x="1439540" y="6545732"/>
            <a:ext cx="3975811" cy="29352"/>
          </a:xfrm>
          <a:prstGeom prst="rect">
            <a:avLst/>
          </a:prstGeom>
          <a:solidFill>
            <a:srgbClr val="7C5E2A"/>
          </a:solidFill>
          <a:ln/>
        </p:spPr>
      </p:sp>
      <p:sp>
        <p:nvSpPr>
          <p:cNvPr id="29" name="Shape 26"/>
          <p:cNvSpPr/>
          <p:nvPr/>
        </p:nvSpPr>
        <p:spPr>
          <a:xfrm>
            <a:off x="1439540" y="6519946"/>
            <a:ext cx="7315" cy="36759"/>
          </a:xfrm>
          <a:prstGeom prst="rect">
            <a:avLst/>
          </a:prstGeom>
          <a:solidFill>
            <a:srgbClr val="C9C4B9"/>
          </a:solidFill>
          <a:ln/>
        </p:spPr>
      </p:sp>
      <p:sp>
        <p:nvSpPr>
          <p:cNvPr id="30" name="Text 27"/>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1" name="Shape 28"/>
          <p:cNvSpPr/>
          <p:nvPr/>
        </p:nvSpPr>
        <p:spPr>
          <a:xfrm>
            <a:off x="5415351" y="6519946"/>
            <a:ext cx="7315" cy="36759"/>
          </a:xfrm>
          <a:prstGeom prst="rect">
            <a:avLst/>
          </a:prstGeom>
          <a:solidFill>
            <a:srgbClr val="C9C4B9"/>
          </a:solidFill>
          <a:ln/>
        </p:spPr>
      </p:sp>
      <p:sp>
        <p:nvSpPr>
          <p:cNvPr id="32" name="Text 29"/>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3" name="Shape 30"/>
          <p:cNvSpPr/>
          <p:nvPr/>
        </p:nvSpPr>
        <p:spPr>
          <a:xfrm>
            <a:off x="7119610" y="6519946"/>
            <a:ext cx="7315" cy="36759"/>
          </a:xfrm>
          <a:prstGeom prst="rect">
            <a:avLst/>
          </a:prstGeom>
          <a:solidFill>
            <a:srgbClr val="C9C4B9"/>
          </a:solidFill>
          <a:ln/>
        </p:spPr>
      </p:sp>
      <p:sp>
        <p:nvSpPr>
          <p:cNvPr id="34" name="Text 31"/>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5" name="Shape 32"/>
          <p:cNvSpPr/>
          <p:nvPr/>
        </p:nvSpPr>
        <p:spPr>
          <a:xfrm>
            <a:off x="9958639" y="6519946"/>
            <a:ext cx="7315" cy="36759"/>
          </a:xfrm>
          <a:prstGeom prst="rect">
            <a:avLst/>
          </a:prstGeom>
          <a:solidFill>
            <a:srgbClr val="C9C4B9"/>
          </a:solidFill>
          <a:ln/>
        </p:spPr>
      </p:sp>
      <p:sp>
        <p:nvSpPr>
          <p:cNvPr id="36" name="Text 33"/>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7" name="Shape 34"/>
          <p:cNvSpPr/>
          <p:nvPr/>
        </p:nvSpPr>
        <p:spPr>
          <a:xfrm>
            <a:off x="11662898" y="6519946"/>
            <a:ext cx="7315" cy="36759"/>
          </a:xfrm>
          <a:prstGeom prst="rect">
            <a:avLst/>
          </a:prstGeom>
          <a:solidFill>
            <a:srgbClr val="C9C4B9"/>
          </a:solidFill>
          <a:ln/>
        </p:spPr>
      </p:sp>
      <p:sp>
        <p:nvSpPr>
          <p:cNvPr id="38" name="Text 35"/>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6933"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06</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186254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BM3D · 2007 · THE BASELINE</a:t>
            </a:r>
            <a:endParaRPr lang="en-US" sz="888" dirty="0"/>
          </a:p>
        </p:txBody>
      </p:sp>
      <p:sp>
        <p:nvSpPr>
          <p:cNvPr id="6" name="Text 4"/>
          <p:cNvSpPr txBox="1"/>
          <p:nvPr/>
        </p:nvSpPr>
        <p:spPr>
          <a:xfrm>
            <a:off x="3845143"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31720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innovation: filter patches together, not alone</a:t>
            </a:r>
            <a:endParaRPr lang="en-US" sz="3025" dirty="0"/>
          </a:p>
        </p:txBody>
      </p:sp>
      <p:sp>
        <p:nvSpPr>
          <p:cNvPr id="8" name="Shape 6"/>
          <p:cNvSpPr/>
          <p:nvPr/>
        </p:nvSpPr>
        <p:spPr>
          <a:xfrm>
            <a:off x="1678473" y="1458559"/>
            <a:ext cx="8321" cy="1785000"/>
          </a:xfrm>
          <a:prstGeom prst="rect">
            <a:avLst/>
          </a:prstGeom>
          <a:solidFill>
            <a:srgbClr val="C9C4B9"/>
          </a:solidFill>
          <a:ln/>
        </p:spPr>
      </p:sp>
      <p:sp>
        <p:nvSpPr>
          <p:cNvPr id="9" name="Shape 7"/>
          <p:cNvSpPr/>
          <p:nvPr/>
        </p:nvSpPr>
        <p:spPr>
          <a:xfrm>
            <a:off x="1920606" y="1905335"/>
            <a:ext cx="9669871" cy="8321"/>
          </a:xfrm>
          <a:prstGeom prst="rect">
            <a:avLst/>
          </a:prstGeom>
          <a:solidFill>
            <a:srgbClr val="DFDBD2"/>
          </a:solidFill>
          <a:ln/>
        </p:spPr>
      </p:sp>
      <p:sp>
        <p:nvSpPr>
          <p:cNvPr id="10" name="Shape 8"/>
          <p:cNvSpPr/>
          <p:nvPr/>
        </p:nvSpPr>
        <p:spPr>
          <a:xfrm>
            <a:off x="1636685" y="1531620"/>
            <a:ext cx="83485" cy="83485"/>
          </a:xfrm>
          <a:prstGeom prst="rect">
            <a:avLst/>
          </a:prstGeom>
          <a:solidFill>
            <a:srgbClr val="7C5E2A"/>
          </a:solidFill>
          <a:ln/>
        </p:spPr>
      </p:sp>
      <p:sp>
        <p:nvSpPr>
          <p:cNvPr id="11" name="Text 9"/>
          <p:cNvSpPr txBox="1"/>
          <p:nvPr/>
        </p:nvSpPr>
        <p:spPr>
          <a:xfrm>
            <a:off x="1920606" y="1481694"/>
            <a:ext cx="510418" cy="183337"/>
          </a:xfrm>
          <a:prstGeom prst="rect">
            <a:avLst/>
          </a:prstGeom>
          <a:noFill/>
          <a:ln/>
        </p:spPr>
        <p:txBody>
          <a:bodyPr wrap="none" lIns="0" tIns="0" rIns="0" bIns="0" rtlCol="0" anchor="t"/>
          <a:lstStyle/>
          <a:p>
            <a:pPr algn="l" indent="0" marL="0">
              <a:lnSpc>
                <a:spcPts val="1444"/>
              </a:lnSpc>
              <a:buNone/>
            </a:pPr>
            <a:r>
              <a:rPr lang="en-US" sz="1184" b="1" spc="-20" kern="0" dirty="0">
                <a:solidFill>
                  <a:srgbClr val="14120F"/>
                </a:solidFill>
                <a:latin typeface="Cambria" pitchFamily="34" charset="0"/>
                <a:ea typeface="Cambria" pitchFamily="34" charset="-122"/>
                <a:cs typeface="Cambria" pitchFamily="34" charset="-120"/>
              </a:rPr>
              <a:t>Impact</a:t>
            </a:r>
            <a:endParaRPr lang="en-US" sz="1184" dirty="0"/>
          </a:p>
        </p:txBody>
      </p:sp>
      <p:sp>
        <p:nvSpPr>
          <p:cNvPr id="12" name="Shape 10"/>
          <p:cNvSpPr/>
          <p:nvPr/>
        </p:nvSpPr>
        <p:spPr>
          <a:xfrm>
            <a:off x="5377678" y="1366754"/>
            <a:ext cx="8321" cy="413309"/>
          </a:xfrm>
          <a:prstGeom prst="rect">
            <a:avLst/>
          </a:prstGeom>
          <a:solidFill>
            <a:srgbClr val="DFDBD2"/>
          </a:solidFill>
          <a:ln/>
        </p:spPr>
      </p:sp>
      <p:sp>
        <p:nvSpPr>
          <p:cNvPr id="13" name="Text 11"/>
          <p:cNvSpPr txBox="1"/>
          <p:nvPr/>
        </p:nvSpPr>
        <p:spPr>
          <a:xfrm>
            <a:off x="5603169" y="1363645"/>
            <a:ext cx="6027908" cy="413309"/>
          </a:xfrm>
          <a:prstGeom prst="rect">
            <a:avLst/>
          </a:prstGeom>
          <a:noFill/>
          <a:ln/>
        </p:spPr>
        <p:txBody>
          <a:bodyPr wrap="square" lIns="0" tIns="0" rIns="0" bIns="0" rtlCol="0" anchor="t"/>
          <a:lstStyle/>
          <a:p>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BSD68 σ=25: </a:t>
            </a:r>
            <a:pPr algn="l" indent="0" marL="0">
              <a:lnSpc>
                <a:spcPts val="1627"/>
              </a:lnSpc>
              <a:buNone/>
            </a:pPr>
            <a:r>
              <a:rPr kern="0" lang="en-US" sz="1085" b="1" dirty="0">
                <a:solidFill>
                  <a:srgbClr val="33302B"/>
                </a:solidFill>
                <a:latin typeface="Calibri" pitchFamily="34" charset="0"/>
                <a:ea typeface="Calibri" pitchFamily="34" charset="-122"/>
                <a:cs typeface="Calibri" pitchFamily="34" charset="-120"/>
              </a:rPr>
              <a:t>28.57 dB</a:t>
            </a:r>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 at 2.85 s per 512×512. Became the reference line every paper for a decade had to beat.</a:t>
            </a:r>
            <a:endParaRPr lang="en-US" sz="1085" dirty="0"/>
          </a:p>
        </p:txBody>
      </p:sp>
      <p:sp>
        <p:nvSpPr>
          <p:cNvPr id="14" name="Shape 12"/>
          <p:cNvSpPr/>
          <p:nvPr/>
        </p:nvSpPr>
        <p:spPr>
          <a:xfrm>
            <a:off x="1920606" y="2784257"/>
            <a:ext cx="9669871" cy="8321"/>
          </a:xfrm>
          <a:prstGeom prst="rect">
            <a:avLst/>
          </a:prstGeom>
          <a:solidFill>
            <a:srgbClr val="DFDBD2"/>
          </a:solidFill>
          <a:ln/>
        </p:spPr>
      </p:sp>
      <p:sp>
        <p:nvSpPr>
          <p:cNvPr id="15" name="Shape 13"/>
          <p:cNvSpPr/>
          <p:nvPr/>
        </p:nvSpPr>
        <p:spPr>
          <a:xfrm>
            <a:off x="1636685" y="2307214"/>
            <a:ext cx="83485" cy="83485"/>
          </a:xfrm>
          <a:prstGeom prst="rect">
            <a:avLst/>
          </a:prstGeom>
          <a:solidFill>
            <a:srgbClr val="7C5E2A"/>
          </a:solidFill>
          <a:ln/>
        </p:spPr>
      </p:sp>
      <p:sp>
        <p:nvSpPr>
          <p:cNvPr id="16" name="Text 14"/>
          <p:cNvSpPr txBox="1"/>
          <p:nvPr/>
        </p:nvSpPr>
        <p:spPr>
          <a:xfrm>
            <a:off x="1920606" y="2257288"/>
            <a:ext cx="724388" cy="183337"/>
          </a:xfrm>
          <a:prstGeom prst="rect">
            <a:avLst/>
          </a:prstGeom>
          <a:noFill/>
          <a:ln/>
        </p:spPr>
        <p:txBody>
          <a:bodyPr wrap="none" lIns="0" tIns="0" rIns="0" bIns="0" rtlCol="0" anchor="t"/>
          <a:lstStyle/>
          <a:p>
            <a:pPr algn="l" indent="0" marL="0">
              <a:lnSpc>
                <a:spcPts val="1444"/>
              </a:lnSpc>
              <a:buNone/>
            </a:pPr>
            <a:r>
              <a:rPr lang="en-US" sz="1184" b="1" spc="-20" kern="0" dirty="0">
                <a:solidFill>
                  <a:srgbClr val="14120F"/>
                </a:solidFill>
                <a:latin typeface="Cambria" pitchFamily="34" charset="0"/>
                <a:ea typeface="Cambria" pitchFamily="34" charset="-122"/>
                <a:cs typeface="Cambria" pitchFamily="34" charset="-120"/>
              </a:rPr>
              <a:t>Still in use</a:t>
            </a:r>
            <a:endParaRPr lang="en-US" sz="1184" dirty="0"/>
          </a:p>
        </p:txBody>
      </p:sp>
      <p:sp>
        <p:nvSpPr>
          <p:cNvPr id="17" name="Shape 15"/>
          <p:cNvSpPr/>
          <p:nvPr/>
        </p:nvSpPr>
        <p:spPr>
          <a:xfrm>
            <a:off x="5377678" y="2038929"/>
            <a:ext cx="8321" cy="620055"/>
          </a:xfrm>
          <a:prstGeom prst="rect">
            <a:avLst/>
          </a:prstGeom>
          <a:solidFill>
            <a:srgbClr val="DFDBD2"/>
          </a:solidFill>
          <a:ln/>
        </p:spPr>
      </p:sp>
      <p:sp>
        <p:nvSpPr>
          <p:cNvPr id="18" name="Text 16"/>
          <p:cNvSpPr txBox="1"/>
          <p:nvPr/>
        </p:nvSpPr>
        <p:spPr>
          <a:xfrm>
            <a:off x="5603169" y="2035820"/>
            <a:ext cx="6027908" cy="620055"/>
          </a:xfrm>
          <a:prstGeom prst="rect">
            <a:avLst/>
          </a:prstGeom>
          <a:noFill/>
          <a:ln/>
        </p:spPr>
        <p:txBody>
          <a:bodyPr wrap="square" lIns="0" tIns="0" rIns="0" bIns="0" rtlCol="0" anchor="t"/>
          <a:lstStyle/>
          <a:p>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Appears as a live baseline in Noise2Noise (2018), Noise2Void (2019), ZS-N2N (2023) and Restormer (2022) — a seventeen-year-old algorithm is still what new zero-shot methods must beat, because it needs no training data.</a:t>
            </a:r>
            <a:endParaRPr lang="en-US" sz="1085" dirty="0"/>
          </a:p>
        </p:txBody>
      </p:sp>
      <p:sp>
        <p:nvSpPr>
          <p:cNvPr id="19" name="Shape 17"/>
          <p:cNvSpPr/>
          <p:nvPr/>
        </p:nvSpPr>
        <p:spPr>
          <a:xfrm>
            <a:off x="1636685" y="3084820"/>
            <a:ext cx="83485" cy="83485"/>
          </a:xfrm>
          <a:prstGeom prst="rect">
            <a:avLst/>
          </a:prstGeom>
          <a:solidFill>
            <a:srgbClr val="7C5E2A"/>
          </a:solidFill>
          <a:ln/>
        </p:spPr>
      </p:sp>
      <p:sp>
        <p:nvSpPr>
          <p:cNvPr id="20" name="Text 18"/>
          <p:cNvSpPr txBox="1"/>
          <p:nvPr/>
        </p:nvSpPr>
        <p:spPr>
          <a:xfrm>
            <a:off x="1920606" y="3034894"/>
            <a:ext cx="868406" cy="183337"/>
          </a:xfrm>
          <a:prstGeom prst="rect">
            <a:avLst/>
          </a:prstGeom>
          <a:noFill/>
          <a:ln/>
        </p:spPr>
        <p:txBody>
          <a:bodyPr wrap="none" lIns="0" tIns="0" rIns="0" bIns="0" rtlCol="0" anchor="t"/>
          <a:lstStyle/>
          <a:p>
            <a:pPr algn="l" indent="0" marL="0">
              <a:lnSpc>
                <a:spcPts val="1444"/>
              </a:lnSpc>
              <a:buNone/>
            </a:pPr>
            <a:r>
              <a:rPr lang="en-US" sz="1184" b="1" spc="-20" kern="0" dirty="0">
                <a:solidFill>
                  <a:srgbClr val="14120F"/>
                </a:solidFill>
                <a:latin typeface="Cambria" pitchFamily="34" charset="0"/>
                <a:ea typeface="Cambria" pitchFamily="34" charset="-122"/>
                <a:cs typeface="Cambria" pitchFamily="34" charset="-120"/>
              </a:rPr>
              <a:t>Applications</a:t>
            </a:r>
            <a:endParaRPr lang="en-US" sz="1184" dirty="0"/>
          </a:p>
        </p:txBody>
      </p:sp>
      <p:sp>
        <p:nvSpPr>
          <p:cNvPr id="21" name="Shape 19"/>
          <p:cNvSpPr/>
          <p:nvPr/>
        </p:nvSpPr>
        <p:spPr>
          <a:xfrm>
            <a:off x="5377678" y="2917850"/>
            <a:ext cx="8321" cy="417698"/>
          </a:xfrm>
          <a:prstGeom prst="rect">
            <a:avLst/>
          </a:prstGeom>
          <a:solidFill>
            <a:srgbClr val="DFDBD2"/>
          </a:solidFill>
          <a:ln/>
        </p:spPr>
      </p:sp>
      <p:sp>
        <p:nvSpPr>
          <p:cNvPr id="22" name="Text 20"/>
          <p:cNvSpPr txBox="1"/>
          <p:nvPr/>
        </p:nvSpPr>
        <p:spPr>
          <a:xfrm>
            <a:off x="5603169" y="2914741"/>
            <a:ext cx="6027908" cy="430042"/>
          </a:xfrm>
          <a:prstGeom prst="rect">
            <a:avLst/>
          </a:prstGeom>
          <a:noFill/>
          <a:ln/>
        </p:spPr>
        <p:txBody>
          <a:bodyPr wrap="square" lIns="0" tIns="0" rIns="0" bIns="0" rtlCol="0" anchor="t"/>
          <a:lstStyle/>
          <a:p>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The zero-shot comparison in those same papers, and the fallback where there is neither training data nor a GPU. On real sensor noise it still beats an AWGN-trained DnCNN by 1.99 dB. </a:t>
            </a:r>
            <a:pPr algn="l" indent="0" marL="0">
              <a:lnSpc>
                <a:spcPts val="1627"/>
              </a:lnSpc>
              <a:buNone/>
            </a:pPr>
            <a:r>
              <a:rPr kern="0" lang="en-US" sz="976" dirty="0">
                <a:solidFill>
                  <a:srgbClr val="145A66"/>
                </a:solidFill>
                <a:latin typeface="Consolas" pitchFamily="34" charset="0"/>
                <a:ea typeface="Consolas" pitchFamily="34" charset="-122"/>
                <a:cs typeface="Consolas" pitchFamily="34" charset="-120"/>
              </a:rPr>
              <a:t>[Restormer22 Table 6]</a:t>
            </a:r>
            <a:endParaRPr lang="en-US" sz="1085" dirty="0"/>
          </a:p>
        </p:txBody>
      </p:sp>
      <p:sp>
        <p:nvSpPr>
          <p:cNvPr id="23" name="Text 21"/>
          <p:cNvSpPr txBox="1"/>
          <p:nvPr/>
        </p:nvSpPr>
        <p:spPr>
          <a:xfrm>
            <a:off x="7652705" y="6194511"/>
            <a:ext cx="3937772"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BM3D07 §II-C, §V · DnCNN17 Table II, Table IV · baselines in N2N18, N2V19, ZS-N2N23</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502938"/>
            <a:ext cx="3870930" cy="33376"/>
          </a:xfrm>
          <a:prstGeom prst="rect">
            <a:avLst/>
          </a:prstGeom>
          <a:solidFill>
            <a:srgbClr val="7C5E2A"/>
          </a:solidFill>
          <a:ln/>
        </p:spPr>
      </p:sp>
      <p:sp>
        <p:nvSpPr>
          <p:cNvPr id="26" name="Shape 24"/>
          <p:cNvSpPr/>
          <p:nvPr/>
        </p:nvSpPr>
        <p:spPr>
          <a:xfrm>
            <a:off x="1636685" y="6473678"/>
            <a:ext cx="8321" cy="41788"/>
          </a:xfrm>
          <a:prstGeom prst="rect">
            <a:avLst/>
          </a:prstGeom>
          <a:solidFill>
            <a:srgbClr val="C9C4B9"/>
          </a:solidFill>
          <a:ln/>
        </p:spPr>
      </p:sp>
      <p:sp>
        <p:nvSpPr>
          <p:cNvPr id="27" name="Text 2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8" name="Shape 26"/>
          <p:cNvSpPr/>
          <p:nvPr/>
        </p:nvSpPr>
        <p:spPr>
          <a:xfrm>
            <a:off x="5507706" y="6473678"/>
            <a:ext cx="8321" cy="41788"/>
          </a:xfrm>
          <a:prstGeom prst="rect">
            <a:avLst/>
          </a:prstGeom>
          <a:solidFill>
            <a:srgbClr val="C9C4B9"/>
          </a:solidFill>
          <a:ln/>
        </p:spPr>
      </p:sp>
      <p:sp>
        <p:nvSpPr>
          <p:cNvPr id="29" name="Text 2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0" name="Shape 28"/>
          <p:cNvSpPr/>
          <p:nvPr/>
        </p:nvSpPr>
        <p:spPr>
          <a:xfrm>
            <a:off x="7166884" y="6473678"/>
            <a:ext cx="8321" cy="41788"/>
          </a:xfrm>
          <a:prstGeom prst="rect">
            <a:avLst/>
          </a:prstGeom>
          <a:solidFill>
            <a:srgbClr val="C9C4B9"/>
          </a:solidFill>
          <a:ln/>
        </p:spPr>
      </p:sp>
      <p:sp>
        <p:nvSpPr>
          <p:cNvPr id="31" name="Text 2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2" name="Shape 30"/>
          <p:cNvSpPr/>
          <p:nvPr/>
        </p:nvSpPr>
        <p:spPr>
          <a:xfrm>
            <a:off x="9931024" y="6473678"/>
            <a:ext cx="8321" cy="41788"/>
          </a:xfrm>
          <a:prstGeom prst="rect">
            <a:avLst/>
          </a:prstGeom>
          <a:solidFill>
            <a:srgbClr val="C9C4B9"/>
          </a:solidFill>
          <a:ln/>
        </p:spPr>
      </p:sp>
      <p:sp>
        <p:nvSpPr>
          <p:cNvPr id="33" name="Text 3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4" name="Shape 32"/>
          <p:cNvSpPr/>
          <p:nvPr/>
        </p:nvSpPr>
        <p:spPr>
          <a:xfrm>
            <a:off x="11590477" y="6473678"/>
            <a:ext cx="8321" cy="41788"/>
          </a:xfrm>
          <a:prstGeom prst="rect">
            <a:avLst/>
          </a:prstGeom>
          <a:solidFill>
            <a:srgbClr val="C9C4B9"/>
          </a:solidFill>
          <a:ln/>
        </p:spPr>
      </p:sp>
      <p:sp>
        <p:nvSpPr>
          <p:cNvPr id="35" name="Text 3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084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07</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212470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WNNM · 2014 · BEFORE → AFTER</a:t>
            </a:r>
            <a:endParaRPr lang="en-US" sz="888" dirty="0"/>
          </a:p>
        </p:txBody>
      </p:sp>
      <p:sp>
        <p:nvSpPr>
          <p:cNvPr id="6" name="Text 4"/>
          <p:cNvSpPr txBox="1"/>
          <p:nvPr/>
        </p:nvSpPr>
        <p:spPr>
          <a:xfrm>
            <a:off x="1636685" y="690281"/>
            <a:ext cx="9748236"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WNNM vs BM3D — the same grouping, a better estimator</a:t>
            </a:r>
            <a:endParaRPr lang="en-US" sz="3025" dirty="0"/>
          </a:p>
        </p:txBody>
      </p:sp>
      <p:sp>
        <p:nvSpPr>
          <p:cNvPr id="7" name="Text 5"/>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Gu et al., CVPR 2014. WNNM keeps BM3D's non-local grouping and replaces what happens to the group. This is the first clean Before → After in the story, and it is entirely inside one step.</a:t>
            </a:r>
            <a:endParaRPr lang="en-US" sz="131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636685" y="1976293"/>
          <a:ext cx="9144000" cy="914400"/>
        </p:xfrm>
        <a:graphic>
          <a:graphicData uri="http://schemas.openxmlformats.org/drawingml/2006/table">
            <a:tbl>
              <a:tblPr/>
              <a:tblGrid>
                <a:gridCol w="1411194"/>
                <a:gridCol w="2041672"/>
                <a:gridCol w="2471715"/>
                <a:gridCol w="4029121"/>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BM3D (2007)</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WNNM (2014)</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Core algorithm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Group patches, shrink in a 3-D transform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Group patches, recover a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low-rank matrix</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Stacked near-copies are low rank by construction — a stronger structural assumption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Key innovation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Collaborative hard-thresholding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Weighted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nuclear norm: wᵢ ∝ 1⁄σᵢ</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Large singular values carry the image and are shrunk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less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standard NNM shrinks all equally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Implementation change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3-D DCT + threshold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SVD per patch group + per-value shrinkage, iterated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One transform call becomes an iterated SVD — the entire cost difference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28.57 dB · 2.85 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28.83 dB</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 </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773.2 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+0.26 dB for a </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271× slowdown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Fixed hand-set parameters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Non-convex; still per-image optimisation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Neither can reuse anything learned from one image on the next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Applications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General-purpose, real-time-ish</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Offline / quality-critical restoration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The cost makes WNNM impractical for interactive or batch use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5216286"/>
            <a:ext cx="9953793" cy="16734"/>
          </a:xfrm>
          <a:prstGeom prst="rect">
            <a:avLst/>
          </a:prstGeom>
          <a:solidFill>
            <a:srgbClr val="7C5E2A"/>
          </a:solidFill>
          <a:ln/>
        </p:spPr>
      </p:sp>
      <p:sp>
        <p:nvSpPr>
          <p:cNvPr id="10" name="Text 7"/>
          <p:cNvSpPr txBox="1"/>
          <p:nvPr/>
        </p:nvSpPr>
        <p:spPr>
          <a:xfrm>
            <a:off x="1636685" y="5364510"/>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This row is the whole argument for what comes next.</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Seven years of hand-designed priors bought 0.26 dB on BSD68 at σ=25, and the best method became 271× slower than the second best. The era had hit a wall in quality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and</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cost simultaneously.</a:t>
            </a:r>
            <a:endParaRPr lang="en-US" sz="1118" dirty="0"/>
          </a:p>
        </p:txBody>
      </p:sp>
      <p:sp>
        <p:nvSpPr>
          <p:cNvPr id="11" name="Text 8"/>
          <p:cNvSpPr txBox="1"/>
          <p:nvPr/>
        </p:nvSpPr>
        <p:spPr>
          <a:xfrm>
            <a:off x="9143634" y="6194511"/>
            <a:ext cx="2446843"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Table II, Table IV · WNNM14 §3, Theorem 2</a:t>
            </a:r>
            <a:endParaRPr lang="en-US" sz="855"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1636685" y="6502938"/>
            <a:ext cx="3870930" cy="33376"/>
          </a:xfrm>
          <a:prstGeom prst="rect">
            <a:avLst/>
          </a:prstGeom>
          <a:solidFill>
            <a:srgbClr val="7C5E2A"/>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3608"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08</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519562"/>
            <a:ext cx="217079" cy="25055"/>
          </a:xfrm>
          <a:prstGeom prst="rect">
            <a:avLst/>
          </a:prstGeom>
          <a:solidFill>
            <a:srgbClr val="7C5E2A"/>
          </a:solidFill>
          <a:ln/>
        </p:spPr>
      </p:sp>
      <p:sp>
        <p:nvSpPr>
          <p:cNvPr id="5" name="Text 3"/>
          <p:cNvSpPr txBox="1"/>
          <p:nvPr/>
        </p:nvSpPr>
        <p:spPr>
          <a:xfrm>
            <a:off x="1953981" y="463326"/>
            <a:ext cx="94750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BOTTLENECK 1</a:t>
            </a:r>
            <a:endParaRPr lang="en-US" sz="888" dirty="0"/>
          </a:p>
        </p:txBody>
      </p:sp>
      <p:sp>
        <p:nvSpPr>
          <p:cNvPr id="6" name="Text 4"/>
          <p:cNvSpPr txBox="1"/>
          <p:nvPr/>
        </p:nvSpPr>
        <p:spPr>
          <a:xfrm>
            <a:off x="1636685" y="1028060"/>
            <a:ext cx="929121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Why the era ended — stated by the paper that ended it</a:t>
            </a:r>
            <a:endParaRPr lang="en-US" sz="3025" dirty="0"/>
          </a:p>
        </p:txBody>
      </p:sp>
      <p:sp>
        <p:nvSpPr>
          <p:cNvPr id="7" name="Text 5"/>
          <p:cNvSpPr txBox="1"/>
          <p:nvPr/>
        </p:nvSpPr>
        <p:spPr>
          <a:xfrm>
            <a:off x="1636685" y="191713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DnCNN's introduction names the classical era's drawbacks in its own words. Quoting the paper that broke the bottleneck, rather than asserting it ourselves, is what makes this an evidenced timeline.</a:t>
            </a:r>
            <a:endParaRPr lang="en-US" sz="1315" dirty="0"/>
          </a:p>
        </p:txBody>
      </p:sp>
      <p:sp>
        <p:nvSpPr>
          <p:cNvPr id="8" name="Shape 6"/>
          <p:cNvSpPr/>
          <p:nvPr/>
        </p:nvSpPr>
        <p:spPr>
          <a:xfrm>
            <a:off x="1636685" y="3240268"/>
            <a:ext cx="4793193" cy="16734"/>
          </a:xfrm>
          <a:prstGeom prst="rect">
            <a:avLst/>
          </a:prstGeom>
          <a:solidFill>
            <a:srgbClr val="7C5E2A"/>
          </a:solidFill>
          <a:ln/>
        </p:spPr>
      </p:sp>
      <p:sp>
        <p:nvSpPr>
          <p:cNvPr id="9" name="Text 7"/>
          <p:cNvSpPr txBox="1"/>
          <p:nvPr/>
        </p:nvSpPr>
        <p:spPr>
          <a:xfrm>
            <a:off x="1636685" y="3390412"/>
            <a:ext cx="737738"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7C5E2A"/>
                </a:solidFill>
                <a:latin typeface="Calibri" pitchFamily="34" charset="0"/>
                <a:ea typeface="Calibri" pitchFamily="34" charset="-122"/>
                <a:cs typeface="Calibri" pitchFamily="34" charset="-120"/>
              </a:rPr>
              <a:t>DRAWBACK 1</a:t>
            </a:r>
            <a:endParaRPr lang="en-US" sz="756" dirty="0"/>
          </a:p>
        </p:txBody>
      </p:sp>
      <p:sp>
        <p:nvSpPr>
          <p:cNvPr id="10" name="Text 8"/>
          <p:cNvSpPr txBox="1"/>
          <p:nvPr/>
        </p:nvSpPr>
        <p:spPr>
          <a:xfrm>
            <a:off x="1636685" y="3582802"/>
            <a:ext cx="2929646"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prior is paid for once per image</a:t>
            </a:r>
            <a:endParaRPr lang="en-US" sz="1447" dirty="0"/>
          </a:p>
        </p:txBody>
      </p:sp>
      <p:sp>
        <p:nvSpPr>
          <p:cNvPr id="11" name="Text 9"/>
          <p:cNvSpPr txBox="1"/>
          <p:nvPr/>
        </p:nvSpPr>
        <p:spPr>
          <a:xfrm>
            <a:off x="1636685" y="3911712"/>
            <a:ext cx="4829038" cy="649041"/>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Prior-based methods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involve a complex optimization problem in the testing stage</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Nothing learned on image 1 helps image 2. WNNM: 773 s, every time. </a:t>
            </a:r>
            <a:pPr algn="l" indent="0" marL="0">
              <a:lnSpc>
                <a:spcPts val="1649"/>
              </a:lnSpc>
              <a:buNone/>
            </a:pPr>
            <a:r>
              <a:rPr kern="0" lang="en-US" sz="976" dirty="0">
                <a:solidFill>
                  <a:srgbClr val="145A66"/>
                </a:solidFill>
                <a:latin typeface="Consolas" pitchFamily="34" charset="0"/>
                <a:ea typeface="Consolas" pitchFamily="34" charset="-122"/>
                <a:cs typeface="Consolas" pitchFamily="34" charset="-120"/>
              </a:rPr>
              <a:t>[DnCNN17 §I]</a:t>
            </a:r>
            <a:endParaRPr lang="en-US" sz="1085" dirty="0"/>
          </a:p>
        </p:txBody>
      </p:sp>
      <p:sp>
        <p:nvSpPr>
          <p:cNvPr id="12" name="Shape 10"/>
          <p:cNvSpPr/>
          <p:nvPr/>
        </p:nvSpPr>
        <p:spPr>
          <a:xfrm>
            <a:off x="6797284" y="3240268"/>
            <a:ext cx="4793193" cy="16734"/>
          </a:xfrm>
          <a:prstGeom prst="rect">
            <a:avLst/>
          </a:prstGeom>
          <a:solidFill>
            <a:srgbClr val="7C5E2A"/>
          </a:solidFill>
          <a:ln/>
        </p:spPr>
      </p:sp>
      <p:sp>
        <p:nvSpPr>
          <p:cNvPr id="13" name="Text 11"/>
          <p:cNvSpPr txBox="1"/>
          <p:nvPr/>
        </p:nvSpPr>
        <p:spPr>
          <a:xfrm>
            <a:off x="6797284" y="3390412"/>
            <a:ext cx="737738"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7C5E2A"/>
                </a:solidFill>
                <a:latin typeface="Calibri" pitchFamily="34" charset="0"/>
                <a:ea typeface="Calibri" pitchFamily="34" charset="-122"/>
                <a:cs typeface="Calibri" pitchFamily="34" charset="-120"/>
              </a:rPr>
              <a:t>DRAWBACK 2</a:t>
            </a:r>
            <a:endParaRPr lang="en-US" sz="756" dirty="0"/>
          </a:p>
        </p:txBody>
      </p:sp>
      <p:sp>
        <p:nvSpPr>
          <p:cNvPr id="14" name="Text 12"/>
          <p:cNvSpPr txBox="1"/>
          <p:nvPr/>
        </p:nvSpPr>
        <p:spPr>
          <a:xfrm>
            <a:off x="6797284" y="3582802"/>
            <a:ext cx="231919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prior is written by hand</a:t>
            </a:r>
            <a:endParaRPr lang="en-US" sz="1447" dirty="0"/>
          </a:p>
        </p:txBody>
      </p:sp>
      <p:sp>
        <p:nvSpPr>
          <p:cNvPr id="15" name="Text 13"/>
          <p:cNvSpPr txBox="1"/>
          <p:nvPr/>
        </p:nvSpPr>
        <p:spPr>
          <a:xfrm>
            <a:off x="6797284" y="3911712"/>
            <a:ext cx="4829038" cy="644926"/>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The models are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generally non-convex and involve several manually chosen parameters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block size, thresholds, λ, different values above and below σ=40. </a:t>
            </a:r>
            <a:pPr algn="l" indent="0" marL="0">
              <a:lnSpc>
                <a:spcPts val="1649"/>
              </a:lnSpc>
              <a:buNone/>
            </a:pPr>
            <a:r>
              <a:rPr kern="0" lang="en-US" sz="976" dirty="0">
                <a:solidFill>
                  <a:srgbClr val="145A66"/>
                </a:solidFill>
                <a:latin typeface="Consolas" pitchFamily="34" charset="0"/>
                <a:ea typeface="Consolas" pitchFamily="34" charset="-122"/>
                <a:cs typeface="Consolas" pitchFamily="34" charset="-120"/>
              </a:rPr>
              <a:t>[DnCNN17 §I]</a:t>
            </a:r>
            <a:endParaRPr lang="en-US" sz="1085" dirty="0"/>
          </a:p>
        </p:txBody>
      </p:sp>
      <p:sp>
        <p:nvSpPr>
          <p:cNvPr id="16" name="Shape 14"/>
          <p:cNvSpPr/>
          <p:nvPr/>
        </p:nvSpPr>
        <p:spPr>
          <a:xfrm>
            <a:off x="1636685" y="4863511"/>
            <a:ext cx="4793193" cy="16734"/>
          </a:xfrm>
          <a:prstGeom prst="rect">
            <a:avLst/>
          </a:prstGeom>
          <a:solidFill>
            <a:srgbClr val="7C5E2A"/>
          </a:solidFill>
          <a:ln/>
        </p:spPr>
      </p:sp>
      <p:sp>
        <p:nvSpPr>
          <p:cNvPr id="17" name="Text 15"/>
          <p:cNvSpPr txBox="1"/>
          <p:nvPr/>
        </p:nvSpPr>
        <p:spPr>
          <a:xfrm>
            <a:off x="1636685" y="5013655"/>
            <a:ext cx="737738"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7C5E2A"/>
                </a:solidFill>
                <a:latin typeface="Calibri" pitchFamily="34" charset="0"/>
                <a:ea typeface="Calibri" pitchFamily="34" charset="-122"/>
                <a:cs typeface="Calibri" pitchFamily="34" charset="-120"/>
              </a:rPr>
              <a:t>DRAWBACK 3</a:t>
            </a:r>
            <a:endParaRPr lang="en-US" sz="756" dirty="0"/>
          </a:p>
        </p:txBody>
      </p:sp>
      <p:sp>
        <p:nvSpPr>
          <p:cNvPr id="18" name="Text 16"/>
          <p:cNvSpPr txBox="1"/>
          <p:nvPr/>
        </p:nvSpPr>
        <p:spPr>
          <a:xfrm>
            <a:off x="1636685" y="5206045"/>
            <a:ext cx="2077517"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Its form limits the ceiling</a:t>
            </a:r>
            <a:endParaRPr lang="en-US" sz="1447" dirty="0"/>
          </a:p>
        </p:txBody>
      </p:sp>
      <p:sp>
        <p:nvSpPr>
          <p:cNvPr id="19" name="Text 17"/>
          <p:cNvSpPr txBox="1"/>
          <p:nvPr/>
        </p:nvSpPr>
        <p:spPr>
          <a:xfrm>
            <a:off x="1636685" y="5534955"/>
            <a:ext cx="4829038" cy="435529"/>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Performance is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inherently restricted to the specified forms of prior</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You cannot exceed what your formula can express, however well you tune it. </a:t>
            </a:r>
            <a:pPr algn="l" indent="0" marL="0">
              <a:lnSpc>
                <a:spcPts val="1649"/>
              </a:lnSpc>
              <a:buNone/>
            </a:pPr>
            <a:r>
              <a:rPr kern="0" lang="en-US" sz="976" dirty="0">
                <a:solidFill>
                  <a:srgbClr val="145A66"/>
                </a:solidFill>
                <a:latin typeface="Consolas" pitchFamily="34" charset="0"/>
                <a:ea typeface="Consolas" pitchFamily="34" charset="-122"/>
                <a:cs typeface="Consolas" pitchFamily="34" charset="-120"/>
              </a:rPr>
              <a:t>[DnCNN17 §I]</a:t>
            </a:r>
            <a:endParaRPr lang="en-US" sz="1085" dirty="0"/>
          </a:p>
        </p:txBody>
      </p:sp>
      <p:sp>
        <p:nvSpPr>
          <p:cNvPr id="20" name="Shape 18"/>
          <p:cNvSpPr/>
          <p:nvPr/>
        </p:nvSpPr>
        <p:spPr>
          <a:xfrm>
            <a:off x="6797284" y="4863511"/>
            <a:ext cx="4793193" cy="16734"/>
          </a:xfrm>
          <a:prstGeom prst="rect">
            <a:avLst/>
          </a:prstGeom>
          <a:solidFill>
            <a:srgbClr val="7C5E2A"/>
          </a:solidFill>
          <a:ln/>
        </p:spPr>
      </p:sp>
      <p:sp>
        <p:nvSpPr>
          <p:cNvPr id="21" name="Text 19"/>
          <p:cNvSpPr txBox="1"/>
          <p:nvPr/>
        </p:nvSpPr>
        <p:spPr>
          <a:xfrm>
            <a:off x="6797284" y="5013655"/>
            <a:ext cx="737738"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7C5E2A"/>
                </a:solidFill>
                <a:latin typeface="Calibri" pitchFamily="34" charset="0"/>
                <a:ea typeface="Calibri" pitchFamily="34" charset="-122"/>
                <a:cs typeface="Calibri" pitchFamily="34" charset="-120"/>
              </a:rPr>
              <a:t>DRAWBACK 4</a:t>
            </a:r>
            <a:endParaRPr lang="en-US" sz="756" dirty="0"/>
          </a:p>
        </p:txBody>
      </p:sp>
      <p:sp>
        <p:nvSpPr>
          <p:cNvPr id="22" name="Text 20"/>
          <p:cNvSpPr txBox="1"/>
          <p:nvPr/>
        </p:nvSpPr>
        <p:spPr>
          <a:xfrm>
            <a:off x="6797284" y="5206045"/>
            <a:ext cx="2122780"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One model per noise level</a:t>
            </a:r>
            <a:endParaRPr lang="en-US" sz="1447" dirty="0"/>
          </a:p>
        </p:txBody>
      </p:sp>
      <p:sp>
        <p:nvSpPr>
          <p:cNvPr id="23" name="Text 21"/>
          <p:cNvSpPr txBox="1"/>
          <p:nvPr/>
        </p:nvSpPr>
        <p:spPr>
          <a:xfrm>
            <a:off x="6797284" y="5534955"/>
            <a:ext cx="4829038" cy="418887"/>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Bridge methods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train a specific model for a certain noise level</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and are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limited in blind image denoising</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In a real camera, σ is never known. </a:t>
            </a:r>
            <a:pPr algn="l" indent="0" marL="0">
              <a:lnSpc>
                <a:spcPts val="1649"/>
              </a:lnSpc>
              <a:buNone/>
            </a:pPr>
            <a:r>
              <a:rPr kern="0" lang="en-US" sz="976" dirty="0">
                <a:solidFill>
                  <a:srgbClr val="145A66"/>
                </a:solidFill>
                <a:latin typeface="Consolas" pitchFamily="34" charset="0"/>
                <a:ea typeface="Consolas" pitchFamily="34" charset="-122"/>
                <a:cs typeface="Consolas" pitchFamily="34" charset="-120"/>
              </a:rPr>
              <a:t>[DnCNN17 §I]</a:t>
            </a:r>
            <a:endParaRPr lang="en-US" sz="1085" dirty="0"/>
          </a:p>
        </p:txBody>
      </p:sp>
      <p:sp>
        <p:nvSpPr>
          <p:cNvPr id="24" name="Text 22"/>
          <p:cNvSpPr txBox="1"/>
          <p:nvPr/>
        </p:nvSpPr>
        <p:spPr>
          <a:xfrm>
            <a:off x="8837585" y="6194511"/>
            <a:ext cx="2752893"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§I — all four quoted from the paper's introduction</a:t>
            </a:r>
            <a:endParaRPr lang="en-US" sz="855" dirty="0"/>
          </a:p>
        </p:txBody>
      </p:sp>
      <p:sp>
        <p:nvSpPr>
          <p:cNvPr id="25" name="Shape 23"/>
          <p:cNvSpPr/>
          <p:nvPr/>
        </p:nvSpPr>
        <p:spPr>
          <a:xfrm>
            <a:off x="1636685" y="6515466"/>
            <a:ext cx="9953793" cy="8321"/>
          </a:xfrm>
          <a:prstGeom prst="rect">
            <a:avLst/>
          </a:prstGeom>
          <a:solidFill>
            <a:srgbClr val="C9C4B9"/>
          </a:solidFill>
          <a:ln/>
        </p:spPr>
      </p:sp>
      <p:sp>
        <p:nvSpPr>
          <p:cNvPr id="26" name="Shape 24"/>
          <p:cNvSpPr/>
          <p:nvPr/>
        </p:nvSpPr>
        <p:spPr>
          <a:xfrm>
            <a:off x="1636685" y="6502938"/>
            <a:ext cx="3870930" cy="33376"/>
          </a:xfrm>
          <a:prstGeom prst="rect">
            <a:avLst/>
          </a:prstGeom>
          <a:solidFill>
            <a:srgbClr val="7C5E2A"/>
          </a:solidFill>
          <a:ln/>
        </p:spPr>
      </p:sp>
      <p:sp>
        <p:nvSpPr>
          <p:cNvPr id="27" name="Shape 25"/>
          <p:cNvSpPr/>
          <p:nvPr/>
        </p:nvSpPr>
        <p:spPr>
          <a:xfrm>
            <a:off x="1636685" y="6473678"/>
            <a:ext cx="8321" cy="41788"/>
          </a:xfrm>
          <a:prstGeom prst="rect">
            <a:avLst/>
          </a:prstGeom>
          <a:solidFill>
            <a:srgbClr val="C9C4B9"/>
          </a:solidFill>
          <a:ln/>
        </p:spPr>
      </p:sp>
      <p:sp>
        <p:nvSpPr>
          <p:cNvPr id="28" name="Text 2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9" name="Shape 27"/>
          <p:cNvSpPr/>
          <p:nvPr/>
        </p:nvSpPr>
        <p:spPr>
          <a:xfrm>
            <a:off x="5507706" y="6473678"/>
            <a:ext cx="8321" cy="41788"/>
          </a:xfrm>
          <a:prstGeom prst="rect">
            <a:avLst/>
          </a:prstGeom>
          <a:solidFill>
            <a:srgbClr val="C9C4B9"/>
          </a:solidFill>
          <a:ln/>
        </p:spPr>
      </p:sp>
      <p:sp>
        <p:nvSpPr>
          <p:cNvPr id="30" name="Text 2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1" name="Shape 29"/>
          <p:cNvSpPr/>
          <p:nvPr/>
        </p:nvSpPr>
        <p:spPr>
          <a:xfrm>
            <a:off x="7166884" y="6473678"/>
            <a:ext cx="8321" cy="41788"/>
          </a:xfrm>
          <a:prstGeom prst="rect">
            <a:avLst/>
          </a:prstGeom>
          <a:solidFill>
            <a:srgbClr val="C9C4B9"/>
          </a:solidFill>
          <a:ln/>
        </p:spPr>
      </p:sp>
      <p:sp>
        <p:nvSpPr>
          <p:cNvPr id="32" name="Text 3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3" name="Shape 31"/>
          <p:cNvSpPr/>
          <p:nvPr/>
        </p:nvSpPr>
        <p:spPr>
          <a:xfrm>
            <a:off x="9931024" y="6473678"/>
            <a:ext cx="8321" cy="41788"/>
          </a:xfrm>
          <a:prstGeom prst="rect">
            <a:avLst/>
          </a:prstGeom>
          <a:solidFill>
            <a:srgbClr val="C9C4B9"/>
          </a:solidFill>
          <a:ln/>
        </p:spPr>
      </p:sp>
      <p:sp>
        <p:nvSpPr>
          <p:cNvPr id="34" name="Text 3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5" name="Shape 33"/>
          <p:cNvSpPr/>
          <p:nvPr/>
        </p:nvSpPr>
        <p:spPr>
          <a:xfrm>
            <a:off x="11590477" y="6473678"/>
            <a:ext cx="8321" cy="41788"/>
          </a:xfrm>
          <a:prstGeom prst="rect">
            <a:avLst/>
          </a:prstGeom>
          <a:solidFill>
            <a:srgbClr val="C9C4B9"/>
          </a:solidFill>
          <a:ln/>
        </p:spPr>
      </p:sp>
      <p:sp>
        <p:nvSpPr>
          <p:cNvPr id="36" name="Text 3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550377"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C6151"/>
                </a:solidFill>
                <a:latin typeface="Cambria" pitchFamily="34" charset="0"/>
                <a:ea typeface="Cambria" pitchFamily="34" charset="-122"/>
                <a:cs typeface="Cambria" pitchFamily="34" charset="-120"/>
              </a:rPr>
              <a:t>2</a:t>
            </a:r>
            <a:endParaRPr lang="en-US" sz="8416" dirty="0"/>
          </a:p>
        </p:txBody>
      </p:sp>
      <p:sp>
        <p:nvSpPr>
          <p:cNvPr id="4" name="Shape 2"/>
          <p:cNvSpPr/>
          <p:nvPr/>
        </p:nvSpPr>
        <p:spPr>
          <a:xfrm>
            <a:off x="434249" y="1663294"/>
            <a:ext cx="1002091" cy="33376"/>
          </a:xfrm>
          <a:prstGeom prst="rect">
            <a:avLst/>
          </a:prstGeom>
          <a:solidFill>
            <a:srgbClr val="1C6151"/>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Prior Becomes a File</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163055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THE BREAK · 2016 – 2017</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C6151"/>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97208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TNRD — the bridge nobody skips</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C6151"/>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279815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DnCNN — innovation, implementation, impact</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C6151"/>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18314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Bottlenecks 2 and 3</a:t>
            </a:r>
            <a:endParaRPr lang="en-US" sz="1118" dirty="0"/>
          </a:p>
        </p:txBody>
      </p:sp>
      <p:sp>
        <p:nvSpPr>
          <p:cNvPr id="20" name="Text 18"/>
          <p:cNvSpPr txBox="1"/>
          <p:nvPr/>
        </p:nvSpPr>
        <p:spPr>
          <a:xfrm>
            <a:off x="5526999" y="2846161"/>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One architecture answers all four drawbacks at once — and creates the two problems the rest of the talk is about.</a:t>
            </a:r>
            <a:endParaRPr lang="en-US" sz="1085" dirty="0"/>
          </a:p>
        </p:txBody>
      </p:sp>
      <p:sp>
        <p:nvSpPr>
          <p:cNvPr id="21" name="Text 19"/>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§3</a:t>
            </a:r>
            <a:endParaRPr lang="en-US" sz="85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49667"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10</a:t>
            </a:r>
            <a:endParaRPr lang="en-US" sz="2545" dirty="0"/>
          </a:p>
        </p:txBody>
      </p:sp>
      <p:sp>
        <p:nvSpPr>
          <p:cNvPr id="3" name="Text 1"/>
          <p:cNvSpPr txBox="1"/>
          <p:nvPr/>
        </p:nvSpPr>
        <p:spPr>
          <a:xfrm rot="16200000">
            <a:off x="-338511" y="3428909"/>
            <a:ext cx="71972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2F5470"/>
                </a:solidFill>
                <a:latin typeface="Calibri" pitchFamily="34" charset="0"/>
                <a:ea typeface="Calibri" pitchFamily="34" charset="-122"/>
                <a:cs typeface="Calibri" pitchFamily="34" charset="-120"/>
              </a:rPr>
              <a:t>THE BRIDGE</a:t>
            </a:r>
            <a:endParaRPr lang="en-US" sz="694" dirty="0"/>
          </a:p>
        </p:txBody>
      </p:sp>
      <p:sp>
        <p:nvSpPr>
          <p:cNvPr id="4" name="Shape 2"/>
          <p:cNvSpPr/>
          <p:nvPr/>
        </p:nvSpPr>
        <p:spPr>
          <a:xfrm>
            <a:off x="1439540" y="433334"/>
            <a:ext cx="190927" cy="22037"/>
          </a:xfrm>
          <a:prstGeom prst="rect">
            <a:avLst/>
          </a:prstGeom>
          <a:solidFill>
            <a:srgbClr val="2F5470"/>
          </a:solidFill>
          <a:ln/>
        </p:spPr>
      </p:sp>
      <p:sp>
        <p:nvSpPr>
          <p:cNvPr id="5" name="Text 3"/>
          <p:cNvSpPr txBox="1"/>
          <p:nvPr/>
        </p:nvSpPr>
        <p:spPr>
          <a:xfrm>
            <a:off x="1718615" y="383865"/>
            <a:ext cx="1791401"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2F5470"/>
                </a:solidFill>
                <a:latin typeface="Calibri" pitchFamily="34" charset="0"/>
                <a:ea typeface="Calibri" pitchFamily="34" charset="-122"/>
                <a:cs typeface="Calibri" pitchFamily="34" charset="-120"/>
              </a:rPr>
              <a:t>TNRD · 2016 · BEFORE → AFTER</a:t>
            </a:r>
            <a:endParaRPr lang="en-US" sz="781" dirty="0"/>
          </a:p>
        </p:txBody>
      </p:sp>
      <p:sp>
        <p:nvSpPr>
          <p:cNvPr id="6" name="Text 4"/>
          <p:cNvSpPr txBox="1"/>
          <p:nvPr/>
        </p:nvSpPr>
        <p:spPr>
          <a:xfrm>
            <a:off x="1439540" y="607070"/>
            <a:ext cx="8612185"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Unrolling — the step that made the transition continuous</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Chen &amp; Pock, TPAMI. Worth ninety seconds because it is the conceptual bridge: it shows that a classical optimiser and a neural network are the same object viewed differently, which is why the move to deep learning was not a rupture.</a:t>
            </a:r>
            <a:endParaRPr lang="en-US" sz="1157" dirty="0"/>
          </a:p>
        </p:txBody>
      </p:sp>
      <p:sp>
        <p:nvSpPr>
          <p:cNvPr id="8" name="Shape 6"/>
          <p:cNvSpPr/>
          <p:nvPr/>
        </p:nvSpPr>
        <p:spPr>
          <a:xfrm>
            <a:off x="2722809" y="1958553"/>
            <a:ext cx="7656728"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2722809" y="1958553"/>
            <a:ext cx="7656728" cy="7315"/>
          </a:xfrm>
          <a:prstGeom prst="rect">
            <a:avLst/>
          </a:prstGeom>
          <a:solidFill>
            <a:srgbClr val="C9C4B9"/>
          </a:solidFill>
          <a:ln/>
        </p:spPr>
      </p:sp>
      <p:sp>
        <p:nvSpPr>
          <p:cNvPr id="10" name="Shape 8"/>
          <p:cNvSpPr/>
          <p:nvPr/>
        </p:nvSpPr>
        <p:spPr>
          <a:xfrm>
            <a:off x="2722809" y="4007632"/>
            <a:ext cx="7656728" cy="7315"/>
          </a:xfrm>
          <a:prstGeom prst="rect">
            <a:avLst/>
          </a:prstGeom>
          <a:solidFill>
            <a:srgbClr val="C9C4B9"/>
          </a:solidFill>
          <a:ln/>
        </p:spPr>
      </p:sp>
      <p:sp>
        <p:nvSpPr>
          <p:cNvPr id="11" name="Shape 9"/>
          <p:cNvSpPr/>
          <p:nvPr/>
        </p:nvSpPr>
        <p:spPr>
          <a:xfrm>
            <a:off x="2722809" y="1958553"/>
            <a:ext cx="7315" cy="2056394"/>
          </a:xfrm>
          <a:prstGeom prst="rect">
            <a:avLst/>
          </a:prstGeom>
          <a:solidFill>
            <a:srgbClr val="C9C4B9"/>
          </a:solidFill>
          <a:ln/>
        </p:spPr>
      </p:sp>
      <p:sp>
        <p:nvSpPr>
          <p:cNvPr id="12" name="Shape 10"/>
          <p:cNvSpPr/>
          <p:nvPr/>
        </p:nvSpPr>
        <p:spPr>
          <a:xfrm>
            <a:off x="10372222" y="1958553"/>
            <a:ext cx="7315" cy="2056394"/>
          </a:xfrm>
          <a:prstGeom prst="rect">
            <a:avLst/>
          </a:prstGeom>
          <a:solidFill>
            <a:srgbClr val="C9C4B9"/>
          </a:solidFill>
          <a:ln/>
        </p:spPr>
      </p:sp>
      <p:pic>
        <p:nvPicPr>
          <p:cNvPr id="13" name="Image 0" descr="The diffusion network unrolled as a feed-forward graph: learned filters, trainable nonlinearity and reaction force applied at every stage.">    </p:cNvPr>
          <p:cNvPicPr>
            <a:picLocks noChangeAspect="1"/>
          </p:cNvPicPr>
          <p:nvPr/>
        </p:nvPicPr>
        <p:blipFill>
          <a:blip r:embed="rId1"/>
          <a:stretch>
            <a:fillRect/>
          </a:stretch>
        </p:blipFill>
        <p:spPr>
          <a:xfrm>
            <a:off x="2832994" y="2068739"/>
            <a:ext cx="7436449" cy="1836115"/>
          </a:xfrm>
          <a:prstGeom prst="rect">
            <a:avLst/>
          </a:prstGeom>
        </p:spPr>
      </p:pic>
      <p:sp>
        <p:nvSpPr>
          <p:cNvPr id="14" name="Text 11"/>
          <p:cNvSpPr txBox="1"/>
          <p:nvPr/>
        </p:nvSpPr>
        <p:spPr>
          <a:xfrm>
            <a:off x="3171322" y="4115623"/>
            <a:ext cx="6759793"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diffusion network unrolled as a feed-forward graph: learned filters, trainable nonlinearity and reaction force applied at every stage. [TNRD16/17 · Fig. 1]</a:t>
            </a:r>
            <a:endParaRPr lang="en-US" sz="81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439540" y="4452671"/>
          <a:ext cx="9144000" cy="914400"/>
        </p:xfrm>
        <a:graphic>
          <a:graphicData uri="http://schemas.openxmlformats.org/drawingml/2006/table">
            <a:tbl>
              <a:tblPr/>
              <a:tblGrid>
                <a:gridCol w="1042873"/>
                <a:gridCol w="2019727"/>
                <a:gridCol w="3238896"/>
                <a:gridCol w="3921862"/>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2F5470"/>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CLASSICAL OPTIMISER</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2F5470"/>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TNRD (UNROLLED)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2F5470"/>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2F5470"/>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Iteration count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Run to convergence, unbounded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Truncated to a fixed K</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(usually &lt; 10)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Runtime becomes a constant — the first half of bottleneck 1 is gone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Same hand-set rule every iteration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Every stage has its own learned filters and nonlinearities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prior is no longer one formula; it is K different learned ones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What is learned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Filters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and</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influence functions, jointly, from data</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Earlier diffusion models fixed the filters and chose the diffusivity</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Implementation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859" dirty="0">
                          <a:solidFill>
                            <a:srgbClr val="145A66"/>
                          </a:solidFill>
                          <a:latin typeface="Consolas" pitchFamily="34" charset="0"/>
                          <a:ea typeface="Consolas" pitchFamily="34" charset="-122"/>
                          <a:cs typeface="Consolas" pitchFamily="34" charset="-120"/>
                        </a:rPr>
                        <a:t>while</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loop to a tolerance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 fixed stack trained by back-propagation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Structurally a CNN — and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well-suited for parallel computation on GPUs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6" name="Text 12"/>
          <p:cNvSpPr txBox="1"/>
          <p:nvPr/>
        </p:nvSpPr>
        <p:spPr>
          <a:xfrm>
            <a:off x="9897648" y="6274430"/>
            <a:ext cx="1765249"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TNRD16 §1.2, §2, §3 · DnCNN17 Tables II, IV</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4279483" y="6545732"/>
            <a:ext cx="2839944" cy="29352"/>
          </a:xfrm>
          <a:prstGeom prst="rect">
            <a:avLst/>
          </a:prstGeom>
          <a:solidFill>
            <a:srgbClr val="2F5470"/>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9758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10</a:t>
            </a:r>
            <a:endParaRPr lang="en-US" sz="2893" dirty="0"/>
          </a:p>
        </p:txBody>
      </p:sp>
      <p:sp>
        <p:nvSpPr>
          <p:cNvPr id="3" name="Text 1"/>
          <p:cNvSpPr txBox="1"/>
          <p:nvPr/>
        </p:nvSpPr>
        <p:spPr>
          <a:xfrm rot="16200000">
            <a:off x="-384871" y="3428909"/>
            <a:ext cx="81838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2F5470"/>
                </a:solidFill>
                <a:latin typeface="Calibri" pitchFamily="34" charset="0"/>
                <a:ea typeface="Calibri" pitchFamily="34" charset="-122"/>
                <a:cs typeface="Calibri" pitchFamily="34" charset="-120"/>
              </a:rPr>
              <a:t>THE BRIDGE</a:t>
            </a:r>
            <a:endParaRPr lang="en-US" sz="789" dirty="0"/>
          </a:p>
        </p:txBody>
      </p:sp>
      <p:sp>
        <p:nvSpPr>
          <p:cNvPr id="4" name="Shape 2"/>
          <p:cNvSpPr/>
          <p:nvPr/>
        </p:nvSpPr>
        <p:spPr>
          <a:xfrm>
            <a:off x="1636685" y="492679"/>
            <a:ext cx="217079" cy="25055"/>
          </a:xfrm>
          <a:prstGeom prst="rect">
            <a:avLst/>
          </a:prstGeom>
          <a:solidFill>
            <a:srgbClr val="2F5470"/>
          </a:solidFill>
          <a:ln/>
        </p:spPr>
      </p:sp>
      <p:sp>
        <p:nvSpPr>
          <p:cNvPr id="5" name="Text 3"/>
          <p:cNvSpPr txBox="1"/>
          <p:nvPr/>
        </p:nvSpPr>
        <p:spPr>
          <a:xfrm>
            <a:off x="1953981" y="436443"/>
            <a:ext cx="203682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2F5470"/>
                </a:solidFill>
                <a:latin typeface="Calibri" pitchFamily="34" charset="0"/>
                <a:ea typeface="Calibri" pitchFamily="34" charset="-122"/>
                <a:cs typeface="Calibri" pitchFamily="34" charset="-120"/>
              </a:rPr>
              <a:t>TNRD · 2016 · BEFORE → AFTER</a:t>
            </a:r>
            <a:endParaRPr lang="en-US" sz="888" dirty="0"/>
          </a:p>
        </p:txBody>
      </p:sp>
      <p:sp>
        <p:nvSpPr>
          <p:cNvPr id="6" name="Text 4"/>
          <p:cNvSpPr txBox="1"/>
          <p:nvPr/>
        </p:nvSpPr>
        <p:spPr>
          <a:xfrm>
            <a:off x="4012662"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2F5470"/>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9791944"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Unrolling — the step that made the transition continuous</a:t>
            </a:r>
            <a:endParaRPr lang="en-US" sz="3025"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636685" y="1241481"/>
          <a:ext cx="9144000" cy="914400"/>
        </p:xfrm>
        <a:graphic>
          <a:graphicData uri="http://schemas.openxmlformats.org/drawingml/2006/table">
            <a:tbl>
              <a:tblPr/>
              <a:tblGrid>
                <a:gridCol w="1427927"/>
                <a:gridCol w="2371496"/>
                <a:gridCol w="2901757"/>
                <a:gridCol w="3252521"/>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2F5470"/>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CLASSICAL OPTIMISER</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2F5470"/>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TNRD (UNROLLED)</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2F5470"/>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2F5470"/>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WNNM 28.83 dB · 773 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28.92 dB · 0.032 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(GPU)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Best quality-per-second of the era</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Still one model per noise level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Blind denoising remains unsolved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2443917"/>
            <a:ext cx="9953793" cy="16734"/>
          </a:xfrm>
          <a:prstGeom prst="rect">
            <a:avLst/>
          </a:prstGeom>
          <a:solidFill>
            <a:srgbClr val="2F5470"/>
          </a:solidFill>
          <a:ln/>
        </p:spPr>
      </p:sp>
      <p:sp>
        <p:nvSpPr>
          <p:cNvPr id="10" name="Text 7"/>
          <p:cNvSpPr txBox="1"/>
          <p:nvPr/>
        </p:nvSpPr>
        <p:spPr>
          <a:xfrm>
            <a:off x="1636685" y="2592141"/>
            <a:ext cx="10002804" cy="212964"/>
          </a:xfrm>
          <a:prstGeom prst="rect">
            <a:avLst/>
          </a:prstGeom>
          <a:noFill/>
          <a:ln/>
        </p:spPr>
        <p:txBody>
          <a:bodyPr wrap="non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Keep this in mind for the next slide.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DnCNN derives part of its own justification from a one-stage TNRD — the two are directly connected, not merely adjacent in time.</a:t>
            </a:r>
            <a:endParaRPr lang="en-US" sz="1118" dirty="0"/>
          </a:p>
        </p:txBody>
      </p:sp>
      <p:sp>
        <p:nvSpPr>
          <p:cNvPr id="11" name="Text 8"/>
          <p:cNvSpPr txBox="1"/>
          <p:nvPr/>
        </p:nvSpPr>
        <p:spPr>
          <a:xfrm>
            <a:off x="9583369" y="6194511"/>
            <a:ext cx="2007108"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TNRD16 §1.2, §2, §3 · DnCNN17 Tables II, IV</a:t>
            </a:r>
            <a:endParaRPr lang="en-US" sz="855"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4401739" y="6502938"/>
            <a:ext cx="2765054" cy="33376"/>
          </a:xfrm>
          <a:prstGeom prst="rect">
            <a:avLst/>
          </a:prstGeom>
          <a:solidFill>
            <a:srgbClr val="2F5470"/>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2543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11</a:t>
            </a:r>
            <a:endParaRPr lang="en-US" sz="2545" dirty="0"/>
          </a:p>
        </p:txBody>
      </p:sp>
      <p:sp>
        <p:nvSpPr>
          <p:cNvPr id="3" name="Text 1"/>
          <p:cNvSpPr txBox="1"/>
          <p:nvPr/>
        </p:nvSpPr>
        <p:spPr>
          <a:xfrm rot="16200000">
            <a:off x="-339608" y="3428909"/>
            <a:ext cx="609630"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1C6151"/>
                </a:solidFill>
                <a:latin typeface="Calibri" pitchFamily="34" charset="0"/>
                <a:ea typeface="Calibri" pitchFamily="34" charset="-122"/>
                <a:cs typeface="Calibri" pitchFamily="34" charset="-120"/>
              </a:rPr>
              <a:t>DEEP CNN</a:t>
            </a:r>
            <a:endParaRPr lang="en-US" sz="694" dirty="0"/>
          </a:p>
        </p:txBody>
      </p:sp>
      <p:sp>
        <p:nvSpPr>
          <p:cNvPr id="4" name="Shape 2"/>
          <p:cNvSpPr/>
          <p:nvPr/>
        </p:nvSpPr>
        <p:spPr>
          <a:xfrm>
            <a:off x="1439540" y="433334"/>
            <a:ext cx="190927" cy="22037"/>
          </a:xfrm>
          <a:prstGeom prst="rect">
            <a:avLst/>
          </a:prstGeom>
          <a:solidFill>
            <a:srgbClr val="1C6151"/>
          </a:solidFill>
          <a:ln/>
        </p:spPr>
      </p:sp>
      <p:sp>
        <p:nvSpPr>
          <p:cNvPr id="5" name="Text 3"/>
          <p:cNvSpPr txBox="1"/>
          <p:nvPr/>
        </p:nvSpPr>
        <p:spPr>
          <a:xfrm>
            <a:off x="1718615" y="383865"/>
            <a:ext cx="1888785"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C6151"/>
                </a:solidFill>
                <a:latin typeface="Calibri" pitchFamily="34" charset="0"/>
                <a:ea typeface="Calibri" pitchFamily="34" charset="-122"/>
                <a:cs typeface="Calibri" pitchFamily="34" charset="-120"/>
              </a:rPr>
              <a:t>DNCNN · 2017 · BEFORE → AFTER</a:t>
            </a:r>
            <a:endParaRPr lang="en-US" sz="781" dirty="0"/>
          </a:p>
        </p:txBody>
      </p:sp>
      <p:sp>
        <p:nvSpPr>
          <p:cNvPr id="6" name="Text 4"/>
          <p:cNvSpPr txBox="1"/>
          <p:nvPr/>
        </p:nvSpPr>
        <p:spPr>
          <a:xfrm>
            <a:off x="1439540" y="607070"/>
            <a:ext cx="740234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DnCNN vs TNRD — remove the optimiser entirely</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Zhang et al., IEEE TIP. TNRD unrolled the optimiser; DnCNN throws away the optimisation heritage and keeps only the network. The technical change is small, the consequence is the largest single step in this story.</a:t>
            </a:r>
            <a:endParaRPr lang="en-US" sz="1157" dirty="0"/>
          </a:p>
        </p:txBody>
      </p:sp>
      <p:sp>
        <p:nvSpPr>
          <p:cNvPr id="8" name="Shape 6"/>
          <p:cNvSpPr/>
          <p:nvPr/>
        </p:nvSpPr>
        <p:spPr>
          <a:xfrm>
            <a:off x="2293772" y="1958553"/>
            <a:ext cx="8514893"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2293772" y="1958553"/>
            <a:ext cx="8514893" cy="7315"/>
          </a:xfrm>
          <a:prstGeom prst="rect">
            <a:avLst/>
          </a:prstGeom>
          <a:solidFill>
            <a:srgbClr val="C9C4B9"/>
          </a:solidFill>
          <a:ln/>
        </p:spPr>
      </p:sp>
      <p:sp>
        <p:nvSpPr>
          <p:cNvPr id="10" name="Shape 8"/>
          <p:cNvSpPr/>
          <p:nvPr/>
        </p:nvSpPr>
        <p:spPr>
          <a:xfrm>
            <a:off x="2293772" y="4007632"/>
            <a:ext cx="8514893" cy="7315"/>
          </a:xfrm>
          <a:prstGeom prst="rect">
            <a:avLst/>
          </a:prstGeom>
          <a:solidFill>
            <a:srgbClr val="C9C4B9"/>
          </a:solidFill>
          <a:ln/>
        </p:spPr>
      </p:sp>
      <p:sp>
        <p:nvSpPr>
          <p:cNvPr id="11" name="Shape 9"/>
          <p:cNvSpPr/>
          <p:nvPr/>
        </p:nvSpPr>
        <p:spPr>
          <a:xfrm>
            <a:off x="2293772" y="1958553"/>
            <a:ext cx="7315" cy="2056394"/>
          </a:xfrm>
          <a:prstGeom prst="rect">
            <a:avLst/>
          </a:prstGeom>
          <a:solidFill>
            <a:srgbClr val="C9C4B9"/>
          </a:solidFill>
          <a:ln/>
        </p:spPr>
      </p:sp>
      <p:sp>
        <p:nvSpPr>
          <p:cNvPr id="12" name="Shape 10"/>
          <p:cNvSpPr/>
          <p:nvPr/>
        </p:nvSpPr>
        <p:spPr>
          <a:xfrm>
            <a:off x="10801350" y="1958553"/>
            <a:ext cx="7315" cy="2056394"/>
          </a:xfrm>
          <a:prstGeom prst="rect">
            <a:avLst/>
          </a:prstGeom>
          <a:solidFill>
            <a:srgbClr val="C9C4B9"/>
          </a:solidFill>
          <a:ln/>
        </p:spPr>
      </p:sp>
      <p:pic>
        <p:nvPicPr>
          <p:cNvPr id="13" name="Image 0" descr="The DnCNN architecture: Conv(+BN)+ReLU layers predict the residual noise, not the clean image.">    </p:cNvPr>
          <p:cNvPicPr>
            <a:picLocks noChangeAspect="1"/>
          </p:cNvPicPr>
          <p:nvPr/>
        </p:nvPicPr>
        <p:blipFill>
          <a:blip r:embed="rId1"/>
          <a:stretch>
            <a:fillRect/>
          </a:stretch>
        </p:blipFill>
        <p:spPr>
          <a:xfrm>
            <a:off x="2403958" y="2068739"/>
            <a:ext cx="8294614" cy="1836115"/>
          </a:xfrm>
          <a:prstGeom prst="rect">
            <a:avLst/>
          </a:prstGeom>
        </p:spPr>
      </p:pic>
      <p:sp>
        <p:nvSpPr>
          <p:cNvPr id="14" name="Text 11"/>
          <p:cNvSpPr txBox="1"/>
          <p:nvPr/>
        </p:nvSpPr>
        <p:spPr>
          <a:xfrm>
            <a:off x="4057924" y="4115623"/>
            <a:ext cx="4986406"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DnCNN architecture: Conv(+BN)+ReLU layers predict the residual noise, not the clean image. [DnCNN17 · Fig. 1]</a:t>
            </a:r>
            <a:endParaRPr lang="en-US" sz="81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439540" y="4452671"/>
          <a:ext cx="9144000" cy="914400"/>
        </p:xfrm>
        <a:graphic>
          <a:graphicData uri="http://schemas.openxmlformats.org/drawingml/2006/table">
            <a:tbl>
              <a:tblPr/>
              <a:tblGrid>
                <a:gridCol w="1277965"/>
                <a:gridCol w="1722272"/>
                <a:gridCol w="2699034"/>
                <a:gridCol w="4524177"/>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C6151"/>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TNRD (2016)</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C6151"/>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DNCNN (2017)</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C6151"/>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C6151"/>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Core algorithm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 diffusion stages, PDE-derived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Plain deep CNN</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Conv-BN-ReLU ×17, no pooling</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architecture no longer has to resemble an optimiser at all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What the net outputs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The restored image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The noise</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 — x = y − R(y)</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Residual learning: the 'do nothing' solution moves to zero, which is trivially reachable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DE9"/>
                    </a:solidFill>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Key enabler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Learned influence functions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Residual learning + batch normalisation, together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Neither works nearly as well alone — the paper's most-cited empirical finding</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Noise levels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One model per σ</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DnCNN-B: one blind model, σ ∈ [0, 55]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Drawback 4 solved; no noise estimate needed at test time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6" name="Text 12"/>
          <p:cNvSpPr txBox="1"/>
          <p:nvPr/>
        </p:nvSpPr>
        <p:spPr>
          <a:xfrm>
            <a:off x="9173444" y="6274430"/>
            <a:ext cx="2489454"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DnCNN17 §II-A, §III-A, §III-C, §III-D, Table II, Table IV · TNRD16</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6551219" y="6545732"/>
            <a:ext cx="1135776" cy="29352"/>
          </a:xfrm>
          <a:prstGeom prst="rect">
            <a:avLst/>
          </a:prstGeom>
          <a:solidFill>
            <a:srgbClr val="1C6151"/>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70058"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11</a:t>
            </a:r>
            <a:endParaRPr lang="en-US" sz="2893" dirty="0"/>
          </a:p>
        </p:txBody>
      </p:sp>
      <p:sp>
        <p:nvSpPr>
          <p:cNvPr id="3" name="Text 1"/>
          <p:cNvSpPr txBox="1"/>
          <p:nvPr/>
        </p:nvSpPr>
        <p:spPr>
          <a:xfrm rot="16200000">
            <a:off x="-386060" y="3428909"/>
            <a:ext cx="693115"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1C6151"/>
                </a:solidFill>
                <a:latin typeface="Calibri" pitchFamily="34" charset="0"/>
                <a:ea typeface="Calibri" pitchFamily="34" charset="-122"/>
                <a:cs typeface="Calibri" pitchFamily="34" charset="-120"/>
              </a:rPr>
              <a:t>DEEP CNN</a:t>
            </a:r>
            <a:endParaRPr lang="en-US" sz="789" dirty="0"/>
          </a:p>
        </p:txBody>
      </p:sp>
      <p:sp>
        <p:nvSpPr>
          <p:cNvPr id="4" name="Shape 2"/>
          <p:cNvSpPr/>
          <p:nvPr/>
        </p:nvSpPr>
        <p:spPr>
          <a:xfrm>
            <a:off x="1636685" y="492679"/>
            <a:ext cx="217079" cy="25055"/>
          </a:xfrm>
          <a:prstGeom prst="rect">
            <a:avLst/>
          </a:prstGeom>
          <a:solidFill>
            <a:srgbClr val="1C6151"/>
          </a:solidFill>
          <a:ln/>
        </p:spPr>
      </p:sp>
      <p:sp>
        <p:nvSpPr>
          <p:cNvPr id="5" name="Text 3"/>
          <p:cNvSpPr txBox="1"/>
          <p:nvPr/>
        </p:nvSpPr>
        <p:spPr>
          <a:xfrm>
            <a:off x="1953981" y="436443"/>
            <a:ext cx="214746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DNCNN · 2017 · BEFORE → AFTER</a:t>
            </a:r>
            <a:endParaRPr lang="en-US" sz="888" dirty="0"/>
          </a:p>
        </p:txBody>
      </p:sp>
      <p:sp>
        <p:nvSpPr>
          <p:cNvPr id="6" name="Text 4"/>
          <p:cNvSpPr txBox="1"/>
          <p:nvPr/>
        </p:nvSpPr>
        <p:spPr>
          <a:xfrm>
            <a:off x="4119098"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41632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DnCNN vs TNRD — remove the optimiser entirely</a:t>
            </a:r>
            <a:endParaRPr lang="en-US" sz="3025"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636685" y="1241481"/>
          <a:ext cx="9144000" cy="914400"/>
        </p:xfrm>
        <a:graphic>
          <a:graphicData uri="http://schemas.openxmlformats.org/drawingml/2006/table">
            <a:tbl>
              <a:tblPr/>
              <a:tblGrid>
                <a:gridCol w="1031260"/>
                <a:gridCol w="1398666"/>
                <a:gridCol w="4116812"/>
                <a:gridCol w="3406963"/>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TNRD (2016)</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DNCNN (2017)</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r>
              <a:tr h="346558">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28.92 dB · 0.032 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29.23 dB · 0.060 s</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(blind: 29.16)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+0.6 dB over BM3D at </a:t>
                      </a:r>
                      <a:pPr algn="l" indent="0" marL="0">
                        <a:lnSpc>
                          <a:spcPts val="1324"/>
                        </a:lnSpc>
                        <a:buNone/>
                      </a:pPr>
                      <a:r>
                        <a:rPr kern="0" lang="en-US" sz="1085" b="1" i="1" dirty="0">
                          <a:solidFill>
                            <a:srgbClr val="14120F"/>
                          </a:solidFill>
                          <a:latin typeface="Calibri" pitchFamily="34" charset="0"/>
                          <a:ea typeface="Calibri" pitchFamily="34" charset="-122"/>
                          <a:cs typeface="Calibri" pitchFamily="34" charset="-120"/>
                        </a:rPr>
                        <a:t>all three</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noise levels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E8EDE9"/>
                    </a:solidFill>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Applications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Gaussian denoising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One model for denoising + super-resolution + JPEG deblocking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Redefine v and the same network solves three tasks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Text 6"/>
          <p:cNvSpPr txBox="1"/>
          <p:nvPr/>
        </p:nvSpPr>
        <p:spPr>
          <a:xfrm>
            <a:off x="8759952" y="6194511"/>
            <a:ext cx="283043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§II-A, §III-A, §III-C, §III-D, Table II, Table IV · TNRD16</a:t>
            </a:r>
            <a:endParaRPr lang="en-US" sz="855" dirty="0"/>
          </a:p>
        </p:txBody>
      </p:sp>
      <p:sp>
        <p:nvSpPr>
          <p:cNvPr id="10" name="Shape 7"/>
          <p:cNvSpPr/>
          <p:nvPr/>
        </p:nvSpPr>
        <p:spPr>
          <a:xfrm>
            <a:off x="1636685" y="6515466"/>
            <a:ext cx="9953793" cy="8321"/>
          </a:xfrm>
          <a:prstGeom prst="rect">
            <a:avLst/>
          </a:prstGeom>
          <a:solidFill>
            <a:srgbClr val="C9C4B9"/>
          </a:solidFill>
          <a:ln/>
        </p:spPr>
      </p:sp>
      <p:sp>
        <p:nvSpPr>
          <p:cNvPr id="11" name="Shape 8"/>
          <p:cNvSpPr/>
          <p:nvPr/>
        </p:nvSpPr>
        <p:spPr>
          <a:xfrm>
            <a:off x="6613581" y="6502938"/>
            <a:ext cx="1105784" cy="33376"/>
          </a:xfrm>
          <a:prstGeom prst="rect">
            <a:avLst/>
          </a:prstGeom>
          <a:solidFill>
            <a:srgbClr val="1C6151"/>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6320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12</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245863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DNCNN · THE IMPLEMENTATION CHANGE</a:t>
            </a:r>
            <a:endParaRPr lang="en-US" sz="831" dirty="0"/>
          </a:p>
        </p:txBody>
      </p:sp>
      <p:sp>
        <p:nvSpPr>
          <p:cNvPr id="6" name="Text 4"/>
          <p:cNvSpPr txBox="1"/>
          <p:nvPr/>
        </p:nvSpPr>
        <p:spPr>
          <a:xfrm>
            <a:off x="1531803" y="646024"/>
            <a:ext cx="5417546"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The innovation is eight characters</a:t>
            </a:r>
            <a:endParaRPr lang="en-US" sz="2831" dirty="0"/>
          </a:p>
        </p:txBody>
      </p:sp>
      <p:sp>
        <p:nvSpPr>
          <p:cNvPr id="7" name="Text 5"/>
          <p:cNvSpPr txBox="1"/>
          <p:nvPr/>
        </p:nvSpPr>
        <p:spPr>
          <a:xfrm>
            <a:off x="1531803" y="1177564"/>
            <a:ext cx="6060460" cy="461132"/>
          </a:xfrm>
          <a:prstGeom prst="rect">
            <a:avLst/>
          </a:prstGeom>
          <a:noFill/>
          <a:ln/>
        </p:spPr>
        <p:txBody>
          <a:bodyPr wrap="square" lIns="0" tIns="0" rIns="0" bIns="0" rtlCol="0" anchor="t"/>
          <a:lstStyle/>
          <a:p>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cszn/KAIR</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models/network_dncnn.py</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by DnCNN's own first author. The architecture is a list comprehension; the contribution is the return statement.</a:t>
            </a:r>
            <a:endParaRPr lang="en-US" sz="1108" dirty="0"/>
          </a:p>
        </p:txBody>
      </p:sp>
      <p:sp>
        <p:nvSpPr>
          <p:cNvPr id="8" name="Shape 6"/>
          <p:cNvSpPr/>
          <p:nvPr/>
        </p:nvSpPr>
        <p:spPr>
          <a:xfrm>
            <a:off x="1531803" y="1857421"/>
            <a:ext cx="5098512" cy="4112605"/>
          </a:xfrm>
          <a:prstGeom prst="rect">
            <a:avLst/>
          </a:prstGeom>
          <a:solidFill>
            <a:srgbClr val="F2F0E9"/>
          </a:solidFill>
          <a:ln/>
        </p:spPr>
      </p:sp>
      <p:sp>
        <p:nvSpPr>
          <p:cNvPr id="9" name="Shape 7"/>
          <p:cNvSpPr/>
          <p:nvPr/>
        </p:nvSpPr>
        <p:spPr>
          <a:xfrm>
            <a:off x="1531803" y="1857421"/>
            <a:ext cx="5098512" cy="23409"/>
          </a:xfrm>
          <a:prstGeom prst="rect">
            <a:avLst/>
          </a:prstGeom>
          <a:solidFill>
            <a:srgbClr val="1C6151"/>
          </a:solidFill>
          <a:ln/>
        </p:spPr>
      </p:sp>
      <p:sp>
        <p:nvSpPr>
          <p:cNvPr id="10" name="Text 8"/>
          <p:cNvSpPr txBox="1"/>
          <p:nvPr/>
        </p:nvSpPr>
        <p:spPr>
          <a:xfrm>
            <a:off x="1688074" y="2008022"/>
            <a:ext cx="2420325" cy="128748"/>
          </a:xfrm>
          <a:prstGeom prst="rect">
            <a:avLst/>
          </a:prstGeom>
          <a:noFill/>
          <a:ln/>
        </p:spPr>
        <p:txBody>
          <a:bodyPr wrap="none" lIns="0" tIns="0" rIns="0" bIns="0" rtlCol="0" anchor="t"/>
          <a:lstStyle/>
          <a:p>
            <a:pPr algn="l" indent="0" marL="0">
              <a:lnSpc>
                <a:spcPts val="1014"/>
              </a:lnSpc>
              <a:buNone/>
            </a:pPr>
            <a:r>
              <a:rPr kern="0" lang="en-US" sz="831" i="1" dirty="0">
                <a:solidFill>
                  <a:srgbClr val="8A847A"/>
                </a:solidFill>
                <a:latin typeface="Calibri" pitchFamily="34" charset="0"/>
                <a:ea typeface="Calibri" pitchFamily="34" charset="-122"/>
                <a:cs typeface="Calibri" pitchFamily="34" charset="-120"/>
              </a:rPr>
              <a:t>KAIR/models/network_dncnn.py — the whole network</a:t>
            </a:r>
            <a:endParaRPr lang="en-US" sz="831" dirty="0"/>
          </a:p>
        </p:txBody>
      </p:sp>
      <p:sp>
        <p:nvSpPr>
          <p:cNvPr id="11" name="Text 9"/>
          <p:cNvSpPr txBox="1"/>
          <p:nvPr/>
        </p:nvSpPr>
        <p:spPr>
          <a:xfrm>
            <a:off x="1906890" y="2217969"/>
            <a:ext cx="159471" cy="2209739"/>
          </a:xfrm>
          <a:prstGeom prst="rect">
            <a:avLst/>
          </a:prstGeom>
          <a:noFill/>
          <a:ln/>
        </p:spPr>
        <p:txBody>
          <a:bodyPr wrap="none" lIns="0" tIns="0" rIns="0" bIns="0" rtlCol="0" anchor="t"/>
          <a:lstStyle/>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2</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3</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4</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5</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6</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7</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8</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9</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10</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11</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12</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13</a:t>
            </a:r>
            <a:endParaRPr lang="en-US" sz="738" dirty="0"/>
          </a:p>
        </p:txBody>
      </p:sp>
      <p:sp>
        <p:nvSpPr>
          <p:cNvPr id="12" name="Text 10"/>
          <p:cNvSpPr txBox="1"/>
          <p:nvPr/>
        </p:nvSpPr>
        <p:spPr>
          <a:xfrm>
            <a:off x="1953798" y="2225741"/>
            <a:ext cx="4455688" cy="2209739"/>
          </a:xfrm>
          <a:prstGeom prst="rect">
            <a:avLst/>
          </a:prstGeom>
          <a:noFill/>
          <a:ln/>
        </p:spPr>
        <p:txBody>
          <a:bodyPr wrap="none" lIns="0" tIns="0" rIns="0" bIns="0" rtlCol="0" anchor="t"/>
          <a:lstStyle/>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m_head = B.conv(in_nc, nc, mode='C'+act_mode[-1])</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m_body = [B.conv(nc, nc, mode='C'+act_mode)</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for _ in range(nb-2)]          # ← the entire network</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m_tail = B.conv(nc, out_nc, mode='C')</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def forward(self, x):</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n = self.model(x)</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return x-n                           # ← the contribution</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BEFORE (discriminative CNNs, ~2012-2016):</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return self.model(x)      -&gt; learn F(y) = x</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AFTER (DnCNN, 2017):</a:t>
            </a:r>
            <a:endParaRPr lang="en-US" sz="892" dirty="0"/>
          </a:p>
          <a:p>
            <a:pPr algn="l" indent="0" marL="0">
              <a:lnSpc>
                <a:spcPts val="1338"/>
              </a:lnSpc>
              <a:buNone/>
            </a:pPr>
            <a:r>
              <a:rPr kern="0" lang="en-US" sz="892" b="1" dirty="0">
                <a:solidFill>
                  <a:srgbClr val="1C6151"/>
                </a:solidFill>
                <a:latin typeface="Consolas" pitchFamily="34" charset="0"/>
                <a:ea typeface="Consolas" pitchFamily="34" charset="-122"/>
                <a:cs typeface="Consolas" pitchFamily="34" charset="-120"/>
              </a:rPr>
              <a:t>#     return x - self.model(x)  -&gt; learn R(y) = v</a:t>
            </a:r>
            <a:endParaRPr lang="en-US" sz="892" dirty="0"/>
          </a:p>
        </p:txBody>
      </p:sp>
      <p:sp>
        <p:nvSpPr>
          <p:cNvPr id="13" name="Shape 11"/>
          <p:cNvSpPr/>
          <p:nvPr/>
        </p:nvSpPr>
        <p:spPr>
          <a:xfrm>
            <a:off x="6927312" y="1857421"/>
            <a:ext cx="7772" cy="4112605"/>
          </a:xfrm>
          <a:prstGeom prst="rect">
            <a:avLst/>
          </a:prstGeom>
          <a:solidFill>
            <a:srgbClr val="DFDBD2"/>
          </a:solidFill>
          <a:ln/>
        </p:spPr>
      </p:sp>
      <p:sp>
        <p:nvSpPr>
          <p:cNvPr id="14" name="Shape 12"/>
          <p:cNvSpPr/>
          <p:nvPr/>
        </p:nvSpPr>
        <p:spPr>
          <a:xfrm>
            <a:off x="7232081" y="1857421"/>
            <a:ext cx="4396801" cy="7772"/>
          </a:xfrm>
          <a:prstGeom prst="rect">
            <a:avLst/>
          </a:prstGeom>
          <a:solidFill>
            <a:srgbClr val="DFDBD2"/>
          </a:solidFill>
          <a:ln/>
        </p:spPr>
      </p:sp>
      <p:sp>
        <p:nvSpPr>
          <p:cNvPr id="15" name="Text 13"/>
          <p:cNvSpPr txBox="1"/>
          <p:nvPr/>
        </p:nvSpPr>
        <p:spPr>
          <a:xfrm>
            <a:off x="7232081" y="1998147"/>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6" name="Text 14"/>
          <p:cNvSpPr txBox="1"/>
          <p:nvPr/>
        </p:nvSpPr>
        <p:spPr>
          <a:xfrm>
            <a:off x="7560351" y="1987357"/>
            <a:ext cx="4100444" cy="1084387"/>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Why that one change matters.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From ResNet: a mapping close to the identity is hard to optimise. And y is much more like x than it is like v — so learning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image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forces the network toward an identity transform, which seventeen ReLU layers have no natural way to express.</a:t>
            </a:r>
            <a:endParaRPr lang="en-US" sz="1138" dirty="0"/>
          </a:p>
        </p:txBody>
      </p:sp>
      <p:sp>
        <p:nvSpPr>
          <p:cNvPr id="17" name="Text 15"/>
          <p:cNvSpPr txBox="1"/>
          <p:nvPr/>
        </p:nvSpPr>
        <p:spPr>
          <a:xfrm>
            <a:off x="7232081" y="3207532"/>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8" name="Text 16"/>
          <p:cNvSpPr txBox="1"/>
          <p:nvPr/>
        </p:nvSpPr>
        <p:spPr>
          <a:xfrm>
            <a:off x="7560351" y="3196742"/>
            <a:ext cx="410044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Learning the noise moves the trivial solution to zero</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reachable by driving weights toward zero. Same function class, far easier optimisation landscape.</a:t>
            </a:r>
            <a:endParaRPr lang="en-US" sz="1138" dirty="0"/>
          </a:p>
        </p:txBody>
      </p:sp>
      <p:sp>
        <p:nvSpPr>
          <p:cNvPr id="19" name="Text 17"/>
          <p:cNvSpPr txBox="1"/>
          <p:nvPr/>
        </p:nvSpPr>
        <p:spPr>
          <a:xfrm>
            <a:off x="7232081" y="3983218"/>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0" name="Text 18"/>
          <p:cNvSpPr txBox="1"/>
          <p:nvPr/>
        </p:nvSpPr>
        <p:spPr>
          <a:xfrm>
            <a:off x="7560351" y="3972428"/>
            <a:ext cx="4100444" cy="1084387"/>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synergy, in one sentence.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Residual learning strips the image out of the hidden layers, making activations Gaussian-like and content-independent — which is exactly the regime batch-norm's batch statistics assume.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Without</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residual learning, BN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has a certain adverse effect on convergence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1" name="Text 19"/>
          <p:cNvSpPr txBox="1"/>
          <p:nvPr/>
        </p:nvSpPr>
        <p:spPr>
          <a:xfrm>
            <a:off x="7232081" y="5192603"/>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22" name="Text 20"/>
          <p:cNvSpPr txBox="1"/>
          <p:nvPr/>
        </p:nvSpPr>
        <p:spPr>
          <a:xfrm>
            <a:off x="7560351" y="5181813"/>
            <a:ext cx="4100444" cy="660288"/>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Where the prior went.</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Nowhere in this file. It is in the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.pth</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checkpoint this class will load. That is the moment the prior stopped being readable — and started being downloadable.</a:t>
            </a:r>
            <a:endParaRPr lang="en-US" sz="1138" dirty="0"/>
          </a:p>
        </p:txBody>
      </p:sp>
      <p:sp>
        <p:nvSpPr>
          <p:cNvPr id="23" name="Text 21"/>
          <p:cNvSpPr txBox="1"/>
          <p:nvPr/>
        </p:nvSpPr>
        <p:spPr>
          <a:xfrm>
            <a:off x="9216786" y="6237031"/>
            <a:ext cx="241218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cszn/KAIR, verbatim · DnCNN17 §II-A, §III-C</a:t>
            </a:r>
            <a:endParaRPr lang="en-US" sz="800" dirty="0"/>
          </a:p>
        </p:txBody>
      </p:sp>
      <p:sp>
        <p:nvSpPr>
          <p:cNvPr id="24" name="Shape 22"/>
          <p:cNvSpPr/>
          <p:nvPr/>
        </p:nvSpPr>
        <p:spPr>
          <a:xfrm>
            <a:off x="1531803" y="6537411"/>
            <a:ext cx="10097262" cy="7772"/>
          </a:xfrm>
          <a:prstGeom prst="rect">
            <a:avLst/>
          </a:prstGeom>
          <a:solidFill>
            <a:srgbClr val="C9C4B9"/>
          </a:solidFill>
          <a:ln/>
        </p:spPr>
      </p:sp>
      <p:sp>
        <p:nvSpPr>
          <p:cNvPr id="25" name="Shape 23"/>
          <p:cNvSpPr/>
          <p:nvPr/>
        </p:nvSpPr>
        <p:spPr>
          <a:xfrm>
            <a:off x="6580388" y="6525707"/>
            <a:ext cx="1121694" cy="31272"/>
          </a:xfrm>
          <a:prstGeom prst="rect">
            <a:avLst/>
          </a:prstGeom>
          <a:solidFill>
            <a:srgbClr val="1C6151"/>
          </a:solidFill>
          <a:ln/>
        </p:spPr>
      </p:sp>
      <p:sp>
        <p:nvSpPr>
          <p:cNvPr id="26" name="Shape 24"/>
          <p:cNvSpPr/>
          <p:nvPr/>
        </p:nvSpPr>
        <p:spPr>
          <a:xfrm>
            <a:off x="1531803" y="6498366"/>
            <a:ext cx="7772" cy="39045"/>
          </a:xfrm>
          <a:prstGeom prst="rect">
            <a:avLst/>
          </a:prstGeom>
          <a:solidFill>
            <a:srgbClr val="C9C4B9"/>
          </a:solidFill>
          <a:ln/>
        </p:spPr>
      </p:sp>
      <p:sp>
        <p:nvSpPr>
          <p:cNvPr id="27" name="Text 25"/>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8" name="Shape 26"/>
          <p:cNvSpPr/>
          <p:nvPr/>
        </p:nvSpPr>
        <p:spPr>
          <a:xfrm>
            <a:off x="5458511" y="6498366"/>
            <a:ext cx="7772" cy="39045"/>
          </a:xfrm>
          <a:prstGeom prst="rect">
            <a:avLst/>
          </a:prstGeom>
          <a:solidFill>
            <a:srgbClr val="C9C4B9"/>
          </a:solidFill>
          <a:ln/>
        </p:spPr>
      </p:sp>
      <p:sp>
        <p:nvSpPr>
          <p:cNvPr id="29" name="Text 27"/>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0" name="Shape 28"/>
          <p:cNvSpPr/>
          <p:nvPr/>
        </p:nvSpPr>
        <p:spPr>
          <a:xfrm>
            <a:off x="7141738" y="6498366"/>
            <a:ext cx="7772" cy="39045"/>
          </a:xfrm>
          <a:prstGeom prst="rect">
            <a:avLst/>
          </a:prstGeom>
          <a:solidFill>
            <a:srgbClr val="C9C4B9"/>
          </a:solidFill>
          <a:ln/>
        </p:spPr>
      </p:sp>
      <p:sp>
        <p:nvSpPr>
          <p:cNvPr id="31" name="Text 29"/>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2" name="Shape 30"/>
          <p:cNvSpPr/>
          <p:nvPr/>
        </p:nvSpPr>
        <p:spPr>
          <a:xfrm>
            <a:off x="9945654" y="6498366"/>
            <a:ext cx="7772" cy="39045"/>
          </a:xfrm>
          <a:prstGeom prst="rect">
            <a:avLst/>
          </a:prstGeom>
          <a:solidFill>
            <a:srgbClr val="C9C4B9"/>
          </a:solidFill>
          <a:ln/>
        </p:spPr>
      </p:sp>
      <p:sp>
        <p:nvSpPr>
          <p:cNvPr id="33" name="Text 31"/>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4" name="Shape 32"/>
          <p:cNvSpPr/>
          <p:nvPr/>
        </p:nvSpPr>
        <p:spPr>
          <a:xfrm>
            <a:off x="11628973" y="6498366"/>
            <a:ext cx="7772" cy="39045"/>
          </a:xfrm>
          <a:prstGeom prst="rect">
            <a:avLst/>
          </a:prstGeom>
          <a:solidFill>
            <a:srgbClr val="C9C4B9"/>
          </a:solidFill>
          <a:ln/>
        </p:spPr>
      </p:sp>
      <p:sp>
        <p:nvSpPr>
          <p:cNvPr id="35" name="Text 33"/>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79933"/>
            <a:ext cx="38843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13</a:t>
            </a:r>
            <a:endParaRPr lang="en-US" sz="2893" dirty="0"/>
          </a:p>
        </p:txBody>
      </p:sp>
      <p:sp>
        <p:nvSpPr>
          <p:cNvPr id="3" name="Text 1"/>
          <p:cNvSpPr txBox="1"/>
          <p:nvPr/>
        </p:nvSpPr>
        <p:spPr>
          <a:xfrm rot="16200000">
            <a:off x="-386060" y="3437230"/>
            <a:ext cx="693115"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1C6151"/>
                </a:solidFill>
                <a:latin typeface="Calibri" pitchFamily="34" charset="0"/>
                <a:ea typeface="Calibri" pitchFamily="34" charset="-122"/>
                <a:cs typeface="Calibri" pitchFamily="34" charset="-120"/>
              </a:rPr>
              <a:t>DEEP CNN</a:t>
            </a:r>
            <a:endParaRPr lang="en-US" sz="789" dirty="0"/>
          </a:p>
        </p:txBody>
      </p:sp>
      <p:sp>
        <p:nvSpPr>
          <p:cNvPr id="4" name="Shape 2"/>
          <p:cNvSpPr/>
          <p:nvPr/>
        </p:nvSpPr>
        <p:spPr>
          <a:xfrm>
            <a:off x="1636685" y="327904"/>
            <a:ext cx="217079" cy="25055"/>
          </a:xfrm>
          <a:prstGeom prst="rect">
            <a:avLst/>
          </a:prstGeom>
          <a:solidFill>
            <a:srgbClr val="1C6151"/>
          </a:solidFill>
          <a:ln/>
        </p:spPr>
      </p:sp>
      <p:sp>
        <p:nvSpPr>
          <p:cNvPr id="5" name="Text 3"/>
          <p:cNvSpPr txBox="1"/>
          <p:nvPr/>
        </p:nvSpPr>
        <p:spPr>
          <a:xfrm>
            <a:off x="1953981" y="271668"/>
            <a:ext cx="177805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DNCNN · WHY IT WAS SOTA</a:t>
            </a:r>
            <a:endParaRPr lang="en-US" sz="888" dirty="0"/>
          </a:p>
        </p:txBody>
      </p:sp>
      <p:sp>
        <p:nvSpPr>
          <p:cNvPr id="6" name="Text 4"/>
          <p:cNvSpPr txBox="1"/>
          <p:nvPr/>
        </p:nvSpPr>
        <p:spPr>
          <a:xfrm>
            <a:off x="1636685" y="611185"/>
            <a:ext cx="787316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made it state of the art, and for how long</a:t>
            </a:r>
            <a:endParaRPr lang="en-US" sz="3025" dirty="0"/>
          </a:p>
        </p:txBody>
      </p:sp>
      <p:sp>
        <p:nvSpPr>
          <p:cNvPr id="7" name="Text 5"/>
          <p:cNvSpPr txBox="1"/>
          <p:nvPr/>
        </p:nvSpPr>
        <p:spPr>
          <a:xfrm>
            <a:off x="1636685" y="1329720"/>
            <a:ext cx="5183825" cy="400782"/>
          </a:xfrm>
          <a:prstGeom prst="rect">
            <a:avLst/>
          </a:prstGeom>
          <a:noFill/>
          <a:ln/>
        </p:spPr>
        <p:txBody>
          <a:bodyPr wrap="square" lIns="0" tIns="0" rIns="0" bIns="0" rtlCol="0" anchor="t"/>
          <a:lstStyle/>
          <a:p>
            <a:pPr algn="l" indent="0" marL="0">
              <a:lnSpc>
                <a:spcPts val="1578"/>
              </a:lnSpc>
              <a:buNone/>
            </a:pPr>
            <a:r>
              <a:rPr kern="0" lang="en-US" sz="1052" dirty="0">
                <a:solidFill>
                  <a:srgbClr val="5A554D"/>
                </a:solidFill>
                <a:latin typeface="Calibri" pitchFamily="34" charset="0"/>
                <a:ea typeface="Calibri" pitchFamily="34" charset="-122"/>
                <a:cs typeface="Calibri" pitchFamily="34" charset="-120"/>
              </a:rPr>
              <a:t>A SOTA claim with its qualifiers attached: the benchmark, and the margin measured against the ceiling the literature had already established.</a:t>
            </a:r>
            <a:endParaRPr lang="en-US" sz="1052" dirty="0"/>
          </a:p>
        </p:txBody>
      </p:sp>
      <p:sp>
        <p:nvSpPr>
          <p:cNvPr id="8" name="Shape 6"/>
          <p:cNvSpPr/>
          <p:nvPr/>
        </p:nvSpPr>
        <p:spPr>
          <a:xfrm>
            <a:off x="1636685" y="2140062"/>
            <a:ext cx="9953793" cy="16734"/>
          </a:xfrm>
          <a:prstGeom prst="rect">
            <a:avLst/>
          </a:prstGeom>
          <a:solidFill>
            <a:srgbClr val="14120F"/>
          </a:solidFill>
          <a:ln/>
        </p:spPr>
      </p:sp>
      <p:sp>
        <p:nvSpPr>
          <p:cNvPr id="9" name="Text 7"/>
          <p:cNvSpPr txBox="1"/>
          <p:nvPr/>
        </p:nvSpPr>
        <p:spPr>
          <a:xfrm>
            <a:off x="1636685" y="2323765"/>
            <a:ext cx="1606875"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1C6151"/>
                </a:solidFill>
                <a:latin typeface="Cambria" pitchFamily="34" charset="0"/>
                <a:ea typeface="Cambria" pitchFamily="34" charset="-122"/>
                <a:cs typeface="Cambria" pitchFamily="34" charset="-120"/>
              </a:rPr>
              <a:t>+0.6 dB</a:t>
            </a:r>
            <a:endParaRPr lang="en-US" sz="3945" dirty="0"/>
          </a:p>
        </p:txBody>
      </p:sp>
      <p:sp>
        <p:nvSpPr>
          <p:cNvPr id="10" name="Text 8"/>
          <p:cNvSpPr txBox="1"/>
          <p:nvPr/>
        </p:nvSpPr>
        <p:spPr>
          <a:xfrm>
            <a:off x="1636685" y="2923977"/>
            <a:ext cx="1460663"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OVER BM3D, ALL THREE Σ</a:t>
            </a:r>
            <a:endParaRPr lang="en-US" sz="822" dirty="0"/>
          </a:p>
        </p:txBody>
      </p:sp>
      <p:sp>
        <p:nvSpPr>
          <p:cNvPr id="11" name="Text 9"/>
          <p:cNvSpPr txBox="1"/>
          <p:nvPr/>
        </p:nvSpPr>
        <p:spPr>
          <a:xfrm>
            <a:off x="1636685" y="3128254"/>
            <a:ext cx="3096341" cy="812170"/>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On BSD68. Prior work put the practical ceiling over BM3D at </a:t>
            </a:r>
            <a:pPr algn="l" indent="0" marL="0">
              <a:lnSpc>
                <a:spcPts val="1599"/>
              </a:lnSpc>
              <a:buNone/>
            </a:pPr>
            <a:r>
              <a:rPr kern="0" lang="en-US" sz="1052" b="1" dirty="0">
                <a:solidFill>
                  <a:srgbClr val="33302B"/>
                </a:solidFill>
                <a:latin typeface="Calibri" pitchFamily="34" charset="0"/>
                <a:ea typeface="Calibri" pitchFamily="34" charset="-122"/>
                <a:cs typeface="Calibri" pitchFamily="34" charset="-120"/>
              </a:rPr>
              <a:t>0.3 dB</a:t>
            </a:r>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 and the estimated theoretical bound at </a:t>
            </a:r>
            <a:pPr algn="l" indent="0" marL="0">
              <a:lnSpc>
                <a:spcPts val="1599"/>
              </a:lnSpc>
              <a:buNone/>
            </a:pPr>
            <a:r>
              <a:rPr kern="0" lang="en-US" sz="1052" b="1" dirty="0">
                <a:solidFill>
                  <a:srgbClr val="33302B"/>
                </a:solidFill>
                <a:latin typeface="Calibri" pitchFamily="34" charset="0"/>
                <a:ea typeface="Calibri" pitchFamily="34" charset="-122"/>
                <a:cs typeface="Calibri" pitchFamily="34" charset="-120"/>
              </a:rPr>
              <a:t>0.7 dB</a:t>
            </a:r>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 — so DnCNN took about </a:t>
            </a:r>
            <a:pPr algn="l" indent="0" marL="0">
              <a:lnSpc>
                <a:spcPts val="1599"/>
              </a:lnSpc>
              <a:buNone/>
            </a:pPr>
            <a:r>
              <a:rPr kern="0" lang="en-US" sz="1052" b="1" dirty="0">
                <a:solidFill>
                  <a:srgbClr val="33302B"/>
                </a:solidFill>
                <a:latin typeface="Calibri" pitchFamily="34" charset="0"/>
                <a:ea typeface="Calibri" pitchFamily="34" charset="-122"/>
                <a:cs typeface="Calibri" pitchFamily="34" charset="-120"/>
              </a:rPr>
              <a:t>85% of the available headroom</a:t>
            </a:r>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 </a:t>
            </a:r>
            <a:pPr algn="l" indent="0" marL="0">
              <a:lnSpc>
                <a:spcPts val="1599"/>
              </a:lnSpc>
              <a:buNone/>
            </a:pPr>
            <a:r>
              <a:rPr kern="0" lang="en-US" sz="947" dirty="0">
                <a:solidFill>
                  <a:srgbClr val="145A66"/>
                </a:solidFill>
                <a:latin typeface="Consolas" pitchFamily="34" charset="0"/>
                <a:ea typeface="Consolas" pitchFamily="34" charset="-122"/>
                <a:cs typeface="Consolas" pitchFamily="34" charset="-120"/>
              </a:rPr>
              <a:t>[DnCNN17 §IV-B]</a:t>
            </a:r>
            <a:endParaRPr lang="en-US" sz="1052" dirty="0"/>
          </a:p>
        </p:txBody>
      </p:sp>
      <p:sp>
        <p:nvSpPr>
          <p:cNvPr id="12" name="Shape 10"/>
          <p:cNvSpPr/>
          <p:nvPr/>
        </p:nvSpPr>
        <p:spPr>
          <a:xfrm>
            <a:off x="4954585" y="2323765"/>
            <a:ext cx="8321" cy="1803288"/>
          </a:xfrm>
          <a:prstGeom prst="rect">
            <a:avLst/>
          </a:prstGeom>
          <a:solidFill>
            <a:srgbClr val="DFDBD2"/>
          </a:solidFill>
          <a:ln/>
        </p:spPr>
      </p:sp>
      <p:sp>
        <p:nvSpPr>
          <p:cNvPr id="13" name="Text 11"/>
          <p:cNvSpPr txBox="1"/>
          <p:nvPr/>
        </p:nvSpPr>
        <p:spPr>
          <a:xfrm>
            <a:off x="5213452" y="2323765"/>
            <a:ext cx="1638148"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1C6151"/>
                </a:solidFill>
                <a:latin typeface="Cambria" pitchFamily="34" charset="0"/>
                <a:ea typeface="Cambria" pitchFamily="34" charset="-122"/>
                <a:cs typeface="Cambria" pitchFamily="34" charset="-120"/>
              </a:rPr>
              <a:t>12 900×</a:t>
            </a:r>
            <a:endParaRPr lang="en-US" sz="3945" dirty="0"/>
          </a:p>
        </p:txBody>
      </p:sp>
      <p:sp>
        <p:nvSpPr>
          <p:cNvPr id="14" name="Text 12"/>
          <p:cNvSpPr txBox="1"/>
          <p:nvPr/>
        </p:nvSpPr>
        <p:spPr>
          <a:xfrm>
            <a:off x="5213452" y="2923977"/>
            <a:ext cx="1683593"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FASTER THAN WNNM AT 512²</a:t>
            </a:r>
            <a:endParaRPr lang="en-US" sz="822" dirty="0"/>
          </a:p>
        </p:txBody>
      </p:sp>
      <p:sp>
        <p:nvSpPr>
          <p:cNvPr id="15" name="Text 13"/>
          <p:cNvSpPr txBox="1"/>
          <p:nvPr/>
        </p:nvSpPr>
        <p:spPr>
          <a:xfrm>
            <a:off x="5213452" y="3128254"/>
            <a:ext cx="2836469" cy="621609"/>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773.2 s CPU → 0.060 s GPU. The device differs and the paper says so; the order of magnitude is the point. </a:t>
            </a:r>
            <a:pPr algn="l" indent="0" marL="0">
              <a:lnSpc>
                <a:spcPts val="1599"/>
              </a:lnSpc>
              <a:buNone/>
            </a:pPr>
            <a:r>
              <a:rPr kern="0" lang="en-US" sz="947" dirty="0">
                <a:solidFill>
                  <a:srgbClr val="145A66"/>
                </a:solidFill>
                <a:latin typeface="Consolas" pitchFamily="34" charset="0"/>
                <a:ea typeface="Consolas" pitchFamily="34" charset="-122"/>
                <a:cs typeface="Consolas" pitchFamily="34" charset="-120"/>
              </a:rPr>
              <a:t>[DnCNN17 Table IV]</a:t>
            </a:r>
            <a:endParaRPr lang="en-US" sz="1052" dirty="0"/>
          </a:p>
        </p:txBody>
      </p:sp>
      <p:sp>
        <p:nvSpPr>
          <p:cNvPr id="16" name="Shape 14"/>
          <p:cNvSpPr/>
          <p:nvPr/>
        </p:nvSpPr>
        <p:spPr>
          <a:xfrm>
            <a:off x="8272485" y="2323765"/>
            <a:ext cx="8321" cy="1803288"/>
          </a:xfrm>
          <a:prstGeom prst="rect">
            <a:avLst/>
          </a:prstGeom>
          <a:solidFill>
            <a:srgbClr val="DFDBD2"/>
          </a:solidFill>
          <a:ln/>
        </p:spPr>
      </p:sp>
      <p:sp>
        <p:nvSpPr>
          <p:cNvPr id="17" name="Text 15"/>
          <p:cNvSpPr txBox="1"/>
          <p:nvPr/>
        </p:nvSpPr>
        <p:spPr>
          <a:xfrm>
            <a:off x="8531352" y="2323765"/>
            <a:ext cx="1491112"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1C6151"/>
                </a:solidFill>
                <a:latin typeface="Cambria" pitchFamily="34" charset="0"/>
                <a:ea typeface="Cambria" pitchFamily="34" charset="-122"/>
                <a:cs typeface="Cambria" pitchFamily="34" charset="-120"/>
              </a:rPr>
              <a:t>3 tasks</a:t>
            </a:r>
            <a:endParaRPr lang="en-US" sz="3945" dirty="0"/>
          </a:p>
        </p:txBody>
      </p:sp>
      <p:sp>
        <p:nvSpPr>
          <p:cNvPr id="18" name="Text 16"/>
          <p:cNvSpPr txBox="1"/>
          <p:nvPr/>
        </p:nvSpPr>
        <p:spPr>
          <a:xfrm>
            <a:off x="8531352" y="2923977"/>
            <a:ext cx="1318931"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ONE MODEL, ONE LOSS</a:t>
            </a:r>
            <a:endParaRPr lang="en-US" sz="822" dirty="0"/>
          </a:p>
        </p:txBody>
      </p:sp>
      <p:sp>
        <p:nvSpPr>
          <p:cNvPr id="19" name="Text 17"/>
          <p:cNvSpPr txBox="1"/>
          <p:nvPr/>
        </p:nvSpPr>
        <p:spPr>
          <a:xfrm>
            <a:off x="8531352" y="3128254"/>
            <a:ext cx="2836560" cy="829544"/>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DnCNN-3 handles denoising, super-resolution and JPEG deblocking by redefining v, beating a specialist baseline on all three. </a:t>
            </a:r>
            <a:pPr algn="l" indent="0" marL="0">
              <a:lnSpc>
                <a:spcPts val="1599"/>
              </a:lnSpc>
              <a:buNone/>
            </a:pPr>
            <a:r>
              <a:rPr kern="0" lang="en-US" sz="947" dirty="0">
                <a:solidFill>
                  <a:srgbClr val="145A66"/>
                </a:solidFill>
                <a:latin typeface="Consolas" pitchFamily="34" charset="0"/>
                <a:ea typeface="Consolas" pitchFamily="34" charset="-122"/>
                <a:cs typeface="Consolas" pitchFamily="34" charset="-120"/>
              </a:rPr>
              <a:t>[DnCNN17 §III-D, Table V]</a:t>
            </a:r>
            <a:endParaRPr lang="en-US" sz="1052" dirty="0"/>
          </a:p>
        </p:txBody>
      </p:sp>
      <p:sp>
        <p:nvSpPr>
          <p:cNvPr id="20" name="Shape 18"/>
          <p:cNvSpPr/>
          <p:nvPr/>
        </p:nvSpPr>
        <p:spPr>
          <a:xfrm>
            <a:off x="1636685" y="4327489"/>
            <a:ext cx="9953793" cy="8321"/>
          </a:xfrm>
          <a:prstGeom prst="rect">
            <a:avLst/>
          </a:prstGeom>
          <a:solidFill>
            <a:srgbClr val="DFDBD2"/>
          </a:solidFill>
          <a:ln/>
        </p:spPr>
      </p:sp>
      <p:sp>
        <p:nvSpPr>
          <p:cNvPr id="21" name="Text 19"/>
          <p:cNvSpPr txBox="1"/>
          <p:nvPr/>
        </p:nvSpPr>
        <p:spPr>
          <a:xfrm>
            <a:off x="1636685" y="4477817"/>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22" name="Text 20"/>
          <p:cNvSpPr txBox="1"/>
          <p:nvPr/>
        </p:nvSpPr>
        <p:spPr>
          <a:xfrm>
            <a:off x="1987448" y="4466295"/>
            <a:ext cx="994428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And it did it blind.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DnCNN-B reaches 29.16 dB without being told σ, beating every noise-level-specific competitor in the table. That is drawback 4 closed.</a:t>
            </a:r>
            <a:endParaRPr lang="en-US" sz="1216" dirty="0"/>
          </a:p>
        </p:txBody>
      </p:sp>
      <p:sp>
        <p:nvSpPr>
          <p:cNvPr id="23" name="Text 21"/>
          <p:cNvSpPr txBox="1"/>
          <p:nvPr/>
        </p:nvSpPr>
        <p:spPr>
          <a:xfrm>
            <a:off x="1636685" y="4843120"/>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4" name="Text 22"/>
          <p:cNvSpPr txBox="1"/>
          <p:nvPr/>
        </p:nvSpPr>
        <p:spPr>
          <a:xfrm>
            <a:off x="1987448" y="4831690"/>
            <a:ext cx="9658167" cy="490484"/>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Applications it opened: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real-time denoising in imaging pipelines; the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.pth</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checkpoint as a shippable artefact; and denoising as a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reusable component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a trained denoiser can be dropped into variable-splitting solvers as a general-purpose prior.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[SCUNet23 §1]</a:t>
            </a:r>
            <a:endParaRPr lang="en-US" sz="1216" dirty="0"/>
          </a:p>
        </p:txBody>
      </p:sp>
      <p:sp>
        <p:nvSpPr>
          <p:cNvPr id="25" name="Text 23"/>
          <p:cNvSpPr txBox="1"/>
          <p:nvPr/>
        </p:nvSpPr>
        <p:spPr>
          <a:xfrm>
            <a:off x="1636685" y="5460797"/>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6" name="Text 24"/>
          <p:cNvSpPr txBox="1"/>
          <p:nvPr/>
        </p:nvSpPr>
        <p:spPr>
          <a:xfrm>
            <a:off x="1987448" y="5449367"/>
            <a:ext cx="8277149"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What it was not.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On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real</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sensor noise DnCNN was never the leader — it scores 23.66 dB on SIDD. That gap is slide 21's subject.</a:t>
            </a:r>
            <a:endParaRPr lang="en-US" sz="1216" dirty="0"/>
          </a:p>
        </p:txBody>
      </p:sp>
      <p:sp>
        <p:nvSpPr>
          <p:cNvPr id="27" name="Text 25"/>
          <p:cNvSpPr txBox="1"/>
          <p:nvPr/>
        </p:nvSpPr>
        <p:spPr>
          <a:xfrm>
            <a:off x="9384030" y="6194511"/>
            <a:ext cx="220644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§IV-B, Table II, Table IV · SCUNet23 §1</a:t>
            </a:r>
            <a:endParaRPr lang="en-US" sz="855" dirty="0"/>
          </a:p>
        </p:txBody>
      </p:sp>
      <p:sp>
        <p:nvSpPr>
          <p:cNvPr id="28" name="Shape 26"/>
          <p:cNvSpPr/>
          <p:nvPr/>
        </p:nvSpPr>
        <p:spPr>
          <a:xfrm>
            <a:off x="1636685" y="6515466"/>
            <a:ext cx="9953793" cy="8321"/>
          </a:xfrm>
          <a:prstGeom prst="rect">
            <a:avLst/>
          </a:prstGeom>
          <a:solidFill>
            <a:srgbClr val="C9C4B9"/>
          </a:solidFill>
          <a:ln/>
        </p:spPr>
      </p:sp>
      <p:sp>
        <p:nvSpPr>
          <p:cNvPr id="29" name="Shape 27"/>
          <p:cNvSpPr/>
          <p:nvPr/>
        </p:nvSpPr>
        <p:spPr>
          <a:xfrm>
            <a:off x="6613581" y="6502938"/>
            <a:ext cx="1105784" cy="33376"/>
          </a:xfrm>
          <a:prstGeom prst="rect">
            <a:avLst/>
          </a:prstGeom>
          <a:solidFill>
            <a:srgbClr val="1C6151"/>
          </a:solidFill>
          <a:ln/>
        </p:spPr>
      </p:sp>
      <p:sp>
        <p:nvSpPr>
          <p:cNvPr id="30" name="Shape 28"/>
          <p:cNvSpPr/>
          <p:nvPr/>
        </p:nvSpPr>
        <p:spPr>
          <a:xfrm>
            <a:off x="1636685" y="6473678"/>
            <a:ext cx="8321" cy="41788"/>
          </a:xfrm>
          <a:prstGeom prst="rect">
            <a:avLst/>
          </a:prstGeom>
          <a:solidFill>
            <a:srgbClr val="C9C4B9"/>
          </a:solidFill>
          <a:ln/>
        </p:spPr>
      </p:sp>
      <p:sp>
        <p:nvSpPr>
          <p:cNvPr id="31" name="Text 29"/>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2" name="Shape 30"/>
          <p:cNvSpPr/>
          <p:nvPr/>
        </p:nvSpPr>
        <p:spPr>
          <a:xfrm>
            <a:off x="5507706" y="6473678"/>
            <a:ext cx="8321" cy="41788"/>
          </a:xfrm>
          <a:prstGeom prst="rect">
            <a:avLst/>
          </a:prstGeom>
          <a:solidFill>
            <a:srgbClr val="C9C4B9"/>
          </a:solidFill>
          <a:ln/>
        </p:spPr>
      </p:sp>
      <p:sp>
        <p:nvSpPr>
          <p:cNvPr id="33" name="Text 31"/>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4" name="Shape 32"/>
          <p:cNvSpPr/>
          <p:nvPr/>
        </p:nvSpPr>
        <p:spPr>
          <a:xfrm>
            <a:off x="7166884" y="6473678"/>
            <a:ext cx="8321" cy="41788"/>
          </a:xfrm>
          <a:prstGeom prst="rect">
            <a:avLst/>
          </a:prstGeom>
          <a:solidFill>
            <a:srgbClr val="C9C4B9"/>
          </a:solidFill>
          <a:ln/>
        </p:spPr>
      </p:sp>
      <p:sp>
        <p:nvSpPr>
          <p:cNvPr id="35" name="Text 33"/>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6" name="Shape 34"/>
          <p:cNvSpPr/>
          <p:nvPr/>
        </p:nvSpPr>
        <p:spPr>
          <a:xfrm>
            <a:off x="9931024" y="6473678"/>
            <a:ext cx="8321" cy="41788"/>
          </a:xfrm>
          <a:prstGeom prst="rect">
            <a:avLst/>
          </a:prstGeom>
          <a:solidFill>
            <a:srgbClr val="C9C4B9"/>
          </a:solidFill>
          <a:ln/>
        </p:spPr>
      </p:sp>
      <p:sp>
        <p:nvSpPr>
          <p:cNvPr id="37" name="Text 35"/>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8" name="Shape 36"/>
          <p:cNvSpPr/>
          <p:nvPr/>
        </p:nvSpPr>
        <p:spPr>
          <a:xfrm>
            <a:off x="11590477" y="6473678"/>
            <a:ext cx="8321" cy="41788"/>
          </a:xfrm>
          <a:prstGeom prst="rect">
            <a:avLst/>
          </a:prstGeom>
          <a:solidFill>
            <a:srgbClr val="C9C4B9"/>
          </a:solidFill>
          <a:ln/>
        </p:spPr>
      </p:sp>
      <p:sp>
        <p:nvSpPr>
          <p:cNvPr id="39" name="Text 37"/>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489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14</a:t>
            </a:r>
            <a:endParaRPr lang="en-US" sz="2893" dirty="0"/>
          </a:p>
        </p:txBody>
      </p:sp>
      <p:sp>
        <p:nvSpPr>
          <p:cNvPr id="3" name="Text 1"/>
          <p:cNvSpPr txBox="1"/>
          <p:nvPr/>
        </p:nvSpPr>
        <p:spPr>
          <a:xfrm rot="16200000">
            <a:off x="-386060" y="3428909"/>
            <a:ext cx="693115"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1C6151"/>
                </a:solidFill>
                <a:latin typeface="Calibri" pitchFamily="34" charset="0"/>
                <a:ea typeface="Calibri" pitchFamily="34" charset="-122"/>
                <a:cs typeface="Calibri" pitchFamily="34" charset="-120"/>
              </a:rPr>
              <a:t>DEEP CNN</a:t>
            </a:r>
            <a:endParaRPr lang="en-US" sz="789" dirty="0"/>
          </a:p>
        </p:txBody>
      </p:sp>
      <p:sp>
        <p:nvSpPr>
          <p:cNvPr id="4" name="Shape 2"/>
          <p:cNvSpPr/>
          <p:nvPr/>
        </p:nvSpPr>
        <p:spPr>
          <a:xfrm>
            <a:off x="1636685" y="492679"/>
            <a:ext cx="217079" cy="25055"/>
          </a:xfrm>
          <a:prstGeom prst="rect">
            <a:avLst/>
          </a:prstGeom>
          <a:solidFill>
            <a:srgbClr val="1C6151"/>
          </a:solidFill>
          <a:ln/>
        </p:spPr>
      </p:sp>
      <p:sp>
        <p:nvSpPr>
          <p:cNvPr id="5" name="Text 3"/>
          <p:cNvSpPr txBox="1"/>
          <p:nvPr/>
        </p:nvSpPr>
        <p:spPr>
          <a:xfrm>
            <a:off x="1953981" y="436443"/>
            <a:ext cx="145097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BOTTLENECKS 2 AND 3</a:t>
            </a:r>
            <a:endParaRPr lang="en-US" sz="888" dirty="0"/>
          </a:p>
        </p:txBody>
      </p:sp>
      <p:sp>
        <p:nvSpPr>
          <p:cNvPr id="6" name="Text 4"/>
          <p:cNvSpPr txBox="1"/>
          <p:nvPr/>
        </p:nvSpPr>
        <p:spPr>
          <a:xfrm>
            <a:off x="1636685" y="690281"/>
            <a:ext cx="728978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DnCNN broke, and the two bills it left</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This slide is the hinge of the whole talk. Everything after it is the field paying off these two debts — and they were paid off by two different communities, independently, and never merged.</a:t>
            </a:r>
            <a:endParaRPr lang="en-US" sz="1315" dirty="0"/>
          </a:p>
        </p:txBody>
      </p:sp>
      <p:sp>
        <p:nvSpPr>
          <p:cNvPr id="8" name="Shape 6"/>
          <p:cNvSpPr/>
          <p:nvPr/>
        </p:nvSpPr>
        <p:spPr>
          <a:xfrm>
            <a:off x="6613581" y="2226838"/>
            <a:ext cx="8321" cy="2632100"/>
          </a:xfrm>
          <a:prstGeom prst="rect">
            <a:avLst/>
          </a:prstGeom>
          <a:solidFill>
            <a:srgbClr val="DFDBD2"/>
          </a:solidFill>
          <a:ln/>
        </p:spPr>
      </p:sp>
      <p:sp>
        <p:nvSpPr>
          <p:cNvPr id="9" name="Shape 7"/>
          <p:cNvSpPr/>
          <p:nvPr/>
        </p:nvSpPr>
        <p:spPr>
          <a:xfrm>
            <a:off x="1636685" y="2226838"/>
            <a:ext cx="4793193" cy="16734"/>
          </a:xfrm>
          <a:prstGeom prst="rect">
            <a:avLst/>
          </a:prstGeom>
          <a:solidFill>
            <a:srgbClr val="1C6151"/>
          </a:solidFill>
          <a:ln/>
        </p:spPr>
      </p:sp>
      <p:sp>
        <p:nvSpPr>
          <p:cNvPr id="10" name="Text 8"/>
          <p:cNvSpPr txBox="1"/>
          <p:nvPr/>
        </p:nvSpPr>
        <p:spPr>
          <a:xfrm>
            <a:off x="1636685" y="2368936"/>
            <a:ext cx="2825405"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Bottleneck 2 — it needs clean data</a:t>
            </a:r>
            <a:endParaRPr lang="en-US" sz="1447" dirty="0"/>
          </a:p>
        </p:txBody>
      </p:sp>
      <p:sp>
        <p:nvSpPr>
          <p:cNvPr id="11" name="Shape 9"/>
          <p:cNvSpPr/>
          <p:nvPr/>
        </p:nvSpPr>
        <p:spPr>
          <a:xfrm>
            <a:off x="1636685" y="2769260"/>
            <a:ext cx="66843" cy="41788"/>
          </a:xfrm>
          <a:prstGeom prst="rect">
            <a:avLst/>
          </a:prstGeom>
          <a:solidFill>
            <a:srgbClr val="1C6151"/>
          </a:solidFill>
          <a:ln/>
        </p:spPr>
      </p:sp>
      <p:sp>
        <p:nvSpPr>
          <p:cNvPr id="12" name="Text 10"/>
          <p:cNvSpPr txBox="1"/>
          <p:nvPr/>
        </p:nvSpPr>
        <p:spPr>
          <a:xfrm>
            <a:off x="1803745" y="2699309"/>
            <a:ext cx="2598816"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The loss is ‖R(y) − (y − x)‖².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It requires x.</a:t>
            </a:r>
            <a:endParaRPr lang="en-US" sz="1216" dirty="0"/>
          </a:p>
        </p:txBody>
      </p:sp>
      <p:sp>
        <p:nvSpPr>
          <p:cNvPr id="13" name="Shape 11"/>
          <p:cNvSpPr/>
          <p:nvPr/>
        </p:nvSpPr>
        <p:spPr>
          <a:xfrm>
            <a:off x="1636685" y="3134563"/>
            <a:ext cx="66843" cy="41788"/>
          </a:xfrm>
          <a:prstGeom prst="rect">
            <a:avLst/>
          </a:prstGeom>
          <a:solidFill>
            <a:srgbClr val="1C6151"/>
          </a:solidFill>
          <a:ln/>
        </p:spPr>
      </p:sp>
      <p:sp>
        <p:nvSpPr>
          <p:cNvPr id="14" name="Text 12"/>
          <p:cNvSpPr txBox="1"/>
          <p:nvPr/>
        </p:nvSpPr>
        <p:spPr>
          <a:xfrm>
            <a:off x="1803745" y="3064612"/>
            <a:ext cx="4661337" cy="6952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For fluorescence microscopy, cryo-EM, MRI and astronomy a clean ground truth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does not exist and cannot be acquired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you cannot photograph the same cell noiselessly.</a:t>
            </a:r>
            <a:endParaRPr lang="en-US" sz="1216" dirty="0"/>
          </a:p>
        </p:txBody>
      </p:sp>
      <p:sp>
        <p:nvSpPr>
          <p:cNvPr id="15" name="Shape 13"/>
          <p:cNvSpPr/>
          <p:nvPr/>
        </p:nvSpPr>
        <p:spPr>
          <a:xfrm>
            <a:off x="1636685" y="3963375"/>
            <a:ext cx="66843" cy="41788"/>
          </a:xfrm>
          <a:prstGeom prst="rect">
            <a:avLst/>
          </a:prstGeom>
          <a:solidFill>
            <a:srgbClr val="1C6151"/>
          </a:solidFill>
          <a:ln/>
        </p:spPr>
      </p:sp>
      <p:sp>
        <p:nvSpPr>
          <p:cNvPr id="16" name="Text 14"/>
          <p:cNvSpPr txBox="1"/>
          <p:nvPr/>
        </p:nvSpPr>
        <p:spPr>
          <a:xfrm>
            <a:off x="1803745" y="3893424"/>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So the most valuable applications of denoising were the ones DnCNN could not serve.</a:t>
            </a:r>
            <a:endParaRPr lang="en-US" sz="1216" dirty="0"/>
          </a:p>
        </p:txBody>
      </p:sp>
      <p:sp>
        <p:nvSpPr>
          <p:cNvPr id="17" name="Shape 15"/>
          <p:cNvSpPr/>
          <p:nvPr/>
        </p:nvSpPr>
        <p:spPr>
          <a:xfrm>
            <a:off x="1636685" y="4560387"/>
            <a:ext cx="66843" cy="41788"/>
          </a:xfrm>
          <a:prstGeom prst="rect">
            <a:avLst/>
          </a:prstGeom>
          <a:solidFill>
            <a:srgbClr val="1C6151"/>
          </a:solidFill>
          <a:ln/>
        </p:spPr>
      </p:sp>
      <p:sp>
        <p:nvSpPr>
          <p:cNvPr id="18" name="Text 16"/>
          <p:cNvSpPr txBox="1"/>
          <p:nvPr/>
        </p:nvSpPr>
        <p:spPr>
          <a:xfrm>
            <a:off x="1803745" y="4490436"/>
            <a:ext cx="3622761"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 Answered by the data branch. Presenter 2, slide 19.</a:t>
            </a:r>
            <a:endParaRPr lang="en-US" sz="1216" dirty="0"/>
          </a:p>
        </p:txBody>
      </p:sp>
      <p:sp>
        <p:nvSpPr>
          <p:cNvPr id="19" name="Shape 17"/>
          <p:cNvSpPr/>
          <p:nvPr/>
        </p:nvSpPr>
        <p:spPr>
          <a:xfrm>
            <a:off x="6797284" y="2226838"/>
            <a:ext cx="4793193" cy="16734"/>
          </a:xfrm>
          <a:prstGeom prst="rect">
            <a:avLst/>
          </a:prstGeom>
          <a:solidFill>
            <a:srgbClr val="1C6151"/>
          </a:solidFill>
          <a:ln/>
        </p:spPr>
      </p:sp>
      <p:sp>
        <p:nvSpPr>
          <p:cNvPr id="20" name="Text 18"/>
          <p:cNvSpPr txBox="1"/>
          <p:nvPr/>
        </p:nvSpPr>
        <p:spPr>
          <a:xfrm>
            <a:off x="6797284" y="2368936"/>
            <a:ext cx="3269437"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Bottleneck 3 — it cannot see far enough</a:t>
            </a:r>
            <a:endParaRPr lang="en-US" sz="1447" dirty="0"/>
          </a:p>
        </p:txBody>
      </p:sp>
      <p:sp>
        <p:nvSpPr>
          <p:cNvPr id="21" name="Shape 19"/>
          <p:cNvSpPr/>
          <p:nvPr/>
        </p:nvSpPr>
        <p:spPr>
          <a:xfrm>
            <a:off x="6797284" y="2769260"/>
            <a:ext cx="66843" cy="41788"/>
          </a:xfrm>
          <a:prstGeom prst="rect">
            <a:avLst/>
          </a:prstGeom>
          <a:solidFill>
            <a:srgbClr val="1C6151"/>
          </a:solidFill>
          <a:ln/>
        </p:spPr>
      </p:sp>
      <p:sp>
        <p:nvSpPr>
          <p:cNvPr id="22" name="Text 20"/>
          <p:cNvSpPr txBox="1"/>
          <p:nvPr/>
        </p:nvSpPr>
        <p:spPr>
          <a:xfrm>
            <a:off x="6964253" y="2699309"/>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Receptive field is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35×35 pixels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chosen deliberately to match EPLL, the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smallest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effective patch size in the field. WNNM's is 361×361.</a:t>
            </a:r>
            <a:endParaRPr lang="en-US" sz="1216" dirty="0"/>
          </a:p>
        </p:txBody>
      </p:sp>
      <p:sp>
        <p:nvSpPr>
          <p:cNvPr id="23" name="Shape 21"/>
          <p:cNvSpPr/>
          <p:nvPr/>
        </p:nvSpPr>
        <p:spPr>
          <a:xfrm>
            <a:off x="6797284" y="3366272"/>
            <a:ext cx="66843" cy="41788"/>
          </a:xfrm>
          <a:prstGeom prst="rect">
            <a:avLst/>
          </a:prstGeom>
          <a:solidFill>
            <a:srgbClr val="1C6151"/>
          </a:solidFill>
          <a:ln/>
        </p:spPr>
      </p:sp>
      <p:sp>
        <p:nvSpPr>
          <p:cNvPr id="24" name="Text 22"/>
          <p:cNvSpPr txBox="1"/>
          <p:nvPr/>
        </p:nvSpPr>
        <p:spPr>
          <a:xfrm>
            <a:off x="6964253" y="3296321"/>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Visible in DnCNN's own Table III: on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Barbara</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it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loses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to BM3D by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0.71 dB</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the one Set12 image dominated by repetitive texture.</a:t>
            </a:r>
            <a:endParaRPr lang="en-US" sz="1216" dirty="0"/>
          </a:p>
        </p:txBody>
      </p:sp>
      <p:sp>
        <p:nvSpPr>
          <p:cNvPr id="25" name="Shape 23"/>
          <p:cNvSpPr/>
          <p:nvPr/>
        </p:nvSpPr>
        <p:spPr>
          <a:xfrm>
            <a:off x="6797284" y="3963375"/>
            <a:ext cx="66843" cy="41788"/>
          </a:xfrm>
          <a:prstGeom prst="rect">
            <a:avLst/>
          </a:prstGeom>
          <a:solidFill>
            <a:srgbClr val="1C6151"/>
          </a:solidFill>
          <a:ln/>
        </p:spPr>
      </p:sp>
      <p:sp>
        <p:nvSpPr>
          <p:cNvPr id="26" name="Text 24"/>
          <p:cNvSpPr txBox="1"/>
          <p:nvPr/>
        </p:nvSpPr>
        <p:spPr>
          <a:xfrm>
            <a:off x="6964253" y="3893424"/>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The paper explains it: repetitive images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meet well with the non-local similarity prior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that a 35×35 convolution stack cannot reach.</a:t>
            </a:r>
            <a:endParaRPr lang="en-US" sz="1216" dirty="0"/>
          </a:p>
        </p:txBody>
      </p:sp>
      <p:sp>
        <p:nvSpPr>
          <p:cNvPr id="27" name="Shape 25"/>
          <p:cNvSpPr/>
          <p:nvPr/>
        </p:nvSpPr>
        <p:spPr>
          <a:xfrm>
            <a:off x="6797284" y="4560387"/>
            <a:ext cx="66843" cy="41788"/>
          </a:xfrm>
          <a:prstGeom prst="rect">
            <a:avLst/>
          </a:prstGeom>
          <a:solidFill>
            <a:srgbClr val="1C6151"/>
          </a:solidFill>
          <a:ln/>
        </p:spPr>
      </p:sp>
      <p:sp>
        <p:nvSpPr>
          <p:cNvPr id="28" name="Text 26"/>
          <p:cNvSpPr txBox="1"/>
          <p:nvPr/>
        </p:nvSpPr>
        <p:spPr>
          <a:xfrm>
            <a:off x="6964253" y="4490436"/>
            <a:ext cx="413528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 Answered by the architecture branch. Presenter 2, slide 24.</a:t>
            </a:r>
            <a:endParaRPr lang="en-US" sz="1216" dirty="0"/>
          </a:p>
        </p:txBody>
      </p:sp>
      <p:sp>
        <p:nvSpPr>
          <p:cNvPr id="29" name="Shape 27"/>
          <p:cNvSpPr/>
          <p:nvPr/>
        </p:nvSpPr>
        <p:spPr>
          <a:xfrm>
            <a:off x="1636685" y="5092751"/>
            <a:ext cx="9953793" cy="16734"/>
          </a:xfrm>
          <a:prstGeom prst="rect">
            <a:avLst/>
          </a:prstGeom>
          <a:solidFill>
            <a:srgbClr val="1C6151"/>
          </a:solidFill>
          <a:ln/>
        </p:spPr>
      </p:sp>
      <p:sp>
        <p:nvSpPr>
          <p:cNvPr id="30" name="Text 28"/>
          <p:cNvSpPr txBox="1"/>
          <p:nvPr/>
        </p:nvSpPr>
        <p:spPr>
          <a:xfrm>
            <a:off x="1636685" y="5240975"/>
            <a:ext cx="8789670" cy="212964"/>
          </a:xfrm>
          <a:prstGeom prst="rect">
            <a:avLst/>
          </a:prstGeom>
          <a:noFill/>
          <a:ln/>
        </p:spPr>
        <p:txBody>
          <a:bodyPr wrap="non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A limitation visible in 2017, in the winning paper's own results table, that took until 2022 to fix.</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That is what an honest evolution story looks like.</a:t>
            </a:r>
            <a:endParaRPr lang="en-US" sz="1118" dirty="0"/>
          </a:p>
        </p:txBody>
      </p:sp>
      <p:sp>
        <p:nvSpPr>
          <p:cNvPr id="31" name="Text 29"/>
          <p:cNvSpPr txBox="1"/>
          <p:nvPr/>
        </p:nvSpPr>
        <p:spPr>
          <a:xfrm>
            <a:off x="9257477" y="6194511"/>
            <a:ext cx="23330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§III-A Eq. (1), Table I, Table III · N2V19 §1</a:t>
            </a:r>
            <a:endParaRPr lang="en-US" sz="855" dirty="0"/>
          </a:p>
        </p:txBody>
      </p:sp>
      <p:sp>
        <p:nvSpPr>
          <p:cNvPr id="32" name="Shape 30"/>
          <p:cNvSpPr/>
          <p:nvPr/>
        </p:nvSpPr>
        <p:spPr>
          <a:xfrm>
            <a:off x="1636685" y="6515466"/>
            <a:ext cx="9953793" cy="8321"/>
          </a:xfrm>
          <a:prstGeom prst="rect">
            <a:avLst/>
          </a:prstGeom>
          <a:solidFill>
            <a:srgbClr val="C9C4B9"/>
          </a:solidFill>
          <a:ln/>
        </p:spPr>
      </p:sp>
      <p:sp>
        <p:nvSpPr>
          <p:cNvPr id="33" name="Shape 31"/>
          <p:cNvSpPr/>
          <p:nvPr/>
        </p:nvSpPr>
        <p:spPr>
          <a:xfrm>
            <a:off x="6613581" y="6502938"/>
            <a:ext cx="1105784" cy="33376"/>
          </a:xfrm>
          <a:prstGeom prst="rect">
            <a:avLst/>
          </a:prstGeom>
          <a:solidFill>
            <a:srgbClr val="1C6151"/>
          </a:solidFill>
          <a:ln/>
        </p:spPr>
      </p:sp>
      <p:sp>
        <p:nvSpPr>
          <p:cNvPr id="34" name="Shape 32"/>
          <p:cNvSpPr/>
          <p:nvPr/>
        </p:nvSpPr>
        <p:spPr>
          <a:xfrm>
            <a:off x="1636685" y="6473678"/>
            <a:ext cx="8321" cy="41788"/>
          </a:xfrm>
          <a:prstGeom prst="rect">
            <a:avLst/>
          </a:prstGeom>
          <a:solidFill>
            <a:srgbClr val="C9C4B9"/>
          </a:solidFill>
          <a:ln/>
        </p:spPr>
      </p:sp>
      <p:sp>
        <p:nvSpPr>
          <p:cNvPr id="35" name="Text 33"/>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6" name="Shape 34"/>
          <p:cNvSpPr/>
          <p:nvPr/>
        </p:nvSpPr>
        <p:spPr>
          <a:xfrm>
            <a:off x="5507706" y="6473678"/>
            <a:ext cx="8321" cy="41788"/>
          </a:xfrm>
          <a:prstGeom prst="rect">
            <a:avLst/>
          </a:prstGeom>
          <a:solidFill>
            <a:srgbClr val="C9C4B9"/>
          </a:solidFill>
          <a:ln/>
        </p:spPr>
      </p:sp>
      <p:sp>
        <p:nvSpPr>
          <p:cNvPr id="37" name="Text 35"/>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8" name="Shape 36"/>
          <p:cNvSpPr/>
          <p:nvPr/>
        </p:nvSpPr>
        <p:spPr>
          <a:xfrm>
            <a:off x="7166884" y="6473678"/>
            <a:ext cx="8321" cy="41788"/>
          </a:xfrm>
          <a:prstGeom prst="rect">
            <a:avLst/>
          </a:prstGeom>
          <a:solidFill>
            <a:srgbClr val="C9C4B9"/>
          </a:solidFill>
          <a:ln/>
        </p:spPr>
      </p:sp>
      <p:sp>
        <p:nvSpPr>
          <p:cNvPr id="39" name="Text 37"/>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40" name="Shape 38"/>
          <p:cNvSpPr/>
          <p:nvPr/>
        </p:nvSpPr>
        <p:spPr>
          <a:xfrm>
            <a:off x="9931024" y="6473678"/>
            <a:ext cx="8321" cy="41788"/>
          </a:xfrm>
          <a:prstGeom prst="rect">
            <a:avLst/>
          </a:prstGeom>
          <a:solidFill>
            <a:srgbClr val="C9C4B9"/>
          </a:solidFill>
          <a:ln/>
        </p:spPr>
      </p:sp>
      <p:sp>
        <p:nvSpPr>
          <p:cNvPr id="41" name="Text 39"/>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42" name="Shape 40"/>
          <p:cNvSpPr/>
          <p:nvPr/>
        </p:nvSpPr>
        <p:spPr>
          <a:xfrm>
            <a:off x="11590477" y="6473678"/>
            <a:ext cx="8321" cy="41788"/>
          </a:xfrm>
          <a:prstGeom prst="rect">
            <a:avLst/>
          </a:prstGeom>
          <a:solidFill>
            <a:srgbClr val="C9C4B9"/>
          </a:solidFill>
          <a:ln/>
        </p:spPr>
      </p:sp>
      <p:sp>
        <p:nvSpPr>
          <p:cNvPr id="43" name="Text 41"/>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9282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15</a:t>
            </a:r>
            <a:endParaRPr lang="en-US" sz="2893" dirty="0"/>
          </a:p>
        </p:txBody>
      </p:sp>
      <p:sp>
        <p:nvSpPr>
          <p:cNvPr id="3" name="Shape 1"/>
          <p:cNvSpPr/>
          <p:nvPr/>
        </p:nvSpPr>
        <p:spPr>
          <a:xfrm>
            <a:off x="1636685" y="494416"/>
            <a:ext cx="217079" cy="25055"/>
          </a:xfrm>
          <a:prstGeom prst="rect">
            <a:avLst/>
          </a:prstGeom>
          <a:solidFill>
            <a:srgbClr val="14343F"/>
          </a:solidFill>
          <a:ln/>
        </p:spPr>
      </p:sp>
      <p:sp>
        <p:nvSpPr>
          <p:cNvPr id="4" name="Text 2"/>
          <p:cNvSpPr txBox="1"/>
          <p:nvPr/>
        </p:nvSpPr>
        <p:spPr>
          <a:xfrm>
            <a:off x="1953981" y="438089"/>
            <a:ext cx="169621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HANDOVER · PRESENTER 2</a:t>
            </a:r>
            <a:endParaRPr lang="en-US" sz="888" dirty="0"/>
          </a:p>
        </p:txBody>
      </p:sp>
      <p:sp>
        <p:nvSpPr>
          <p:cNvPr id="5" name="Text 3"/>
          <p:cNvSpPr txBox="1"/>
          <p:nvPr/>
        </p:nvSpPr>
        <p:spPr>
          <a:xfrm>
            <a:off x="1636685" y="977676"/>
            <a:ext cx="6569781"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2018: the field forks, and never merges</a:t>
            </a:r>
            <a:endParaRPr lang="en-US" sz="3025" dirty="0"/>
          </a:p>
        </p:txBody>
      </p:sp>
      <p:sp>
        <p:nvSpPr>
          <p:cNvPr id="6" name="Text 4"/>
          <p:cNvSpPr txBox="1"/>
          <p:nvPr/>
        </p:nvSpPr>
        <p:spPr>
          <a:xfrm>
            <a:off x="1636685" y="1816364"/>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Two debts, two communities, two independent answers. Neither branch has adopted the other's advance — which is itself one of the findings of this project, and the source of the open problem we end on.</a:t>
            </a:r>
            <a:endParaRPr lang="en-US" sz="1315" dirty="0"/>
          </a:p>
        </p:txBody>
      </p:sp>
      <p:sp>
        <p:nvSpPr>
          <p:cNvPr id="7" name="Shape 5"/>
          <p:cNvSpPr/>
          <p:nvPr/>
        </p:nvSpPr>
        <p:spPr>
          <a:xfrm>
            <a:off x="1636685" y="3089300"/>
            <a:ext cx="4793193" cy="16734"/>
          </a:xfrm>
          <a:prstGeom prst="rect">
            <a:avLst/>
          </a:prstGeom>
          <a:solidFill>
            <a:srgbClr val="14343F"/>
          </a:solidFill>
          <a:ln/>
        </p:spPr>
      </p:sp>
      <p:sp>
        <p:nvSpPr>
          <p:cNvPr id="8" name="Text 6"/>
          <p:cNvSpPr txBox="1"/>
          <p:nvPr/>
        </p:nvSpPr>
        <p:spPr>
          <a:xfrm>
            <a:off x="1636685" y="3239445"/>
            <a:ext cx="1457462"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BRANCH A · BOTTLENECK 2</a:t>
            </a:r>
            <a:endParaRPr lang="en-US" sz="756" dirty="0"/>
          </a:p>
        </p:txBody>
      </p:sp>
      <p:sp>
        <p:nvSpPr>
          <p:cNvPr id="9" name="Text 7"/>
          <p:cNvSpPr txBox="1"/>
          <p:nvPr/>
        </p:nvSpPr>
        <p:spPr>
          <a:xfrm>
            <a:off x="1636685" y="3431835"/>
            <a:ext cx="2876428"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Change what the network is </a:t>
            </a:r>
            <a:pPr algn="l" indent="0" marL="0">
              <a:lnSpc>
                <a:spcPts val="1707"/>
              </a:lnSpc>
              <a:buNone/>
            </a:pPr>
            <a:r>
              <a:rPr lang="en-US" sz="1447" b="1" i="1" spc="-26" kern="0" dirty="0">
                <a:solidFill>
                  <a:srgbClr val="14120F"/>
                </a:solidFill>
                <a:latin typeface="Cambria" pitchFamily="34" charset="0"/>
                <a:ea typeface="Cambria" pitchFamily="34" charset="-122"/>
                <a:cs typeface="Cambria" pitchFamily="34" charset="-120"/>
              </a:rPr>
              <a:t>shown</a:t>
            </a:r>
            <a:endParaRPr lang="en-US" sz="1447" dirty="0"/>
          </a:p>
        </p:txBody>
      </p:sp>
      <p:sp>
        <p:nvSpPr>
          <p:cNvPr id="10" name="Text 8"/>
          <p:cNvSpPr txBox="1"/>
          <p:nvPr/>
        </p:nvSpPr>
        <p:spPr>
          <a:xfrm>
            <a:off x="1636685" y="3760744"/>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Noise2Noise → Noise2Void → ZS-N2N → P2N. The architecture stays almost exactly where DnCNN left it; what moves is the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training target</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Each paper removes one more requirement until nothing is needed but the noisy image itself.</a:t>
            </a:r>
            <a:endParaRPr lang="en-US" sz="1085" dirty="0"/>
          </a:p>
        </p:txBody>
      </p:sp>
      <p:sp>
        <p:nvSpPr>
          <p:cNvPr id="11" name="Shape 9"/>
          <p:cNvSpPr/>
          <p:nvPr/>
        </p:nvSpPr>
        <p:spPr>
          <a:xfrm>
            <a:off x="6797284" y="3089300"/>
            <a:ext cx="4793193" cy="16734"/>
          </a:xfrm>
          <a:prstGeom prst="rect">
            <a:avLst/>
          </a:prstGeom>
          <a:solidFill>
            <a:srgbClr val="14343F"/>
          </a:solidFill>
          <a:ln/>
        </p:spPr>
      </p:sp>
      <p:sp>
        <p:nvSpPr>
          <p:cNvPr id="12" name="Text 10"/>
          <p:cNvSpPr txBox="1"/>
          <p:nvPr/>
        </p:nvSpPr>
        <p:spPr>
          <a:xfrm>
            <a:off x="6797284" y="3239445"/>
            <a:ext cx="1452982"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BRANCH B · BOTTLENECK 3</a:t>
            </a:r>
            <a:endParaRPr lang="en-US" sz="756" dirty="0"/>
          </a:p>
        </p:txBody>
      </p:sp>
      <p:sp>
        <p:nvSpPr>
          <p:cNvPr id="13" name="Text 11"/>
          <p:cNvSpPr txBox="1"/>
          <p:nvPr/>
        </p:nvSpPr>
        <p:spPr>
          <a:xfrm>
            <a:off x="6797284" y="3431835"/>
            <a:ext cx="229505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Change what the network </a:t>
            </a:r>
            <a:pPr algn="l" indent="0" marL="0">
              <a:lnSpc>
                <a:spcPts val="1707"/>
              </a:lnSpc>
              <a:buNone/>
            </a:pPr>
            <a:r>
              <a:rPr lang="en-US" sz="1447" b="1" i="1" spc="-26" kern="0" dirty="0">
                <a:solidFill>
                  <a:srgbClr val="14120F"/>
                </a:solidFill>
                <a:latin typeface="Cambria" pitchFamily="34" charset="0"/>
                <a:ea typeface="Cambria" pitchFamily="34" charset="-122"/>
                <a:cs typeface="Cambria" pitchFamily="34" charset="-120"/>
              </a:rPr>
              <a:t>is</a:t>
            </a:r>
            <a:endParaRPr lang="en-US" sz="1447" dirty="0"/>
          </a:p>
        </p:txBody>
      </p:sp>
      <p:sp>
        <p:nvSpPr>
          <p:cNvPr id="14" name="Text 12"/>
          <p:cNvSpPr txBox="1"/>
          <p:nvPr/>
        </p:nvSpPr>
        <p:spPr>
          <a:xfrm>
            <a:off x="6797284" y="3760744"/>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Restormer, NAFNet, SCUNet, MambaIR. Supervision stays exactly as DnCNN had it — paired data, same loss family. What moves is the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operator</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that replaces the 3×3 convolution.</a:t>
            </a:r>
            <a:endParaRPr lang="en-US" sz="1085" dirty="0"/>
          </a:p>
        </p:txBody>
      </p:sp>
      <p:sp>
        <p:nvSpPr>
          <p:cNvPr id="15" name="Shape 13"/>
          <p:cNvSpPr/>
          <p:nvPr/>
        </p:nvSpPr>
        <p:spPr>
          <a:xfrm>
            <a:off x="1636685" y="4679259"/>
            <a:ext cx="4793193" cy="16734"/>
          </a:xfrm>
          <a:prstGeom prst="rect">
            <a:avLst/>
          </a:prstGeom>
          <a:solidFill>
            <a:srgbClr val="14343F"/>
          </a:solidFill>
          <a:ln/>
        </p:spPr>
      </p:sp>
      <p:sp>
        <p:nvSpPr>
          <p:cNvPr id="16" name="Text 14"/>
          <p:cNvSpPr txBox="1"/>
          <p:nvPr/>
        </p:nvSpPr>
        <p:spPr>
          <a:xfrm>
            <a:off x="1636685" y="4829495"/>
            <a:ext cx="1967057"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THE EVIDENCE THEY NEVER MERGED</a:t>
            </a:r>
            <a:endParaRPr lang="en-US" sz="756" dirty="0"/>
          </a:p>
        </p:txBody>
      </p:sp>
      <p:sp>
        <p:nvSpPr>
          <p:cNvPr id="17" name="Text 15"/>
          <p:cNvSpPr txBox="1"/>
          <p:nvPr/>
        </p:nvSpPr>
        <p:spPr>
          <a:xfrm>
            <a:off x="1636685" y="5021793"/>
            <a:ext cx="2279142"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P2N ships the 2018 network</a:t>
            </a:r>
            <a:endParaRPr lang="en-US" sz="1447" dirty="0"/>
          </a:p>
        </p:txBody>
      </p:sp>
      <p:sp>
        <p:nvSpPr>
          <p:cNvPr id="18" name="Text 16"/>
          <p:cNvSpPr txBox="1"/>
          <p:nvPr/>
        </p:nvSpPr>
        <p:spPr>
          <a:xfrm>
            <a:off x="1636685" y="5350794"/>
            <a:ext cx="4829038" cy="644926"/>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In the official P2N repository the class is literally named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UNet_n2n_un</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with the 2018 Noise2Noise channel widths. Seven years, and the backbone is unchanged. </a:t>
            </a:r>
            <a:pPr algn="l" indent="0" marL="0">
              <a:lnSpc>
                <a:spcPts val="1649"/>
              </a:lnSpc>
              <a:buNone/>
            </a:pPr>
            <a:r>
              <a:rPr kern="0" lang="en-US" sz="976" dirty="0">
                <a:solidFill>
                  <a:srgbClr val="145A66"/>
                </a:solidFill>
                <a:latin typeface="Consolas" pitchFamily="34" charset="0"/>
                <a:ea typeface="Consolas" pitchFamily="34" charset="-122"/>
                <a:cs typeface="Consolas" pitchFamily="34" charset="-120"/>
              </a:rPr>
              <a:t>[measured]</a:t>
            </a:r>
            <a:endParaRPr lang="en-US" sz="1085" dirty="0"/>
          </a:p>
        </p:txBody>
      </p:sp>
      <p:sp>
        <p:nvSpPr>
          <p:cNvPr id="19" name="Shape 17"/>
          <p:cNvSpPr/>
          <p:nvPr/>
        </p:nvSpPr>
        <p:spPr>
          <a:xfrm>
            <a:off x="6797284" y="4679259"/>
            <a:ext cx="4793193" cy="16734"/>
          </a:xfrm>
          <a:prstGeom prst="rect">
            <a:avLst/>
          </a:prstGeom>
          <a:solidFill>
            <a:srgbClr val="14343F"/>
          </a:solidFill>
          <a:ln/>
        </p:spPr>
      </p:sp>
      <p:sp>
        <p:nvSpPr>
          <p:cNvPr id="20" name="Text 18"/>
          <p:cNvSpPr txBox="1"/>
          <p:nvPr/>
        </p:nvSpPr>
        <p:spPr>
          <a:xfrm>
            <a:off x="6797284" y="4829495"/>
            <a:ext cx="1138154"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THE OPEN QUESTION</a:t>
            </a:r>
            <a:endParaRPr lang="en-US" sz="756" dirty="0"/>
          </a:p>
        </p:txBody>
      </p:sp>
      <p:sp>
        <p:nvSpPr>
          <p:cNvPr id="21" name="Text 19"/>
          <p:cNvSpPr txBox="1"/>
          <p:nvPr/>
        </p:nvSpPr>
        <p:spPr>
          <a:xfrm>
            <a:off x="6797284" y="5021793"/>
            <a:ext cx="2292858"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Nobody has combined them</a:t>
            </a:r>
            <a:endParaRPr lang="en-US" sz="1447" dirty="0"/>
          </a:p>
        </p:txBody>
      </p:sp>
      <p:sp>
        <p:nvSpPr>
          <p:cNvPr id="22" name="Text 20"/>
          <p:cNvSpPr txBox="1"/>
          <p:nvPr/>
        </p:nvSpPr>
        <p:spPr>
          <a:xfrm>
            <a:off x="6797284" y="5350794"/>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As far as we found,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no published work trains a Transformer or state-space backbone under self-supervised RDC/DCS supervision.</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We return to this as a concrete proposal on slide 40.</a:t>
            </a:r>
            <a:endParaRPr lang="en-US" sz="1085" dirty="0"/>
          </a:p>
        </p:txBody>
      </p:sp>
      <p:sp>
        <p:nvSpPr>
          <p:cNvPr id="23" name="Text 21"/>
          <p:cNvSpPr txBox="1"/>
          <p:nvPr/>
        </p:nvSpPr>
        <p:spPr>
          <a:xfrm>
            <a:off x="7397313" y="6194511"/>
            <a:ext cx="419316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 the structural claim of this project · repository: Li-Tong-621/P2N-plus [measured]</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551383"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7E3247"/>
                </a:solidFill>
                <a:latin typeface="Cambria" pitchFamily="34" charset="0"/>
                <a:ea typeface="Cambria" pitchFamily="34" charset="-122"/>
                <a:cs typeface="Cambria" pitchFamily="34" charset="-120"/>
              </a:rPr>
              <a:t>3</a:t>
            </a:r>
            <a:endParaRPr lang="en-US" sz="8416" dirty="0"/>
          </a:p>
        </p:txBody>
      </p:sp>
      <p:sp>
        <p:nvSpPr>
          <p:cNvPr id="4" name="Shape 2"/>
          <p:cNvSpPr/>
          <p:nvPr/>
        </p:nvSpPr>
        <p:spPr>
          <a:xfrm>
            <a:off x="434249" y="1663294"/>
            <a:ext cx="1002091" cy="33376"/>
          </a:xfrm>
          <a:prstGeom prst="rect">
            <a:avLst/>
          </a:prstGeom>
          <a:solidFill>
            <a:srgbClr val="7E3247"/>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Removing the Clean Image</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158602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BRANCH A · 2018 – 2025</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213192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Noise2Noise — the statistical result</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71696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Noise2Void — the blind spot</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234735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ZS-N2N and P2N — down to one image</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164189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What self-supervision costs</a:t>
            </a:r>
            <a:endParaRPr lang="en-US" sz="1118" dirty="0"/>
          </a:p>
        </p:txBody>
      </p:sp>
      <p:sp>
        <p:nvSpPr>
          <p:cNvPr id="23" name="Text 21"/>
          <p:cNvSpPr txBox="1"/>
          <p:nvPr/>
        </p:nvSpPr>
        <p:spPr>
          <a:xfrm>
            <a:off x="5526999" y="3289737"/>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Four papers, each removing exactly one requirement its predecessor could not drop.</a:t>
            </a:r>
            <a:endParaRPr lang="en-US" sz="1085" dirty="0"/>
          </a:p>
        </p:txBody>
      </p:sp>
      <p:sp>
        <p:nvSpPr>
          <p:cNvPr id="24" name="Text 22"/>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§4</a:t>
            </a:r>
            <a:endParaRPr lang="en-US" sz="85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322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17</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254943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NOISE2NOISE · 2018 · BEFORE → AFTER</a:t>
            </a:r>
            <a:endParaRPr lang="en-US" sz="888" dirty="0"/>
          </a:p>
        </p:txBody>
      </p:sp>
      <p:sp>
        <p:nvSpPr>
          <p:cNvPr id="6" name="Text 4"/>
          <p:cNvSpPr txBox="1"/>
          <p:nvPr/>
        </p:nvSpPr>
        <p:spPr>
          <a:xfrm>
            <a:off x="1636685" y="690281"/>
            <a:ext cx="5647883"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A theorem worth one conditional</a:t>
            </a:r>
            <a:endParaRPr lang="en-US" sz="3025" dirty="0"/>
          </a:p>
        </p:txBody>
      </p:sp>
      <p:sp>
        <p:nvSpPr>
          <p:cNvPr id="7" name="Text 5"/>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Lehtinen et al., ICML 2018. The most striking ratio in this story: a substantial statistical result whose implementation change is a single branch on which tensor becomes the target.</a:t>
            </a:r>
            <a:endParaRPr lang="en-US" sz="1315" dirty="0"/>
          </a:p>
        </p:txBody>
      </p:sp>
      <p:sp>
        <p:nvSpPr>
          <p:cNvPr id="8" name="Shape 6"/>
          <p:cNvSpPr/>
          <p:nvPr/>
        </p:nvSpPr>
        <p:spPr>
          <a:xfrm>
            <a:off x="1773662" y="1976293"/>
            <a:ext cx="9679656" cy="3006181"/>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1773662" y="1976293"/>
            <a:ext cx="9679656" cy="8321"/>
          </a:xfrm>
          <a:prstGeom prst="rect">
            <a:avLst/>
          </a:prstGeom>
          <a:solidFill>
            <a:srgbClr val="C9C4B9"/>
          </a:solidFill>
          <a:ln/>
        </p:spPr>
      </p:sp>
      <p:sp>
        <p:nvSpPr>
          <p:cNvPr id="10" name="Shape 8"/>
          <p:cNvSpPr/>
          <p:nvPr/>
        </p:nvSpPr>
        <p:spPr>
          <a:xfrm>
            <a:off x="1773662" y="4974153"/>
            <a:ext cx="9679656" cy="8321"/>
          </a:xfrm>
          <a:prstGeom prst="rect">
            <a:avLst/>
          </a:prstGeom>
          <a:solidFill>
            <a:srgbClr val="C9C4B9"/>
          </a:solidFill>
          <a:ln/>
        </p:spPr>
      </p:sp>
      <p:sp>
        <p:nvSpPr>
          <p:cNvPr id="11" name="Shape 9"/>
          <p:cNvSpPr/>
          <p:nvPr/>
        </p:nvSpPr>
        <p:spPr>
          <a:xfrm>
            <a:off x="1773662" y="1976293"/>
            <a:ext cx="8321" cy="3006181"/>
          </a:xfrm>
          <a:prstGeom prst="rect">
            <a:avLst/>
          </a:prstGeom>
          <a:solidFill>
            <a:srgbClr val="C9C4B9"/>
          </a:solidFill>
          <a:ln/>
        </p:spPr>
      </p:sp>
      <p:sp>
        <p:nvSpPr>
          <p:cNvPr id="12" name="Shape 10"/>
          <p:cNvSpPr/>
          <p:nvPr/>
        </p:nvSpPr>
        <p:spPr>
          <a:xfrm>
            <a:off x="11444996" y="1976293"/>
            <a:ext cx="8321" cy="3006181"/>
          </a:xfrm>
          <a:prstGeom prst="rect">
            <a:avLst/>
          </a:prstGeom>
          <a:solidFill>
            <a:srgbClr val="C9C4B9"/>
          </a:solidFill>
          <a:ln/>
        </p:spPr>
      </p:sp>
      <p:pic>
        <p:nvPicPr>
          <p:cNvPr id="13" name="Image 0" descr="Noise2Noise's own result: training on noisy targets (orange) tracks clean-target training (blue) almost exactly.">    </p:cNvPr>
          <p:cNvPicPr>
            <a:picLocks noChangeAspect="1"/>
          </p:cNvPicPr>
          <p:nvPr/>
        </p:nvPicPr>
        <p:blipFill>
          <a:blip r:embed="rId1"/>
          <a:stretch>
            <a:fillRect/>
          </a:stretch>
        </p:blipFill>
        <p:spPr>
          <a:xfrm>
            <a:off x="1898934" y="2101566"/>
            <a:ext cx="9429110" cy="2755636"/>
          </a:xfrm>
          <a:prstGeom prst="rect">
            <a:avLst/>
          </a:prstGeom>
        </p:spPr>
      </p:pic>
      <p:sp>
        <p:nvSpPr>
          <p:cNvPr id="14" name="Text 11"/>
          <p:cNvSpPr txBox="1"/>
          <p:nvPr/>
        </p:nvSpPr>
        <p:spPr>
          <a:xfrm>
            <a:off x="3516325" y="5096866"/>
            <a:ext cx="6194328" cy="163678"/>
          </a:xfrm>
          <a:prstGeom prst="rect">
            <a:avLst/>
          </a:prstGeom>
          <a:noFill/>
          <a:ln/>
        </p:spPr>
        <p:txBody>
          <a:bodyPr wrap="non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Noise2Noise's own result: training on noisy targets (orange) tracks clean-target training (blue) almost exactly. [N2N18 · Fig. 1]</a:t>
            </a:r>
            <a:endParaRPr lang="en-US" sz="921" dirty="0"/>
          </a:p>
        </p:txBody>
      </p:sp>
      <p:sp>
        <p:nvSpPr>
          <p:cNvPr id="15" name="Text 12"/>
          <p:cNvSpPr txBox="1"/>
          <p:nvPr/>
        </p:nvSpPr>
        <p:spPr>
          <a:xfrm>
            <a:off x="10218329" y="6194511"/>
            <a:ext cx="137214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N2N18 §2, Eq. (2)–(6), Table 1</a:t>
            </a:r>
            <a:endParaRPr lang="en-US" sz="855"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7719365" y="6502938"/>
            <a:ext cx="3870930" cy="33376"/>
          </a:xfrm>
          <a:prstGeom prst="rect">
            <a:avLst/>
          </a:prstGeom>
          <a:solidFill>
            <a:srgbClr val="7E3247"/>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322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17</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254943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NOISE2NOISE · 2018 · BEFORE → AFTER</a:t>
            </a:r>
            <a:endParaRPr lang="en-US" sz="888" dirty="0"/>
          </a:p>
        </p:txBody>
      </p:sp>
      <p:sp>
        <p:nvSpPr>
          <p:cNvPr id="6" name="Text 4"/>
          <p:cNvSpPr txBox="1"/>
          <p:nvPr/>
        </p:nvSpPr>
        <p:spPr>
          <a:xfrm>
            <a:off x="4505615"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5647883"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A theorem worth one conditional</a:t>
            </a:r>
            <a:endParaRPr lang="en-US" sz="3025" dirty="0"/>
          </a:p>
        </p:txBody>
      </p:sp>
      <p:sp>
        <p:nvSpPr>
          <p:cNvPr id="8" name="Shape 6"/>
          <p:cNvSpPr/>
          <p:nvPr/>
        </p:nvSpPr>
        <p:spPr>
          <a:xfrm>
            <a:off x="1636685" y="1241481"/>
            <a:ext cx="5026091" cy="4172864"/>
          </a:xfrm>
          <a:prstGeom prst="rect">
            <a:avLst/>
          </a:prstGeom>
          <a:solidFill>
            <a:srgbClr val="F2F0E9"/>
          </a:solidFill>
          <a:ln/>
        </p:spPr>
      </p:sp>
      <p:sp>
        <p:nvSpPr>
          <p:cNvPr id="9" name="Shape 7"/>
          <p:cNvSpPr/>
          <p:nvPr/>
        </p:nvSpPr>
        <p:spPr>
          <a:xfrm>
            <a:off x="1636685" y="1241481"/>
            <a:ext cx="5026091" cy="25055"/>
          </a:xfrm>
          <a:prstGeom prst="rect">
            <a:avLst/>
          </a:prstGeom>
          <a:solidFill>
            <a:srgbClr val="7E3247"/>
          </a:solidFill>
          <a:ln/>
        </p:spPr>
      </p:sp>
      <p:sp>
        <p:nvSpPr>
          <p:cNvPr id="10" name="Text 8"/>
          <p:cNvSpPr txBox="1"/>
          <p:nvPr/>
        </p:nvSpPr>
        <p:spPr>
          <a:xfrm>
            <a:off x="1803745" y="1402324"/>
            <a:ext cx="1074877" cy="137526"/>
          </a:xfrm>
          <a:prstGeom prst="rect">
            <a:avLst/>
          </a:prstGeom>
          <a:noFill/>
          <a:ln/>
        </p:spPr>
        <p:txBody>
          <a:bodyPr wrap="none" lIns="0" tIns="0" rIns="0" bIns="0" rtlCol="0" anchor="t"/>
          <a:lstStyle/>
          <a:p>
            <a:pPr algn="l" indent="0" marL="0">
              <a:lnSpc>
                <a:spcPts val="1083"/>
              </a:lnSpc>
              <a:buNone/>
            </a:pPr>
            <a:r>
              <a:rPr kern="0" lang="en-US" sz="888" i="1" dirty="0">
                <a:solidFill>
                  <a:srgbClr val="8A847A"/>
                </a:solidFill>
                <a:latin typeface="Calibri" pitchFamily="34" charset="0"/>
                <a:ea typeface="Calibri" pitchFamily="34" charset="-122"/>
                <a:cs typeface="Calibri" pitchFamily="34" charset="-120"/>
              </a:rPr>
              <a:t>the change, in essence</a:t>
            </a:r>
            <a:endParaRPr lang="en-US" sz="888" dirty="0"/>
          </a:p>
        </p:txBody>
      </p:sp>
      <p:sp>
        <p:nvSpPr>
          <p:cNvPr id="11" name="Text 9"/>
          <p:cNvSpPr txBox="1"/>
          <p:nvPr/>
        </p:nvSpPr>
        <p:spPr>
          <a:xfrm>
            <a:off x="2037558" y="1626626"/>
            <a:ext cx="110277" cy="1634581"/>
          </a:xfrm>
          <a:prstGeom prst="rect">
            <a:avLst/>
          </a:prstGeom>
          <a:noFill/>
          <a:ln/>
        </p:spPr>
        <p:txBody>
          <a:bodyPr wrap="none" lIns="0" tIns="0" rIns="0" bIns="0" rtlCol="0" anchor="t"/>
          <a:lstStyle/>
          <a:p>
            <a:pPr algn="r" indent="0" marL="0">
              <a:lnSpc>
                <a:spcPts val="1430"/>
              </a:lnSpc>
              <a:buNone/>
            </a:pPr>
            <a:r>
              <a:rPr kern="0" lang="en-US" sz="789" b="1" dirty="0">
                <a:solidFill>
                  <a:srgbClr val="B5AFA4"/>
                </a:solidFill>
                <a:latin typeface="Consolas" pitchFamily="34" charset="0"/>
                <a:ea typeface="Consolas" pitchFamily="34" charset="-122"/>
                <a:cs typeface="Consolas" pitchFamily="34" charset="-120"/>
              </a:rPr>
              <a:t>1</a:t>
            </a:r>
            <a:endParaRPr lang="en-US" sz="789" dirty="0"/>
          </a:p>
          <a:p>
            <a:pPr algn="r" indent="0" marL="0">
              <a:lnSpc>
                <a:spcPts val="1430"/>
              </a:lnSpc>
              <a:buNone/>
            </a:pPr>
            <a:r>
              <a:rPr kern="0" lang="en-US" sz="789" dirty="0">
                <a:solidFill>
                  <a:srgbClr val="B5AFA4"/>
                </a:solidFill>
                <a:latin typeface="Consolas" pitchFamily="34" charset="0"/>
                <a:ea typeface="Consolas" pitchFamily="34" charset="-122"/>
                <a:cs typeface="Consolas" pitchFamily="34" charset="-120"/>
              </a:rPr>
              <a:t>2</a:t>
            </a:r>
            <a:endParaRPr lang="en-US" sz="789" dirty="0"/>
          </a:p>
          <a:p>
            <a:pPr algn="r" indent="0" marL="0">
              <a:lnSpc>
                <a:spcPts val="1430"/>
              </a:lnSpc>
              <a:buNone/>
            </a:pPr>
            <a:r>
              <a:rPr kern="0" lang="en-US" sz="789" dirty="0">
                <a:solidFill>
                  <a:srgbClr val="B5AFA4"/>
                </a:solidFill>
                <a:latin typeface="Consolas" pitchFamily="34" charset="0"/>
                <a:ea typeface="Consolas" pitchFamily="34" charset="-122"/>
                <a:cs typeface="Consolas" pitchFamily="34" charset="-120"/>
              </a:rPr>
              <a:t>3</a:t>
            </a:r>
            <a:endParaRPr lang="en-US" sz="789" dirty="0"/>
          </a:p>
          <a:p>
            <a:pPr algn="r" indent="0" marL="0">
              <a:lnSpc>
                <a:spcPts val="1430"/>
              </a:lnSpc>
              <a:buNone/>
            </a:pPr>
            <a:r>
              <a:rPr kern="0" lang="en-US" sz="789" dirty="0">
                <a:solidFill>
                  <a:srgbClr val="B5AFA4"/>
                </a:solidFill>
                <a:latin typeface="Consolas" pitchFamily="34" charset="0"/>
                <a:ea typeface="Consolas" pitchFamily="34" charset="-122"/>
                <a:cs typeface="Consolas" pitchFamily="34" charset="-120"/>
              </a:rPr>
              <a:t>4</a:t>
            </a:r>
            <a:endParaRPr lang="en-US" sz="789" dirty="0"/>
          </a:p>
          <a:p>
            <a:pPr algn="r" indent="0" marL="0">
              <a:lnSpc>
                <a:spcPts val="1430"/>
              </a:lnSpc>
              <a:buNone/>
            </a:pPr>
            <a:r>
              <a:rPr kern="0" lang="en-US" sz="789" b="1" dirty="0">
                <a:solidFill>
                  <a:srgbClr val="B5AFA4"/>
                </a:solidFill>
                <a:latin typeface="Consolas" pitchFamily="34" charset="0"/>
                <a:ea typeface="Consolas" pitchFamily="34" charset="-122"/>
                <a:cs typeface="Consolas" pitchFamily="34" charset="-120"/>
              </a:rPr>
              <a:t>5</a:t>
            </a:r>
            <a:endParaRPr lang="en-US" sz="789" dirty="0"/>
          </a:p>
          <a:p>
            <a:pPr algn="r" indent="0" marL="0">
              <a:lnSpc>
                <a:spcPts val="1430"/>
              </a:lnSpc>
              <a:buNone/>
            </a:pPr>
            <a:r>
              <a:rPr kern="0" lang="en-US" sz="789" b="1" dirty="0">
                <a:solidFill>
                  <a:srgbClr val="B5AFA4"/>
                </a:solidFill>
                <a:latin typeface="Consolas" pitchFamily="34" charset="0"/>
                <a:ea typeface="Consolas" pitchFamily="34" charset="-122"/>
                <a:cs typeface="Consolas" pitchFamily="34" charset="-120"/>
              </a:rPr>
              <a:t>6</a:t>
            </a:r>
            <a:endParaRPr lang="en-US" sz="789" dirty="0"/>
          </a:p>
          <a:p>
            <a:pPr algn="r" indent="0" marL="0">
              <a:lnSpc>
                <a:spcPts val="1430"/>
              </a:lnSpc>
              <a:buNone/>
            </a:pPr>
            <a:r>
              <a:rPr kern="0" lang="en-US" sz="789" dirty="0">
                <a:solidFill>
                  <a:srgbClr val="B5AFA4"/>
                </a:solidFill>
                <a:latin typeface="Consolas" pitchFamily="34" charset="0"/>
                <a:ea typeface="Consolas" pitchFamily="34" charset="-122"/>
                <a:cs typeface="Consolas" pitchFamily="34" charset="-120"/>
              </a:rPr>
              <a:t>7</a:t>
            </a:r>
            <a:endParaRPr lang="en-US" sz="789" dirty="0"/>
          </a:p>
          <a:p>
            <a:pPr algn="r" indent="0" marL="0">
              <a:lnSpc>
                <a:spcPts val="1430"/>
              </a:lnSpc>
              <a:buNone/>
            </a:pPr>
            <a:r>
              <a:rPr kern="0" lang="en-US" sz="789" dirty="0">
                <a:solidFill>
                  <a:srgbClr val="B5AFA4"/>
                </a:solidFill>
                <a:latin typeface="Consolas" pitchFamily="34" charset="0"/>
                <a:ea typeface="Consolas" pitchFamily="34" charset="-122"/>
                <a:cs typeface="Consolas" pitchFamily="34" charset="-120"/>
              </a:rPr>
              <a:t>8</a:t>
            </a:r>
            <a:endParaRPr lang="en-US" sz="789" dirty="0"/>
          </a:p>
          <a:p>
            <a:pPr algn="r" indent="0" marL="0">
              <a:lnSpc>
                <a:spcPts val="1430"/>
              </a:lnSpc>
              <a:buNone/>
            </a:pPr>
            <a:r>
              <a:rPr kern="0" lang="en-US" sz="789" b="1" dirty="0">
                <a:solidFill>
                  <a:srgbClr val="B5AFA4"/>
                </a:solidFill>
                <a:latin typeface="Consolas" pitchFamily="34" charset="0"/>
                <a:ea typeface="Consolas" pitchFamily="34" charset="-122"/>
                <a:cs typeface="Consolas" pitchFamily="34" charset="-120"/>
              </a:rPr>
              <a:t>9</a:t>
            </a:r>
            <a:endParaRPr lang="en-US" sz="789" dirty="0"/>
          </a:p>
        </p:txBody>
      </p:sp>
      <p:sp>
        <p:nvSpPr>
          <p:cNvPr id="12" name="Text 10"/>
          <p:cNvSpPr txBox="1"/>
          <p:nvPr/>
        </p:nvSpPr>
        <p:spPr>
          <a:xfrm>
            <a:off x="2087575" y="1635039"/>
            <a:ext cx="4458523" cy="1634581"/>
          </a:xfrm>
          <a:prstGeom prst="rect">
            <a:avLst/>
          </a:prstGeom>
          <a:noFill/>
          <a:ln/>
        </p:spPr>
        <p:txBody>
          <a:bodyPr wrap="none" lIns="0" tIns="0" rIns="0" bIns="0" rtlCol="0" anchor="t"/>
          <a:lstStyle/>
          <a:p>
            <a:pPr algn="l" indent="0" marL="0">
              <a:lnSpc>
                <a:spcPts val="1430"/>
              </a:lnSpc>
              <a:buNone/>
            </a:pPr>
            <a:r>
              <a:rPr kern="0" lang="en-US" sz="953" b="1" dirty="0">
                <a:solidFill>
                  <a:srgbClr val="7E3247"/>
                </a:solidFill>
                <a:latin typeface="Consolas" pitchFamily="34" charset="0"/>
                <a:ea typeface="Consolas" pitchFamily="34" charset="-122"/>
                <a:cs typeface="Consolas" pitchFamily="34" charset="-120"/>
              </a:rPr>
              <a:t># BEFORE — supervised (DnCNN, 2017)</a:t>
            </a:r>
            <a:endParaRPr lang="en-US" sz="953" dirty="0"/>
          </a:p>
          <a:p>
            <a:pPr algn="l" indent="0" marL="0">
              <a:lnSpc>
                <a:spcPts val="1430"/>
              </a:lnSpc>
              <a:buNone/>
            </a:pPr>
            <a:r>
              <a:rPr kern="0" lang="en-US" sz="953" dirty="0">
                <a:solidFill>
                  <a:srgbClr val="211F1B"/>
                </a:solidFill>
                <a:latin typeface="Consolas" pitchFamily="34" charset="0"/>
                <a:ea typeface="Consolas" pitchFamily="34" charset="-122"/>
                <a:cs typeface="Consolas" pitchFamily="34" charset="-120"/>
              </a:rPr>
              <a:t>target = clean                      # requires ground truth</a:t>
            </a:r>
            <a:endParaRPr lang="en-US" sz="953" dirty="0"/>
          </a:p>
          <a:p>
            <a:pPr algn="l" indent="0" marL="0">
              <a:lnSpc>
                <a:spcPts val="1430"/>
              </a:lnSpc>
              <a:buNone/>
            </a:pPr>
            <a:r>
              <a:rPr kern="0" lang="en-US" sz="953" dirty="0">
                <a:solidFill>
                  <a:srgbClr val="211F1B"/>
                </a:solidFill>
                <a:latin typeface="Consolas" pitchFamily="34" charset="0"/>
                <a:ea typeface="Consolas" pitchFamily="34" charset="-122"/>
                <a:cs typeface="Consolas" pitchFamily="34" charset="-120"/>
              </a:rPr>
              <a:t>loss   = mse(net(noisy), target)</a:t>
            </a:r>
            <a:endParaRPr lang="en-US" sz="953" dirty="0"/>
          </a:p>
          <a:p>
            <a:pPr algn="l" indent="0" marL="0">
              <a:lnSpc>
                <a:spcPts val="1430"/>
              </a:lnSpc>
              <a:buNone/>
            </a:pPr>
            <a:r>
              <a:rPr kern="0" lang="en-US" sz="953" dirty="0">
                <a:solidFill>
                  <a:srgbClr val="211F1B"/>
                </a:solidFill>
                <a:latin typeface="Consolas" pitchFamily="34" charset="0"/>
                <a:ea typeface="Consolas" pitchFamily="34" charset="-122"/>
                <a:cs typeface="Consolas" pitchFamily="34" charset="-120"/>
              </a:rPr>
              <a:t> </a:t>
            </a:r>
            <a:endParaRPr lang="en-US" sz="953" dirty="0"/>
          </a:p>
          <a:p>
            <a:pPr algn="l" indent="0" marL="0">
              <a:lnSpc>
                <a:spcPts val="1430"/>
              </a:lnSpc>
              <a:buNone/>
            </a:pPr>
            <a:r>
              <a:rPr kern="0" lang="en-US" sz="953" b="1" dirty="0">
                <a:solidFill>
                  <a:srgbClr val="7E3247"/>
                </a:solidFill>
                <a:latin typeface="Consolas" pitchFamily="34" charset="0"/>
                <a:ea typeface="Consolas" pitchFamily="34" charset="-122"/>
                <a:cs typeface="Consolas" pitchFamily="34" charset="-120"/>
              </a:rPr>
              <a:t># AFTER — Noise2Noise (2018)</a:t>
            </a:r>
            <a:endParaRPr lang="en-US" sz="953" dirty="0"/>
          </a:p>
          <a:p>
            <a:pPr algn="l" indent="0" marL="0">
              <a:lnSpc>
                <a:spcPts val="1430"/>
              </a:lnSpc>
              <a:buNone/>
            </a:pPr>
            <a:r>
              <a:rPr kern="0" lang="en-US" sz="953" b="1" dirty="0">
                <a:solidFill>
                  <a:srgbClr val="7E3247"/>
                </a:solidFill>
                <a:latin typeface="Consolas" pitchFamily="34" charset="0"/>
                <a:ea typeface="Consolas" pitchFamily="34" charset="-122"/>
                <a:cs typeface="Consolas" pitchFamily="34" charset="-120"/>
              </a:rPr>
              <a:t>target = second_noisy_shot          # ← the entire change</a:t>
            </a:r>
            <a:endParaRPr lang="en-US" sz="953" dirty="0"/>
          </a:p>
          <a:p>
            <a:pPr algn="l" indent="0" marL="0">
              <a:lnSpc>
                <a:spcPts val="1430"/>
              </a:lnSpc>
              <a:buNone/>
            </a:pPr>
            <a:r>
              <a:rPr kern="0" lang="en-US" sz="953" dirty="0">
                <a:solidFill>
                  <a:srgbClr val="211F1B"/>
                </a:solidFill>
                <a:latin typeface="Consolas" pitchFamily="34" charset="0"/>
                <a:ea typeface="Consolas" pitchFamily="34" charset="-122"/>
                <a:cs typeface="Consolas" pitchFamily="34" charset="-120"/>
              </a:rPr>
              <a:t>loss   = mse(net(noisy), target)</a:t>
            </a:r>
            <a:endParaRPr lang="en-US" sz="953" dirty="0"/>
          </a:p>
          <a:p>
            <a:pPr algn="l" indent="0" marL="0">
              <a:lnSpc>
                <a:spcPts val="1430"/>
              </a:lnSpc>
              <a:buNone/>
            </a:pPr>
            <a:r>
              <a:rPr kern="0" lang="en-US" sz="953" dirty="0">
                <a:solidFill>
                  <a:srgbClr val="211F1B"/>
                </a:solidFill>
                <a:latin typeface="Consolas" pitchFamily="34" charset="0"/>
                <a:ea typeface="Consolas" pitchFamily="34" charset="-122"/>
                <a:cs typeface="Consolas" pitchFamily="34" charset="-120"/>
              </a:rPr>
              <a:t> </a:t>
            </a:r>
            <a:endParaRPr lang="en-US" sz="953" dirty="0"/>
          </a:p>
          <a:p>
            <a:pPr algn="l" indent="0" marL="0">
              <a:lnSpc>
                <a:spcPts val="1430"/>
              </a:lnSpc>
              <a:buNone/>
            </a:pPr>
            <a:r>
              <a:rPr kern="0" lang="en-US" sz="953" b="1" dirty="0">
                <a:solidFill>
                  <a:srgbClr val="7E3247"/>
                </a:solidFill>
                <a:latin typeface="Consolas" pitchFamily="34" charset="0"/>
                <a:ea typeface="Consolas" pitchFamily="34" charset="-122"/>
                <a:cs typeface="Consolas" pitchFamily="34" charset="-120"/>
              </a:rPr>
              <a:t># network, optimiser, schedule, loss family: all unchanged</a:t>
            </a:r>
            <a:endParaRPr lang="en-US" sz="953" dirty="0"/>
          </a:p>
        </p:txBody>
      </p:sp>
      <p:sp>
        <p:nvSpPr>
          <p:cNvPr id="13" name="Shape 11"/>
          <p:cNvSpPr/>
          <p:nvPr/>
        </p:nvSpPr>
        <p:spPr>
          <a:xfrm>
            <a:off x="6980072" y="1241481"/>
            <a:ext cx="8321" cy="4172864"/>
          </a:xfrm>
          <a:prstGeom prst="rect">
            <a:avLst/>
          </a:prstGeom>
          <a:solidFill>
            <a:srgbClr val="DFDBD2"/>
          </a:solidFill>
          <a:ln/>
        </p:spPr>
      </p:sp>
      <p:sp>
        <p:nvSpPr>
          <p:cNvPr id="14" name="Shape 12"/>
          <p:cNvSpPr/>
          <p:nvPr/>
        </p:nvSpPr>
        <p:spPr>
          <a:xfrm>
            <a:off x="7305782" y="1241481"/>
            <a:ext cx="4284604" cy="8321"/>
          </a:xfrm>
          <a:prstGeom prst="rect">
            <a:avLst/>
          </a:prstGeom>
          <a:solidFill>
            <a:srgbClr val="DFDBD2"/>
          </a:solidFill>
          <a:ln/>
        </p:spPr>
      </p:sp>
      <p:sp>
        <p:nvSpPr>
          <p:cNvPr id="15" name="Text 13"/>
          <p:cNvSpPr txBox="1"/>
          <p:nvPr/>
        </p:nvSpPr>
        <p:spPr>
          <a:xfrm>
            <a:off x="7305782" y="1391808"/>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6" name="Text 14"/>
          <p:cNvSpPr txBox="1"/>
          <p:nvPr/>
        </p:nvSpPr>
        <p:spPr>
          <a:xfrm>
            <a:off x="7656454" y="1380287"/>
            <a:ext cx="3966301" cy="1158636"/>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it works.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L2 regression learns the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conditional mean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of the target. The paper states the consequence as a triviality: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on expectation, the estimate remains unchanged if we replace the targets with random numbers whose expectations match the targets.</a:t>
            </a:r>
            <a:endParaRPr lang="en-US" sz="1216" dirty="0"/>
          </a:p>
        </p:txBody>
      </p:sp>
      <p:sp>
        <p:nvSpPr>
          <p:cNvPr id="17" name="Text 15"/>
          <p:cNvSpPr txBox="1"/>
          <p:nvPr/>
        </p:nvSpPr>
        <p:spPr>
          <a:xfrm>
            <a:off x="7305782" y="2684038"/>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8" name="Text 16"/>
          <p:cNvSpPr txBox="1"/>
          <p:nvPr/>
        </p:nvSpPr>
        <p:spPr>
          <a:xfrm>
            <a:off x="7656454" y="2672517"/>
            <a:ext cx="3966301" cy="926927"/>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So a second noisy photograph of the same scene is a valid target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because the noise is zero-mean. Given infinite data the solution is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identical</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to clean-target training; for finite data the extra variance shrinks with dataset size.</a:t>
            </a:r>
            <a:endParaRPr lang="en-US" sz="1216" dirty="0"/>
          </a:p>
        </p:txBody>
      </p:sp>
      <p:sp>
        <p:nvSpPr>
          <p:cNvPr id="19" name="Text 17"/>
          <p:cNvSpPr txBox="1"/>
          <p:nvPr/>
        </p:nvSpPr>
        <p:spPr>
          <a:xfrm>
            <a:off x="7305782" y="3744559"/>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0" name="Text 18"/>
          <p:cNvSpPr txBox="1"/>
          <p:nvPr/>
        </p:nvSpPr>
        <p:spPr>
          <a:xfrm>
            <a:off x="7656454" y="3733038"/>
            <a:ext cx="3966301"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What it does NOT need: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no likelihood model of the corruption, no density model of clean images.</a:t>
            </a:r>
            <a:endParaRPr lang="en-US" sz="1216" dirty="0"/>
          </a:p>
        </p:txBody>
      </p:sp>
      <p:sp>
        <p:nvSpPr>
          <p:cNvPr id="21" name="Text 19"/>
          <p:cNvSpPr txBox="1"/>
          <p:nvPr/>
        </p:nvSpPr>
        <p:spPr>
          <a:xfrm>
            <a:off x="7305782" y="4341571"/>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22" name="Text 20"/>
          <p:cNvSpPr txBox="1"/>
          <p:nvPr/>
        </p:nvSpPr>
        <p:spPr>
          <a:xfrm>
            <a:off x="7656454" y="4330141"/>
            <a:ext cx="3966301" cy="953902"/>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Measured cost: 0.02 dB.</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Kodak/BSD300/Set14 at σ=25 — clean targets 31.63, noisy targets 31.61. The clean-data requirement was never actually necessary.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[N2N18 Table 1]</a:t>
            </a:r>
            <a:endParaRPr lang="en-US" sz="1216" dirty="0"/>
          </a:p>
        </p:txBody>
      </p:sp>
      <p:sp>
        <p:nvSpPr>
          <p:cNvPr id="23" name="Text 21"/>
          <p:cNvSpPr txBox="1"/>
          <p:nvPr/>
        </p:nvSpPr>
        <p:spPr>
          <a:xfrm>
            <a:off x="10218329" y="6194511"/>
            <a:ext cx="137214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N2N18 §2, Eq. (2)–(6), Table 1</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7719365" y="6502938"/>
            <a:ext cx="3870930" cy="33376"/>
          </a:xfrm>
          <a:prstGeom prst="rect">
            <a:avLst/>
          </a:prstGeom>
          <a:solidFill>
            <a:srgbClr val="7E3247"/>
          </a:solidFill>
          <a:ln/>
        </p:spPr>
      </p:sp>
      <p:sp>
        <p:nvSpPr>
          <p:cNvPr id="26" name="Shape 24"/>
          <p:cNvSpPr/>
          <p:nvPr/>
        </p:nvSpPr>
        <p:spPr>
          <a:xfrm>
            <a:off x="1636685" y="6473678"/>
            <a:ext cx="8321" cy="41788"/>
          </a:xfrm>
          <a:prstGeom prst="rect">
            <a:avLst/>
          </a:prstGeom>
          <a:solidFill>
            <a:srgbClr val="C9C4B9"/>
          </a:solidFill>
          <a:ln/>
        </p:spPr>
      </p:sp>
      <p:sp>
        <p:nvSpPr>
          <p:cNvPr id="27" name="Text 2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8" name="Shape 26"/>
          <p:cNvSpPr/>
          <p:nvPr/>
        </p:nvSpPr>
        <p:spPr>
          <a:xfrm>
            <a:off x="5507706" y="6473678"/>
            <a:ext cx="8321" cy="41788"/>
          </a:xfrm>
          <a:prstGeom prst="rect">
            <a:avLst/>
          </a:prstGeom>
          <a:solidFill>
            <a:srgbClr val="C9C4B9"/>
          </a:solidFill>
          <a:ln/>
        </p:spPr>
      </p:sp>
      <p:sp>
        <p:nvSpPr>
          <p:cNvPr id="29" name="Text 2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0" name="Shape 28"/>
          <p:cNvSpPr/>
          <p:nvPr/>
        </p:nvSpPr>
        <p:spPr>
          <a:xfrm>
            <a:off x="7166884" y="6473678"/>
            <a:ext cx="8321" cy="41788"/>
          </a:xfrm>
          <a:prstGeom prst="rect">
            <a:avLst/>
          </a:prstGeom>
          <a:solidFill>
            <a:srgbClr val="C9C4B9"/>
          </a:solidFill>
          <a:ln/>
        </p:spPr>
      </p:sp>
      <p:sp>
        <p:nvSpPr>
          <p:cNvPr id="31" name="Text 2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2" name="Shape 30"/>
          <p:cNvSpPr/>
          <p:nvPr/>
        </p:nvSpPr>
        <p:spPr>
          <a:xfrm>
            <a:off x="9931024" y="6473678"/>
            <a:ext cx="8321" cy="41788"/>
          </a:xfrm>
          <a:prstGeom prst="rect">
            <a:avLst/>
          </a:prstGeom>
          <a:solidFill>
            <a:srgbClr val="C9C4B9"/>
          </a:solidFill>
          <a:ln/>
        </p:spPr>
      </p:sp>
      <p:sp>
        <p:nvSpPr>
          <p:cNvPr id="33" name="Text 3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4" name="Shape 32"/>
          <p:cNvSpPr/>
          <p:nvPr/>
        </p:nvSpPr>
        <p:spPr>
          <a:xfrm>
            <a:off x="11590477" y="6473678"/>
            <a:ext cx="8321" cy="41788"/>
          </a:xfrm>
          <a:prstGeom prst="rect">
            <a:avLst/>
          </a:prstGeom>
          <a:solidFill>
            <a:srgbClr val="C9C4B9"/>
          </a:solidFill>
          <a:ln/>
        </p:spPr>
      </p:sp>
      <p:sp>
        <p:nvSpPr>
          <p:cNvPr id="35" name="Text 3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16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18</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3334"/>
            <a:ext cx="190927" cy="22037"/>
          </a:xfrm>
          <a:prstGeom prst="rect">
            <a:avLst/>
          </a:prstGeom>
          <a:solidFill>
            <a:srgbClr val="7E3247"/>
          </a:solidFill>
          <a:ln/>
        </p:spPr>
      </p:sp>
      <p:sp>
        <p:nvSpPr>
          <p:cNvPr id="5" name="Text 3"/>
          <p:cNvSpPr txBox="1"/>
          <p:nvPr/>
        </p:nvSpPr>
        <p:spPr>
          <a:xfrm>
            <a:off x="1718615" y="383865"/>
            <a:ext cx="218523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NOISE2VOID · 2019 · BEFORE → AFTER</a:t>
            </a:r>
            <a:endParaRPr lang="en-US" sz="781" dirty="0"/>
          </a:p>
        </p:txBody>
      </p:sp>
      <p:sp>
        <p:nvSpPr>
          <p:cNvPr id="6" name="Text 4"/>
          <p:cNvSpPr txBox="1"/>
          <p:nvPr/>
        </p:nvSpPr>
        <p:spPr>
          <a:xfrm>
            <a:off x="1439540" y="607070"/>
            <a:ext cx="7151157"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N2V vs N2N — removing the second photograph</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Krull et al., CVPR 2019. Noise2Noise still needs two independent shots of one scene, which rules out anything that moves and every archival image. N2V removes that too — and pays for it.</a:t>
            </a:r>
            <a:endParaRPr lang="en-US" sz="1157" dirty="0"/>
          </a:p>
        </p:txBody>
      </p:sp>
      <p:sp>
        <p:nvSpPr>
          <p:cNvPr id="8" name="Shape 6"/>
          <p:cNvSpPr/>
          <p:nvPr/>
        </p:nvSpPr>
        <p:spPr>
          <a:xfrm>
            <a:off x="4216116" y="1958553"/>
            <a:ext cx="4670024"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4216116" y="1958553"/>
            <a:ext cx="4670024" cy="7315"/>
          </a:xfrm>
          <a:prstGeom prst="rect">
            <a:avLst/>
          </a:prstGeom>
          <a:solidFill>
            <a:srgbClr val="C9C4B9"/>
          </a:solidFill>
          <a:ln/>
        </p:spPr>
      </p:sp>
      <p:sp>
        <p:nvSpPr>
          <p:cNvPr id="10" name="Shape 8"/>
          <p:cNvSpPr/>
          <p:nvPr/>
        </p:nvSpPr>
        <p:spPr>
          <a:xfrm>
            <a:off x="4216116" y="4007632"/>
            <a:ext cx="4670024" cy="7315"/>
          </a:xfrm>
          <a:prstGeom prst="rect">
            <a:avLst/>
          </a:prstGeom>
          <a:solidFill>
            <a:srgbClr val="C9C4B9"/>
          </a:solidFill>
          <a:ln/>
        </p:spPr>
      </p:sp>
      <p:sp>
        <p:nvSpPr>
          <p:cNvPr id="11" name="Shape 9"/>
          <p:cNvSpPr/>
          <p:nvPr/>
        </p:nvSpPr>
        <p:spPr>
          <a:xfrm>
            <a:off x="4216116" y="1958553"/>
            <a:ext cx="7315" cy="2056394"/>
          </a:xfrm>
          <a:prstGeom prst="rect">
            <a:avLst/>
          </a:prstGeom>
          <a:solidFill>
            <a:srgbClr val="C9C4B9"/>
          </a:solidFill>
          <a:ln/>
        </p:spPr>
      </p:sp>
      <p:sp>
        <p:nvSpPr>
          <p:cNvPr id="12" name="Shape 10"/>
          <p:cNvSpPr/>
          <p:nvPr/>
        </p:nvSpPr>
        <p:spPr>
          <a:xfrm>
            <a:off x="8878824" y="1958553"/>
            <a:ext cx="7315" cy="2056394"/>
          </a:xfrm>
          <a:prstGeom prst="rect">
            <a:avLst/>
          </a:prstGeom>
          <a:solidFill>
            <a:srgbClr val="C9C4B9"/>
          </a:solidFill>
          <a:ln/>
        </p:spPr>
      </p:sp>
      <p:pic>
        <p:nvPicPr>
          <p:cNvPr id="13" name="Image 0" descr="Traditional, Noise2Noise and Noise2Void training schemes side by side, with N2V's single-image blind-spot result on the right.">    </p:cNvPr>
          <p:cNvPicPr>
            <a:picLocks noChangeAspect="1"/>
          </p:cNvPicPr>
          <p:nvPr/>
        </p:nvPicPr>
        <p:blipFill>
          <a:blip r:embed="rId1"/>
          <a:stretch>
            <a:fillRect/>
          </a:stretch>
        </p:blipFill>
        <p:spPr>
          <a:xfrm>
            <a:off x="4326301" y="2068739"/>
            <a:ext cx="4449653" cy="1836115"/>
          </a:xfrm>
          <a:prstGeom prst="rect">
            <a:avLst/>
          </a:prstGeom>
        </p:spPr>
      </p:pic>
      <p:sp>
        <p:nvSpPr>
          <p:cNvPr id="14" name="Text 11"/>
          <p:cNvSpPr txBox="1"/>
          <p:nvPr/>
        </p:nvSpPr>
        <p:spPr>
          <a:xfrm>
            <a:off x="3494105" y="4115623"/>
            <a:ext cx="6113953"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Traditional, Noise2Noise and Noise2Void training schemes side by side, with N2V's single-image blind-spot result on the right. [N2V19 · Fig. 1]</a:t>
            </a:r>
            <a:endParaRPr lang="en-US" sz="81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439540" y="4452671"/>
          <a:ext cx="9144000" cy="914400"/>
        </p:xfrm>
        <a:graphic>
          <a:graphicData uri="http://schemas.openxmlformats.org/drawingml/2006/table">
            <a:tbl>
              <a:tblPr/>
              <a:tblGrid>
                <a:gridCol w="1101669"/>
                <a:gridCol w="1865467"/>
                <a:gridCol w="4101816"/>
                <a:gridCol w="3154406"/>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NOISE2NOISE (2018)</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NOISE2VOID (2019)</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r>
              <a:tr h="451714">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Requires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Two noisy shots per scene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One noisy image. That is all.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Applicable to any archive, any moving subject, any single acquisition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Key innovation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Corrupted target with matching mean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Blind-spot receptive field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Prediction for pixel i uses its neighbourhood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except pixel i</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it cannot cheat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Target is independent of input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Noise is conditionally pixel-wise independent, so neighbours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carry no information about nᵢ</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identity solution becomes unreachable by construction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6" name="Text 12"/>
          <p:cNvSpPr txBox="1"/>
          <p:nvPr/>
        </p:nvSpPr>
        <p:spPr>
          <a:xfrm>
            <a:off x="9597268" y="6274430"/>
            <a:ext cx="2065630"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N2V19 §3.1, §3.4, §3.5, §4.1, Fig. 4 · N2N18 Table 1</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7686904" y="6545732"/>
            <a:ext cx="3975811" cy="29352"/>
          </a:xfrm>
          <a:prstGeom prst="rect">
            <a:avLst/>
          </a:prstGeom>
          <a:solidFill>
            <a:srgbClr val="7E3247"/>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608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18</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248460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NOISE2VOID · 2019 · BEFORE → AFTER</a:t>
            </a:r>
            <a:endParaRPr lang="en-US" sz="888" dirty="0"/>
          </a:p>
        </p:txBody>
      </p:sp>
      <p:sp>
        <p:nvSpPr>
          <p:cNvPr id="6" name="Text 4"/>
          <p:cNvSpPr txBox="1"/>
          <p:nvPr/>
        </p:nvSpPr>
        <p:spPr>
          <a:xfrm>
            <a:off x="4443252"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130753"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N2V vs N2N — removing the second photograph</a:t>
            </a:r>
            <a:endParaRPr lang="en-US" sz="3025"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636685" y="1241481"/>
          <a:ext cx="9144000" cy="914400"/>
        </p:xfrm>
        <a:graphic>
          <a:graphicData uri="http://schemas.openxmlformats.org/drawingml/2006/table">
            <a:tbl>
              <a:tblPr/>
              <a:tblGrid>
                <a:gridCol w="1511412"/>
                <a:gridCol w="1565727"/>
                <a:gridCol w="3231672"/>
                <a:gridCol w="3644981"/>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NOISE2NOISE (2018)</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NOISE2VOID (2019)</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Implementation change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Swap the target tensor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Replace the centre pixel with a random neighbour; score the loss only there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masking trick, not an architecture — any standard CNN acquires the property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Performance (BSD68 σ=25)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28.86 dB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27.71 dB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−1.15 dB, and 0.88 dB </a:t>
                      </a:r>
                      <a:pPr algn="l" indent="0" marL="0">
                        <a:lnSpc>
                          <a:spcPts val="1324"/>
                        </a:lnSpc>
                        <a:buNone/>
                      </a:pPr>
                      <a:r>
                        <a:rPr kern="0" lang="en-US" sz="1085" b="1" i="1" dirty="0">
                          <a:solidFill>
                            <a:srgbClr val="14120F"/>
                          </a:solidFill>
                          <a:latin typeface="Calibri" pitchFamily="34" charset="0"/>
                          <a:ea typeface="Calibri" pitchFamily="34" charset="-122"/>
                          <a:cs typeface="Calibri" pitchFamily="34" charset="-120"/>
                        </a:rPr>
                        <a:t>below</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BM3D — the cost is real and the paper does not hide it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r>
              <a:tr h="509412">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Applications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Burst photography, rendering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Cryo-TEM, fluorescence microscopy, cell tracking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Domains where the paper's own figure captions the ground truth column </a:t>
                      </a:r>
                      <a:pPr algn="l" indent="0" marL="0">
                        <a:lnSpc>
                          <a:spcPts val="1324"/>
                        </a:lnSpc>
                        <a:buNone/>
                      </a:pPr>
                      <a:r>
                        <a:rPr kern="0" lang="en-US" sz="1085" b="1" i="1" dirty="0">
                          <a:solidFill>
                            <a:srgbClr val="14120F"/>
                          </a:solidFill>
                          <a:latin typeface="Calibri" pitchFamily="34" charset="0"/>
                          <a:ea typeface="Calibri" pitchFamily="34" charset="-122"/>
                          <a:cs typeface="Calibri" pitchFamily="34" charset="-120"/>
                        </a:rPr>
                        <a:t>does not exist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r>
            </a:tbl>
          </a:graphicData>
        </a:graphic>
      </p:graphicFrame>
      <p:sp>
        <p:nvSpPr>
          <p:cNvPr id="9" name="Shape 6"/>
          <p:cNvSpPr/>
          <p:nvPr/>
        </p:nvSpPr>
        <p:spPr>
          <a:xfrm>
            <a:off x="1636685" y="3287359"/>
            <a:ext cx="9953793" cy="16734"/>
          </a:xfrm>
          <a:prstGeom prst="rect">
            <a:avLst/>
          </a:prstGeom>
          <a:solidFill>
            <a:srgbClr val="7E3247"/>
          </a:solidFill>
          <a:ln/>
        </p:spPr>
      </p:sp>
      <p:sp>
        <p:nvSpPr>
          <p:cNvPr id="10" name="Text 7"/>
          <p:cNvSpPr txBox="1"/>
          <p:nvPr/>
        </p:nvSpPr>
        <p:spPr>
          <a:xfrm>
            <a:off x="1636685" y="3435584"/>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The honest framing, and the one to use if challenged.</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Self-supervision is not a quality technique, it is an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availability</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technique. Where clean data exists, supervision wins by 1.35 dB. Where it does not, the comparison is not 27.71 against 29.23 — it is 27.71 against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nothing at all</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a:t>
            </a:r>
            <a:endParaRPr lang="en-US" sz="1118" dirty="0"/>
          </a:p>
        </p:txBody>
      </p:sp>
      <p:sp>
        <p:nvSpPr>
          <p:cNvPr id="11" name="Text 8"/>
          <p:cNvSpPr txBox="1"/>
          <p:nvPr/>
        </p:nvSpPr>
        <p:spPr>
          <a:xfrm>
            <a:off x="9241841" y="6194511"/>
            <a:ext cx="2348636"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N2V19 §3.1, §3.4, §3.5, §4.1, Fig. 4 · N2N18 Table 1</a:t>
            </a:r>
            <a:endParaRPr lang="en-US" sz="855"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7719365" y="6502938"/>
            <a:ext cx="3870930" cy="33376"/>
          </a:xfrm>
          <a:prstGeom prst="rect">
            <a:avLst/>
          </a:prstGeom>
          <a:solidFill>
            <a:srgbClr val="7E3247"/>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003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19</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3334"/>
            <a:ext cx="190927" cy="22037"/>
          </a:xfrm>
          <a:prstGeom prst="rect">
            <a:avLst/>
          </a:prstGeom>
          <a:solidFill>
            <a:srgbClr val="7E3247"/>
          </a:solidFill>
          <a:ln/>
        </p:spPr>
      </p:sp>
      <p:sp>
        <p:nvSpPr>
          <p:cNvPr id="5" name="Text 3"/>
          <p:cNvSpPr txBox="1"/>
          <p:nvPr/>
        </p:nvSpPr>
        <p:spPr>
          <a:xfrm>
            <a:off x="1718615" y="383865"/>
            <a:ext cx="1550640"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ZS-N2N · 2023 · P2N · 2025</a:t>
            </a:r>
            <a:endParaRPr lang="en-US" sz="781" dirty="0"/>
          </a:p>
        </p:txBody>
      </p:sp>
      <p:sp>
        <p:nvSpPr>
          <p:cNvPr id="6" name="Text 4"/>
          <p:cNvSpPr txBox="1"/>
          <p:nvPr/>
        </p:nvSpPr>
        <p:spPr>
          <a:xfrm>
            <a:off x="1439540" y="607070"/>
            <a:ext cx="6740774"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Down to one image, then down to no sacrifice</a:t>
            </a:r>
            <a:endParaRPr lang="en-US" sz="2660" dirty="0"/>
          </a:p>
        </p:txBody>
      </p:sp>
      <p:sp>
        <p:nvSpPr>
          <p:cNvPr id="7" name="Text 5"/>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branch finishes by removing the last two requirements. Compressed into one slide because the pattern is now familiar — each paper removes exactly one thing.</a:t>
            </a:r>
            <a:endParaRPr lang="en-US" sz="1157" dirty="0"/>
          </a:p>
        </p:txBody>
      </p:sp>
      <p:sp>
        <p:nvSpPr>
          <p:cNvPr id="8" name="Shape 6"/>
          <p:cNvSpPr/>
          <p:nvPr/>
        </p:nvSpPr>
        <p:spPr>
          <a:xfrm>
            <a:off x="5015758" y="1738183"/>
            <a:ext cx="3070738"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5015758" y="1738183"/>
            <a:ext cx="3070738" cy="7315"/>
          </a:xfrm>
          <a:prstGeom prst="rect">
            <a:avLst/>
          </a:prstGeom>
          <a:solidFill>
            <a:srgbClr val="C9C4B9"/>
          </a:solidFill>
          <a:ln/>
        </p:spPr>
      </p:sp>
      <p:sp>
        <p:nvSpPr>
          <p:cNvPr id="10" name="Shape 8"/>
          <p:cNvSpPr/>
          <p:nvPr/>
        </p:nvSpPr>
        <p:spPr>
          <a:xfrm>
            <a:off x="5015758" y="3787262"/>
            <a:ext cx="3070738" cy="7315"/>
          </a:xfrm>
          <a:prstGeom prst="rect">
            <a:avLst/>
          </a:prstGeom>
          <a:solidFill>
            <a:srgbClr val="C9C4B9"/>
          </a:solidFill>
          <a:ln/>
        </p:spPr>
      </p:sp>
      <p:sp>
        <p:nvSpPr>
          <p:cNvPr id="11" name="Shape 9"/>
          <p:cNvSpPr/>
          <p:nvPr/>
        </p:nvSpPr>
        <p:spPr>
          <a:xfrm>
            <a:off x="5015758" y="1738183"/>
            <a:ext cx="7315" cy="2056394"/>
          </a:xfrm>
          <a:prstGeom prst="rect">
            <a:avLst/>
          </a:prstGeom>
          <a:solidFill>
            <a:srgbClr val="C9C4B9"/>
          </a:solidFill>
          <a:ln/>
        </p:spPr>
      </p:sp>
      <p:sp>
        <p:nvSpPr>
          <p:cNvPr id="12" name="Shape 10"/>
          <p:cNvSpPr/>
          <p:nvPr/>
        </p:nvSpPr>
        <p:spPr>
          <a:xfrm>
            <a:off x="8079181" y="1738183"/>
            <a:ext cx="7315" cy="2056394"/>
          </a:xfrm>
          <a:prstGeom prst="rect">
            <a:avLst/>
          </a:prstGeom>
          <a:solidFill>
            <a:srgbClr val="C9C4B9"/>
          </a:solidFill>
          <a:ln/>
        </p:spPr>
      </p:sp>
      <p:pic>
        <p:nvPicPr>
          <p:cNvPr id="13" name="Image 0" descr="The information-lossy barrier made visible: ZS-N2N, MASH and ATBSN all lose fine structure that P2N's renoise-and-agree supervision keeps.">    </p:cNvPr>
          <p:cNvPicPr>
            <a:picLocks noChangeAspect="1"/>
          </p:cNvPicPr>
          <p:nvPr/>
        </p:nvPicPr>
        <p:blipFill>
          <a:blip r:embed="rId1"/>
          <a:stretch>
            <a:fillRect/>
          </a:stretch>
        </p:blipFill>
        <p:spPr>
          <a:xfrm>
            <a:off x="5125944" y="1848368"/>
            <a:ext cx="2850459" cy="1836115"/>
          </a:xfrm>
          <a:prstGeom prst="rect">
            <a:avLst/>
          </a:prstGeom>
        </p:spPr>
      </p:pic>
      <p:sp>
        <p:nvSpPr>
          <p:cNvPr id="14" name="Text 11"/>
          <p:cNvSpPr txBox="1"/>
          <p:nvPr/>
        </p:nvSpPr>
        <p:spPr>
          <a:xfrm>
            <a:off x="3183484" y="3895253"/>
            <a:ext cx="6735470"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information-lossy barrier made visible: ZS-N2N, MASH and ATBSN all lose fine structure that P2N's renoise-and-agree supervision keeps. [P2N25 · Fig. 2]</a:t>
            </a:r>
            <a:endParaRPr lang="en-US" sz="81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439540" y="4232300"/>
          <a:ext cx="9144000" cy="914400"/>
        </p:xfrm>
        <a:graphic>
          <a:graphicData uri="http://schemas.openxmlformats.org/drawingml/2006/table">
            <a:tbl>
              <a:tblPr/>
              <a:tblGrid>
                <a:gridCol w="1208197"/>
                <a:gridCol w="4167927"/>
                <a:gridCol w="4847326"/>
              </a:tblGrid>
              <a:tr h="242407">
                <a:tc>
                  <a:txBody>
                    <a:bodyPr/>
                    <a:lstStyle/>
                    <a:p>
                      <a:pPr algn="l" indent="0" marL="0">
                        <a:lnSpc>
                          <a:spcPts val="882"/>
                        </a:lnSpc>
                        <a:buNone/>
                      </a:pP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ZS-N2N (2023)</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P2N (2025)</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r>
              <a:tr h="451714">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Requirement removed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training set</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 corpus, no pretraining.</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information loss</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itself.</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Key innovation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pair downsampler</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two fixed diagonal filters split one image into a noisy pair with similar signal and independent noise.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RDC</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renoise the model's own output with + and −, giving y⁺ and y⁻ at full resolution.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DCS</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train the two denoised results to agree.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Implementation change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Two fixed stride-2 convolutions; a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20 000-parameter</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two-layer net fitted to that one image; residual + consistency loss.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Three forward passes per step</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on tensors that do not exist until the model has run once. Output compared against output, not against a target.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6" name="Text 12"/>
          <p:cNvSpPr txBox="1"/>
          <p:nvPr/>
        </p:nvSpPr>
        <p:spPr>
          <a:xfrm>
            <a:off x="9237543" y="6274430"/>
            <a:ext cx="2425355"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ZS-N2N23 §3, §4 · P2N25 (CVPR 2025) · repository measured</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7686904" y="6545732"/>
            <a:ext cx="3975811" cy="29352"/>
          </a:xfrm>
          <a:prstGeom prst="rect">
            <a:avLst/>
          </a:prstGeom>
          <a:solidFill>
            <a:srgbClr val="7E3247"/>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9794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19</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176305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ZS-N2N · 2023 · P2N · 2025</a:t>
            </a:r>
            <a:endParaRPr lang="en-US" sz="888" dirty="0"/>
          </a:p>
        </p:txBody>
      </p:sp>
      <p:sp>
        <p:nvSpPr>
          <p:cNvPr id="6" name="Text 4"/>
          <p:cNvSpPr txBox="1"/>
          <p:nvPr/>
        </p:nvSpPr>
        <p:spPr>
          <a:xfrm>
            <a:off x="3749497"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7664226"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Down to one image, then down to no sacrifice</a:t>
            </a:r>
            <a:endParaRPr lang="en-US" sz="3025"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636685" y="1241481"/>
          <a:ext cx="9144000" cy="914400"/>
        </p:xfrm>
        <a:graphic>
          <a:graphicData uri="http://schemas.openxmlformats.org/drawingml/2006/table">
            <a:tbl>
              <a:tblPr/>
              <a:tblGrid>
                <a:gridCol w="1402872"/>
                <a:gridCol w="3574024"/>
                <a:gridCol w="4976896"/>
              </a:tblGrid>
              <a:tr h="275600">
                <a:tc>
                  <a:txBody>
                    <a:bodyPr/>
                    <a:lstStyle/>
                    <a:p>
                      <a:pPr algn="l" indent="0" marL="0">
                        <a:lnSpc>
                          <a:spcPts val="1003"/>
                        </a:lnSpc>
                        <a:buNone/>
                      </a:pP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ZS-N2N (2023)</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P2N (2025)</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Why it is not just a new loss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It is a new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input construction</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Same: a loss scores a fixed prediction against a fixed target. P2N changes what goes in, how many passes, and which pair is compared.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Cost paid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Half the spatial resolution during training; 1–2 K gradient steps per image.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Three passes per step; still per-image test-time optimisation.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Applications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Single archival images, one-off scientific captures; ~1 min on CPU vs Self2Self's 1.2 h on GPU.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Self-supervised denoising where masking artefacts are unacceptable.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3287359"/>
            <a:ext cx="9953793" cy="16734"/>
          </a:xfrm>
          <a:prstGeom prst="rect">
            <a:avLst/>
          </a:prstGeom>
          <a:solidFill>
            <a:srgbClr val="7E3247"/>
          </a:solidFill>
          <a:ln/>
        </p:spPr>
      </p:sp>
      <p:sp>
        <p:nvSpPr>
          <p:cNvPr id="10" name="Text 7"/>
          <p:cNvSpPr txBox="1"/>
          <p:nvPr/>
        </p:nvSpPr>
        <p:spPr>
          <a:xfrm>
            <a:off x="1636685" y="3435584"/>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The through-line: the network never moved, the target did.</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Clean image (2018) → second copy (2019) → training set (2023) → information loss (2025). Four papers, four requirements removed, one U-Net throughout.</a:t>
            </a:r>
            <a:endParaRPr lang="en-US" sz="1118" dirty="0"/>
          </a:p>
        </p:txBody>
      </p:sp>
      <p:sp>
        <p:nvSpPr>
          <p:cNvPr id="11" name="Text 8"/>
          <p:cNvSpPr txBox="1"/>
          <p:nvPr/>
        </p:nvSpPr>
        <p:spPr>
          <a:xfrm>
            <a:off x="8832830" y="6194511"/>
            <a:ext cx="2757556"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ZS-N2N23 §3, §4 · P2N25 (CVPR 2025) · repository measured</a:t>
            </a:r>
            <a:endParaRPr lang="en-US" sz="855"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7719365" y="6502938"/>
            <a:ext cx="3870930" cy="33376"/>
          </a:xfrm>
          <a:prstGeom prst="rect">
            <a:avLst/>
          </a:prstGeom>
          <a:solidFill>
            <a:srgbClr val="7E3247"/>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599572"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C0451A"/>
                </a:solidFill>
                <a:latin typeface="Cambria" pitchFamily="34" charset="0"/>
                <a:ea typeface="Cambria" pitchFamily="34" charset="-122"/>
                <a:cs typeface="Cambria" pitchFamily="34" charset="-120"/>
              </a:rPr>
              <a:t>4</a:t>
            </a:r>
            <a:endParaRPr lang="en-US" sz="8416" dirty="0"/>
          </a:p>
        </p:txBody>
      </p:sp>
      <p:sp>
        <p:nvSpPr>
          <p:cNvPr id="4" name="Shape 2"/>
          <p:cNvSpPr/>
          <p:nvPr/>
        </p:nvSpPr>
        <p:spPr>
          <a:xfrm>
            <a:off x="434249" y="1663294"/>
            <a:ext cx="1002091" cy="33376"/>
          </a:xfrm>
          <a:prstGeom prst="rect">
            <a:avLst/>
          </a:prstGeom>
          <a:solidFill>
            <a:srgbClr val="C0451A"/>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Replacing the Convolution</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1580723"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BRANCH B · 2021 – 2024</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78646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evidence for bottleneck 3</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2505730"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Restormer — attention on a different axis</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206270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NAFNet — delete the mechanisms</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133264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SCUNet and MambaIR</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173854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Why there are several SOTAs</a:t>
            </a:r>
            <a:endParaRPr lang="en-US" sz="1118" dirty="0"/>
          </a:p>
        </p:txBody>
      </p:sp>
      <p:sp>
        <p:nvSpPr>
          <p:cNvPr id="26" name="Text 24"/>
          <p:cNvSpPr txBox="1"/>
          <p:nvPr/>
        </p:nvSpPr>
        <p:spPr>
          <a:xfrm>
            <a:off x="5526999" y="3733404"/>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The other debt: a 35×35 receptive field, and three competing operators that fix it.</a:t>
            </a:r>
            <a:endParaRPr lang="en-US" sz="1085" dirty="0"/>
          </a:p>
        </p:txBody>
      </p:sp>
      <p:sp>
        <p:nvSpPr>
          <p:cNvPr id="27" name="Text 25"/>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§4</a:t>
            </a:r>
            <a:endParaRPr lang="en-US" sz="85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55610"/>
            <a:ext cx="36320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21</a:t>
            </a:r>
            <a:endParaRPr lang="en-US" sz="2708" dirty="0"/>
          </a:p>
        </p:txBody>
      </p:sp>
      <p:sp>
        <p:nvSpPr>
          <p:cNvPr id="3" name="Text 1"/>
          <p:cNvSpPr txBox="1"/>
          <p:nvPr/>
        </p:nvSpPr>
        <p:spPr>
          <a:xfrm rot="16200000">
            <a:off x="-360731" y="3436772"/>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240030"/>
            <a:ext cx="203180" cy="23409"/>
          </a:xfrm>
          <a:prstGeom prst="rect">
            <a:avLst/>
          </a:prstGeom>
          <a:solidFill>
            <a:srgbClr val="C0451A"/>
          </a:solidFill>
          <a:ln/>
        </p:spPr>
      </p:sp>
      <p:sp>
        <p:nvSpPr>
          <p:cNvPr id="5" name="Text 3"/>
          <p:cNvSpPr txBox="1"/>
          <p:nvPr/>
        </p:nvSpPr>
        <p:spPr>
          <a:xfrm>
            <a:off x="1828800" y="187452"/>
            <a:ext cx="1762232"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BOTTLENECK 3 · THE RECEIPT</a:t>
            </a:r>
            <a:endParaRPr lang="en-US" sz="831" dirty="0"/>
          </a:p>
        </p:txBody>
      </p:sp>
      <p:sp>
        <p:nvSpPr>
          <p:cNvPr id="6" name="Text 4"/>
          <p:cNvSpPr txBox="1"/>
          <p:nvPr/>
        </p:nvSpPr>
        <p:spPr>
          <a:xfrm>
            <a:off x="1531803" y="438546"/>
            <a:ext cx="8504103"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One number proves the receptive field is the problem</a:t>
            </a:r>
            <a:endParaRPr lang="en-US" sz="2831" dirty="0"/>
          </a:p>
        </p:txBody>
      </p:sp>
      <p:sp>
        <p:nvSpPr>
          <p:cNvPr id="7" name="Text 5"/>
          <p:cNvSpPr txBox="1"/>
          <p:nvPr/>
        </p:nvSpPr>
        <p:spPr>
          <a:xfrm>
            <a:off x="1531803" y="977494"/>
            <a:ext cx="4851532" cy="375087"/>
          </a:xfrm>
          <a:prstGeom prst="rect">
            <a:avLst/>
          </a:prstGeom>
          <a:noFill/>
          <a:ln/>
        </p:spPr>
        <p:txBody>
          <a:bodyPr wrap="square" lIns="0" tIns="0" rIns="0" bIns="0" rtlCol="0" anchor="t"/>
          <a:lstStyle/>
          <a:p>
            <a:pPr algn="l" indent="0" marL="0">
              <a:lnSpc>
                <a:spcPts val="1477"/>
              </a:lnSpc>
              <a:buNone/>
            </a:pPr>
            <a:r>
              <a:rPr kern="0" lang="en-US" sz="985" dirty="0">
                <a:solidFill>
                  <a:srgbClr val="5A554D"/>
                </a:solidFill>
                <a:latin typeface="Calibri" pitchFamily="34" charset="0"/>
                <a:ea typeface="Calibri" pitchFamily="34" charset="-122"/>
                <a:cs typeface="Calibri" pitchFamily="34" charset="-120"/>
              </a:rPr>
              <a:t>Identical models, identical table, identical noise level. The only thing that changes is the dataset — and the gain changes by a factor of five.</a:t>
            </a:r>
            <a:endParaRPr lang="en-US" sz="985" dirty="0"/>
          </a:p>
        </p:txBody>
      </p:sp>
      <p:sp>
        <p:nvSpPr>
          <p:cNvPr id="8" name="Shape 6"/>
          <p:cNvSpPr/>
          <p:nvPr/>
        </p:nvSpPr>
        <p:spPr>
          <a:xfrm>
            <a:off x="3091769" y="1649212"/>
            <a:ext cx="6977146" cy="2188251"/>
          </a:xfrm>
          <a:prstGeom prst="rect">
            <a:avLst/>
          </a:prstGeom>
          <a:solidFill>
            <a:srgbClr val="FFFFFF"/>
          </a:solidFill>
          <a:ln/>
          <a:effectLst>
            <a:outerShdw sx="100000" sy="100000" kx="0" ky="0" algn="bl" rotWithShape="0" blurRad="23445" dist="7816" dir="5400000">
              <a:srgbClr val="14120F">
                <a:alpha val="12000"/>
              </a:srgbClr>
            </a:outerShdw>
          </a:effectLst>
        </p:spPr>
      </p:sp>
      <p:sp>
        <p:nvSpPr>
          <p:cNvPr id="9" name="Shape 7"/>
          <p:cNvSpPr/>
          <p:nvPr/>
        </p:nvSpPr>
        <p:spPr>
          <a:xfrm>
            <a:off x="3091769" y="1649212"/>
            <a:ext cx="6977146" cy="7772"/>
          </a:xfrm>
          <a:prstGeom prst="rect">
            <a:avLst/>
          </a:prstGeom>
          <a:solidFill>
            <a:srgbClr val="C9C4B9"/>
          </a:solidFill>
          <a:ln/>
        </p:spPr>
      </p:sp>
      <p:sp>
        <p:nvSpPr>
          <p:cNvPr id="10" name="Shape 8"/>
          <p:cNvSpPr/>
          <p:nvPr/>
        </p:nvSpPr>
        <p:spPr>
          <a:xfrm>
            <a:off x="3091769" y="3829690"/>
            <a:ext cx="6977146" cy="7772"/>
          </a:xfrm>
          <a:prstGeom prst="rect">
            <a:avLst/>
          </a:prstGeom>
          <a:solidFill>
            <a:srgbClr val="C9C4B9"/>
          </a:solidFill>
          <a:ln/>
        </p:spPr>
      </p:sp>
      <p:sp>
        <p:nvSpPr>
          <p:cNvPr id="11" name="Shape 9"/>
          <p:cNvSpPr/>
          <p:nvPr/>
        </p:nvSpPr>
        <p:spPr>
          <a:xfrm>
            <a:off x="3091769" y="1649212"/>
            <a:ext cx="7772" cy="2188251"/>
          </a:xfrm>
          <a:prstGeom prst="rect">
            <a:avLst/>
          </a:prstGeom>
          <a:solidFill>
            <a:srgbClr val="C9C4B9"/>
          </a:solidFill>
          <a:ln/>
        </p:spPr>
      </p:sp>
      <p:sp>
        <p:nvSpPr>
          <p:cNvPr id="12" name="Shape 10"/>
          <p:cNvSpPr/>
          <p:nvPr/>
        </p:nvSpPr>
        <p:spPr>
          <a:xfrm>
            <a:off x="10061052" y="1649212"/>
            <a:ext cx="7772" cy="2188251"/>
          </a:xfrm>
          <a:prstGeom prst="rect">
            <a:avLst/>
          </a:prstGeom>
          <a:solidFill>
            <a:srgbClr val="C9C4B9"/>
          </a:solidFill>
          <a:ln/>
        </p:spPr>
      </p:sp>
      <p:pic>
        <p:nvPicPr>
          <p:cNvPr id="13" name="Image 0" descr="Effective receptive field: CNNs stay tightly local, Transformers spread further, the Mamba-based backbone activates the widest field.">    </p:cNvPr>
          <p:cNvPicPr>
            <a:picLocks noChangeAspect="1"/>
          </p:cNvPicPr>
          <p:nvPr/>
        </p:nvPicPr>
        <p:blipFill>
          <a:blip r:embed="rId1"/>
          <a:stretch>
            <a:fillRect/>
          </a:stretch>
        </p:blipFill>
        <p:spPr>
          <a:xfrm>
            <a:off x="3208995" y="1766438"/>
            <a:ext cx="6742694" cy="1953798"/>
          </a:xfrm>
          <a:prstGeom prst="rect">
            <a:avLst/>
          </a:prstGeom>
        </p:spPr>
      </p:pic>
      <p:sp>
        <p:nvSpPr>
          <p:cNvPr id="14" name="Text 11"/>
          <p:cNvSpPr txBox="1"/>
          <p:nvPr/>
        </p:nvSpPr>
        <p:spPr>
          <a:xfrm>
            <a:off x="3038551" y="3944539"/>
            <a:ext cx="7083491" cy="153162"/>
          </a:xfrm>
          <a:prstGeom prst="rect">
            <a:avLst/>
          </a:prstGeom>
          <a:noFill/>
          <a:ln/>
        </p:spPr>
        <p:txBody>
          <a:bodyPr wrap="none" lIns="0" tIns="0" rIns="0" bIns="0" rtlCol="0" anchor="t"/>
          <a:lstStyle/>
          <a:p>
            <a:pPr algn="ctr" indent="0" marL="0">
              <a:lnSpc>
                <a:spcPts val="1206"/>
              </a:lnSpc>
              <a:buNone/>
            </a:pPr>
            <a:r>
              <a:rPr kern="0" lang="en-US" sz="862" i="1" dirty="0">
                <a:solidFill>
                  <a:srgbClr val="8A847A"/>
                </a:solidFill>
                <a:latin typeface="Calibri" pitchFamily="34" charset="0"/>
                <a:ea typeface="Calibri" pitchFamily="34" charset="-122"/>
                <a:cs typeface="Calibri" pitchFamily="34" charset="-120"/>
              </a:rPr>
              <a:t>Effective receptive field: CNNs stay tightly local, Transformers spread further, the Mamba-based backbone activates the widest field. [MambaIR24 · Fig. 1]</a:t>
            </a:r>
            <a:endParaRPr lang="en-US" sz="862" dirty="0"/>
          </a:p>
        </p:txBody>
      </p:sp>
      <p:sp>
        <p:nvSpPr>
          <p:cNvPr id="15" name="Shape 12"/>
          <p:cNvSpPr/>
          <p:nvPr/>
        </p:nvSpPr>
        <p:spPr>
          <a:xfrm>
            <a:off x="1531803" y="4330324"/>
            <a:ext cx="10097262" cy="15636"/>
          </a:xfrm>
          <a:prstGeom prst="rect">
            <a:avLst/>
          </a:prstGeom>
          <a:solidFill>
            <a:srgbClr val="14120F"/>
          </a:solidFill>
          <a:ln/>
        </p:spPr>
      </p:sp>
      <p:sp>
        <p:nvSpPr>
          <p:cNvPr id="16" name="Text 13"/>
          <p:cNvSpPr txBox="1"/>
          <p:nvPr/>
        </p:nvSpPr>
        <p:spPr>
          <a:xfrm>
            <a:off x="1531803" y="4502323"/>
            <a:ext cx="1733337"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+0.39 dB</a:t>
            </a:r>
            <a:endParaRPr lang="en-US" sz="3692" dirty="0"/>
          </a:p>
        </p:txBody>
      </p:sp>
      <p:sp>
        <p:nvSpPr>
          <p:cNvPr id="17" name="Text 14"/>
          <p:cNvSpPr txBox="1"/>
          <p:nvPr/>
        </p:nvSpPr>
        <p:spPr>
          <a:xfrm>
            <a:off x="1531803" y="5064039"/>
            <a:ext cx="1981779"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BSD68, Σ=50 · DNCNN → RESTORMER</a:t>
            </a:r>
            <a:endParaRPr lang="en-US" sz="769" dirty="0"/>
          </a:p>
        </p:txBody>
      </p:sp>
      <p:sp>
        <p:nvSpPr>
          <p:cNvPr id="18" name="Text 15"/>
          <p:cNvSpPr txBox="1"/>
          <p:nvPr/>
        </p:nvSpPr>
        <p:spPr>
          <a:xfrm>
            <a:off x="1531803" y="5255240"/>
            <a:ext cx="3159343" cy="380116"/>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Ordinary natural images, little long-range repetition. Five years of architecture research buys almost nothing.</a:t>
            </a:r>
            <a:endParaRPr lang="en-US" sz="985" dirty="0"/>
          </a:p>
        </p:txBody>
      </p:sp>
      <p:sp>
        <p:nvSpPr>
          <p:cNvPr id="19" name="Shape 16"/>
          <p:cNvSpPr/>
          <p:nvPr/>
        </p:nvSpPr>
        <p:spPr>
          <a:xfrm>
            <a:off x="4897435" y="4502323"/>
            <a:ext cx="7772" cy="1355232"/>
          </a:xfrm>
          <a:prstGeom prst="rect">
            <a:avLst/>
          </a:prstGeom>
          <a:solidFill>
            <a:srgbClr val="DFDBD2"/>
          </a:solidFill>
          <a:ln/>
        </p:spPr>
      </p:sp>
      <p:sp>
        <p:nvSpPr>
          <p:cNvPr id="20" name="Text 17"/>
          <p:cNvSpPr txBox="1"/>
          <p:nvPr/>
        </p:nvSpPr>
        <p:spPr>
          <a:xfrm>
            <a:off x="5139751" y="4502323"/>
            <a:ext cx="1720169"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+1.98 dB</a:t>
            </a:r>
            <a:endParaRPr lang="en-US" sz="3692" dirty="0"/>
          </a:p>
        </p:txBody>
      </p:sp>
      <p:sp>
        <p:nvSpPr>
          <p:cNvPr id="21" name="Text 18"/>
          <p:cNvSpPr txBox="1"/>
          <p:nvPr/>
        </p:nvSpPr>
        <p:spPr>
          <a:xfrm>
            <a:off x="5139751" y="5064039"/>
            <a:ext cx="2070293"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URBAN100, Σ=50 · SAME TWO MODELS</a:t>
            </a:r>
            <a:endParaRPr lang="en-US" sz="769" dirty="0"/>
          </a:p>
        </p:txBody>
      </p:sp>
      <p:sp>
        <p:nvSpPr>
          <p:cNvPr id="22" name="Text 19"/>
          <p:cNvSpPr txBox="1"/>
          <p:nvPr/>
        </p:nvSpPr>
        <p:spPr>
          <a:xfrm>
            <a:off x="5139751" y="5255240"/>
            <a:ext cx="2916204" cy="570037"/>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Photographs of buildings — windows and railings repeating across hundreds of pixels. </a:t>
            </a:r>
            <a:pPr algn="l" indent="0" marL="0">
              <a:lnSpc>
                <a:spcPts val="1497"/>
              </a:lnSpc>
              <a:buNone/>
            </a:pPr>
            <a:r>
              <a:rPr kern="0" lang="en-US" sz="985" b="1" dirty="0">
                <a:solidFill>
                  <a:srgbClr val="33302B"/>
                </a:solidFill>
                <a:latin typeface="Calibri" pitchFamily="34" charset="0"/>
                <a:ea typeface="Calibri" pitchFamily="34" charset="-122"/>
                <a:cs typeface="Calibri" pitchFamily="34" charset="-120"/>
              </a:rPr>
              <a:t>Five times the gain</a:t>
            </a:r>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 on the dataset made of repetition.</a:t>
            </a:r>
            <a:endParaRPr lang="en-US" sz="985" dirty="0"/>
          </a:p>
        </p:txBody>
      </p:sp>
      <p:sp>
        <p:nvSpPr>
          <p:cNvPr id="23" name="Shape 20"/>
          <p:cNvSpPr/>
          <p:nvPr/>
        </p:nvSpPr>
        <p:spPr>
          <a:xfrm>
            <a:off x="8263250" y="4502323"/>
            <a:ext cx="7772" cy="1355232"/>
          </a:xfrm>
          <a:prstGeom prst="rect">
            <a:avLst/>
          </a:prstGeom>
          <a:solidFill>
            <a:srgbClr val="DFDBD2"/>
          </a:solidFill>
          <a:ln/>
        </p:spPr>
      </p:sp>
      <p:sp>
        <p:nvSpPr>
          <p:cNvPr id="24" name="Text 21"/>
          <p:cNvSpPr txBox="1"/>
          <p:nvPr/>
        </p:nvSpPr>
        <p:spPr>
          <a:xfrm>
            <a:off x="8505474" y="4502323"/>
            <a:ext cx="1689537"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−0.71 dB</a:t>
            </a:r>
            <a:endParaRPr lang="en-US" sz="3692" dirty="0"/>
          </a:p>
        </p:txBody>
      </p:sp>
      <p:sp>
        <p:nvSpPr>
          <p:cNvPr id="25" name="Text 22"/>
          <p:cNvSpPr txBox="1"/>
          <p:nvPr/>
        </p:nvSpPr>
        <p:spPr>
          <a:xfrm>
            <a:off x="8505474" y="5064039"/>
            <a:ext cx="2180753"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BARBARA, Σ=25 · DNCNN VS BM3D, 2017</a:t>
            </a:r>
            <a:endParaRPr lang="en-US" sz="769" dirty="0"/>
          </a:p>
        </p:txBody>
      </p:sp>
      <p:sp>
        <p:nvSpPr>
          <p:cNvPr id="26" name="Text 23"/>
          <p:cNvSpPr txBox="1"/>
          <p:nvPr/>
        </p:nvSpPr>
        <p:spPr>
          <a:xfrm>
            <a:off x="8505474" y="5255240"/>
            <a:ext cx="2916113" cy="570037"/>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The same phenomenon, visible five years earlier in DnCNN's own results, on the one Set12 image dominated by repetitive texture.</a:t>
            </a:r>
            <a:endParaRPr lang="en-US" sz="985" dirty="0"/>
          </a:p>
        </p:txBody>
      </p:sp>
      <p:sp>
        <p:nvSpPr>
          <p:cNvPr id="27" name="Text 24"/>
          <p:cNvSpPr txBox="1"/>
          <p:nvPr/>
        </p:nvSpPr>
        <p:spPr>
          <a:xfrm>
            <a:off x="9550176" y="6237031"/>
            <a:ext cx="207879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Restormer22 Table 4 · DnCNN17 Table III, Table I</a:t>
            </a:r>
            <a:endParaRPr lang="en-US" sz="800" dirty="0"/>
          </a:p>
        </p:txBody>
      </p:sp>
      <p:sp>
        <p:nvSpPr>
          <p:cNvPr id="28" name="Shape 25"/>
          <p:cNvSpPr/>
          <p:nvPr/>
        </p:nvSpPr>
        <p:spPr>
          <a:xfrm>
            <a:off x="1531803" y="6537411"/>
            <a:ext cx="10097262" cy="7772"/>
          </a:xfrm>
          <a:prstGeom prst="rect">
            <a:avLst/>
          </a:prstGeom>
          <a:solidFill>
            <a:srgbClr val="C9C4B9"/>
          </a:solidFill>
          <a:ln/>
        </p:spPr>
      </p:sp>
      <p:sp>
        <p:nvSpPr>
          <p:cNvPr id="29" name="Shape 26"/>
          <p:cNvSpPr/>
          <p:nvPr/>
        </p:nvSpPr>
        <p:spPr>
          <a:xfrm>
            <a:off x="9385310" y="6525707"/>
            <a:ext cx="1683228" cy="31272"/>
          </a:xfrm>
          <a:prstGeom prst="rect">
            <a:avLst/>
          </a:prstGeom>
          <a:solidFill>
            <a:srgbClr val="C0451A"/>
          </a:solidFill>
          <a:ln/>
        </p:spPr>
      </p:sp>
      <p:sp>
        <p:nvSpPr>
          <p:cNvPr id="30" name="Shape 27"/>
          <p:cNvSpPr/>
          <p:nvPr/>
        </p:nvSpPr>
        <p:spPr>
          <a:xfrm>
            <a:off x="1531803" y="6498366"/>
            <a:ext cx="7772" cy="39045"/>
          </a:xfrm>
          <a:prstGeom prst="rect">
            <a:avLst/>
          </a:prstGeom>
          <a:solidFill>
            <a:srgbClr val="C9C4B9"/>
          </a:solidFill>
          <a:ln/>
        </p:spPr>
      </p:sp>
      <p:sp>
        <p:nvSpPr>
          <p:cNvPr id="31" name="Text 28"/>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2" name="Shape 29"/>
          <p:cNvSpPr/>
          <p:nvPr/>
        </p:nvSpPr>
        <p:spPr>
          <a:xfrm>
            <a:off x="5458511" y="6498366"/>
            <a:ext cx="7772" cy="39045"/>
          </a:xfrm>
          <a:prstGeom prst="rect">
            <a:avLst/>
          </a:prstGeom>
          <a:solidFill>
            <a:srgbClr val="C9C4B9"/>
          </a:solidFill>
          <a:ln/>
        </p:spPr>
      </p:sp>
      <p:sp>
        <p:nvSpPr>
          <p:cNvPr id="33" name="Text 30"/>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4" name="Shape 31"/>
          <p:cNvSpPr/>
          <p:nvPr/>
        </p:nvSpPr>
        <p:spPr>
          <a:xfrm>
            <a:off x="7141738" y="6498366"/>
            <a:ext cx="7772" cy="39045"/>
          </a:xfrm>
          <a:prstGeom prst="rect">
            <a:avLst/>
          </a:prstGeom>
          <a:solidFill>
            <a:srgbClr val="C9C4B9"/>
          </a:solidFill>
          <a:ln/>
        </p:spPr>
      </p:sp>
      <p:sp>
        <p:nvSpPr>
          <p:cNvPr id="35" name="Text 32"/>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6" name="Shape 33"/>
          <p:cNvSpPr/>
          <p:nvPr/>
        </p:nvSpPr>
        <p:spPr>
          <a:xfrm>
            <a:off x="9945654" y="6498366"/>
            <a:ext cx="7772" cy="39045"/>
          </a:xfrm>
          <a:prstGeom prst="rect">
            <a:avLst/>
          </a:prstGeom>
          <a:solidFill>
            <a:srgbClr val="C9C4B9"/>
          </a:solidFill>
          <a:ln/>
        </p:spPr>
      </p:sp>
      <p:sp>
        <p:nvSpPr>
          <p:cNvPr id="37" name="Text 34"/>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8" name="Shape 35"/>
          <p:cNvSpPr/>
          <p:nvPr/>
        </p:nvSpPr>
        <p:spPr>
          <a:xfrm>
            <a:off x="11628973" y="6498366"/>
            <a:ext cx="7772" cy="39045"/>
          </a:xfrm>
          <a:prstGeom prst="rect">
            <a:avLst/>
          </a:prstGeom>
          <a:solidFill>
            <a:srgbClr val="C9C4B9"/>
          </a:solidFill>
          <a:ln/>
        </p:spPr>
      </p:sp>
      <p:sp>
        <p:nvSpPr>
          <p:cNvPr id="39" name="Text 36"/>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79933"/>
            <a:ext cx="38807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21</a:t>
            </a:r>
            <a:endParaRPr lang="en-US" sz="2893" dirty="0"/>
          </a:p>
        </p:txBody>
      </p:sp>
      <p:sp>
        <p:nvSpPr>
          <p:cNvPr id="3" name="Text 1"/>
          <p:cNvSpPr txBox="1"/>
          <p:nvPr/>
        </p:nvSpPr>
        <p:spPr>
          <a:xfrm rot="16200000">
            <a:off x="-385420" y="3437230"/>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598658"/>
            <a:ext cx="217079" cy="25055"/>
          </a:xfrm>
          <a:prstGeom prst="rect">
            <a:avLst/>
          </a:prstGeom>
          <a:solidFill>
            <a:srgbClr val="C0451A"/>
          </a:solidFill>
          <a:ln/>
        </p:spPr>
      </p:sp>
      <p:sp>
        <p:nvSpPr>
          <p:cNvPr id="5" name="Text 3"/>
          <p:cNvSpPr txBox="1"/>
          <p:nvPr/>
        </p:nvSpPr>
        <p:spPr>
          <a:xfrm>
            <a:off x="1953981" y="542422"/>
            <a:ext cx="188293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BOTTLENECK 3 · THE RECEIPT</a:t>
            </a:r>
            <a:endParaRPr lang="en-US" sz="888" dirty="0"/>
          </a:p>
        </p:txBody>
      </p:sp>
      <p:sp>
        <p:nvSpPr>
          <p:cNvPr id="6" name="Text 4"/>
          <p:cNvSpPr txBox="1"/>
          <p:nvPr/>
        </p:nvSpPr>
        <p:spPr>
          <a:xfrm>
            <a:off x="3864712" y="542422"/>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1152784"/>
            <a:ext cx="9086576"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One number proves the receptive field is the problem</a:t>
            </a:r>
            <a:endParaRPr lang="en-US" sz="3025" dirty="0"/>
          </a:p>
        </p:txBody>
      </p:sp>
      <p:sp>
        <p:nvSpPr>
          <p:cNvPr id="8" name="Shape 6"/>
          <p:cNvSpPr/>
          <p:nvPr/>
        </p:nvSpPr>
        <p:spPr>
          <a:xfrm>
            <a:off x="1636685" y="2417034"/>
            <a:ext cx="9953793" cy="8321"/>
          </a:xfrm>
          <a:prstGeom prst="rect">
            <a:avLst/>
          </a:prstGeom>
          <a:solidFill>
            <a:srgbClr val="DFDBD2"/>
          </a:solidFill>
          <a:ln/>
        </p:spPr>
      </p:sp>
      <p:sp>
        <p:nvSpPr>
          <p:cNvPr id="9" name="Text 7"/>
          <p:cNvSpPr txBox="1"/>
          <p:nvPr/>
        </p:nvSpPr>
        <p:spPr>
          <a:xfrm>
            <a:off x="1636685" y="2567361"/>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0" name="Text 8"/>
          <p:cNvSpPr txBox="1"/>
          <p:nvPr/>
        </p:nvSpPr>
        <p:spPr>
          <a:xfrm>
            <a:off x="1987448" y="2555931"/>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What this proves.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architecture branch did not make denoising uniformly better. It made denoising better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specifically where non-locality matters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which is exactly the capability a 3×3 convolution stack structurally lacks.</a:t>
            </a:r>
            <a:endParaRPr lang="en-US" sz="1216" dirty="0"/>
          </a:p>
        </p:txBody>
      </p:sp>
      <p:sp>
        <p:nvSpPr>
          <p:cNvPr id="11" name="Text 9"/>
          <p:cNvSpPr txBox="1"/>
          <p:nvPr/>
        </p:nvSpPr>
        <p:spPr>
          <a:xfrm>
            <a:off x="1636685" y="3164464"/>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2" name="Text 10"/>
          <p:cNvSpPr txBox="1"/>
          <p:nvPr/>
        </p:nvSpPr>
        <p:spPr>
          <a:xfrm>
            <a:off x="1987448" y="3152943"/>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depth cannot fix it.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Receptive field grows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linearly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with depth: (2d+1)². Reaching WNNM's 361×361 the DnCNN way needs about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180 layers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fix had to be a different operator, not more of the same one.</a:t>
            </a:r>
            <a:endParaRPr lang="en-US" sz="1216" dirty="0"/>
          </a:p>
        </p:txBody>
      </p:sp>
      <p:sp>
        <p:nvSpPr>
          <p:cNvPr id="13" name="Shape 11"/>
          <p:cNvSpPr/>
          <p:nvPr/>
        </p:nvSpPr>
        <p:spPr>
          <a:xfrm>
            <a:off x="1636685" y="4700016"/>
            <a:ext cx="9953793" cy="16734"/>
          </a:xfrm>
          <a:prstGeom prst="rect">
            <a:avLst/>
          </a:prstGeom>
          <a:solidFill>
            <a:srgbClr val="C0451A"/>
          </a:solidFill>
          <a:ln/>
        </p:spPr>
      </p:sp>
      <p:sp>
        <p:nvSpPr>
          <p:cNvPr id="14" name="Text 12"/>
          <p:cNvSpPr txBox="1"/>
          <p:nvPr/>
        </p:nvSpPr>
        <p:spPr>
          <a:xfrm>
            <a:off x="1636685" y="4848240"/>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Provenance: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the 0.39-versus-1.98 comparison is our own analysis of published values, both taken from Restormer's Table 4 so the protocol is identical. Say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computed from Table 4</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if challenged.</a:t>
            </a:r>
            <a:endParaRPr lang="en-US" sz="1118" dirty="0"/>
          </a:p>
        </p:txBody>
      </p:sp>
      <p:sp>
        <p:nvSpPr>
          <p:cNvPr id="15" name="Text 13"/>
          <p:cNvSpPr txBox="1"/>
          <p:nvPr/>
        </p:nvSpPr>
        <p:spPr>
          <a:xfrm>
            <a:off x="9369308" y="6194511"/>
            <a:ext cx="222116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Restormer22 Table 4 · DnCNN17 Table III, Table I</a:t>
            </a:r>
            <a:endParaRPr lang="en-US" sz="855" dirty="0"/>
          </a:p>
        </p:txBody>
      </p:sp>
      <p:sp>
        <p:nvSpPr>
          <p:cNvPr id="16" name="Shape 14"/>
          <p:cNvSpPr/>
          <p:nvPr/>
        </p:nvSpPr>
        <p:spPr>
          <a:xfrm>
            <a:off x="1636685" y="6515466"/>
            <a:ext cx="9953793" cy="8321"/>
          </a:xfrm>
          <a:prstGeom prst="rect">
            <a:avLst/>
          </a:prstGeom>
          <a:solidFill>
            <a:srgbClr val="C9C4B9"/>
          </a:solidFill>
          <a:ln/>
        </p:spPr>
      </p:sp>
      <p:sp>
        <p:nvSpPr>
          <p:cNvPr id="17" name="Shape 15"/>
          <p:cNvSpPr/>
          <p:nvPr/>
        </p:nvSpPr>
        <p:spPr>
          <a:xfrm>
            <a:off x="9378635" y="6502938"/>
            <a:ext cx="1659270" cy="33376"/>
          </a:xfrm>
          <a:prstGeom prst="rect">
            <a:avLst/>
          </a:prstGeom>
          <a:solidFill>
            <a:srgbClr val="C0451A"/>
          </a:solidFill>
          <a:ln/>
        </p:spPr>
      </p:sp>
      <p:sp>
        <p:nvSpPr>
          <p:cNvPr id="18" name="Shape 16"/>
          <p:cNvSpPr/>
          <p:nvPr/>
        </p:nvSpPr>
        <p:spPr>
          <a:xfrm>
            <a:off x="1636685" y="6473678"/>
            <a:ext cx="8321" cy="41788"/>
          </a:xfrm>
          <a:prstGeom prst="rect">
            <a:avLst/>
          </a:prstGeom>
          <a:solidFill>
            <a:srgbClr val="C9C4B9"/>
          </a:solidFill>
          <a:ln/>
        </p:spPr>
      </p:sp>
      <p:sp>
        <p:nvSpPr>
          <p:cNvPr id="19" name="Text 17"/>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8"/>
          <p:cNvSpPr/>
          <p:nvPr/>
        </p:nvSpPr>
        <p:spPr>
          <a:xfrm>
            <a:off x="5507706" y="6473678"/>
            <a:ext cx="8321" cy="41788"/>
          </a:xfrm>
          <a:prstGeom prst="rect">
            <a:avLst/>
          </a:prstGeom>
          <a:solidFill>
            <a:srgbClr val="C9C4B9"/>
          </a:solidFill>
          <a:ln/>
        </p:spPr>
      </p:sp>
      <p:sp>
        <p:nvSpPr>
          <p:cNvPr id="21" name="Text 19"/>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20"/>
          <p:cNvSpPr/>
          <p:nvPr/>
        </p:nvSpPr>
        <p:spPr>
          <a:xfrm>
            <a:off x="7166884" y="6473678"/>
            <a:ext cx="8321" cy="41788"/>
          </a:xfrm>
          <a:prstGeom prst="rect">
            <a:avLst/>
          </a:prstGeom>
          <a:solidFill>
            <a:srgbClr val="C9C4B9"/>
          </a:solidFill>
          <a:ln/>
        </p:spPr>
      </p:sp>
      <p:sp>
        <p:nvSpPr>
          <p:cNvPr id="23" name="Text 21"/>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2"/>
          <p:cNvSpPr/>
          <p:nvPr/>
        </p:nvSpPr>
        <p:spPr>
          <a:xfrm>
            <a:off x="9931024" y="6473678"/>
            <a:ext cx="8321" cy="41788"/>
          </a:xfrm>
          <a:prstGeom prst="rect">
            <a:avLst/>
          </a:prstGeom>
          <a:solidFill>
            <a:srgbClr val="C9C4B9"/>
          </a:solidFill>
          <a:ln/>
        </p:spPr>
      </p:sp>
      <p:sp>
        <p:nvSpPr>
          <p:cNvPr id="25" name="Text 23"/>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4"/>
          <p:cNvSpPr/>
          <p:nvPr/>
        </p:nvSpPr>
        <p:spPr>
          <a:xfrm>
            <a:off x="11590477" y="6473678"/>
            <a:ext cx="8321" cy="41788"/>
          </a:xfrm>
          <a:prstGeom prst="rect">
            <a:avLst/>
          </a:prstGeom>
          <a:solidFill>
            <a:srgbClr val="C9C4B9"/>
          </a:solidFill>
          <a:ln/>
        </p:spPr>
      </p:sp>
      <p:sp>
        <p:nvSpPr>
          <p:cNvPr id="27" name="Text 25"/>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16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22</a:t>
            </a:r>
            <a:endParaRPr lang="en-US" sz="2545" dirty="0"/>
          </a:p>
        </p:txBody>
      </p:sp>
      <p:sp>
        <p:nvSpPr>
          <p:cNvPr id="3" name="Text 1"/>
          <p:cNvSpPr txBox="1"/>
          <p:nvPr/>
        </p:nvSpPr>
        <p:spPr>
          <a:xfrm rot="16200000">
            <a:off x="-338968" y="3428909"/>
            <a:ext cx="881299"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C0451A"/>
                </a:solidFill>
                <a:latin typeface="Calibri" pitchFamily="34" charset="0"/>
                <a:ea typeface="Calibri" pitchFamily="34" charset="-122"/>
                <a:cs typeface="Calibri" pitchFamily="34" charset="-120"/>
              </a:rPr>
              <a:t>ARCHITECTURE</a:t>
            </a:r>
            <a:endParaRPr lang="en-US" sz="694" dirty="0"/>
          </a:p>
        </p:txBody>
      </p:sp>
      <p:sp>
        <p:nvSpPr>
          <p:cNvPr id="4" name="Shape 2"/>
          <p:cNvSpPr/>
          <p:nvPr/>
        </p:nvSpPr>
        <p:spPr>
          <a:xfrm>
            <a:off x="1439540" y="433334"/>
            <a:ext cx="190927" cy="22037"/>
          </a:xfrm>
          <a:prstGeom prst="rect">
            <a:avLst/>
          </a:prstGeom>
          <a:solidFill>
            <a:srgbClr val="C0451A"/>
          </a:solidFill>
          <a:ln/>
        </p:spPr>
      </p:sp>
      <p:sp>
        <p:nvSpPr>
          <p:cNvPr id="5" name="Text 3"/>
          <p:cNvSpPr txBox="1"/>
          <p:nvPr/>
        </p:nvSpPr>
        <p:spPr>
          <a:xfrm>
            <a:off x="1718615" y="383865"/>
            <a:ext cx="2164019"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C0451A"/>
                </a:solidFill>
                <a:latin typeface="Calibri" pitchFamily="34" charset="0"/>
                <a:ea typeface="Calibri" pitchFamily="34" charset="-122"/>
                <a:cs typeface="Calibri" pitchFamily="34" charset="-120"/>
              </a:rPr>
              <a:t>RESTORMER · 2022 · BEFORE → AFTER</a:t>
            </a:r>
            <a:endParaRPr lang="en-US" sz="781" dirty="0"/>
          </a:p>
        </p:txBody>
      </p:sp>
      <p:sp>
        <p:nvSpPr>
          <p:cNvPr id="6" name="Text 4"/>
          <p:cNvSpPr txBox="1"/>
          <p:nvPr/>
        </p:nvSpPr>
        <p:spPr>
          <a:xfrm>
            <a:off x="1439540" y="607070"/>
            <a:ext cx="7615855"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Attention becomes affordable by changing one axis</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Zamir et al., CVPR 2022. Standard self-attention costs O(W²H²) — a 256×256 image needs a 4.3-billion-entry attention matrix, against 196 tokens for a ViT. Restormer's innovation is to attend over </a:t>
            </a:r>
            <a:pPr algn="l" indent="0" marL="0">
              <a:lnSpc>
                <a:spcPts val="1735"/>
              </a:lnSpc>
              <a:buNone/>
            </a:pPr>
            <a:r>
              <a:rPr kern="0" lang="en-US" sz="1157" b="1" dirty="0">
                <a:solidFill>
                  <a:srgbClr val="5A554D"/>
                </a:solidFill>
                <a:latin typeface="Calibri" pitchFamily="34" charset="0"/>
                <a:ea typeface="Calibri" pitchFamily="34" charset="-122"/>
                <a:cs typeface="Calibri" pitchFamily="34" charset="-120"/>
              </a:rPr>
              <a:t>channels</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instead of pixels.</a:t>
            </a:r>
            <a:endParaRPr lang="en-US" sz="1157" dirty="0"/>
          </a:p>
        </p:txBody>
      </p:sp>
      <p:sp>
        <p:nvSpPr>
          <p:cNvPr id="8" name="Shape 6"/>
          <p:cNvSpPr/>
          <p:nvPr/>
        </p:nvSpPr>
        <p:spPr>
          <a:xfrm>
            <a:off x="1439540" y="1958553"/>
            <a:ext cx="5162337" cy="3475360"/>
          </a:xfrm>
          <a:prstGeom prst="rect">
            <a:avLst/>
          </a:prstGeom>
          <a:solidFill>
            <a:srgbClr val="F2F0E9"/>
          </a:solidFill>
          <a:ln/>
        </p:spPr>
      </p:sp>
      <p:sp>
        <p:nvSpPr>
          <p:cNvPr id="9" name="Shape 7"/>
          <p:cNvSpPr/>
          <p:nvPr/>
        </p:nvSpPr>
        <p:spPr>
          <a:xfrm>
            <a:off x="1439540" y="1958553"/>
            <a:ext cx="5162337" cy="22037"/>
          </a:xfrm>
          <a:prstGeom prst="rect">
            <a:avLst/>
          </a:prstGeom>
          <a:solidFill>
            <a:srgbClr val="C0451A"/>
          </a:solidFill>
          <a:ln/>
        </p:spPr>
      </p:sp>
      <p:sp>
        <p:nvSpPr>
          <p:cNvPr id="10" name="Text 8"/>
          <p:cNvSpPr txBox="1"/>
          <p:nvPr/>
        </p:nvSpPr>
        <p:spPr>
          <a:xfrm>
            <a:off x="1586393" y="2100011"/>
            <a:ext cx="3077779" cy="120975"/>
          </a:xfrm>
          <a:prstGeom prst="rect">
            <a:avLst/>
          </a:prstGeom>
          <a:noFill/>
          <a:ln/>
        </p:spPr>
        <p:txBody>
          <a:bodyPr wrap="none" lIns="0" tIns="0" rIns="0" bIns="0" rtlCol="0" anchor="t"/>
          <a:lstStyle/>
          <a:p>
            <a:pPr algn="l" indent="0" marL="0">
              <a:lnSpc>
                <a:spcPts val="952"/>
              </a:lnSpc>
              <a:buNone/>
            </a:pPr>
            <a:r>
              <a:rPr kern="0" lang="en-US" sz="781" i="1" dirty="0">
                <a:solidFill>
                  <a:srgbClr val="8A847A"/>
                </a:solidFill>
                <a:latin typeface="Calibri" pitchFamily="34" charset="0"/>
                <a:ea typeface="Calibri" pitchFamily="34" charset="-122"/>
                <a:cs typeface="Calibri" pitchFamily="34" charset="-120"/>
              </a:rPr>
              <a:t>Restormer/basicsr/models/archs/restormer_arch.py — Attention.forward</a:t>
            </a:r>
            <a:endParaRPr lang="en-US" sz="781" dirty="0"/>
          </a:p>
        </p:txBody>
      </p:sp>
      <p:sp>
        <p:nvSpPr>
          <p:cNvPr id="11" name="Text 9"/>
          <p:cNvSpPr txBox="1"/>
          <p:nvPr/>
        </p:nvSpPr>
        <p:spPr>
          <a:xfrm>
            <a:off x="1792041" y="2297339"/>
            <a:ext cx="149870" cy="1757111"/>
          </a:xfrm>
          <a:prstGeom prst="rect">
            <a:avLst/>
          </a:prstGeom>
          <a:noFill/>
          <a:ln/>
        </p:spPr>
        <p:txBody>
          <a:bodyPr wrap="none" lIns="0" tIns="0" rIns="0" bIns="0" rtlCol="0" anchor="t"/>
          <a:lstStyle/>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1</a:t>
            </a:r>
            <a:endParaRPr lang="en-US" sz="694" dirty="0"/>
          </a:p>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2</a:t>
            </a:r>
            <a:endParaRPr lang="en-US" sz="694" dirty="0"/>
          </a:p>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3</a:t>
            </a:r>
            <a:endParaRPr lang="en-US" sz="694" dirty="0"/>
          </a:p>
          <a:p>
            <a:pPr algn="r" indent="0" marL="0">
              <a:lnSpc>
                <a:spcPts val="1258"/>
              </a:lnSpc>
              <a:buNone/>
            </a:pPr>
            <a:r>
              <a:rPr kern="0" lang="en-US" sz="694" dirty="0">
                <a:solidFill>
                  <a:srgbClr val="B5AFA4"/>
                </a:solidFill>
                <a:latin typeface="Consolas" pitchFamily="34" charset="0"/>
                <a:ea typeface="Consolas" pitchFamily="34" charset="-122"/>
                <a:cs typeface="Consolas" pitchFamily="34" charset="-120"/>
              </a:rPr>
              <a:t>4</a:t>
            </a:r>
            <a:endParaRPr lang="en-US" sz="694" dirty="0"/>
          </a:p>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5</a:t>
            </a:r>
            <a:endParaRPr lang="en-US" sz="694" dirty="0"/>
          </a:p>
          <a:p>
            <a:pPr algn="r" indent="0" marL="0">
              <a:lnSpc>
                <a:spcPts val="1258"/>
              </a:lnSpc>
              <a:buNone/>
            </a:pPr>
            <a:r>
              <a:rPr kern="0" lang="en-US" sz="694" dirty="0">
                <a:solidFill>
                  <a:srgbClr val="B5AFA4"/>
                </a:solidFill>
                <a:latin typeface="Consolas" pitchFamily="34" charset="0"/>
                <a:ea typeface="Consolas" pitchFamily="34" charset="-122"/>
                <a:cs typeface="Consolas" pitchFamily="34" charset="-120"/>
              </a:rPr>
              <a:t>6</a:t>
            </a:r>
            <a:endParaRPr lang="en-US" sz="694" dirty="0"/>
          </a:p>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7</a:t>
            </a:r>
            <a:endParaRPr lang="en-US" sz="694" dirty="0"/>
          </a:p>
          <a:p>
            <a:pPr algn="r" indent="0" marL="0">
              <a:lnSpc>
                <a:spcPts val="1258"/>
              </a:lnSpc>
              <a:buNone/>
            </a:pPr>
            <a:r>
              <a:rPr kern="0" lang="en-US" sz="694" dirty="0">
                <a:solidFill>
                  <a:srgbClr val="B5AFA4"/>
                </a:solidFill>
                <a:latin typeface="Consolas" pitchFamily="34" charset="0"/>
                <a:ea typeface="Consolas" pitchFamily="34" charset="-122"/>
                <a:cs typeface="Consolas" pitchFamily="34" charset="-120"/>
              </a:rPr>
              <a:t>8</a:t>
            </a:r>
            <a:endParaRPr lang="en-US" sz="694" dirty="0"/>
          </a:p>
          <a:p>
            <a:pPr algn="r" indent="0" marL="0">
              <a:lnSpc>
                <a:spcPts val="1258"/>
              </a:lnSpc>
              <a:buNone/>
            </a:pPr>
            <a:r>
              <a:rPr kern="0" lang="en-US" sz="694" dirty="0">
                <a:solidFill>
                  <a:srgbClr val="B5AFA4"/>
                </a:solidFill>
                <a:latin typeface="Consolas" pitchFamily="34" charset="0"/>
                <a:ea typeface="Consolas" pitchFamily="34" charset="-122"/>
                <a:cs typeface="Consolas" pitchFamily="34" charset="-120"/>
              </a:rPr>
              <a:t>9</a:t>
            </a:r>
            <a:endParaRPr lang="en-US" sz="694" dirty="0"/>
          </a:p>
          <a:p>
            <a:pPr algn="r" indent="0" marL="0">
              <a:lnSpc>
                <a:spcPts val="1258"/>
              </a:lnSpc>
              <a:buNone/>
            </a:pPr>
            <a:r>
              <a:rPr kern="0" lang="en-US" sz="694" dirty="0">
                <a:solidFill>
                  <a:srgbClr val="B5AFA4"/>
                </a:solidFill>
                <a:latin typeface="Consolas" pitchFamily="34" charset="0"/>
                <a:ea typeface="Consolas" pitchFamily="34" charset="-122"/>
                <a:cs typeface="Consolas" pitchFamily="34" charset="-120"/>
              </a:rPr>
              <a:t>10</a:t>
            </a:r>
            <a:endParaRPr lang="en-US" sz="694" dirty="0"/>
          </a:p>
          <a:p>
            <a:pPr algn="r" indent="0" marL="0">
              <a:lnSpc>
                <a:spcPts val="1258"/>
              </a:lnSpc>
              <a:buNone/>
            </a:pPr>
            <a:r>
              <a:rPr kern="0" lang="en-US" sz="694" b="1" dirty="0">
                <a:solidFill>
                  <a:srgbClr val="B5AFA4"/>
                </a:solidFill>
                <a:latin typeface="Consolas" pitchFamily="34" charset="0"/>
                <a:ea typeface="Consolas" pitchFamily="34" charset="-122"/>
                <a:cs typeface="Consolas" pitchFamily="34" charset="-120"/>
              </a:rPr>
              <a:t>11</a:t>
            </a:r>
            <a:endParaRPr lang="en-US" sz="694" dirty="0"/>
          </a:p>
        </p:txBody>
      </p:sp>
      <p:sp>
        <p:nvSpPr>
          <p:cNvPr id="12" name="Text 10"/>
          <p:cNvSpPr txBox="1"/>
          <p:nvPr/>
        </p:nvSpPr>
        <p:spPr>
          <a:xfrm>
            <a:off x="1836115" y="2304654"/>
            <a:ext cx="4253606" cy="1757111"/>
          </a:xfrm>
          <a:prstGeom prst="rect">
            <a:avLst/>
          </a:prstGeom>
          <a:noFill/>
          <a:ln/>
        </p:spPr>
        <p:txBody>
          <a:bodyPr wrap="none" lIns="0" tIns="0" rIns="0" bIns="0" rtlCol="0" anchor="t"/>
          <a:lstStyle/>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BEFORE — spatial attention (ViT / SwinIR)</a:t>
            </a:r>
            <a:endParaRPr lang="en-US" sz="839" dirty="0"/>
          </a:p>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'b c h w -&gt; b head (h w) c'      -&gt; q@kT is (HW x HW)</a:t>
            </a:r>
            <a:endParaRPr lang="en-US" sz="839" dirty="0"/>
          </a:p>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256x256  -&gt;  65,536 x 65,536</a:t>
            </a:r>
            <a:endParaRPr lang="en-US" sz="839" dirty="0"/>
          </a:p>
          <a:p>
            <a:pPr algn="l" indent="0" marL="0">
              <a:lnSpc>
                <a:spcPts val="1258"/>
              </a:lnSpc>
              <a:buNone/>
            </a:pPr>
            <a:r>
              <a:rPr kern="0" lang="en-US" sz="839" dirty="0">
                <a:solidFill>
                  <a:srgbClr val="211F1B"/>
                </a:solidFill>
                <a:latin typeface="Consolas" pitchFamily="34" charset="0"/>
                <a:ea typeface="Consolas" pitchFamily="34" charset="-122"/>
                <a:cs typeface="Consolas" pitchFamily="34" charset="-120"/>
              </a:rPr>
              <a:t> </a:t>
            </a:r>
            <a:endParaRPr lang="en-US" sz="839" dirty="0"/>
          </a:p>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AFTER — Restormer MDTA</a:t>
            </a:r>
            <a:endParaRPr lang="en-US" sz="839" dirty="0"/>
          </a:p>
          <a:p>
            <a:pPr algn="l" indent="0" marL="0">
              <a:lnSpc>
                <a:spcPts val="1258"/>
              </a:lnSpc>
              <a:buNone/>
            </a:pPr>
            <a:r>
              <a:rPr kern="0" lang="en-US" sz="839" dirty="0">
                <a:solidFill>
                  <a:srgbClr val="211F1B"/>
                </a:solidFill>
                <a:latin typeface="Consolas" pitchFamily="34" charset="0"/>
                <a:ea typeface="Consolas" pitchFamily="34" charset="-122"/>
                <a:cs typeface="Consolas" pitchFamily="34" charset="-120"/>
              </a:rPr>
              <a:t>q = rearrange(q,'b (head c) h w -&gt; b head c (h w)',</a:t>
            </a:r>
            <a:endParaRPr lang="en-US" sz="839" dirty="0"/>
          </a:p>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head=self.num_heads)   # ← pixels on the LAST axis</a:t>
            </a:r>
            <a:endParaRPr lang="en-US" sz="839" dirty="0"/>
          </a:p>
          <a:p>
            <a:pPr algn="l" indent="0" marL="0">
              <a:lnSpc>
                <a:spcPts val="1258"/>
              </a:lnSpc>
              <a:buNone/>
            </a:pPr>
            <a:r>
              <a:rPr kern="0" lang="en-US" sz="839" dirty="0">
                <a:solidFill>
                  <a:srgbClr val="211F1B"/>
                </a:solidFill>
                <a:latin typeface="Consolas" pitchFamily="34" charset="0"/>
                <a:ea typeface="Consolas" pitchFamily="34" charset="-122"/>
                <a:cs typeface="Consolas" pitchFamily="34" charset="-120"/>
              </a:rPr>
              <a:t>k = rearrange(k, ...); v = rearrange(v, ...)</a:t>
            </a:r>
            <a:endParaRPr lang="en-US" sz="839" dirty="0"/>
          </a:p>
          <a:p>
            <a:pPr algn="l" indent="0" marL="0">
              <a:lnSpc>
                <a:spcPts val="1258"/>
              </a:lnSpc>
              <a:buNone/>
            </a:pPr>
            <a:r>
              <a:rPr kern="0" lang="en-US" sz="839" dirty="0">
                <a:solidFill>
                  <a:srgbClr val="211F1B"/>
                </a:solidFill>
                <a:latin typeface="Consolas" pitchFamily="34" charset="0"/>
                <a:ea typeface="Consolas" pitchFamily="34" charset="-122"/>
                <a:cs typeface="Consolas" pitchFamily="34" charset="-120"/>
              </a:rPr>
              <a:t>q = F.normalize(q,dim=-1); k = F.normalize(k,dim=-1)</a:t>
            </a:r>
            <a:endParaRPr lang="en-US" sz="839" dirty="0"/>
          </a:p>
          <a:p>
            <a:pPr algn="l" indent="0" marL="0">
              <a:lnSpc>
                <a:spcPts val="1258"/>
              </a:lnSpc>
              <a:buNone/>
            </a:pPr>
            <a:r>
              <a:rPr kern="0" lang="en-US" sz="839" dirty="0">
                <a:solidFill>
                  <a:srgbClr val="211F1B"/>
                </a:solidFill>
                <a:latin typeface="Consolas" pitchFamily="34" charset="0"/>
                <a:ea typeface="Consolas" pitchFamily="34" charset="-122"/>
                <a:cs typeface="Consolas" pitchFamily="34" charset="-120"/>
              </a:rPr>
              <a:t>attn = (q @ k.transpose(-2,-1)) * self.temperature</a:t>
            </a:r>
            <a:endParaRPr lang="en-US" sz="839" dirty="0"/>
          </a:p>
          <a:p>
            <a:pPr algn="l" indent="0" marL="0">
              <a:lnSpc>
                <a:spcPts val="1258"/>
              </a:lnSpc>
              <a:buNone/>
            </a:pPr>
            <a:r>
              <a:rPr kern="0" lang="en-US" sz="839" b="1" dirty="0">
                <a:solidFill>
                  <a:srgbClr val="C0451A"/>
                </a:solidFill>
                <a:latin typeface="Consolas" pitchFamily="34" charset="0"/>
                <a:ea typeface="Consolas" pitchFamily="34" charset="-122"/>
                <a:cs typeface="Consolas" pitchFamily="34" charset="-120"/>
              </a:rPr>
              <a:t>#   -&gt; (C/head x C/head).  At level 1: 48 x 48, any image size</a:t>
            </a:r>
            <a:endParaRPr lang="en-US" sz="839" dirty="0"/>
          </a:p>
        </p:txBody>
      </p:sp>
      <p:sp>
        <p:nvSpPr>
          <p:cNvPr id="13" name="Shape 11"/>
          <p:cNvSpPr/>
          <p:nvPr/>
        </p:nvSpPr>
        <p:spPr>
          <a:xfrm>
            <a:off x="6880860" y="1958553"/>
            <a:ext cx="7315" cy="3475360"/>
          </a:xfrm>
          <a:prstGeom prst="rect">
            <a:avLst/>
          </a:prstGeom>
          <a:solidFill>
            <a:srgbClr val="DFDBD2"/>
          </a:solidFill>
          <a:ln/>
        </p:spPr>
      </p:sp>
      <p:sp>
        <p:nvSpPr>
          <p:cNvPr id="14" name="Shape 12"/>
          <p:cNvSpPr/>
          <p:nvPr/>
        </p:nvSpPr>
        <p:spPr>
          <a:xfrm>
            <a:off x="7167342" y="1958553"/>
            <a:ext cx="4495556" cy="7315"/>
          </a:xfrm>
          <a:prstGeom prst="rect">
            <a:avLst/>
          </a:prstGeom>
          <a:solidFill>
            <a:srgbClr val="DFDBD2"/>
          </a:solidFill>
          <a:ln/>
        </p:spPr>
      </p:sp>
      <p:sp>
        <p:nvSpPr>
          <p:cNvPr id="15" name="Text 13"/>
          <p:cNvSpPr txBox="1"/>
          <p:nvPr/>
        </p:nvSpPr>
        <p:spPr>
          <a:xfrm>
            <a:off x="7167342" y="2090776"/>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6" name="Text 14"/>
          <p:cNvSpPr txBox="1"/>
          <p:nvPr/>
        </p:nvSpPr>
        <p:spPr>
          <a:xfrm>
            <a:off x="7475769" y="2080626"/>
            <a:ext cx="4218584" cy="62051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One einops pattern is the entire complexity claim.</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Putting pixels on the last axis makes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q @ k.transpose(-2,-1)</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C×C matrix — 48×48 whether the image is 256² or 4000×3000. Cost becomes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linear</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in pixels.</a:t>
            </a:r>
            <a:endParaRPr lang="en-US" sz="1070" dirty="0"/>
          </a:p>
        </p:txBody>
      </p:sp>
      <p:sp>
        <p:nvSpPr>
          <p:cNvPr id="17" name="Text 15"/>
          <p:cNvSpPr txBox="1"/>
          <p:nvPr/>
        </p:nvSpPr>
        <p:spPr>
          <a:xfrm>
            <a:off x="7167342" y="2828696"/>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8" name="Text 16"/>
          <p:cNvSpPr txBox="1"/>
          <p:nvPr/>
        </p:nvSpPr>
        <p:spPr>
          <a:xfrm>
            <a:off x="7475769" y="2818638"/>
            <a:ext cx="4218584" cy="815188"/>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Is it really global?</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Honestly: not pairwise-pixel. Every channel is computed from every pixel, so channel statistics carry image-wide information; the paper says global relationships are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implicitly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modelled and never claims otherwise.</a:t>
            </a:r>
            <a:endParaRPr lang="en-US" sz="1070" dirty="0"/>
          </a:p>
        </p:txBody>
      </p:sp>
      <p:sp>
        <p:nvSpPr>
          <p:cNvPr id="19" name="Text 17"/>
          <p:cNvSpPr txBox="1"/>
          <p:nvPr/>
        </p:nvSpPr>
        <p:spPr>
          <a:xfrm>
            <a:off x="7167342" y="3761476"/>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0" name="Text 18"/>
          <p:cNvSpPr txBox="1"/>
          <p:nvPr/>
        </p:nvSpPr>
        <p:spPr>
          <a:xfrm>
            <a:off x="7475769" y="3751417"/>
            <a:ext cx="4218584" cy="63514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depth-wise convolutions are load-bearing, not decoration.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Removing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qkv_dwconv</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costs 0.15 dB on Urban100 σ=50 — more than most architecture papers gain in total.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[Restormer22 Table 7]</a:t>
            </a:r>
            <a:endParaRPr lang="en-US" sz="1070" dirty="0"/>
          </a:p>
        </p:txBody>
      </p:sp>
      <p:sp>
        <p:nvSpPr>
          <p:cNvPr id="21" name="Text 19"/>
          <p:cNvSpPr txBox="1"/>
          <p:nvPr/>
        </p:nvSpPr>
        <p:spPr>
          <a:xfrm>
            <a:off x="7167342" y="4508541"/>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2" name="Text 20"/>
          <p:cNvSpPr txBox="1"/>
          <p:nvPr/>
        </p:nvSpPr>
        <p:spPr>
          <a:xfrm>
            <a:off x="7475769" y="4498482"/>
            <a:ext cx="4218584" cy="815188"/>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Why SOTA:</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first method past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40 dB on both SIDD and DND</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leads Urban100 at every noise level; 3.14× fewer FLOPs and 13× faster than SwinIR. Published at CVPR 2022; how long it holds those tables is not something any source states.</a:t>
            </a:r>
            <a:endParaRPr lang="en-US" sz="1070" dirty="0"/>
          </a:p>
        </p:txBody>
      </p:sp>
      <p:sp>
        <p:nvSpPr>
          <p:cNvPr id="23" name="Text 21"/>
          <p:cNvSpPr txBox="1"/>
          <p:nvPr/>
        </p:nvSpPr>
        <p:spPr>
          <a:xfrm>
            <a:off x="8505017" y="6274430"/>
            <a:ext cx="3157880"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measured — swz30/Restormer, verbatim · Restormer22 §1, §3.1, Tables 4, 6, 7</a:t>
            </a:r>
            <a:endParaRPr lang="en-US" sz="752" dirty="0"/>
          </a:p>
        </p:txBody>
      </p:sp>
      <p:sp>
        <p:nvSpPr>
          <p:cNvPr id="24" name="Shape 22"/>
          <p:cNvSpPr/>
          <p:nvPr/>
        </p:nvSpPr>
        <p:spPr>
          <a:xfrm>
            <a:off x="1439540" y="6556705"/>
            <a:ext cx="10223358" cy="7315"/>
          </a:xfrm>
          <a:prstGeom prst="rect">
            <a:avLst/>
          </a:prstGeom>
          <a:solidFill>
            <a:srgbClr val="C9C4B9"/>
          </a:solidFill>
          <a:ln/>
        </p:spPr>
      </p:sp>
      <p:sp>
        <p:nvSpPr>
          <p:cNvPr id="25" name="Shape 23"/>
          <p:cNvSpPr/>
          <p:nvPr/>
        </p:nvSpPr>
        <p:spPr>
          <a:xfrm>
            <a:off x="9391162" y="6545732"/>
            <a:ext cx="1704167" cy="29352"/>
          </a:xfrm>
          <a:prstGeom prst="rect">
            <a:avLst/>
          </a:prstGeom>
          <a:solidFill>
            <a:srgbClr val="C0451A"/>
          </a:solidFill>
          <a:ln/>
        </p:spPr>
      </p:sp>
      <p:sp>
        <p:nvSpPr>
          <p:cNvPr id="26" name="Shape 24"/>
          <p:cNvSpPr/>
          <p:nvPr/>
        </p:nvSpPr>
        <p:spPr>
          <a:xfrm>
            <a:off x="1439540" y="6519946"/>
            <a:ext cx="7315" cy="36759"/>
          </a:xfrm>
          <a:prstGeom prst="rect">
            <a:avLst/>
          </a:prstGeom>
          <a:solidFill>
            <a:srgbClr val="C9C4B9"/>
          </a:solidFill>
          <a:ln/>
        </p:spPr>
      </p:sp>
      <p:sp>
        <p:nvSpPr>
          <p:cNvPr id="27" name="Text 25"/>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6"/>
          <p:cNvSpPr/>
          <p:nvPr/>
        </p:nvSpPr>
        <p:spPr>
          <a:xfrm>
            <a:off x="5415351" y="6519946"/>
            <a:ext cx="7315" cy="36759"/>
          </a:xfrm>
          <a:prstGeom prst="rect">
            <a:avLst/>
          </a:prstGeom>
          <a:solidFill>
            <a:srgbClr val="C9C4B9"/>
          </a:solidFill>
          <a:ln/>
        </p:spPr>
      </p:sp>
      <p:sp>
        <p:nvSpPr>
          <p:cNvPr id="29" name="Text 27"/>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8"/>
          <p:cNvSpPr/>
          <p:nvPr/>
        </p:nvSpPr>
        <p:spPr>
          <a:xfrm>
            <a:off x="7119610" y="6519946"/>
            <a:ext cx="7315" cy="36759"/>
          </a:xfrm>
          <a:prstGeom prst="rect">
            <a:avLst/>
          </a:prstGeom>
          <a:solidFill>
            <a:srgbClr val="C9C4B9"/>
          </a:solidFill>
          <a:ln/>
        </p:spPr>
      </p:sp>
      <p:sp>
        <p:nvSpPr>
          <p:cNvPr id="31" name="Text 29"/>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30"/>
          <p:cNvSpPr/>
          <p:nvPr/>
        </p:nvSpPr>
        <p:spPr>
          <a:xfrm>
            <a:off x="9958639" y="6519946"/>
            <a:ext cx="7315" cy="36759"/>
          </a:xfrm>
          <a:prstGeom prst="rect">
            <a:avLst/>
          </a:prstGeom>
          <a:solidFill>
            <a:srgbClr val="C9C4B9"/>
          </a:solidFill>
          <a:ln/>
        </p:spPr>
      </p:sp>
      <p:sp>
        <p:nvSpPr>
          <p:cNvPr id="33" name="Text 31"/>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32"/>
          <p:cNvSpPr/>
          <p:nvPr/>
        </p:nvSpPr>
        <p:spPr>
          <a:xfrm>
            <a:off x="11662898" y="6519946"/>
            <a:ext cx="7315" cy="36759"/>
          </a:xfrm>
          <a:prstGeom prst="rect">
            <a:avLst/>
          </a:prstGeom>
          <a:solidFill>
            <a:srgbClr val="C9C4B9"/>
          </a:solidFill>
          <a:ln/>
        </p:spPr>
      </p:sp>
      <p:sp>
        <p:nvSpPr>
          <p:cNvPr id="35" name="Text 33"/>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645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23</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219254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NAFNET · 2022 · BEFORE → AFTER</a:t>
            </a:r>
            <a:endParaRPr lang="en-US" sz="888" dirty="0"/>
          </a:p>
        </p:txBody>
      </p:sp>
      <p:sp>
        <p:nvSpPr>
          <p:cNvPr id="6" name="Text 4"/>
          <p:cNvSpPr txBox="1"/>
          <p:nvPr/>
        </p:nvSpPr>
        <p:spPr>
          <a:xfrm>
            <a:off x="1636685" y="690281"/>
            <a:ext cx="910769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paper that asked whether any of it was necessary</a:t>
            </a:r>
            <a:endParaRPr lang="en-US" sz="3025" dirty="0"/>
          </a:p>
        </p:txBody>
      </p:sp>
      <p:sp>
        <p:nvSpPr>
          <p:cNvPr id="7" name="Text 5"/>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Chen et al., ECCV 2022. While everyone added mechanisms, NAFNet removed them and scored higher. Its derivation is the most elegant reasoning in the modern half of this story.</a:t>
            </a:r>
            <a:endParaRPr lang="en-US" sz="1315" dirty="0"/>
          </a:p>
        </p:txBody>
      </p:sp>
      <p:sp>
        <p:nvSpPr>
          <p:cNvPr id="8" name="Shape 6"/>
          <p:cNvSpPr/>
          <p:nvPr/>
        </p:nvSpPr>
        <p:spPr>
          <a:xfrm>
            <a:off x="4579498" y="1976293"/>
            <a:ext cx="4068074" cy="3006181"/>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4579498" y="1976293"/>
            <a:ext cx="4068074" cy="8321"/>
          </a:xfrm>
          <a:prstGeom prst="rect">
            <a:avLst/>
          </a:prstGeom>
          <a:solidFill>
            <a:srgbClr val="C9C4B9"/>
          </a:solidFill>
          <a:ln/>
        </p:spPr>
      </p:sp>
      <p:sp>
        <p:nvSpPr>
          <p:cNvPr id="10" name="Shape 8"/>
          <p:cNvSpPr/>
          <p:nvPr/>
        </p:nvSpPr>
        <p:spPr>
          <a:xfrm>
            <a:off x="4579498" y="4974153"/>
            <a:ext cx="4068074" cy="8321"/>
          </a:xfrm>
          <a:prstGeom prst="rect">
            <a:avLst/>
          </a:prstGeom>
          <a:solidFill>
            <a:srgbClr val="C9C4B9"/>
          </a:solidFill>
          <a:ln/>
        </p:spPr>
      </p:sp>
      <p:sp>
        <p:nvSpPr>
          <p:cNvPr id="11" name="Shape 9"/>
          <p:cNvSpPr/>
          <p:nvPr/>
        </p:nvSpPr>
        <p:spPr>
          <a:xfrm>
            <a:off x="4579498" y="1976293"/>
            <a:ext cx="8321" cy="3006181"/>
          </a:xfrm>
          <a:prstGeom prst="rect">
            <a:avLst/>
          </a:prstGeom>
          <a:solidFill>
            <a:srgbClr val="C9C4B9"/>
          </a:solidFill>
          <a:ln/>
        </p:spPr>
      </p:sp>
      <p:sp>
        <p:nvSpPr>
          <p:cNvPr id="12" name="Shape 10"/>
          <p:cNvSpPr/>
          <p:nvPr/>
        </p:nvSpPr>
        <p:spPr>
          <a:xfrm>
            <a:off x="8639251" y="1976293"/>
            <a:ext cx="8321" cy="3006181"/>
          </a:xfrm>
          <a:prstGeom prst="rect">
            <a:avLst/>
          </a:prstGeom>
          <a:solidFill>
            <a:srgbClr val="C9C4B9"/>
          </a:solidFill>
          <a:ln/>
        </p:spPr>
      </p:sp>
      <p:pic>
        <p:nvPicPr>
          <p:cNvPr id="13" name="Image 0" descr="The lineage NAFNet derives in one figure: the transformer block simplified step by step down to SimpleGate and SCA.">    </p:cNvPr>
          <p:cNvPicPr>
            <a:picLocks noChangeAspect="1"/>
          </p:cNvPicPr>
          <p:nvPr/>
        </p:nvPicPr>
        <p:blipFill>
          <a:blip r:embed="rId1"/>
          <a:stretch>
            <a:fillRect/>
          </a:stretch>
        </p:blipFill>
        <p:spPr>
          <a:xfrm>
            <a:off x="4704679" y="2101566"/>
            <a:ext cx="3817620" cy="2755636"/>
          </a:xfrm>
          <a:prstGeom prst="rect">
            <a:avLst/>
          </a:prstGeom>
        </p:spPr>
      </p:pic>
      <p:sp>
        <p:nvSpPr>
          <p:cNvPr id="14" name="Text 11"/>
          <p:cNvSpPr txBox="1"/>
          <p:nvPr/>
        </p:nvSpPr>
        <p:spPr>
          <a:xfrm>
            <a:off x="3267883" y="5096866"/>
            <a:ext cx="6691305" cy="163678"/>
          </a:xfrm>
          <a:prstGeom prst="rect">
            <a:avLst/>
          </a:prstGeom>
          <a:noFill/>
          <a:ln/>
        </p:spPr>
        <p:txBody>
          <a:bodyPr wrap="non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The lineage NAFNet derives in one figure: the transformer block simplified step by step down to SimpleGate and SCA. [NAFNet22 · Fig. 3]</a:t>
            </a:r>
            <a:endParaRPr lang="en-US" sz="921" dirty="0"/>
          </a:p>
        </p:txBody>
      </p:sp>
      <p:sp>
        <p:nvSpPr>
          <p:cNvPr id="15" name="Text 12"/>
          <p:cNvSpPr txBox="1"/>
          <p:nvPr/>
        </p:nvSpPr>
        <p:spPr>
          <a:xfrm>
            <a:off x="8101493" y="6194511"/>
            <a:ext cx="3488985"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measured — megvii-research/NAFNet, verbatim · NAFNet22 §4, §5, abstract</a:t>
            </a:r>
            <a:endParaRPr lang="en-US" sz="855"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9378635" y="6502938"/>
            <a:ext cx="1659270" cy="33376"/>
          </a:xfrm>
          <a:prstGeom prst="rect">
            <a:avLst/>
          </a:prstGeom>
          <a:solidFill>
            <a:srgbClr val="C0451A"/>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039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23</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2052005"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NAFNET · 2022 · BEFORE → AFTER</a:t>
            </a:r>
            <a:endParaRPr lang="en-US" sz="831" dirty="0"/>
          </a:p>
        </p:txBody>
      </p:sp>
      <p:sp>
        <p:nvSpPr>
          <p:cNvPr id="6" name="Text 4"/>
          <p:cNvSpPr txBox="1"/>
          <p:nvPr/>
        </p:nvSpPr>
        <p:spPr>
          <a:xfrm>
            <a:off x="3895618" y="408462"/>
            <a:ext cx="81299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 CONTINUED</a:t>
            </a:r>
            <a:endParaRPr lang="en-US" sz="831" dirty="0"/>
          </a:p>
        </p:txBody>
      </p:sp>
      <p:sp>
        <p:nvSpPr>
          <p:cNvPr id="7" name="Text 5"/>
          <p:cNvSpPr txBox="1"/>
          <p:nvPr/>
        </p:nvSpPr>
        <p:spPr>
          <a:xfrm>
            <a:off x="1531803" y="646024"/>
            <a:ext cx="8523945"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The paper that asked whether any of it was necessary</a:t>
            </a:r>
            <a:endParaRPr lang="en-US" sz="2831" dirty="0"/>
          </a:p>
        </p:txBody>
      </p:sp>
      <p:sp>
        <p:nvSpPr>
          <p:cNvPr id="8" name="Shape 6"/>
          <p:cNvSpPr/>
          <p:nvPr/>
        </p:nvSpPr>
        <p:spPr>
          <a:xfrm>
            <a:off x="1531803" y="1161928"/>
            <a:ext cx="5098512" cy="4103004"/>
          </a:xfrm>
          <a:prstGeom prst="rect">
            <a:avLst/>
          </a:prstGeom>
          <a:solidFill>
            <a:srgbClr val="F2F0E9"/>
          </a:solidFill>
          <a:ln/>
        </p:spPr>
      </p:sp>
      <p:sp>
        <p:nvSpPr>
          <p:cNvPr id="9" name="Shape 7"/>
          <p:cNvSpPr/>
          <p:nvPr/>
        </p:nvSpPr>
        <p:spPr>
          <a:xfrm>
            <a:off x="1531803" y="1161928"/>
            <a:ext cx="5098512" cy="23409"/>
          </a:xfrm>
          <a:prstGeom prst="rect">
            <a:avLst/>
          </a:prstGeom>
          <a:solidFill>
            <a:srgbClr val="C0451A"/>
          </a:solidFill>
          <a:ln/>
        </p:spPr>
      </p:sp>
      <p:sp>
        <p:nvSpPr>
          <p:cNvPr id="10" name="Text 8"/>
          <p:cNvSpPr txBox="1"/>
          <p:nvPr/>
        </p:nvSpPr>
        <p:spPr>
          <a:xfrm>
            <a:off x="1688074" y="1312438"/>
            <a:ext cx="2108424" cy="128748"/>
          </a:xfrm>
          <a:prstGeom prst="rect">
            <a:avLst/>
          </a:prstGeom>
          <a:noFill/>
          <a:ln/>
        </p:spPr>
        <p:txBody>
          <a:bodyPr wrap="none" lIns="0" tIns="0" rIns="0" bIns="0" rtlCol="0" anchor="t"/>
          <a:lstStyle/>
          <a:p>
            <a:pPr algn="l" indent="0" marL="0">
              <a:lnSpc>
                <a:spcPts val="1014"/>
              </a:lnSpc>
              <a:buNone/>
            </a:pPr>
            <a:r>
              <a:rPr kern="0" lang="en-US" sz="831" i="1" dirty="0">
                <a:solidFill>
                  <a:srgbClr val="8A847A"/>
                </a:solidFill>
                <a:latin typeface="Calibri" pitchFamily="34" charset="0"/>
                <a:ea typeface="Calibri" pitchFamily="34" charset="-122"/>
                <a:cs typeface="Calibri" pitchFamily="34" charset="-120"/>
              </a:rPr>
              <a:t>NAFNet/basicsr/models/archs/NAFNet_arch.py</a:t>
            </a:r>
            <a:endParaRPr lang="en-US" sz="831" dirty="0"/>
          </a:p>
        </p:txBody>
      </p:sp>
      <p:sp>
        <p:nvSpPr>
          <p:cNvPr id="11" name="Text 9"/>
          <p:cNvSpPr txBox="1"/>
          <p:nvPr/>
        </p:nvSpPr>
        <p:spPr>
          <a:xfrm>
            <a:off x="1906890" y="1522385"/>
            <a:ext cx="159471" cy="2039752"/>
          </a:xfrm>
          <a:prstGeom prst="rect">
            <a:avLst/>
          </a:prstGeom>
          <a:noFill/>
          <a:ln/>
        </p:spPr>
        <p:txBody>
          <a:bodyPr wrap="none" lIns="0" tIns="0" rIns="0" bIns="0" rtlCol="0" anchor="t"/>
          <a:lstStyle/>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2</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3</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4</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5</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6</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7</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8</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9</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10</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11</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12</a:t>
            </a:r>
            <a:endParaRPr lang="en-US" sz="738" dirty="0"/>
          </a:p>
        </p:txBody>
      </p:sp>
      <p:sp>
        <p:nvSpPr>
          <p:cNvPr id="12" name="Text 10"/>
          <p:cNvSpPr txBox="1"/>
          <p:nvPr/>
        </p:nvSpPr>
        <p:spPr>
          <a:xfrm>
            <a:off x="1953798" y="1530157"/>
            <a:ext cx="4243456" cy="2039752"/>
          </a:xfrm>
          <a:prstGeom prst="rect">
            <a:avLst/>
          </a:prstGeom>
          <a:noFill/>
          <a:ln/>
        </p:spPr>
        <p:txBody>
          <a:bodyPr wrap="none" lIns="0" tIns="0" rIns="0" bIns="0" rtlCol="0" anchor="t"/>
          <a:lstStyle/>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BEFORE — GELU, then a gate</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GELU(x) = 0.5x(1+tanh[sqrt(2/pi)(x+0.044715x^3)])</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CA(X)   = X * sigmoid(W2 relu(W1 pool(X)))</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AFTER — SimpleGate: the gate IS the nonlinearity</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def forward(self, x):</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x1, x2 = x.chunk(2, dim=1)</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return x1 * x2                # ← replaces GELU entirely</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AFTER — SCA: no sigmoid, no relu</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self.sca = nn.Sequential(nn.AdaptiveAvgPool2d(1),</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nn.Conv2d(c, c, 1))</a:t>
            </a:r>
            <a:endParaRPr lang="en-US" sz="892" dirty="0"/>
          </a:p>
        </p:txBody>
      </p:sp>
      <p:sp>
        <p:nvSpPr>
          <p:cNvPr id="13" name="Shape 11"/>
          <p:cNvSpPr/>
          <p:nvPr/>
        </p:nvSpPr>
        <p:spPr>
          <a:xfrm>
            <a:off x="6927312" y="1161928"/>
            <a:ext cx="7772" cy="4103004"/>
          </a:xfrm>
          <a:prstGeom prst="rect">
            <a:avLst/>
          </a:prstGeom>
          <a:solidFill>
            <a:srgbClr val="DFDBD2"/>
          </a:solidFill>
          <a:ln/>
        </p:spPr>
      </p:sp>
      <p:sp>
        <p:nvSpPr>
          <p:cNvPr id="14" name="Shape 12"/>
          <p:cNvSpPr/>
          <p:nvPr/>
        </p:nvSpPr>
        <p:spPr>
          <a:xfrm>
            <a:off x="7232081" y="1161928"/>
            <a:ext cx="4396801" cy="7772"/>
          </a:xfrm>
          <a:prstGeom prst="rect">
            <a:avLst/>
          </a:prstGeom>
          <a:solidFill>
            <a:srgbClr val="DFDBD2"/>
          </a:solidFill>
          <a:ln/>
        </p:spPr>
      </p:sp>
      <p:sp>
        <p:nvSpPr>
          <p:cNvPr id="15" name="Text 13"/>
          <p:cNvSpPr txBox="1"/>
          <p:nvPr/>
        </p:nvSpPr>
        <p:spPr>
          <a:xfrm>
            <a:off x="7232081" y="1302563"/>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6" name="Text 14"/>
          <p:cNvSpPr txBox="1"/>
          <p:nvPr/>
        </p:nvSpPr>
        <p:spPr>
          <a:xfrm>
            <a:off x="7560351" y="1291864"/>
            <a:ext cx="4100444" cy="1084387"/>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derivation.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GELU is a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special case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of a gated linear unit with f, g = identity and σ = Φ. But a GLU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itself contains nonlinearity and does not depend on σ</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f(X)⊙g(X) is nonlinear because a product of two linear maps is not linear. So delete the activation; the gate already supplies it.</a:t>
            </a:r>
            <a:endParaRPr lang="en-US" sz="1138" dirty="0"/>
          </a:p>
        </p:txBody>
      </p:sp>
      <p:sp>
        <p:nvSpPr>
          <p:cNvPr id="17" name="Text 15"/>
          <p:cNvSpPr txBox="1"/>
          <p:nvPr/>
        </p:nvSpPr>
        <p:spPr>
          <a:xfrm>
            <a:off x="7232081" y="2511948"/>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8" name="Text 16"/>
          <p:cNvSpPr txBox="1"/>
          <p:nvPr/>
        </p:nvSpPr>
        <p:spPr>
          <a:xfrm>
            <a:off x="7560351" y="2501250"/>
            <a:ext cx="4100444" cy="1084387"/>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Apply the same argument to channel attention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both its nonlinearities vanish too. Result: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no Sigmoid, no ReLU, no GELU, no Softmax anywhere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the first work demonstrating that the nonlinear activation functions may not be necessary for SOTA computer vision methods.</a:t>
            </a:r>
            <a:endParaRPr lang="en-US" sz="1138" dirty="0"/>
          </a:p>
        </p:txBody>
      </p:sp>
      <p:sp>
        <p:nvSpPr>
          <p:cNvPr id="19" name="Text 17"/>
          <p:cNvSpPr txBox="1"/>
          <p:nvPr/>
        </p:nvSpPr>
        <p:spPr>
          <a:xfrm>
            <a:off x="7232081" y="3721334"/>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0" name="Text 18"/>
          <p:cNvSpPr txBox="1"/>
          <p:nvPr/>
        </p:nvSpPr>
        <p:spPr>
          <a:xfrm>
            <a:off x="7560351" y="3710635"/>
            <a:ext cx="410044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Both simplifications improved the score.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SimpleGate beats GELU (+0.08), SCA beats CA (+0.03) on SIDD.</a:t>
            </a:r>
            <a:endParaRPr lang="en-US" sz="1138" dirty="0"/>
          </a:p>
        </p:txBody>
      </p:sp>
      <p:sp>
        <p:nvSpPr>
          <p:cNvPr id="21" name="Text 19"/>
          <p:cNvSpPr txBox="1"/>
          <p:nvPr/>
        </p:nvSpPr>
        <p:spPr>
          <a:xfrm>
            <a:off x="7232081" y="4280124"/>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22" name="Text 20"/>
          <p:cNvSpPr txBox="1"/>
          <p:nvPr/>
        </p:nvSpPr>
        <p:spPr>
          <a:xfrm>
            <a:off x="7560351" y="4269425"/>
            <a:ext cx="4100444" cy="867491"/>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uncomfortable finding in their own ablation: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largest single gain is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LayerNorm, +0.44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because it stabilises training at a 10× larger learning rate.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A large share of reported architectural progress in restoration is optimisation progress wearing a costume.</a:t>
            </a:r>
            <a:endParaRPr lang="en-US" sz="1138" dirty="0"/>
          </a:p>
        </p:txBody>
      </p:sp>
      <p:sp>
        <p:nvSpPr>
          <p:cNvPr id="23" name="Shape 21"/>
          <p:cNvSpPr/>
          <p:nvPr/>
        </p:nvSpPr>
        <p:spPr>
          <a:xfrm>
            <a:off x="1531803" y="5483657"/>
            <a:ext cx="10097262" cy="15636"/>
          </a:xfrm>
          <a:prstGeom prst="rect">
            <a:avLst/>
          </a:prstGeom>
          <a:solidFill>
            <a:srgbClr val="C0451A"/>
          </a:solidFill>
          <a:ln/>
        </p:spPr>
      </p:sp>
      <p:sp>
        <p:nvSpPr>
          <p:cNvPr id="24" name="Text 22"/>
          <p:cNvSpPr txBox="1"/>
          <p:nvPr/>
        </p:nvSpPr>
        <p:spPr>
          <a:xfrm>
            <a:off x="1531803" y="5622463"/>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Why SOTA: 40.30 dB on SIDD — the highest real-noise result in our comparison — at less than half the previous best's compute.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Published at ECCV 2022. And by far the simplest code to maintain.</a:t>
            </a:r>
            <a:endParaRPr lang="en-US" sz="1046" dirty="0"/>
          </a:p>
        </p:txBody>
      </p:sp>
      <p:sp>
        <p:nvSpPr>
          <p:cNvPr id="25" name="Text 23"/>
          <p:cNvSpPr txBox="1"/>
          <p:nvPr/>
        </p:nvSpPr>
        <p:spPr>
          <a:xfrm>
            <a:off x="8363651" y="6237031"/>
            <a:ext cx="3265322"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megvii-research/NAFNet, verbatim · NAFNet22 §4, §5, abstract</a:t>
            </a:r>
            <a:endParaRPr lang="en-US" sz="800" dirty="0"/>
          </a:p>
        </p:txBody>
      </p:sp>
      <p:sp>
        <p:nvSpPr>
          <p:cNvPr id="26" name="Shape 24"/>
          <p:cNvSpPr/>
          <p:nvPr/>
        </p:nvSpPr>
        <p:spPr>
          <a:xfrm>
            <a:off x="1531803" y="6537411"/>
            <a:ext cx="10097262" cy="7772"/>
          </a:xfrm>
          <a:prstGeom prst="rect">
            <a:avLst/>
          </a:prstGeom>
          <a:solidFill>
            <a:srgbClr val="C9C4B9"/>
          </a:solidFill>
          <a:ln/>
        </p:spPr>
      </p:sp>
      <p:sp>
        <p:nvSpPr>
          <p:cNvPr id="27" name="Shape 25"/>
          <p:cNvSpPr/>
          <p:nvPr/>
        </p:nvSpPr>
        <p:spPr>
          <a:xfrm>
            <a:off x="9385310" y="6525707"/>
            <a:ext cx="1683228" cy="31272"/>
          </a:xfrm>
          <a:prstGeom prst="rect">
            <a:avLst/>
          </a:prstGeom>
          <a:solidFill>
            <a:srgbClr val="C0451A"/>
          </a:solidFill>
          <a:ln/>
        </p:spPr>
      </p:sp>
      <p:sp>
        <p:nvSpPr>
          <p:cNvPr id="28" name="Shape 26"/>
          <p:cNvSpPr/>
          <p:nvPr/>
        </p:nvSpPr>
        <p:spPr>
          <a:xfrm>
            <a:off x="1531803" y="6498366"/>
            <a:ext cx="7772" cy="39045"/>
          </a:xfrm>
          <a:prstGeom prst="rect">
            <a:avLst/>
          </a:prstGeom>
          <a:solidFill>
            <a:srgbClr val="C9C4B9"/>
          </a:solidFill>
          <a:ln/>
        </p:spPr>
      </p:sp>
      <p:sp>
        <p:nvSpPr>
          <p:cNvPr id="29" name="Text 27"/>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0" name="Shape 28"/>
          <p:cNvSpPr/>
          <p:nvPr/>
        </p:nvSpPr>
        <p:spPr>
          <a:xfrm>
            <a:off x="5458511" y="6498366"/>
            <a:ext cx="7772" cy="39045"/>
          </a:xfrm>
          <a:prstGeom prst="rect">
            <a:avLst/>
          </a:prstGeom>
          <a:solidFill>
            <a:srgbClr val="C9C4B9"/>
          </a:solidFill>
          <a:ln/>
        </p:spPr>
      </p:sp>
      <p:sp>
        <p:nvSpPr>
          <p:cNvPr id="31" name="Text 29"/>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2" name="Shape 30"/>
          <p:cNvSpPr/>
          <p:nvPr/>
        </p:nvSpPr>
        <p:spPr>
          <a:xfrm>
            <a:off x="7141738" y="6498366"/>
            <a:ext cx="7772" cy="39045"/>
          </a:xfrm>
          <a:prstGeom prst="rect">
            <a:avLst/>
          </a:prstGeom>
          <a:solidFill>
            <a:srgbClr val="C9C4B9"/>
          </a:solidFill>
          <a:ln/>
        </p:spPr>
      </p:sp>
      <p:sp>
        <p:nvSpPr>
          <p:cNvPr id="33" name="Text 31"/>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4" name="Shape 32"/>
          <p:cNvSpPr/>
          <p:nvPr/>
        </p:nvSpPr>
        <p:spPr>
          <a:xfrm>
            <a:off x="9945654" y="6498366"/>
            <a:ext cx="7772" cy="39045"/>
          </a:xfrm>
          <a:prstGeom prst="rect">
            <a:avLst/>
          </a:prstGeom>
          <a:solidFill>
            <a:srgbClr val="C9C4B9"/>
          </a:solidFill>
          <a:ln/>
        </p:spPr>
      </p:sp>
      <p:sp>
        <p:nvSpPr>
          <p:cNvPr id="35" name="Text 33"/>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6" name="Shape 34"/>
          <p:cNvSpPr/>
          <p:nvPr/>
        </p:nvSpPr>
        <p:spPr>
          <a:xfrm>
            <a:off x="11628973" y="6498366"/>
            <a:ext cx="7772" cy="39045"/>
          </a:xfrm>
          <a:prstGeom prst="rect">
            <a:avLst/>
          </a:prstGeom>
          <a:solidFill>
            <a:srgbClr val="C9C4B9"/>
          </a:solidFill>
          <a:ln/>
        </p:spPr>
      </p:sp>
      <p:sp>
        <p:nvSpPr>
          <p:cNvPr id="37" name="Text 35"/>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1886"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24</a:t>
            </a:r>
            <a:endParaRPr lang="en-US" sz="2545" dirty="0"/>
          </a:p>
        </p:txBody>
      </p:sp>
      <p:sp>
        <p:nvSpPr>
          <p:cNvPr id="3" name="Text 1"/>
          <p:cNvSpPr txBox="1"/>
          <p:nvPr/>
        </p:nvSpPr>
        <p:spPr>
          <a:xfrm rot="16200000">
            <a:off x="-338968" y="3428909"/>
            <a:ext cx="881299"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C0451A"/>
                </a:solidFill>
                <a:latin typeface="Calibri" pitchFamily="34" charset="0"/>
                <a:ea typeface="Calibri" pitchFamily="34" charset="-122"/>
                <a:cs typeface="Calibri" pitchFamily="34" charset="-120"/>
              </a:rPr>
              <a:t>ARCHITECTURE</a:t>
            </a:r>
            <a:endParaRPr lang="en-US" sz="694" dirty="0"/>
          </a:p>
        </p:txBody>
      </p:sp>
      <p:sp>
        <p:nvSpPr>
          <p:cNvPr id="4" name="Shape 2"/>
          <p:cNvSpPr/>
          <p:nvPr/>
        </p:nvSpPr>
        <p:spPr>
          <a:xfrm>
            <a:off x="1439540" y="433334"/>
            <a:ext cx="190927" cy="22037"/>
          </a:xfrm>
          <a:prstGeom prst="rect">
            <a:avLst/>
          </a:prstGeom>
          <a:solidFill>
            <a:srgbClr val="C0451A"/>
          </a:solidFill>
          <a:ln/>
        </p:spPr>
      </p:sp>
      <p:sp>
        <p:nvSpPr>
          <p:cNvPr id="5" name="Text 3"/>
          <p:cNvSpPr txBox="1"/>
          <p:nvPr/>
        </p:nvSpPr>
        <p:spPr>
          <a:xfrm>
            <a:off x="1718615" y="383865"/>
            <a:ext cx="1910456"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C0451A"/>
                </a:solidFill>
                <a:latin typeface="Calibri" pitchFamily="34" charset="0"/>
                <a:ea typeface="Calibri" pitchFamily="34" charset="-122"/>
                <a:cs typeface="Calibri" pitchFamily="34" charset="-120"/>
              </a:rPr>
              <a:t>SCUNET · 2023 · MAMBAIR · 2024</a:t>
            </a:r>
            <a:endParaRPr lang="en-US" sz="781" dirty="0"/>
          </a:p>
        </p:txBody>
      </p:sp>
      <p:sp>
        <p:nvSpPr>
          <p:cNvPr id="6" name="Text 4"/>
          <p:cNvSpPr txBox="1"/>
          <p:nvPr/>
        </p:nvSpPr>
        <p:spPr>
          <a:xfrm>
            <a:off x="1439540" y="607070"/>
            <a:ext cx="10278953" cy="729691"/>
          </a:xfrm>
          <a:prstGeom prst="rect">
            <a:avLst/>
          </a:prstGeom>
          <a:noFill/>
          <a:ln/>
        </p:spPr>
        <p:txBody>
          <a:bodyPr wrap="squar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Two more answers — one architectural, one not about architecture at all</a:t>
            </a:r>
            <a:endParaRPr lang="en-US" sz="2660" dirty="0"/>
          </a:p>
        </p:txBody>
      </p:sp>
      <p:sp>
        <p:nvSpPr>
          <p:cNvPr id="7" name="Text 5"/>
          <p:cNvSpPr txBox="1"/>
          <p:nvPr/>
        </p:nvSpPr>
        <p:spPr>
          <a:xfrm>
            <a:off x="1439540" y="1456731"/>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branch does not end with Transformers. MambaIR proposes a different operator again; SCUNet argues the operator was never the problem.</a:t>
            </a:r>
            <a:endParaRPr lang="en-US" sz="1157" dirty="0"/>
          </a:p>
        </p:txBody>
      </p:sp>
      <p:sp>
        <p:nvSpPr>
          <p:cNvPr id="8" name="Shape 6"/>
          <p:cNvSpPr/>
          <p:nvPr/>
        </p:nvSpPr>
        <p:spPr>
          <a:xfrm>
            <a:off x="2601559" y="2103029"/>
            <a:ext cx="7899319"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2601559" y="2103029"/>
            <a:ext cx="7899319" cy="7315"/>
          </a:xfrm>
          <a:prstGeom prst="rect">
            <a:avLst/>
          </a:prstGeom>
          <a:solidFill>
            <a:srgbClr val="C9C4B9"/>
          </a:solidFill>
          <a:ln/>
        </p:spPr>
      </p:sp>
      <p:sp>
        <p:nvSpPr>
          <p:cNvPr id="10" name="Shape 8"/>
          <p:cNvSpPr/>
          <p:nvPr/>
        </p:nvSpPr>
        <p:spPr>
          <a:xfrm>
            <a:off x="2601559" y="4152108"/>
            <a:ext cx="7899319" cy="7315"/>
          </a:xfrm>
          <a:prstGeom prst="rect">
            <a:avLst/>
          </a:prstGeom>
          <a:solidFill>
            <a:srgbClr val="C9C4B9"/>
          </a:solidFill>
          <a:ln/>
        </p:spPr>
      </p:sp>
      <p:sp>
        <p:nvSpPr>
          <p:cNvPr id="11" name="Shape 9"/>
          <p:cNvSpPr/>
          <p:nvPr/>
        </p:nvSpPr>
        <p:spPr>
          <a:xfrm>
            <a:off x="2601559" y="2103029"/>
            <a:ext cx="7315" cy="2056394"/>
          </a:xfrm>
          <a:prstGeom prst="rect">
            <a:avLst/>
          </a:prstGeom>
          <a:solidFill>
            <a:srgbClr val="C9C4B9"/>
          </a:solidFill>
          <a:ln/>
        </p:spPr>
      </p:sp>
      <p:sp>
        <p:nvSpPr>
          <p:cNvPr id="12" name="Shape 10"/>
          <p:cNvSpPr/>
          <p:nvPr/>
        </p:nvSpPr>
        <p:spPr>
          <a:xfrm>
            <a:off x="10493563" y="2103029"/>
            <a:ext cx="7315" cy="2056394"/>
          </a:xfrm>
          <a:prstGeom prst="rect">
            <a:avLst/>
          </a:prstGeom>
          <a:solidFill>
            <a:srgbClr val="C9C4B9"/>
          </a:solidFill>
          <a:ln/>
        </p:spPr>
      </p:sp>
      <p:pic>
        <p:nvPicPr>
          <p:cNvPr id="13" name="Image 0" descr="The Swin-Conv-UNet pipeline: swin-conv blocks combine local and non-local modelling on the way down and back up a UNet backbone.">    </p:cNvPr>
          <p:cNvPicPr>
            <a:picLocks noChangeAspect="1"/>
          </p:cNvPicPr>
          <p:nvPr/>
        </p:nvPicPr>
        <p:blipFill>
          <a:blip r:embed="rId1"/>
          <a:stretch>
            <a:fillRect/>
          </a:stretch>
        </p:blipFill>
        <p:spPr>
          <a:xfrm>
            <a:off x="2711653" y="2213214"/>
            <a:ext cx="7679040" cy="1836115"/>
          </a:xfrm>
          <a:prstGeom prst="rect">
            <a:avLst/>
          </a:prstGeom>
        </p:spPr>
      </p:pic>
      <p:sp>
        <p:nvSpPr>
          <p:cNvPr id="14" name="Text 11"/>
          <p:cNvSpPr txBox="1"/>
          <p:nvPr/>
        </p:nvSpPr>
        <p:spPr>
          <a:xfrm>
            <a:off x="3213293" y="4260098"/>
            <a:ext cx="6675669"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Swin-Conv-UNet pipeline: swin-conv blocks combine local and non-local modelling on the way down and back up a UNet backbone. [SCUNet23 · Fig. 1]</a:t>
            </a:r>
            <a:endParaRPr lang="en-US" sz="81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1439540" y="4597146"/>
          <a:ext cx="9144000" cy="914400"/>
        </p:xfrm>
        <a:graphic>
          <a:graphicData uri="http://schemas.openxmlformats.org/drawingml/2006/table">
            <a:tbl>
              <a:tblPr/>
              <a:tblGrid>
                <a:gridCol w="884956"/>
                <a:gridCol w="4656308"/>
                <a:gridCol w="4682094"/>
              </a:tblGrid>
              <a:tr h="242407">
                <a:tc>
                  <a:txBody>
                    <a:bodyPr/>
                    <a:lstStyle/>
                    <a:p>
                      <a:pPr algn="l" indent="0" marL="0">
                        <a:lnSpc>
                          <a:spcPts val="882"/>
                        </a:lnSpc>
                        <a:buNone/>
                      </a:pP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C0451A"/>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MAMBAIR (2024)</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C0451A"/>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SCUNET (2023)</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C0451A"/>
                      </a:solidFill>
                      <a:prstDash val="solid"/>
                      <a:round/>
                      <a:headEnd type="none" w="med" len="med"/>
                      <a:tailEnd type="none" w="med" len="med"/>
                    </a:lnB>
                  </a:tcPr>
                </a:tc>
              </a:tr>
              <a:tr h="451714">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claim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Attention is quadratic; windowing surrenders globality. Borrow a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selective state-space model</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global receptive field at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linear</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cost.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The benchmark is the problem.</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A model trained on AWGN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performs poorly for most of real images due to noise assumption mismatch</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Technical change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S6 recurrence with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input-dependent</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B, C, Δ. Dual form: recurrent (unbounded memory) for reach, convolutional for parallel training.</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Keep local </a:t>
                      </a:r>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and</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non-local priors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in parallel</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split the feature map, half to a Swin block, half to a residual conv block.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6" name="Text 12"/>
          <p:cNvSpPr txBox="1"/>
          <p:nvPr/>
        </p:nvSpPr>
        <p:spPr>
          <a:xfrm>
            <a:off x="8279343" y="6274430"/>
            <a:ext cx="3383554"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MambaIR24 §3.1, §3.2, Tables 1, 2, 6 · SCUNet23 abstract, §1, §3.1, §3.2 · measured</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9391162" y="6545732"/>
            <a:ext cx="1704167" cy="29352"/>
          </a:xfrm>
          <a:prstGeom prst="rect">
            <a:avLst/>
          </a:prstGeom>
          <a:solidFill>
            <a:srgbClr val="C0451A"/>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291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24</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217224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SCUNET · 2023 · MAMBAIR · 2024</a:t>
            </a:r>
            <a:endParaRPr lang="en-US" sz="888" dirty="0"/>
          </a:p>
        </p:txBody>
      </p:sp>
      <p:sp>
        <p:nvSpPr>
          <p:cNvPr id="6" name="Text 4"/>
          <p:cNvSpPr txBox="1"/>
          <p:nvPr/>
        </p:nvSpPr>
        <p:spPr>
          <a:xfrm>
            <a:off x="4142872"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10010303" cy="829635"/>
          </a:xfrm>
          <a:prstGeom prst="rect">
            <a:avLst/>
          </a:prstGeom>
          <a:noFill/>
          <a:ln/>
        </p:spPr>
        <p:txBody>
          <a:bodyPr wrap="squar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Two more answers — one architectural, one not about architecture at all</a:t>
            </a:r>
            <a:endParaRPr lang="en-US" sz="3025"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1636685" y="1656253"/>
          <a:ext cx="9144000" cy="914400"/>
        </p:xfrm>
        <a:graphic>
          <a:graphicData uri="http://schemas.openxmlformats.org/drawingml/2006/table">
            <a:tbl>
              <a:tblPr/>
              <a:tblGrid>
                <a:gridCol w="1281806"/>
                <a:gridCol w="4029121"/>
                <a:gridCol w="4642866"/>
              </a:tblGrid>
              <a:tr h="275600">
                <a:tc>
                  <a:txBody>
                    <a:bodyPr/>
                    <a:lstStyle/>
                    <a:p>
                      <a:pPr algn="l" indent="0" marL="0">
                        <a:lnSpc>
                          <a:spcPts val="1003"/>
                        </a:lnSpc>
                        <a:buNone/>
                      </a:pP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C0451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MAMBAIR (2024)</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C0451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SCUNET (2023)</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C0451A"/>
                      </a:solidFill>
                      <a:prstDash val="solid"/>
                      <a:round/>
                      <a:headEnd type="none" w="med" len="med"/>
                      <a:tailEnd type="none" w="med" len="med"/>
                    </a:lnB>
                  </a:tcPr>
                </a:tc>
              </a:tr>
              <a:tr h="68058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Implementation change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Flatten the image to a sequence;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four-directional scan</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add a local conv (fixes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local pixel forgetting</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and channel attention (fixes redundancy).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The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dataloader</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becomes the contribution: Gaussian, Poisson, speckle, JPEG, and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sensor noise synthesised through a real inverted ISP</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plus resizing and double degradation.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Why SOTA / where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Best DND result, 40.04 dB</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 by 0.01 dB. Leads super-resolution on Manga109 ×2 by 0.41 dB over SwinIR.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Not top of any AWGN table — and does not need to be.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9.663 M parameters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smallest of the four, built to survive real photographs.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67638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Cost / limitation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Will not import without compiled CUDA extensions.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Its own changelog records that published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thop</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complexity figures were wrong.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[measured]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Its abstract still concedes a general-purpose blind real denoiser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remains unsolved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Text 6"/>
          <p:cNvSpPr txBox="1"/>
          <p:nvPr/>
        </p:nvSpPr>
        <p:spPr>
          <a:xfrm>
            <a:off x="7743322" y="6194511"/>
            <a:ext cx="384706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MambaIR24 §3.1, §3.2, Tables 1, 2, 6 · SCUNet23 abstract, §1, §3.1, §3.2 · measured</a:t>
            </a:r>
            <a:endParaRPr lang="en-US" sz="855" dirty="0"/>
          </a:p>
        </p:txBody>
      </p:sp>
      <p:sp>
        <p:nvSpPr>
          <p:cNvPr id="10" name="Shape 7"/>
          <p:cNvSpPr/>
          <p:nvPr/>
        </p:nvSpPr>
        <p:spPr>
          <a:xfrm>
            <a:off x="1636685" y="6515466"/>
            <a:ext cx="9953793" cy="8321"/>
          </a:xfrm>
          <a:prstGeom prst="rect">
            <a:avLst/>
          </a:prstGeom>
          <a:solidFill>
            <a:srgbClr val="C9C4B9"/>
          </a:solidFill>
          <a:ln/>
        </p:spPr>
      </p:sp>
      <p:sp>
        <p:nvSpPr>
          <p:cNvPr id="11" name="Shape 8"/>
          <p:cNvSpPr/>
          <p:nvPr/>
        </p:nvSpPr>
        <p:spPr>
          <a:xfrm>
            <a:off x="9378635" y="6502938"/>
            <a:ext cx="1659270" cy="33376"/>
          </a:xfrm>
          <a:prstGeom prst="rect">
            <a:avLst/>
          </a:prstGeom>
          <a:solidFill>
            <a:srgbClr val="C0451A"/>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564185"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4343F"/>
                </a:solidFill>
                <a:latin typeface="Cambria" pitchFamily="34" charset="0"/>
                <a:ea typeface="Cambria" pitchFamily="34" charset="-122"/>
                <a:cs typeface="Cambria" pitchFamily="34" charset="-120"/>
              </a:rPr>
              <a:t>5</a:t>
            </a:r>
            <a:endParaRPr lang="en-US" sz="8416" dirty="0"/>
          </a:p>
        </p:txBody>
      </p:sp>
      <p:sp>
        <p:nvSpPr>
          <p:cNvPr id="4" name="Shape 2"/>
          <p:cNvSpPr/>
          <p:nvPr/>
        </p:nvSpPr>
        <p:spPr>
          <a:xfrm>
            <a:off x="434249" y="1663294"/>
            <a:ext cx="1002091" cy="33376"/>
          </a:xfrm>
          <a:prstGeom prst="rect">
            <a:avLst/>
          </a:prstGeom>
          <a:solidFill>
            <a:srgbClr val="14343F"/>
          </a:solidFill>
          <a:ln/>
        </p:spPr>
      </p:sp>
      <p:sp>
        <p:nvSpPr>
          <p:cNvPr id="5" name="Text 3"/>
          <p:cNvSpPr txBox="1"/>
          <p:nvPr/>
        </p:nvSpPr>
        <p:spPr>
          <a:xfrm>
            <a:off x="434249" y="1910273"/>
            <a:ext cx="2483236" cy="1198230"/>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Why There Is No Single Winner</a:t>
            </a:r>
            <a:endParaRPr lang="en-US" sz="3025" dirty="0"/>
          </a:p>
        </p:txBody>
      </p:sp>
      <p:sp>
        <p:nvSpPr>
          <p:cNvPr id="6" name="Shape 4"/>
          <p:cNvSpPr/>
          <p:nvPr/>
        </p:nvSpPr>
        <p:spPr>
          <a:xfrm>
            <a:off x="434249" y="3487796"/>
            <a:ext cx="217079" cy="25055"/>
          </a:xfrm>
          <a:prstGeom prst="rect">
            <a:avLst/>
          </a:prstGeom>
          <a:solidFill>
            <a:srgbClr val="8E877B"/>
          </a:solidFill>
          <a:ln/>
        </p:spPr>
      </p:sp>
      <p:sp>
        <p:nvSpPr>
          <p:cNvPr id="7" name="Text 5"/>
          <p:cNvSpPr txBox="1"/>
          <p:nvPr/>
        </p:nvSpPr>
        <p:spPr>
          <a:xfrm>
            <a:off x="751545" y="3431560"/>
            <a:ext cx="712683"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SYNTHESIS</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65616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SOTA comparison table</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19310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Why several coexist</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62424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Applications and trade-offs</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180228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Open problems and proposals</a:t>
            </a:r>
            <a:endParaRPr lang="en-US" sz="1118" dirty="0"/>
          </a:p>
        </p:txBody>
      </p:sp>
      <p:sp>
        <p:nvSpPr>
          <p:cNvPr id="23" name="Text 21"/>
          <p:cNvSpPr txBox="1"/>
          <p:nvPr/>
        </p:nvSpPr>
        <p:spPr>
          <a:xfrm>
            <a:off x="5526999" y="3289737"/>
            <a:ext cx="4353641" cy="209398"/>
          </a:xfrm>
          <a:prstGeom prst="rect">
            <a:avLst/>
          </a:prstGeom>
          <a:noFill/>
          <a:ln/>
        </p:spPr>
        <p:txBody>
          <a:bodyPr wrap="non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The question this talk was built to answer, now with the numbers behind it.</a:t>
            </a:r>
            <a:endParaRPr lang="en-US" sz="1085" dirty="0"/>
          </a:p>
        </p:txBody>
      </p:sp>
      <p:sp>
        <p:nvSpPr>
          <p:cNvPr id="24" name="Text 22"/>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§6</a:t>
            </a:r>
            <a:endParaRPr lang="en-US" sz="85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063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26</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117216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SOTA COMPARISON</a:t>
            </a:r>
            <a:endParaRPr lang="en-US" sz="831" dirty="0"/>
          </a:p>
        </p:txBody>
      </p:sp>
      <p:sp>
        <p:nvSpPr>
          <p:cNvPr id="5" name="Text 3"/>
          <p:cNvSpPr txBox="1"/>
          <p:nvPr/>
        </p:nvSpPr>
        <p:spPr>
          <a:xfrm>
            <a:off x="1531803" y="646024"/>
            <a:ext cx="833173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Four current methods — each leads a different table</a:t>
            </a:r>
            <a:endParaRPr lang="en-US" sz="2831" dirty="0"/>
          </a:p>
        </p:txBody>
      </p:sp>
      <p:sp>
        <p:nvSpPr>
          <p:cNvPr id="6" name="Text 4"/>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Every row names the benchmark and the metric, because a claim without those is not checkable. All quality figures are reproduced from published tables; parameters and CPU latency are our own measurements.</a:t>
            </a:r>
            <a:endParaRPr lang="en-US" sz="1231"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976854"/>
                <a:gridCol w="2168682"/>
                <a:gridCol w="797174"/>
                <a:gridCol w="1133216"/>
                <a:gridCol w="3606668"/>
                <a:gridCol w="1414577"/>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LEADS ON</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FIGURE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PUBLISHED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WHAT DISTINGUISHES IT</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480609">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NAFNet</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SIDD — real sensor noise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40.30 dB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ECCV 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No attention, no activation functions at all; simplest code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116.0 M params · 1.90 s 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476768">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Restormer</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Urban100 — long-range structure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28.33 dB</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σ=50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CVPR 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First past 40 dB on </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both</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SIDD and DND; channel attention at linear cost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26.1 M · </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10.44 s 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476768">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MambaIR</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(2024)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DND — held-out real noise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40.04 dB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ECCV 2024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Global receptive field at linear cost via selective state-space scan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Needs compiled CUDA to import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476768">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SCUNet</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(2023)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Blind denoising on synthesised real-world degradation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Mach. Intell. Res. 2023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Competes on the </a:t>
                      </a:r>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training distribution</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not the architecture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9.7 M</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 1.69 s 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 (2017)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Historical</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 BSD68 Gaussian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29.23 dB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IEEE TIP 2017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The reference the whole field was built against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0.67 M · 1.02 s 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47676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BM3D (2007)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Zero-shot</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 no training data</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28.57 dB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IEEE TIP 2007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Requires no training data and no GPU; still the zero-shot baseline in N2N18, N2V19 and ZS-N2N23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No training · 2.85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531803" y="5272705"/>
            <a:ext cx="10097262" cy="15636"/>
          </a:xfrm>
          <a:prstGeom prst="rect">
            <a:avLst/>
          </a:prstGeom>
          <a:solidFill>
            <a:srgbClr val="14343F"/>
          </a:solidFill>
          <a:ln/>
        </p:spPr>
      </p:sp>
      <p:sp>
        <p:nvSpPr>
          <p:cNvPr id="9" name="Text 6"/>
          <p:cNvSpPr txBox="1"/>
          <p:nvPr/>
        </p:nvSpPr>
        <p:spPr>
          <a:xfrm>
            <a:off x="1531803" y="5411419"/>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No source states a SOTA window, so this deck does not assert one.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The published date is verifiable; which table a method leads is verifiable from the cited comparison. For how long it held that position is not reported by any paper here, and we do not estimate it. Read the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Leads on</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column: these methods are not ranked on one axis — they lead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different benchmarks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those benchmarks measure different capabilities.</a:t>
            </a:r>
            <a:endParaRPr lang="en-US" sz="1046" dirty="0"/>
          </a:p>
        </p:txBody>
      </p:sp>
      <p:sp>
        <p:nvSpPr>
          <p:cNvPr id="10" name="Text 7"/>
          <p:cNvSpPr txBox="1"/>
          <p:nvPr/>
        </p:nvSpPr>
        <p:spPr>
          <a:xfrm>
            <a:off x="7029084" y="6237031"/>
            <a:ext cx="4599981"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NAFNet22 abstract · Restormer22 Tables 4, 6 · MambaIR24 Table 6 · DnCNN17 Table II · measured [Stage 2]</a:t>
            </a:r>
            <a:endParaRPr lang="en-US" sz="800"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1239"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27</a:t>
            </a:r>
            <a:endParaRPr lang="en-US" sz="2893" dirty="0"/>
          </a:p>
        </p:txBody>
      </p:sp>
      <p:sp>
        <p:nvSpPr>
          <p:cNvPr id="3" name="Shape 1"/>
          <p:cNvSpPr/>
          <p:nvPr/>
        </p:nvSpPr>
        <p:spPr>
          <a:xfrm>
            <a:off x="1636685" y="500085"/>
            <a:ext cx="217079" cy="25055"/>
          </a:xfrm>
          <a:prstGeom prst="rect">
            <a:avLst/>
          </a:prstGeom>
          <a:solidFill>
            <a:srgbClr val="14343F"/>
          </a:solidFill>
          <a:ln/>
        </p:spPr>
      </p:sp>
      <p:sp>
        <p:nvSpPr>
          <p:cNvPr id="4" name="Text 2"/>
          <p:cNvSpPr txBox="1"/>
          <p:nvPr/>
        </p:nvSpPr>
        <p:spPr>
          <a:xfrm>
            <a:off x="1953981" y="443850"/>
            <a:ext cx="134919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WHY SEVERAL SOTAS</a:t>
            </a:r>
            <a:endParaRPr lang="en-US" sz="888" dirty="0"/>
          </a:p>
        </p:txBody>
      </p:sp>
      <p:sp>
        <p:nvSpPr>
          <p:cNvPr id="5" name="Text 3"/>
          <p:cNvSpPr txBox="1"/>
          <p:nvPr/>
        </p:nvSpPr>
        <p:spPr>
          <a:xfrm>
            <a:off x="1636685" y="989015"/>
            <a:ext cx="951725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Four reasons the field has not converged on one method</a:t>
            </a:r>
            <a:endParaRPr lang="en-US" sz="3025" dirty="0"/>
          </a:p>
        </p:txBody>
      </p:sp>
      <p:sp>
        <p:nvSpPr>
          <p:cNvPr id="6" name="Text 4"/>
          <p:cNvSpPr txBox="1"/>
          <p:nvPr/>
        </p:nvSpPr>
        <p:spPr>
          <a:xfrm>
            <a:off x="1636685" y="183904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This is the question the professor is most likely to ask, so it gets its own slide rather than a sentence.</a:t>
            </a:r>
            <a:endParaRPr lang="en-US" sz="1315" dirty="0"/>
          </a:p>
        </p:txBody>
      </p:sp>
      <p:sp>
        <p:nvSpPr>
          <p:cNvPr id="7" name="Shape 5"/>
          <p:cNvSpPr/>
          <p:nvPr/>
        </p:nvSpPr>
        <p:spPr>
          <a:xfrm>
            <a:off x="1636685" y="2872679"/>
            <a:ext cx="4793193" cy="16734"/>
          </a:xfrm>
          <a:prstGeom prst="rect">
            <a:avLst/>
          </a:prstGeom>
          <a:solidFill>
            <a:srgbClr val="14343F"/>
          </a:solidFill>
          <a:ln/>
        </p:spPr>
      </p:sp>
      <p:sp>
        <p:nvSpPr>
          <p:cNvPr id="8" name="Text 6"/>
          <p:cNvSpPr txBox="1"/>
          <p:nvPr/>
        </p:nvSpPr>
        <p:spPr>
          <a:xfrm>
            <a:off x="1636685" y="3022915"/>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1</a:t>
            </a:r>
            <a:endParaRPr lang="en-US" sz="756" dirty="0"/>
          </a:p>
        </p:txBody>
      </p:sp>
      <p:sp>
        <p:nvSpPr>
          <p:cNvPr id="9" name="Text 7"/>
          <p:cNvSpPr txBox="1"/>
          <p:nvPr/>
        </p:nvSpPr>
        <p:spPr>
          <a:xfrm>
            <a:off x="1636685" y="3215213"/>
            <a:ext cx="3493374"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benchmarks measure different things</a:t>
            </a:r>
            <a:endParaRPr lang="en-US" sz="1447" dirty="0"/>
          </a:p>
        </p:txBody>
      </p:sp>
      <p:sp>
        <p:nvSpPr>
          <p:cNvPr id="10" name="Text 8"/>
          <p:cNvSpPr txBox="1"/>
          <p:nvPr/>
        </p:nvSpPr>
        <p:spPr>
          <a:xfrm>
            <a:off x="1636685" y="3544214"/>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BSD68 measures average-case Gaussian removal and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has saturated</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0.36 dB across five years. Urban100 measures long-range self-similarity. SIDD and DND measure real sensor noise. A method can lead one and trail another without any contradiction.</a:t>
            </a:r>
            <a:endParaRPr lang="en-US" sz="1085" dirty="0"/>
          </a:p>
        </p:txBody>
      </p:sp>
      <p:sp>
        <p:nvSpPr>
          <p:cNvPr id="11" name="Shape 9"/>
          <p:cNvSpPr/>
          <p:nvPr/>
        </p:nvSpPr>
        <p:spPr>
          <a:xfrm>
            <a:off x="6797284" y="2872679"/>
            <a:ext cx="4793193" cy="16734"/>
          </a:xfrm>
          <a:prstGeom prst="rect">
            <a:avLst/>
          </a:prstGeom>
          <a:solidFill>
            <a:srgbClr val="14343F"/>
          </a:solidFill>
          <a:ln/>
        </p:spPr>
      </p:sp>
      <p:sp>
        <p:nvSpPr>
          <p:cNvPr id="12" name="Text 10"/>
          <p:cNvSpPr txBox="1"/>
          <p:nvPr/>
        </p:nvSpPr>
        <p:spPr>
          <a:xfrm>
            <a:off x="6797284" y="3022915"/>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2</a:t>
            </a:r>
            <a:endParaRPr lang="en-US" sz="756" dirty="0"/>
          </a:p>
        </p:txBody>
      </p:sp>
      <p:sp>
        <p:nvSpPr>
          <p:cNvPr id="13" name="Text 11"/>
          <p:cNvSpPr txBox="1"/>
          <p:nvPr/>
        </p:nvSpPr>
        <p:spPr>
          <a:xfrm>
            <a:off x="6797284" y="3215213"/>
            <a:ext cx="316437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cost axes disagree with each other</a:t>
            </a:r>
            <a:endParaRPr lang="en-US" sz="1447" dirty="0"/>
          </a:p>
        </p:txBody>
      </p:sp>
      <p:sp>
        <p:nvSpPr>
          <p:cNvPr id="14" name="Text 12"/>
          <p:cNvSpPr txBox="1"/>
          <p:nvPr/>
        </p:nvSpPr>
        <p:spPr>
          <a:xfrm>
            <a:off x="6797284" y="3544214"/>
            <a:ext cx="4829038" cy="83768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Our own measurements give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three incompatible rankings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of the same models: by parameters DnCNN wins; by CPU wall-clock the P2N backbone wins; by real-noise quality NAFNet wins. NAFNet has 4.4× Restormer's parameters and runs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5.5× faster</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'More efficient' is meaningless without naming the metric and the device.</a:t>
            </a:r>
            <a:endParaRPr lang="en-US" sz="1085" dirty="0"/>
          </a:p>
        </p:txBody>
      </p:sp>
      <p:sp>
        <p:nvSpPr>
          <p:cNvPr id="15" name="Shape 13"/>
          <p:cNvSpPr/>
          <p:nvPr/>
        </p:nvSpPr>
        <p:spPr>
          <a:xfrm>
            <a:off x="1636685" y="4677705"/>
            <a:ext cx="4793193" cy="16734"/>
          </a:xfrm>
          <a:prstGeom prst="rect">
            <a:avLst/>
          </a:prstGeom>
          <a:solidFill>
            <a:srgbClr val="14343F"/>
          </a:solidFill>
          <a:ln/>
        </p:spPr>
      </p:sp>
      <p:sp>
        <p:nvSpPr>
          <p:cNvPr id="16" name="Text 14"/>
          <p:cNvSpPr txBox="1"/>
          <p:nvPr/>
        </p:nvSpPr>
        <p:spPr>
          <a:xfrm>
            <a:off x="1636685" y="4827849"/>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3</a:t>
            </a:r>
            <a:endParaRPr lang="en-US" sz="756" dirty="0"/>
          </a:p>
        </p:txBody>
      </p:sp>
      <p:sp>
        <p:nvSpPr>
          <p:cNvPr id="17" name="Text 15"/>
          <p:cNvSpPr txBox="1"/>
          <p:nvPr/>
        </p:nvSpPr>
        <p:spPr>
          <a:xfrm>
            <a:off x="1636685" y="5020239"/>
            <a:ext cx="4213098"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Deployment constraints are not quality constraints</a:t>
            </a:r>
            <a:endParaRPr lang="en-US" sz="1447" dirty="0"/>
          </a:p>
        </p:txBody>
      </p:sp>
      <p:sp>
        <p:nvSpPr>
          <p:cNvPr id="18" name="Text 16"/>
          <p:cNvSpPr txBox="1"/>
          <p:nvPr/>
        </p:nvSpPr>
        <p:spPr>
          <a:xfrm>
            <a:off x="1636685" y="534914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MambaIR leads DND by 0.01 dB and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cannot be imported without compiled CUDA extensions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SCUNet leads nothing and is a third of Restormer's size. Which one is 'best' depends entirely on what you are shipping onto what hardware.</a:t>
            </a:r>
            <a:endParaRPr lang="en-US" sz="1085" dirty="0"/>
          </a:p>
        </p:txBody>
      </p:sp>
      <p:sp>
        <p:nvSpPr>
          <p:cNvPr id="19" name="Shape 17"/>
          <p:cNvSpPr/>
          <p:nvPr/>
        </p:nvSpPr>
        <p:spPr>
          <a:xfrm>
            <a:off x="6797284" y="4677705"/>
            <a:ext cx="4793193" cy="16734"/>
          </a:xfrm>
          <a:prstGeom prst="rect">
            <a:avLst/>
          </a:prstGeom>
          <a:solidFill>
            <a:srgbClr val="14343F"/>
          </a:solidFill>
          <a:ln/>
        </p:spPr>
      </p:sp>
      <p:sp>
        <p:nvSpPr>
          <p:cNvPr id="20" name="Text 18"/>
          <p:cNvSpPr txBox="1"/>
          <p:nvPr/>
        </p:nvSpPr>
        <p:spPr>
          <a:xfrm>
            <a:off x="6797284" y="4827849"/>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4</a:t>
            </a:r>
            <a:endParaRPr lang="en-US" sz="756" dirty="0"/>
          </a:p>
        </p:txBody>
      </p:sp>
      <p:sp>
        <p:nvSpPr>
          <p:cNvPr id="21" name="Text 19"/>
          <p:cNvSpPr txBox="1"/>
          <p:nvPr/>
        </p:nvSpPr>
        <p:spPr>
          <a:xfrm>
            <a:off x="6797284" y="5020239"/>
            <a:ext cx="3531230"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Supervision availability partitions the field</a:t>
            </a:r>
            <a:endParaRPr lang="en-US" sz="1447" dirty="0"/>
          </a:p>
        </p:txBody>
      </p:sp>
      <p:sp>
        <p:nvSpPr>
          <p:cNvPr id="22" name="Text 20"/>
          <p:cNvSpPr txBox="1"/>
          <p:nvPr/>
        </p:nvSpPr>
        <p:spPr>
          <a:xfrm>
            <a:off x="6797284" y="534914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Branch A and branch B answer different questions. Where clean pairs exist, supervision wins by 1.35 dB. Where they do not, the self-supervised methods are not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worse</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they are the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only</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option, and the supervised SOTA is simply unavailable.</a:t>
            </a:r>
            <a:endParaRPr lang="en-US" sz="1085" dirty="0"/>
          </a:p>
        </p:txBody>
      </p:sp>
      <p:sp>
        <p:nvSpPr>
          <p:cNvPr id="23" name="Text 21"/>
          <p:cNvSpPr txBox="1"/>
          <p:nvPr/>
        </p:nvSpPr>
        <p:spPr>
          <a:xfrm>
            <a:off x="8302843" y="6194511"/>
            <a:ext cx="328763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Restormer22 Table 4 · NAFNet22 · MambaIR24 · N2V19 §4.1 · measured</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400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28</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208309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APPLICATIONS AND TRADE-OFFS</a:t>
            </a:r>
            <a:endParaRPr lang="en-US" sz="888" dirty="0"/>
          </a:p>
        </p:txBody>
      </p:sp>
      <p:sp>
        <p:nvSpPr>
          <p:cNvPr id="5" name="Text 3"/>
          <p:cNvSpPr txBox="1"/>
          <p:nvPr/>
        </p:nvSpPr>
        <p:spPr>
          <a:xfrm>
            <a:off x="1636685" y="690281"/>
            <a:ext cx="709547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you would actually deploy, and why</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honest answer to 'which is best' names the constraint first. Five constraints, five different answers, all current — which is what an unresolved research question looks like when you have to ship something.</a:t>
            </a:r>
            <a:endParaRPr lang="en-US" sz="1315"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2079254"/>
                <a:gridCol w="960303"/>
                <a:gridCol w="4935108"/>
                <a:gridCol w="1979036"/>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IF YOUR CONSTRAINT IS…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DEPLOY</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BECAUSE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ACCEPT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Real photos, GPU, paired data</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NAFNet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40.30 dB on SIDD; best accuracy-per-millisecond we measured; simplest code to maintain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116 M parameters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Repetitive structure, max quality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Leads Urban100 at every σ; only method past 40 dB on both real-noise benchmarks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10.4 s per 256² on CPU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CPU or memory bound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SCUNet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9.7 M parameters; synthetic-degradation training survives resized and JPEG'd input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Not top of any AWGN table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 clean data exists at all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P2N</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ZS-N2N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Microscopy, cryo-EM, astronomy — where ground truth cannot be acquired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Per-image test-time optimisation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 data, no GPU, no dependencies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Seventeen years old and still beats AWGN-trained DnCNN on real noise by 1.99 dB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2.85 s, and a quality ceiling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4957420"/>
            <a:ext cx="9953793" cy="16734"/>
          </a:xfrm>
          <a:prstGeom prst="rect">
            <a:avLst/>
          </a:prstGeom>
          <a:solidFill>
            <a:srgbClr val="14343F"/>
          </a:solidFill>
          <a:ln/>
        </p:spPr>
      </p:sp>
      <p:sp>
        <p:nvSpPr>
          <p:cNvPr id="9" name="Text 6"/>
          <p:cNvSpPr txBox="1"/>
          <p:nvPr/>
        </p:nvSpPr>
        <p:spPr>
          <a:xfrm>
            <a:off x="1636685" y="5105644"/>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Denoising is rarely the product.</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It is preprocessing for detection and segmentation, a plug-and-play prior inside deblurring and super-resolution solvers, and — per DnCNN-3 — a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template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redefine v and the same network does super-resolution and JPEG deblocking. </a:t>
            </a:r>
            <a:pPr algn="l" indent="0" marL="0">
              <a:lnSpc>
                <a:spcPts val="1677"/>
              </a:lnSpc>
              <a:buNone/>
            </a:pPr>
            <a:r>
              <a:rPr kern="0" lang="en-US" sz="1006" dirty="0">
                <a:solidFill>
                  <a:srgbClr val="145A66"/>
                </a:solidFill>
                <a:latin typeface="Consolas" pitchFamily="34" charset="0"/>
                <a:ea typeface="Consolas" pitchFamily="34" charset="-122"/>
                <a:cs typeface="Consolas" pitchFamily="34" charset="-120"/>
              </a:rPr>
              <a:t>[SCUNet23 §1 · DnCNN17 §III-D]</a:t>
            </a:r>
            <a:endParaRPr lang="en-US" sz="1118" dirty="0"/>
          </a:p>
        </p:txBody>
      </p:sp>
      <p:sp>
        <p:nvSpPr>
          <p:cNvPr id="10" name="Text 7"/>
          <p:cNvSpPr txBox="1"/>
          <p:nvPr/>
        </p:nvSpPr>
        <p:spPr>
          <a:xfrm>
            <a:off x="8460120" y="6194511"/>
            <a:ext cx="313035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NAFNet22 · Restormer22 · SCUNet23 · P2N25 · ZS-N2N23 · measured</a:t>
            </a:r>
            <a:endParaRPr lang="en-US" sz="855"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29</a:t>
            </a:r>
            <a:endParaRPr lang="en-US" sz="2893" dirty="0"/>
          </a:p>
        </p:txBody>
      </p:sp>
      <p:sp>
        <p:nvSpPr>
          <p:cNvPr id="3" name="Shape 1"/>
          <p:cNvSpPr/>
          <p:nvPr/>
        </p:nvSpPr>
        <p:spPr>
          <a:xfrm>
            <a:off x="1636685" y="500085"/>
            <a:ext cx="217079" cy="25055"/>
          </a:xfrm>
          <a:prstGeom prst="rect">
            <a:avLst/>
          </a:prstGeom>
          <a:solidFill>
            <a:srgbClr val="14343F"/>
          </a:solidFill>
          <a:ln/>
        </p:spPr>
      </p:sp>
      <p:sp>
        <p:nvSpPr>
          <p:cNvPr id="4" name="Text 2"/>
          <p:cNvSpPr txBox="1"/>
          <p:nvPr/>
        </p:nvSpPr>
        <p:spPr>
          <a:xfrm>
            <a:off x="1953981" y="443850"/>
            <a:ext cx="108649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OPEN PROBLEMS</a:t>
            </a:r>
            <a:endParaRPr lang="en-US" sz="888" dirty="0"/>
          </a:p>
        </p:txBody>
      </p:sp>
      <p:sp>
        <p:nvSpPr>
          <p:cNvPr id="5" name="Text 3"/>
          <p:cNvSpPr txBox="1"/>
          <p:nvPr/>
        </p:nvSpPr>
        <p:spPr>
          <a:xfrm>
            <a:off x="1636685" y="989015"/>
            <a:ext cx="5754594"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eighteen years did not solve</a:t>
            </a:r>
            <a:endParaRPr lang="en-US" sz="3025" dirty="0"/>
          </a:p>
        </p:txBody>
      </p:sp>
      <p:sp>
        <p:nvSpPr>
          <p:cNvPr id="6" name="Text 4"/>
          <p:cNvSpPr txBox="1"/>
          <p:nvPr/>
        </p:nvSpPr>
        <p:spPr>
          <a:xfrm>
            <a:off x="1636685" y="183904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Each of these is grounded in a documented limitation from the papers themselves or in our own measurements — not speculation.</a:t>
            </a:r>
            <a:endParaRPr lang="en-US" sz="1315" dirty="0"/>
          </a:p>
        </p:txBody>
      </p:sp>
      <p:sp>
        <p:nvSpPr>
          <p:cNvPr id="7" name="Shape 5"/>
          <p:cNvSpPr/>
          <p:nvPr/>
        </p:nvSpPr>
        <p:spPr>
          <a:xfrm>
            <a:off x="1636685" y="2872679"/>
            <a:ext cx="4793193" cy="16734"/>
          </a:xfrm>
          <a:prstGeom prst="rect">
            <a:avLst/>
          </a:prstGeom>
          <a:solidFill>
            <a:srgbClr val="14343F"/>
          </a:solidFill>
          <a:ln/>
        </p:spPr>
      </p:sp>
      <p:sp>
        <p:nvSpPr>
          <p:cNvPr id="8" name="Text 6"/>
          <p:cNvSpPr txBox="1"/>
          <p:nvPr/>
        </p:nvSpPr>
        <p:spPr>
          <a:xfrm>
            <a:off x="1636685" y="3022915"/>
            <a:ext cx="431871"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OPEN 1</a:t>
            </a:r>
            <a:endParaRPr lang="en-US" sz="756" dirty="0"/>
          </a:p>
        </p:txBody>
      </p:sp>
      <p:sp>
        <p:nvSpPr>
          <p:cNvPr id="9" name="Text 7"/>
          <p:cNvSpPr txBox="1"/>
          <p:nvPr/>
        </p:nvSpPr>
        <p:spPr>
          <a:xfrm>
            <a:off x="1636685" y="3215213"/>
            <a:ext cx="2746309"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A blind denoiser for real cameras</a:t>
            </a:r>
            <a:endParaRPr lang="en-US" sz="1447" dirty="0"/>
          </a:p>
        </p:txBody>
      </p:sp>
      <p:sp>
        <p:nvSpPr>
          <p:cNvPr id="10" name="Text 8"/>
          <p:cNvSpPr txBox="1"/>
          <p:nvPr/>
        </p:nvSpPr>
        <p:spPr>
          <a:xfrm>
            <a:off x="1636685" y="3544214"/>
            <a:ext cx="4829038" cy="83768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SCUNet's abstract states it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remains unsolved</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Neither synthetic degradation nor SIDD-trained models generalise to an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unseen camera with an unseen ISP</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and no benchmark currently measures that. DnCNN scores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23.66 dB</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on SIDD — a 16 dB collapse, not a graceful degradation.</a:t>
            </a:r>
            <a:endParaRPr lang="en-US" sz="1085" dirty="0"/>
          </a:p>
        </p:txBody>
      </p:sp>
      <p:sp>
        <p:nvSpPr>
          <p:cNvPr id="11" name="Shape 9"/>
          <p:cNvSpPr/>
          <p:nvPr/>
        </p:nvSpPr>
        <p:spPr>
          <a:xfrm>
            <a:off x="6797284" y="2872679"/>
            <a:ext cx="4793193" cy="16734"/>
          </a:xfrm>
          <a:prstGeom prst="rect">
            <a:avLst/>
          </a:prstGeom>
          <a:solidFill>
            <a:srgbClr val="14343F"/>
          </a:solidFill>
          <a:ln/>
        </p:spPr>
      </p:sp>
      <p:sp>
        <p:nvSpPr>
          <p:cNvPr id="12" name="Text 10"/>
          <p:cNvSpPr txBox="1"/>
          <p:nvPr/>
        </p:nvSpPr>
        <p:spPr>
          <a:xfrm>
            <a:off x="6797284" y="3022915"/>
            <a:ext cx="431871"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OPEN 2</a:t>
            </a:r>
            <a:endParaRPr lang="en-US" sz="756" dirty="0"/>
          </a:p>
        </p:txBody>
      </p:sp>
      <p:sp>
        <p:nvSpPr>
          <p:cNvPr id="13" name="Text 11"/>
          <p:cNvSpPr txBox="1"/>
          <p:nvPr/>
        </p:nvSpPr>
        <p:spPr>
          <a:xfrm>
            <a:off x="6797284" y="3215213"/>
            <a:ext cx="2339218"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Fidelity metrics reward blur</a:t>
            </a:r>
            <a:endParaRPr lang="en-US" sz="1447" dirty="0"/>
          </a:p>
        </p:txBody>
      </p:sp>
      <p:sp>
        <p:nvSpPr>
          <p:cNvPr id="14" name="Text 12"/>
          <p:cNvSpPr txBox="1"/>
          <p:nvPr/>
        </p:nvSpPr>
        <p:spPr>
          <a:xfrm>
            <a:off x="6797284" y="3544214"/>
            <a:ext cx="4829038" cy="83768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Every loss in the modern field is L1, L2 or PSNR, and all three recover a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conditional mean</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which is smoother than any plausible clean image. Noise2Noise names the mechanism itself: L2 training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results in spatial blurriness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While leaderboards rank by PSNR, the incentive points the wrong way.</a:t>
            </a:r>
            <a:endParaRPr lang="en-US" sz="1085" dirty="0"/>
          </a:p>
        </p:txBody>
      </p:sp>
      <p:sp>
        <p:nvSpPr>
          <p:cNvPr id="15" name="Shape 13"/>
          <p:cNvSpPr/>
          <p:nvPr/>
        </p:nvSpPr>
        <p:spPr>
          <a:xfrm>
            <a:off x="1636685" y="4677705"/>
            <a:ext cx="4793193" cy="16734"/>
          </a:xfrm>
          <a:prstGeom prst="rect">
            <a:avLst/>
          </a:prstGeom>
          <a:solidFill>
            <a:srgbClr val="14343F"/>
          </a:solidFill>
          <a:ln/>
        </p:spPr>
      </p:sp>
      <p:sp>
        <p:nvSpPr>
          <p:cNvPr id="16" name="Text 14"/>
          <p:cNvSpPr txBox="1"/>
          <p:nvPr/>
        </p:nvSpPr>
        <p:spPr>
          <a:xfrm>
            <a:off x="1636685" y="4827849"/>
            <a:ext cx="431871"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OPEN 3</a:t>
            </a:r>
            <a:endParaRPr lang="en-US" sz="756" dirty="0"/>
          </a:p>
        </p:txBody>
      </p:sp>
      <p:sp>
        <p:nvSpPr>
          <p:cNvPr id="17" name="Text 15"/>
          <p:cNvSpPr txBox="1"/>
          <p:nvPr/>
        </p:nvSpPr>
        <p:spPr>
          <a:xfrm>
            <a:off x="1636685" y="5020239"/>
            <a:ext cx="3069732"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Nobody agrees what 'efficient' means</a:t>
            </a:r>
            <a:endParaRPr lang="en-US" sz="1447" dirty="0"/>
          </a:p>
        </p:txBody>
      </p:sp>
      <p:sp>
        <p:nvSpPr>
          <p:cNvPr id="18" name="Text 16"/>
          <p:cNvSpPr txBox="1"/>
          <p:nvPr/>
        </p:nvSpPr>
        <p:spPr>
          <a:xfrm>
            <a:off x="1636685" y="534914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Three incompatible rankings from our own measurements, and MambaIR's changelog concedes its published complexity figures were wrong. Efficiency claims across papers are close to uncheckable.</a:t>
            </a:r>
            <a:endParaRPr lang="en-US" sz="1085" dirty="0"/>
          </a:p>
        </p:txBody>
      </p:sp>
      <p:sp>
        <p:nvSpPr>
          <p:cNvPr id="19" name="Shape 17"/>
          <p:cNvSpPr/>
          <p:nvPr/>
        </p:nvSpPr>
        <p:spPr>
          <a:xfrm>
            <a:off x="6797284" y="4677705"/>
            <a:ext cx="4793193" cy="16734"/>
          </a:xfrm>
          <a:prstGeom prst="rect">
            <a:avLst/>
          </a:prstGeom>
          <a:solidFill>
            <a:srgbClr val="14343F"/>
          </a:solidFill>
          <a:ln/>
        </p:spPr>
      </p:sp>
      <p:sp>
        <p:nvSpPr>
          <p:cNvPr id="20" name="Text 18"/>
          <p:cNvSpPr txBox="1"/>
          <p:nvPr/>
        </p:nvSpPr>
        <p:spPr>
          <a:xfrm>
            <a:off x="6797284" y="4827849"/>
            <a:ext cx="431871"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OPEN 4</a:t>
            </a:r>
            <a:endParaRPr lang="en-US" sz="756" dirty="0"/>
          </a:p>
        </p:txBody>
      </p:sp>
      <p:sp>
        <p:nvSpPr>
          <p:cNvPr id="21" name="Text 19"/>
          <p:cNvSpPr txBox="1"/>
          <p:nvPr/>
        </p:nvSpPr>
        <p:spPr>
          <a:xfrm>
            <a:off x="6797284" y="5020239"/>
            <a:ext cx="2674437"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benchmarks have saturated</a:t>
            </a:r>
            <a:endParaRPr lang="en-US" sz="1447" dirty="0"/>
          </a:p>
        </p:txBody>
      </p:sp>
      <p:sp>
        <p:nvSpPr>
          <p:cNvPr id="22" name="Text 20"/>
          <p:cNvSpPr txBox="1"/>
          <p:nvPr/>
        </p:nvSpPr>
        <p:spPr>
          <a:xfrm>
            <a:off x="6797284" y="534914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BSD68 σ=25 moved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0.36 dB in five years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while Urban100 moved five times as much and SIDD moved sixteen decibels. A benchmark that cannot distinguish 2017 from 2022 is no longer measuring what the field works on.</a:t>
            </a:r>
            <a:endParaRPr lang="en-US" sz="1085" dirty="0"/>
          </a:p>
        </p:txBody>
      </p:sp>
      <p:sp>
        <p:nvSpPr>
          <p:cNvPr id="23" name="Text 21"/>
          <p:cNvSpPr txBox="1"/>
          <p:nvPr/>
        </p:nvSpPr>
        <p:spPr>
          <a:xfrm>
            <a:off x="8471367" y="6194511"/>
            <a:ext cx="311911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SCUNet23 abstract · Restormer22 Tables 4, 6 · N2N18 §2 · measured</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30</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49010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PROPOSAL DIRECTIONS</a:t>
            </a:r>
            <a:endParaRPr lang="en-US" sz="888" dirty="0"/>
          </a:p>
        </p:txBody>
      </p:sp>
      <p:sp>
        <p:nvSpPr>
          <p:cNvPr id="5" name="Text 3"/>
          <p:cNvSpPr txBox="1"/>
          <p:nvPr/>
        </p:nvSpPr>
        <p:spPr>
          <a:xfrm>
            <a:off x="1636685" y="690281"/>
            <a:ext cx="9394454"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Four research directions the limitations actually justify</a:t>
            </a:r>
            <a:endParaRPr lang="en-US" sz="3025" dirty="0"/>
          </a:p>
        </p:txBody>
      </p:sp>
      <p:sp>
        <p:nvSpPr>
          <p:cNvPr id="6" name="Text 4"/>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Each is tied to a specific documented gap, states what would change, and names how it would be measured. None of these claims a paper achieved something it did not.</a:t>
            </a:r>
            <a:endParaRPr lang="en-US" sz="1315"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636685" y="1976293"/>
          <a:ext cx="9144000" cy="914400"/>
        </p:xfrm>
        <a:graphic>
          <a:graphicData uri="http://schemas.openxmlformats.org/drawingml/2006/table">
            <a:tbl>
              <a:tblPr/>
              <a:tblGrid>
                <a:gridCol w="1899757"/>
                <a:gridCol w="3139775"/>
                <a:gridCol w="2321387"/>
                <a:gridCol w="2592781"/>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GROUNDED IN</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WHAT WOULD CHANGE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HOW YOU WOULD MEASURE IT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680588">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Cross the fork:</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self-supervised supervision on a modern backbone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Our own finding — no published work trains a Transformer or SSM backbone under RDC/DCS supervision; P2N still ships the 2018 U-Net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Replace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UNet_n2n_un</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with a Restormer or NAFNet block under P2N's RDC/DCS training signal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N2V's own protocol on BSD68 σ=25 and on the cryo-TEM / CTC sets; does the 1.35 dB self-supervision gap shrink?</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676382">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Cross-ISP generalisation benchmark</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SCUNet's abstract: a general blind real denoiser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remains unsolved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and no benchmark tests unseen cameras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Train on SIDD, evaluate on DND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and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 held-out camera; report the drop as the headline number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Δ PSNR between seen and unseen ISP — a metric nobody currently reports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676382">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Perceptual objective without losing fidelity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Noise2Noise names L2's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spatial blurriness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perceptual losses are common in SR and absent from denoising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Add an LPIPS or no-reference term to NAFNet's PSNR loss and report both axes, not one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PSNR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and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LPIPS jointly on SIDD — accept a small dB loss for a measured perceptual gain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676382">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An efficiency protocol the field can agree 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Three incompatible rankings from our measurements; MambaIR's corrected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thop</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figures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Report parameters, MACs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and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wall-clock on a named device, with the counting method stated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Reproduce the table across CPU and GPU; the ratio changes are themselves the result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5199644"/>
            <a:ext cx="9953793" cy="16734"/>
          </a:xfrm>
          <a:prstGeom prst="rect">
            <a:avLst/>
          </a:prstGeom>
          <a:solidFill>
            <a:srgbClr val="14343F"/>
          </a:solidFill>
          <a:ln/>
        </p:spPr>
      </p:sp>
      <p:sp>
        <p:nvSpPr>
          <p:cNvPr id="9" name="Text 6"/>
          <p:cNvSpPr txBox="1"/>
          <p:nvPr/>
        </p:nvSpPr>
        <p:spPr>
          <a:xfrm>
            <a:off x="1636685" y="5347868"/>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The first row is the one we would pursue.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It falls directly out of the structural claim of this project — the two branches have never merged — and it is cheap to test, because both halves already exist as working code.</a:t>
            </a:r>
            <a:endParaRPr lang="en-US" sz="1118" dirty="0"/>
          </a:p>
        </p:txBody>
      </p:sp>
      <p:sp>
        <p:nvSpPr>
          <p:cNvPr id="10" name="Text 7"/>
          <p:cNvSpPr txBox="1"/>
          <p:nvPr/>
        </p:nvSpPr>
        <p:spPr>
          <a:xfrm>
            <a:off x="6424574" y="6194511"/>
            <a:ext cx="5165903"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grounded in P2N25, SCUNet23 abstract, N2N18 §2, MambaIR24 changelog, and our own measurements</a:t>
            </a:r>
            <a:endParaRPr lang="en-US" sz="855"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843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31</a:t>
            </a:r>
            <a:endParaRPr lang="en-US" sz="2893" dirty="0"/>
          </a:p>
        </p:txBody>
      </p:sp>
      <p:sp>
        <p:nvSpPr>
          <p:cNvPr id="3" name="Shape 1"/>
          <p:cNvSpPr/>
          <p:nvPr/>
        </p:nvSpPr>
        <p:spPr>
          <a:xfrm>
            <a:off x="601218" y="492679"/>
            <a:ext cx="217079" cy="25055"/>
          </a:xfrm>
          <a:prstGeom prst="rect">
            <a:avLst/>
          </a:prstGeom>
          <a:solidFill>
            <a:srgbClr val="C0451A"/>
          </a:solidFill>
          <a:ln/>
        </p:spPr>
      </p:sp>
      <p:sp>
        <p:nvSpPr>
          <p:cNvPr id="4" name="Text 2"/>
          <p:cNvSpPr txBox="1"/>
          <p:nvPr/>
        </p:nvSpPr>
        <p:spPr>
          <a:xfrm>
            <a:off x="918515" y="436443"/>
            <a:ext cx="850483"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CONCLUSION</a:t>
            </a:r>
            <a:endParaRPr lang="en-US" sz="888" dirty="0"/>
          </a:p>
        </p:txBody>
      </p:sp>
      <p:sp>
        <p:nvSpPr>
          <p:cNvPr id="5" name="Text 3"/>
          <p:cNvSpPr txBox="1"/>
          <p:nvPr/>
        </p:nvSpPr>
        <p:spPr>
          <a:xfrm>
            <a:off x="601218" y="687263"/>
            <a:ext cx="7071238" cy="521025"/>
          </a:xfrm>
          <a:prstGeom prst="rect">
            <a:avLst/>
          </a:prstGeom>
          <a:noFill/>
          <a:ln/>
        </p:spPr>
        <p:txBody>
          <a:bodyPr wrap="none" lIns="0" tIns="0" rIns="0" bIns="0" rtlCol="0" anchor="t"/>
          <a:lstStyle/>
          <a:p>
            <a:pPr algn="l" indent="0" marL="0">
              <a:lnSpc>
                <a:spcPts val="4103"/>
              </a:lnSpc>
              <a:buNone/>
            </a:pPr>
            <a:r>
              <a:rPr lang="en-US" sz="3945" b="1" spc="-105" kern="0" dirty="0">
                <a:solidFill>
                  <a:srgbClr val="14120F"/>
                </a:solidFill>
                <a:latin typeface="Cambria" pitchFamily="34" charset="0"/>
                <a:ea typeface="Cambria" pitchFamily="34" charset="-122"/>
                <a:cs typeface="Cambria" pitchFamily="34" charset="-120"/>
              </a:rPr>
              <a:t>The evolution, in one paragraph</a:t>
            </a:r>
            <a:endParaRPr lang="en-US" sz="3945" dirty="0"/>
          </a:p>
        </p:txBody>
      </p:sp>
      <p:sp>
        <p:nvSpPr>
          <p:cNvPr id="6" name="Shape 4"/>
          <p:cNvSpPr/>
          <p:nvPr/>
        </p:nvSpPr>
        <p:spPr>
          <a:xfrm>
            <a:off x="601218" y="1364376"/>
            <a:ext cx="7840340" cy="16734"/>
          </a:xfrm>
          <a:prstGeom prst="rect">
            <a:avLst/>
          </a:prstGeom>
          <a:solidFill>
            <a:srgbClr val="14120F"/>
          </a:solidFill>
          <a:ln/>
        </p:spPr>
      </p:sp>
      <p:sp>
        <p:nvSpPr>
          <p:cNvPr id="7" name="Text 5"/>
          <p:cNvSpPr txBox="1"/>
          <p:nvPr/>
        </p:nvSpPr>
        <p:spPr>
          <a:xfrm>
            <a:off x="601218" y="1611081"/>
            <a:ext cx="7888346" cy="924641"/>
          </a:xfrm>
          <a:prstGeom prst="rect">
            <a:avLst/>
          </a:prstGeom>
          <a:noFill/>
          <a:ln/>
        </p:spPr>
        <p:txBody>
          <a:bodyPr wrap="square" lIns="0" tIns="0" rIns="0" bIns="0" rtlCol="0" anchor="t"/>
          <a:lstStyle/>
          <a:p>
            <a:pPr algn="l" indent="0" marL="0">
              <a:lnSpc>
                <a:spcPts val="2428"/>
              </a:lnSpc>
              <a:buNone/>
            </a:pPr>
            <a:r>
              <a:rPr kern="0" lang="en-US" sz="1710" i="1" dirty="0">
                <a:solidFill>
                  <a:srgbClr val="14120F"/>
                </a:solidFill>
                <a:latin typeface="Cambria" pitchFamily="34" charset="0"/>
                <a:ea typeface="Cambria" pitchFamily="34" charset="-122"/>
                <a:cs typeface="Cambria" pitchFamily="34" charset="-120"/>
              </a:rPr>
              <a:t>Denoising is the cleanest case study in how computer vision replaced hand-designed priors with learned ones, because here the prior is written down explicitly and you can watch it move.</a:t>
            </a:r>
            <a:endParaRPr lang="en-US" sz="1710" dirty="0"/>
          </a:p>
        </p:txBody>
      </p:sp>
      <p:sp>
        <p:nvSpPr>
          <p:cNvPr id="8" name="Text 6"/>
          <p:cNvSpPr txBox="1"/>
          <p:nvPr/>
        </p:nvSpPr>
        <p:spPr>
          <a:xfrm>
            <a:off x="601218" y="2702601"/>
            <a:ext cx="7888346" cy="924641"/>
          </a:xfrm>
          <a:prstGeom prst="rect">
            <a:avLst/>
          </a:prstGeom>
          <a:noFill/>
          <a:ln/>
        </p:spPr>
        <p:txBody>
          <a:bodyPr wrap="square" lIns="0" tIns="0" rIns="0" bIns="0" rtlCol="0" anchor="t"/>
          <a:lstStyle/>
          <a:p>
            <a:pPr algn="l" indent="0" marL="0">
              <a:lnSpc>
                <a:spcPts val="2428"/>
              </a:lnSpc>
              <a:buNone/>
            </a:pPr>
            <a:r>
              <a:rPr kern="0" lang="en-US" sz="1710" i="1" dirty="0">
                <a:solidFill>
                  <a:srgbClr val="14120F"/>
                </a:solidFill>
                <a:latin typeface="Cambria" pitchFamily="34" charset="0"/>
                <a:ea typeface="Cambria" pitchFamily="34" charset="-122"/>
                <a:cs typeface="Cambria" pitchFamily="34" charset="-120"/>
              </a:rPr>
              <a:t>Four eras, three bottlenecks. Manual prior design ended when DnCNN made the prior a downloadable file. That created two new debts — it needed clean data, and it could only see 35 pixels — and in 2018 the field forked to pay them off separately.</a:t>
            </a:r>
            <a:endParaRPr lang="en-US" sz="1710" dirty="0"/>
          </a:p>
        </p:txBody>
      </p:sp>
      <p:sp>
        <p:nvSpPr>
          <p:cNvPr id="9" name="Text 7"/>
          <p:cNvSpPr txBox="1"/>
          <p:nvPr/>
        </p:nvSpPr>
        <p:spPr>
          <a:xfrm>
            <a:off x="601218" y="3794211"/>
            <a:ext cx="7888346" cy="924641"/>
          </a:xfrm>
          <a:prstGeom prst="rect">
            <a:avLst/>
          </a:prstGeom>
          <a:noFill/>
          <a:ln/>
        </p:spPr>
        <p:txBody>
          <a:bodyPr wrap="square" lIns="0" tIns="0" rIns="0" bIns="0" rtlCol="0" anchor="t"/>
          <a:lstStyle/>
          <a:p>
            <a:pPr algn="l" indent="0" marL="0">
              <a:lnSpc>
                <a:spcPts val="2428"/>
              </a:lnSpc>
              <a:buNone/>
            </a:pPr>
            <a:r>
              <a:rPr kern="0" lang="en-US" sz="1710" i="1" dirty="0">
                <a:solidFill>
                  <a:srgbClr val="14120F"/>
                </a:solidFill>
                <a:latin typeface="Cambria" pitchFamily="34" charset="0"/>
                <a:ea typeface="Cambria" pitchFamily="34" charset="-122"/>
                <a:cs typeface="Cambria" pitchFamily="34" charset="-120"/>
              </a:rPr>
              <a:t>Neither branch has adopted the other's advance. And because three architectures now lead three different benchmarks while none solves real-camera generalisation, the story ends in an open question rather than a winner.</a:t>
            </a:r>
            <a:endParaRPr lang="en-US" sz="1710" dirty="0"/>
          </a:p>
        </p:txBody>
      </p:sp>
      <p:sp>
        <p:nvSpPr>
          <p:cNvPr id="10" name="Shape 8"/>
          <p:cNvSpPr/>
          <p:nvPr/>
        </p:nvSpPr>
        <p:spPr>
          <a:xfrm>
            <a:off x="601218" y="4939680"/>
            <a:ext cx="2099188" cy="8321"/>
          </a:xfrm>
          <a:prstGeom prst="rect">
            <a:avLst/>
          </a:prstGeom>
          <a:solidFill>
            <a:srgbClr val="C9C4B9"/>
          </a:solidFill>
          <a:ln/>
        </p:spPr>
      </p:sp>
      <p:sp>
        <p:nvSpPr>
          <p:cNvPr id="11" name="Text 9"/>
          <p:cNvSpPr txBox="1"/>
          <p:nvPr/>
        </p:nvSpPr>
        <p:spPr>
          <a:xfrm>
            <a:off x="601218" y="5073640"/>
            <a:ext cx="2124334" cy="316565"/>
          </a:xfrm>
          <a:prstGeom prst="rect">
            <a:avLst/>
          </a:prstGeom>
          <a:noFill/>
          <a:ln/>
        </p:spPr>
        <p:txBody>
          <a:bodyPr wrap="square" lIns="0" tIns="0" rIns="0" bIns="0" rtlCol="0" anchor="t"/>
          <a:lstStyle/>
          <a:p>
            <a:pPr algn="l" indent="0" marL="0">
              <a:lnSpc>
                <a:spcPts val="1243"/>
              </a:lnSpc>
              <a:buNone/>
            </a:pPr>
            <a:r>
              <a:rPr kern="0" lang="en-US" sz="1019" dirty="0">
                <a:solidFill>
                  <a:srgbClr val="8A847A"/>
                </a:solidFill>
                <a:latin typeface="Calibri" pitchFamily="34" charset="0"/>
                <a:ea typeface="Calibri" pitchFamily="34" charset="-122"/>
                <a:cs typeface="Calibri" pitchFamily="34" charset="-120"/>
              </a:rPr>
              <a:t>— What the evidence in this talk supports.</a:t>
            </a:r>
            <a:endParaRPr lang="en-US" sz="1019" dirty="0"/>
          </a:p>
        </p:txBody>
      </p:sp>
      <p:sp>
        <p:nvSpPr>
          <p:cNvPr id="12" name="Text 10"/>
          <p:cNvSpPr txBox="1"/>
          <p:nvPr/>
        </p:nvSpPr>
        <p:spPr>
          <a:xfrm>
            <a:off x="9161374" y="6461790"/>
            <a:ext cx="242910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 the organising claim, carried since Stage 1</a:t>
            </a:r>
            <a:endParaRPr lang="en-US" sz="85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439"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32</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540764"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BACKUP · QUESTION INDEX</a:t>
            </a:r>
            <a:endParaRPr lang="en-US" sz="781" dirty="0"/>
          </a:p>
        </p:txBody>
      </p:sp>
      <p:sp>
        <p:nvSpPr>
          <p:cNvPr id="5" name="Text 3"/>
          <p:cNvSpPr txBox="1"/>
          <p:nvPr/>
        </p:nvSpPr>
        <p:spPr>
          <a:xfrm>
            <a:off x="1439540" y="607070"/>
            <a:ext cx="8900221"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Where to find the answer to what you are about to be asked</a:t>
            </a:r>
            <a:endParaRPr lang="en-US" sz="2660" dirty="0"/>
          </a:p>
        </p:txBody>
      </p:sp>
      <p:sp>
        <p:nvSpPr>
          <p:cNvPr id="6" name="Text 4"/>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Kept for the Q&amp;A. The full evidence for every claim in this talk is in the 100-slide master deck, indexed here by the question likely to prompt it.</a:t>
            </a:r>
            <a:endParaRPr lang="en-US" sz="1157"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439540" y="1738183"/>
          <a:ext cx="9144000" cy="914400"/>
        </p:xfrm>
        <a:graphic>
          <a:graphicData uri="http://schemas.openxmlformats.org/drawingml/2006/table">
            <a:tbl>
              <a:tblPr/>
              <a:tblGrid>
                <a:gridCol w="3007553"/>
                <a:gridCol w="6279459"/>
                <a:gridCol w="936437"/>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IF ASKED…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ANSWER IN ONE LINE</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MASTER DECK</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is 0.6 dB a big deal?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Practical ceiling over BM3D was 0.3 dB, theoretical bound 0.7 dB — DnCNN took 85%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10, 37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predict noise, not the image?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y is closer to x than to v, so learning the image forces an identity mapping — the hard point in parameter space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do RL and BN need each other?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RL makes layer inputs Gaussian-like and content-independent — what BN's batch statistics assume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depth 17?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RF = (2d+1)² set to 35×35 to match EPLL, the smallest effective patch size in the field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How can noisy targets work?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L2 learns the conditional mean; the mean of a zero-mean corrupted target is the clean target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Where is Restormer's attention linear?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859" dirty="0">
                          <a:solidFill>
                            <a:srgbClr val="145A66"/>
                          </a:solidFill>
                          <a:latin typeface="Consolas" pitchFamily="34" charset="0"/>
                          <a:ea typeface="Consolas" pitchFamily="34" charset="-122"/>
                          <a:cs typeface="Consolas" pitchFamily="34" charset="-120"/>
                        </a:rPr>
                        <a:t>Attention.forward</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the rearrange puts pixels last, so q@kᵀ is C×C not HW×HW</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Why is NAFNet faster with more parameters?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1×1 and depth-wise convs hit optimised GEMM paths; rearrange forces tensor-layout changes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What did the code tell you that the papers did not?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Padding constants differ 8×; SPI cuts parameters and triples latency; MambaIR needs CUDA to import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75, 77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Which would you deploy?</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Name the constraint first — five constraints, five answers, all current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Did you verify the PSNRs yourself?</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 Every quality figure is reproduced from a named published table; only parameters and latency are ours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81, 93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439540" y="5204765"/>
            <a:ext cx="10223358" cy="14722"/>
          </a:xfrm>
          <a:prstGeom prst="rect">
            <a:avLst/>
          </a:prstGeom>
          <a:solidFill>
            <a:srgbClr val="14343F"/>
          </a:solidFill>
          <a:ln/>
        </p:spPr>
      </p:sp>
      <p:sp>
        <p:nvSpPr>
          <p:cNvPr id="9" name="Text 6"/>
          <p:cNvSpPr txBox="1"/>
          <p:nvPr/>
        </p:nvSpPr>
        <p:spPr>
          <a:xfrm>
            <a:off x="1439540" y="5335158"/>
            <a:ext cx="10510479" cy="187269"/>
          </a:xfrm>
          <a:prstGeom prst="rect">
            <a:avLst/>
          </a:prstGeom>
          <a:noFill/>
          <a:ln/>
        </p:spPr>
        <p:txBody>
          <a:bodyPr wrap="non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rule for the defence: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do not put anything on a slide you cannot personally explain. Every claim in this talk traces to a named table in a named paper, or to a measurement whose method is stated.</a:t>
            </a:r>
            <a:endParaRPr lang="en-US" sz="983" dirty="0"/>
          </a:p>
        </p:txBody>
      </p:sp>
      <p:sp>
        <p:nvSpPr>
          <p:cNvPr id="10" name="Text 7"/>
          <p:cNvSpPr txBox="1"/>
          <p:nvPr/>
        </p:nvSpPr>
        <p:spPr>
          <a:xfrm>
            <a:off x="10780227" y="6274430"/>
            <a:ext cx="882670"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reading — Q&amp;A index</a:t>
            </a:r>
            <a:endParaRPr lang="en-US" sz="752" dirty="0"/>
          </a:p>
        </p:txBody>
      </p:sp>
      <p:sp>
        <p:nvSpPr>
          <p:cNvPr id="11" name="Shape 8"/>
          <p:cNvSpPr/>
          <p:nvPr/>
        </p:nvSpPr>
        <p:spPr>
          <a:xfrm>
            <a:off x="1439540" y="6556705"/>
            <a:ext cx="10223358" cy="7315"/>
          </a:xfrm>
          <a:prstGeom prst="rect">
            <a:avLst/>
          </a:prstGeom>
          <a:solidFill>
            <a:srgbClr val="C9C4B9"/>
          </a:solidFill>
          <a:ln/>
        </p:spPr>
      </p:sp>
      <p:sp>
        <p:nvSpPr>
          <p:cNvPr id="12" name="Shape 9"/>
          <p:cNvSpPr/>
          <p:nvPr/>
        </p:nvSpPr>
        <p:spPr>
          <a:xfrm>
            <a:off x="1439540" y="6519946"/>
            <a:ext cx="7315" cy="36759"/>
          </a:xfrm>
          <a:prstGeom prst="rect">
            <a:avLst/>
          </a:prstGeom>
          <a:solidFill>
            <a:srgbClr val="C9C4B9"/>
          </a:solidFill>
          <a:ln/>
        </p:spPr>
      </p:sp>
      <p:sp>
        <p:nvSpPr>
          <p:cNvPr id="13" name="Text 10"/>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14" name="Shape 11"/>
          <p:cNvSpPr/>
          <p:nvPr/>
        </p:nvSpPr>
        <p:spPr>
          <a:xfrm>
            <a:off x="5415351" y="6519946"/>
            <a:ext cx="7315" cy="36759"/>
          </a:xfrm>
          <a:prstGeom prst="rect">
            <a:avLst/>
          </a:prstGeom>
          <a:solidFill>
            <a:srgbClr val="C9C4B9"/>
          </a:solidFill>
          <a:ln/>
        </p:spPr>
      </p:sp>
      <p:sp>
        <p:nvSpPr>
          <p:cNvPr id="15" name="Text 12"/>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16" name="Shape 13"/>
          <p:cNvSpPr/>
          <p:nvPr/>
        </p:nvSpPr>
        <p:spPr>
          <a:xfrm>
            <a:off x="7119610" y="6519946"/>
            <a:ext cx="7315" cy="36759"/>
          </a:xfrm>
          <a:prstGeom prst="rect">
            <a:avLst/>
          </a:prstGeom>
          <a:solidFill>
            <a:srgbClr val="C9C4B9"/>
          </a:solidFill>
          <a:ln/>
        </p:spPr>
      </p:sp>
      <p:sp>
        <p:nvSpPr>
          <p:cNvPr id="17" name="Text 14"/>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18" name="Shape 15"/>
          <p:cNvSpPr/>
          <p:nvPr/>
        </p:nvSpPr>
        <p:spPr>
          <a:xfrm>
            <a:off x="9958639" y="6519946"/>
            <a:ext cx="7315" cy="36759"/>
          </a:xfrm>
          <a:prstGeom prst="rect">
            <a:avLst/>
          </a:prstGeom>
          <a:solidFill>
            <a:srgbClr val="C9C4B9"/>
          </a:solidFill>
          <a:ln/>
        </p:spPr>
      </p:sp>
      <p:sp>
        <p:nvSpPr>
          <p:cNvPr id="19" name="Text 16"/>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0" name="Shape 17"/>
          <p:cNvSpPr/>
          <p:nvPr/>
        </p:nvSpPr>
        <p:spPr>
          <a:xfrm>
            <a:off x="11662898" y="6519946"/>
            <a:ext cx="7315" cy="36759"/>
          </a:xfrm>
          <a:prstGeom prst="rect">
            <a:avLst/>
          </a:prstGeom>
          <a:solidFill>
            <a:srgbClr val="C9C4B9"/>
          </a:solidFill>
          <a:ln/>
        </p:spPr>
      </p:sp>
      <p:sp>
        <p:nvSpPr>
          <p:cNvPr id="21" name="Text 18"/>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Denoising — From Foundations to State-of-the-Art · The 30-Minute Talk · Stage 3</dc:title>
  <dc:subject>PptxGenJS Presentation</dc:subject>
  <dc:creator>PptxGenJS</dc:creator>
  <cp:lastModifiedBy>PptxGenJS</cp:lastModifiedBy>
  <cp:revision>1</cp:revision>
  <dcterms:created xsi:type="dcterms:W3CDTF">2026-09-18T07:07:24Z</dcterms:created>
  <dcterms:modified xsi:type="dcterms:W3CDTF">2026-09-18T07:07:24Z</dcterms:modified>
</cp:coreProperties>
</file>