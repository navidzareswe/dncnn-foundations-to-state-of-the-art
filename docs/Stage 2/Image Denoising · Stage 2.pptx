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7316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 → STAGE 2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1481328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DENOISING  ·  STAGE 2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1810512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b="1" spc="-12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papers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b="1" spc="-12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running code.</a:t>
            </a:r>
            <a:endParaRPr lang="en-US" sz="4800" dirty="0"/>
          </a:p>
        </p:txBody>
      </p:sp>
      <p:sp>
        <p:nvSpPr>
          <p:cNvPr id="25" name="Text 23"/>
          <p:cNvSpPr txBox="1"/>
          <p:nvPr/>
        </p:nvSpPr>
        <p:spPr>
          <a:xfrm>
            <a:off x="812800" y="3456432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traced how the </a:t>
            </a:r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 prior moved out of human hands. Stage 2 follows the same journey through the source files — and finds it written there, line by line.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12800" y="464515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33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repositories cloned at pinned commits, read, and executed. Every claim on every slide points at a file and a line.</a:t>
            </a:r>
            <a:endParaRPr lang="en-US" sz="13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4633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QUESTION, FOUR ANSWERS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THROUGH-LINE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asked every codebase the same question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12800" y="13350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“Open the file. Where is the prior?”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56816"/>
          <a:ext cx="1085396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663440"/>
                <a:gridCol w="31729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spc="125" kern="0" dirty="0">
                          <a:solidFill>
                            <a:srgbClr val="6B7D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143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spc="125" kern="0" dirty="0">
                          <a:solidFill>
                            <a:srgbClr val="6B7D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 THE FILE, AND YOU FIND…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143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spc="125" kern="0" dirty="0">
                          <a:solidFill>
                            <a:srgbClr val="6B7D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WHAT SHIPS TO A USER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143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Classical DIP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while-loop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and a hand-tuned </a:t>
                      </a:r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E5B7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algorithm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CNN · 2017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comprehension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of conv layers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E5B7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.pth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file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branch · 2018–25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supervision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— the network stops changing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E5B7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.pth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plus 50 steps per image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branch · 2022–24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new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operator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replacing the 3×3 conv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E5B7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.pth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and a YAML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812800" y="4005072"/>
            <a:ext cx="25400" cy="365760"/>
          </a:xfrm>
          <a:prstGeom prst="rect">
            <a:avLst/>
          </a:prstGeom>
          <a:solidFill>
            <a:srgbClr val="E5B76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90600" y="4005072"/>
            <a:ext cx="10676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table is the plan for the next twelve minutes. We walk it top to bottom, in code.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_DENOISE.PY:405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CLASSICAL DIP · THE PRIOR IS A LINE YOU WRITE YOURSELF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variation, as actually implemented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12800" y="1316736"/>
            <a:ext cx="10853962" cy="2096135"/>
          </a:xfrm>
          <a:prstGeom prst="roundRect">
            <a:avLst>
              <a:gd name="adj" fmla="val 3054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067" y="1450848"/>
            <a:ext cx="10481429" cy="1827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&lt; max_num_iter:          </a:t>
            </a:r>
            <a:pPr indent="0" marL="0">
              <a:lnSpc>
                <a:spcPts val="2015"/>
              </a:lnSpc>
              <a:buNone/>
            </a:pPr>
            <a:r>
              <a:rPr lang="en-US" sz="130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default 200 — per image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  = -p.sum(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</a:t>
            </a:r>
            <a:pPr indent="0" marL="0">
              <a:lnSpc>
                <a:spcPts val="2015"/>
              </a:lnSpc>
              <a:buNone/>
            </a:pPr>
            <a:r>
              <a:rPr lang="en-US" sz="130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divergence of the dual field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image + d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   = (d**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).sum()            </a:t>
            </a:r>
            <a:pPr indent="0" marL="0">
              <a:lnSpc>
                <a:spcPts val="2015"/>
              </a:lnSpc>
              <a:buNone/>
            </a:pPr>
            <a:r>
              <a:rPr lang="en-US" sz="130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fidelity term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  += weight * norm.sum()   </a:t>
            </a:r>
            <a:pPr indent="0" marL="0">
              <a:lnSpc>
                <a:spcPts val="2015"/>
              </a:lnSpc>
              <a:buNone/>
            </a:pPr>
            <a:r>
              <a:rPr lang="en-US" sz="130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the prior. Hand-written.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 -= tau * g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 /= norm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2800" y="354088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scikit-image 0.26.0</a:t>
            </a:r>
            <a:pPr indent="0" marL="0">
              <a:buNone/>
            </a:pPr>
            <a:r>
              <a:rPr lang="en-US" sz="950" spc="25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skimage/restoration/_denoise.py line 405 — Rudin–Osher–Fatemi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2800" y="3979799"/>
            <a:ext cx="3505098" cy="1225296"/>
          </a:xfrm>
          <a:prstGeom prst="roundRect">
            <a:avLst>
              <a:gd name="adj" fmla="val 4478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9067" y="4149132"/>
            <a:ext cx="31325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TRAINING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999067" y="4443434"/>
            <a:ext cx="3132565" cy="624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dataset, no optimiser, no weights. The algorithm </a:t>
            </a:r>
            <a:pPr indent="0" marL="0">
              <a:lnSpc>
                <a:spcPts val="1929"/>
              </a:lnSpc>
              <a:buNone/>
            </a:pPr>
            <a:r>
              <a:rPr lang="en-US" sz="1330" i="1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model.</a:t>
            </a:r>
            <a:endParaRPr lang="en-US" sz="1330" dirty="0"/>
          </a:p>
        </p:txBody>
      </p:sp>
      <p:sp>
        <p:nvSpPr>
          <p:cNvPr id="31" name="Shape 29"/>
          <p:cNvSpPr/>
          <p:nvPr/>
        </p:nvSpPr>
        <p:spPr>
          <a:xfrm>
            <a:off x="4487232" y="3979799"/>
            <a:ext cx="3505098" cy="1225296"/>
          </a:xfrm>
          <a:prstGeom prst="roundRect">
            <a:avLst>
              <a:gd name="adj" fmla="val 4478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73498" y="4149132"/>
            <a:ext cx="31325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KNOB, SET BY A HUMAN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673498" y="4443434"/>
            <a:ext cx="3132565" cy="624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trades smoothing against fidelity. You tune it — per image, per noise level.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61663" y="3979799"/>
            <a:ext cx="3505098" cy="1225296"/>
          </a:xfrm>
          <a:prstGeom prst="roundRect">
            <a:avLst>
              <a:gd name="adj" fmla="val 4478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47930" y="4149132"/>
            <a:ext cx="31325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IS REUSED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347930" y="4443434"/>
            <a:ext cx="3132565" cy="624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iterations run again, from scratch, for the next image. Forever.</a:t>
            </a:r>
            <a:endParaRPr lang="en-US" sz="13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09266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BROKE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THE FIELD LEFT THIS BEHIND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costs, both visible from the code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12800" y="1371600"/>
            <a:ext cx="5325381" cy="1051560"/>
          </a:xfrm>
          <a:prstGeom prst="roundRect">
            <a:avLst>
              <a:gd name="adj" fmla="val 5217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067" y="1540933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1 — TEST TIME IS COMPUTE TIME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99067" y="1835235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image restarts an optimisation. Reported at 512×512 in the DnCNN paper, Table IV:</a:t>
            </a:r>
            <a:endParaRPr lang="en-US" sz="133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606040"/>
          <a:ext cx="5325381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75564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BM3D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2.85 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WNNM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773 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DnCNN-B, GPU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0.060 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6341381" y="1371600"/>
            <a:ext cx="5325381" cy="2029968"/>
          </a:xfrm>
          <a:prstGeom prst="roundRect">
            <a:avLst>
              <a:gd name="adj" fmla="val 2703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27648" y="1540933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2 — THERE IS NO ARTEFACT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527648" y="1835235"/>
            <a:ext cx="495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decade of BM3D research produced no downloadable object. You cannot install a tuned prior, fine-tune it, or hand it to a colleague.</a:t>
            </a:r>
            <a:endParaRPr lang="en-US" sz="1330" dirty="0"/>
          </a:p>
        </p:txBody>
      </p:sp>
      <p:sp>
        <p:nvSpPr>
          <p:cNvPr id="32" name="Text 29"/>
          <p:cNvSpPr txBox="1"/>
          <p:nvPr/>
        </p:nvSpPr>
        <p:spPr>
          <a:xfrm>
            <a:off x="6527648" y="2703915"/>
            <a:ext cx="495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33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deep era’s real contribution to engineering is not accuracy. It is that the prior became a file.</a:t>
            </a:r>
            <a:endParaRPr lang="en-US" sz="13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6582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NETWORK_DNCNN.PY:20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 · DNCNN — THE LOOP BECOMES A LIST COMPREHENSION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shape, different substance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12800" y="1316736"/>
            <a:ext cx="10853962" cy="2352040"/>
          </a:xfrm>
          <a:prstGeom prst="roundRect">
            <a:avLst>
              <a:gd name="adj" fmla="val 2721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067" y="1450848"/>
            <a:ext cx="10481429" cy="208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m_head = B.conv(in_nc, nc, mode=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'C'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+act_mode[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m_body = [B.conv(nc, nc, mode=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'C'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+act_mode) 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range(nb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m_tail = B.conv(nc, out_nc, mode=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'C'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self.model = B.sequential(m_head, *m_body, m_tail)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x):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self.model(x)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- n          </a:t>
            </a:r>
            <a:pPr indent="0" marL="0">
              <a:lnSpc>
                <a:spcPts val="2015"/>
              </a:lnSpc>
              <a:buNone/>
            </a:pPr>
            <a:r>
              <a:rPr lang="en-US" sz="130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 the noise, then subtract it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2800" y="3796792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cszn/KAIR</a:t>
            </a:r>
            <a:pPr indent="0" marL="0">
              <a:buNone/>
            </a:pPr>
            <a:r>
              <a:rPr lang="en-US" sz="950" spc="25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models/network_dncnn.py line 20 · </a:t>
            </a:r>
            <a:pPr indent="0" marL="0">
              <a:buNone/>
            </a:pPr>
            <a:r>
              <a:rPr lang="en-US" sz="860" spc="25" kern="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nb=17..20</a:t>
            </a:r>
            <a:pPr indent="0" marL="0">
              <a:buNone/>
            </a:pPr>
            <a:r>
              <a:rPr lang="en-US" sz="950" spc="25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860" spc="25" kern="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nc=64</a:t>
            </a:r>
            <a:pPr indent="0" marL="0">
              <a:buNone/>
            </a:pPr>
            <a:r>
              <a:rPr lang="en-US" sz="950" spc="25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mode </a:t>
            </a:r>
            <a:pPr indent="0" marL="0">
              <a:buNone/>
            </a:pPr>
            <a:r>
              <a:rPr lang="en-US" sz="860" spc="25" kern="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'BR'</a:t>
            </a:r>
            <a:pPr indent="0" marL="0">
              <a:buNone/>
            </a:pPr>
            <a:r>
              <a:rPr lang="en-US" sz="950" spc="25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BatchNorm + ReLU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12800" y="419912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classical </a:t>
            </a:r>
            <a:pPr algn="l" indent="0" marL="0">
              <a:lnSpc>
                <a:spcPts val="2175"/>
              </a:lnSpc>
              <a:buNone/>
            </a:pPr>
            <a:r>
              <a:rPr lang="en-US" sz="131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loop iterated </a:t>
            </a:r>
            <a:pPr algn="l" indent="0" marL="0">
              <a:lnSpc>
                <a:spcPts val="2175"/>
              </a:lnSpc>
              <a:buNone/>
            </a:pPr>
            <a:r>
              <a:rPr lang="en-US" sz="1450" i="1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time</a:t>
            </a:r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DnCNN unrolls the same idea </a:t>
            </a:r>
            <a:pPr algn="l" indent="0" marL="0">
              <a:lnSpc>
                <a:spcPts val="2175"/>
              </a:lnSpc>
              <a:buNone/>
            </a:pPr>
            <a:r>
              <a:rPr lang="en-US" sz="1450" i="1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depth</a:t>
            </a:r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20 stacked layers, run once.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812800" y="4912360"/>
            <a:ext cx="25400" cy="640080"/>
          </a:xfrm>
          <a:prstGeom prst="rect">
            <a:avLst/>
          </a:prstGeom>
          <a:solidFill>
            <a:srgbClr val="E5B76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0600" y="4912360"/>
            <a:ext cx="106761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x - n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residual learning: the paper’s central trick, in one line. The prior is now the 0.67 M numbers inside 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self.model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DATASET_DNCNN.PY __GETITEM__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 · WHERE THE TRAINING PAIRS COME FROM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noise is manufactured, on the fly, per sample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12800" y="1316736"/>
            <a:ext cx="10853962" cy="1584325"/>
          </a:xfrm>
          <a:prstGeom prst="roundRect">
            <a:avLst>
              <a:gd name="adj" fmla="val 4040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067" y="1450848"/>
            <a:ext cx="10481429" cy="1316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patch_H = img_H[rnd_h:rnd_h+ps, rnd_w:rnd_w+ps, :]      </a:t>
            </a:r>
            <a:pPr indent="0" marL="0">
              <a:lnSpc>
                <a:spcPts val="2015"/>
              </a:lnSpc>
              <a:buNone/>
            </a:pPr>
            <a:r>
              <a:rPr lang="en-US" sz="130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random crop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patch_H = util.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augment_img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(patch_H, mode=random.randint(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</a:t>
            </a:r>
            <a:pPr indent="0" marL="0">
              <a:lnSpc>
                <a:spcPts val="2015"/>
              </a:lnSpc>
              <a:buNone/>
            </a:pPr>
            <a:r>
              <a:rPr lang="en-US" sz="130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flip / rot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img_L   = img_H.clone()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   = torch.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randn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(img_L.size()).mul_(self.sigma/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255.0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img_L.add_(noise)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2800" y="302907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cszn/KAIR</a:t>
            </a:r>
            <a:pPr indent="0" marL="0">
              <a:buNone/>
            </a:pPr>
            <a:r>
              <a:rPr lang="en-US" sz="950" spc="25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data/dataset_dncnn.py · </a:t>
            </a:r>
            <a:pPr indent="0" marL="0">
              <a:buNone/>
            </a:pPr>
            <a:r>
              <a:rPr lang="en-US" sz="860" spc="25" kern="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__getitem__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2800" y="3467989"/>
            <a:ext cx="5325381" cy="1389888"/>
          </a:xfrm>
          <a:prstGeom prst="roundRect">
            <a:avLst>
              <a:gd name="adj" fmla="val 3947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9067" y="3637322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BUYS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999067" y="3931624"/>
            <a:ext cx="4952848" cy="789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 training pairs from a folder of clean photographs. No paired capture rig, no registration. It is why deep denoising took off before deep deblurring did.</a:t>
            </a:r>
            <a:endParaRPr lang="en-US" sz="1330" dirty="0"/>
          </a:p>
        </p:txBody>
      </p:sp>
      <p:sp>
        <p:nvSpPr>
          <p:cNvPr id="31" name="Shape 29"/>
          <p:cNvSpPr/>
          <p:nvPr/>
        </p:nvSpPr>
        <p:spPr>
          <a:xfrm>
            <a:off x="6341381" y="3467989"/>
            <a:ext cx="5325381" cy="1389888"/>
          </a:xfrm>
          <a:prstGeom prst="roundRect">
            <a:avLst>
              <a:gd name="adj" fmla="val 3947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27648" y="3637322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COSTS — REMEMBER THIS LINE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527648" y="3931624"/>
            <a:ext cx="4952848" cy="789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img_H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must exist. The whole pipeline rests on </a:t>
            </a:r>
            <a:pPr indent="0" marL="0">
              <a:lnSpc>
                <a:spcPts val="1929"/>
              </a:lnSpc>
              <a:buNone/>
            </a:pPr>
            <a:r>
              <a:rPr lang="en-US" sz="133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owning a clean image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That assumption is the next bottleneck, and it sits right here in </a:t>
            </a:r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__getitem__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41215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 · THE FORK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1170432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FORK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1481328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24"/>
              </a:lnSpc>
              <a:buNone/>
            </a:pPr>
            <a:r>
              <a:rPr lang="en-US" sz="27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2018 the code showed two limits, and two communities went after them separately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812800" y="2761488"/>
            <a:ext cx="5325381" cy="1847088"/>
          </a:xfrm>
          <a:prstGeom prst="roundRect">
            <a:avLst>
              <a:gd name="adj" fmla="val 2970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067" y="2930821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IN </a:t>
            </a:r>
            <a:pPr indent="0" marL="0">
              <a:lnSpc>
                <a:spcPts val="1200"/>
              </a:lnSpc>
              <a:buNone/>
            </a:pPr>
            <a:r>
              <a:rPr lang="en-US" sz="860" spc="150" kern="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DATASET_DNCNN.PY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99067" y="3225123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img_H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 need clean data.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99067" y="3609171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33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branch.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Changes the </a:t>
            </a:r>
            <a:pPr indent="0" marL="0">
              <a:lnSpc>
                <a:spcPts val="1929"/>
              </a:lnSpc>
              <a:buNone/>
            </a:pPr>
            <a:r>
              <a:rPr lang="en-US" sz="1330" i="1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what goes in, what it is scored against.</a:t>
            </a:r>
            <a:endParaRPr lang="en-US" sz="1330" dirty="0"/>
          </a:p>
          <a:p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Noise2Noise · Noise2Void · ZS-N2N · P2N</a:t>
            </a:r>
            <a:endParaRPr lang="en-US" sz="1330" dirty="0"/>
          </a:p>
        </p:txBody>
      </p:sp>
      <p:sp>
        <p:nvSpPr>
          <p:cNvPr id="29" name="Shape 27"/>
          <p:cNvSpPr/>
          <p:nvPr/>
        </p:nvSpPr>
        <p:spPr>
          <a:xfrm>
            <a:off x="6341381" y="2761488"/>
            <a:ext cx="5325381" cy="1847088"/>
          </a:xfrm>
          <a:prstGeom prst="roundRect">
            <a:avLst>
              <a:gd name="adj" fmla="val 2970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27648" y="2930821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IN </a:t>
            </a:r>
            <a:pPr indent="0" marL="0">
              <a:lnSpc>
                <a:spcPts val="1200"/>
              </a:lnSpc>
              <a:buNone/>
            </a:pPr>
            <a:r>
              <a:rPr lang="en-US" sz="860" spc="150" kern="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NETWORK_DNCNN.PY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527648" y="3225123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B.conv(nc, nc)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3×3 kernel sees 3×3 pixels.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527648" y="3609171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33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 branch.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Changes the </a:t>
            </a:r>
            <a:pPr indent="0" marL="0">
              <a:lnSpc>
                <a:spcPts val="1929"/>
              </a:lnSpc>
              <a:buNone/>
            </a:pPr>
            <a:r>
              <a:rPr lang="en-US" sz="1330" i="1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what computes in between.</a:t>
            </a:r>
            <a:endParaRPr lang="en-US" sz="1330" dirty="0"/>
          </a:p>
          <a:p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Restormer · NAFNet · SCUNet · MambaIR</a:t>
            </a:r>
            <a:endParaRPr lang="en-US" sz="1330" dirty="0"/>
          </a:p>
        </p:txBody>
      </p:sp>
      <p:sp>
        <p:nvSpPr>
          <p:cNvPr id="33" name="Text 31"/>
          <p:cNvSpPr txBox="1"/>
          <p:nvPr/>
        </p:nvSpPr>
        <p:spPr>
          <a:xfrm>
            <a:off x="812800" y="4846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branches are alive in 2026. Neither has absorbed the other.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18531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NOISE2NOISE/TRAIN.PY:105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BRANCH, 2018 · NOISE2NOISE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paper is one </a:t>
            </a:r>
            <a:pPr indent="0" marL="0">
              <a:buNone/>
            </a:pPr>
            <a:r>
              <a:rPr lang="en-US" sz="2300" b="1" spc="-50" kern="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statement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12800" y="1316736"/>
            <a:ext cx="10853962" cy="1328420"/>
          </a:xfrm>
          <a:prstGeom prst="roundRect">
            <a:avLst>
              <a:gd name="adj" fmla="val 4818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067" y="1450848"/>
            <a:ext cx="10481429" cy="106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noise2noise: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meansq_error = tf.reduce_mean(tf.square(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noisy_target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denoised))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meansq_error = tf.reduce_mean(tf.square(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clean_target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denoised))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2800" y="2773172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NVlabs/noise2noise</a:t>
            </a:r>
            <a:pPr indent="0" marL="0">
              <a:buNone/>
            </a:pPr>
            <a:r>
              <a:rPr lang="en-US" sz="950" spc="25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train.py line 105 · commit </a:t>
            </a:r>
            <a:pPr indent="0" marL="0">
              <a:buNone/>
            </a:pPr>
            <a:r>
              <a:rPr lang="en-US" sz="860" spc="25" kern="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7355519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12800" y="317550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network, same optimiser, same loader. The target swaps from a clean image to </a:t>
            </a:r>
            <a:pPr algn="l" indent="0" marL="0">
              <a:lnSpc>
                <a:spcPts val="2175"/>
              </a:lnSpc>
              <a:buNone/>
            </a:pPr>
            <a:r>
              <a:rPr lang="en-US" sz="1450" i="1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noisy photograph of the same scene</a:t>
            </a:r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it still converges, because the noise has zero mean and an L2 loss regresses to the mean.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812800" y="4217924"/>
            <a:ext cx="25400" cy="731520"/>
          </a:xfrm>
          <a:prstGeom prst="rect">
            <a:avLst/>
          </a:prstGeom>
          <a:solidFill>
            <a:srgbClr val="E5B76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0600" y="4217924"/>
            <a:ext cx="106761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engineering detail worth noticing: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repo is 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tensorflow as tf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pinned to 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scipy==1.1.0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Pillow==5.2.0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 is the last major denoiser in our study that is not PyTorch. In everything that follows, the framework question has exactly one answer.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NETWORK NEVER CHANGED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BRANCH, 2025 · THE FINDING OF THIS STAGE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years, two frameworks, identical widths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12800" y="1335024"/>
            <a:ext cx="5325381" cy="1920240"/>
          </a:xfrm>
          <a:prstGeom prst="roundRect">
            <a:avLst>
              <a:gd name="adj" fmla="val 2857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067" y="1504357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 · TENSORFLOW · NOISE2NOISE/NETWORK.PY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99067" y="1798659"/>
            <a:ext cx="4952848" cy="1387475"/>
          </a:xfrm>
          <a:prstGeom prst="roundRect">
            <a:avLst>
              <a:gd name="adj" fmla="val 4613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85333" y="1932771"/>
            <a:ext cx="4580314" cy="1119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conv_lr(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'enc_conv0..6'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n,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conv_lr(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'dec_conv5..2'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n,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conv_lr(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'dec_conv1a'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n,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conv_lr(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'dec_conv1b'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n,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  (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'dec_conv1'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n, 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41381" y="1335024"/>
            <a:ext cx="5325381" cy="1920240"/>
          </a:xfrm>
          <a:prstGeom prst="roundRect">
            <a:avLst>
              <a:gd name="adj" fmla="val 2857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27648" y="1504357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 · PYTORCH · P2N-PLUS/NETWORK.PY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27648" y="1798659"/>
            <a:ext cx="4952848" cy="1387475"/>
          </a:xfrm>
          <a:prstGeom prst="roundRect">
            <a:avLst>
              <a:gd name="adj" fmla="val 4613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13914" y="1932771"/>
            <a:ext cx="4580314" cy="1119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UNet_n2n_un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(nn.Module):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en_block1..5 →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de_block1..4 →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de_block5    →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→ Conv2d(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out,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12800" y="349300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CVPR 2025 paper ships the 2018 Noise2Noise U-Net unchanged. The class name is not a coincidence — it is a citation.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812800" y="4297680"/>
            <a:ext cx="25400" cy="685800"/>
          </a:xfrm>
          <a:prstGeom prst="rect">
            <a:avLst/>
          </a:prstGeom>
          <a:solidFill>
            <a:srgbClr val="E5B76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90600" y="4297680"/>
            <a:ext cx="106761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data branch never was an architecture story.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Everything that changed between 2018 and 2025 lives in one function — 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noise_estimation_loss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that function does more than score outputs: it builds the inputs too. Only opening both files shows 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73164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P2N-PLUS/TEST.PY:121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BRANCH, 2025 · WHAT </a:t>
            </a:r>
            <a:pPr indent="0" marL="0">
              <a:buNone/>
            </a:pPr>
            <a:r>
              <a:rPr lang="en-US" sz="1050" i="1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DID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CHANGE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P2N: renoise the estimate, then demand agreement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12800" y="1316736"/>
            <a:ext cx="10853962" cy="2273300"/>
          </a:xfrm>
          <a:prstGeom prst="roundRect">
            <a:avLst>
              <a:gd name="adj" fmla="val 2816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067" y="1450848"/>
            <a:ext cx="10481429" cy="2005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= self.model(noisy)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  = noisy - output                             </a:t>
            </a:r>
            <a:pPr indent="0" marL="0">
              <a:lnSpc>
                <a:spcPts val="1938"/>
              </a:lnSpc>
              <a:buNone/>
            </a:pPr>
            <a:r>
              <a:rPr lang="en-US" sz="125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estimated noise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output_p = self.model(output + noise   * sigma_p)   </a:t>
            </a:r>
            <a:pPr indent="0" marL="0">
              <a:lnSpc>
                <a:spcPts val="1938"/>
              </a:lnSpc>
              <a:buNone/>
            </a:pPr>
            <a:r>
              <a:rPr lang="en-US" sz="125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y⁺ = x̂ + α·n̂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noise_n  = self.</a:t>
            </a:r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noise_generate</a:t>
            </a:r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(noise)              </a:t>
            </a:r>
            <a:pPr indent="0" marL="0">
              <a:lnSpc>
                <a:spcPts val="1938"/>
              </a:lnSpc>
              <a:buNone/>
            </a:pPr>
            <a:r>
              <a:rPr lang="en-US" sz="125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 noise * (-1)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output_n = self.model(output + noise_n * sigma_n)   </a:t>
            </a:r>
            <a:pPr indent="0" marL="0">
              <a:lnSpc>
                <a:spcPts val="1938"/>
              </a:lnSpc>
              <a:buNone/>
            </a:pPr>
            <a:r>
              <a:rPr lang="en-US" sz="125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y⁻ = x̂ − α·n̂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self.criterion(output_p, output_n)          </a:t>
            </a:r>
            <a:pPr indent="0" marL="0">
              <a:lnSpc>
                <a:spcPts val="1938"/>
              </a:lnSpc>
              <a:buNone/>
            </a:pPr>
            <a:r>
              <a:rPr lang="en-US" sz="125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 them agree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12800" y="3708908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Li-Tong-621/P2N-plus</a:t>
            </a:r>
            <a:pPr indent="0" marL="0">
              <a:buNone/>
            </a:pPr>
            <a:r>
              <a:rPr lang="en-US" sz="950" spc="25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test.py line 121, branch </a:t>
            </a:r>
            <a:pPr indent="0" marL="0">
              <a:buNone/>
            </a:pPr>
            <a:r>
              <a:rPr lang="en-US" sz="860" spc="25" kern="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'RDC+DSC'</a:t>
            </a:r>
            <a:pPr indent="0" marL="0">
              <a:buNone/>
            </a:pPr>
            <a:r>
              <a:rPr lang="en-US" sz="950" spc="25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commented “CVPR version”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12800" y="407466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to negative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literally </a:t>
            </a:r>
            <a:pPr algn="l" indent="0" marL="0">
              <a:lnSpc>
                <a:spcPts val="2025"/>
              </a:lnSpc>
              <a:buNone/>
            </a:pPr>
            <a:r>
              <a:rPr lang="en-US" sz="122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 * (-1)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one line, at test.py:109. The paper names the two halves: building </a:t>
            </a:r>
            <a:pPr algn="l" indent="0" marL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⁺ and </a:t>
            </a:r>
            <a:pPr algn="l" indent="0" marL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⁻ is </a:t>
            </a:r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renoised data construction (RDC)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training them to agree is </a:t>
            </a:r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denoised consistency supervision (DCS)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Those are the abbreviations on the next slide.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12800" y="5071364"/>
            <a:ext cx="25400" cy="548640"/>
          </a:xfrm>
          <a:prstGeom prst="rect">
            <a:avLst/>
          </a:prstGeom>
          <a:solidFill>
            <a:srgbClr val="E5B76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0600" y="5071364"/>
            <a:ext cx="10676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Noise2Void must </a:t>
            </a:r>
            <a:pPr indent="0" marL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pixels; ZS-N2N must </a:t>
            </a:r>
            <a:pPr indent="0" marL="0">
              <a:lnSpc>
                <a:spcPts val="2025"/>
              </a:lnSpc>
              <a:buNone/>
            </a:pPr>
            <a:r>
              <a:rPr lang="en-US" sz="1350" i="1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downsample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Both discard information. Renoising keeps every pixel — that is the “information-lossy barrier” of the title.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50480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 THE BRANCH, HAND OFF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BRANCH · CLOSING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never moved. The target did.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12800" y="12984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advance on this branch is a different answer to one question: if you have no clean image, what do you train against?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12800" y="2121408"/>
            <a:ext cx="2611890" cy="1810512"/>
          </a:xfrm>
          <a:prstGeom prst="roundRect">
            <a:avLst>
              <a:gd name="adj" fmla="val 3030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9067" y="2290741"/>
            <a:ext cx="22393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 · NOISE2NOISE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99067" y="2603331"/>
            <a:ext cx="2239357" cy="123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noisy shot of the same scene.</a:t>
            </a:r>
            <a:endParaRPr lang="en-US" sz="1260" dirty="0"/>
          </a:p>
          <a:p>
            <a:pPr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you need two.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3560157" y="2121408"/>
            <a:ext cx="2611890" cy="1810512"/>
          </a:xfrm>
          <a:prstGeom prst="roundRect">
            <a:avLst>
              <a:gd name="adj" fmla="val 3030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46424" y="2290741"/>
            <a:ext cx="22393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 · NOISE2VOID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746424" y="2603331"/>
            <a:ext cx="2239357" cy="123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pixel it was not allowed to see.</a:t>
            </a:r>
            <a:endParaRPr lang="en-US" sz="1260" dirty="0"/>
          </a:p>
          <a:p>
            <a:pPr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pixels thrown away.</a:t>
            </a:r>
            <a:endParaRPr lang="en-US" sz="1260" dirty="0"/>
          </a:p>
        </p:txBody>
      </p:sp>
      <p:sp>
        <p:nvSpPr>
          <p:cNvPr id="32" name="Shape 30"/>
          <p:cNvSpPr/>
          <p:nvPr/>
        </p:nvSpPr>
        <p:spPr>
          <a:xfrm>
            <a:off x="6307514" y="2121408"/>
            <a:ext cx="2611890" cy="1810512"/>
          </a:xfrm>
          <a:prstGeom prst="roundRect">
            <a:avLst>
              <a:gd name="adj" fmla="val 3030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3781" y="2290741"/>
            <a:ext cx="22393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 · ZS-N2N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493781" y="2603331"/>
            <a:ext cx="2239357" cy="123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half of a downsampled pair.</a:t>
            </a:r>
            <a:endParaRPr lang="en-US" sz="1260" dirty="0"/>
          </a:p>
          <a:p>
            <a:pPr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half the resolution.</a:t>
            </a:r>
            <a:endParaRPr lang="en-US" sz="1260" dirty="0"/>
          </a:p>
        </p:txBody>
      </p:sp>
      <p:sp>
        <p:nvSpPr>
          <p:cNvPr id="35" name="Shape 33"/>
          <p:cNvSpPr/>
          <p:nvPr/>
        </p:nvSpPr>
        <p:spPr>
          <a:xfrm>
            <a:off x="9054871" y="2121408"/>
            <a:ext cx="2611890" cy="1810512"/>
          </a:xfrm>
          <a:prstGeom prst="roundRect">
            <a:avLst>
              <a:gd name="adj" fmla="val 3030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41138" y="2290741"/>
            <a:ext cx="22393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 · P2N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241138" y="2603331"/>
            <a:ext cx="2239357" cy="123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own output, renoised the other way.</a:t>
            </a:r>
            <a:endParaRPr lang="en-US" sz="1260" dirty="0"/>
          </a:p>
          <a:p>
            <a:pPr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none — every pixel kept.</a:t>
            </a:r>
            <a:endParaRPr lang="en-US" sz="1260" dirty="0"/>
          </a:p>
        </p:txBody>
      </p:sp>
      <p:sp>
        <p:nvSpPr>
          <p:cNvPr id="38" name="Text 36"/>
          <p:cNvSpPr txBox="1"/>
          <p:nvPr/>
        </p:nvSpPr>
        <p:spPr>
          <a:xfrm>
            <a:off x="81280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papers, one network. </a:t>
            </a:r>
            <a:pPr algn="l" indent="0" marL="0">
              <a:lnSpc>
                <a:spcPts val="2175"/>
              </a:lnSpc>
              <a:buNone/>
            </a:pPr>
            <a:r>
              <a:rPr lang="en-US" sz="131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UNet_n2n_un</a:t>
            </a:r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48, 96, 64, 32 — unchanged since 2018.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812800" y="4718304"/>
            <a:ext cx="25400" cy="365760"/>
          </a:xfrm>
          <a:prstGeom prst="rect">
            <a:avLst/>
          </a:prstGeom>
          <a:solidFill>
            <a:srgbClr val="E5B769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90600" y="4718304"/>
            <a:ext cx="10676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branch made the opposite bet: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the supervision, rebuild the network. That is slides 12 to 14.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RESTORMER_ARCH.PY:111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BRANCH, 2022 · RESTORMER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Attention, transposed so that it scales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12800" y="1316736"/>
            <a:ext cx="10853962" cy="1584325"/>
          </a:xfrm>
          <a:prstGeom prst="roundRect">
            <a:avLst>
              <a:gd name="adj" fmla="val 4040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067" y="1450848"/>
            <a:ext cx="10481429" cy="1316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rearrange(q, 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 (head c) h w -&gt; b head c (h w)'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head=num_heads)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rearrange(k, 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 (head c) h w -&gt; b head c (h w)'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head=num_heads)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attn = (q @ k.transpose(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* self.temperature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attn = attn.softmax(dim=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2800" y="302907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swz30/Restormer</a:t>
            </a:r>
            <a:pPr indent="0" marL="0">
              <a:buNone/>
            </a:pPr>
            <a:r>
              <a:rPr lang="en-US" sz="950" spc="25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basicsr/models/archs/restormer_arch.py line 111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12800" y="3431413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go second-to-last, pixels go last. So the product is </a:t>
            </a:r>
            <a:pPr algn="l" indent="0" marL="0">
              <a:lnSpc>
                <a:spcPts val="2175"/>
              </a:lnSpc>
              <a:buNone/>
            </a:pPr>
            <a:r>
              <a:rPr lang="en-US" sz="145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C/k × C/k</a:t>
            </a:r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channel covariance — not HW × HW. Cost falls from </a:t>
            </a:r>
            <a:pPr algn="l" indent="0" marL="0">
              <a:lnSpc>
                <a:spcPts val="2175"/>
              </a:lnSpc>
              <a:buNone/>
            </a:pPr>
            <a:r>
              <a:rPr lang="en-US" sz="131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O(H²W²C)</a:t>
            </a:r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 indent="0" marL="0">
              <a:lnSpc>
                <a:spcPts val="2175"/>
              </a:lnSpc>
              <a:buNone/>
            </a:pPr>
            <a:r>
              <a:rPr lang="en-US" sz="131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O(HWC²/k)</a:t>
            </a:r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linear in pixels.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812800" y="4327525"/>
            <a:ext cx="25400" cy="548640"/>
          </a:xfrm>
          <a:prstGeom prst="rect">
            <a:avLst/>
          </a:prstGeom>
          <a:solidFill>
            <a:srgbClr val="E5B76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0600" y="4327525"/>
            <a:ext cx="10676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direct answer to DnCNN’s 3×3 limit. A pixel can now influence any other pixel, at a price you can afford on a full-resolution photograph.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805113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NAFNET_ARCH.PY:22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BRANCH, 2022 · NAFNET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rebuttal: delete the activation function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12800" y="1316736"/>
            <a:ext cx="10853962" cy="1328420"/>
          </a:xfrm>
          <a:prstGeom prst="roundRect">
            <a:avLst>
              <a:gd name="adj" fmla="val 4818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067" y="1450848"/>
            <a:ext cx="10481429" cy="106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SimpleGate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(nn.Module):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x):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x1, x2 = x.chunk(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dim=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x1 * x2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2800" y="2773172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megvii-research/NAFNet</a:t>
            </a:r>
            <a:pPr indent="0" marL="0">
              <a:buNone/>
            </a:pPr>
            <a:r>
              <a:rPr lang="en-US" sz="950" spc="25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NAFNet_arch.py line 22 — that is the entire class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12800" y="317550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Wherever a network would apply ReLU, GELU or Softmax, NAFNet splits the tensor and multiplies the halves. Its claim: the gains credited to attention were mostly gains from </a:t>
            </a:r>
            <a:pPr algn="l" indent="0" marL="0">
              <a:lnSpc>
                <a:spcPts val="2175"/>
              </a:lnSpc>
              <a:buNone/>
            </a:pPr>
            <a:r>
              <a:rPr lang="en-US" sz="1450" i="1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gating</a:t>
            </a:r>
            <a:pPr algn="l" indent="0" marL="0">
              <a:lnSpc>
                <a:spcPts val="2175"/>
              </a:lnSpc>
              <a:buNone/>
            </a:pPr>
            <a:r>
              <a:rPr lang="en-US" sz="145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812800" y="4016756"/>
            <a:ext cx="5325381" cy="1591056"/>
          </a:xfrm>
          <a:prstGeom prst="roundRect">
            <a:avLst>
              <a:gd name="adj" fmla="val 3448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9067" y="4186089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BLOCK STARTS AS THE IDENTITY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999067" y="4480391"/>
            <a:ext cx="4952848" cy="101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initialise to </a:t>
            </a:r>
            <a:pPr indent="0" marL="0">
              <a:lnSpc>
                <a:spcPts val="1929"/>
              </a:lnSpc>
              <a:buNone/>
            </a:pPr>
            <a:r>
              <a:rPr lang="en-US" sz="133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a 36-block network begins life as a plain U-Net skip path and switches depth on by gradient descent. Hence </a:t>
            </a:r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warmup_iter: -1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config.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41381" y="4016756"/>
            <a:ext cx="5325381" cy="1591056"/>
          </a:xfrm>
          <a:prstGeom prst="roundRect">
            <a:avLst>
              <a:gd name="adj" fmla="val 3448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27648" y="4186089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LOSS THAT IS THE METRIC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527648" y="4480391"/>
            <a:ext cx="4952848" cy="101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PSNRLoss = (10/ln10)·mean(log(MSE per image))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literally −PSNR. The log sits inside the batch mean, so easy images stop dominating the gradient. Not perceptual, not adversarial: metric-aligned.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482430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· SCAN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BRANCH, 2023–24 · TWO MORE ANSWERS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8"/>
              </a:lnSpc>
              <a:buNone/>
            </a:pPr>
            <a:r>
              <a:rPr lang="en-US" sz="29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SCUNet refuses to choose. MambaIR changes the mathematics.</a:t>
            </a:r>
            <a:endParaRPr lang="en-US" sz="2900" dirty="0"/>
          </a:p>
        </p:txBody>
      </p:sp>
      <p:sp>
        <p:nvSpPr>
          <p:cNvPr id="25" name="Shape 23"/>
          <p:cNvSpPr/>
          <p:nvPr/>
        </p:nvSpPr>
        <p:spPr>
          <a:xfrm>
            <a:off x="812800" y="1389888"/>
            <a:ext cx="5325381" cy="3063240"/>
          </a:xfrm>
          <a:prstGeom prst="roundRect">
            <a:avLst>
              <a:gd name="adj" fmla="val 1791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067" y="1559221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SCUNET · SPLIT THE CHANNELS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99067" y="1853523"/>
            <a:ext cx="4952848" cy="1170940"/>
          </a:xfrm>
          <a:prstGeom prst="roundRect">
            <a:avLst>
              <a:gd name="adj" fmla="val 5466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85333" y="1987635"/>
            <a:ext cx="4580314" cy="902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conv_x, trans_x = torch.split(...)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conv_x  = conv_block(conv_x) + conv_x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trans_x = trans_block(trans_x)   </a:t>
            </a:r>
            <a:pPr indent="0" marL="0">
              <a:lnSpc>
                <a:spcPts val="1705"/>
              </a:lnSpc>
              <a:buNone/>
            </a:pPr>
            <a:r>
              <a:rPr lang="en-US" sz="110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Swin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+ conv1_2(cat(conv_x, trans_x))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99067" y="3134191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channels take a 3×3 conv for texture, half take windowed attention for structure. Its real edge is elsewhere: a randomised degradation pipeline — blur, Poisson, JPEG, ISP — which is why its blind weights survive real photographs.</a:t>
            </a:r>
            <a:endParaRPr lang="en-US" sz="1330" dirty="0"/>
          </a:p>
        </p:txBody>
      </p:sp>
      <p:sp>
        <p:nvSpPr>
          <p:cNvPr id="30" name="Shape 28"/>
          <p:cNvSpPr/>
          <p:nvPr/>
        </p:nvSpPr>
        <p:spPr>
          <a:xfrm>
            <a:off x="6341381" y="1389888"/>
            <a:ext cx="5325381" cy="3063240"/>
          </a:xfrm>
          <a:prstGeom prst="roundRect">
            <a:avLst>
              <a:gd name="adj" fmla="val 1791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27648" y="1559221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MAMBAIR · SCAN INSTEAD OF ATTEND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27648" y="1853523"/>
            <a:ext cx="4952848" cy="1170940"/>
          </a:xfrm>
          <a:prstGeom prst="roundRect">
            <a:avLst>
              <a:gd name="adj" fmla="val 5466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13914" y="1987635"/>
            <a:ext cx="4580314" cy="902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A_log_init(d_state, d_inner,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copies=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merge=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 image has no scan order,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i="1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 scan four ways and merge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527648" y="3134191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selective state-space recurrence with input-dependent A, B, C. Linear cost and global context — but paid for in a different currency, as the next slide shows.</a:t>
            </a:r>
            <a:endParaRPr lang="en-US" sz="13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59746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A MODERN REPO IS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REALITY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modern denoising repository actually is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812800" y="1371600"/>
            <a:ext cx="5325381" cy="2148840"/>
          </a:xfrm>
          <a:prstGeom prst="roundRect">
            <a:avLst>
              <a:gd name="adj" fmla="val 2553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067" y="1540933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 LIBRARY — A FORK OF A TRAINING HARNESS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99067" y="1835235"/>
            <a:ext cx="4952848" cy="1575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Restormer, NAFNet and MambaIR each vendor a modified copy of </a:t>
            </a:r>
            <a:pPr indent="0" marL="0">
              <a:lnSpc>
                <a:spcPts val="1929"/>
              </a:lnSpc>
              <a:buNone/>
            </a:pPr>
            <a:r>
              <a:rPr lang="en-US" sz="133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BasicSR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a local </a:t>
            </a:r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basicsr/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Importing one architecture file runs the whole package </a:t>
            </a:r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chain: </a:t>
            </a:r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NAFNet_arch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pulled in </a:t>
            </a:r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lmdb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the forward pass never touches. Two of these repos cannot coexist in one Python process — they collide on the </a:t>
            </a:r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basicsr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namespace.</a:t>
            </a:r>
            <a:endParaRPr lang="en-US" sz="1330" dirty="0"/>
          </a:p>
        </p:txBody>
      </p:sp>
      <p:sp>
        <p:nvSpPr>
          <p:cNvPr id="28" name="Shape 26"/>
          <p:cNvSpPr/>
          <p:nvPr/>
        </p:nvSpPr>
        <p:spPr>
          <a:xfrm>
            <a:off x="812800" y="3657600"/>
            <a:ext cx="5325381" cy="1371600"/>
          </a:xfrm>
          <a:prstGeom prst="roundRect">
            <a:avLst>
              <a:gd name="adj" fmla="val 4000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9067" y="3826933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ONE OF THEM WILL NOT RUN AT ALL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999067" y="4121235"/>
            <a:ext cx="4952848" cy="798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MambaIR line 11 is an unconditional </a:t>
            </a:r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mamba_ssm … import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try/except, no CPU fallback. </a:t>
            </a:r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ModuleNotFoundError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Pinned to CUDA 11.7 / PyTorch 2.0.1.</a:t>
            </a:r>
            <a:endParaRPr lang="en-US" sz="1330" dirty="0"/>
          </a:p>
        </p:txBody>
      </p:sp>
      <p:sp>
        <p:nvSpPr>
          <p:cNvPr id="31" name="Shape 29"/>
          <p:cNvSpPr/>
          <p:nvPr/>
        </p:nvSpPr>
        <p:spPr>
          <a:xfrm>
            <a:off x="6341381" y="1371600"/>
            <a:ext cx="5325381" cy="3657600"/>
          </a:xfrm>
          <a:prstGeom prst="roundRect">
            <a:avLst>
              <a:gd name="adj" fmla="val 1500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27648" y="1540933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MODEL IS NOW A YAML ENTRY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27648" y="1835235"/>
            <a:ext cx="4952848" cy="2037080"/>
          </a:xfrm>
          <a:prstGeom prst="roundRect">
            <a:avLst>
              <a:gd name="adj" fmla="val 3142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13914" y="1969347"/>
            <a:ext cx="4580314" cy="176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network_g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NAFNet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enc_blk_nums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middle_blk_num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PairedImageDataset</a:t>
            </a:r>
            <a:endParaRPr lang="en-US" sz="1100" dirty="0"/>
          </a:p>
          <a:p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io_backend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CF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lmdb}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527648" y="3991187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2017 the model was </a:t>
            </a:r>
            <a:pPr indent="0" marL="0">
              <a:lnSpc>
                <a:spcPts val="1929"/>
              </a:lnSpc>
              <a:buNone/>
            </a:pPr>
            <a:r>
              <a:rPr lang="en-US" sz="120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DnCNN(nc=64, nb=20)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script. Today architecture, data, optimiser, loss and metrics are one declarative file resolved through a registry — so a reproduction attempt is a </a:t>
            </a:r>
            <a:pPr indent="0" marL="0">
              <a:lnSpc>
                <a:spcPts val="1929"/>
              </a:lnSpc>
              <a:buNone/>
            </a:pPr>
            <a:r>
              <a:rPr lang="en-US" sz="133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between two YAMLs</a:t>
            </a:r>
            <a:pPr indent="0" marL="0">
              <a:lnSpc>
                <a:spcPts val="1929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837062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PRIOR AS A FILE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REALITY · HOW THE WEIGHTS REACH YOU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classical era shipped nothing. This is what replaced it.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371600"/>
          <a:ext cx="1085396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  <a:gridCol w="262432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spc="125" kern="0" dirty="0">
                          <a:solidFill>
                            <a:srgbClr val="6B7D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143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spc="125" kern="0" dirty="0">
                          <a:solidFill>
                            <a:srgbClr val="6B7D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HOW THE WEIGHTS ARE DISTRIBUTED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143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spc="125" kern="0" dirty="0">
                          <a:solidFill>
                            <a:srgbClr val="6B7D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ROBUSTNESS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143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DnCNN · SCUNet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github.com/cszn/KAIR/releases/download/v1.0/…pth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Versioned, scriptable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274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Restormer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274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Hard-coded Google Drive file IDs; </a:t>
                      </a:r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E5B7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torch.load(w)['params']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274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Opaque, unversioned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NAFNet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releases + an official Hugging Face Space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MambaIR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Releases + a Colab notebook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a GPU runtime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P2N+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Checkpoint committed into the repo — then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gradient steps on your one image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starting point, not a product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812800" y="3986784"/>
            <a:ext cx="25400" cy="640080"/>
          </a:xfrm>
          <a:prstGeom prst="rect">
            <a:avLst/>
          </a:prstGeom>
          <a:solidFill>
            <a:srgbClr val="E5B76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90600" y="3986784"/>
            <a:ext cx="106761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these also pads the input up to its own stride multiple and crops the result back: Restormer 8, NAFNet 16, SCUNet 64, P2N+ 32. Same idiom, four constants — which matters the moment you chain two of them in one pipeline.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14379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RAN THEM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MEASURED, NOT QUOTED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instantiated each model from its own repo and timed it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316736"/>
          <a:ext cx="1085396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00400"/>
                <a:gridCol w="2505456"/>
                <a:gridCol w="24963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spc="125" kern="0" dirty="0">
                          <a:solidFill>
                            <a:srgbClr val="6B7D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143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spc="125" kern="0" dirty="0">
                          <a:solidFill>
                            <a:srgbClr val="6B7D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CONFIGURATION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143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spc="125" kern="0" dirty="0">
                          <a:solidFill>
                            <a:srgbClr val="6B7D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PARAMETERS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143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spc="125" kern="0" dirty="0">
                          <a:solidFill>
                            <a:srgbClr val="6B7D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CPU · 256²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143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DnCNN-B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nc=64, nb=20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0.668 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1.015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P2N+ · SPI off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UNet_n2n_un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0.991 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0.286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P2N+ · SPI 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conv_type='SPI'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0.925 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0.710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SCUNet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dim=64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9.663 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1.685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Restormer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dim=48, [4,6,6,8]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26.127 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10.436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NAFNet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width=64, SIDD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115.983 M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A7B6C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1.899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274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MambaIR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274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F274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measurable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F274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 failed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812800" y="4443984"/>
            <a:ext cx="5325381" cy="1517904"/>
          </a:xfrm>
          <a:prstGeom prst="roundRect">
            <a:avLst>
              <a:gd name="adj" fmla="val 3614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99067" y="4613317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 DO NOT PREDICT SPEED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999067" y="4907619"/>
            <a:ext cx="4952848" cy="962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8"/>
              </a:lnSpc>
              <a:buNone/>
            </a:pPr>
            <a:r>
              <a:rPr lang="en-US" sz="124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NAFNet carries </a:t>
            </a:r>
            <a:pPr indent="0" marL="0">
              <a:lnSpc>
                <a:spcPts val="1798"/>
              </a:lnSpc>
              <a:buNone/>
            </a:pPr>
            <a:r>
              <a:rPr lang="en-US" sz="124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4.4×</a:t>
            </a:r>
            <a:pPr indent="0" marL="0">
              <a:lnSpc>
                <a:spcPts val="1798"/>
              </a:lnSpc>
              <a:buNone/>
            </a:pPr>
            <a:r>
              <a:rPr lang="en-US" sz="124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Restormer’s parameters and runs </a:t>
            </a:r>
            <a:pPr indent="0" marL="0">
              <a:lnSpc>
                <a:spcPts val="1798"/>
              </a:lnSpc>
              <a:buNone/>
            </a:pPr>
            <a:r>
              <a:rPr lang="en-US" sz="124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5.5× faster</a:t>
            </a:r>
            <a:pPr indent="0" marL="0">
              <a:lnSpc>
                <a:spcPts val="1798"/>
              </a:lnSpc>
              <a:buNone/>
            </a:pPr>
            <a:r>
              <a:rPr lang="en-US" sz="124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1×1 and depth-wise convs hit fast kernels; </a:t>
            </a:r>
            <a:pPr indent="0" marL="0">
              <a:lnSpc>
                <a:spcPts val="1798"/>
              </a:lnSpc>
              <a:buNone/>
            </a:pPr>
            <a:r>
              <a:rPr lang="en-US" sz="112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rearrange</a:t>
            </a:r>
            <a:pPr indent="0" marL="0">
              <a:lnSpc>
                <a:spcPts val="1798"/>
              </a:lnSpc>
              <a:buNone/>
            </a:pPr>
            <a:r>
              <a:rPr lang="en-US" sz="124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forces layout changes.</a:t>
            </a:r>
            <a:endParaRPr lang="en-US" sz="1240" dirty="0"/>
          </a:p>
        </p:txBody>
      </p:sp>
      <p:sp>
        <p:nvSpPr>
          <p:cNvPr id="29" name="Shape 26"/>
          <p:cNvSpPr/>
          <p:nvPr/>
        </p:nvSpPr>
        <p:spPr>
          <a:xfrm>
            <a:off x="6341381" y="4443984"/>
            <a:ext cx="5325381" cy="1517904"/>
          </a:xfrm>
          <a:prstGeom prst="roundRect">
            <a:avLst>
              <a:gd name="adj" fmla="val 3614"/>
            </a:avLst>
          </a:prstGeom>
          <a:solidFill>
            <a:srgbClr val="0F151E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27648" y="4613317"/>
            <a:ext cx="495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spc="150" kern="0" dirty="0">
                <a:solidFill>
                  <a:srgbClr val="F27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A PARAMETER TABLE CAN MISLEAD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527648" y="4907619"/>
            <a:ext cx="4952848" cy="962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8"/>
              </a:lnSpc>
              <a:buNone/>
            </a:pPr>
            <a:r>
              <a:rPr lang="en-US" sz="124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SPI on </a:t>
            </a:r>
            <a:pPr indent="0" marL="0">
              <a:lnSpc>
                <a:spcPts val="1798"/>
              </a:lnSpc>
              <a:buNone/>
            </a:pPr>
            <a:r>
              <a:rPr lang="en-US" sz="1240" i="1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</a:t>
            </a:r>
            <a:pPr indent="0" marL="0">
              <a:lnSpc>
                <a:spcPts val="1798"/>
              </a:lnSpc>
              <a:buNone/>
            </a:pPr>
            <a:r>
              <a:rPr lang="en-US" sz="124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parameters 6.7% and </a:t>
            </a:r>
            <a:pPr indent="0" marL="0">
              <a:lnSpc>
                <a:spcPts val="1798"/>
              </a:lnSpc>
              <a:buNone/>
            </a:pPr>
            <a:r>
              <a:rPr lang="en-US" sz="1240" i="1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raises</a:t>
            </a:r>
            <a:pPr indent="0" marL="0">
              <a:lnSpc>
                <a:spcPts val="1798"/>
              </a:lnSpc>
              <a:buNone/>
            </a:pPr>
            <a:r>
              <a:rPr lang="en-US" sz="124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latency 2.5× — every layer runs twice, on x and −x. MambaIR’s own changelog admits its published </a:t>
            </a:r>
            <a:pPr indent="0" marL="0">
              <a:lnSpc>
                <a:spcPts val="1798"/>
              </a:lnSpc>
              <a:buNone/>
            </a:pPr>
            <a:r>
              <a:rPr lang="en-US" sz="112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thop</a:t>
            </a:r>
            <a:pPr indent="0" marL="0">
              <a:lnSpc>
                <a:spcPts val="1798"/>
              </a:lnSpc>
              <a:buNone/>
            </a:pPr>
            <a:r>
              <a:rPr lang="en-US" sz="124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figures were wrong and are larger under </a:t>
            </a:r>
            <a:pPr indent="0" marL="0">
              <a:lnSpc>
                <a:spcPts val="1798"/>
              </a:lnSpc>
              <a:buNone/>
            </a:pPr>
            <a:r>
              <a:rPr lang="en-US" sz="1120" dirty="0">
                <a:solidFill>
                  <a:srgbClr val="E5B7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fvcore</a:t>
            </a:r>
            <a:pPr indent="0" marL="0">
              <a:lnSpc>
                <a:spcPts val="1798"/>
              </a:lnSpc>
              <a:buNone/>
            </a:pPr>
            <a:r>
              <a:rPr lang="en-US" sz="124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5FD3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400"/>
            <a:ext cx="372533" cy="260833"/>
          </a:xfrm>
          <a:prstGeom prst="rect">
            <a:avLst/>
          </a:prstGeom>
          <a:solidFill>
            <a:srgbClr val="5FD3D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82575"/>
            <a:ext cx="372533" cy="260833"/>
          </a:xfrm>
          <a:prstGeom prst="rect">
            <a:avLst/>
          </a:prstGeom>
          <a:solidFill>
            <a:srgbClr val="5FD3D0">
              <a:alpha val="55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39750"/>
            <a:ext cx="372533" cy="260833"/>
          </a:xfrm>
          <a:prstGeom prst="rect">
            <a:avLst/>
          </a:prstGeom>
          <a:solidFill>
            <a:srgbClr val="5FD3D0">
              <a:alpha val="49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796925"/>
            <a:ext cx="372533" cy="260833"/>
          </a:xfrm>
          <a:prstGeom prst="rect">
            <a:avLst/>
          </a:prstGeom>
          <a:solidFill>
            <a:srgbClr val="5FD3D0">
              <a:alpha val="44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54100"/>
            <a:ext cx="372533" cy="260833"/>
          </a:xfrm>
          <a:prstGeom prst="rect">
            <a:avLst/>
          </a:prstGeom>
          <a:solidFill>
            <a:srgbClr val="5FD3D0">
              <a:alpha val="38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1311275"/>
            <a:ext cx="372533" cy="260833"/>
          </a:xfrm>
          <a:prstGeom prst="rect">
            <a:avLst/>
          </a:prstGeom>
          <a:solidFill>
            <a:srgbClr val="5FD3D0">
              <a:alpha val="33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68450"/>
            <a:ext cx="372533" cy="260833"/>
          </a:xfrm>
          <a:prstGeom prst="rect">
            <a:avLst/>
          </a:prstGeom>
          <a:solidFill>
            <a:srgbClr val="5FD3D0">
              <a:alpha val="27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825625"/>
            <a:ext cx="372533" cy="260833"/>
          </a:xfrm>
          <a:prstGeom prst="rect">
            <a:avLst/>
          </a:prstGeom>
          <a:solidFill>
            <a:srgbClr val="5FD3D0">
              <a:alpha val="22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82800"/>
            <a:ext cx="372533" cy="260833"/>
          </a:xfrm>
          <a:prstGeom prst="rect">
            <a:avLst/>
          </a:prstGeom>
          <a:solidFill>
            <a:srgbClr val="5FD3D0">
              <a:alpha val="16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2339975"/>
            <a:ext cx="372533" cy="260833"/>
          </a:xfrm>
          <a:prstGeom prst="rect">
            <a:avLst/>
          </a:prstGeom>
          <a:solidFill>
            <a:srgbClr val="5FD3D0">
              <a:alpha val="11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97150"/>
            <a:ext cx="372533" cy="260833"/>
          </a:xfrm>
          <a:prstGeom prst="rect">
            <a:avLst/>
          </a:prstGeom>
          <a:solidFill>
            <a:srgbClr val="5FD3D0">
              <a:alpha val="5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854325"/>
            <a:ext cx="372533" cy="260833"/>
          </a:xfrm>
          <a:prstGeom prst="rect">
            <a:avLst/>
          </a:prstGeom>
          <a:solidFill>
            <a:srgbClr val="5FD3D0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72533" y="0"/>
            <a:ext cx="7315" cy="6858000"/>
          </a:xfrm>
          <a:prstGeom prst="rect">
            <a:avLst/>
          </a:prstGeom>
          <a:solidFill>
            <a:srgbClr val="22303F"/>
          </a:solidFill>
          <a:ln/>
        </p:spPr>
      </p:sp>
      <p:sp>
        <p:nvSpPr>
          <p:cNvPr id="16" name="Text 14"/>
          <p:cNvSpPr txBox="1"/>
          <p:nvPr/>
        </p:nvSpPr>
        <p:spPr>
          <a:xfrm rot="16200000">
            <a:off x="-1733973" y="4589611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7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ARC, IN ONE TABLE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470565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FROM PAPERS TO RUNNING 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59479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9479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116007" y="643263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10" kern="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algn="ctr" indent="0" marL="0">
              <a:buNone/>
            </a:pPr>
            <a:r>
              <a:rPr lang="en-US" sz="1100" spc="11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49279" y="6432635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80C12"/>
          </a:solidFill>
          <a:ln w="9525">
            <a:solidFill>
              <a:srgbClr val="2230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149279" y="6432635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2800" y="389467"/>
            <a:ext cx="108539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</a:t>
            </a:r>
            <a:pPr indent="0" marL="0">
              <a:buNone/>
            </a:pPr>
            <a:r>
              <a:rPr lang="en-US" sz="1050" spc="250" kern="0" dirty="0">
                <a:solidFill>
                  <a:srgbClr val="6B7D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indent="0" marL="0">
              <a:buNone/>
            </a:pPr>
            <a:r>
              <a:rPr lang="en-US" sz="1050" spc="250" kern="0" dirty="0">
                <a:solidFill>
                  <a:srgbClr val="5FD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THIS LEAVES US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76656"/>
            <a:ext cx="108539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spc="-50" kern="0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prior lives, across three eras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316736"/>
          <a:ext cx="10853962" cy="914400"/>
        </p:xfrm>
        <a:graphic>
          <a:graphicData uri="http://schemas.openxmlformats.org/drawingml/2006/table">
            <a:tbl>
              <a:tblPr/>
              <a:tblGrid>
                <a:gridCol w="2395728"/>
                <a:gridCol w="2743200"/>
                <a:gridCol w="2926080"/>
                <a:gridCol w="2788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spc="125" kern="0" dirty="0">
                          <a:solidFill>
                            <a:srgbClr val="6B7D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DIMENSION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143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spc="125" kern="0" dirty="0">
                          <a:solidFill>
                            <a:srgbClr val="6B7D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CLASSICAL — TV, BM3D, WNNM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143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spc="125" kern="0" dirty="0">
                          <a:solidFill>
                            <a:srgbClr val="6B7D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DEEP — DNCNN → RESTORMER, NAFNET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143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spc="125" kern="0" dirty="0">
                          <a:solidFill>
                            <a:srgbClr val="6B7D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SELF-SUPERVISED — P2N, 2025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101600" marB="1143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2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the prior lives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Hand-written in the objective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Learned into a </a:t>
                      </a:r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E5B7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state_dict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Learned per image, at test 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ships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algorithm + tuned constants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E5B7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.pth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on GitHub Releases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</a:t>
                      </a:r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E5B7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.pth</a:t>
                      </a:r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as initialisation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Test-time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optimisation per 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forward pass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 gradient steps per 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None; every image restarts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Downloaded once, reused forever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Partial; adapts to each 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paired corpora — SIDD, DIV2K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noisy image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8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9EF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512² runtime (DnCNN paper)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BM3D 2.85 s · WNNM 773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DnCNN-B 0.060 s, GPU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7B6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Seconds — but per image, always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72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C12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812800" y="43159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9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prior moved out of the algorithm into the weights — then, in the self-supervised branch, back out of the weights into a per-image optimisation that needs no clean data at all.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12800" y="51389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330" dirty="0">
                <a:solidFill>
                  <a:srgbClr val="A7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to deploy depends on the constraint: NAFNet on a GPU with paired data, SCUNet when memory is tight, P2N when no clean image exists. The fork has not closed — and the code shows why.</a:t>
            </a:r>
            <a:endParaRPr lang="en-US" sz="13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2 — From Papers to Running Code · Image Denoising</dc:title>
  <dc:subject>PptxGenJS Presentation</dc:subject>
  <dc:creator>Image Denoising · Stage 2</dc:creator>
  <cp:lastModifiedBy>Image Denoising · Stage 2</cp:lastModifiedBy>
  <cp:revision>1</cp:revision>
  <dcterms:created xsi:type="dcterms:W3CDTF">2026-08-29T06:33:01Z</dcterms:created>
  <dcterms:modified xsi:type="dcterms:W3CDTF">2026-08-29T06:33:01Z</dcterms:modified>
</cp:coreProperties>
</file>