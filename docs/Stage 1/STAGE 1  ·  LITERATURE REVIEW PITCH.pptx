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120" d="100"/>
          <a:sy n="120" d="100"/>
        </p:scale>
        <p:origin x="198"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168556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image denoising, anchored on DnCNN. But the pitch is not the paper — it is the arc. Over seventeen years the image prior moved out of human hands entirely. Fourteen sources, eleven peer-reviewed papers.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 follows the guidelines section by section. Part four is eleven slides, one per Category A paper.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papers, one equation. Because it has more unknowns than observations, something must be assumed.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Denoising recovers a clean image x from noisy observation y, where y equals x plus v. That is DnCNN's own opening.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difficulties: ill-posedness, the need for a prior, and the tension between noise removal and detail preservation.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important methodological point: we did not invent these transitions. Evidenced, not imposed.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Era one classical, bottleneck one, era two TNRD, then DnCNN — and here the line forks, because the field attacked two different limitations at once.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Memorise the last sentence word for word — it is a truthful, well-sourced answer to almost any broad question.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citation figures are Scholar-verified and dated. Numbers without a source and a date are the easiest thing for a TA to challenge.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Eleven Category A papers spanning 2007 to 2024, with both older milestones and 2022-plus SOTA.</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Category B sources at 21.4 percent. We chose fourteen rather than ten deliberately, to keep slack if a venue is challenged.</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auxiliary source has a specific job in Stage 2, stated explicitly rather than implied.</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Decide now who presents which papers. Handover moments are where group presentations lose time.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BM3D is not a network at all — it is a four-stage algorithm with no training set. That is the point: the prior is entirely hand-written.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PDF does not print its own venue — CVPR 2014 and the page range were confirmed against proceedings records. Say that out loud; it shows you checked.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phrase: this is the bridge. TNRD is the paper most likely to be dismissed as filler by someone skimming the list.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 for one question: why DnCNN fails on strongly repeating structure. Honest answer — it has no explicit non-local self-similarity prior, unlike BM3D and WNNM.</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equation and say the loss is unchanged — the surprise is entirely in what you feed it as a target.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Best place in the deck to add a diagram: a pixel grid with the centre cell struck out. Also one of only two papers with a verified explainer video.</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Restormer has an official conference video — the only fully verified one besides Noise2Void. Watch it before the defence.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explicitly: we included this because it disagrees with the previous slide. A real methodological dispute is stronger than consensus.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Colab notebook once before the defence. Being able to say we ran it carries disproportionate weight and prepares you for Stage 2.</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SCUNet as your bridge sentence into Stage 2. Its degradation pipeline is specified in enough detail to be re-implemented.</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Rehearse an honest boundary: we can explain what problem it solves and why linear complexity matters, but we are not claiming mastery of state space mathematics at this stage.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Rehearse this more than any slide except the timeline. You can trace it with a finger and cover eleven papers in forty seconds.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 this from memory. Roughly forty-five seconds, and the last substantive thing the TAs hear before questions begin.</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a finger ready on the Note line — which of these did you verify yourself is a likely question, and the answer is already written there.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900" dirty="0">
                <a:solidFill>
                  <a:srgbClr val="828A94"/>
                </a:solidFill>
                <a:latin typeface="Consolas" pitchFamily="34" charset="0"/>
                <a:ea typeface="Consolas" pitchFamily="34" charset="-122"/>
                <a:cs typeface="Consolas" pitchFamily="34" charset="-120"/>
              </a:rPr>
              <a:t>01</a:t>
            </a:r>
            <a:endParaRPr lang="en-US" sz="900" dirty="0"/>
          </a:p>
        </p:txBody>
      </p:sp>
      <p:sp>
        <p:nvSpPr>
          <p:cNvPr id="3" name="Text 1"/>
          <p:cNvSpPr/>
          <p:nvPr/>
        </p:nvSpPr>
        <p:spPr>
          <a:xfrm>
            <a:off x="566928" y="1051560"/>
            <a:ext cx="11055096" cy="274320"/>
          </a:xfrm>
          <a:prstGeom prst="rect">
            <a:avLst/>
          </a:prstGeom>
          <a:noFill/>
          <a:ln/>
        </p:spPr>
        <p:txBody>
          <a:bodyPr wrap="square" lIns="0" tIns="0" rIns="0" bIns="0" rtlCol="0" anchor="ctr"/>
          <a:lstStyle/>
          <a:p>
            <a:pPr marL="0" indent="0">
              <a:buNone/>
            </a:pPr>
            <a:r>
              <a:rPr lang="en-US" sz="1000" kern="0" spc="240" dirty="0">
                <a:solidFill>
                  <a:srgbClr val="828A94"/>
                </a:solidFill>
                <a:latin typeface="Consolas" pitchFamily="34" charset="0"/>
                <a:ea typeface="Consolas" pitchFamily="34" charset="-122"/>
                <a:cs typeface="Consolas" pitchFamily="34" charset="-120"/>
              </a:rPr>
              <a:t>STAGE 1  ·  LITERATURE REVIEW PITCH</a:t>
            </a:r>
            <a:endParaRPr lang="en-US" sz="1000" dirty="0"/>
          </a:p>
        </p:txBody>
      </p:sp>
      <p:sp>
        <p:nvSpPr>
          <p:cNvPr id="4" name="Text 2"/>
          <p:cNvSpPr/>
          <p:nvPr/>
        </p:nvSpPr>
        <p:spPr>
          <a:xfrm>
            <a:off x="566928" y="1463040"/>
            <a:ext cx="9612242" cy="1737360"/>
          </a:xfrm>
          <a:prstGeom prst="rect">
            <a:avLst/>
          </a:prstGeom>
          <a:noFill/>
          <a:ln/>
        </p:spPr>
        <p:txBody>
          <a:bodyPr wrap="square" lIns="0" tIns="0" rIns="0" bIns="0" rtlCol="0" anchor="ctr"/>
          <a:lstStyle/>
          <a:p>
            <a:pPr marL="0" indent="0">
              <a:lnSpc>
                <a:spcPts val="4400"/>
              </a:lnSpc>
              <a:buNone/>
            </a:pPr>
            <a:r>
              <a:rPr lang="en-US" sz="4000" b="1" dirty="0">
                <a:solidFill>
                  <a:srgbClr val="14161A"/>
                </a:solidFill>
                <a:latin typeface="Times New Roman" panose="02020603050405020304" pitchFamily="18" charset="0"/>
                <a:ea typeface="Georgia" pitchFamily="34" charset="-122"/>
                <a:cs typeface="Times New Roman" panose="02020603050405020304" pitchFamily="18" charset="0"/>
              </a:rPr>
              <a:t>Image Denoising:</a:t>
            </a:r>
            <a:endParaRPr lang="en-US" sz="4000" dirty="0">
              <a:latin typeface="Times New Roman" panose="02020603050405020304" pitchFamily="18" charset="0"/>
              <a:cs typeface="Times New Roman" panose="02020603050405020304" pitchFamily="18" charset="0"/>
            </a:endParaRPr>
          </a:p>
          <a:p>
            <a:pPr marL="0" indent="0">
              <a:lnSpc>
                <a:spcPts val="4400"/>
              </a:lnSpc>
              <a:buNone/>
            </a:pPr>
            <a:r>
              <a:rPr lang="en-US" sz="4000" b="1" dirty="0">
                <a:solidFill>
                  <a:srgbClr val="14161A"/>
                </a:solidFill>
                <a:latin typeface="Times New Roman" panose="02020603050405020304" pitchFamily="18" charset="0"/>
                <a:ea typeface="Georgia" pitchFamily="34" charset="-122"/>
                <a:cs typeface="Times New Roman" panose="02020603050405020304" pitchFamily="18" charset="0"/>
              </a:rPr>
              <a:t>From Foundations to State-of-the-Art</a:t>
            </a:r>
            <a:endParaRPr lang="en-US" sz="4000" dirty="0">
              <a:latin typeface="Times New Roman" panose="02020603050405020304" pitchFamily="18" charset="0"/>
              <a:cs typeface="Times New Roman" panose="02020603050405020304" pitchFamily="18" charset="0"/>
            </a:endParaRPr>
          </a:p>
        </p:txBody>
      </p:sp>
      <p:sp>
        <p:nvSpPr>
          <p:cNvPr id="5" name="Text 3"/>
          <p:cNvSpPr/>
          <p:nvPr/>
        </p:nvSpPr>
        <p:spPr>
          <a:xfrm>
            <a:off x="566928" y="3466180"/>
            <a:ext cx="7680960" cy="731520"/>
          </a:xfrm>
          <a:prstGeom prst="rect">
            <a:avLst/>
          </a:prstGeom>
          <a:noFill/>
          <a:ln/>
        </p:spPr>
        <p:txBody>
          <a:bodyPr wrap="square" lIns="0" tIns="0" rIns="0" bIns="0" rtlCol="0" anchor="ctr"/>
          <a:lstStyle/>
          <a:p>
            <a:pPr marL="0" indent="0">
              <a:buNone/>
            </a:pPr>
            <a:r>
              <a:rPr lang="en-US" sz="1400" dirty="0">
                <a:solidFill>
                  <a:srgbClr val="4A5058"/>
                </a:solidFill>
                <a:latin typeface="Times New Roman" panose="02020603050405020304" pitchFamily="18" charset="0"/>
                <a:ea typeface="Calibri" pitchFamily="34" charset="-122"/>
                <a:cs typeface="Times New Roman" panose="02020603050405020304" pitchFamily="18" charset="0"/>
              </a:rPr>
              <a:t>Tracing how the image prior moved out of human hands — from transform-domain filtering, through convolutional networks, to attention and state-space models.</a:t>
            </a:r>
            <a:endParaRPr lang="en-US" sz="1400" dirty="0">
              <a:latin typeface="Times New Roman" panose="02020603050405020304" pitchFamily="18" charset="0"/>
              <a:cs typeface="Times New Roman" panose="02020603050405020304" pitchFamily="18" charset="0"/>
            </a:endParaRPr>
          </a:p>
        </p:txBody>
      </p:sp>
      <p:sp>
        <p:nvSpPr>
          <p:cNvPr id="6" name="Text 4"/>
          <p:cNvSpPr/>
          <p:nvPr/>
        </p:nvSpPr>
        <p:spPr>
          <a:xfrm>
            <a:off x="566928" y="4828032"/>
            <a:ext cx="2606040" cy="228600"/>
          </a:xfrm>
          <a:prstGeom prst="rect">
            <a:avLst/>
          </a:prstGeom>
          <a:noFill/>
          <a:ln/>
        </p:spPr>
        <p:txBody>
          <a:bodyPr wrap="square" lIns="0" tIns="0" rIns="0" bIns="0" rtlCol="0" anchor="ctr"/>
          <a:lstStyle/>
          <a:p>
            <a:pPr marL="0" indent="0">
              <a:buNone/>
            </a:pPr>
            <a:r>
              <a:rPr lang="en-US" sz="1000" b="1" kern="0" spc="80" dirty="0">
                <a:solidFill>
                  <a:srgbClr val="14161A"/>
                </a:solidFill>
                <a:latin typeface="Times New Roman" panose="02020603050405020304" pitchFamily="18" charset="0"/>
                <a:ea typeface="Consolas" pitchFamily="34" charset="-122"/>
                <a:cs typeface="Times New Roman" panose="02020603050405020304" pitchFamily="18" charset="0"/>
              </a:rPr>
              <a:t>Anchor paper</a:t>
            </a:r>
            <a:endParaRPr lang="en-US" sz="1000" dirty="0">
              <a:latin typeface="Times New Roman" panose="02020603050405020304" pitchFamily="18" charset="0"/>
              <a:cs typeface="Times New Roman" panose="02020603050405020304" pitchFamily="18" charset="0"/>
            </a:endParaRPr>
          </a:p>
        </p:txBody>
      </p:sp>
      <p:sp>
        <p:nvSpPr>
          <p:cNvPr id="7" name="Text 5"/>
          <p:cNvSpPr/>
          <p:nvPr/>
        </p:nvSpPr>
        <p:spPr>
          <a:xfrm>
            <a:off x="566928" y="5074920"/>
            <a:ext cx="2606040" cy="640080"/>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DnCNN · Zhang et al.</a:t>
            </a:r>
            <a:endParaRPr lang="en-US" sz="1050" dirty="0">
              <a:latin typeface="Times New Roman" panose="02020603050405020304" pitchFamily="18" charset="0"/>
              <a:cs typeface="Times New Roman" panose="02020603050405020304" pitchFamily="18" charset="0"/>
            </a:endParaRPr>
          </a:p>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IEEE TIP 26(7), 2017</a:t>
            </a:r>
            <a:endParaRPr lang="en-US" sz="1050" dirty="0">
              <a:latin typeface="Times New Roman" panose="02020603050405020304" pitchFamily="18" charset="0"/>
              <a:cs typeface="Times New Roman" panose="02020603050405020304" pitchFamily="18" charset="0"/>
            </a:endParaRPr>
          </a:p>
        </p:txBody>
      </p:sp>
      <p:sp>
        <p:nvSpPr>
          <p:cNvPr id="8" name="Text 6"/>
          <p:cNvSpPr/>
          <p:nvPr/>
        </p:nvSpPr>
        <p:spPr>
          <a:xfrm>
            <a:off x="3355848" y="4828032"/>
            <a:ext cx="2606040" cy="228600"/>
          </a:xfrm>
          <a:prstGeom prst="rect">
            <a:avLst/>
          </a:prstGeom>
          <a:noFill/>
          <a:ln/>
        </p:spPr>
        <p:txBody>
          <a:bodyPr wrap="square" lIns="0" tIns="0" rIns="0" bIns="0" rtlCol="0" anchor="ctr"/>
          <a:lstStyle/>
          <a:p>
            <a:pPr marL="0" indent="0">
              <a:buNone/>
            </a:pPr>
            <a:r>
              <a:rPr lang="en-US" sz="1000" b="1" kern="0" spc="80" dirty="0">
                <a:solidFill>
                  <a:srgbClr val="14161A"/>
                </a:solidFill>
                <a:latin typeface="Times New Roman" panose="02020603050405020304" pitchFamily="18" charset="0"/>
                <a:ea typeface="Consolas" pitchFamily="34" charset="-122"/>
                <a:cs typeface="Times New Roman" panose="02020603050405020304" pitchFamily="18" charset="0"/>
              </a:rPr>
              <a:t>Sources</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3355848" y="5074920"/>
            <a:ext cx="2606040" cy="640080"/>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14 total · 11 Category A</a:t>
            </a:r>
            <a:endParaRPr lang="en-US" sz="1050" dirty="0">
              <a:latin typeface="Times New Roman" panose="02020603050405020304" pitchFamily="18" charset="0"/>
              <a:cs typeface="Times New Roman" panose="02020603050405020304" pitchFamily="18" charset="0"/>
            </a:endParaRPr>
          </a:p>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78.6% / 21.4%</a:t>
            </a:r>
            <a:endParaRPr lang="en-US" sz="1050" dirty="0">
              <a:latin typeface="Times New Roman" panose="02020603050405020304" pitchFamily="18" charset="0"/>
              <a:cs typeface="Times New Roman" panose="02020603050405020304" pitchFamily="18" charset="0"/>
            </a:endParaRPr>
          </a:p>
        </p:txBody>
      </p:sp>
      <p:sp>
        <p:nvSpPr>
          <p:cNvPr id="10" name="Text 8"/>
          <p:cNvSpPr/>
          <p:nvPr/>
        </p:nvSpPr>
        <p:spPr>
          <a:xfrm>
            <a:off x="6144768" y="4828032"/>
            <a:ext cx="2606040" cy="228600"/>
          </a:xfrm>
          <a:prstGeom prst="rect">
            <a:avLst/>
          </a:prstGeom>
          <a:noFill/>
          <a:ln/>
        </p:spPr>
        <p:txBody>
          <a:bodyPr wrap="square" lIns="0" tIns="0" rIns="0" bIns="0" rtlCol="0" anchor="ctr"/>
          <a:lstStyle/>
          <a:p>
            <a:pPr marL="0" indent="0">
              <a:buNone/>
            </a:pPr>
            <a:r>
              <a:rPr lang="en-US" sz="1000" b="1" kern="0" spc="80" dirty="0">
                <a:solidFill>
                  <a:srgbClr val="14161A"/>
                </a:solidFill>
                <a:latin typeface="Times New Roman" panose="02020603050405020304" pitchFamily="18" charset="0"/>
                <a:ea typeface="Consolas" pitchFamily="34" charset="-122"/>
                <a:cs typeface="Times New Roman" panose="02020603050405020304" pitchFamily="18" charset="0"/>
              </a:rPr>
              <a:t>Span</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6144768" y="5074920"/>
            <a:ext cx="2606040" cy="640080"/>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2007 → 2024</a:t>
            </a:r>
            <a:endParaRPr lang="en-US" sz="1050" dirty="0">
              <a:latin typeface="Times New Roman" panose="02020603050405020304" pitchFamily="18" charset="0"/>
              <a:cs typeface="Times New Roman" panose="02020603050405020304" pitchFamily="18" charset="0"/>
            </a:endParaRPr>
          </a:p>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Four eras · three bottlenecks</a:t>
            </a:r>
            <a:endParaRPr lang="en-US" sz="1050" dirty="0">
              <a:latin typeface="Times New Roman" panose="02020603050405020304" pitchFamily="18" charset="0"/>
              <a:cs typeface="Times New Roman" panose="02020603050405020304" pitchFamily="18" charset="0"/>
            </a:endParaRPr>
          </a:p>
        </p:txBody>
      </p:sp>
      <p:sp>
        <p:nvSpPr>
          <p:cNvPr id="12" name="Text 10"/>
          <p:cNvSpPr/>
          <p:nvPr/>
        </p:nvSpPr>
        <p:spPr>
          <a:xfrm>
            <a:off x="8933688" y="4828032"/>
            <a:ext cx="2606040" cy="228600"/>
          </a:xfrm>
          <a:prstGeom prst="rect">
            <a:avLst/>
          </a:prstGeom>
          <a:noFill/>
          <a:ln/>
        </p:spPr>
        <p:txBody>
          <a:bodyPr wrap="square" lIns="0" tIns="0" rIns="0" bIns="0" rtlCol="0" anchor="ctr"/>
          <a:lstStyle/>
          <a:p>
            <a:pPr marL="0" indent="0">
              <a:buNone/>
            </a:pPr>
            <a:r>
              <a:rPr lang="en-US" sz="1000" b="1" kern="0" spc="80" dirty="0">
                <a:solidFill>
                  <a:srgbClr val="14161A"/>
                </a:solidFill>
                <a:latin typeface="Times New Roman" panose="02020603050405020304" pitchFamily="18" charset="0"/>
                <a:ea typeface="Consolas" pitchFamily="34" charset="-122"/>
                <a:cs typeface="Times New Roman" panose="02020603050405020304" pitchFamily="18" charset="0"/>
              </a:rPr>
              <a:t>Defence</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8933688" y="5074920"/>
            <a:ext cx="2606040" cy="640080"/>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11 August 2026</a:t>
            </a:r>
            <a:endParaRPr lang="en-US" sz="1050" dirty="0">
              <a:latin typeface="Times New Roman" panose="02020603050405020304" pitchFamily="18" charset="0"/>
              <a:cs typeface="Times New Roman" panose="02020603050405020304" pitchFamily="18" charset="0"/>
            </a:endParaRPr>
          </a:p>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Supervisor: Prof. Z. Azimifar</a:t>
            </a:r>
            <a:endParaRPr lang="en-US" sz="105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02</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AGENDA</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21792"/>
            <a:ext cx="11055096" cy="777240"/>
          </a:xfrm>
          <a:prstGeom prst="rect">
            <a:avLst/>
          </a:prstGeom>
          <a:noFill/>
          <a:ln/>
        </p:spPr>
        <p:txBody>
          <a:bodyPr wrap="square" lIns="0" tIns="0" rIns="0" bIns="0" rtlCol="0" anchor="t"/>
          <a:lstStyle/>
          <a:p>
            <a:pPr marL="0" indent="0">
              <a:buNone/>
            </a:pPr>
            <a:r>
              <a:rPr lang="en-US" sz="2800" b="1" dirty="0">
                <a:solidFill>
                  <a:srgbClr val="14161A"/>
                </a:solidFill>
                <a:latin typeface="Times New Roman" panose="02020603050405020304" pitchFamily="18" charset="0"/>
                <a:ea typeface="Georgia" pitchFamily="34" charset="-122"/>
                <a:cs typeface="Times New Roman" panose="02020603050405020304" pitchFamily="18" charset="0"/>
              </a:rPr>
              <a:t>What this deck covers</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566928" y="1086583"/>
            <a:ext cx="11055096" cy="411480"/>
          </a:xfrm>
          <a:prstGeom prst="rect">
            <a:avLst/>
          </a:prstGeom>
          <a:noFill/>
          <a:ln/>
        </p:spPr>
        <p:txBody>
          <a:bodyPr wrap="square" lIns="0" tIns="0" rIns="0" bIns="0" rtlCol="0" anchor="ctr"/>
          <a:lstStyle/>
          <a:p>
            <a:pPr marL="0" indent="0">
              <a:buNone/>
            </a:pPr>
            <a:r>
              <a:rPr lang="en-US" sz="1200" dirty="0">
                <a:solidFill>
                  <a:srgbClr val="4A5058"/>
                </a:solidFill>
                <a:latin typeface="Times New Roman" panose="02020603050405020304" pitchFamily="18" charset="0"/>
                <a:ea typeface="Calibri" pitchFamily="34" charset="-122"/>
                <a:cs typeface="Times New Roman" panose="02020603050405020304" pitchFamily="18" charset="0"/>
              </a:rPr>
              <a:t>Structured to the five sections required by the Stage 1 guidelines, in order.</a:t>
            </a:r>
            <a:endParaRPr lang="en-US" sz="1200" dirty="0">
              <a:latin typeface="Times New Roman" panose="02020603050405020304" pitchFamily="18" charset="0"/>
              <a:cs typeface="Times New Roman" panose="02020603050405020304" pitchFamily="18" charset="0"/>
            </a:endParaRPr>
          </a:p>
        </p:txBody>
      </p:sp>
      <p:sp>
        <p:nvSpPr>
          <p:cNvPr id="6" name="Text 4"/>
          <p:cNvSpPr/>
          <p:nvPr/>
        </p:nvSpPr>
        <p:spPr>
          <a:xfrm>
            <a:off x="772668" y="2313432"/>
            <a:ext cx="5486400" cy="219456"/>
          </a:xfrm>
          <a:prstGeom prst="rect">
            <a:avLst/>
          </a:prstGeom>
          <a:noFill/>
          <a:ln/>
        </p:spPr>
        <p:txBody>
          <a:bodyPr wrap="square" lIns="0" tIns="0" rIns="0" bIns="0" rtlCol="0" anchor="ctr"/>
          <a:lstStyle/>
          <a:p>
            <a:pPr marL="0" indent="0">
              <a:buNone/>
            </a:pPr>
            <a:r>
              <a:rPr lang="en-US" sz="900" kern="0" spc="160" dirty="0">
                <a:solidFill>
                  <a:srgbClr val="828A94"/>
                </a:solidFill>
                <a:latin typeface="Times New Roman" panose="02020603050405020304" pitchFamily="18" charset="0"/>
                <a:ea typeface="Consolas" pitchFamily="34" charset="-122"/>
                <a:cs typeface="Times New Roman" panose="02020603050405020304" pitchFamily="18" charset="0"/>
              </a:rPr>
              <a:t>PART I — THE PROBLEM</a:t>
            </a:r>
            <a:endParaRPr lang="en-US" sz="900" dirty="0">
              <a:latin typeface="Times New Roman" panose="02020603050405020304" pitchFamily="18" charset="0"/>
              <a:cs typeface="Times New Roman" panose="02020603050405020304" pitchFamily="18" charset="0"/>
            </a:endParaRPr>
          </a:p>
        </p:txBody>
      </p:sp>
      <p:sp>
        <p:nvSpPr>
          <p:cNvPr id="7" name="Text 5"/>
          <p:cNvSpPr/>
          <p:nvPr/>
        </p:nvSpPr>
        <p:spPr>
          <a:xfrm>
            <a:off x="772668" y="2606040"/>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04</a:t>
            </a:r>
            <a:endParaRPr lang="en-US" sz="1000" dirty="0">
              <a:latin typeface="Times New Roman" panose="02020603050405020304" pitchFamily="18" charset="0"/>
              <a:cs typeface="Times New Roman" panose="02020603050405020304" pitchFamily="18" charset="0"/>
            </a:endParaRPr>
          </a:p>
        </p:txBody>
      </p:sp>
      <p:sp>
        <p:nvSpPr>
          <p:cNvPr id="8" name="Text 6"/>
          <p:cNvSpPr/>
          <p:nvPr/>
        </p:nvSpPr>
        <p:spPr>
          <a:xfrm>
            <a:off x="1229868" y="2606040"/>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Topic definition &amp; the core problem</a:t>
            </a:r>
            <a:endParaRPr lang="en-US" sz="1100" dirty="0">
              <a:latin typeface="Times New Roman" panose="02020603050405020304" pitchFamily="18" charset="0"/>
              <a:cs typeface="Times New Roman" panose="02020603050405020304" pitchFamily="18" charset="0"/>
            </a:endParaRPr>
          </a:p>
        </p:txBody>
      </p:sp>
      <p:sp>
        <p:nvSpPr>
          <p:cNvPr id="9" name="Text 7"/>
          <p:cNvSpPr/>
          <p:nvPr/>
        </p:nvSpPr>
        <p:spPr>
          <a:xfrm>
            <a:off x="772668" y="2880360"/>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05</a:t>
            </a:r>
            <a:endParaRPr lang="en-US" sz="1000" dirty="0">
              <a:latin typeface="Times New Roman" panose="02020603050405020304" pitchFamily="18" charset="0"/>
              <a:cs typeface="Times New Roman" panose="02020603050405020304" pitchFamily="18" charset="0"/>
            </a:endParaRPr>
          </a:p>
        </p:txBody>
      </p:sp>
      <p:sp>
        <p:nvSpPr>
          <p:cNvPr id="10" name="Text 8"/>
          <p:cNvSpPr/>
          <p:nvPr/>
        </p:nvSpPr>
        <p:spPr>
          <a:xfrm>
            <a:off x="1229868" y="2880360"/>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Why denoising is mathematically hard</a:t>
            </a:r>
            <a:endParaRPr lang="en-US" sz="1100" dirty="0">
              <a:latin typeface="Times New Roman" panose="02020603050405020304" pitchFamily="18" charset="0"/>
              <a:cs typeface="Times New Roman" panose="02020603050405020304" pitchFamily="18" charset="0"/>
            </a:endParaRPr>
          </a:p>
        </p:txBody>
      </p:sp>
      <p:sp>
        <p:nvSpPr>
          <p:cNvPr id="11" name="Text 9"/>
          <p:cNvSpPr/>
          <p:nvPr/>
        </p:nvSpPr>
        <p:spPr>
          <a:xfrm>
            <a:off x="772668" y="3154680"/>
            <a:ext cx="5486400" cy="219456"/>
          </a:xfrm>
          <a:prstGeom prst="rect">
            <a:avLst/>
          </a:prstGeom>
          <a:noFill/>
          <a:ln/>
        </p:spPr>
        <p:txBody>
          <a:bodyPr wrap="square" lIns="0" tIns="0" rIns="0" bIns="0" rtlCol="0" anchor="ctr"/>
          <a:lstStyle/>
          <a:p>
            <a:pPr marL="0" indent="0">
              <a:buNone/>
            </a:pPr>
            <a:r>
              <a:rPr lang="en-US" sz="900" kern="0" spc="160" dirty="0">
                <a:solidFill>
                  <a:srgbClr val="828A94"/>
                </a:solidFill>
                <a:latin typeface="Times New Roman" panose="02020603050405020304" pitchFamily="18" charset="0"/>
                <a:ea typeface="Consolas" pitchFamily="34" charset="-122"/>
                <a:cs typeface="Times New Roman" panose="02020603050405020304" pitchFamily="18" charset="0"/>
              </a:rPr>
              <a:t>PART II — THE EVOLUTION</a:t>
            </a:r>
            <a:endParaRPr lang="en-US" sz="900" dirty="0">
              <a:latin typeface="Times New Roman" panose="02020603050405020304" pitchFamily="18" charset="0"/>
              <a:cs typeface="Times New Roman" panose="02020603050405020304" pitchFamily="18" charset="0"/>
            </a:endParaRPr>
          </a:p>
        </p:txBody>
      </p:sp>
      <p:sp>
        <p:nvSpPr>
          <p:cNvPr id="12" name="Text 10"/>
          <p:cNvSpPr/>
          <p:nvPr/>
        </p:nvSpPr>
        <p:spPr>
          <a:xfrm>
            <a:off x="772668" y="344728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07</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1229868" y="344728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The visual evolutionary timeline</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772668" y="372160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08</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1229868" y="372160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The three bottlenecks</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772668" y="3995928"/>
            <a:ext cx="5486400" cy="219456"/>
          </a:xfrm>
          <a:prstGeom prst="rect">
            <a:avLst/>
          </a:prstGeom>
          <a:noFill/>
          <a:ln/>
        </p:spPr>
        <p:txBody>
          <a:bodyPr wrap="square" lIns="0" tIns="0" rIns="0" bIns="0" rtlCol="0" anchor="ctr"/>
          <a:lstStyle/>
          <a:p>
            <a:pPr marL="0" indent="0">
              <a:buNone/>
            </a:pPr>
            <a:r>
              <a:rPr lang="en-US" sz="900" kern="0" spc="160" dirty="0">
                <a:solidFill>
                  <a:srgbClr val="828A94"/>
                </a:solidFill>
                <a:latin typeface="Times New Roman" panose="02020603050405020304" pitchFamily="18" charset="0"/>
                <a:ea typeface="Consolas" pitchFamily="34" charset="-122"/>
                <a:cs typeface="Times New Roman" panose="02020603050405020304" pitchFamily="18" charset="0"/>
              </a:rPr>
              <a:t>PART III — THE SOURCES</a:t>
            </a:r>
            <a:endParaRPr lang="en-US" sz="900" dirty="0">
              <a:latin typeface="Times New Roman" panose="02020603050405020304" pitchFamily="18" charset="0"/>
              <a:cs typeface="Times New Roman" panose="02020603050405020304" pitchFamily="18" charset="0"/>
            </a:endParaRPr>
          </a:p>
        </p:txBody>
      </p:sp>
      <p:sp>
        <p:nvSpPr>
          <p:cNvPr id="17" name="Text 15"/>
          <p:cNvSpPr/>
          <p:nvPr/>
        </p:nvSpPr>
        <p:spPr>
          <a:xfrm>
            <a:off x="772668" y="4288536"/>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10</a:t>
            </a:r>
            <a:endParaRPr lang="en-US" sz="1000" dirty="0">
              <a:latin typeface="Times New Roman" panose="02020603050405020304" pitchFamily="18" charset="0"/>
              <a:cs typeface="Times New Roman" panose="02020603050405020304" pitchFamily="18" charset="0"/>
            </a:endParaRPr>
          </a:p>
        </p:txBody>
      </p:sp>
      <p:sp>
        <p:nvSpPr>
          <p:cNvPr id="18" name="Text 16"/>
          <p:cNvSpPr/>
          <p:nvPr/>
        </p:nvSpPr>
        <p:spPr>
          <a:xfrm>
            <a:off x="1229868" y="4288536"/>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Master list — Category A</a:t>
            </a:r>
            <a:endParaRPr lang="en-US" sz="1100" dirty="0">
              <a:latin typeface="Times New Roman" panose="02020603050405020304" pitchFamily="18" charset="0"/>
              <a:cs typeface="Times New Roman" panose="02020603050405020304" pitchFamily="18" charset="0"/>
            </a:endParaRPr>
          </a:p>
        </p:txBody>
      </p:sp>
      <p:sp>
        <p:nvSpPr>
          <p:cNvPr id="19" name="Text 17"/>
          <p:cNvSpPr/>
          <p:nvPr/>
        </p:nvSpPr>
        <p:spPr>
          <a:xfrm>
            <a:off x="772668" y="4562856"/>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11</a:t>
            </a:r>
            <a:endParaRPr lang="en-US" sz="1000" dirty="0">
              <a:latin typeface="Times New Roman" panose="02020603050405020304" pitchFamily="18" charset="0"/>
              <a:cs typeface="Times New Roman" panose="02020603050405020304" pitchFamily="18" charset="0"/>
            </a:endParaRPr>
          </a:p>
        </p:txBody>
      </p:sp>
      <p:sp>
        <p:nvSpPr>
          <p:cNvPr id="20" name="Text 18"/>
          <p:cNvSpPr/>
          <p:nvPr/>
        </p:nvSpPr>
        <p:spPr>
          <a:xfrm>
            <a:off x="1229868" y="4562856"/>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Category B &amp; the 70/30 arithmetic</a:t>
            </a:r>
            <a:endParaRPr lang="en-US" sz="1100" dirty="0">
              <a:latin typeface="Times New Roman" panose="02020603050405020304" pitchFamily="18" charset="0"/>
              <a:cs typeface="Times New Roman" panose="02020603050405020304" pitchFamily="18" charset="0"/>
            </a:endParaRPr>
          </a:p>
        </p:txBody>
      </p:sp>
      <p:sp>
        <p:nvSpPr>
          <p:cNvPr id="21" name="Text 19"/>
          <p:cNvSpPr/>
          <p:nvPr/>
        </p:nvSpPr>
        <p:spPr>
          <a:xfrm>
            <a:off x="772668" y="4837176"/>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12</a:t>
            </a:r>
            <a:endParaRPr lang="en-US" sz="1000" dirty="0">
              <a:latin typeface="Times New Roman" panose="02020603050405020304" pitchFamily="18" charset="0"/>
              <a:cs typeface="Times New Roman" panose="02020603050405020304" pitchFamily="18" charset="0"/>
            </a:endParaRPr>
          </a:p>
        </p:txBody>
      </p:sp>
      <p:sp>
        <p:nvSpPr>
          <p:cNvPr id="22" name="Text 20"/>
          <p:cNvSpPr/>
          <p:nvPr/>
        </p:nvSpPr>
        <p:spPr>
          <a:xfrm>
            <a:off x="1229868" y="4837176"/>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Category B justification</a:t>
            </a:r>
            <a:endParaRPr lang="en-US" sz="1100" dirty="0">
              <a:latin typeface="Times New Roman" panose="02020603050405020304" pitchFamily="18" charset="0"/>
              <a:cs typeface="Times New Roman" panose="02020603050405020304" pitchFamily="18" charset="0"/>
            </a:endParaRPr>
          </a:p>
        </p:txBody>
      </p:sp>
      <p:sp>
        <p:nvSpPr>
          <p:cNvPr id="23" name="Text 21"/>
          <p:cNvSpPr/>
          <p:nvPr/>
        </p:nvSpPr>
        <p:spPr>
          <a:xfrm>
            <a:off x="6510528" y="1874520"/>
            <a:ext cx="5486400" cy="219456"/>
          </a:xfrm>
          <a:prstGeom prst="rect">
            <a:avLst/>
          </a:prstGeom>
          <a:noFill/>
          <a:ln/>
        </p:spPr>
        <p:txBody>
          <a:bodyPr wrap="square" lIns="0" tIns="0" rIns="0" bIns="0" rtlCol="0" anchor="ctr"/>
          <a:lstStyle/>
          <a:p>
            <a:pPr marL="0" indent="0">
              <a:buNone/>
            </a:pPr>
            <a:r>
              <a:rPr lang="en-US" sz="900" kern="0" spc="160" dirty="0">
                <a:solidFill>
                  <a:srgbClr val="828A94"/>
                </a:solidFill>
                <a:latin typeface="Times New Roman" panose="02020603050405020304" pitchFamily="18" charset="0"/>
                <a:ea typeface="Consolas" pitchFamily="34" charset="-122"/>
                <a:cs typeface="Times New Roman" panose="02020603050405020304" pitchFamily="18" charset="0"/>
              </a:rPr>
              <a:t>PART IV — PAPER BY PAPER</a:t>
            </a:r>
            <a:endParaRPr lang="en-US" sz="900" dirty="0">
              <a:latin typeface="Times New Roman" panose="02020603050405020304" pitchFamily="18" charset="0"/>
              <a:cs typeface="Times New Roman" panose="02020603050405020304" pitchFamily="18" charset="0"/>
            </a:endParaRPr>
          </a:p>
        </p:txBody>
      </p:sp>
      <p:sp>
        <p:nvSpPr>
          <p:cNvPr id="24" name="Text 22"/>
          <p:cNvSpPr/>
          <p:nvPr/>
        </p:nvSpPr>
        <p:spPr>
          <a:xfrm>
            <a:off x="6510528" y="216712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14</a:t>
            </a:r>
            <a:endParaRPr lang="en-US" sz="1000" dirty="0">
              <a:latin typeface="Times New Roman" panose="02020603050405020304" pitchFamily="18" charset="0"/>
              <a:cs typeface="Times New Roman" panose="02020603050405020304" pitchFamily="18" charset="0"/>
            </a:endParaRPr>
          </a:p>
        </p:txBody>
      </p:sp>
      <p:sp>
        <p:nvSpPr>
          <p:cNvPr id="25" name="Text 23"/>
          <p:cNvSpPr/>
          <p:nvPr/>
        </p:nvSpPr>
        <p:spPr>
          <a:xfrm>
            <a:off x="6967728" y="216712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A1 · BM3D — 2007</a:t>
            </a:r>
            <a:endParaRPr lang="en-US" sz="1100" dirty="0">
              <a:latin typeface="Times New Roman" panose="02020603050405020304" pitchFamily="18" charset="0"/>
              <a:cs typeface="Times New Roman" panose="02020603050405020304" pitchFamily="18" charset="0"/>
            </a:endParaRPr>
          </a:p>
        </p:txBody>
      </p:sp>
      <p:sp>
        <p:nvSpPr>
          <p:cNvPr id="26" name="Text 24"/>
          <p:cNvSpPr/>
          <p:nvPr/>
        </p:nvSpPr>
        <p:spPr>
          <a:xfrm>
            <a:off x="6510528" y="244144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15</a:t>
            </a:r>
            <a:endParaRPr lang="en-US" sz="1000" dirty="0">
              <a:latin typeface="Times New Roman" panose="02020603050405020304" pitchFamily="18" charset="0"/>
              <a:cs typeface="Times New Roman" panose="02020603050405020304" pitchFamily="18" charset="0"/>
            </a:endParaRPr>
          </a:p>
        </p:txBody>
      </p:sp>
      <p:sp>
        <p:nvSpPr>
          <p:cNvPr id="27" name="Text 25"/>
          <p:cNvSpPr/>
          <p:nvPr/>
        </p:nvSpPr>
        <p:spPr>
          <a:xfrm>
            <a:off x="6967728" y="244144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A2 · WNNM — 2014</a:t>
            </a:r>
            <a:endParaRPr lang="en-US" sz="1100" dirty="0">
              <a:latin typeface="Times New Roman" panose="02020603050405020304" pitchFamily="18" charset="0"/>
              <a:cs typeface="Times New Roman" panose="02020603050405020304" pitchFamily="18" charset="0"/>
            </a:endParaRPr>
          </a:p>
        </p:txBody>
      </p:sp>
      <p:sp>
        <p:nvSpPr>
          <p:cNvPr id="28" name="Text 26"/>
          <p:cNvSpPr/>
          <p:nvPr/>
        </p:nvSpPr>
        <p:spPr>
          <a:xfrm>
            <a:off x="6510528" y="271576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16</a:t>
            </a:r>
            <a:endParaRPr lang="en-US" sz="1000" dirty="0">
              <a:latin typeface="Times New Roman" panose="02020603050405020304" pitchFamily="18" charset="0"/>
              <a:cs typeface="Times New Roman" panose="02020603050405020304" pitchFamily="18" charset="0"/>
            </a:endParaRPr>
          </a:p>
        </p:txBody>
      </p:sp>
      <p:sp>
        <p:nvSpPr>
          <p:cNvPr id="29" name="Text 27"/>
          <p:cNvSpPr/>
          <p:nvPr/>
        </p:nvSpPr>
        <p:spPr>
          <a:xfrm>
            <a:off x="6967728" y="271576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A3 · TNRD — 2017</a:t>
            </a:r>
            <a:endParaRPr lang="en-US" sz="1100" dirty="0">
              <a:latin typeface="Times New Roman" panose="02020603050405020304" pitchFamily="18" charset="0"/>
              <a:cs typeface="Times New Roman" panose="02020603050405020304" pitchFamily="18" charset="0"/>
            </a:endParaRPr>
          </a:p>
        </p:txBody>
      </p:sp>
      <p:sp>
        <p:nvSpPr>
          <p:cNvPr id="30" name="Text 28"/>
          <p:cNvSpPr/>
          <p:nvPr/>
        </p:nvSpPr>
        <p:spPr>
          <a:xfrm>
            <a:off x="6510528" y="299008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17</a:t>
            </a:r>
            <a:endParaRPr lang="en-US" sz="1000" dirty="0">
              <a:latin typeface="Times New Roman" panose="02020603050405020304" pitchFamily="18" charset="0"/>
              <a:cs typeface="Times New Roman" panose="02020603050405020304" pitchFamily="18" charset="0"/>
            </a:endParaRPr>
          </a:p>
        </p:txBody>
      </p:sp>
      <p:sp>
        <p:nvSpPr>
          <p:cNvPr id="31" name="Text 29"/>
          <p:cNvSpPr/>
          <p:nvPr/>
        </p:nvSpPr>
        <p:spPr>
          <a:xfrm>
            <a:off x="6967728" y="299008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A4 · DnCNN — anchor, 2017</a:t>
            </a:r>
            <a:endParaRPr lang="en-US" sz="1100" dirty="0">
              <a:latin typeface="Times New Roman" panose="02020603050405020304" pitchFamily="18" charset="0"/>
              <a:cs typeface="Times New Roman" panose="02020603050405020304" pitchFamily="18" charset="0"/>
            </a:endParaRPr>
          </a:p>
        </p:txBody>
      </p:sp>
      <p:sp>
        <p:nvSpPr>
          <p:cNvPr id="32" name="Text 30"/>
          <p:cNvSpPr/>
          <p:nvPr/>
        </p:nvSpPr>
        <p:spPr>
          <a:xfrm>
            <a:off x="6510528" y="326440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18</a:t>
            </a:r>
            <a:endParaRPr lang="en-US" sz="1000" dirty="0">
              <a:latin typeface="Times New Roman" panose="02020603050405020304" pitchFamily="18" charset="0"/>
              <a:cs typeface="Times New Roman" panose="02020603050405020304" pitchFamily="18" charset="0"/>
            </a:endParaRPr>
          </a:p>
        </p:txBody>
      </p:sp>
      <p:sp>
        <p:nvSpPr>
          <p:cNvPr id="33" name="Text 31"/>
          <p:cNvSpPr/>
          <p:nvPr/>
        </p:nvSpPr>
        <p:spPr>
          <a:xfrm>
            <a:off x="6967728" y="326440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A5 · Noise2Noise — 2018</a:t>
            </a:r>
            <a:endParaRPr lang="en-US" sz="1100" dirty="0">
              <a:latin typeface="Times New Roman" panose="02020603050405020304" pitchFamily="18" charset="0"/>
              <a:cs typeface="Times New Roman" panose="02020603050405020304" pitchFamily="18" charset="0"/>
            </a:endParaRPr>
          </a:p>
        </p:txBody>
      </p:sp>
      <p:sp>
        <p:nvSpPr>
          <p:cNvPr id="34" name="Text 32"/>
          <p:cNvSpPr/>
          <p:nvPr/>
        </p:nvSpPr>
        <p:spPr>
          <a:xfrm>
            <a:off x="6510528" y="353872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19</a:t>
            </a:r>
            <a:endParaRPr lang="en-US" sz="1000" dirty="0">
              <a:latin typeface="Times New Roman" panose="02020603050405020304" pitchFamily="18" charset="0"/>
              <a:cs typeface="Times New Roman" panose="02020603050405020304" pitchFamily="18" charset="0"/>
            </a:endParaRPr>
          </a:p>
        </p:txBody>
      </p:sp>
      <p:sp>
        <p:nvSpPr>
          <p:cNvPr id="35" name="Text 33"/>
          <p:cNvSpPr/>
          <p:nvPr/>
        </p:nvSpPr>
        <p:spPr>
          <a:xfrm>
            <a:off x="6967728" y="353872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A6 · Noise2Void — 2019</a:t>
            </a:r>
            <a:endParaRPr lang="en-US" sz="1100" dirty="0">
              <a:latin typeface="Times New Roman" panose="02020603050405020304" pitchFamily="18" charset="0"/>
              <a:cs typeface="Times New Roman" panose="02020603050405020304" pitchFamily="18" charset="0"/>
            </a:endParaRPr>
          </a:p>
        </p:txBody>
      </p:sp>
      <p:sp>
        <p:nvSpPr>
          <p:cNvPr id="36" name="Text 34"/>
          <p:cNvSpPr/>
          <p:nvPr/>
        </p:nvSpPr>
        <p:spPr>
          <a:xfrm>
            <a:off x="6510528" y="381304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20</a:t>
            </a:r>
            <a:endParaRPr lang="en-US" sz="1000" dirty="0">
              <a:latin typeface="Times New Roman" panose="02020603050405020304" pitchFamily="18" charset="0"/>
              <a:cs typeface="Times New Roman" panose="02020603050405020304" pitchFamily="18" charset="0"/>
            </a:endParaRPr>
          </a:p>
        </p:txBody>
      </p:sp>
      <p:sp>
        <p:nvSpPr>
          <p:cNvPr id="37" name="Text 35"/>
          <p:cNvSpPr/>
          <p:nvPr/>
        </p:nvSpPr>
        <p:spPr>
          <a:xfrm>
            <a:off x="6967728" y="381304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A7 · Restormer — 2022</a:t>
            </a:r>
            <a:endParaRPr lang="en-US" sz="1100" dirty="0">
              <a:latin typeface="Times New Roman" panose="02020603050405020304" pitchFamily="18" charset="0"/>
              <a:cs typeface="Times New Roman" panose="02020603050405020304" pitchFamily="18" charset="0"/>
            </a:endParaRPr>
          </a:p>
        </p:txBody>
      </p:sp>
      <p:sp>
        <p:nvSpPr>
          <p:cNvPr id="38" name="Text 36"/>
          <p:cNvSpPr/>
          <p:nvPr/>
        </p:nvSpPr>
        <p:spPr>
          <a:xfrm>
            <a:off x="6510528" y="408736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21</a:t>
            </a:r>
            <a:endParaRPr lang="en-US" sz="1000" dirty="0">
              <a:latin typeface="Times New Roman" panose="02020603050405020304" pitchFamily="18" charset="0"/>
              <a:cs typeface="Times New Roman" panose="02020603050405020304" pitchFamily="18" charset="0"/>
            </a:endParaRPr>
          </a:p>
        </p:txBody>
      </p:sp>
      <p:sp>
        <p:nvSpPr>
          <p:cNvPr id="39" name="Text 37"/>
          <p:cNvSpPr/>
          <p:nvPr/>
        </p:nvSpPr>
        <p:spPr>
          <a:xfrm>
            <a:off x="6967728" y="408736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A8 · NAFNet — 2022</a:t>
            </a:r>
            <a:endParaRPr lang="en-US" sz="1100" dirty="0">
              <a:latin typeface="Times New Roman" panose="02020603050405020304" pitchFamily="18" charset="0"/>
              <a:cs typeface="Times New Roman" panose="02020603050405020304" pitchFamily="18" charset="0"/>
            </a:endParaRPr>
          </a:p>
        </p:txBody>
      </p:sp>
      <p:sp>
        <p:nvSpPr>
          <p:cNvPr id="40" name="Text 38"/>
          <p:cNvSpPr/>
          <p:nvPr/>
        </p:nvSpPr>
        <p:spPr>
          <a:xfrm>
            <a:off x="6510528" y="436168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22</a:t>
            </a:r>
            <a:endParaRPr lang="en-US" sz="1000" dirty="0">
              <a:latin typeface="Times New Roman" panose="02020603050405020304" pitchFamily="18" charset="0"/>
              <a:cs typeface="Times New Roman" panose="02020603050405020304" pitchFamily="18" charset="0"/>
            </a:endParaRPr>
          </a:p>
        </p:txBody>
      </p:sp>
      <p:sp>
        <p:nvSpPr>
          <p:cNvPr id="41" name="Text 39"/>
          <p:cNvSpPr/>
          <p:nvPr/>
        </p:nvSpPr>
        <p:spPr>
          <a:xfrm>
            <a:off x="6967728" y="436168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A9 · ZS-N2N — 2023</a:t>
            </a:r>
            <a:endParaRPr lang="en-US" sz="1100" dirty="0">
              <a:latin typeface="Times New Roman" panose="02020603050405020304" pitchFamily="18" charset="0"/>
              <a:cs typeface="Times New Roman" panose="02020603050405020304" pitchFamily="18" charset="0"/>
            </a:endParaRPr>
          </a:p>
        </p:txBody>
      </p:sp>
      <p:sp>
        <p:nvSpPr>
          <p:cNvPr id="42" name="Text 40"/>
          <p:cNvSpPr/>
          <p:nvPr/>
        </p:nvSpPr>
        <p:spPr>
          <a:xfrm>
            <a:off x="6510528" y="463600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23</a:t>
            </a:r>
            <a:endParaRPr lang="en-US" sz="1000" dirty="0">
              <a:latin typeface="Times New Roman" panose="02020603050405020304" pitchFamily="18" charset="0"/>
              <a:cs typeface="Times New Roman" panose="02020603050405020304" pitchFamily="18" charset="0"/>
            </a:endParaRPr>
          </a:p>
        </p:txBody>
      </p:sp>
      <p:sp>
        <p:nvSpPr>
          <p:cNvPr id="43" name="Text 41"/>
          <p:cNvSpPr/>
          <p:nvPr/>
        </p:nvSpPr>
        <p:spPr>
          <a:xfrm>
            <a:off x="6967728" y="463600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A10 · SCUNet — 2023</a:t>
            </a:r>
            <a:endParaRPr lang="en-US" sz="1100" dirty="0">
              <a:latin typeface="Times New Roman" panose="02020603050405020304" pitchFamily="18" charset="0"/>
              <a:cs typeface="Times New Roman" panose="02020603050405020304" pitchFamily="18" charset="0"/>
            </a:endParaRPr>
          </a:p>
        </p:txBody>
      </p:sp>
      <p:sp>
        <p:nvSpPr>
          <p:cNvPr id="44" name="Text 42"/>
          <p:cNvSpPr/>
          <p:nvPr/>
        </p:nvSpPr>
        <p:spPr>
          <a:xfrm>
            <a:off x="6510528" y="491032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24</a:t>
            </a:r>
            <a:endParaRPr lang="en-US" sz="1000" dirty="0">
              <a:latin typeface="Times New Roman" panose="02020603050405020304" pitchFamily="18" charset="0"/>
              <a:cs typeface="Times New Roman" panose="02020603050405020304" pitchFamily="18" charset="0"/>
            </a:endParaRPr>
          </a:p>
        </p:txBody>
      </p:sp>
      <p:sp>
        <p:nvSpPr>
          <p:cNvPr id="45" name="Text 43"/>
          <p:cNvSpPr/>
          <p:nvPr/>
        </p:nvSpPr>
        <p:spPr>
          <a:xfrm>
            <a:off x="6967728" y="491032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A11 · MambaIR — 2024</a:t>
            </a:r>
            <a:endParaRPr lang="en-US" sz="1100" dirty="0">
              <a:latin typeface="Times New Roman" panose="02020603050405020304" pitchFamily="18" charset="0"/>
              <a:cs typeface="Times New Roman" panose="02020603050405020304" pitchFamily="18" charset="0"/>
            </a:endParaRPr>
          </a:p>
        </p:txBody>
      </p:sp>
      <p:sp>
        <p:nvSpPr>
          <p:cNvPr id="46" name="Text 44"/>
          <p:cNvSpPr/>
          <p:nvPr/>
        </p:nvSpPr>
        <p:spPr>
          <a:xfrm>
            <a:off x="6510528" y="518464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25</a:t>
            </a:r>
            <a:endParaRPr lang="en-US" sz="1000" dirty="0">
              <a:latin typeface="Times New Roman" panose="02020603050405020304" pitchFamily="18" charset="0"/>
              <a:cs typeface="Times New Roman" panose="02020603050405020304" pitchFamily="18" charset="0"/>
            </a:endParaRPr>
          </a:p>
        </p:txBody>
      </p:sp>
      <p:sp>
        <p:nvSpPr>
          <p:cNvPr id="47" name="Text 45"/>
          <p:cNvSpPr/>
          <p:nvPr/>
        </p:nvSpPr>
        <p:spPr>
          <a:xfrm>
            <a:off x="6967728" y="518464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How the papers connect</a:t>
            </a:r>
            <a:endParaRPr lang="en-US" sz="1100" dirty="0">
              <a:latin typeface="Times New Roman" panose="02020603050405020304" pitchFamily="18" charset="0"/>
              <a:cs typeface="Times New Roman" panose="02020603050405020304" pitchFamily="18" charset="0"/>
            </a:endParaRPr>
          </a:p>
        </p:txBody>
      </p:sp>
      <p:sp>
        <p:nvSpPr>
          <p:cNvPr id="48" name="Text 46"/>
          <p:cNvSpPr/>
          <p:nvPr/>
        </p:nvSpPr>
        <p:spPr>
          <a:xfrm>
            <a:off x="6510528" y="5458968"/>
            <a:ext cx="411480" cy="219456"/>
          </a:xfrm>
          <a:prstGeom prst="rect">
            <a:avLst/>
          </a:prstGeom>
          <a:noFill/>
          <a:ln/>
        </p:spPr>
        <p:txBody>
          <a:bodyPr wrap="square" lIns="0" tIns="0" rIns="0" bIns="0" rtlCol="0" anchor="ctr"/>
          <a:lstStyle/>
          <a:p>
            <a:pPr marL="0" indent="0">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26</a:t>
            </a:r>
            <a:endParaRPr lang="en-US" sz="1000" dirty="0">
              <a:latin typeface="Times New Roman" panose="02020603050405020304" pitchFamily="18" charset="0"/>
              <a:cs typeface="Times New Roman" panose="02020603050405020304" pitchFamily="18" charset="0"/>
            </a:endParaRPr>
          </a:p>
        </p:txBody>
      </p:sp>
      <p:sp>
        <p:nvSpPr>
          <p:cNvPr id="49" name="Text 47"/>
          <p:cNvSpPr/>
          <p:nvPr/>
        </p:nvSpPr>
        <p:spPr>
          <a:xfrm>
            <a:off x="6967728" y="5458968"/>
            <a:ext cx="5029200" cy="219456"/>
          </a:xfrm>
          <a:prstGeom prst="rect">
            <a:avLst/>
          </a:prstGeom>
          <a:noFill/>
          <a:ln/>
        </p:spPr>
        <p:txBody>
          <a:bodyPr wrap="square" lIns="0" tIns="0" rIns="0" bIns="0" rtlCol="0" anchor="ctr"/>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The direction we propose</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03</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2148840"/>
            <a:ext cx="11055096" cy="274320"/>
          </a:xfrm>
          <a:prstGeom prst="rect">
            <a:avLst/>
          </a:prstGeom>
          <a:noFill/>
          <a:ln/>
        </p:spPr>
        <p:txBody>
          <a:bodyPr wrap="square" lIns="0" tIns="0" rIns="0" bIns="0" rtlCol="0" anchor="ctr"/>
          <a:lstStyle/>
          <a:p>
            <a:pPr marL="0" indent="0">
              <a:buNone/>
            </a:pPr>
            <a:r>
              <a:rPr lang="en-US" sz="1200" kern="0" spc="300" dirty="0">
                <a:solidFill>
                  <a:srgbClr val="6E6350"/>
                </a:solidFill>
                <a:latin typeface="Times New Roman" panose="02020603050405020304" pitchFamily="18" charset="0"/>
                <a:ea typeface="Consolas" pitchFamily="34" charset="-122"/>
                <a:cs typeface="Times New Roman" panose="02020603050405020304" pitchFamily="18" charset="0"/>
              </a:rPr>
              <a:t>PART I</a:t>
            </a:r>
            <a:endParaRPr lang="en-US" sz="1200" dirty="0">
              <a:latin typeface="Times New Roman" panose="02020603050405020304" pitchFamily="18" charset="0"/>
              <a:cs typeface="Times New Roman" panose="02020603050405020304" pitchFamily="18" charset="0"/>
            </a:endParaRPr>
          </a:p>
        </p:txBody>
      </p:sp>
      <p:sp>
        <p:nvSpPr>
          <p:cNvPr id="4" name="Text 2"/>
          <p:cNvSpPr/>
          <p:nvPr/>
        </p:nvSpPr>
        <p:spPr>
          <a:xfrm>
            <a:off x="566928" y="2514600"/>
            <a:ext cx="8686800" cy="914400"/>
          </a:xfrm>
          <a:prstGeom prst="rect">
            <a:avLst/>
          </a:prstGeom>
          <a:noFill/>
          <a:ln/>
        </p:spPr>
        <p:txBody>
          <a:bodyPr wrap="square" lIns="0" tIns="0" rIns="0" bIns="0" rtlCol="0" anchor="ctr"/>
          <a:lstStyle/>
          <a:p>
            <a:pPr marL="0" indent="0">
              <a:buNone/>
            </a:pPr>
            <a:r>
              <a:rPr lang="en-US" sz="4400" b="1" dirty="0">
                <a:solidFill>
                  <a:srgbClr val="14161A"/>
                </a:solidFill>
                <a:latin typeface="Times New Roman" panose="02020603050405020304" pitchFamily="18" charset="0"/>
                <a:ea typeface="Georgia" pitchFamily="34" charset="-122"/>
                <a:cs typeface="Times New Roman" panose="02020603050405020304" pitchFamily="18" charset="0"/>
              </a:rPr>
              <a:t>The problem</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566928" y="3278124"/>
            <a:ext cx="8214763" cy="1097280"/>
          </a:xfrm>
          <a:prstGeom prst="rect">
            <a:avLst/>
          </a:prstGeom>
          <a:noFill/>
          <a:ln/>
        </p:spPr>
        <p:txBody>
          <a:bodyPr wrap="square" lIns="0" tIns="0" rIns="0" bIns="0" rtlCol="0" anchor="ctr"/>
          <a:lstStyle/>
          <a:p>
            <a:pPr marL="0" indent="0">
              <a:buNone/>
            </a:pPr>
            <a:r>
              <a:rPr lang="en-US" sz="1400" dirty="0">
                <a:solidFill>
                  <a:srgbClr val="4A5058"/>
                </a:solidFill>
                <a:latin typeface="Times New Roman" panose="02020603050405020304" pitchFamily="18" charset="0"/>
                <a:ea typeface="Calibri" pitchFamily="34" charset="-122"/>
                <a:cs typeface="Times New Roman" panose="02020603050405020304" pitchFamily="18" charset="0"/>
              </a:rPr>
              <a:t>One equation with two unknowns per pixel. Every method in this review answers a single question — where does the prior come from?</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04</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§1 · TOPIC DEFINITION &amp; THE CORE PROBLEM</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21792"/>
            <a:ext cx="11055096" cy="777240"/>
          </a:xfrm>
          <a:prstGeom prst="rect">
            <a:avLst/>
          </a:prstGeom>
          <a:noFill/>
          <a:ln/>
        </p:spPr>
        <p:txBody>
          <a:bodyPr wrap="square" lIns="0" tIns="0" rIns="0" bIns="0" rtlCol="0" anchor="t"/>
          <a:lstStyle/>
          <a:p>
            <a:pPr marL="0" indent="0">
              <a:buNone/>
            </a:pPr>
            <a:r>
              <a:rPr lang="en-US" sz="2800" b="1" dirty="0">
                <a:solidFill>
                  <a:srgbClr val="14161A"/>
                </a:solidFill>
                <a:latin typeface="Times New Roman" panose="02020603050405020304" pitchFamily="18" charset="0"/>
                <a:ea typeface="Georgia" pitchFamily="34" charset="-122"/>
                <a:cs typeface="Times New Roman" panose="02020603050405020304" pitchFamily="18" charset="0"/>
              </a:rPr>
              <a:t>Recovering a clean image from a corrupted observation</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566928" y="1808959"/>
            <a:ext cx="5486400" cy="274320"/>
          </a:xfrm>
          <a:prstGeom prst="rect">
            <a:avLst/>
          </a:prstGeom>
          <a:noFill/>
          <a:ln/>
        </p:spPr>
        <p:txBody>
          <a:bodyPr wrap="square" lIns="0" tIns="0" rIns="0" bIns="0" rtlCol="0" anchor="ctr"/>
          <a:lstStyle/>
          <a:p>
            <a:pPr marL="0" indent="0">
              <a:buNone/>
            </a:pPr>
            <a:r>
              <a:rPr lang="en-US" sz="1600" b="1" dirty="0">
                <a:solidFill>
                  <a:srgbClr val="14161A"/>
                </a:solidFill>
                <a:latin typeface="Times New Roman" panose="02020603050405020304" pitchFamily="18" charset="0"/>
                <a:ea typeface="Georgia" pitchFamily="34" charset="-122"/>
                <a:cs typeface="Times New Roman" panose="02020603050405020304" pitchFamily="18" charset="0"/>
              </a:rPr>
              <a:t>The topic</a:t>
            </a:r>
            <a:endParaRPr lang="en-US" sz="1600" dirty="0">
              <a:latin typeface="Times New Roman" panose="02020603050405020304" pitchFamily="18" charset="0"/>
              <a:cs typeface="Times New Roman" panose="02020603050405020304" pitchFamily="18" charset="0"/>
            </a:endParaRPr>
          </a:p>
        </p:txBody>
      </p:sp>
      <p:sp>
        <p:nvSpPr>
          <p:cNvPr id="6" name="Text 4"/>
          <p:cNvSpPr/>
          <p:nvPr/>
        </p:nvSpPr>
        <p:spPr>
          <a:xfrm>
            <a:off x="566928" y="2110711"/>
            <a:ext cx="5486400" cy="1188720"/>
          </a:xfrm>
          <a:prstGeom prst="rect">
            <a:avLst/>
          </a:prstGeom>
          <a:noFill/>
          <a:ln/>
        </p:spPr>
        <p:txBody>
          <a:bodyPr wrap="square" lIns="0" tIns="0" rIns="0" bIns="0" rtlCol="0" anchor="ctr"/>
          <a:lstStyle/>
          <a:p>
            <a:pPr marL="0" indent="0" algn="just">
              <a:buNone/>
            </a:pPr>
            <a:r>
              <a:rPr lang="en-US" sz="1200" dirty="0">
                <a:solidFill>
                  <a:srgbClr val="4A5058"/>
                </a:solidFill>
                <a:latin typeface="Times New Roman" panose="02020603050405020304" pitchFamily="18" charset="0"/>
                <a:ea typeface="Calibri" pitchFamily="34" charset="-122"/>
                <a:cs typeface="Times New Roman" panose="02020603050405020304" pitchFamily="18" charset="0"/>
              </a:rPr>
              <a:t>Image denoising. Selected because the literature treats it as foundational, not merely representative. SCUNet calls it perhaps the most fundamental image restoration problem: a testbed for evaluating image priors and optimisation algorithms, pluggable into larger restoration pipelines, and underpinning downstream work broadly.</a:t>
            </a:r>
            <a:endParaRPr lang="en-US" sz="1200" dirty="0">
              <a:latin typeface="Times New Roman" panose="02020603050405020304" pitchFamily="18" charset="0"/>
              <a:cs typeface="Times New Roman" panose="02020603050405020304" pitchFamily="18" charset="0"/>
            </a:endParaRPr>
          </a:p>
        </p:txBody>
      </p:sp>
      <p:sp>
        <p:nvSpPr>
          <p:cNvPr id="7" name="Shape 5"/>
          <p:cNvSpPr/>
          <p:nvPr/>
        </p:nvSpPr>
        <p:spPr>
          <a:xfrm>
            <a:off x="566928" y="3390871"/>
            <a:ext cx="5486400" cy="160020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 name="Text 6"/>
          <p:cNvSpPr/>
          <p:nvPr/>
        </p:nvSpPr>
        <p:spPr>
          <a:xfrm>
            <a:off x="795528" y="3573751"/>
            <a:ext cx="5029200" cy="219456"/>
          </a:xfrm>
          <a:prstGeom prst="rect">
            <a:avLst/>
          </a:prstGeom>
          <a:noFill/>
          <a:ln/>
        </p:spPr>
        <p:txBody>
          <a:bodyPr wrap="square" lIns="0" tIns="0" rIns="0" bIns="0" rtlCol="0" anchor="ctr"/>
          <a:lstStyle/>
          <a:p>
            <a:pPr marL="0" indent="0">
              <a:buNone/>
            </a:pPr>
            <a:r>
              <a:rPr lang="en-US" sz="900" kern="0" spc="120" dirty="0">
                <a:solidFill>
                  <a:srgbClr val="1E5F7E"/>
                </a:solidFill>
                <a:latin typeface="Times New Roman" panose="02020603050405020304" pitchFamily="18" charset="0"/>
                <a:ea typeface="Consolas" pitchFamily="34" charset="-122"/>
                <a:cs typeface="Times New Roman" panose="02020603050405020304" pitchFamily="18" charset="0"/>
              </a:rPr>
              <a:t>THE DEGRADATION MODEL — FROM THE ANCHOR PAPER</a:t>
            </a:r>
            <a:endParaRPr lang="en-US" sz="900" dirty="0">
              <a:latin typeface="Times New Roman" panose="02020603050405020304" pitchFamily="18" charset="0"/>
              <a:cs typeface="Times New Roman" panose="02020603050405020304" pitchFamily="18" charset="0"/>
            </a:endParaRPr>
          </a:p>
        </p:txBody>
      </p:sp>
      <p:sp>
        <p:nvSpPr>
          <p:cNvPr id="9" name="Text 7"/>
          <p:cNvSpPr/>
          <p:nvPr/>
        </p:nvSpPr>
        <p:spPr>
          <a:xfrm>
            <a:off x="795528" y="3848071"/>
            <a:ext cx="5029200" cy="411480"/>
          </a:xfrm>
          <a:prstGeom prst="rect">
            <a:avLst/>
          </a:prstGeom>
          <a:noFill/>
          <a:ln/>
        </p:spPr>
        <p:txBody>
          <a:bodyPr wrap="square" lIns="0" tIns="0" rIns="0" bIns="0" rtlCol="0" anchor="ctr"/>
          <a:lstStyle/>
          <a:p>
            <a:pPr marL="0" indent="0" algn="ctr">
              <a:buNone/>
            </a:pPr>
            <a:r>
              <a:rPr lang="en-US" sz="2400" i="1" dirty="0">
                <a:solidFill>
                  <a:srgbClr val="14161A"/>
                </a:solidFill>
                <a:latin typeface="Times New Roman" panose="02020603050405020304" pitchFamily="18" charset="0"/>
                <a:ea typeface="Georgia" pitchFamily="34" charset="-122"/>
                <a:cs typeface="Times New Roman" panose="02020603050405020304" pitchFamily="18" charset="0"/>
              </a:rPr>
              <a:t>y  =  x  +  v</a:t>
            </a:r>
            <a:endParaRPr lang="en-US" sz="2400" dirty="0">
              <a:latin typeface="Times New Roman" panose="02020603050405020304" pitchFamily="18" charset="0"/>
              <a:cs typeface="Times New Roman" panose="02020603050405020304" pitchFamily="18" charset="0"/>
            </a:endParaRPr>
          </a:p>
        </p:txBody>
      </p:sp>
      <p:sp>
        <p:nvSpPr>
          <p:cNvPr id="10" name="Text 8"/>
          <p:cNvSpPr/>
          <p:nvPr/>
        </p:nvSpPr>
        <p:spPr>
          <a:xfrm>
            <a:off x="795528" y="4305271"/>
            <a:ext cx="5029200" cy="548640"/>
          </a:xfrm>
          <a:prstGeom prst="rect">
            <a:avLst/>
          </a:prstGeom>
          <a:noFill/>
          <a:ln/>
        </p:spPr>
        <p:txBody>
          <a:bodyPr wrap="square" lIns="0" tIns="0" rIns="0" bIns="0" rtlCol="0" anchor="ctr"/>
          <a:lstStyle/>
          <a:p>
            <a:pPr marL="0" indent="0" algn="just">
              <a:buNone/>
            </a:pPr>
            <a:r>
              <a:rPr lang="en-US" sz="1050" dirty="0">
                <a:solidFill>
                  <a:srgbClr val="4A5058"/>
                </a:solidFill>
                <a:latin typeface="Times New Roman" panose="02020603050405020304" pitchFamily="18" charset="0"/>
                <a:ea typeface="Calibri" pitchFamily="34" charset="-122"/>
                <a:cs typeface="Times New Roman" panose="02020603050405020304" pitchFamily="18" charset="0"/>
              </a:rPr>
              <a:t>Recover clean image x from noisy observation y. The common assumption is that v is additive white Gaussian noise with standard deviation σ.  — DnCNN, §I</a:t>
            </a:r>
            <a:endParaRPr lang="en-US" sz="1050" dirty="0">
              <a:latin typeface="Times New Roman" panose="02020603050405020304" pitchFamily="18" charset="0"/>
              <a:cs typeface="Times New Roman" panose="02020603050405020304" pitchFamily="18" charset="0"/>
            </a:endParaRPr>
          </a:p>
        </p:txBody>
      </p:sp>
      <p:sp>
        <p:nvSpPr>
          <p:cNvPr id="11" name="Text 9"/>
          <p:cNvSpPr/>
          <p:nvPr/>
        </p:nvSpPr>
        <p:spPr>
          <a:xfrm>
            <a:off x="6498451" y="1807061"/>
            <a:ext cx="5486400" cy="274320"/>
          </a:xfrm>
          <a:prstGeom prst="rect">
            <a:avLst/>
          </a:prstGeom>
          <a:noFill/>
          <a:ln/>
        </p:spPr>
        <p:txBody>
          <a:bodyPr wrap="square" lIns="0" tIns="0" rIns="0" bIns="0" rtlCol="0" anchor="ctr"/>
          <a:lstStyle/>
          <a:p>
            <a:pPr marL="0" indent="0">
              <a:buNone/>
            </a:pPr>
            <a:r>
              <a:rPr lang="en-US" sz="1600" b="1" dirty="0">
                <a:solidFill>
                  <a:srgbClr val="14161A"/>
                </a:solidFill>
                <a:latin typeface="Times New Roman" panose="02020603050405020304" pitchFamily="18" charset="0"/>
                <a:ea typeface="Georgia" pitchFamily="34" charset="-122"/>
                <a:cs typeface="Times New Roman" panose="02020603050405020304" pitchFamily="18" charset="0"/>
              </a:rPr>
              <a:t>Why it still matters</a:t>
            </a:r>
            <a:endParaRPr lang="en-US" sz="1600" dirty="0">
              <a:latin typeface="Times New Roman" panose="02020603050405020304" pitchFamily="18" charset="0"/>
              <a:cs typeface="Times New Roman" panose="02020603050405020304" pitchFamily="18" charset="0"/>
            </a:endParaRPr>
          </a:p>
        </p:txBody>
      </p:sp>
      <p:sp>
        <p:nvSpPr>
          <p:cNvPr id="12" name="Shape 10"/>
          <p:cNvSpPr/>
          <p:nvPr/>
        </p:nvSpPr>
        <p:spPr>
          <a:xfrm>
            <a:off x="6498451" y="2154533"/>
            <a:ext cx="5486400" cy="123444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3" name="Text 11"/>
          <p:cNvSpPr/>
          <p:nvPr/>
        </p:nvSpPr>
        <p:spPr>
          <a:xfrm>
            <a:off x="6727051" y="2355701"/>
            <a:ext cx="5029200" cy="914400"/>
          </a:xfrm>
          <a:prstGeom prst="rect">
            <a:avLst/>
          </a:prstGeom>
          <a:noFill/>
          <a:ln/>
        </p:spPr>
        <p:txBody>
          <a:bodyPr wrap="square" lIns="0" tIns="0" rIns="0" bIns="0" rtlCol="0" anchor="ctr"/>
          <a:lstStyle/>
          <a:p>
            <a:pPr marL="0" indent="0" algn="just">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Medical necessity. </a:t>
            </a: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ZS-N2N motivates its work by noting that reconstructing fine detail is especially important for medical images, where fine details are necessary for accurate diagnosis.</a:t>
            </a:r>
            <a:endParaRPr lang="en-US" sz="1100" dirty="0">
              <a:latin typeface="Times New Roman" panose="02020603050405020304" pitchFamily="18" charset="0"/>
              <a:cs typeface="Times New Roman" panose="02020603050405020304" pitchFamily="18" charset="0"/>
            </a:endParaRPr>
          </a:p>
        </p:txBody>
      </p:sp>
      <p:sp>
        <p:nvSpPr>
          <p:cNvPr id="14" name="Shape 12"/>
          <p:cNvSpPr/>
          <p:nvPr/>
        </p:nvSpPr>
        <p:spPr>
          <a:xfrm>
            <a:off x="6498451" y="3526133"/>
            <a:ext cx="5486400" cy="146304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5" name="Text 13"/>
          <p:cNvSpPr/>
          <p:nvPr/>
        </p:nvSpPr>
        <p:spPr>
          <a:xfrm>
            <a:off x="6727051" y="3727301"/>
            <a:ext cx="5029200" cy="1097280"/>
          </a:xfrm>
          <a:prstGeom prst="rect">
            <a:avLst/>
          </a:prstGeom>
          <a:noFill/>
          <a:ln/>
        </p:spPr>
        <p:txBody>
          <a:bodyPr wrap="square" lIns="0" tIns="0" rIns="0" bIns="0" rtlCol="0" anchor="ctr"/>
          <a:lstStyle/>
          <a:p>
            <a:pPr marL="0" indent="0" algn="just">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Still unsolved. </a:t>
            </a: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SCUNet, published 2023, states that existing methods mostly rely on simple noise assumptions and that a general-purpose blind denoising method for real images remains unsolved.</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6498451" y="5126333"/>
            <a:ext cx="5486400" cy="365760"/>
          </a:xfrm>
          <a:prstGeom prst="rect">
            <a:avLst/>
          </a:prstGeom>
          <a:noFill/>
          <a:ln/>
        </p:spPr>
        <p:txBody>
          <a:bodyPr wrap="square" lIns="0" tIns="0" rIns="0" bIns="0" rtlCol="0" anchor="ctr"/>
          <a:lstStyle/>
          <a:p>
            <a:pPr marL="0" indent="0">
              <a:buNone/>
            </a:pPr>
            <a:r>
              <a:rPr lang="en-US" sz="1050" i="1" dirty="0">
                <a:solidFill>
                  <a:srgbClr val="828A94"/>
                </a:solidFill>
                <a:latin typeface="Times New Roman" panose="02020603050405020304" pitchFamily="18" charset="0"/>
                <a:ea typeface="Calibri" pitchFamily="34" charset="-122"/>
                <a:cs typeface="Times New Roman" panose="02020603050405020304" pitchFamily="18" charset="0"/>
              </a:rPr>
              <a:t>This is the sentence that keeps the project from being a history lesson: the problem is open, not closed.</a:t>
            </a:r>
            <a:endParaRPr lang="en-US" sz="105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05</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§1 · THE INHERENT MATHEMATICAL &amp; VISUAL CHALLENGES</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21792"/>
            <a:ext cx="11055096" cy="777240"/>
          </a:xfrm>
          <a:prstGeom prst="rect">
            <a:avLst/>
          </a:prstGeom>
          <a:noFill/>
          <a:ln/>
        </p:spPr>
        <p:txBody>
          <a:bodyPr wrap="square" lIns="0" tIns="0" rIns="0" bIns="0" rtlCol="0" anchor="t"/>
          <a:lstStyle/>
          <a:p>
            <a:pPr marL="0" indent="0">
              <a:buNone/>
            </a:pPr>
            <a:r>
              <a:rPr lang="en-US" sz="2800" b="1" dirty="0">
                <a:solidFill>
                  <a:srgbClr val="14161A"/>
                </a:solidFill>
                <a:latin typeface="Times New Roman" panose="02020603050405020304" pitchFamily="18" charset="0"/>
                <a:ea typeface="Georgia" pitchFamily="34" charset="-122"/>
                <a:cs typeface="Times New Roman" panose="02020603050405020304" pitchFamily="18" charset="0"/>
              </a:rPr>
              <a:t>Three difficulties, each stated by a paper in our list</a:t>
            </a:r>
            <a:endParaRPr lang="en-US" sz="2800" dirty="0">
              <a:latin typeface="Times New Roman" panose="02020603050405020304" pitchFamily="18" charset="0"/>
              <a:cs typeface="Times New Roman" panose="02020603050405020304" pitchFamily="18" charset="0"/>
            </a:endParaRPr>
          </a:p>
        </p:txBody>
      </p:sp>
      <p:sp>
        <p:nvSpPr>
          <p:cNvPr id="5" name="Shape 3"/>
          <p:cNvSpPr/>
          <p:nvPr/>
        </p:nvSpPr>
        <p:spPr>
          <a:xfrm>
            <a:off x="566928" y="1554480"/>
            <a:ext cx="3520440" cy="301752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 name="Shape 4"/>
          <p:cNvSpPr/>
          <p:nvPr/>
        </p:nvSpPr>
        <p:spPr>
          <a:xfrm>
            <a:off x="768096" y="1773936"/>
            <a:ext cx="118872" cy="118872"/>
          </a:xfrm>
          <a:prstGeom prst="ellipse">
            <a:avLst/>
          </a:prstGeom>
          <a:solidFill>
            <a:srgbClr val="6E6350"/>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7" name="Text 5"/>
          <p:cNvSpPr/>
          <p:nvPr/>
        </p:nvSpPr>
        <p:spPr>
          <a:xfrm>
            <a:off x="1005840" y="1737360"/>
            <a:ext cx="2834640" cy="201168"/>
          </a:xfrm>
          <a:prstGeom prst="rect">
            <a:avLst/>
          </a:prstGeom>
          <a:noFill/>
          <a:ln/>
        </p:spPr>
        <p:txBody>
          <a:bodyPr wrap="square" lIns="0" tIns="0" rIns="0" bIns="0" rtlCol="0" anchor="ctr"/>
          <a:lstStyle/>
          <a:p>
            <a:pPr marL="0" indent="0">
              <a:buNone/>
            </a:pPr>
            <a:r>
              <a:rPr lang="en-US" sz="900" kern="0" spc="120" dirty="0">
                <a:solidFill>
                  <a:srgbClr val="6E6350"/>
                </a:solidFill>
                <a:latin typeface="Times New Roman" panose="02020603050405020304" pitchFamily="18" charset="0"/>
                <a:ea typeface="Consolas" pitchFamily="34" charset="-122"/>
                <a:cs typeface="Times New Roman" panose="02020603050405020304" pitchFamily="18" charset="0"/>
              </a:rPr>
              <a:t>CHALLENGE 1</a:t>
            </a:r>
            <a:endParaRPr lang="en-US" sz="900" dirty="0">
              <a:latin typeface="Times New Roman" panose="02020603050405020304" pitchFamily="18" charset="0"/>
              <a:cs typeface="Times New Roman" panose="02020603050405020304" pitchFamily="18" charset="0"/>
            </a:endParaRPr>
          </a:p>
        </p:txBody>
      </p:sp>
      <p:sp>
        <p:nvSpPr>
          <p:cNvPr id="8" name="Text 6"/>
          <p:cNvSpPr/>
          <p:nvPr/>
        </p:nvSpPr>
        <p:spPr>
          <a:xfrm>
            <a:off x="795528" y="2011680"/>
            <a:ext cx="3063240" cy="502920"/>
          </a:xfrm>
          <a:prstGeom prst="rect">
            <a:avLst/>
          </a:prstGeom>
          <a:noFill/>
          <a:ln/>
        </p:spPr>
        <p:txBody>
          <a:bodyPr wrap="square" lIns="0" tIns="0" rIns="0" bIns="0" rtlCol="0" anchor="ctr"/>
          <a:lstStyle/>
          <a:p>
            <a:pPr marL="0" indent="0">
              <a:buNone/>
            </a:pPr>
            <a:r>
              <a:rPr lang="en-US" sz="1400" b="1" dirty="0">
                <a:solidFill>
                  <a:srgbClr val="14161A"/>
                </a:solidFill>
                <a:latin typeface="Times New Roman" panose="02020603050405020304" pitchFamily="18" charset="0"/>
                <a:ea typeface="Georgia" pitchFamily="34" charset="-122"/>
                <a:cs typeface="Times New Roman" panose="02020603050405020304" pitchFamily="18" charset="0"/>
              </a:rPr>
              <a:t>The problem is ill-posed</a:t>
            </a:r>
            <a:endParaRPr lang="en-US" sz="1400" dirty="0">
              <a:latin typeface="Times New Roman" panose="02020603050405020304" pitchFamily="18" charset="0"/>
              <a:cs typeface="Times New Roman" panose="02020603050405020304" pitchFamily="18" charset="0"/>
            </a:endParaRPr>
          </a:p>
        </p:txBody>
      </p:sp>
      <p:sp>
        <p:nvSpPr>
          <p:cNvPr id="9" name="Text 7"/>
          <p:cNvSpPr/>
          <p:nvPr/>
        </p:nvSpPr>
        <p:spPr>
          <a:xfrm>
            <a:off x="795528" y="2301523"/>
            <a:ext cx="3063240" cy="1874520"/>
          </a:xfrm>
          <a:prstGeom prst="rect">
            <a:avLst/>
          </a:prstGeom>
          <a:noFill/>
          <a:ln/>
        </p:spPr>
        <p:txBody>
          <a:bodyPr wrap="square" lIns="0" tIns="0" rIns="0" bIns="0" rtlCol="0" anchor="ctr"/>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One observation, two unknowns per pixel. Infinitely many (x, v) pairs explain any y. Restormer states it generally: because of its ill-posed nature it is a highly challenging problem that usually requires strong image priors for effective restoration.</a:t>
            </a:r>
            <a:endParaRPr lang="en-US" sz="1100" dirty="0">
              <a:latin typeface="Times New Roman" panose="02020603050405020304" pitchFamily="18" charset="0"/>
              <a:cs typeface="Times New Roman" panose="02020603050405020304" pitchFamily="18" charset="0"/>
            </a:endParaRPr>
          </a:p>
        </p:txBody>
      </p:sp>
      <p:sp>
        <p:nvSpPr>
          <p:cNvPr id="10" name="Shape 8"/>
          <p:cNvSpPr/>
          <p:nvPr/>
        </p:nvSpPr>
        <p:spPr>
          <a:xfrm>
            <a:off x="4334256" y="1554480"/>
            <a:ext cx="3520440" cy="301752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1" name="Shape 9"/>
          <p:cNvSpPr/>
          <p:nvPr/>
        </p:nvSpPr>
        <p:spPr>
          <a:xfrm>
            <a:off x="4535424" y="1773936"/>
            <a:ext cx="118872" cy="118872"/>
          </a:xfrm>
          <a:prstGeom prst="ellipse">
            <a:avLst/>
          </a:prstGeom>
          <a:solidFill>
            <a:srgbClr val="6E6350"/>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2" name="Text 10"/>
          <p:cNvSpPr/>
          <p:nvPr/>
        </p:nvSpPr>
        <p:spPr>
          <a:xfrm>
            <a:off x="4773168" y="1737360"/>
            <a:ext cx="2834640" cy="201168"/>
          </a:xfrm>
          <a:prstGeom prst="rect">
            <a:avLst/>
          </a:prstGeom>
          <a:noFill/>
          <a:ln/>
        </p:spPr>
        <p:txBody>
          <a:bodyPr wrap="square" lIns="0" tIns="0" rIns="0" bIns="0" rtlCol="0" anchor="ctr"/>
          <a:lstStyle/>
          <a:p>
            <a:pPr marL="0" indent="0">
              <a:buNone/>
            </a:pPr>
            <a:r>
              <a:rPr lang="en-US" sz="900" kern="0" spc="120" dirty="0">
                <a:solidFill>
                  <a:srgbClr val="6E6350"/>
                </a:solidFill>
                <a:latin typeface="Times New Roman" panose="02020603050405020304" pitchFamily="18" charset="0"/>
                <a:ea typeface="Consolas" pitchFamily="34" charset="-122"/>
                <a:cs typeface="Times New Roman" panose="02020603050405020304" pitchFamily="18" charset="0"/>
              </a:rPr>
              <a:t>CHALLENGE 2</a:t>
            </a:r>
            <a:endParaRPr lang="en-US" sz="900" dirty="0">
              <a:latin typeface="Times New Roman" panose="02020603050405020304" pitchFamily="18" charset="0"/>
              <a:cs typeface="Times New Roman" panose="02020603050405020304" pitchFamily="18" charset="0"/>
            </a:endParaRPr>
          </a:p>
        </p:txBody>
      </p:sp>
      <p:sp>
        <p:nvSpPr>
          <p:cNvPr id="13" name="Text 11"/>
          <p:cNvSpPr/>
          <p:nvPr/>
        </p:nvSpPr>
        <p:spPr>
          <a:xfrm>
            <a:off x="4562856" y="2011680"/>
            <a:ext cx="3063240" cy="502920"/>
          </a:xfrm>
          <a:prstGeom prst="rect">
            <a:avLst/>
          </a:prstGeom>
          <a:noFill/>
          <a:ln/>
        </p:spPr>
        <p:txBody>
          <a:bodyPr wrap="square" lIns="0" tIns="0" rIns="0" bIns="0" rtlCol="0" anchor="ctr"/>
          <a:lstStyle/>
          <a:p>
            <a:pPr marL="0" indent="0">
              <a:buNone/>
            </a:pPr>
            <a:r>
              <a:rPr lang="en-US" sz="1400" b="1" dirty="0">
                <a:solidFill>
                  <a:srgbClr val="14161A"/>
                </a:solidFill>
                <a:latin typeface="Times New Roman" panose="02020603050405020304" pitchFamily="18" charset="0"/>
                <a:ea typeface="Georgia" pitchFamily="34" charset="-122"/>
                <a:cs typeface="Times New Roman" panose="02020603050405020304" pitchFamily="18" charset="0"/>
              </a:rPr>
              <a:t>A prior must be supplied</a:t>
            </a:r>
            <a:endParaRPr lang="en-US" sz="1400" dirty="0">
              <a:latin typeface="Times New Roman" panose="02020603050405020304" pitchFamily="18" charset="0"/>
              <a:cs typeface="Times New Roman" panose="02020603050405020304" pitchFamily="18" charset="0"/>
            </a:endParaRPr>
          </a:p>
        </p:txBody>
      </p:sp>
      <p:sp>
        <p:nvSpPr>
          <p:cNvPr id="14" name="Text 12"/>
          <p:cNvSpPr/>
          <p:nvPr/>
        </p:nvSpPr>
        <p:spPr>
          <a:xfrm>
            <a:off x="4562856" y="2301523"/>
            <a:ext cx="3063240" cy="1874520"/>
          </a:xfrm>
          <a:prstGeom prst="rect">
            <a:avLst/>
          </a:prstGeom>
          <a:noFill/>
          <a:ln/>
        </p:spPr>
        <p:txBody>
          <a:bodyPr wrap="square" lIns="0" tIns="0" rIns="0" bIns="0" rtlCol="0" anchor="ctr"/>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DnCNN frames this from a Bayesian viewpoint: when the likelihood is known, image prior modelling plays the central role. It lists the historical families — non-local self-similarity, sparse, gradient and Markov random field models. The classical shape is a hand-designed regulariser, re-solved per image at test time.</a:t>
            </a:r>
            <a:endParaRPr lang="en-US" sz="1100" dirty="0">
              <a:latin typeface="Times New Roman" panose="02020603050405020304" pitchFamily="18" charset="0"/>
              <a:cs typeface="Times New Roman" panose="02020603050405020304" pitchFamily="18" charset="0"/>
            </a:endParaRPr>
          </a:p>
        </p:txBody>
      </p:sp>
      <p:sp>
        <p:nvSpPr>
          <p:cNvPr id="15" name="Shape 13"/>
          <p:cNvSpPr/>
          <p:nvPr/>
        </p:nvSpPr>
        <p:spPr>
          <a:xfrm>
            <a:off x="8101584" y="1554480"/>
            <a:ext cx="3520440" cy="301752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6" name="Shape 14"/>
          <p:cNvSpPr/>
          <p:nvPr/>
        </p:nvSpPr>
        <p:spPr>
          <a:xfrm>
            <a:off x="8302752" y="1773936"/>
            <a:ext cx="118872" cy="118872"/>
          </a:xfrm>
          <a:prstGeom prst="ellipse">
            <a:avLst/>
          </a:prstGeom>
          <a:solidFill>
            <a:srgbClr val="6E6350"/>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7" name="Text 15"/>
          <p:cNvSpPr/>
          <p:nvPr/>
        </p:nvSpPr>
        <p:spPr>
          <a:xfrm>
            <a:off x="8540496" y="1737360"/>
            <a:ext cx="2834640" cy="201168"/>
          </a:xfrm>
          <a:prstGeom prst="rect">
            <a:avLst/>
          </a:prstGeom>
          <a:noFill/>
          <a:ln/>
        </p:spPr>
        <p:txBody>
          <a:bodyPr wrap="square" lIns="0" tIns="0" rIns="0" bIns="0" rtlCol="0" anchor="ctr"/>
          <a:lstStyle/>
          <a:p>
            <a:pPr marL="0" indent="0">
              <a:buNone/>
            </a:pPr>
            <a:r>
              <a:rPr lang="en-US" sz="900" kern="0" spc="120" dirty="0">
                <a:solidFill>
                  <a:srgbClr val="6E6350"/>
                </a:solidFill>
                <a:latin typeface="Times New Roman" panose="02020603050405020304" pitchFamily="18" charset="0"/>
                <a:ea typeface="Consolas" pitchFamily="34" charset="-122"/>
                <a:cs typeface="Times New Roman" panose="02020603050405020304" pitchFamily="18" charset="0"/>
              </a:rPr>
              <a:t>CHALLENGE 3</a:t>
            </a:r>
            <a:endParaRPr lang="en-US" sz="900" dirty="0">
              <a:latin typeface="Times New Roman" panose="02020603050405020304" pitchFamily="18" charset="0"/>
              <a:cs typeface="Times New Roman" panose="02020603050405020304" pitchFamily="18" charset="0"/>
            </a:endParaRPr>
          </a:p>
        </p:txBody>
      </p:sp>
      <p:sp>
        <p:nvSpPr>
          <p:cNvPr id="18" name="Text 16"/>
          <p:cNvSpPr/>
          <p:nvPr/>
        </p:nvSpPr>
        <p:spPr>
          <a:xfrm>
            <a:off x="8330184" y="2011680"/>
            <a:ext cx="3063240" cy="502920"/>
          </a:xfrm>
          <a:prstGeom prst="rect">
            <a:avLst/>
          </a:prstGeom>
          <a:noFill/>
          <a:ln/>
        </p:spPr>
        <p:txBody>
          <a:bodyPr wrap="square" lIns="0" tIns="0" rIns="0" bIns="0" rtlCol="0" anchor="ctr"/>
          <a:lstStyle/>
          <a:p>
            <a:pPr marL="0" indent="0">
              <a:buNone/>
            </a:pPr>
            <a:r>
              <a:rPr lang="en-US" sz="1400" b="1" dirty="0">
                <a:solidFill>
                  <a:srgbClr val="14161A"/>
                </a:solidFill>
                <a:latin typeface="Times New Roman" panose="02020603050405020304" pitchFamily="18" charset="0"/>
                <a:ea typeface="Georgia" pitchFamily="34" charset="-122"/>
                <a:cs typeface="Times New Roman" panose="02020603050405020304" pitchFamily="18" charset="0"/>
              </a:rPr>
              <a:t>Smoothing destroys detail</a:t>
            </a:r>
            <a:endParaRPr lang="en-US" sz="1400" dirty="0">
              <a:latin typeface="Times New Roman" panose="02020603050405020304" pitchFamily="18" charset="0"/>
              <a:cs typeface="Times New Roman" panose="02020603050405020304" pitchFamily="18" charset="0"/>
            </a:endParaRPr>
          </a:p>
        </p:txBody>
      </p:sp>
      <p:sp>
        <p:nvSpPr>
          <p:cNvPr id="19" name="Text 17"/>
          <p:cNvSpPr/>
          <p:nvPr/>
        </p:nvSpPr>
        <p:spPr>
          <a:xfrm>
            <a:off x="8330184" y="2301523"/>
            <a:ext cx="3063240" cy="1874520"/>
          </a:xfrm>
          <a:prstGeom prst="rect">
            <a:avLst/>
          </a:prstGeom>
          <a:noFill/>
          <a:ln/>
        </p:spPr>
        <p:txBody>
          <a:bodyPr wrap="square" lIns="0" tIns="0" rIns="0" bIns="0" rtlCol="0" anchor="ctr"/>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Noise removal and detail preservation pull in opposite directions. BM3D names the </a:t>
            </a:r>
            <a:r>
              <a:rPr lang="en-US" sz="1100" dirty="0" err="1">
                <a:solidFill>
                  <a:srgbClr val="4A5058"/>
                </a:solidFill>
                <a:latin typeface="Times New Roman" panose="02020603050405020304" pitchFamily="18" charset="0"/>
                <a:ea typeface="Calibri" pitchFamily="34" charset="-122"/>
                <a:cs typeface="Times New Roman" panose="02020603050405020304" pitchFamily="18" charset="0"/>
              </a:rPr>
              <a:t>teansion</a:t>
            </a: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 in its own claim: collaborative filtering reveals even the finest details shared by grouped blocks while at the same time preserving the essential unique features of each individual block.</a:t>
            </a:r>
            <a:endParaRPr lang="en-US" sz="1100" dirty="0">
              <a:latin typeface="Times New Roman" panose="02020603050405020304" pitchFamily="18" charset="0"/>
              <a:cs typeface="Times New Roman" panose="02020603050405020304" pitchFamily="18" charset="0"/>
            </a:endParaRPr>
          </a:p>
        </p:txBody>
      </p:sp>
      <p:sp>
        <p:nvSpPr>
          <p:cNvPr id="20" name="Shape 18"/>
          <p:cNvSpPr/>
          <p:nvPr/>
        </p:nvSpPr>
        <p:spPr>
          <a:xfrm>
            <a:off x="566928" y="4800600"/>
            <a:ext cx="11055096" cy="96012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21" name="Text 19"/>
          <p:cNvSpPr/>
          <p:nvPr/>
        </p:nvSpPr>
        <p:spPr>
          <a:xfrm>
            <a:off x="822960" y="4983480"/>
            <a:ext cx="10515600" cy="219456"/>
          </a:xfrm>
          <a:prstGeom prst="rect">
            <a:avLst/>
          </a:prstGeom>
          <a:noFill/>
          <a:ln/>
        </p:spPr>
        <p:txBody>
          <a:bodyPr wrap="square" lIns="0" tIns="0" rIns="0" bIns="0" rtlCol="0" anchor="ctr"/>
          <a:lstStyle/>
          <a:p>
            <a:pPr marL="0" indent="0">
              <a:buNone/>
            </a:pPr>
            <a:r>
              <a:rPr lang="en-US" sz="900" kern="0" spc="120" dirty="0">
                <a:solidFill>
                  <a:srgbClr val="1E5F7E"/>
                </a:solidFill>
                <a:latin typeface="Times New Roman" panose="02020603050405020304" pitchFamily="18" charset="0"/>
                <a:ea typeface="Consolas" pitchFamily="34" charset="-122"/>
                <a:cs typeface="Times New Roman" panose="02020603050405020304" pitchFamily="18" charset="0"/>
              </a:rPr>
              <a:t>THE QUESTION THAT ORGANISES EVERYTHING THAT FOLLOWS</a:t>
            </a:r>
            <a:endParaRPr lang="en-US" sz="900" dirty="0">
              <a:latin typeface="Times New Roman" panose="02020603050405020304" pitchFamily="18" charset="0"/>
              <a:cs typeface="Times New Roman" panose="02020603050405020304" pitchFamily="18" charset="0"/>
            </a:endParaRPr>
          </a:p>
        </p:txBody>
      </p:sp>
      <p:sp>
        <p:nvSpPr>
          <p:cNvPr id="22" name="Text 20"/>
          <p:cNvSpPr/>
          <p:nvPr/>
        </p:nvSpPr>
        <p:spPr>
          <a:xfrm>
            <a:off x="822960" y="5230368"/>
            <a:ext cx="10515600" cy="365760"/>
          </a:xfrm>
          <a:prstGeom prst="rect">
            <a:avLst/>
          </a:prstGeom>
          <a:noFill/>
          <a:ln/>
        </p:spPr>
        <p:txBody>
          <a:bodyPr wrap="square" lIns="0" tIns="0" rIns="0" bIns="0" rtlCol="0" anchor="ctr"/>
          <a:lstStyle/>
          <a:p>
            <a:pPr marL="0" indent="0">
              <a:buNone/>
            </a:pPr>
            <a:r>
              <a:rPr lang="en-US" sz="1200" dirty="0">
                <a:solidFill>
                  <a:srgbClr val="4A5058"/>
                </a:solidFill>
                <a:latin typeface="Times New Roman" panose="02020603050405020304" pitchFamily="18" charset="0"/>
                <a:ea typeface="Calibri" pitchFamily="34" charset="-122"/>
                <a:cs typeface="Times New Roman" panose="02020603050405020304" pitchFamily="18" charset="0"/>
              </a:rPr>
              <a:t>If a prior is unavoidable, then the history of denoising is the history of </a:t>
            </a: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where the prior comes from</a:t>
            </a:r>
            <a:r>
              <a:rPr lang="en-US" sz="1200" dirty="0">
                <a:solidFill>
                  <a:srgbClr val="4A5058"/>
                </a:solidFill>
                <a:latin typeface="Times New Roman" panose="02020603050405020304" pitchFamily="18" charset="0"/>
                <a:ea typeface="Calibri" pitchFamily="34" charset="-122"/>
                <a:cs typeface="Times New Roman" panose="02020603050405020304" pitchFamily="18" charset="0"/>
              </a:rPr>
              <a:t> — and who or what writes it.</a:t>
            </a:r>
            <a:endParaRPr lang="en-US" sz="12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06</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2148840"/>
            <a:ext cx="11055096" cy="274320"/>
          </a:xfrm>
          <a:prstGeom prst="rect">
            <a:avLst/>
          </a:prstGeom>
          <a:noFill/>
          <a:ln/>
        </p:spPr>
        <p:txBody>
          <a:bodyPr wrap="square" lIns="0" tIns="0" rIns="0" bIns="0" rtlCol="0" anchor="ctr"/>
          <a:lstStyle/>
          <a:p>
            <a:pPr marL="0" indent="0">
              <a:buNone/>
            </a:pPr>
            <a:r>
              <a:rPr lang="en-US" sz="1200" kern="0" spc="300" dirty="0">
                <a:solidFill>
                  <a:srgbClr val="1E5F7E"/>
                </a:solidFill>
                <a:latin typeface="Times New Roman" panose="02020603050405020304" pitchFamily="18" charset="0"/>
                <a:ea typeface="Consolas" pitchFamily="34" charset="-122"/>
                <a:cs typeface="Times New Roman" panose="02020603050405020304" pitchFamily="18" charset="0"/>
              </a:rPr>
              <a:t>PART II</a:t>
            </a:r>
            <a:endParaRPr lang="en-US" sz="1200" dirty="0">
              <a:latin typeface="Times New Roman" panose="02020603050405020304" pitchFamily="18" charset="0"/>
              <a:cs typeface="Times New Roman" panose="02020603050405020304" pitchFamily="18" charset="0"/>
            </a:endParaRPr>
          </a:p>
        </p:txBody>
      </p:sp>
      <p:sp>
        <p:nvSpPr>
          <p:cNvPr id="4" name="Text 2"/>
          <p:cNvSpPr/>
          <p:nvPr/>
        </p:nvSpPr>
        <p:spPr>
          <a:xfrm>
            <a:off x="566928" y="2514600"/>
            <a:ext cx="8686800" cy="914400"/>
          </a:xfrm>
          <a:prstGeom prst="rect">
            <a:avLst/>
          </a:prstGeom>
          <a:noFill/>
          <a:ln/>
        </p:spPr>
        <p:txBody>
          <a:bodyPr wrap="square" lIns="0" tIns="0" rIns="0" bIns="0" rtlCol="0" anchor="ctr"/>
          <a:lstStyle/>
          <a:p>
            <a:pPr marL="0" indent="0">
              <a:buNone/>
            </a:pPr>
            <a:r>
              <a:rPr lang="en-US" sz="4400" b="1" dirty="0">
                <a:solidFill>
                  <a:srgbClr val="14161A"/>
                </a:solidFill>
                <a:latin typeface="Times New Roman" panose="02020603050405020304" pitchFamily="18" charset="0"/>
                <a:ea typeface="Georgia" pitchFamily="34" charset="-122"/>
                <a:cs typeface="Times New Roman" panose="02020603050405020304" pitchFamily="18" charset="0"/>
              </a:rPr>
              <a:t>The evolution</a:t>
            </a:r>
            <a:endParaRPr lang="en-US" sz="4400" dirty="0">
              <a:latin typeface="Times New Roman" panose="02020603050405020304" pitchFamily="18" charset="0"/>
              <a:cs typeface="Times New Roman" panose="02020603050405020304" pitchFamily="18" charset="0"/>
            </a:endParaRPr>
          </a:p>
        </p:txBody>
      </p:sp>
      <p:sp>
        <p:nvSpPr>
          <p:cNvPr id="5" name="Text 3"/>
          <p:cNvSpPr/>
          <p:nvPr/>
        </p:nvSpPr>
        <p:spPr>
          <a:xfrm>
            <a:off x="566928" y="3240960"/>
            <a:ext cx="8412480" cy="1097280"/>
          </a:xfrm>
          <a:prstGeom prst="rect">
            <a:avLst/>
          </a:prstGeom>
          <a:noFill/>
          <a:ln/>
        </p:spPr>
        <p:txBody>
          <a:bodyPr wrap="square" lIns="0" tIns="0" rIns="0" bIns="0" rtlCol="0" anchor="ctr"/>
          <a:lstStyle/>
          <a:p>
            <a:pPr marL="0" indent="0">
              <a:buNone/>
            </a:pPr>
            <a:r>
              <a:rPr lang="en-US" sz="1400" dirty="0">
                <a:solidFill>
                  <a:srgbClr val="4A5058"/>
                </a:solidFill>
                <a:latin typeface="Times New Roman" panose="02020603050405020304" pitchFamily="18" charset="0"/>
                <a:ea typeface="Calibri" pitchFamily="34" charset="-122"/>
                <a:cs typeface="Times New Roman" panose="02020603050405020304" pitchFamily="18" charset="0"/>
              </a:rPr>
              <a:t>Four eras, separated by three bottlenecks. Each bottleneck is stated by the paper that broke it — so the arc is evidenced from primary sources, not imposed in hindsight.</a:t>
            </a:r>
            <a:endParaRPr lang="en-US" sz="14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07</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§2 · THE VISUAL EVOLUTIONARY TIMELINE</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21792"/>
            <a:ext cx="11055096" cy="777240"/>
          </a:xfrm>
          <a:prstGeom prst="rect">
            <a:avLst/>
          </a:prstGeom>
          <a:noFill/>
          <a:ln/>
        </p:spPr>
        <p:txBody>
          <a:bodyPr wrap="square" lIns="0" tIns="0" rIns="0" bIns="0" rtlCol="0" anchor="t"/>
          <a:lstStyle/>
          <a:p>
            <a:pPr marL="0" indent="0">
              <a:buNone/>
            </a:pPr>
            <a:r>
              <a:rPr lang="en-US" sz="2800" b="1" dirty="0">
                <a:solidFill>
                  <a:srgbClr val="14161A"/>
                </a:solidFill>
                <a:latin typeface="Times New Roman" panose="02020603050405020304" pitchFamily="18" charset="0"/>
                <a:ea typeface="Georgia" pitchFamily="34" charset="-122"/>
                <a:cs typeface="Times New Roman" panose="02020603050405020304" pitchFamily="18" charset="0"/>
              </a:rPr>
              <a:t>Classical DIP → Early deep learning → Modern SOTA</a:t>
            </a:r>
            <a:endParaRPr lang="en-US" sz="2800" dirty="0">
              <a:latin typeface="Times New Roman" panose="02020603050405020304" pitchFamily="18" charset="0"/>
              <a:cs typeface="Times New Roman" panose="02020603050405020304" pitchFamily="18" charset="0"/>
            </a:endParaRPr>
          </a:p>
        </p:txBody>
      </p:sp>
      <p:sp>
        <p:nvSpPr>
          <p:cNvPr id="5" name="Shape 3"/>
          <p:cNvSpPr/>
          <p:nvPr/>
        </p:nvSpPr>
        <p:spPr>
          <a:xfrm>
            <a:off x="502920" y="3099816"/>
            <a:ext cx="3154680" cy="292608"/>
          </a:xfrm>
          <a:prstGeom prst="roundRect">
            <a:avLst>
              <a:gd name="adj" fmla="val 15625"/>
            </a:avLst>
          </a:prstGeom>
          <a:solidFill>
            <a:srgbClr val="6E6350">
              <a:alpha val="12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 name="Shape 4"/>
          <p:cNvSpPr/>
          <p:nvPr/>
        </p:nvSpPr>
        <p:spPr>
          <a:xfrm>
            <a:off x="4069080" y="3099816"/>
            <a:ext cx="1965960" cy="292608"/>
          </a:xfrm>
          <a:prstGeom prst="roundRect">
            <a:avLst>
              <a:gd name="adj" fmla="val 15625"/>
            </a:avLst>
          </a:prstGeom>
          <a:solidFill>
            <a:srgbClr val="1E5F7E">
              <a:alpha val="12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7" name="Shape 5"/>
          <p:cNvSpPr/>
          <p:nvPr/>
        </p:nvSpPr>
        <p:spPr>
          <a:xfrm>
            <a:off x="6858000" y="2185416"/>
            <a:ext cx="4800600" cy="292608"/>
          </a:xfrm>
          <a:prstGeom prst="roundRect">
            <a:avLst>
              <a:gd name="adj" fmla="val 15625"/>
            </a:avLst>
          </a:prstGeom>
          <a:solidFill>
            <a:srgbClr val="6D3F86">
              <a:alpha val="12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 name="Shape 6"/>
          <p:cNvSpPr/>
          <p:nvPr/>
        </p:nvSpPr>
        <p:spPr>
          <a:xfrm>
            <a:off x="6858000" y="4745736"/>
            <a:ext cx="4800600" cy="292608"/>
          </a:xfrm>
          <a:prstGeom prst="roundRect">
            <a:avLst>
              <a:gd name="adj" fmla="val 15625"/>
            </a:avLst>
          </a:prstGeom>
          <a:solidFill>
            <a:srgbClr val="6D3F86">
              <a:alpha val="12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9" name="Text 7"/>
          <p:cNvSpPr/>
          <p:nvPr/>
        </p:nvSpPr>
        <p:spPr>
          <a:xfrm>
            <a:off x="548640" y="2221992"/>
            <a:ext cx="3108960" cy="219456"/>
          </a:xfrm>
          <a:prstGeom prst="rect">
            <a:avLst/>
          </a:prstGeom>
          <a:noFill/>
          <a:ln/>
        </p:spPr>
        <p:txBody>
          <a:bodyPr wrap="square" lIns="0" tIns="0" rIns="0" bIns="0" rtlCol="0" anchor="ctr"/>
          <a:lstStyle/>
          <a:p>
            <a:pPr marL="0" indent="0" algn="ctr">
              <a:buNone/>
            </a:pPr>
            <a:r>
              <a:rPr lang="en-US" sz="900" kern="0" spc="120" dirty="0">
                <a:solidFill>
                  <a:srgbClr val="6E6350"/>
                </a:solidFill>
                <a:latin typeface="Times New Roman" panose="02020603050405020304" pitchFamily="18" charset="0"/>
                <a:ea typeface="Consolas" pitchFamily="34" charset="-122"/>
                <a:cs typeface="Times New Roman" panose="02020603050405020304" pitchFamily="18" charset="0"/>
              </a:rPr>
              <a:t>ERA I — CLASSICAL DIP</a:t>
            </a:r>
            <a:endParaRPr lang="en-US" sz="900" dirty="0">
              <a:latin typeface="Times New Roman" panose="02020603050405020304" pitchFamily="18" charset="0"/>
              <a:cs typeface="Times New Roman" panose="02020603050405020304" pitchFamily="18" charset="0"/>
            </a:endParaRPr>
          </a:p>
        </p:txBody>
      </p:sp>
      <p:sp>
        <p:nvSpPr>
          <p:cNvPr id="10" name="Text 8"/>
          <p:cNvSpPr/>
          <p:nvPr/>
        </p:nvSpPr>
        <p:spPr>
          <a:xfrm>
            <a:off x="3794760" y="2221992"/>
            <a:ext cx="3108960" cy="219456"/>
          </a:xfrm>
          <a:prstGeom prst="rect">
            <a:avLst/>
          </a:prstGeom>
          <a:noFill/>
          <a:ln/>
        </p:spPr>
        <p:txBody>
          <a:bodyPr wrap="square" lIns="0" tIns="0" rIns="0" bIns="0" rtlCol="0" anchor="ctr"/>
          <a:lstStyle/>
          <a:p>
            <a:pPr marL="0" indent="0">
              <a:buNone/>
            </a:pPr>
            <a:r>
              <a:rPr lang="en-US" sz="900" kern="0" spc="120" dirty="0">
                <a:solidFill>
                  <a:srgbClr val="1E5F7E"/>
                </a:solidFill>
                <a:latin typeface="Times New Roman" panose="02020603050405020304" pitchFamily="18" charset="0"/>
                <a:ea typeface="Consolas" pitchFamily="34" charset="-122"/>
                <a:cs typeface="Times New Roman" panose="02020603050405020304" pitchFamily="18" charset="0"/>
              </a:rPr>
              <a:t>ERA II — LEARNED, HAND-STRUCTURED</a:t>
            </a:r>
            <a:endParaRPr lang="en-US" sz="900" dirty="0">
              <a:latin typeface="Times New Roman" panose="02020603050405020304" pitchFamily="18" charset="0"/>
              <a:cs typeface="Times New Roman" panose="02020603050405020304" pitchFamily="18" charset="0"/>
            </a:endParaRPr>
          </a:p>
        </p:txBody>
      </p:sp>
      <p:sp>
        <p:nvSpPr>
          <p:cNvPr id="11" name="Text 9"/>
          <p:cNvSpPr/>
          <p:nvPr/>
        </p:nvSpPr>
        <p:spPr>
          <a:xfrm>
            <a:off x="6903720" y="1307592"/>
            <a:ext cx="4754880" cy="219456"/>
          </a:xfrm>
          <a:prstGeom prst="rect">
            <a:avLst/>
          </a:prstGeom>
          <a:noFill/>
          <a:ln/>
        </p:spPr>
        <p:txBody>
          <a:bodyPr wrap="square" lIns="0" tIns="0" rIns="0" bIns="0" rtlCol="0" anchor="ctr"/>
          <a:lstStyle/>
          <a:p>
            <a:pPr marL="0" indent="0" algn="ctr">
              <a:buNone/>
            </a:pPr>
            <a:r>
              <a:rPr lang="en-US" sz="900" kern="0" spc="120" dirty="0">
                <a:solidFill>
                  <a:srgbClr val="6D3F86"/>
                </a:solidFill>
                <a:latin typeface="Times New Roman" panose="02020603050405020304" pitchFamily="18" charset="0"/>
                <a:ea typeface="Consolas" pitchFamily="34" charset="-122"/>
                <a:cs typeface="Times New Roman" panose="02020603050405020304" pitchFamily="18" charset="0"/>
              </a:rPr>
              <a:t>ERA IV-B — ARCHITECTURE BRANCH</a:t>
            </a:r>
            <a:endParaRPr lang="en-US" sz="900" dirty="0">
              <a:latin typeface="Times New Roman" panose="02020603050405020304" pitchFamily="18" charset="0"/>
              <a:cs typeface="Times New Roman" panose="02020603050405020304" pitchFamily="18" charset="0"/>
            </a:endParaRPr>
          </a:p>
        </p:txBody>
      </p:sp>
      <p:sp>
        <p:nvSpPr>
          <p:cNvPr id="12" name="Text 10"/>
          <p:cNvSpPr/>
          <p:nvPr/>
        </p:nvSpPr>
        <p:spPr>
          <a:xfrm>
            <a:off x="6903720" y="4389120"/>
            <a:ext cx="4754880" cy="219456"/>
          </a:xfrm>
          <a:prstGeom prst="rect">
            <a:avLst/>
          </a:prstGeom>
          <a:noFill/>
          <a:ln/>
        </p:spPr>
        <p:txBody>
          <a:bodyPr wrap="square" lIns="0" tIns="0" rIns="0" bIns="0" rtlCol="0" anchor="ctr"/>
          <a:lstStyle/>
          <a:p>
            <a:pPr marL="0" indent="0" algn="ctr">
              <a:buNone/>
            </a:pPr>
            <a:r>
              <a:rPr lang="en-US" sz="900" kern="0" spc="120" dirty="0">
                <a:solidFill>
                  <a:srgbClr val="6D3F86"/>
                </a:solidFill>
                <a:latin typeface="Times New Roman" panose="02020603050405020304" pitchFamily="18" charset="0"/>
                <a:ea typeface="Consolas" pitchFamily="34" charset="-122"/>
                <a:cs typeface="Times New Roman" panose="02020603050405020304" pitchFamily="18" charset="0"/>
              </a:rPr>
              <a:t>ERA IV-A — DATA BRANCH</a:t>
            </a:r>
            <a:endParaRPr lang="en-US" sz="900" dirty="0">
              <a:latin typeface="Times New Roman" panose="02020603050405020304" pitchFamily="18" charset="0"/>
              <a:cs typeface="Times New Roman" panose="02020603050405020304" pitchFamily="18" charset="0"/>
            </a:endParaRPr>
          </a:p>
        </p:txBody>
      </p:sp>
      <p:sp>
        <p:nvSpPr>
          <p:cNvPr id="13" name="Shape 11"/>
          <p:cNvSpPr/>
          <p:nvPr/>
        </p:nvSpPr>
        <p:spPr>
          <a:xfrm>
            <a:off x="502920" y="3246120"/>
            <a:ext cx="5577840" cy="0"/>
          </a:xfrm>
          <a:prstGeom prst="line">
            <a:avLst/>
          </a:prstGeom>
          <a:noFill/>
          <a:ln w="15875">
            <a:solidFill>
              <a:srgbClr val="C9C4B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4" name="Shape 12"/>
          <p:cNvSpPr/>
          <p:nvPr/>
        </p:nvSpPr>
        <p:spPr>
          <a:xfrm flipV="1">
            <a:off x="6080760" y="2331720"/>
            <a:ext cx="777240" cy="914400"/>
          </a:xfrm>
          <a:prstGeom prst="line">
            <a:avLst/>
          </a:prstGeom>
          <a:noFill/>
          <a:ln w="15875">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15" name="Shape 13"/>
          <p:cNvSpPr/>
          <p:nvPr/>
        </p:nvSpPr>
        <p:spPr>
          <a:xfrm>
            <a:off x="6080760" y="3246120"/>
            <a:ext cx="777240" cy="1645920"/>
          </a:xfrm>
          <a:prstGeom prst="line">
            <a:avLst/>
          </a:prstGeom>
          <a:noFill/>
          <a:ln w="15875">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16" name="Shape 14"/>
          <p:cNvSpPr/>
          <p:nvPr/>
        </p:nvSpPr>
        <p:spPr>
          <a:xfrm>
            <a:off x="6858000" y="2331720"/>
            <a:ext cx="4800600" cy="0"/>
          </a:xfrm>
          <a:prstGeom prst="line">
            <a:avLst/>
          </a:prstGeom>
          <a:noFill/>
          <a:ln w="15875">
            <a:solidFill>
              <a:srgbClr val="C9C4B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7" name="Shape 15"/>
          <p:cNvSpPr/>
          <p:nvPr/>
        </p:nvSpPr>
        <p:spPr>
          <a:xfrm>
            <a:off x="6858000" y="4892040"/>
            <a:ext cx="4800600" cy="0"/>
          </a:xfrm>
          <a:prstGeom prst="line">
            <a:avLst/>
          </a:prstGeom>
          <a:noFill/>
          <a:ln w="15875">
            <a:solidFill>
              <a:srgbClr val="C9C4B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8" name="Shape 16"/>
          <p:cNvSpPr/>
          <p:nvPr/>
        </p:nvSpPr>
        <p:spPr>
          <a:xfrm>
            <a:off x="3776472" y="3163824"/>
            <a:ext cx="164592" cy="164592"/>
          </a:xfrm>
          <a:prstGeom prst="ellipse">
            <a:avLst/>
          </a:prstGeom>
          <a:solidFill>
            <a:srgbClr val="FFFFFF"/>
          </a:solidFill>
          <a:ln w="15875">
            <a:solidFill>
              <a:srgbClr val="A2442B"/>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9" name="Text 17"/>
          <p:cNvSpPr/>
          <p:nvPr/>
        </p:nvSpPr>
        <p:spPr>
          <a:xfrm>
            <a:off x="2944368" y="3499044"/>
            <a:ext cx="1828800" cy="182880"/>
          </a:xfrm>
          <a:prstGeom prst="rect">
            <a:avLst/>
          </a:prstGeom>
          <a:noFill/>
          <a:ln/>
        </p:spPr>
        <p:txBody>
          <a:bodyPr wrap="square" lIns="0" tIns="0" rIns="0" bIns="0" rtlCol="0" anchor="ctr"/>
          <a:lstStyle/>
          <a:p>
            <a:pPr marL="0" indent="0" algn="ctr">
              <a:buNone/>
            </a:pPr>
            <a:r>
              <a:rPr lang="en-US" sz="800" kern="0" spc="80" dirty="0">
                <a:solidFill>
                  <a:srgbClr val="A2442B"/>
                </a:solidFill>
                <a:latin typeface="Times New Roman" panose="02020603050405020304" pitchFamily="18" charset="0"/>
                <a:ea typeface="Consolas" pitchFamily="34" charset="-122"/>
                <a:cs typeface="Times New Roman" panose="02020603050405020304" pitchFamily="18" charset="0"/>
              </a:rPr>
              <a:t>BOTTLENECK 1</a:t>
            </a:r>
            <a:endParaRPr lang="en-US" sz="800" dirty="0">
              <a:latin typeface="Times New Roman" panose="02020603050405020304" pitchFamily="18" charset="0"/>
              <a:cs typeface="Times New Roman" panose="02020603050405020304" pitchFamily="18" charset="0"/>
            </a:endParaRPr>
          </a:p>
        </p:txBody>
      </p:sp>
      <p:sp>
        <p:nvSpPr>
          <p:cNvPr id="20" name="Text 18"/>
          <p:cNvSpPr/>
          <p:nvPr/>
        </p:nvSpPr>
        <p:spPr>
          <a:xfrm>
            <a:off x="2944368" y="3648456"/>
            <a:ext cx="1828800" cy="457200"/>
          </a:xfrm>
          <a:prstGeom prst="rect">
            <a:avLst/>
          </a:prstGeom>
          <a:noFill/>
          <a:ln/>
        </p:spPr>
        <p:txBody>
          <a:bodyPr wrap="square" lIns="0" tIns="0" rIns="0" bIns="0" rtlCol="0" anchor="ct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priors written by hand;</a:t>
            </a:r>
            <a:endParaRPr lang="en-US" sz="900" dirty="0">
              <a:latin typeface="Times New Roman" panose="02020603050405020304" pitchFamily="18" charset="0"/>
              <a:cs typeface="Times New Roman" panose="02020603050405020304" pitchFamily="18" charset="0"/>
            </a:endParaRPr>
          </a:p>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re-optimised per image</a:t>
            </a:r>
            <a:endParaRPr lang="en-US" sz="900" dirty="0">
              <a:latin typeface="Times New Roman" panose="02020603050405020304" pitchFamily="18" charset="0"/>
              <a:cs typeface="Times New Roman" panose="02020603050405020304" pitchFamily="18" charset="0"/>
            </a:endParaRPr>
          </a:p>
        </p:txBody>
      </p:sp>
      <p:sp>
        <p:nvSpPr>
          <p:cNvPr id="21" name="Shape 19"/>
          <p:cNvSpPr/>
          <p:nvPr/>
        </p:nvSpPr>
        <p:spPr>
          <a:xfrm>
            <a:off x="6007608" y="3163824"/>
            <a:ext cx="164592" cy="164592"/>
          </a:xfrm>
          <a:prstGeom prst="ellipse">
            <a:avLst/>
          </a:prstGeom>
          <a:solidFill>
            <a:srgbClr val="FFFFFF"/>
          </a:solidFill>
          <a:ln w="15875">
            <a:solidFill>
              <a:srgbClr val="A2442B"/>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22" name="Shape 20"/>
          <p:cNvSpPr/>
          <p:nvPr/>
        </p:nvSpPr>
        <p:spPr>
          <a:xfrm>
            <a:off x="6172200" y="3291840"/>
            <a:ext cx="960120" cy="292608"/>
          </a:xfrm>
          <a:prstGeom prst="line">
            <a:avLst/>
          </a:prstGeom>
          <a:noFill/>
          <a:ln w="7620">
            <a:solidFill>
              <a:srgbClr val="A2442B"/>
            </a:solidFill>
            <a:prstDash val="dash"/>
          </a:ln>
        </p:spPr>
        <p:txBody>
          <a:bodyPr/>
          <a:lstStyle/>
          <a:p>
            <a:endParaRPr lang="en-GB" sz="2000">
              <a:latin typeface="Times New Roman" panose="02020603050405020304" pitchFamily="18" charset="0"/>
              <a:cs typeface="Times New Roman" panose="02020603050405020304" pitchFamily="18" charset="0"/>
            </a:endParaRPr>
          </a:p>
        </p:txBody>
      </p:sp>
      <p:sp>
        <p:nvSpPr>
          <p:cNvPr id="23" name="Text 21"/>
          <p:cNvSpPr/>
          <p:nvPr/>
        </p:nvSpPr>
        <p:spPr>
          <a:xfrm>
            <a:off x="7150608" y="3560078"/>
            <a:ext cx="2743200" cy="182880"/>
          </a:xfrm>
          <a:prstGeom prst="rect">
            <a:avLst/>
          </a:prstGeom>
          <a:noFill/>
          <a:ln/>
        </p:spPr>
        <p:txBody>
          <a:bodyPr wrap="square" lIns="0" tIns="0" rIns="0" bIns="0" rtlCol="0" anchor="ctr"/>
          <a:lstStyle/>
          <a:p>
            <a:pPr marL="0" indent="0">
              <a:buNone/>
            </a:pPr>
            <a:r>
              <a:rPr lang="en-US" sz="800" kern="0" spc="80" dirty="0">
                <a:solidFill>
                  <a:srgbClr val="A2442B"/>
                </a:solidFill>
                <a:latin typeface="Times New Roman" panose="02020603050405020304" pitchFamily="18" charset="0"/>
                <a:ea typeface="Consolas" pitchFamily="34" charset="-122"/>
                <a:cs typeface="Times New Roman" panose="02020603050405020304" pitchFamily="18" charset="0"/>
              </a:rPr>
              <a:t>BOTTLENECKS 2 &amp; 3</a:t>
            </a:r>
            <a:endParaRPr lang="en-US" sz="800" dirty="0">
              <a:latin typeface="Times New Roman" panose="02020603050405020304" pitchFamily="18" charset="0"/>
              <a:cs typeface="Times New Roman" panose="02020603050405020304" pitchFamily="18" charset="0"/>
            </a:endParaRPr>
          </a:p>
        </p:txBody>
      </p:sp>
      <p:sp>
        <p:nvSpPr>
          <p:cNvPr id="24" name="Text 22"/>
          <p:cNvSpPr/>
          <p:nvPr/>
        </p:nvSpPr>
        <p:spPr>
          <a:xfrm>
            <a:off x="7150608" y="3648456"/>
            <a:ext cx="3291840" cy="457200"/>
          </a:xfrm>
          <a:prstGeom prst="rect">
            <a:avLst/>
          </a:prstGeom>
          <a:noFill/>
          <a:ln/>
        </p:spPr>
        <p:txBody>
          <a:bodyPr wrap="square" lIns="0" tIns="0" rIns="0" bIns="0" rtlCol="0" anchor="ctr"/>
          <a:lstStyle/>
          <a:p>
            <a:pPr marL="0" indent="0">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clean-pair data requirement → down branch</a:t>
            </a:r>
            <a:endParaRPr lang="en-US" sz="900" dirty="0">
              <a:latin typeface="Times New Roman" panose="02020603050405020304" pitchFamily="18" charset="0"/>
              <a:cs typeface="Times New Roman" panose="02020603050405020304" pitchFamily="18" charset="0"/>
            </a:endParaRPr>
          </a:p>
          <a:p>
            <a:pPr marL="0" indent="0">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limited receptive field → up branch</a:t>
            </a:r>
            <a:endParaRPr lang="en-US" sz="900" dirty="0">
              <a:latin typeface="Times New Roman" panose="02020603050405020304" pitchFamily="18" charset="0"/>
              <a:cs typeface="Times New Roman" panose="02020603050405020304" pitchFamily="18" charset="0"/>
            </a:endParaRPr>
          </a:p>
        </p:txBody>
      </p:sp>
      <p:sp>
        <p:nvSpPr>
          <p:cNvPr id="25" name="Shape 23"/>
          <p:cNvSpPr/>
          <p:nvPr/>
        </p:nvSpPr>
        <p:spPr>
          <a:xfrm>
            <a:off x="800100" y="3177540"/>
            <a:ext cx="137160" cy="137160"/>
          </a:xfrm>
          <a:prstGeom prst="ellipse">
            <a:avLst/>
          </a:prstGeom>
          <a:solidFill>
            <a:srgbClr val="6E6350"/>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26" name="Text 24"/>
          <p:cNvSpPr/>
          <p:nvPr/>
        </p:nvSpPr>
        <p:spPr>
          <a:xfrm>
            <a:off x="0" y="2587752"/>
            <a:ext cx="1737360" cy="219456"/>
          </a:xfrm>
          <a:prstGeom prst="rect">
            <a:avLst/>
          </a:prstGeom>
          <a:noFill/>
          <a:ln/>
        </p:spPr>
        <p:txBody>
          <a:bodyPr wrap="square" lIns="0" tIns="0" rIns="0" bIns="0" rtlCol="0" anchor="ctr"/>
          <a:lstStyle/>
          <a:p>
            <a:pPr marL="0" indent="0" algn="ctr">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BM3D</a:t>
            </a:r>
            <a:endParaRPr lang="en-US" sz="1100" dirty="0">
              <a:latin typeface="Times New Roman" panose="02020603050405020304" pitchFamily="18" charset="0"/>
              <a:cs typeface="Times New Roman" panose="02020603050405020304" pitchFamily="18" charset="0"/>
            </a:endParaRPr>
          </a:p>
        </p:txBody>
      </p:sp>
      <p:sp>
        <p:nvSpPr>
          <p:cNvPr id="27" name="Text 25"/>
          <p:cNvSpPr/>
          <p:nvPr/>
        </p:nvSpPr>
        <p:spPr>
          <a:xfrm>
            <a:off x="0" y="27889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2007 · IEEE TIP</a:t>
            </a:r>
            <a:endParaRPr lang="en-US" sz="800" dirty="0">
              <a:latin typeface="Times New Roman" panose="02020603050405020304" pitchFamily="18" charset="0"/>
              <a:cs typeface="Times New Roman" panose="02020603050405020304" pitchFamily="18" charset="0"/>
            </a:endParaRPr>
          </a:p>
        </p:txBody>
      </p:sp>
      <p:sp>
        <p:nvSpPr>
          <p:cNvPr id="28" name="Shape 26"/>
          <p:cNvSpPr/>
          <p:nvPr/>
        </p:nvSpPr>
        <p:spPr>
          <a:xfrm>
            <a:off x="868680" y="3008376"/>
            <a:ext cx="0" cy="169164"/>
          </a:xfrm>
          <a:prstGeom prst="line">
            <a:avLst/>
          </a:prstGeom>
          <a:noFill/>
          <a:ln w="9525">
            <a:solidFill>
              <a:srgbClr val="6E6350"/>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29" name="Shape 27"/>
          <p:cNvSpPr/>
          <p:nvPr/>
        </p:nvSpPr>
        <p:spPr>
          <a:xfrm>
            <a:off x="2811780" y="3177540"/>
            <a:ext cx="137160" cy="137160"/>
          </a:xfrm>
          <a:prstGeom prst="ellipse">
            <a:avLst/>
          </a:prstGeom>
          <a:solidFill>
            <a:srgbClr val="6E6350"/>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30" name="Text 28"/>
          <p:cNvSpPr/>
          <p:nvPr/>
        </p:nvSpPr>
        <p:spPr>
          <a:xfrm>
            <a:off x="2011680" y="2587752"/>
            <a:ext cx="1737360" cy="219456"/>
          </a:xfrm>
          <a:prstGeom prst="rect">
            <a:avLst/>
          </a:prstGeom>
          <a:noFill/>
          <a:ln/>
        </p:spPr>
        <p:txBody>
          <a:bodyPr wrap="square" lIns="0" tIns="0" rIns="0" bIns="0" rtlCol="0" anchor="ctr"/>
          <a:lstStyle/>
          <a:p>
            <a:pPr marL="0" indent="0" algn="ctr">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WNNM</a:t>
            </a:r>
            <a:endParaRPr lang="en-US" sz="1100" dirty="0">
              <a:latin typeface="Times New Roman" panose="02020603050405020304" pitchFamily="18" charset="0"/>
              <a:cs typeface="Times New Roman" panose="02020603050405020304" pitchFamily="18" charset="0"/>
            </a:endParaRPr>
          </a:p>
        </p:txBody>
      </p:sp>
      <p:sp>
        <p:nvSpPr>
          <p:cNvPr id="31" name="Text 29"/>
          <p:cNvSpPr/>
          <p:nvPr/>
        </p:nvSpPr>
        <p:spPr>
          <a:xfrm>
            <a:off x="2011680" y="27889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2014 · CVPR</a:t>
            </a:r>
            <a:endParaRPr lang="en-US" sz="800" dirty="0">
              <a:latin typeface="Times New Roman" panose="02020603050405020304" pitchFamily="18" charset="0"/>
              <a:cs typeface="Times New Roman" panose="02020603050405020304" pitchFamily="18" charset="0"/>
            </a:endParaRPr>
          </a:p>
        </p:txBody>
      </p:sp>
      <p:sp>
        <p:nvSpPr>
          <p:cNvPr id="32" name="Shape 30"/>
          <p:cNvSpPr/>
          <p:nvPr/>
        </p:nvSpPr>
        <p:spPr>
          <a:xfrm>
            <a:off x="2880360" y="3008376"/>
            <a:ext cx="0" cy="169164"/>
          </a:xfrm>
          <a:prstGeom prst="line">
            <a:avLst/>
          </a:prstGeom>
          <a:noFill/>
          <a:ln w="9525">
            <a:solidFill>
              <a:srgbClr val="6E6350"/>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33" name="Shape 31"/>
          <p:cNvSpPr/>
          <p:nvPr/>
        </p:nvSpPr>
        <p:spPr>
          <a:xfrm>
            <a:off x="4457700" y="3177540"/>
            <a:ext cx="137160" cy="137160"/>
          </a:xfrm>
          <a:prstGeom prst="ellipse">
            <a:avLst/>
          </a:prstGeom>
          <a:solidFill>
            <a:srgbClr val="1E5F7E"/>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34" name="Text 32"/>
          <p:cNvSpPr/>
          <p:nvPr/>
        </p:nvSpPr>
        <p:spPr>
          <a:xfrm>
            <a:off x="3657600" y="2587752"/>
            <a:ext cx="1737360" cy="219456"/>
          </a:xfrm>
          <a:prstGeom prst="rect">
            <a:avLst/>
          </a:prstGeom>
          <a:noFill/>
          <a:ln/>
        </p:spPr>
        <p:txBody>
          <a:bodyPr wrap="square" lIns="0" tIns="0" rIns="0" bIns="0" rtlCol="0" anchor="ctr"/>
          <a:lstStyle/>
          <a:p>
            <a:pPr marL="0" indent="0" algn="ctr">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TNRD</a:t>
            </a:r>
            <a:endParaRPr lang="en-US" sz="1100" dirty="0">
              <a:latin typeface="Times New Roman" panose="02020603050405020304" pitchFamily="18" charset="0"/>
              <a:cs typeface="Times New Roman" panose="02020603050405020304" pitchFamily="18" charset="0"/>
            </a:endParaRPr>
          </a:p>
        </p:txBody>
      </p:sp>
      <p:sp>
        <p:nvSpPr>
          <p:cNvPr id="35" name="Text 33"/>
          <p:cNvSpPr/>
          <p:nvPr/>
        </p:nvSpPr>
        <p:spPr>
          <a:xfrm>
            <a:off x="3657600" y="27889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2017 · TPAMI</a:t>
            </a:r>
            <a:endParaRPr lang="en-US" sz="800" dirty="0">
              <a:latin typeface="Times New Roman" panose="02020603050405020304" pitchFamily="18" charset="0"/>
              <a:cs typeface="Times New Roman" panose="02020603050405020304" pitchFamily="18" charset="0"/>
            </a:endParaRPr>
          </a:p>
        </p:txBody>
      </p:sp>
      <p:sp>
        <p:nvSpPr>
          <p:cNvPr id="36" name="Shape 34"/>
          <p:cNvSpPr/>
          <p:nvPr/>
        </p:nvSpPr>
        <p:spPr>
          <a:xfrm>
            <a:off x="4526280" y="3008376"/>
            <a:ext cx="0" cy="169164"/>
          </a:xfrm>
          <a:prstGeom prst="line">
            <a:avLst/>
          </a:prstGeom>
          <a:noFill/>
          <a:ln w="9525">
            <a:solidFill>
              <a:srgbClr val="1E5F7E"/>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37" name="Shape 35"/>
          <p:cNvSpPr/>
          <p:nvPr/>
        </p:nvSpPr>
        <p:spPr>
          <a:xfrm>
            <a:off x="5532120" y="3154680"/>
            <a:ext cx="182880" cy="182880"/>
          </a:xfrm>
          <a:prstGeom prst="ellipse">
            <a:avLst/>
          </a:prstGeom>
          <a:solidFill>
            <a:srgbClr val="1E5F7E"/>
          </a:solidFill>
          <a:ln w="19050">
            <a:solidFill>
              <a:srgbClr val="FFFFFF"/>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38" name="Text 36"/>
          <p:cNvSpPr/>
          <p:nvPr/>
        </p:nvSpPr>
        <p:spPr>
          <a:xfrm>
            <a:off x="4754880" y="2587752"/>
            <a:ext cx="1737360" cy="219456"/>
          </a:xfrm>
          <a:prstGeom prst="rect">
            <a:avLst/>
          </a:prstGeom>
          <a:noFill/>
          <a:ln/>
        </p:spPr>
        <p:txBody>
          <a:bodyPr wrap="square" lIns="0" tIns="0" rIns="0" bIns="0" rtlCol="0" anchor="ctr"/>
          <a:lstStyle/>
          <a:p>
            <a:pPr marL="0" indent="0" algn="ctr">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DnCNN</a:t>
            </a:r>
            <a:endParaRPr lang="en-US" sz="1100" dirty="0">
              <a:latin typeface="Times New Roman" panose="02020603050405020304" pitchFamily="18" charset="0"/>
              <a:cs typeface="Times New Roman" panose="02020603050405020304" pitchFamily="18" charset="0"/>
            </a:endParaRPr>
          </a:p>
        </p:txBody>
      </p:sp>
      <p:sp>
        <p:nvSpPr>
          <p:cNvPr id="39" name="Text 37"/>
          <p:cNvSpPr/>
          <p:nvPr/>
        </p:nvSpPr>
        <p:spPr>
          <a:xfrm>
            <a:off x="4754880" y="27889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2017 · ANCHOR</a:t>
            </a:r>
            <a:endParaRPr lang="en-US" sz="800" dirty="0">
              <a:latin typeface="Times New Roman" panose="02020603050405020304" pitchFamily="18" charset="0"/>
              <a:cs typeface="Times New Roman" panose="02020603050405020304" pitchFamily="18" charset="0"/>
            </a:endParaRPr>
          </a:p>
        </p:txBody>
      </p:sp>
      <p:sp>
        <p:nvSpPr>
          <p:cNvPr id="40" name="Shape 38"/>
          <p:cNvSpPr/>
          <p:nvPr/>
        </p:nvSpPr>
        <p:spPr>
          <a:xfrm>
            <a:off x="5623560" y="3008376"/>
            <a:ext cx="0" cy="146304"/>
          </a:xfrm>
          <a:prstGeom prst="line">
            <a:avLst/>
          </a:prstGeom>
          <a:noFill/>
          <a:ln w="9525">
            <a:solidFill>
              <a:srgbClr val="1E5F7E"/>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41" name="Shape 39"/>
          <p:cNvSpPr/>
          <p:nvPr/>
        </p:nvSpPr>
        <p:spPr>
          <a:xfrm>
            <a:off x="7383780" y="226314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42" name="Text 40"/>
          <p:cNvSpPr/>
          <p:nvPr/>
        </p:nvSpPr>
        <p:spPr>
          <a:xfrm>
            <a:off x="6583680" y="1673352"/>
            <a:ext cx="1737360" cy="219456"/>
          </a:xfrm>
          <a:prstGeom prst="rect">
            <a:avLst/>
          </a:prstGeom>
          <a:noFill/>
          <a:ln/>
        </p:spPr>
        <p:txBody>
          <a:bodyPr wrap="square" lIns="0" tIns="0" rIns="0" bIns="0" rtlCol="0" anchor="ctr"/>
          <a:lstStyle/>
          <a:p>
            <a:pPr marL="0" indent="0" algn="ctr">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Restormer</a:t>
            </a:r>
            <a:endParaRPr lang="en-US" sz="1100" dirty="0">
              <a:latin typeface="Times New Roman" panose="02020603050405020304" pitchFamily="18" charset="0"/>
              <a:cs typeface="Times New Roman" panose="02020603050405020304" pitchFamily="18" charset="0"/>
            </a:endParaRPr>
          </a:p>
        </p:txBody>
      </p:sp>
      <p:sp>
        <p:nvSpPr>
          <p:cNvPr id="43" name="Text 41"/>
          <p:cNvSpPr/>
          <p:nvPr/>
        </p:nvSpPr>
        <p:spPr>
          <a:xfrm>
            <a:off x="6583680" y="18745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2022 · CVPR</a:t>
            </a:r>
            <a:endParaRPr lang="en-US" sz="800" dirty="0">
              <a:latin typeface="Times New Roman" panose="02020603050405020304" pitchFamily="18" charset="0"/>
              <a:cs typeface="Times New Roman" panose="02020603050405020304" pitchFamily="18" charset="0"/>
            </a:endParaRPr>
          </a:p>
        </p:txBody>
      </p:sp>
      <p:sp>
        <p:nvSpPr>
          <p:cNvPr id="44" name="Shape 42"/>
          <p:cNvSpPr/>
          <p:nvPr/>
        </p:nvSpPr>
        <p:spPr>
          <a:xfrm>
            <a:off x="7452360" y="2093976"/>
            <a:ext cx="0" cy="16916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45" name="Shape 43"/>
          <p:cNvSpPr/>
          <p:nvPr/>
        </p:nvSpPr>
        <p:spPr>
          <a:xfrm>
            <a:off x="8846820" y="226314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46" name="Text 44"/>
          <p:cNvSpPr/>
          <p:nvPr/>
        </p:nvSpPr>
        <p:spPr>
          <a:xfrm>
            <a:off x="8046720" y="1673352"/>
            <a:ext cx="1737360" cy="219456"/>
          </a:xfrm>
          <a:prstGeom prst="rect">
            <a:avLst/>
          </a:prstGeom>
          <a:noFill/>
          <a:ln/>
        </p:spPr>
        <p:txBody>
          <a:bodyPr wrap="square" lIns="0" tIns="0" rIns="0" bIns="0" rtlCol="0" anchor="ctr"/>
          <a:lstStyle/>
          <a:p>
            <a:pPr marL="0" indent="0" algn="ctr">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NAFNet</a:t>
            </a:r>
            <a:endParaRPr lang="en-US" sz="1100" dirty="0">
              <a:latin typeface="Times New Roman" panose="02020603050405020304" pitchFamily="18" charset="0"/>
              <a:cs typeface="Times New Roman" panose="02020603050405020304" pitchFamily="18" charset="0"/>
            </a:endParaRPr>
          </a:p>
        </p:txBody>
      </p:sp>
      <p:sp>
        <p:nvSpPr>
          <p:cNvPr id="47" name="Text 45"/>
          <p:cNvSpPr/>
          <p:nvPr/>
        </p:nvSpPr>
        <p:spPr>
          <a:xfrm>
            <a:off x="8046720" y="18745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2022 · ECCV</a:t>
            </a:r>
            <a:endParaRPr lang="en-US" sz="800" dirty="0">
              <a:latin typeface="Times New Roman" panose="02020603050405020304" pitchFamily="18" charset="0"/>
              <a:cs typeface="Times New Roman" panose="02020603050405020304" pitchFamily="18" charset="0"/>
            </a:endParaRPr>
          </a:p>
        </p:txBody>
      </p:sp>
      <p:sp>
        <p:nvSpPr>
          <p:cNvPr id="48" name="Shape 46"/>
          <p:cNvSpPr/>
          <p:nvPr/>
        </p:nvSpPr>
        <p:spPr>
          <a:xfrm>
            <a:off x="8915400" y="2093976"/>
            <a:ext cx="0" cy="16916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49" name="Shape 47"/>
          <p:cNvSpPr/>
          <p:nvPr/>
        </p:nvSpPr>
        <p:spPr>
          <a:xfrm>
            <a:off x="10081260" y="226314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50" name="Text 48"/>
          <p:cNvSpPr/>
          <p:nvPr/>
        </p:nvSpPr>
        <p:spPr>
          <a:xfrm>
            <a:off x="9281160" y="2642616"/>
            <a:ext cx="1737360" cy="219456"/>
          </a:xfrm>
          <a:prstGeom prst="rect">
            <a:avLst/>
          </a:prstGeom>
          <a:noFill/>
          <a:ln/>
        </p:spPr>
        <p:txBody>
          <a:bodyPr wrap="square" lIns="0" tIns="0" rIns="0" bIns="0" rtlCol="0" anchor="ctr"/>
          <a:lstStyle/>
          <a:p>
            <a:pPr marL="0" indent="0" algn="ctr">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SCUNet</a:t>
            </a:r>
            <a:endParaRPr lang="en-US" sz="1100" dirty="0">
              <a:latin typeface="Times New Roman" panose="02020603050405020304" pitchFamily="18" charset="0"/>
              <a:cs typeface="Times New Roman" panose="02020603050405020304" pitchFamily="18" charset="0"/>
            </a:endParaRPr>
          </a:p>
        </p:txBody>
      </p:sp>
      <p:sp>
        <p:nvSpPr>
          <p:cNvPr id="51" name="Text 49"/>
          <p:cNvSpPr/>
          <p:nvPr/>
        </p:nvSpPr>
        <p:spPr>
          <a:xfrm>
            <a:off x="9281160" y="2843784"/>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2023 · MIR</a:t>
            </a:r>
            <a:endParaRPr lang="en-US" sz="800" dirty="0">
              <a:latin typeface="Times New Roman" panose="02020603050405020304" pitchFamily="18" charset="0"/>
              <a:cs typeface="Times New Roman" panose="02020603050405020304" pitchFamily="18" charset="0"/>
            </a:endParaRPr>
          </a:p>
        </p:txBody>
      </p:sp>
      <p:sp>
        <p:nvSpPr>
          <p:cNvPr id="52" name="Shape 50"/>
          <p:cNvSpPr/>
          <p:nvPr/>
        </p:nvSpPr>
        <p:spPr>
          <a:xfrm>
            <a:off x="10149840" y="2404872"/>
            <a:ext cx="0" cy="23774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53" name="Shape 51"/>
          <p:cNvSpPr/>
          <p:nvPr/>
        </p:nvSpPr>
        <p:spPr>
          <a:xfrm>
            <a:off x="11224260" y="226314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54" name="Text 52"/>
          <p:cNvSpPr/>
          <p:nvPr/>
        </p:nvSpPr>
        <p:spPr>
          <a:xfrm>
            <a:off x="10424160" y="1673352"/>
            <a:ext cx="1737360" cy="219456"/>
          </a:xfrm>
          <a:prstGeom prst="rect">
            <a:avLst/>
          </a:prstGeom>
          <a:noFill/>
          <a:ln/>
        </p:spPr>
        <p:txBody>
          <a:bodyPr wrap="square" lIns="0" tIns="0" rIns="0" bIns="0" rtlCol="0" anchor="ctr"/>
          <a:lstStyle/>
          <a:p>
            <a:pPr marL="0" indent="0" algn="ctr">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MambaIR</a:t>
            </a:r>
            <a:endParaRPr lang="en-US" sz="1100" dirty="0">
              <a:latin typeface="Times New Roman" panose="02020603050405020304" pitchFamily="18" charset="0"/>
              <a:cs typeface="Times New Roman" panose="02020603050405020304" pitchFamily="18" charset="0"/>
            </a:endParaRPr>
          </a:p>
        </p:txBody>
      </p:sp>
      <p:sp>
        <p:nvSpPr>
          <p:cNvPr id="55" name="Text 53"/>
          <p:cNvSpPr/>
          <p:nvPr/>
        </p:nvSpPr>
        <p:spPr>
          <a:xfrm>
            <a:off x="10424160" y="1874520"/>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2024 · ECCV</a:t>
            </a:r>
            <a:endParaRPr lang="en-US" sz="800" dirty="0">
              <a:latin typeface="Times New Roman" panose="02020603050405020304" pitchFamily="18" charset="0"/>
              <a:cs typeface="Times New Roman" panose="02020603050405020304" pitchFamily="18" charset="0"/>
            </a:endParaRPr>
          </a:p>
        </p:txBody>
      </p:sp>
      <p:sp>
        <p:nvSpPr>
          <p:cNvPr id="56" name="Shape 54"/>
          <p:cNvSpPr/>
          <p:nvPr/>
        </p:nvSpPr>
        <p:spPr>
          <a:xfrm>
            <a:off x="11292840" y="2093976"/>
            <a:ext cx="0" cy="16916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57" name="Shape 55"/>
          <p:cNvSpPr/>
          <p:nvPr/>
        </p:nvSpPr>
        <p:spPr>
          <a:xfrm>
            <a:off x="7566660" y="482346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58" name="Text 56"/>
          <p:cNvSpPr/>
          <p:nvPr/>
        </p:nvSpPr>
        <p:spPr>
          <a:xfrm>
            <a:off x="6766560" y="5202936"/>
            <a:ext cx="1737360" cy="219456"/>
          </a:xfrm>
          <a:prstGeom prst="rect">
            <a:avLst/>
          </a:prstGeom>
          <a:noFill/>
          <a:ln/>
        </p:spPr>
        <p:txBody>
          <a:bodyPr wrap="square" lIns="0" tIns="0" rIns="0" bIns="0" rtlCol="0" anchor="ctr"/>
          <a:lstStyle/>
          <a:p>
            <a:pPr marL="0" indent="0" algn="ctr">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Noise2Noise</a:t>
            </a:r>
            <a:endParaRPr lang="en-US" sz="1100" dirty="0">
              <a:latin typeface="Times New Roman" panose="02020603050405020304" pitchFamily="18" charset="0"/>
              <a:cs typeface="Times New Roman" panose="02020603050405020304" pitchFamily="18" charset="0"/>
            </a:endParaRPr>
          </a:p>
        </p:txBody>
      </p:sp>
      <p:sp>
        <p:nvSpPr>
          <p:cNvPr id="59" name="Text 57"/>
          <p:cNvSpPr/>
          <p:nvPr/>
        </p:nvSpPr>
        <p:spPr>
          <a:xfrm>
            <a:off x="6766560" y="5404104"/>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2018 · ICML</a:t>
            </a:r>
            <a:endParaRPr lang="en-US" sz="800" dirty="0">
              <a:latin typeface="Times New Roman" panose="02020603050405020304" pitchFamily="18" charset="0"/>
              <a:cs typeface="Times New Roman" panose="02020603050405020304" pitchFamily="18" charset="0"/>
            </a:endParaRPr>
          </a:p>
        </p:txBody>
      </p:sp>
      <p:sp>
        <p:nvSpPr>
          <p:cNvPr id="60" name="Shape 58"/>
          <p:cNvSpPr/>
          <p:nvPr/>
        </p:nvSpPr>
        <p:spPr>
          <a:xfrm>
            <a:off x="7635240" y="4965192"/>
            <a:ext cx="0" cy="23774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1" name="Shape 59"/>
          <p:cNvSpPr/>
          <p:nvPr/>
        </p:nvSpPr>
        <p:spPr>
          <a:xfrm>
            <a:off x="9212580" y="482346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2" name="Text 60"/>
          <p:cNvSpPr/>
          <p:nvPr/>
        </p:nvSpPr>
        <p:spPr>
          <a:xfrm>
            <a:off x="8412480" y="5202936"/>
            <a:ext cx="1737360" cy="219456"/>
          </a:xfrm>
          <a:prstGeom prst="rect">
            <a:avLst/>
          </a:prstGeom>
          <a:noFill/>
          <a:ln/>
        </p:spPr>
        <p:txBody>
          <a:bodyPr wrap="square" lIns="0" tIns="0" rIns="0" bIns="0" rtlCol="0" anchor="ctr"/>
          <a:lstStyle/>
          <a:p>
            <a:pPr marL="0" indent="0" algn="ctr">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Noise2Void</a:t>
            </a:r>
            <a:endParaRPr lang="en-US" sz="1100" dirty="0">
              <a:latin typeface="Times New Roman" panose="02020603050405020304" pitchFamily="18" charset="0"/>
              <a:cs typeface="Times New Roman" panose="02020603050405020304" pitchFamily="18" charset="0"/>
            </a:endParaRPr>
          </a:p>
        </p:txBody>
      </p:sp>
      <p:sp>
        <p:nvSpPr>
          <p:cNvPr id="63" name="Text 61"/>
          <p:cNvSpPr/>
          <p:nvPr/>
        </p:nvSpPr>
        <p:spPr>
          <a:xfrm>
            <a:off x="8412480" y="5404104"/>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2019 · CVPR</a:t>
            </a:r>
            <a:endParaRPr lang="en-US" sz="800" dirty="0">
              <a:latin typeface="Times New Roman" panose="02020603050405020304" pitchFamily="18" charset="0"/>
              <a:cs typeface="Times New Roman" panose="02020603050405020304" pitchFamily="18" charset="0"/>
            </a:endParaRPr>
          </a:p>
        </p:txBody>
      </p:sp>
      <p:sp>
        <p:nvSpPr>
          <p:cNvPr id="64" name="Shape 62"/>
          <p:cNvSpPr/>
          <p:nvPr/>
        </p:nvSpPr>
        <p:spPr>
          <a:xfrm>
            <a:off x="9281160" y="4965192"/>
            <a:ext cx="0" cy="23774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5" name="Shape 63"/>
          <p:cNvSpPr/>
          <p:nvPr/>
        </p:nvSpPr>
        <p:spPr>
          <a:xfrm>
            <a:off x="10995660" y="4823460"/>
            <a:ext cx="137160" cy="137160"/>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6" name="Text 64"/>
          <p:cNvSpPr/>
          <p:nvPr/>
        </p:nvSpPr>
        <p:spPr>
          <a:xfrm>
            <a:off x="10195560" y="5202936"/>
            <a:ext cx="1737360" cy="219456"/>
          </a:xfrm>
          <a:prstGeom prst="rect">
            <a:avLst/>
          </a:prstGeom>
          <a:noFill/>
          <a:ln/>
        </p:spPr>
        <p:txBody>
          <a:bodyPr wrap="square" lIns="0" tIns="0" rIns="0" bIns="0" rtlCol="0" anchor="ctr"/>
          <a:lstStyle/>
          <a:p>
            <a:pPr marL="0" indent="0" algn="ctr">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ZS-N2N</a:t>
            </a:r>
            <a:endParaRPr lang="en-US" sz="1100" dirty="0">
              <a:latin typeface="Times New Roman" panose="02020603050405020304" pitchFamily="18" charset="0"/>
              <a:cs typeface="Times New Roman" panose="02020603050405020304" pitchFamily="18" charset="0"/>
            </a:endParaRPr>
          </a:p>
        </p:txBody>
      </p:sp>
      <p:sp>
        <p:nvSpPr>
          <p:cNvPr id="67" name="Text 65"/>
          <p:cNvSpPr/>
          <p:nvPr/>
        </p:nvSpPr>
        <p:spPr>
          <a:xfrm>
            <a:off x="10195560" y="5404104"/>
            <a:ext cx="1737360" cy="201168"/>
          </a:xfrm>
          <a:prstGeom prst="rect">
            <a:avLst/>
          </a:prstGeom>
          <a:noFill/>
          <a:ln/>
        </p:spPr>
        <p:txBody>
          <a:bodyPr wrap="square" lIns="0" tIns="0" rIns="0" bIns="0" rtlCol="0" anchor="ctr"/>
          <a:lstStyle/>
          <a:p>
            <a:pPr marL="0" indent="0" algn="ctr">
              <a:buNone/>
            </a:pPr>
            <a:r>
              <a:rPr lang="en-US" sz="800" dirty="0">
                <a:solidFill>
                  <a:srgbClr val="828A94"/>
                </a:solidFill>
                <a:latin typeface="Times New Roman" panose="02020603050405020304" pitchFamily="18" charset="0"/>
                <a:ea typeface="Consolas" pitchFamily="34" charset="-122"/>
                <a:cs typeface="Times New Roman" panose="02020603050405020304" pitchFamily="18" charset="0"/>
              </a:rPr>
              <a:t>2023 · CVPR</a:t>
            </a:r>
            <a:endParaRPr lang="en-US" sz="800" dirty="0">
              <a:latin typeface="Times New Roman" panose="02020603050405020304" pitchFamily="18" charset="0"/>
              <a:cs typeface="Times New Roman" panose="02020603050405020304" pitchFamily="18" charset="0"/>
            </a:endParaRPr>
          </a:p>
        </p:txBody>
      </p:sp>
      <p:sp>
        <p:nvSpPr>
          <p:cNvPr id="68" name="Shape 66"/>
          <p:cNvSpPr/>
          <p:nvPr/>
        </p:nvSpPr>
        <p:spPr>
          <a:xfrm>
            <a:off x="11064240" y="4965192"/>
            <a:ext cx="0" cy="237744"/>
          </a:xfrm>
          <a:prstGeom prst="line">
            <a:avLst/>
          </a:prstGeom>
          <a:noFill/>
          <a:ln w="9525">
            <a:solidFill>
              <a:srgbClr val="6D3F86"/>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9" name="Text 67"/>
          <p:cNvSpPr/>
          <p:nvPr/>
        </p:nvSpPr>
        <p:spPr>
          <a:xfrm>
            <a:off x="566928" y="6053328"/>
            <a:ext cx="11055096" cy="365760"/>
          </a:xfrm>
          <a:prstGeom prst="rect">
            <a:avLst/>
          </a:prstGeom>
          <a:noFill/>
          <a:ln/>
        </p:spPr>
        <p:txBody>
          <a:bodyPr wrap="square" lIns="0" tIns="0" rIns="0" bIns="0" rtlCol="0" anchor="ctr"/>
          <a:lstStyle/>
          <a:p>
            <a:pPr marL="0" indent="0">
              <a:buNone/>
            </a:pPr>
            <a:r>
              <a:rPr lang="en-US" sz="1050" dirty="0">
                <a:solidFill>
                  <a:srgbClr val="4A5058"/>
                </a:solidFill>
                <a:latin typeface="Times New Roman" panose="02020603050405020304" pitchFamily="18" charset="0"/>
                <a:ea typeface="Calibri" pitchFamily="34" charset="-122"/>
                <a:cs typeface="Times New Roman" panose="02020603050405020304" pitchFamily="18" charset="0"/>
              </a:rPr>
              <a:t>Horizontal position is chronological. The fork in 2018 is the point where the field split into two independent attacks on DnCNN's limitations.</a:t>
            </a:r>
            <a:endParaRPr lang="en-US" sz="105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08</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§2 · WHY THE FIELD MOVED — BOTTLENECKS, IN THE WORDS OF THE PAPERS</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21792"/>
            <a:ext cx="11055096" cy="777240"/>
          </a:xfrm>
          <a:prstGeom prst="rect">
            <a:avLst/>
          </a:prstGeom>
          <a:noFill/>
          <a:ln/>
        </p:spPr>
        <p:txBody>
          <a:bodyPr wrap="square" lIns="0" tIns="0" rIns="0" bIns="0" rtlCol="0" anchor="t"/>
          <a:lstStyle/>
          <a:p>
            <a:pPr marL="0" indent="0">
              <a:buNone/>
            </a:pPr>
            <a:r>
              <a:rPr lang="en-US" sz="2800" b="1" dirty="0">
                <a:solidFill>
                  <a:srgbClr val="14161A"/>
                </a:solidFill>
                <a:latin typeface="Times New Roman" panose="02020603050405020304" pitchFamily="18" charset="0"/>
                <a:ea typeface="Georgia" pitchFamily="34" charset="-122"/>
                <a:cs typeface="Times New Roman" panose="02020603050405020304" pitchFamily="18" charset="0"/>
              </a:rPr>
              <a:t>Three limitations that each forced an era change</a:t>
            </a:r>
            <a:endParaRPr lang="en-US" sz="2800" dirty="0">
              <a:latin typeface="Times New Roman" panose="02020603050405020304" pitchFamily="18" charset="0"/>
              <a:cs typeface="Times New Roman" panose="02020603050405020304" pitchFamily="18" charset="0"/>
            </a:endParaRPr>
          </a:p>
        </p:txBody>
      </p:sp>
      <p:sp>
        <p:nvSpPr>
          <p:cNvPr id="5" name="Shape 3"/>
          <p:cNvSpPr/>
          <p:nvPr/>
        </p:nvSpPr>
        <p:spPr>
          <a:xfrm>
            <a:off x="566928" y="1508760"/>
            <a:ext cx="3520440" cy="315468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 name="Shape 4"/>
          <p:cNvSpPr/>
          <p:nvPr/>
        </p:nvSpPr>
        <p:spPr>
          <a:xfrm>
            <a:off x="768096" y="1728216"/>
            <a:ext cx="118872" cy="118872"/>
          </a:xfrm>
          <a:prstGeom prst="ellipse">
            <a:avLst/>
          </a:prstGeom>
          <a:solidFill>
            <a:srgbClr val="6E6350"/>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7" name="Text 5"/>
          <p:cNvSpPr/>
          <p:nvPr/>
        </p:nvSpPr>
        <p:spPr>
          <a:xfrm>
            <a:off x="1005840" y="1691640"/>
            <a:ext cx="2834640" cy="201168"/>
          </a:xfrm>
          <a:prstGeom prst="rect">
            <a:avLst/>
          </a:prstGeom>
          <a:noFill/>
          <a:ln/>
        </p:spPr>
        <p:txBody>
          <a:bodyPr wrap="square" lIns="0" tIns="0" rIns="0" bIns="0" rtlCol="0" anchor="ctr"/>
          <a:lstStyle/>
          <a:p>
            <a:pPr marL="0" indent="0">
              <a:buNone/>
            </a:pPr>
            <a:r>
              <a:rPr lang="en-US" sz="900" kern="0" spc="120" dirty="0">
                <a:solidFill>
                  <a:srgbClr val="6E6350"/>
                </a:solidFill>
                <a:latin typeface="Times New Roman" panose="02020603050405020304" pitchFamily="18" charset="0"/>
                <a:ea typeface="Consolas" pitchFamily="34" charset="-122"/>
                <a:cs typeface="Times New Roman" panose="02020603050405020304" pitchFamily="18" charset="0"/>
              </a:rPr>
              <a:t>BOTTLENECK 1</a:t>
            </a:r>
            <a:endParaRPr lang="en-US" sz="900" dirty="0">
              <a:latin typeface="Times New Roman" panose="02020603050405020304" pitchFamily="18" charset="0"/>
              <a:cs typeface="Times New Roman" panose="02020603050405020304" pitchFamily="18" charset="0"/>
            </a:endParaRPr>
          </a:p>
        </p:txBody>
      </p:sp>
      <p:sp>
        <p:nvSpPr>
          <p:cNvPr id="8" name="Text 6"/>
          <p:cNvSpPr/>
          <p:nvPr/>
        </p:nvSpPr>
        <p:spPr>
          <a:xfrm>
            <a:off x="795528" y="1965960"/>
            <a:ext cx="3063240" cy="502920"/>
          </a:xfrm>
          <a:prstGeom prst="rect">
            <a:avLst/>
          </a:prstGeom>
          <a:noFill/>
          <a:ln/>
        </p:spPr>
        <p:txBody>
          <a:bodyPr wrap="square" lIns="0" tIns="0" rIns="0" bIns="0" rtlCol="0" anchor="ctr"/>
          <a:lstStyle/>
          <a:p>
            <a:pPr marL="0" indent="0">
              <a:buNone/>
            </a:pPr>
            <a:r>
              <a:rPr lang="en-US" sz="1400" b="1" dirty="0">
                <a:solidFill>
                  <a:srgbClr val="14161A"/>
                </a:solidFill>
                <a:latin typeface="Times New Roman" panose="02020603050405020304" pitchFamily="18" charset="0"/>
                <a:ea typeface="Georgia" pitchFamily="34" charset="-122"/>
                <a:cs typeface="Times New Roman" panose="02020603050405020304" pitchFamily="18" charset="0"/>
              </a:rPr>
              <a:t>Hand-designed priors, per-image cost</a:t>
            </a:r>
            <a:endParaRPr lang="en-US" sz="1400" dirty="0">
              <a:latin typeface="Times New Roman" panose="02020603050405020304" pitchFamily="18" charset="0"/>
              <a:cs typeface="Times New Roman" panose="02020603050405020304" pitchFamily="18" charset="0"/>
            </a:endParaRPr>
          </a:p>
        </p:txBody>
      </p:sp>
      <p:sp>
        <p:nvSpPr>
          <p:cNvPr id="9" name="Text 7"/>
          <p:cNvSpPr/>
          <p:nvPr/>
        </p:nvSpPr>
        <p:spPr>
          <a:xfrm>
            <a:off x="795528" y="2487168"/>
            <a:ext cx="3063240" cy="219456"/>
          </a:xfrm>
          <a:prstGeom prst="rect">
            <a:avLst/>
          </a:prstGeom>
          <a:noFill/>
          <a:ln/>
        </p:spPr>
        <p:txBody>
          <a:bodyPr wrap="square" lIns="0" tIns="0" rIns="0" bIns="0" rtlCol="0" anchor="ctr"/>
          <a:lstStyle/>
          <a:p>
            <a:pPr marL="0" indent="0">
              <a:buNone/>
            </a:pPr>
            <a:r>
              <a:rPr lang="en-US" sz="1000" b="1" dirty="0">
                <a:solidFill>
                  <a:srgbClr val="14161A"/>
                </a:solidFill>
                <a:latin typeface="Times New Roman" panose="02020603050405020304" pitchFamily="18" charset="0"/>
                <a:ea typeface="Calibri" pitchFamily="34" charset="-122"/>
                <a:cs typeface="Times New Roman" panose="02020603050405020304" pitchFamily="18" charset="0"/>
              </a:rPr>
              <a:t>Ended: Classical DIP</a:t>
            </a:r>
            <a:endParaRPr lang="en-US" sz="1000" dirty="0">
              <a:latin typeface="Times New Roman" panose="02020603050405020304" pitchFamily="18" charset="0"/>
              <a:cs typeface="Times New Roman" panose="02020603050405020304" pitchFamily="18" charset="0"/>
            </a:endParaRPr>
          </a:p>
        </p:txBody>
      </p:sp>
      <p:sp>
        <p:nvSpPr>
          <p:cNvPr id="10" name="Text 8"/>
          <p:cNvSpPr/>
          <p:nvPr/>
        </p:nvSpPr>
        <p:spPr>
          <a:xfrm>
            <a:off x="795528" y="2743200"/>
            <a:ext cx="3063240" cy="1463040"/>
          </a:xfrm>
          <a:prstGeom prst="rect">
            <a:avLst/>
          </a:prstGeom>
          <a:noFill/>
          <a:ln/>
        </p:spPr>
        <p:txBody>
          <a:bodyPr wrap="square" lIns="0" tIns="0" rIns="0" bIns="0" rtlCol="0" anchor="ctr"/>
          <a:lstStyle/>
          <a:p>
            <a:pPr marL="0" indent="0" algn="just">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TNRD observes that most state-of-the-art techniques of the period concentrated on utmost restoration quality with little consideration of computational efficiency, despite efficiency being critical for real applications. Compounding this: the prior, its parameters and its thresholds are chosen by the designer — so the method cannot improve by being shown data.</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795528" y="4251960"/>
            <a:ext cx="3063240" cy="310896"/>
          </a:xfrm>
          <a:prstGeom prst="rect">
            <a:avLst/>
          </a:prstGeom>
          <a:noFill/>
          <a:ln/>
        </p:spPr>
        <p:txBody>
          <a:bodyPr wrap="square" lIns="0" tIns="0" rIns="0" bIns="0" rtlCol="0" anchor="ctr"/>
          <a:lstStyle/>
          <a:p>
            <a:pPr marL="0" indent="0">
              <a:buNone/>
            </a:pPr>
            <a:r>
              <a:rPr lang="en-US" sz="1000" i="1" dirty="0">
                <a:solidFill>
                  <a:srgbClr val="828A94"/>
                </a:solidFill>
                <a:latin typeface="Times New Roman" panose="02020603050405020304" pitchFamily="18" charset="0"/>
                <a:ea typeface="Calibri" pitchFamily="34" charset="-122"/>
                <a:cs typeface="Times New Roman" panose="02020603050405020304" pitchFamily="18" charset="0"/>
              </a:rPr>
              <a:t>Resolved by TNRD, then DnCNN.</a:t>
            </a:r>
            <a:endParaRPr lang="en-US" sz="1000" dirty="0">
              <a:latin typeface="Times New Roman" panose="02020603050405020304" pitchFamily="18" charset="0"/>
              <a:cs typeface="Times New Roman" panose="02020603050405020304" pitchFamily="18" charset="0"/>
            </a:endParaRPr>
          </a:p>
        </p:txBody>
      </p:sp>
      <p:sp>
        <p:nvSpPr>
          <p:cNvPr id="12" name="Shape 10"/>
          <p:cNvSpPr/>
          <p:nvPr/>
        </p:nvSpPr>
        <p:spPr>
          <a:xfrm>
            <a:off x="4334256" y="1508760"/>
            <a:ext cx="3520440" cy="315468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3" name="Shape 11"/>
          <p:cNvSpPr/>
          <p:nvPr/>
        </p:nvSpPr>
        <p:spPr>
          <a:xfrm>
            <a:off x="4535424" y="1728216"/>
            <a:ext cx="118872" cy="118872"/>
          </a:xfrm>
          <a:prstGeom prst="ellipse">
            <a:avLst/>
          </a:prstGeom>
          <a:solidFill>
            <a:srgbClr val="1E5F7E"/>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4" name="Text 12"/>
          <p:cNvSpPr/>
          <p:nvPr/>
        </p:nvSpPr>
        <p:spPr>
          <a:xfrm>
            <a:off x="4773168" y="1691640"/>
            <a:ext cx="2834640" cy="201168"/>
          </a:xfrm>
          <a:prstGeom prst="rect">
            <a:avLst/>
          </a:prstGeom>
          <a:noFill/>
          <a:ln/>
        </p:spPr>
        <p:txBody>
          <a:bodyPr wrap="square" lIns="0" tIns="0" rIns="0" bIns="0" rtlCol="0" anchor="ctr"/>
          <a:lstStyle/>
          <a:p>
            <a:pPr marL="0" indent="0">
              <a:buNone/>
            </a:pPr>
            <a:r>
              <a:rPr lang="en-US" sz="900" kern="0" spc="120" dirty="0">
                <a:solidFill>
                  <a:srgbClr val="1E5F7E"/>
                </a:solidFill>
                <a:latin typeface="Times New Roman" panose="02020603050405020304" pitchFamily="18" charset="0"/>
                <a:ea typeface="Consolas" pitchFamily="34" charset="-122"/>
                <a:cs typeface="Times New Roman" panose="02020603050405020304" pitchFamily="18" charset="0"/>
              </a:rPr>
              <a:t>BOTTLENECK 2</a:t>
            </a:r>
            <a:endParaRPr lang="en-US" sz="900" dirty="0">
              <a:latin typeface="Times New Roman" panose="02020603050405020304" pitchFamily="18" charset="0"/>
              <a:cs typeface="Times New Roman" panose="02020603050405020304" pitchFamily="18" charset="0"/>
            </a:endParaRPr>
          </a:p>
        </p:txBody>
      </p:sp>
      <p:sp>
        <p:nvSpPr>
          <p:cNvPr id="15" name="Text 13"/>
          <p:cNvSpPr/>
          <p:nvPr/>
        </p:nvSpPr>
        <p:spPr>
          <a:xfrm>
            <a:off x="4562856" y="1965960"/>
            <a:ext cx="3063240" cy="502920"/>
          </a:xfrm>
          <a:prstGeom prst="rect">
            <a:avLst/>
          </a:prstGeom>
          <a:noFill/>
          <a:ln/>
        </p:spPr>
        <p:txBody>
          <a:bodyPr wrap="square" lIns="0" tIns="0" rIns="0" bIns="0" rtlCol="0" anchor="ctr"/>
          <a:lstStyle/>
          <a:p>
            <a:pPr marL="0" indent="0">
              <a:buNone/>
            </a:pPr>
            <a:r>
              <a:rPr lang="en-US" sz="1400" b="1" dirty="0">
                <a:solidFill>
                  <a:srgbClr val="14161A"/>
                </a:solidFill>
                <a:latin typeface="Times New Roman" panose="02020603050405020304" pitchFamily="18" charset="0"/>
                <a:ea typeface="Georgia" pitchFamily="34" charset="-122"/>
                <a:cs typeface="Times New Roman" panose="02020603050405020304" pitchFamily="18" charset="0"/>
              </a:rPr>
              <a:t>The clean-data requirement</a:t>
            </a:r>
            <a:endParaRPr lang="en-US" sz="1400" dirty="0">
              <a:latin typeface="Times New Roman" panose="02020603050405020304" pitchFamily="18" charset="0"/>
              <a:cs typeface="Times New Roman" panose="02020603050405020304" pitchFamily="18" charset="0"/>
            </a:endParaRPr>
          </a:p>
        </p:txBody>
      </p:sp>
      <p:sp>
        <p:nvSpPr>
          <p:cNvPr id="16" name="Text 14"/>
          <p:cNvSpPr/>
          <p:nvPr/>
        </p:nvSpPr>
        <p:spPr>
          <a:xfrm>
            <a:off x="4562856" y="2487168"/>
            <a:ext cx="3063240" cy="219456"/>
          </a:xfrm>
          <a:prstGeom prst="rect">
            <a:avLst/>
          </a:prstGeom>
          <a:noFill/>
          <a:ln/>
        </p:spPr>
        <p:txBody>
          <a:bodyPr wrap="square" lIns="0" tIns="0" rIns="0" bIns="0" rtlCol="0" anchor="ctr"/>
          <a:lstStyle/>
          <a:p>
            <a:pPr marL="0" indent="0">
              <a:buNone/>
            </a:pPr>
            <a:r>
              <a:rPr lang="en-US" sz="1000" b="1" dirty="0">
                <a:solidFill>
                  <a:srgbClr val="14161A"/>
                </a:solidFill>
                <a:latin typeface="Times New Roman" panose="02020603050405020304" pitchFamily="18" charset="0"/>
                <a:ea typeface="Calibri" pitchFamily="34" charset="-122"/>
                <a:cs typeface="Times New Roman" panose="02020603050405020304" pitchFamily="18" charset="0"/>
              </a:rPr>
              <a:t>Ended: supervised-only deep learning</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4562856" y="2596378"/>
            <a:ext cx="3063240" cy="1463040"/>
          </a:xfrm>
          <a:prstGeom prst="rect">
            <a:avLst/>
          </a:prstGeom>
          <a:noFill/>
          <a:ln/>
        </p:spPr>
        <p:txBody>
          <a:bodyPr wrap="square" lIns="0" tIns="0" rIns="0" bIns="0" rtlCol="0" anchor="ctr"/>
          <a:lstStyle/>
          <a:p>
            <a:pPr marL="0" indent="0" algn="just">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Noise2Noise states the cost directly: obtaining clean training targets is often difficult or tedious — a noise-free photograph requires a long exposure. Noise2Void adds that in biomedical data, acquiring training targets, clean or noisy, is frequently not possible.</a:t>
            </a:r>
            <a:endParaRPr lang="en-US" sz="1000" dirty="0">
              <a:latin typeface="Times New Roman" panose="02020603050405020304" pitchFamily="18" charset="0"/>
              <a:cs typeface="Times New Roman" panose="02020603050405020304" pitchFamily="18" charset="0"/>
            </a:endParaRPr>
          </a:p>
        </p:txBody>
      </p:sp>
      <p:sp>
        <p:nvSpPr>
          <p:cNvPr id="18" name="Text 16"/>
          <p:cNvSpPr/>
          <p:nvPr/>
        </p:nvSpPr>
        <p:spPr>
          <a:xfrm>
            <a:off x="4562856" y="4251960"/>
            <a:ext cx="3063240" cy="310896"/>
          </a:xfrm>
          <a:prstGeom prst="rect">
            <a:avLst/>
          </a:prstGeom>
          <a:noFill/>
          <a:ln/>
        </p:spPr>
        <p:txBody>
          <a:bodyPr wrap="square" lIns="0" tIns="0" rIns="0" bIns="0" rtlCol="0" anchor="ctr"/>
          <a:lstStyle/>
          <a:p>
            <a:pPr marL="0" indent="0">
              <a:buNone/>
            </a:pPr>
            <a:r>
              <a:rPr lang="en-US" sz="1000" i="1" dirty="0">
                <a:solidFill>
                  <a:srgbClr val="828A94"/>
                </a:solidFill>
                <a:latin typeface="Times New Roman" panose="02020603050405020304" pitchFamily="18" charset="0"/>
                <a:ea typeface="Calibri" pitchFamily="34" charset="-122"/>
                <a:cs typeface="Times New Roman" panose="02020603050405020304" pitchFamily="18" charset="0"/>
              </a:rPr>
              <a:t>Resolved by the data branch: N2N → N2V → ZS-N2N.</a:t>
            </a:r>
            <a:endParaRPr lang="en-US" sz="1000" dirty="0">
              <a:latin typeface="Times New Roman" panose="02020603050405020304" pitchFamily="18" charset="0"/>
              <a:cs typeface="Times New Roman" panose="02020603050405020304" pitchFamily="18" charset="0"/>
            </a:endParaRPr>
          </a:p>
        </p:txBody>
      </p:sp>
      <p:sp>
        <p:nvSpPr>
          <p:cNvPr id="19" name="Shape 17"/>
          <p:cNvSpPr/>
          <p:nvPr/>
        </p:nvSpPr>
        <p:spPr>
          <a:xfrm>
            <a:off x="8101584" y="1508760"/>
            <a:ext cx="3520440" cy="315468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20" name="Shape 18"/>
          <p:cNvSpPr/>
          <p:nvPr/>
        </p:nvSpPr>
        <p:spPr>
          <a:xfrm>
            <a:off x="8302752" y="1728216"/>
            <a:ext cx="118872" cy="118872"/>
          </a:xfrm>
          <a:prstGeom prst="ellipse">
            <a:avLst/>
          </a:prstGeom>
          <a:solidFill>
            <a:srgbClr val="6D3F86"/>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21" name="Text 19"/>
          <p:cNvSpPr/>
          <p:nvPr/>
        </p:nvSpPr>
        <p:spPr>
          <a:xfrm>
            <a:off x="8540496" y="1691640"/>
            <a:ext cx="2834640" cy="201168"/>
          </a:xfrm>
          <a:prstGeom prst="rect">
            <a:avLst/>
          </a:prstGeom>
          <a:noFill/>
          <a:ln/>
        </p:spPr>
        <p:txBody>
          <a:bodyPr wrap="square" lIns="0" tIns="0" rIns="0" bIns="0" rtlCol="0" anchor="ctr"/>
          <a:lstStyle/>
          <a:p>
            <a:pPr marL="0" indent="0">
              <a:buNone/>
            </a:pPr>
            <a:r>
              <a:rPr lang="en-US" sz="900" kern="0" spc="120" dirty="0">
                <a:solidFill>
                  <a:srgbClr val="6D3F86"/>
                </a:solidFill>
                <a:latin typeface="Times New Roman" panose="02020603050405020304" pitchFamily="18" charset="0"/>
                <a:ea typeface="Consolas" pitchFamily="34" charset="-122"/>
                <a:cs typeface="Times New Roman" panose="02020603050405020304" pitchFamily="18" charset="0"/>
              </a:rPr>
              <a:t>BOTTLENECK 3</a:t>
            </a:r>
            <a:endParaRPr lang="en-US" sz="900" dirty="0">
              <a:latin typeface="Times New Roman" panose="02020603050405020304" pitchFamily="18" charset="0"/>
              <a:cs typeface="Times New Roman" panose="02020603050405020304" pitchFamily="18" charset="0"/>
            </a:endParaRPr>
          </a:p>
        </p:txBody>
      </p:sp>
      <p:sp>
        <p:nvSpPr>
          <p:cNvPr id="22" name="Text 20"/>
          <p:cNvSpPr/>
          <p:nvPr/>
        </p:nvSpPr>
        <p:spPr>
          <a:xfrm>
            <a:off x="8330184" y="1965960"/>
            <a:ext cx="3063240" cy="502920"/>
          </a:xfrm>
          <a:prstGeom prst="rect">
            <a:avLst/>
          </a:prstGeom>
          <a:noFill/>
          <a:ln/>
        </p:spPr>
        <p:txBody>
          <a:bodyPr wrap="square" lIns="0" tIns="0" rIns="0" bIns="0" rtlCol="0" anchor="ctr"/>
          <a:lstStyle/>
          <a:p>
            <a:pPr marL="0" indent="0">
              <a:buNone/>
            </a:pPr>
            <a:r>
              <a:rPr lang="en-US" sz="1400" b="1" dirty="0">
                <a:solidFill>
                  <a:srgbClr val="14161A"/>
                </a:solidFill>
                <a:latin typeface="Times New Roman" panose="02020603050405020304" pitchFamily="18" charset="0"/>
                <a:ea typeface="Georgia" pitchFamily="34" charset="-122"/>
                <a:cs typeface="Times New Roman" panose="02020603050405020304" pitchFamily="18" charset="0"/>
              </a:rPr>
              <a:t>The limits of convolution</a:t>
            </a:r>
            <a:endParaRPr lang="en-US" sz="1400" dirty="0">
              <a:latin typeface="Times New Roman" panose="02020603050405020304" pitchFamily="18" charset="0"/>
              <a:cs typeface="Times New Roman" panose="02020603050405020304" pitchFamily="18" charset="0"/>
            </a:endParaRPr>
          </a:p>
        </p:txBody>
      </p:sp>
      <p:sp>
        <p:nvSpPr>
          <p:cNvPr id="23" name="Text 21"/>
          <p:cNvSpPr/>
          <p:nvPr/>
        </p:nvSpPr>
        <p:spPr>
          <a:xfrm>
            <a:off x="8330184" y="2487168"/>
            <a:ext cx="3063240" cy="219456"/>
          </a:xfrm>
          <a:prstGeom prst="rect">
            <a:avLst/>
          </a:prstGeom>
          <a:noFill/>
          <a:ln/>
        </p:spPr>
        <p:txBody>
          <a:bodyPr wrap="square" lIns="0" tIns="0" rIns="0" bIns="0" rtlCol="0" anchor="ctr"/>
          <a:lstStyle/>
          <a:p>
            <a:pPr marL="0" indent="0">
              <a:buNone/>
            </a:pPr>
            <a:r>
              <a:rPr lang="en-US" sz="1000" b="1" dirty="0">
                <a:solidFill>
                  <a:srgbClr val="14161A"/>
                </a:solidFill>
                <a:latin typeface="Times New Roman" panose="02020603050405020304" pitchFamily="18" charset="0"/>
                <a:ea typeface="Calibri" pitchFamily="34" charset="-122"/>
                <a:cs typeface="Times New Roman" panose="02020603050405020304" pitchFamily="18" charset="0"/>
              </a:rPr>
              <a:t>Ended: the CNN monopoly</a:t>
            </a:r>
            <a:endParaRPr lang="en-US" sz="1000" dirty="0">
              <a:latin typeface="Times New Roman" panose="02020603050405020304" pitchFamily="18" charset="0"/>
              <a:cs typeface="Times New Roman" panose="02020603050405020304" pitchFamily="18" charset="0"/>
            </a:endParaRPr>
          </a:p>
        </p:txBody>
      </p:sp>
      <p:sp>
        <p:nvSpPr>
          <p:cNvPr id="24" name="Text 22"/>
          <p:cNvSpPr/>
          <p:nvPr/>
        </p:nvSpPr>
        <p:spPr>
          <a:xfrm>
            <a:off x="8330184" y="2639685"/>
            <a:ext cx="3063240" cy="1463040"/>
          </a:xfrm>
          <a:prstGeom prst="rect">
            <a:avLst/>
          </a:prstGeom>
          <a:noFill/>
          <a:ln/>
        </p:spPr>
        <p:txBody>
          <a:bodyPr wrap="square" lIns="0" tIns="0" rIns="0" bIns="0" rtlCol="0" anchor="ctr"/>
          <a:lstStyle/>
          <a:p>
            <a:pPr marL="0" indent="0" algn="just">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Restormer names both weaknesses: convolution gives local connectivity and translation equivariance, which brings efficiency and generalisation, but also causes a limited receptive field and an inability to adapt to input content. MambaIR restates it as a dilemma between global receptive fields and efficient computation.</a:t>
            </a:r>
            <a:endParaRPr lang="en-US" sz="1000" dirty="0">
              <a:latin typeface="Times New Roman" panose="02020603050405020304" pitchFamily="18" charset="0"/>
              <a:cs typeface="Times New Roman" panose="02020603050405020304" pitchFamily="18" charset="0"/>
            </a:endParaRPr>
          </a:p>
        </p:txBody>
      </p:sp>
      <p:sp>
        <p:nvSpPr>
          <p:cNvPr id="25" name="Text 23"/>
          <p:cNvSpPr/>
          <p:nvPr/>
        </p:nvSpPr>
        <p:spPr>
          <a:xfrm>
            <a:off x="8330184" y="4251960"/>
            <a:ext cx="3063240" cy="310896"/>
          </a:xfrm>
          <a:prstGeom prst="rect">
            <a:avLst/>
          </a:prstGeom>
          <a:noFill/>
          <a:ln/>
        </p:spPr>
        <p:txBody>
          <a:bodyPr wrap="square" lIns="0" tIns="0" rIns="0" bIns="0" rtlCol="0" anchor="ctr"/>
          <a:lstStyle/>
          <a:p>
            <a:pPr marL="0" indent="0">
              <a:buNone/>
            </a:pPr>
            <a:r>
              <a:rPr lang="en-US" sz="1000" i="1" dirty="0">
                <a:solidFill>
                  <a:srgbClr val="828A94"/>
                </a:solidFill>
                <a:latin typeface="Times New Roman" panose="02020603050405020304" pitchFamily="18" charset="0"/>
                <a:ea typeface="Calibri" pitchFamily="34" charset="-122"/>
                <a:cs typeface="Times New Roman" panose="02020603050405020304" pitchFamily="18" charset="0"/>
              </a:rPr>
              <a:t>Three live answers: Restormer, NAFNet, MambaIR.</a:t>
            </a:r>
            <a:endParaRPr lang="en-US" sz="1000" dirty="0">
              <a:latin typeface="Times New Roman" panose="02020603050405020304" pitchFamily="18" charset="0"/>
              <a:cs typeface="Times New Roman" panose="02020603050405020304" pitchFamily="18" charset="0"/>
            </a:endParaRPr>
          </a:p>
        </p:txBody>
      </p:sp>
      <p:sp>
        <p:nvSpPr>
          <p:cNvPr id="26" name="Shape 24"/>
          <p:cNvSpPr/>
          <p:nvPr/>
        </p:nvSpPr>
        <p:spPr>
          <a:xfrm>
            <a:off x="566928" y="4892040"/>
            <a:ext cx="11055096" cy="96012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27" name="Text 25"/>
          <p:cNvSpPr/>
          <p:nvPr/>
        </p:nvSpPr>
        <p:spPr>
          <a:xfrm>
            <a:off x="822960" y="5056632"/>
            <a:ext cx="10515600" cy="201168"/>
          </a:xfrm>
          <a:prstGeom prst="rect">
            <a:avLst/>
          </a:prstGeom>
          <a:noFill/>
          <a:ln/>
        </p:spPr>
        <p:txBody>
          <a:bodyPr wrap="square" lIns="0" tIns="0" rIns="0" bIns="0" rtlCol="0" anchor="ctr"/>
          <a:lstStyle/>
          <a:p>
            <a:pPr marL="0" indent="0">
              <a:buNone/>
            </a:pPr>
            <a:r>
              <a:rPr lang="en-US" sz="900" kern="0" spc="120" dirty="0">
                <a:solidFill>
                  <a:srgbClr val="3F6B45"/>
                </a:solidFill>
                <a:latin typeface="Times New Roman" panose="02020603050405020304" pitchFamily="18" charset="0"/>
                <a:ea typeface="Consolas" pitchFamily="34" charset="-122"/>
                <a:cs typeface="Times New Roman" panose="02020603050405020304" pitchFamily="18" charset="0"/>
              </a:rPr>
              <a:t>THE ARC IN ONE SENTENCE</a:t>
            </a:r>
            <a:endParaRPr lang="en-US" sz="900" dirty="0">
              <a:latin typeface="Times New Roman" panose="02020603050405020304" pitchFamily="18" charset="0"/>
              <a:cs typeface="Times New Roman" panose="02020603050405020304" pitchFamily="18" charset="0"/>
            </a:endParaRPr>
          </a:p>
        </p:txBody>
      </p:sp>
      <p:sp>
        <p:nvSpPr>
          <p:cNvPr id="28" name="Text 26"/>
          <p:cNvSpPr/>
          <p:nvPr/>
        </p:nvSpPr>
        <p:spPr>
          <a:xfrm>
            <a:off x="822960" y="5285232"/>
            <a:ext cx="10515600" cy="457200"/>
          </a:xfrm>
          <a:prstGeom prst="rect">
            <a:avLst/>
          </a:prstGeom>
          <a:noFill/>
          <a:ln/>
        </p:spPr>
        <p:txBody>
          <a:bodyPr wrap="square" lIns="0" tIns="0" rIns="0" bIns="0" rtlCol="0" anchor="ctr"/>
          <a:lstStyle/>
          <a:p>
            <a:pPr marL="0" indent="0">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The prior moves steadily out of human hands: </a:t>
            </a: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written by a human</a:t>
            </a: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 (BM3D, WNNM) → </a:t>
            </a: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structured by a human, fitted to data</a:t>
            </a: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 (TNRD) → </a:t>
            </a: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learned from paired data</a:t>
            </a: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 (DnCNN) → learned </a:t>
            </a: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without clean data</a:t>
            </a: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 (N2N), </a:t>
            </a: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without pairs</a:t>
            </a: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 (N2V), </a:t>
            </a: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without any data</a:t>
            </a: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 (ZS-N2N).</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900" dirty="0">
                <a:solidFill>
                  <a:srgbClr val="828A94"/>
                </a:solidFill>
                <a:latin typeface="Consolas" pitchFamily="34" charset="0"/>
                <a:ea typeface="Consolas" pitchFamily="34" charset="-122"/>
                <a:cs typeface="Consolas" pitchFamily="34" charset="-120"/>
              </a:rPr>
              <a:t>09</a:t>
            </a:r>
            <a:endParaRPr lang="en-US" sz="900" dirty="0"/>
          </a:p>
        </p:txBody>
      </p:sp>
      <p:sp>
        <p:nvSpPr>
          <p:cNvPr id="3" name="Text 1"/>
          <p:cNvSpPr/>
          <p:nvPr/>
        </p:nvSpPr>
        <p:spPr>
          <a:xfrm>
            <a:off x="566928" y="2148840"/>
            <a:ext cx="11055096" cy="274320"/>
          </a:xfrm>
          <a:prstGeom prst="rect">
            <a:avLst/>
          </a:prstGeom>
          <a:noFill/>
          <a:ln/>
        </p:spPr>
        <p:txBody>
          <a:bodyPr wrap="square" lIns="0" tIns="0" rIns="0" bIns="0" rtlCol="0" anchor="ctr"/>
          <a:lstStyle/>
          <a:p>
            <a:pPr marL="0" indent="0">
              <a:buNone/>
            </a:pPr>
            <a:r>
              <a:rPr lang="en-US" sz="1100" kern="0" spc="300" dirty="0">
                <a:solidFill>
                  <a:srgbClr val="6D3F86"/>
                </a:solidFill>
                <a:latin typeface="Consolas" pitchFamily="34" charset="0"/>
                <a:ea typeface="Consolas" pitchFamily="34" charset="-122"/>
                <a:cs typeface="Consolas" pitchFamily="34" charset="-120"/>
              </a:rPr>
              <a:t>PART III</a:t>
            </a:r>
            <a:endParaRPr lang="en-US" sz="1100" dirty="0"/>
          </a:p>
        </p:txBody>
      </p:sp>
      <p:sp>
        <p:nvSpPr>
          <p:cNvPr id="4" name="Text 2"/>
          <p:cNvSpPr/>
          <p:nvPr/>
        </p:nvSpPr>
        <p:spPr>
          <a:xfrm>
            <a:off x="566928" y="2514600"/>
            <a:ext cx="8686800" cy="914400"/>
          </a:xfrm>
          <a:prstGeom prst="rect">
            <a:avLst/>
          </a:prstGeom>
          <a:noFill/>
          <a:ln/>
        </p:spPr>
        <p:txBody>
          <a:bodyPr wrap="square" lIns="0" tIns="0" rIns="0" bIns="0" rtlCol="0" anchor="ctr"/>
          <a:lstStyle/>
          <a:p>
            <a:pPr marL="0" indent="0">
              <a:buNone/>
            </a:pPr>
            <a:r>
              <a:rPr lang="en-US" sz="4000" b="1" dirty="0">
                <a:solidFill>
                  <a:srgbClr val="14161A"/>
                </a:solidFill>
                <a:latin typeface="Georgia" pitchFamily="34" charset="0"/>
                <a:ea typeface="Georgia" pitchFamily="34" charset="-122"/>
                <a:cs typeface="Georgia" pitchFamily="34" charset="-120"/>
              </a:rPr>
              <a:t>The sources</a:t>
            </a:r>
            <a:endParaRPr lang="en-US" sz="4000" dirty="0"/>
          </a:p>
        </p:txBody>
      </p:sp>
      <p:sp>
        <p:nvSpPr>
          <p:cNvPr id="5" name="Text 3"/>
          <p:cNvSpPr/>
          <p:nvPr/>
        </p:nvSpPr>
        <p:spPr>
          <a:xfrm>
            <a:off x="566928" y="3318584"/>
            <a:ext cx="8412480" cy="1097280"/>
          </a:xfrm>
          <a:prstGeom prst="rect">
            <a:avLst/>
          </a:prstGeom>
          <a:noFill/>
          <a:ln/>
        </p:spPr>
        <p:txBody>
          <a:bodyPr wrap="square" lIns="0" tIns="0" rIns="0" bIns="0" rtlCol="0" anchor="ctr"/>
          <a:lstStyle/>
          <a:p>
            <a:pPr marL="0" indent="0">
              <a:buNone/>
            </a:pPr>
            <a:r>
              <a:rPr lang="en-US" sz="1350" dirty="0">
                <a:solidFill>
                  <a:srgbClr val="4A5058"/>
                </a:solidFill>
                <a:latin typeface="Calibri" pitchFamily="34" charset="0"/>
                <a:ea typeface="Calibri" pitchFamily="34" charset="-122"/>
                <a:cs typeface="Calibri" pitchFamily="34" charset="-120"/>
              </a:rPr>
              <a:t>14 distinct sources. 11 Category A at 78.6%, clearing the 70% floor with margin — and every Category A citation count verified against Google Scholar.</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10</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§3 · MASTER SOURCE LIST — CATEGORY A (PEER-REVIEWED PAPERS)</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21792"/>
            <a:ext cx="11055096" cy="777240"/>
          </a:xfrm>
          <a:prstGeom prst="rect">
            <a:avLst/>
          </a:prstGeom>
          <a:noFill/>
          <a:ln/>
        </p:spPr>
        <p:txBody>
          <a:bodyPr wrap="square" lIns="0" tIns="0" rIns="0" bIns="0" rtlCol="0" anchor="t"/>
          <a:lstStyle/>
          <a:p>
            <a:pPr marL="0" indent="0">
              <a:buNone/>
            </a:pPr>
            <a:r>
              <a:rPr lang="en-US" sz="2800" b="1" dirty="0">
                <a:solidFill>
                  <a:srgbClr val="14161A"/>
                </a:solidFill>
                <a:latin typeface="Times New Roman" panose="02020603050405020304" pitchFamily="18" charset="0"/>
                <a:ea typeface="Georgia" pitchFamily="34" charset="-122"/>
                <a:cs typeface="Times New Roman" panose="02020603050405020304" pitchFamily="18" charset="0"/>
              </a:rPr>
              <a:t>Eleven papers, 2007 → 2024</a:t>
            </a:r>
            <a:endParaRPr lang="en-US" sz="2800" dirty="0">
              <a:latin typeface="Times New Roman" panose="02020603050405020304" pitchFamily="18" charset="0"/>
              <a:cs typeface="Times New Roman" panose="02020603050405020304" pitchFamily="18" charset="0"/>
            </a:endParaRPr>
          </a:p>
        </p:txBody>
      </p:sp>
      <p:graphicFrame>
        <p:nvGraphicFramePr>
          <p:cNvPr id="11" name="Table 0"/>
          <p:cNvGraphicFramePr>
            <a:graphicFrameLocks noGrp="1"/>
          </p:cNvGraphicFramePr>
          <p:nvPr>
            <p:extLst>
              <p:ext uri="{D42A27DB-BD31-4B8C-83A1-F6EECF244321}">
                <p14:modId xmlns:p14="http://schemas.microsoft.com/office/powerpoint/2010/main" val="1666274761"/>
              </p:ext>
            </p:extLst>
          </p:nvPr>
        </p:nvGraphicFramePr>
        <p:xfrm>
          <a:off x="566928" y="1417320"/>
          <a:ext cx="11055096" cy="3182112"/>
        </p:xfrm>
        <a:graphic>
          <a:graphicData uri="http://schemas.openxmlformats.org/drawingml/2006/table">
            <a:tbl>
              <a:tblPr/>
              <a:tblGrid>
                <a:gridCol w="41148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gridCol w="2514600">
                  <a:extLst>
                    <a:ext uri="{9D8B030D-6E8A-4147-A177-3AD203B41FA5}">
                      <a16:colId xmlns:a16="http://schemas.microsoft.com/office/drawing/2014/main" val="20004"/>
                    </a:ext>
                  </a:extLst>
                </a:gridCol>
                <a:gridCol w="868680">
                  <a:extLst>
                    <a:ext uri="{9D8B030D-6E8A-4147-A177-3AD203B41FA5}">
                      <a16:colId xmlns:a16="http://schemas.microsoft.com/office/drawing/2014/main" val="20005"/>
                    </a:ext>
                  </a:extLst>
                </a:gridCol>
                <a:gridCol w="1682496">
                  <a:extLst>
                    <a:ext uri="{9D8B030D-6E8A-4147-A177-3AD203B41FA5}">
                      <a16:colId xmlns:a16="http://schemas.microsoft.com/office/drawing/2014/main" val="20006"/>
                    </a:ext>
                  </a:extLst>
                </a:gridCol>
              </a:tblGrid>
              <a:tr h="265176">
                <a:tc>
                  <a:txBody>
                    <a:bodyPr/>
                    <a:lstStyle/>
                    <a:p>
                      <a:pPr marL="0" indent="0" algn="ctr">
                        <a:buNone/>
                      </a:pPr>
                      <a:r>
                        <a:rPr lang="en-US" sz="750" kern="0" spc="100" dirty="0">
                          <a:solidFill>
                            <a:srgbClr val="828A94"/>
                          </a:solidFill>
                          <a:latin typeface="Times New Roman" panose="02020603050405020304" pitchFamily="18" charset="0"/>
                          <a:ea typeface="Consolas" pitchFamily="34" charset="-122"/>
                          <a:cs typeface="Times New Roman" panose="02020603050405020304" pitchFamily="18" charset="0"/>
                        </a:rPr>
                        <a:t>#</a:t>
                      </a:r>
                      <a:endParaRPr lang="en-US" sz="75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750" kern="0" spc="100" dirty="0">
                          <a:solidFill>
                            <a:srgbClr val="828A94"/>
                          </a:solidFill>
                          <a:latin typeface="Times New Roman" panose="02020603050405020304" pitchFamily="18" charset="0"/>
                          <a:ea typeface="Consolas" pitchFamily="34" charset="-122"/>
                          <a:cs typeface="Times New Roman" panose="02020603050405020304" pitchFamily="18" charset="0"/>
                        </a:rPr>
                        <a:t>SHORT NAME</a:t>
                      </a:r>
                      <a:endParaRPr lang="en-US" sz="75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750" kern="0" spc="100" dirty="0">
                          <a:solidFill>
                            <a:srgbClr val="828A94"/>
                          </a:solidFill>
                          <a:latin typeface="Times New Roman" panose="02020603050405020304" pitchFamily="18" charset="0"/>
                          <a:ea typeface="Consolas" pitchFamily="34" charset="-122"/>
                          <a:cs typeface="Times New Roman" panose="02020603050405020304" pitchFamily="18" charset="0"/>
                        </a:rPr>
                        <a:t>LEAD AUTHOR</a:t>
                      </a:r>
                      <a:endParaRPr lang="en-US" sz="75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750" kern="0" spc="10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75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750" kern="0" spc="100" dirty="0">
                          <a:solidFill>
                            <a:srgbClr val="828A94"/>
                          </a:solidFill>
                          <a:latin typeface="Times New Roman" panose="02020603050405020304" pitchFamily="18" charset="0"/>
                          <a:ea typeface="Consolas" pitchFamily="34" charset="-122"/>
                          <a:cs typeface="Times New Roman" panose="02020603050405020304" pitchFamily="18" charset="0"/>
                        </a:rPr>
                        <a:t>INSTITUTION (LEAD)</a:t>
                      </a:r>
                      <a:endParaRPr lang="en-US" sz="75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750" kern="0" spc="100" dirty="0">
                          <a:solidFill>
                            <a:srgbClr val="828A94"/>
                          </a:solidFill>
                          <a:latin typeface="Times New Roman" panose="02020603050405020304" pitchFamily="18" charset="0"/>
                          <a:ea typeface="Consolas" pitchFamily="34" charset="-122"/>
                          <a:cs typeface="Times New Roman" panose="02020603050405020304" pitchFamily="18" charset="0"/>
                        </a:rPr>
                        <a:t>CITED BY</a:t>
                      </a:r>
                      <a:endParaRPr lang="en-US" sz="75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750" kern="0" spc="100" dirty="0">
                          <a:solidFill>
                            <a:srgbClr val="828A94"/>
                          </a:solidFill>
                          <a:latin typeface="Times New Roman" panose="02020603050405020304" pitchFamily="18" charset="0"/>
                          <a:ea typeface="Consolas" pitchFamily="34" charset="-122"/>
                          <a:cs typeface="Times New Roman" panose="02020603050405020304" pitchFamily="18" charset="0"/>
                        </a:rPr>
                        <a:t>ERA</a:t>
                      </a:r>
                      <a:endParaRPr lang="en-US" sz="75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0"/>
                  </a:ext>
                </a:extLst>
              </a:tr>
              <a:tr h="265176">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A1</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BM3D</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Dabov et al.</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IEEE TIP 16(8), 2007</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Tampere Univ. of Tech.</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11,976</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6E6350"/>
                          </a:solidFill>
                          <a:latin typeface="Times New Roman" panose="02020603050405020304" pitchFamily="18" charset="0"/>
                          <a:ea typeface="Consolas" pitchFamily="34" charset="-122"/>
                          <a:cs typeface="Times New Roman" panose="02020603050405020304" pitchFamily="18" charset="0"/>
                        </a:rPr>
                        <a:t>I</a:t>
                      </a:r>
                      <a:endParaRPr lang="en-US" sz="90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1"/>
                  </a:ext>
                </a:extLst>
              </a:tr>
              <a:tr h="265176">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A2</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WNNM</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Gu et al.</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CVPR 2014, pp. 2862–2869</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Hong Kong PolyU</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2,960</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6E6350"/>
                          </a:solidFill>
                          <a:latin typeface="Times New Roman" panose="02020603050405020304" pitchFamily="18" charset="0"/>
                          <a:ea typeface="Consolas" pitchFamily="34" charset="-122"/>
                          <a:cs typeface="Times New Roman" panose="02020603050405020304" pitchFamily="18" charset="0"/>
                        </a:rPr>
                        <a:t>I</a:t>
                      </a:r>
                      <a:endParaRPr lang="en-US" sz="90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2"/>
                  </a:ext>
                </a:extLst>
              </a:tr>
              <a:tr h="265176">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A3</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TNRD</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Chen &amp; Pock</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IEEE TPAMI 39(6), 2017</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Graz Univ. of Tech.</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1,626</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1E5F7E"/>
                          </a:solidFill>
                          <a:latin typeface="Times New Roman" panose="02020603050405020304" pitchFamily="18" charset="0"/>
                          <a:ea typeface="Consolas" pitchFamily="34" charset="-122"/>
                          <a:cs typeface="Times New Roman" panose="02020603050405020304" pitchFamily="18" charset="0"/>
                        </a:rPr>
                        <a:t>II</a:t>
                      </a:r>
                      <a:endParaRPr lang="en-US" sz="90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3"/>
                  </a:ext>
                </a:extLst>
              </a:tr>
              <a:tr h="265176">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A4</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DnCNN  (anchor)</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Zhang et al.</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IEEE TIP 26(7), 2017</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Harbin Inst. of Tech.</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11,674</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1E5F7E"/>
                          </a:solidFill>
                          <a:latin typeface="Times New Roman" panose="02020603050405020304" pitchFamily="18" charset="0"/>
                          <a:ea typeface="Consolas" pitchFamily="34" charset="-122"/>
                          <a:cs typeface="Times New Roman" panose="02020603050405020304" pitchFamily="18" charset="0"/>
                        </a:rPr>
                        <a:t>III</a:t>
                      </a:r>
                      <a:endParaRPr lang="en-US" sz="90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4"/>
                  </a:ext>
                </a:extLst>
              </a:tr>
              <a:tr h="265176">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A5</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Noise2Noise</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Lehtinen et al.</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ICML 2018 (PMLR 80)</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NVIDIA · Aalto · MIT</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3,064</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6D3F86"/>
                          </a:solidFill>
                          <a:latin typeface="Times New Roman" panose="02020603050405020304" pitchFamily="18" charset="0"/>
                          <a:ea typeface="Consolas" pitchFamily="34" charset="-122"/>
                          <a:cs typeface="Times New Roman" panose="02020603050405020304" pitchFamily="18" charset="0"/>
                        </a:rPr>
                        <a:t>IV-A</a:t>
                      </a:r>
                      <a:endParaRPr lang="en-US" sz="90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5"/>
                  </a:ext>
                </a:extLst>
              </a:tr>
              <a:tr h="265176">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A6</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Noise2Void</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Krull et al.</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CVPR 2019</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MPI-CBG/PKS Dresden</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2,075</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6D3F86"/>
                          </a:solidFill>
                          <a:latin typeface="Times New Roman" panose="02020603050405020304" pitchFamily="18" charset="0"/>
                          <a:ea typeface="Consolas" pitchFamily="34" charset="-122"/>
                          <a:cs typeface="Times New Roman" panose="02020603050405020304" pitchFamily="18" charset="0"/>
                        </a:rPr>
                        <a:t>IV-A</a:t>
                      </a:r>
                      <a:endParaRPr lang="en-US" sz="90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6"/>
                  </a:ext>
                </a:extLst>
              </a:tr>
              <a:tr h="265176">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A7</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Restormer</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Zamir et al.</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CVPR 2022, pp. 5728–5739</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Inception Inst. of AI</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6,181</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6D3F86"/>
                          </a:solidFill>
                          <a:latin typeface="Times New Roman" panose="02020603050405020304" pitchFamily="18" charset="0"/>
                          <a:ea typeface="Consolas" pitchFamily="34" charset="-122"/>
                          <a:cs typeface="Times New Roman" panose="02020603050405020304" pitchFamily="18" charset="0"/>
                        </a:rPr>
                        <a:t>IV-B</a:t>
                      </a:r>
                      <a:endParaRPr lang="en-US" sz="90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7"/>
                  </a:ext>
                </a:extLst>
              </a:tr>
              <a:tr h="265176">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A8</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NAFNet</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Chen et al.</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ECCV 2022, pp. 17–33</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MEGVII Technology</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2,318</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6D3F86"/>
                          </a:solidFill>
                          <a:latin typeface="Times New Roman" panose="02020603050405020304" pitchFamily="18" charset="0"/>
                          <a:ea typeface="Consolas" pitchFamily="34" charset="-122"/>
                          <a:cs typeface="Times New Roman" panose="02020603050405020304" pitchFamily="18" charset="0"/>
                        </a:rPr>
                        <a:t>IV-B</a:t>
                      </a:r>
                      <a:endParaRPr lang="en-US" sz="90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8"/>
                  </a:ext>
                </a:extLst>
              </a:tr>
              <a:tr h="265176">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A9</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ZS-N2N</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Mansour &amp; Heckel</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CVPR 2023, pp. 14018–14027</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TU Munich · Rice</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266</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6D3F86"/>
                          </a:solidFill>
                          <a:latin typeface="Times New Roman" panose="02020603050405020304" pitchFamily="18" charset="0"/>
                          <a:ea typeface="Consolas" pitchFamily="34" charset="-122"/>
                          <a:cs typeface="Times New Roman" panose="02020603050405020304" pitchFamily="18" charset="0"/>
                        </a:rPr>
                        <a:t>IV-A</a:t>
                      </a:r>
                      <a:endParaRPr lang="en-US" sz="90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9"/>
                  </a:ext>
                </a:extLst>
              </a:tr>
              <a:tr h="265176">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A10</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SCUNet</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Zhang et al.</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Machine Intelligence Research 20(6), 2023</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ETH Zürich</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391</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6D3F86"/>
                          </a:solidFill>
                          <a:latin typeface="Times New Roman" panose="02020603050405020304" pitchFamily="18" charset="0"/>
                          <a:ea typeface="Consolas" pitchFamily="34" charset="-122"/>
                          <a:cs typeface="Times New Roman" panose="02020603050405020304" pitchFamily="18" charset="0"/>
                        </a:rPr>
                        <a:t>IV-B</a:t>
                      </a:r>
                      <a:endParaRPr lang="en-US" sz="90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10"/>
                  </a:ext>
                </a:extLst>
              </a:tr>
              <a:tr h="265176">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A11</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MambaIR</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Guo et al.</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ECCV 2024, pp. 222–241</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4A5058"/>
                          </a:solidFill>
                          <a:latin typeface="Times New Roman" panose="02020603050405020304" pitchFamily="18" charset="0"/>
                          <a:ea typeface="Calibri" pitchFamily="34" charset="-122"/>
                          <a:cs typeface="Times New Roman" panose="02020603050405020304" pitchFamily="18" charset="0"/>
                        </a:rPr>
                        <a:t>Tsinghua SIGS</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b="1" dirty="0">
                          <a:solidFill>
                            <a:srgbClr val="14161A"/>
                          </a:solidFill>
                          <a:latin typeface="Times New Roman" panose="02020603050405020304" pitchFamily="18" charset="0"/>
                          <a:ea typeface="Calibri" pitchFamily="34" charset="-122"/>
                          <a:cs typeface="Times New Roman" panose="02020603050405020304" pitchFamily="18" charset="0"/>
                        </a:rPr>
                        <a:t>1,208</a:t>
                      </a:r>
                      <a:endParaRPr lang="en-US" sz="900" dirty="0">
                        <a:latin typeface="Times New Roman" panose="02020603050405020304" pitchFamily="18" charset="0"/>
                        <a:ea typeface="Calibri"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00" dirty="0">
                          <a:solidFill>
                            <a:srgbClr val="6D3F86"/>
                          </a:solidFill>
                          <a:latin typeface="Times New Roman" panose="02020603050405020304" pitchFamily="18" charset="0"/>
                          <a:ea typeface="Consolas" pitchFamily="34" charset="-122"/>
                          <a:cs typeface="Times New Roman" panose="02020603050405020304" pitchFamily="18" charset="0"/>
                        </a:rPr>
                        <a:t>IV-B</a:t>
                      </a:r>
                      <a:endParaRPr lang="en-US" sz="900" dirty="0">
                        <a:latin typeface="Times New Roman" panose="02020603050405020304" pitchFamily="18" charset="0"/>
                        <a:ea typeface="Consolas" charset="0"/>
                        <a:cs typeface="Times New Roman" panose="02020603050405020304" pitchFamily="18"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11"/>
                  </a:ext>
                </a:extLst>
              </a:tr>
            </a:tbl>
          </a:graphicData>
        </a:graphic>
      </p:graphicFrame>
      <p:sp>
        <p:nvSpPr>
          <p:cNvPr id="6" name="Shape 3"/>
          <p:cNvSpPr/>
          <p:nvPr/>
        </p:nvSpPr>
        <p:spPr>
          <a:xfrm>
            <a:off x="566928" y="5138928"/>
            <a:ext cx="11055096" cy="86868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7" name="Text 4"/>
          <p:cNvSpPr/>
          <p:nvPr/>
        </p:nvSpPr>
        <p:spPr>
          <a:xfrm>
            <a:off x="822960" y="5303520"/>
            <a:ext cx="10515600" cy="201168"/>
          </a:xfrm>
          <a:prstGeom prst="rect">
            <a:avLst/>
          </a:prstGeom>
          <a:noFill/>
          <a:ln/>
        </p:spPr>
        <p:txBody>
          <a:bodyPr wrap="square" lIns="0" tIns="0" rIns="0" bIns="0" rtlCol="0" anchor="ctr"/>
          <a:lstStyle/>
          <a:p>
            <a:pPr marL="0" indent="0">
              <a:buNone/>
            </a:pPr>
            <a:r>
              <a:rPr lang="en-US" sz="900" kern="0" spc="120" dirty="0">
                <a:solidFill>
                  <a:srgbClr val="3F6B45"/>
                </a:solidFill>
                <a:latin typeface="Times New Roman" panose="02020603050405020304" pitchFamily="18" charset="0"/>
                <a:ea typeface="Consolas" pitchFamily="34" charset="-122"/>
                <a:cs typeface="Times New Roman" panose="02020603050405020304" pitchFamily="18" charset="0"/>
              </a:rPr>
              <a:t>RECENCY REQUIREMENT — SATISFIED BOTH WAYS</a:t>
            </a:r>
            <a:endParaRPr lang="en-US" sz="900" dirty="0">
              <a:latin typeface="Times New Roman" panose="02020603050405020304" pitchFamily="18" charset="0"/>
              <a:cs typeface="Times New Roman" panose="02020603050405020304" pitchFamily="18" charset="0"/>
            </a:endParaRPr>
          </a:p>
        </p:txBody>
      </p:sp>
      <p:sp>
        <p:nvSpPr>
          <p:cNvPr id="8" name="Text 5"/>
          <p:cNvSpPr/>
          <p:nvPr/>
        </p:nvSpPr>
        <p:spPr>
          <a:xfrm>
            <a:off x="822960" y="5532120"/>
            <a:ext cx="10515600" cy="365760"/>
          </a:xfrm>
          <a:prstGeom prst="rect">
            <a:avLst/>
          </a:prstGeom>
          <a:noFill/>
          <a:ln/>
        </p:spPr>
        <p:txBody>
          <a:bodyPr wrap="square" lIns="0" tIns="0" rIns="0" bIns="0" rtlCol="0" anchor="ctr"/>
          <a:lstStyle/>
          <a:p>
            <a:pPr marL="0" indent="0" algn="just">
              <a:buNone/>
            </a:pP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Six pre-2022 milestones</a:t>
            </a: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 (A1–A6) and </a:t>
            </a:r>
            <a:r>
              <a:rPr lang="en-US" sz="1100" b="1" dirty="0">
                <a:solidFill>
                  <a:srgbClr val="14161A"/>
                </a:solidFill>
                <a:latin typeface="Times New Roman" panose="02020603050405020304" pitchFamily="18" charset="0"/>
                <a:ea typeface="Calibri" pitchFamily="34" charset="-122"/>
                <a:cs typeface="Times New Roman" panose="02020603050405020304" pitchFamily="18" charset="0"/>
              </a:rPr>
              <a:t>five 2022-or-later SOTA papers</a:t>
            </a: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 (A7–A11). The guidelines require both halves; the roster carries both with margin. Citation counts are Google Scholar, checked 9 August 2026.</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11</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§3 · CATEGORY B AND THE 70/30 ARITHMETIC</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21792"/>
            <a:ext cx="11055096" cy="777240"/>
          </a:xfrm>
          <a:prstGeom prst="rect">
            <a:avLst/>
          </a:prstGeom>
          <a:noFill/>
          <a:ln/>
        </p:spPr>
        <p:txBody>
          <a:bodyPr wrap="square" lIns="0" tIns="0" rIns="0" bIns="0" rtlCol="0" anchor="t"/>
          <a:lstStyle/>
          <a:p>
            <a:pPr marL="0" indent="0">
              <a:buNone/>
            </a:pPr>
            <a:r>
              <a:rPr lang="en-US" sz="2800" b="1" dirty="0">
                <a:solidFill>
                  <a:srgbClr val="14161A"/>
                </a:solidFill>
                <a:latin typeface="Times New Roman" panose="02020603050405020304" pitchFamily="18" charset="0"/>
                <a:ea typeface="Georgia" pitchFamily="34" charset="-122"/>
                <a:cs typeface="Times New Roman" panose="02020603050405020304" pitchFamily="18" charset="0"/>
              </a:rPr>
              <a:t>Three auxiliary sources — 21.4%, under the 30% ceiling</a:t>
            </a:r>
            <a:endParaRPr lang="en-US" sz="2800" dirty="0">
              <a:latin typeface="Times New Roman" panose="02020603050405020304" pitchFamily="18" charset="0"/>
              <a:cs typeface="Times New Roman" panose="02020603050405020304" pitchFamily="18" charset="0"/>
            </a:endParaRPr>
          </a:p>
        </p:txBody>
      </p:sp>
      <p:graphicFrame>
        <p:nvGraphicFramePr>
          <p:cNvPr id="12" name="Table 0"/>
          <p:cNvGraphicFramePr>
            <a:graphicFrameLocks noGrp="1"/>
          </p:cNvGraphicFramePr>
          <p:nvPr>
            <p:extLst>
              <p:ext uri="{D42A27DB-BD31-4B8C-83A1-F6EECF244321}">
                <p14:modId xmlns:p14="http://schemas.microsoft.com/office/powerpoint/2010/main" val="2503239368"/>
              </p:ext>
            </p:extLst>
          </p:nvPr>
        </p:nvGraphicFramePr>
        <p:xfrm>
          <a:off x="541050" y="1713202"/>
          <a:ext cx="5577840" cy="1536192"/>
        </p:xfrm>
        <a:graphic>
          <a:graphicData uri="http://schemas.openxmlformats.org/drawingml/2006/table">
            <a:tbl>
              <a:tblPr/>
              <a:tblGrid>
                <a:gridCol w="41148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tblGrid>
              <a:tr h="384048">
                <a:tc>
                  <a:txBody>
                    <a:bodyPr/>
                    <a:lstStyle/>
                    <a:p>
                      <a:pPr marL="0" indent="0">
                        <a:buNone/>
                      </a:pPr>
                      <a:r>
                        <a:rPr lang="en-US" sz="750" dirty="0">
                          <a:solidFill>
                            <a:srgbClr val="828A94"/>
                          </a:solidFill>
                          <a:latin typeface="Consolas" pitchFamily="34" charset="0"/>
                          <a:ea typeface="Consolas" pitchFamily="34" charset="-122"/>
                          <a:cs typeface="Consolas" pitchFamily="34" charset="-120"/>
                        </a:rPr>
                        <a:t>#</a:t>
                      </a:r>
                      <a:endParaRPr lang="en-US" sz="750" dirty="0">
                        <a:latin typeface="Consolas" charset="0"/>
                        <a:ea typeface="Consolas" charset="0"/>
                        <a:cs typeface="Consolas"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buNone/>
                      </a:pPr>
                      <a:r>
                        <a:rPr lang="en-US" sz="750" kern="0" spc="100" dirty="0">
                          <a:solidFill>
                            <a:srgbClr val="828A94"/>
                          </a:solidFill>
                          <a:latin typeface="Consolas" pitchFamily="34" charset="0"/>
                          <a:ea typeface="Consolas" pitchFamily="34" charset="-122"/>
                          <a:cs typeface="Consolas" pitchFamily="34" charset="-120"/>
                        </a:rPr>
                        <a:t>SOURCE</a:t>
                      </a:r>
                      <a:endParaRPr lang="en-US" sz="750" dirty="0">
                        <a:latin typeface="Consolas" charset="0"/>
                        <a:ea typeface="Consolas" charset="0"/>
                        <a:cs typeface="Consolas"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buNone/>
                      </a:pPr>
                      <a:r>
                        <a:rPr lang="en-US" sz="750" kern="0" spc="100" dirty="0">
                          <a:solidFill>
                            <a:srgbClr val="828A94"/>
                          </a:solidFill>
                          <a:latin typeface="Consolas" pitchFamily="34" charset="0"/>
                          <a:ea typeface="Consolas" pitchFamily="34" charset="-122"/>
                          <a:cs typeface="Consolas" pitchFamily="34" charset="-120"/>
                        </a:rPr>
                        <a:t>TYPE</a:t>
                      </a:r>
                      <a:endParaRPr lang="en-US" sz="750" dirty="0">
                        <a:latin typeface="Consolas" charset="0"/>
                        <a:ea typeface="Consolas" charset="0"/>
                        <a:cs typeface="Consolas"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950" dirty="0">
                          <a:solidFill>
                            <a:srgbClr val="4A5058"/>
                          </a:solidFill>
                          <a:latin typeface="Calibri" pitchFamily="34" charset="0"/>
                          <a:ea typeface="Calibri" pitchFamily="34" charset="-122"/>
                          <a:cs typeface="Calibri" pitchFamily="34" charset="-120"/>
                        </a:rPr>
                        <a:t>B1</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buNone/>
                      </a:pPr>
                      <a:r>
                        <a:rPr lang="en-US" sz="950" dirty="0">
                          <a:solidFill>
                            <a:srgbClr val="14161A"/>
                          </a:solidFill>
                          <a:latin typeface="Calibri" pitchFamily="34" charset="0"/>
                          <a:ea typeface="Calibri" pitchFamily="34" charset="-122"/>
                          <a:cs typeface="Calibri" pitchFamily="34" charset="-120"/>
                        </a:rPr>
                        <a:t>Stanford CS231n — Convolutional Neural Networks for Visual Recognition</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buNone/>
                      </a:pPr>
                      <a:r>
                        <a:rPr lang="en-US" sz="950" dirty="0">
                          <a:solidFill>
                            <a:srgbClr val="4A5058"/>
                          </a:solidFill>
                          <a:latin typeface="Calibri" pitchFamily="34" charset="0"/>
                          <a:ea typeface="Calibri" pitchFamily="34" charset="-122"/>
                          <a:cs typeface="Calibri" pitchFamily="34" charset="-120"/>
                        </a:rPr>
                        <a:t>Recognised academic lecture series</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950" dirty="0">
                          <a:solidFill>
                            <a:srgbClr val="4A5058"/>
                          </a:solidFill>
                          <a:latin typeface="Calibri" pitchFamily="34" charset="0"/>
                          <a:ea typeface="Calibri" pitchFamily="34" charset="-122"/>
                          <a:cs typeface="Calibri" pitchFamily="34" charset="-120"/>
                        </a:rPr>
                        <a:t>B2</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buNone/>
                      </a:pPr>
                      <a:r>
                        <a:rPr lang="en-US" sz="950" dirty="0">
                          <a:solidFill>
                            <a:srgbClr val="14161A"/>
                          </a:solidFill>
                          <a:latin typeface="Calibri" pitchFamily="34" charset="0"/>
                          <a:ea typeface="Calibri" pitchFamily="34" charset="-122"/>
                          <a:cs typeface="Calibri" pitchFamily="34" charset="-120"/>
                        </a:rPr>
                        <a:t>Google Research Blog — Night Sight: Seeing in the Dark on Pixel Phones</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buNone/>
                      </a:pPr>
                      <a:r>
                        <a:rPr lang="en-US" sz="950" dirty="0">
                          <a:solidFill>
                            <a:srgbClr val="4A5058"/>
                          </a:solidFill>
                          <a:latin typeface="Calibri" pitchFamily="34" charset="0"/>
                          <a:ea typeface="Calibri" pitchFamily="34" charset="-122"/>
                          <a:cs typeface="Calibri" pitchFamily="34" charset="-120"/>
                        </a:rPr>
                        <a:t>Industry-leader technical blog</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950" dirty="0">
                          <a:solidFill>
                            <a:srgbClr val="4A5058"/>
                          </a:solidFill>
                          <a:latin typeface="Calibri" pitchFamily="34" charset="0"/>
                          <a:ea typeface="Calibri" pitchFamily="34" charset="-122"/>
                          <a:cs typeface="Calibri" pitchFamily="34" charset="-120"/>
                        </a:rPr>
                        <a:t>B3</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buNone/>
                      </a:pPr>
                      <a:r>
                        <a:rPr lang="en-US" sz="950" dirty="0">
                          <a:solidFill>
                            <a:srgbClr val="14161A"/>
                          </a:solidFill>
                          <a:latin typeface="Calibri" pitchFamily="34" charset="0"/>
                          <a:ea typeface="Calibri" pitchFamily="34" charset="-122"/>
                          <a:cs typeface="Calibri" pitchFamily="34" charset="-120"/>
                        </a:rPr>
                        <a:t>Gonzalez &amp; Woods — Digital Image Processing, Image Restoration chapter</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buNone/>
                      </a:pPr>
                      <a:r>
                        <a:rPr lang="en-US" sz="950" dirty="0">
                          <a:solidFill>
                            <a:srgbClr val="4A5058"/>
                          </a:solidFill>
                          <a:latin typeface="Calibri" pitchFamily="34" charset="0"/>
                          <a:ea typeface="Calibri" pitchFamily="34" charset="-122"/>
                          <a:cs typeface="Calibri" pitchFamily="34" charset="-120"/>
                        </a:rPr>
                        <a:t>Textbook chapter</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Shape 3"/>
          <p:cNvSpPr/>
          <p:nvPr/>
        </p:nvSpPr>
        <p:spPr>
          <a:xfrm>
            <a:off x="541050" y="3679162"/>
            <a:ext cx="5577840" cy="160020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7" name="Text 4"/>
          <p:cNvSpPr/>
          <p:nvPr/>
        </p:nvSpPr>
        <p:spPr>
          <a:xfrm>
            <a:off x="769650" y="3862042"/>
            <a:ext cx="5120640" cy="201168"/>
          </a:xfrm>
          <a:prstGeom prst="rect">
            <a:avLst/>
          </a:prstGeom>
          <a:noFill/>
          <a:ln/>
        </p:spPr>
        <p:txBody>
          <a:bodyPr wrap="square" lIns="0" tIns="0" rIns="0" bIns="0" rtlCol="0" anchor="ctr"/>
          <a:lstStyle/>
          <a:p>
            <a:pPr marL="0" indent="0">
              <a:buNone/>
            </a:pPr>
            <a:r>
              <a:rPr lang="en-US" sz="900" kern="0" spc="110" dirty="0">
                <a:solidFill>
                  <a:srgbClr val="3F6B45"/>
                </a:solidFill>
                <a:latin typeface="Times New Roman" panose="02020603050405020304" pitchFamily="18" charset="0"/>
                <a:ea typeface="Consolas" pitchFamily="34" charset="-122"/>
                <a:cs typeface="Times New Roman" panose="02020603050405020304" pitchFamily="18" charset="0"/>
              </a:rPr>
              <a:t>ALL THREE TYPES NAMED VERBATIM IN THE GUIDELINES</a:t>
            </a:r>
            <a:endParaRPr lang="en-US" sz="900" dirty="0">
              <a:latin typeface="Times New Roman" panose="02020603050405020304" pitchFamily="18" charset="0"/>
              <a:cs typeface="Times New Roman" panose="02020603050405020304" pitchFamily="18" charset="0"/>
            </a:endParaRPr>
          </a:p>
        </p:txBody>
      </p:sp>
      <p:sp>
        <p:nvSpPr>
          <p:cNvPr id="8" name="Text 5"/>
          <p:cNvSpPr/>
          <p:nvPr/>
        </p:nvSpPr>
        <p:spPr>
          <a:xfrm>
            <a:off x="769650" y="4108930"/>
            <a:ext cx="5120640" cy="1051560"/>
          </a:xfrm>
          <a:prstGeom prst="rect">
            <a:avLst/>
          </a:prstGeom>
          <a:noFill/>
          <a:ln/>
        </p:spPr>
        <p:txBody>
          <a:bodyPr wrap="square" lIns="0" tIns="0" rIns="0" bIns="0" rtlCol="0" anchor="ctr"/>
          <a:lstStyle/>
          <a:p>
            <a:pPr marL="0" indent="0" algn="just">
              <a:buNone/>
            </a:pPr>
            <a:r>
              <a:rPr lang="en-US" sz="1050" dirty="0">
                <a:solidFill>
                  <a:srgbClr val="4A5058"/>
                </a:solidFill>
                <a:latin typeface="Times New Roman" panose="02020603050405020304" pitchFamily="18" charset="0"/>
                <a:ea typeface="Calibri" pitchFamily="34" charset="-122"/>
                <a:cs typeface="Times New Roman" panose="02020603050405020304" pitchFamily="18" charset="0"/>
              </a:rPr>
              <a:t>The guidelines list textbook chapters, Stanford/MIT lectures, and Google/Meta technical blogs as acceptable. Each Category B entry maps to one of those three named types exactly — so category eligibility is not a judgement call.</a:t>
            </a:r>
            <a:endParaRPr lang="en-US" sz="1050" dirty="0">
              <a:latin typeface="Times New Roman" panose="02020603050405020304" pitchFamily="18" charset="0"/>
              <a:cs typeface="Times New Roman" panose="02020603050405020304" pitchFamily="18" charset="0"/>
            </a:endParaRPr>
          </a:p>
        </p:txBody>
      </p:sp>
      <p:sp>
        <p:nvSpPr>
          <p:cNvPr id="9" name="Text 6"/>
          <p:cNvSpPr/>
          <p:nvPr/>
        </p:nvSpPr>
        <p:spPr>
          <a:xfrm>
            <a:off x="6334555" y="1355812"/>
            <a:ext cx="5486400" cy="274320"/>
          </a:xfrm>
          <a:prstGeom prst="rect">
            <a:avLst/>
          </a:prstGeom>
          <a:noFill/>
          <a:ln/>
        </p:spPr>
        <p:txBody>
          <a:bodyPr wrap="square" lIns="0" tIns="0" rIns="0" bIns="0" rtlCol="0" anchor="ctr"/>
          <a:lstStyle/>
          <a:p>
            <a:pPr marL="0" indent="0">
              <a:buNone/>
            </a:pPr>
            <a:r>
              <a:rPr lang="en-US" sz="1400" b="1" dirty="0">
                <a:solidFill>
                  <a:srgbClr val="14161A"/>
                </a:solidFill>
                <a:latin typeface="Times New Roman" panose="02020603050405020304" pitchFamily="18" charset="0"/>
                <a:ea typeface="Georgia" pitchFamily="34" charset="-122"/>
                <a:cs typeface="Times New Roman" panose="02020603050405020304" pitchFamily="18" charset="0"/>
              </a:rPr>
              <a:t>The quota, checked</a:t>
            </a:r>
            <a:endParaRPr lang="en-US" sz="1400" dirty="0">
              <a:latin typeface="Times New Roman" panose="02020603050405020304" pitchFamily="18" charset="0"/>
              <a:cs typeface="Times New Roman" panose="02020603050405020304" pitchFamily="18" charset="0"/>
            </a:endParaRPr>
          </a:p>
        </p:txBody>
      </p:sp>
      <p:graphicFrame>
        <p:nvGraphicFramePr>
          <p:cNvPr id="23" name="Table 1"/>
          <p:cNvGraphicFramePr>
            <a:graphicFrameLocks noGrp="1"/>
          </p:cNvGraphicFramePr>
          <p:nvPr>
            <p:extLst>
              <p:ext uri="{D42A27DB-BD31-4B8C-83A1-F6EECF244321}">
                <p14:modId xmlns:p14="http://schemas.microsoft.com/office/powerpoint/2010/main" val="3399899888"/>
              </p:ext>
            </p:extLst>
          </p:nvPr>
        </p:nvGraphicFramePr>
        <p:xfrm>
          <a:off x="6334555" y="1713202"/>
          <a:ext cx="5577840" cy="1536192"/>
        </p:xfrm>
        <a:graphic>
          <a:graphicData uri="http://schemas.openxmlformats.org/drawingml/2006/table">
            <a:tbl>
              <a:tblPr/>
              <a:tblGrid>
                <a:gridCol w="2148840">
                  <a:extLst>
                    <a:ext uri="{9D8B030D-6E8A-4147-A177-3AD203B41FA5}">
                      <a16:colId xmlns:a16="http://schemas.microsoft.com/office/drawing/2014/main" val="20000"/>
                    </a:ext>
                  </a:extLst>
                </a:gridCol>
                <a:gridCol w="68580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384048">
                <a:tc>
                  <a:txBody>
                    <a:bodyPr/>
                    <a:lstStyle/>
                    <a:p>
                      <a:pPr marL="0" indent="0">
                        <a:buNone/>
                      </a:pPr>
                      <a:r>
                        <a:rPr lang="en-US" sz="750" kern="0" spc="100" dirty="0">
                          <a:solidFill>
                            <a:srgbClr val="828A94"/>
                          </a:solidFill>
                          <a:latin typeface="Consolas" pitchFamily="34" charset="0"/>
                          <a:ea typeface="Consolas" pitchFamily="34" charset="-122"/>
                          <a:cs typeface="Consolas" pitchFamily="34" charset="-120"/>
                        </a:rPr>
                        <a:t>CATEGORY</a:t>
                      </a:r>
                      <a:endParaRPr lang="en-US" sz="750" dirty="0">
                        <a:latin typeface="Consolas" charset="0"/>
                        <a:ea typeface="Consolas" charset="0"/>
                        <a:cs typeface="Consolas"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750" kern="0" spc="100" dirty="0">
                          <a:solidFill>
                            <a:srgbClr val="828A94"/>
                          </a:solidFill>
                          <a:latin typeface="Consolas" pitchFamily="34" charset="0"/>
                          <a:ea typeface="Consolas" pitchFamily="34" charset="-122"/>
                          <a:cs typeface="Consolas" pitchFamily="34" charset="-120"/>
                        </a:rPr>
                        <a:t>COUNT</a:t>
                      </a:r>
                      <a:endParaRPr lang="en-US" sz="750" dirty="0">
                        <a:latin typeface="Consolas" charset="0"/>
                        <a:ea typeface="Consolas" charset="0"/>
                        <a:cs typeface="Consolas"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750" kern="0" spc="100" dirty="0">
                          <a:solidFill>
                            <a:srgbClr val="828A94"/>
                          </a:solidFill>
                          <a:latin typeface="Consolas" pitchFamily="34" charset="0"/>
                          <a:ea typeface="Consolas" pitchFamily="34" charset="-122"/>
                          <a:cs typeface="Consolas" pitchFamily="34" charset="-120"/>
                        </a:rPr>
                        <a:t>SHARE</a:t>
                      </a:r>
                      <a:endParaRPr lang="en-US" sz="750" dirty="0">
                        <a:latin typeface="Consolas" charset="0"/>
                        <a:ea typeface="Consolas" charset="0"/>
                        <a:cs typeface="Consolas"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750" kern="0" spc="100" dirty="0">
                          <a:solidFill>
                            <a:srgbClr val="828A94"/>
                          </a:solidFill>
                          <a:latin typeface="Consolas" pitchFamily="34" charset="0"/>
                          <a:ea typeface="Consolas" pitchFamily="34" charset="-122"/>
                          <a:cs typeface="Consolas" pitchFamily="34" charset="-120"/>
                        </a:rPr>
                        <a:t>RULE</a:t>
                      </a:r>
                      <a:endParaRPr lang="en-US" sz="750" dirty="0">
                        <a:latin typeface="Consolas" charset="0"/>
                        <a:ea typeface="Consolas" charset="0"/>
                        <a:cs typeface="Consolas"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750" kern="0" spc="100" dirty="0">
                          <a:solidFill>
                            <a:srgbClr val="828A94"/>
                          </a:solidFill>
                          <a:latin typeface="Consolas" pitchFamily="34" charset="0"/>
                          <a:ea typeface="Consolas" pitchFamily="34" charset="-122"/>
                          <a:cs typeface="Consolas" pitchFamily="34" charset="-120"/>
                        </a:rPr>
                        <a:t>STATUS</a:t>
                      </a:r>
                      <a:endParaRPr lang="en-US" sz="750" dirty="0">
                        <a:latin typeface="Consolas" charset="0"/>
                        <a:ea typeface="Consolas" charset="0"/>
                        <a:cs typeface="Consolas"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0"/>
                  </a:ext>
                </a:extLst>
              </a:tr>
              <a:tr h="384048">
                <a:tc>
                  <a:txBody>
                    <a:bodyPr/>
                    <a:lstStyle/>
                    <a:p>
                      <a:pPr marL="0" indent="0">
                        <a:buNone/>
                      </a:pPr>
                      <a:r>
                        <a:rPr lang="en-US" sz="950" dirty="0">
                          <a:solidFill>
                            <a:srgbClr val="14161A"/>
                          </a:solidFill>
                          <a:latin typeface="Calibri" pitchFamily="34" charset="0"/>
                          <a:ea typeface="Calibri" pitchFamily="34" charset="-122"/>
                          <a:cs typeface="Calibri" pitchFamily="34" charset="-120"/>
                        </a:rPr>
                        <a:t>A — peer-reviewed papers</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dirty="0">
                          <a:solidFill>
                            <a:srgbClr val="4A5058"/>
                          </a:solidFill>
                          <a:latin typeface="Calibri" pitchFamily="34" charset="0"/>
                          <a:ea typeface="Calibri" pitchFamily="34" charset="-122"/>
                          <a:cs typeface="Calibri" pitchFamily="34" charset="-120"/>
                        </a:rPr>
                        <a:t>11</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b="1" dirty="0">
                          <a:solidFill>
                            <a:srgbClr val="4A5058"/>
                          </a:solidFill>
                          <a:latin typeface="Calibri" pitchFamily="34" charset="0"/>
                          <a:ea typeface="Calibri" pitchFamily="34" charset="-122"/>
                          <a:cs typeface="Calibri" pitchFamily="34" charset="-120"/>
                        </a:rPr>
                        <a:t>78.6%</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dirty="0">
                          <a:solidFill>
                            <a:srgbClr val="4A5058"/>
                          </a:solidFill>
                          <a:latin typeface="Calibri" pitchFamily="34" charset="0"/>
                          <a:ea typeface="Calibri" pitchFamily="34" charset="-122"/>
                          <a:cs typeface="Calibri" pitchFamily="34" charset="-120"/>
                        </a:rPr>
                        <a:t>≥ 70%</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dirty="0">
                          <a:solidFill>
                            <a:srgbClr val="3F6B45"/>
                          </a:solidFill>
                          <a:latin typeface="Calibri" pitchFamily="34" charset="0"/>
                          <a:ea typeface="Calibri" pitchFamily="34" charset="-122"/>
                          <a:cs typeface="Calibri" pitchFamily="34" charset="-120"/>
                        </a:rPr>
                        <a:t>Pass</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950" dirty="0">
                          <a:solidFill>
                            <a:srgbClr val="14161A"/>
                          </a:solidFill>
                          <a:latin typeface="Calibri" pitchFamily="34" charset="0"/>
                          <a:ea typeface="Calibri" pitchFamily="34" charset="-122"/>
                          <a:cs typeface="Calibri" pitchFamily="34" charset="-120"/>
                        </a:rPr>
                        <a:t>B — auxiliary materials</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dirty="0">
                          <a:solidFill>
                            <a:srgbClr val="4A5058"/>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b="1" dirty="0">
                          <a:solidFill>
                            <a:srgbClr val="4A5058"/>
                          </a:solidFill>
                          <a:latin typeface="Calibri" pitchFamily="34" charset="0"/>
                          <a:ea typeface="Calibri" pitchFamily="34" charset="-122"/>
                          <a:cs typeface="Calibri" pitchFamily="34" charset="-120"/>
                        </a:rPr>
                        <a:t>21.4%</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dirty="0">
                          <a:solidFill>
                            <a:srgbClr val="4A5058"/>
                          </a:solidFill>
                          <a:latin typeface="Calibri" pitchFamily="34" charset="0"/>
                          <a:ea typeface="Calibri" pitchFamily="34" charset="-122"/>
                          <a:cs typeface="Calibri" pitchFamily="34" charset="-120"/>
                        </a:rPr>
                        <a:t>≤ 30%</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dirty="0">
                          <a:solidFill>
                            <a:srgbClr val="3F6B45"/>
                          </a:solidFill>
                          <a:latin typeface="Calibri" pitchFamily="34" charset="0"/>
                          <a:ea typeface="Calibri" pitchFamily="34" charset="-122"/>
                          <a:cs typeface="Calibri" pitchFamily="34" charset="-120"/>
                        </a:rPr>
                        <a:t>Pass</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buNone/>
                      </a:pPr>
                      <a:r>
                        <a:rPr lang="en-US" sz="950" dirty="0">
                          <a:solidFill>
                            <a:srgbClr val="14161A"/>
                          </a:solidFill>
                          <a:latin typeface="Calibri" pitchFamily="34" charset="0"/>
                          <a:ea typeface="Calibri" pitchFamily="34" charset="-122"/>
                          <a:cs typeface="Calibri" pitchFamily="34" charset="-120"/>
                        </a:rPr>
                        <a:t>Total distinct sources</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dirty="0">
                          <a:solidFill>
                            <a:srgbClr val="4A5058"/>
                          </a:solidFill>
                          <a:latin typeface="Calibri" pitchFamily="34" charset="0"/>
                          <a:ea typeface="Calibri" pitchFamily="34" charset="-122"/>
                          <a:cs typeface="Calibri" pitchFamily="34" charset="-120"/>
                        </a:rPr>
                        <a:t>14</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b="1" dirty="0">
                          <a:solidFill>
                            <a:srgbClr val="4A5058"/>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dirty="0">
                          <a:solidFill>
                            <a:srgbClr val="4A5058"/>
                          </a:solidFill>
                          <a:latin typeface="Calibri" pitchFamily="34" charset="0"/>
                          <a:ea typeface="Calibri" pitchFamily="34" charset="-122"/>
                          <a:cs typeface="Calibri" pitchFamily="34" charset="-120"/>
                        </a:rPr>
                        <a:t>≥ 10</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tc>
                  <a:txBody>
                    <a:bodyPr/>
                    <a:lstStyle/>
                    <a:p>
                      <a:pPr marL="0" indent="0" algn="ctr">
                        <a:buNone/>
                      </a:pPr>
                      <a:r>
                        <a:rPr lang="en-US" sz="950" dirty="0">
                          <a:solidFill>
                            <a:srgbClr val="3F6B45"/>
                          </a:solidFill>
                          <a:latin typeface="Calibri" pitchFamily="34" charset="0"/>
                          <a:ea typeface="Calibri" pitchFamily="34" charset="-122"/>
                          <a:cs typeface="Calibri" pitchFamily="34" charset="-120"/>
                        </a:rPr>
                        <a:t>Pass</a:t>
                      </a:r>
                      <a:endParaRPr lang="en-US" sz="950" dirty="0">
                        <a:latin typeface="Calibri" charset="0"/>
                        <a:ea typeface="Calibri" charset="0"/>
                        <a:cs typeface="Calibri" charset="0"/>
                      </a:endParaRPr>
                    </a:p>
                  </a:txBody>
                  <a:tcPr marL="45720" marR="45720" anchor="ctr">
                    <a:lnL w="6350" cap="flat" cmpd="sng" algn="ctr">
                      <a:solidFill>
                        <a:srgbClr val="E4E1D8"/>
                      </a:solidFill>
                      <a:prstDash val="solid"/>
                      <a:round/>
                      <a:headEnd type="none" w="med" len="med"/>
                      <a:tailEnd type="none" w="med" len="med"/>
                    </a:lnL>
                    <a:lnR w="6350" cap="flat" cmpd="sng" algn="ctr">
                      <a:solidFill>
                        <a:srgbClr val="E4E1D8"/>
                      </a:solidFill>
                      <a:prstDash val="solid"/>
                      <a:round/>
                      <a:headEnd type="none" w="med" len="med"/>
                      <a:tailEnd type="none" w="med" len="med"/>
                    </a:lnR>
                    <a:lnT w="6350" cap="flat" cmpd="sng" algn="ctr">
                      <a:solidFill>
                        <a:srgbClr val="E4E1D8"/>
                      </a:solidFill>
                      <a:prstDash val="solid"/>
                      <a:round/>
                      <a:headEnd type="none" w="med" len="med"/>
                      <a:tailEnd type="none" w="med" len="med"/>
                    </a:lnT>
                    <a:lnB w="6350" cap="flat" cmpd="sng" algn="ctr">
                      <a:solidFill>
                        <a:srgbClr val="E4E1D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7"/>
          <p:cNvSpPr/>
          <p:nvPr/>
        </p:nvSpPr>
        <p:spPr>
          <a:xfrm>
            <a:off x="6334555" y="3679162"/>
            <a:ext cx="5577840" cy="160020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5" name="Text 8"/>
          <p:cNvSpPr/>
          <p:nvPr/>
        </p:nvSpPr>
        <p:spPr>
          <a:xfrm>
            <a:off x="6563155" y="3862042"/>
            <a:ext cx="5120640" cy="201168"/>
          </a:xfrm>
          <a:prstGeom prst="rect">
            <a:avLst/>
          </a:prstGeom>
          <a:noFill/>
          <a:ln/>
        </p:spPr>
        <p:txBody>
          <a:bodyPr wrap="square" lIns="0" tIns="0" rIns="0" bIns="0" rtlCol="0" anchor="ctr"/>
          <a:lstStyle/>
          <a:p>
            <a:pPr marL="0" indent="0">
              <a:buNone/>
            </a:pPr>
            <a:r>
              <a:rPr lang="en-US" sz="900" kern="0" spc="110" dirty="0">
                <a:solidFill>
                  <a:srgbClr val="1E5F7E"/>
                </a:solidFill>
                <a:latin typeface="Times New Roman" panose="02020603050405020304" pitchFamily="18" charset="0"/>
                <a:ea typeface="Consolas" pitchFamily="34" charset="-122"/>
                <a:cs typeface="Times New Roman" panose="02020603050405020304" pitchFamily="18" charset="0"/>
              </a:rPr>
              <a:t>WHY 14 AND NOT 10</a:t>
            </a:r>
            <a:endParaRPr lang="en-US" sz="900" dirty="0">
              <a:latin typeface="Times New Roman" panose="02020603050405020304" pitchFamily="18" charset="0"/>
              <a:cs typeface="Times New Roman" panose="02020603050405020304" pitchFamily="18" charset="0"/>
            </a:endParaRPr>
          </a:p>
        </p:txBody>
      </p:sp>
      <p:sp>
        <p:nvSpPr>
          <p:cNvPr id="13" name="Text 9"/>
          <p:cNvSpPr/>
          <p:nvPr/>
        </p:nvSpPr>
        <p:spPr>
          <a:xfrm>
            <a:off x="6563155" y="4108930"/>
            <a:ext cx="5120640" cy="1051560"/>
          </a:xfrm>
          <a:prstGeom prst="rect">
            <a:avLst/>
          </a:prstGeom>
          <a:noFill/>
          <a:ln/>
        </p:spPr>
        <p:txBody>
          <a:bodyPr wrap="square" lIns="0" tIns="0" rIns="0" bIns="0" rtlCol="0" anchor="ctr"/>
          <a:lstStyle/>
          <a:p>
            <a:pPr marL="0" indent="0" algn="just">
              <a:buNone/>
            </a:pPr>
            <a:r>
              <a:rPr lang="en-US" sz="1050" dirty="0">
                <a:solidFill>
                  <a:srgbClr val="4A5058"/>
                </a:solidFill>
                <a:latin typeface="Times New Roman" panose="02020603050405020304" pitchFamily="18" charset="0"/>
                <a:ea typeface="Calibri" pitchFamily="34" charset="-122"/>
                <a:cs typeface="Times New Roman" panose="02020603050405020304" pitchFamily="18" charset="0"/>
              </a:rPr>
              <a:t>At 10 sources the split would be 7/3, leaving no room to drop a paper if a venue is challenged. At 14 we can lose one Category A source and still sit at 10/3 — comfortably above the floor on both rules.</a:t>
            </a:r>
            <a:endParaRPr lang="en-US" sz="1050" dirty="0">
              <a:latin typeface="Times New Roman" panose="02020603050405020304" pitchFamily="18" charset="0"/>
              <a:cs typeface="Times New Roman" panose="02020603050405020304" pitchFamily="18" charset="0"/>
            </a:endParaRPr>
          </a:p>
        </p:txBody>
      </p:sp>
      <p:sp>
        <p:nvSpPr>
          <p:cNvPr id="14" name="Text 10"/>
          <p:cNvSpPr/>
          <p:nvPr/>
        </p:nvSpPr>
        <p:spPr>
          <a:xfrm>
            <a:off x="541050" y="5462242"/>
            <a:ext cx="11055096" cy="274320"/>
          </a:xfrm>
          <a:prstGeom prst="rect">
            <a:avLst/>
          </a:prstGeom>
          <a:noFill/>
          <a:ln/>
        </p:spPr>
        <p:txBody>
          <a:bodyPr wrap="square" lIns="0" tIns="0" rIns="0" bIns="0" rtlCol="0" anchor="ctr"/>
          <a:lstStyle/>
          <a:p>
            <a:pPr marL="0" indent="0">
              <a:buNone/>
            </a:pPr>
            <a:r>
              <a:rPr lang="en-US" sz="1050" i="1" dirty="0">
                <a:solidFill>
                  <a:srgbClr val="828A94"/>
                </a:solidFill>
                <a:latin typeface="Times New Roman" panose="02020603050405020304" pitchFamily="18" charset="0"/>
                <a:ea typeface="Calibri" pitchFamily="34" charset="-122"/>
                <a:cs typeface="Times New Roman" panose="02020603050405020304" pitchFamily="18" charset="0"/>
              </a:rPr>
              <a:t>Category A is always rounded up: 70% is a floor, not a target.</a:t>
            </a:r>
            <a:endParaRPr lang="en-US" sz="105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12</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§5 · CATEGORY B JUSTIFICATION — BRIDGING THEORY TO STAGE 2 ENGINEERING</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21792"/>
            <a:ext cx="11055096" cy="777240"/>
          </a:xfrm>
          <a:prstGeom prst="rect">
            <a:avLst/>
          </a:prstGeom>
          <a:noFill/>
          <a:ln/>
        </p:spPr>
        <p:txBody>
          <a:bodyPr wrap="square" lIns="0" tIns="0" rIns="0" bIns="0" rtlCol="0" anchor="t"/>
          <a:lstStyle/>
          <a:p>
            <a:pPr marL="0" indent="0">
              <a:buNone/>
            </a:pPr>
            <a:r>
              <a:rPr lang="en-US" sz="2800" b="1" dirty="0">
                <a:solidFill>
                  <a:srgbClr val="14161A"/>
                </a:solidFill>
                <a:latin typeface="Times New Roman" panose="02020603050405020304" pitchFamily="18" charset="0"/>
                <a:ea typeface="Georgia" pitchFamily="34" charset="-122"/>
                <a:cs typeface="Times New Roman" panose="02020603050405020304" pitchFamily="18" charset="0"/>
              </a:rPr>
              <a:t>What each auxiliary source is for</a:t>
            </a:r>
            <a:endParaRPr lang="en-US" sz="2800" dirty="0">
              <a:latin typeface="Times New Roman" panose="02020603050405020304" pitchFamily="18" charset="0"/>
              <a:cs typeface="Times New Roman" panose="02020603050405020304" pitchFamily="18" charset="0"/>
            </a:endParaRPr>
          </a:p>
        </p:txBody>
      </p:sp>
      <p:sp>
        <p:nvSpPr>
          <p:cNvPr id="5" name="Shape 3"/>
          <p:cNvSpPr/>
          <p:nvPr/>
        </p:nvSpPr>
        <p:spPr>
          <a:xfrm>
            <a:off x="566928" y="1668780"/>
            <a:ext cx="3520440" cy="352044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6" name="Shape 4"/>
          <p:cNvSpPr/>
          <p:nvPr/>
        </p:nvSpPr>
        <p:spPr>
          <a:xfrm>
            <a:off x="768096" y="1888236"/>
            <a:ext cx="118872" cy="118872"/>
          </a:xfrm>
          <a:prstGeom prst="ellipse">
            <a:avLst/>
          </a:prstGeom>
          <a:solidFill>
            <a:srgbClr val="1E5F7E"/>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7" name="Text 5"/>
          <p:cNvSpPr/>
          <p:nvPr/>
        </p:nvSpPr>
        <p:spPr>
          <a:xfrm>
            <a:off x="1005840" y="1851660"/>
            <a:ext cx="914400" cy="201168"/>
          </a:xfrm>
          <a:prstGeom prst="rect">
            <a:avLst/>
          </a:prstGeom>
          <a:noFill/>
          <a:ln/>
        </p:spPr>
        <p:txBody>
          <a:bodyPr wrap="square" lIns="0" tIns="0" rIns="0" bIns="0" rtlCol="0" anchor="ctr"/>
          <a:lstStyle/>
          <a:p>
            <a:pPr marL="0" indent="0">
              <a:buNone/>
            </a:pPr>
            <a:r>
              <a:rPr lang="en-US" sz="900" kern="0" spc="120" dirty="0">
                <a:solidFill>
                  <a:srgbClr val="1E5F7E"/>
                </a:solidFill>
                <a:latin typeface="Times New Roman" panose="02020603050405020304" pitchFamily="18" charset="0"/>
                <a:ea typeface="Consolas" pitchFamily="34" charset="-122"/>
                <a:cs typeface="Times New Roman" panose="02020603050405020304" pitchFamily="18" charset="0"/>
              </a:rPr>
              <a:t>B1</a:t>
            </a:r>
            <a:endParaRPr lang="en-US" sz="900" dirty="0">
              <a:latin typeface="Times New Roman" panose="02020603050405020304" pitchFamily="18" charset="0"/>
              <a:cs typeface="Times New Roman" panose="02020603050405020304" pitchFamily="18" charset="0"/>
            </a:endParaRPr>
          </a:p>
        </p:txBody>
      </p:sp>
      <p:sp>
        <p:nvSpPr>
          <p:cNvPr id="8" name="Text 6"/>
          <p:cNvSpPr/>
          <p:nvPr/>
        </p:nvSpPr>
        <p:spPr>
          <a:xfrm>
            <a:off x="795528" y="2107692"/>
            <a:ext cx="3063240" cy="457200"/>
          </a:xfrm>
          <a:prstGeom prst="rect">
            <a:avLst/>
          </a:prstGeom>
          <a:noFill/>
          <a:ln/>
        </p:spPr>
        <p:txBody>
          <a:bodyPr wrap="square" lIns="0" tIns="0" rIns="0" bIns="0" rtlCol="0" anchor="ctr"/>
          <a:lstStyle/>
          <a:p>
            <a:pPr marL="0" indent="0">
              <a:buNone/>
            </a:pPr>
            <a:r>
              <a:rPr lang="en-US" sz="1400" b="1" dirty="0">
                <a:solidFill>
                  <a:srgbClr val="14161A"/>
                </a:solidFill>
                <a:latin typeface="Times New Roman" panose="02020603050405020304" pitchFamily="18" charset="0"/>
                <a:ea typeface="Georgia" pitchFamily="34" charset="-122"/>
                <a:cs typeface="Times New Roman" panose="02020603050405020304" pitchFamily="18" charset="0"/>
              </a:rPr>
              <a:t>Stanford CS231n</a:t>
            </a:r>
            <a:endParaRPr lang="en-US" sz="1400" dirty="0">
              <a:latin typeface="Times New Roman" panose="02020603050405020304" pitchFamily="18" charset="0"/>
              <a:cs typeface="Times New Roman" panose="02020603050405020304" pitchFamily="18" charset="0"/>
            </a:endParaRPr>
          </a:p>
        </p:txBody>
      </p:sp>
      <p:sp>
        <p:nvSpPr>
          <p:cNvPr id="9" name="Text 7"/>
          <p:cNvSpPr/>
          <p:nvPr/>
        </p:nvSpPr>
        <p:spPr>
          <a:xfrm>
            <a:off x="795528" y="2555748"/>
            <a:ext cx="3063240" cy="457200"/>
          </a:xfrm>
          <a:prstGeom prst="rect">
            <a:avLst/>
          </a:prstGeom>
          <a:noFill/>
          <a:ln/>
        </p:spPr>
        <p:txBody>
          <a:bodyPr wrap="square" lIns="0" tIns="0" rIns="0" bIns="0" rtlCol="0" anchor="ctr"/>
          <a:lstStyle/>
          <a:p>
            <a:pPr marL="0" indent="0" algn="just">
              <a:buNone/>
            </a:pPr>
            <a:r>
              <a:rPr lang="en-US" sz="1000" i="1" dirty="0">
                <a:solidFill>
                  <a:srgbClr val="828A94"/>
                </a:solidFill>
                <a:latin typeface="Times New Roman" panose="02020603050405020304" pitchFamily="18" charset="0"/>
                <a:ea typeface="Calibri" pitchFamily="34" charset="-122"/>
                <a:cs typeface="Times New Roman" panose="02020603050405020304" pitchFamily="18" charset="0"/>
              </a:rPr>
              <a:t>Recognised academic lecture series — named verbatim in the guidelines.</a:t>
            </a:r>
            <a:endParaRPr lang="en-US" sz="1000" dirty="0">
              <a:latin typeface="Times New Roman" panose="02020603050405020304" pitchFamily="18" charset="0"/>
              <a:cs typeface="Times New Roman" panose="02020603050405020304" pitchFamily="18" charset="0"/>
            </a:endParaRPr>
          </a:p>
        </p:txBody>
      </p:sp>
      <p:sp>
        <p:nvSpPr>
          <p:cNvPr id="10" name="Text 8"/>
          <p:cNvSpPr/>
          <p:nvPr/>
        </p:nvSpPr>
        <p:spPr>
          <a:xfrm>
            <a:off x="795528" y="3012948"/>
            <a:ext cx="3063240" cy="960120"/>
          </a:xfrm>
          <a:prstGeom prst="rect">
            <a:avLst/>
          </a:prstGeom>
          <a:noFill/>
          <a:ln/>
        </p:spPr>
        <p:txBody>
          <a:bodyPr wrap="square" lIns="0" tIns="0" rIns="0" bIns="0" rtlCol="0" anchor="ctr"/>
          <a:lstStyle/>
          <a:p>
            <a:pPr marL="0" indent="0" algn="just">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What it supplies: the mechanics our Category A papers assume rather than explain — convolution arithmetic, receptive-field growth, batch normalisation.</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795528" y="4000500"/>
            <a:ext cx="3063240" cy="1051560"/>
          </a:xfrm>
          <a:prstGeom prst="rect">
            <a:avLst/>
          </a:prstGeom>
          <a:noFill/>
          <a:ln/>
        </p:spPr>
        <p:txBody>
          <a:bodyPr wrap="square" lIns="0" tIns="0" rIns="0" bIns="0" rtlCol="0" anchor="ctr"/>
          <a:lstStyle/>
          <a:p>
            <a:pPr marL="0" indent="0" algn="just">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Bridge to Stage 2: DnCNN reports a 35×35 receptive field at depth 17 without deriving it. CS231n supplies the derivation — which makes the corresponding lines of a real repository legible when we read code.</a:t>
            </a:r>
            <a:endParaRPr lang="en-US" sz="1000" dirty="0">
              <a:latin typeface="Times New Roman" panose="02020603050405020304" pitchFamily="18" charset="0"/>
              <a:cs typeface="Times New Roman" panose="02020603050405020304" pitchFamily="18" charset="0"/>
            </a:endParaRPr>
          </a:p>
        </p:txBody>
      </p:sp>
      <p:sp>
        <p:nvSpPr>
          <p:cNvPr id="12" name="Shape 10"/>
          <p:cNvSpPr/>
          <p:nvPr/>
        </p:nvSpPr>
        <p:spPr>
          <a:xfrm>
            <a:off x="4334256" y="1668780"/>
            <a:ext cx="3520440" cy="352044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3" name="Shape 11"/>
          <p:cNvSpPr/>
          <p:nvPr/>
        </p:nvSpPr>
        <p:spPr>
          <a:xfrm>
            <a:off x="4535424" y="1888236"/>
            <a:ext cx="118872" cy="118872"/>
          </a:xfrm>
          <a:prstGeom prst="ellipse">
            <a:avLst/>
          </a:prstGeom>
          <a:solidFill>
            <a:srgbClr val="1E5F7E"/>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4" name="Text 12"/>
          <p:cNvSpPr/>
          <p:nvPr/>
        </p:nvSpPr>
        <p:spPr>
          <a:xfrm>
            <a:off x="4773168" y="1851660"/>
            <a:ext cx="914400" cy="201168"/>
          </a:xfrm>
          <a:prstGeom prst="rect">
            <a:avLst/>
          </a:prstGeom>
          <a:noFill/>
          <a:ln/>
        </p:spPr>
        <p:txBody>
          <a:bodyPr wrap="square" lIns="0" tIns="0" rIns="0" bIns="0" rtlCol="0" anchor="ctr"/>
          <a:lstStyle/>
          <a:p>
            <a:pPr marL="0" indent="0">
              <a:buNone/>
            </a:pPr>
            <a:r>
              <a:rPr lang="en-US" sz="900" kern="0" spc="120" dirty="0">
                <a:solidFill>
                  <a:srgbClr val="1E5F7E"/>
                </a:solidFill>
                <a:latin typeface="Times New Roman" panose="02020603050405020304" pitchFamily="18" charset="0"/>
                <a:ea typeface="Consolas" pitchFamily="34" charset="-122"/>
                <a:cs typeface="Times New Roman" panose="02020603050405020304" pitchFamily="18" charset="0"/>
              </a:rPr>
              <a:t>B2</a:t>
            </a:r>
            <a:endParaRPr lang="en-US" sz="900" dirty="0">
              <a:latin typeface="Times New Roman" panose="02020603050405020304" pitchFamily="18" charset="0"/>
              <a:cs typeface="Times New Roman" panose="02020603050405020304" pitchFamily="18" charset="0"/>
            </a:endParaRPr>
          </a:p>
        </p:txBody>
      </p:sp>
      <p:sp>
        <p:nvSpPr>
          <p:cNvPr id="15" name="Text 13"/>
          <p:cNvSpPr/>
          <p:nvPr/>
        </p:nvSpPr>
        <p:spPr>
          <a:xfrm>
            <a:off x="4562856" y="2107692"/>
            <a:ext cx="3063240" cy="457200"/>
          </a:xfrm>
          <a:prstGeom prst="rect">
            <a:avLst/>
          </a:prstGeom>
          <a:noFill/>
          <a:ln/>
        </p:spPr>
        <p:txBody>
          <a:bodyPr wrap="square" lIns="0" tIns="0" rIns="0" bIns="0" rtlCol="0" anchor="ctr"/>
          <a:lstStyle/>
          <a:p>
            <a:pPr marL="0" indent="0">
              <a:buNone/>
            </a:pPr>
            <a:r>
              <a:rPr lang="en-US" sz="1400" b="1" dirty="0">
                <a:solidFill>
                  <a:srgbClr val="14161A"/>
                </a:solidFill>
                <a:latin typeface="Times New Roman" panose="02020603050405020304" pitchFamily="18" charset="0"/>
                <a:ea typeface="Georgia" pitchFamily="34" charset="-122"/>
                <a:cs typeface="Times New Roman" panose="02020603050405020304" pitchFamily="18" charset="0"/>
              </a:rPr>
              <a:t>Google Research — Night Sight</a:t>
            </a:r>
            <a:endParaRPr lang="en-US" sz="1400" dirty="0">
              <a:latin typeface="Times New Roman" panose="02020603050405020304" pitchFamily="18" charset="0"/>
              <a:cs typeface="Times New Roman" panose="02020603050405020304" pitchFamily="18" charset="0"/>
            </a:endParaRPr>
          </a:p>
        </p:txBody>
      </p:sp>
      <p:sp>
        <p:nvSpPr>
          <p:cNvPr id="16" name="Text 14"/>
          <p:cNvSpPr/>
          <p:nvPr/>
        </p:nvSpPr>
        <p:spPr>
          <a:xfrm>
            <a:off x="4562856" y="2555748"/>
            <a:ext cx="3063240" cy="457200"/>
          </a:xfrm>
          <a:prstGeom prst="rect">
            <a:avLst/>
          </a:prstGeom>
          <a:noFill/>
          <a:ln/>
        </p:spPr>
        <p:txBody>
          <a:bodyPr wrap="square" lIns="0" tIns="0" rIns="0" bIns="0" rtlCol="0" anchor="ctr"/>
          <a:lstStyle/>
          <a:p>
            <a:pPr marL="0" indent="0" algn="just">
              <a:buNone/>
            </a:pPr>
            <a:r>
              <a:rPr lang="en-US" sz="1000" i="1" dirty="0">
                <a:solidFill>
                  <a:srgbClr val="828A94"/>
                </a:solidFill>
                <a:latin typeface="Times New Roman" panose="02020603050405020304" pitchFamily="18" charset="0"/>
                <a:ea typeface="Calibri" pitchFamily="34" charset="-122"/>
                <a:cs typeface="Times New Roman" panose="02020603050405020304" pitchFamily="18" charset="0"/>
              </a:rPr>
              <a:t>Industry-leader technical blog — Google Research named verbatim in the guidelines.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4562856" y="3069467"/>
            <a:ext cx="3063240" cy="960120"/>
          </a:xfrm>
          <a:prstGeom prst="rect">
            <a:avLst/>
          </a:prstGeom>
          <a:noFill/>
          <a:ln/>
        </p:spPr>
        <p:txBody>
          <a:bodyPr wrap="square" lIns="0" tIns="0" rIns="0" bIns="0" rtlCol="0" anchor="ctr"/>
          <a:lstStyle/>
          <a:p>
            <a:pPr marL="0" indent="0" algn="just">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What it supplies: the separation of photon shot noise from read noise, the square-root relationship between SNR and exposure time, and the HDR+ burst capture / align / merge pipeline.</a:t>
            </a:r>
            <a:endParaRPr lang="en-US" sz="1000" dirty="0">
              <a:latin typeface="Times New Roman" panose="02020603050405020304" pitchFamily="18" charset="0"/>
              <a:cs typeface="Times New Roman" panose="02020603050405020304" pitchFamily="18" charset="0"/>
            </a:endParaRPr>
          </a:p>
        </p:txBody>
      </p:sp>
      <p:sp>
        <p:nvSpPr>
          <p:cNvPr id="18" name="Text 16"/>
          <p:cNvSpPr/>
          <p:nvPr/>
        </p:nvSpPr>
        <p:spPr>
          <a:xfrm>
            <a:off x="4562856" y="3925917"/>
            <a:ext cx="3063240" cy="1051560"/>
          </a:xfrm>
          <a:prstGeom prst="rect">
            <a:avLst/>
          </a:prstGeom>
          <a:noFill/>
          <a:ln/>
        </p:spPr>
        <p:txBody>
          <a:bodyPr wrap="square" lIns="0" tIns="0" rIns="0" bIns="0" rtlCol="0" anchor="ctr"/>
          <a:lstStyle/>
          <a:p>
            <a:pPr marL="0" indent="0" algn="just">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Bridge to Stage 2: the only source in the roster describing denoising as a shipped consumer product. It anchors Stage 2's deployment-reality requirement in something concrete.</a:t>
            </a:r>
            <a:endParaRPr lang="en-US" sz="1000" dirty="0">
              <a:latin typeface="Times New Roman" panose="02020603050405020304" pitchFamily="18" charset="0"/>
              <a:cs typeface="Times New Roman" panose="02020603050405020304" pitchFamily="18" charset="0"/>
            </a:endParaRPr>
          </a:p>
        </p:txBody>
      </p:sp>
      <p:sp>
        <p:nvSpPr>
          <p:cNvPr id="19" name="Shape 17"/>
          <p:cNvSpPr/>
          <p:nvPr/>
        </p:nvSpPr>
        <p:spPr>
          <a:xfrm>
            <a:off x="8101584" y="1668780"/>
            <a:ext cx="3520440" cy="3520440"/>
          </a:xfrm>
          <a:prstGeom prst="rect">
            <a:avLst/>
          </a:prstGeom>
          <a:solidFill>
            <a:srgbClr val="FAF9F6"/>
          </a:solid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20" name="Shape 18"/>
          <p:cNvSpPr/>
          <p:nvPr/>
        </p:nvSpPr>
        <p:spPr>
          <a:xfrm>
            <a:off x="8302752" y="1888236"/>
            <a:ext cx="118872" cy="118872"/>
          </a:xfrm>
          <a:prstGeom prst="ellipse">
            <a:avLst/>
          </a:prstGeom>
          <a:solidFill>
            <a:srgbClr val="1E5F7E"/>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21" name="Text 19"/>
          <p:cNvSpPr/>
          <p:nvPr/>
        </p:nvSpPr>
        <p:spPr>
          <a:xfrm>
            <a:off x="8540496" y="1851660"/>
            <a:ext cx="914400" cy="201168"/>
          </a:xfrm>
          <a:prstGeom prst="rect">
            <a:avLst/>
          </a:prstGeom>
          <a:noFill/>
          <a:ln/>
        </p:spPr>
        <p:txBody>
          <a:bodyPr wrap="square" lIns="0" tIns="0" rIns="0" bIns="0" rtlCol="0" anchor="ctr"/>
          <a:lstStyle/>
          <a:p>
            <a:pPr marL="0" indent="0">
              <a:buNone/>
            </a:pPr>
            <a:r>
              <a:rPr lang="en-US" sz="900" kern="0" spc="120" dirty="0">
                <a:solidFill>
                  <a:srgbClr val="1E5F7E"/>
                </a:solidFill>
                <a:latin typeface="Times New Roman" panose="02020603050405020304" pitchFamily="18" charset="0"/>
                <a:ea typeface="Consolas" pitchFamily="34" charset="-122"/>
                <a:cs typeface="Times New Roman" panose="02020603050405020304" pitchFamily="18" charset="0"/>
              </a:rPr>
              <a:t>B3</a:t>
            </a:r>
            <a:endParaRPr lang="en-US" sz="900" dirty="0">
              <a:latin typeface="Times New Roman" panose="02020603050405020304" pitchFamily="18" charset="0"/>
              <a:cs typeface="Times New Roman" panose="02020603050405020304" pitchFamily="18" charset="0"/>
            </a:endParaRPr>
          </a:p>
        </p:txBody>
      </p:sp>
      <p:sp>
        <p:nvSpPr>
          <p:cNvPr id="22" name="Text 20"/>
          <p:cNvSpPr/>
          <p:nvPr/>
        </p:nvSpPr>
        <p:spPr>
          <a:xfrm>
            <a:off x="8330184" y="2107692"/>
            <a:ext cx="3063240" cy="457200"/>
          </a:xfrm>
          <a:prstGeom prst="rect">
            <a:avLst/>
          </a:prstGeom>
          <a:noFill/>
          <a:ln/>
        </p:spPr>
        <p:txBody>
          <a:bodyPr wrap="square" lIns="0" tIns="0" rIns="0" bIns="0" rtlCol="0" anchor="ctr"/>
          <a:lstStyle/>
          <a:p>
            <a:pPr marL="0" indent="0">
              <a:buNone/>
            </a:pPr>
            <a:r>
              <a:rPr lang="en-US" sz="1400" b="1" dirty="0">
                <a:solidFill>
                  <a:srgbClr val="14161A"/>
                </a:solidFill>
                <a:latin typeface="Times New Roman" panose="02020603050405020304" pitchFamily="18" charset="0"/>
                <a:ea typeface="Georgia" pitchFamily="34" charset="-122"/>
                <a:cs typeface="Times New Roman" panose="02020603050405020304" pitchFamily="18" charset="0"/>
              </a:rPr>
              <a:t>Gonzalez &amp; Woods</a:t>
            </a:r>
            <a:endParaRPr lang="en-US" sz="1400" dirty="0">
              <a:latin typeface="Times New Roman" panose="02020603050405020304" pitchFamily="18" charset="0"/>
              <a:cs typeface="Times New Roman" panose="02020603050405020304" pitchFamily="18" charset="0"/>
            </a:endParaRPr>
          </a:p>
        </p:txBody>
      </p:sp>
      <p:sp>
        <p:nvSpPr>
          <p:cNvPr id="23" name="Text 21"/>
          <p:cNvSpPr/>
          <p:nvPr/>
        </p:nvSpPr>
        <p:spPr>
          <a:xfrm>
            <a:off x="8330184" y="2555748"/>
            <a:ext cx="3063240" cy="457200"/>
          </a:xfrm>
          <a:prstGeom prst="rect">
            <a:avLst/>
          </a:prstGeom>
          <a:noFill/>
          <a:ln/>
        </p:spPr>
        <p:txBody>
          <a:bodyPr wrap="square" lIns="0" tIns="0" rIns="0" bIns="0" rtlCol="0" anchor="ctr"/>
          <a:lstStyle/>
          <a:p>
            <a:pPr marL="0" indent="0" algn="just">
              <a:buNone/>
            </a:pPr>
            <a:r>
              <a:rPr lang="en-US" sz="1000" i="1" dirty="0">
                <a:solidFill>
                  <a:srgbClr val="828A94"/>
                </a:solidFill>
                <a:latin typeface="Times New Roman" panose="02020603050405020304" pitchFamily="18" charset="0"/>
                <a:ea typeface="Calibri" pitchFamily="34" charset="-122"/>
                <a:cs typeface="Times New Roman" panose="02020603050405020304" pitchFamily="18" charset="0"/>
              </a:rPr>
              <a:t>Textbook chapter on image restoration — an explicitly permitted type.</a:t>
            </a:r>
            <a:endParaRPr lang="en-US" sz="1000" dirty="0">
              <a:latin typeface="Times New Roman" panose="02020603050405020304" pitchFamily="18" charset="0"/>
              <a:cs typeface="Times New Roman" panose="02020603050405020304" pitchFamily="18" charset="0"/>
            </a:endParaRPr>
          </a:p>
        </p:txBody>
      </p:sp>
      <p:sp>
        <p:nvSpPr>
          <p:cNvPr id="24" name="Text 22"/>
          <p:cNvSpPr/>
          <p:nvPr/>
        </p:nvSpPr>
        <p:spPr>
          <a:xfrm>
            <a:off x="8330184" y="2978444"/>
            <a:ext cx="3063240" cy="960120"/>
          </a:xfrm>
          <a:prstGeom prst="rect">
            <a:avLst/>
          </a:prstGeom>
          <a:noFill/>
          <a:ln/>
        </p:spPr>
        <p:txBody>
          <a:bodyPr wrap="square" lIns="0" tIns="0" rIns="0" bIns="0" rtlCol="0" anchor="ctr"/>
          <a:lstStyle/>
          <a:p>
            <a:pPr marL="0" indent="0" algn="just">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What it supplies: the mathematics of noise models — Gaussian, Rayleigh, Poisson, salt-and-pepper — and of mean, order-statistic and adaptive filters.</a:t>
            </a:r>
            <a:endParaRPr lang="en-US" sz="1000" dirty="0">
              <a:latin typeface="Times New Roman" panose="02020603050405020304" pitchFamily="18" charset="0"/>
              <a:cs typeface="Times New Roman" panose="02020603050405020304" pitchFamily="18" charset="0"/>
            </a:endParaRPr>
          </a:p>
        </p:txBody>
      </p:sp>
      <p:sp>
        <p:nvSpPr>
          <p:cNvPr id="25" name="Text 23"/>
          <p:cNvSpPr/>
          <p:nvPr/>
        </p:nvSpPr>
        <p:spPr>
          <a:xfrm>
            <a:off x="8330184" y="3905246"/>
            <a:ext cx="3063240" cy="1051560"/>
          </a:xfrm>
          <a:prstGeom prst="rect">
            <a:avLst/>
          </a:prstGeom>
          <a:noFill/>
          <a:ln/>
        </p:spPr>
        <p:txBody>
          <a:bodyPr wrap="square" lIns="0" tIns="0" rIns="0" bIns="0" rtlCol="0" anchor="ctr"/>
          <a:lstStyle/>
          <a:p>
            <a:pPr marL="0" indent="0" algn="just">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Bridge to Stage 2: the bottom rung of the timeline, below BM3D, and the reference against which SCUNet's synthetic degradation pipeline can be read critically.</a:t>
            </a:r>
            <a:endParaRPr lang="en-US" sz="10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900" dirty="0">
                <a:solidFill>
                  <a:srgbClr val="828A94"/>
                </a:solidFill>
                <a:latin typeface="Consolas" pitchFamily="34" charset="0"/>
                <a:ea typeface="Consolas" pitchFamily="34" charset="-122"/>
                <a:cs typeface="Consolas" pitchFamily="34" charset="-120"/>
              </a:rPr>
              <a:t>13</a:t>
            </a:r>
            <a:endParaRPr lang="en-US" sz="900" dirty="0"/>
          </a:p>
        </p:txBody>
      </p:sp>
      <p:sp>
        <p:nvSpPr>
          <p:cNvPr id="3" name="Text 1"/>
          <p:cNvSpPr/>
          <p:nvPr/>
        </p:nvSpPr>
        <p:spPr>
          <a:xfrm>
            <a:off x="566928" y="2215746"/>
            <a:ext cx="11055096" cy="274320"/>
          </a:xfrm>
          <a:prstGeom prst="rect">
            <a:avLst/>
          </a:prstGeom>
          <a:noFill/>
          <a:ln/>
        </p:spPr>
        <p:txBody>
          <a:bodyPr wrap="square" lIns="0" tIns="0" rIns="0" bIns="0" rtlCol="0" anchor="ctr"/>
          <a:lstStyle/>
          <a:p>
            <a:pPr marL="0" indent="0">
              <a:buNone/>
            </a:pPr>
            <a:r>
              <a:rPr lang="en-US" sz="1100" kern="0" spc="300" dirty="0">
                <a:solidFill>
                  <a:srgbClr val="6D3F86"/>
                </a:solidFill>
                <a:latin typeface="Consolas" pitchFamily="34" charset="0"/>
                <a:ea typeface="Consolas" pitchFamily="34" charset="-122"/>
                <a:cs typeface="Consolas" pitchFamily="34" charset="-120"/>
              </a:rPr>
              <a:t>PART IV</a:t>
            </a:r>
            <a:endParaRPr lang="en-US" sz="1100" dirty="0"/>
          </a:p>
        </p:txBody>
      </p:sp>
      <p:sp>
        <p:nvSpPr>
          <p:cNvPr id="4" name="Text 2"/>
          <p:cNvSpPr/>
          <p:nvPr/>
        </p:nvSpPr>
        <p:spPr>
          <a:xfrm>
            <a:off x="566928" y="2570355"/>
            <a:ext cx="8686800" cy="914400"/>
          </a:xfrm>
          <a:prstGeom prst="rect">
            <a:avLst/>
          </a:prstGeom>
          <a:noFill/>
          <a:ln/>
        </p:spPr>
        <p:txBody>
          <a:bodyPr wrap="square" lIns="0" tIns="0" rIns="0" bIns="0" rtlCol="0" anchor="ctr"/>
          <a:lstStyle/>
          <a:p>
            <a:pPr marL="0" indent="0">
              <a:buNone/>
            </a:pPr>
            <a:r>
              <a:rPr lang="en-US" sz="4000" b="1" dirty="0">
                <a:solidFill>
                  <a:srgbClr val="14161A"/>
                </a:solidFill>
                <a:latin typeface="Times New Roman" panose="02020603050405020304" pitchFamily="18" charset="0"/>
                <a:ea typeface="Georgia" pitchFamily="34" charset="-122"/>
                <a:cs typeface="Times New Roman" panose="02020603050405020304" pitchFamily="18" charset="0"/>
              </a:rPr>
              <a:t>Paper by paper</a:t>
            </a:r>
            <a:endParaRPr lang="en-US" sz="4000" dirty="0">
              <a:latin typeface="Times New Roman" panose="02020603050405020304" pitchFamily="18" charset="0"/>
              <a:cs typeface="Times New Roman" panose="02020603050405020304" pitchFamily="18" charset="0"/>
            </a:endParaRPr>
          </a:p>
        </p:txBody>
      </p:sp>
      <p:sp>
        <p:nvSpPr>
          <p:cNvPr id="5" name="Text 3"/>
          <p:cNvSpPr/>
          <p:nvPr/>
        </p:nvSpPr>
        <p:spPr>
          <a:xfrm>
            <a:off x="566928" y="3344253"/>
            <a:ext cx="8412480" cy="1097280"/>
          </a:xfrm>
          <a:prstGeom prst="rect">
            <a:avLst/>
          </a:prstGeom>
          <a:noFill/>
          <a:ln/>
        </p:spPr>
        <p:txBody>
          <a:bodyPr wrap="square" lIns="0" tIns="0" rIns="0" bIns="0" rtlCol="0" anchor="ctr"/>
          <a:lstStyle/>
          <a:p>
            <a:pPr marL="0" indent="0">
              <a:buNone/>
            </a:pPr>
            <a:r>
              <a:rPr lang="en-US" sz="1200" dirty="0">
                <a:solidFill>
                  <a:srgbClr val="4A5058"/>
                </a:solidFill>
                <a:latin typeface="Times New Roman" panose="02020603050405020304" pitchFamily="18" charset="0"/>
                <a:ea typeface="Calibri" pitchFamily="34" charset="-122"/>
                <a:cs typeface="Times New Roman" panose="02020603050405020304" pitchFamily="18" charset="0"/>
              </a:rPr>
              <a:t>Metadata and credibility · technical specifications · evolutionary context. Eleven slides, one per Category A source, in the order the field produced them.</a:t>
            </a:r>
            <a:endParaRPr lang="en-US" sz="12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14</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§4 · PAPER-BY-PAPER — THE RIGOR CHECK   ·   A1 · 2007</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58368"/>
            <a:ext cx="868680" cy="457200"/>
          </a:xfrm>
          <a:prstGeom prst="rect">
            <a:avLst/>
          </a:prstGeom>
          <a:noFill/>
          <a:ln/>
        </p:spPr>
        <p:txBody>
          <a:bodyPr wrap="square" lIns="0" tIns="0" rIns="0" bIns="0" rtlCol="0" anchor="ctr"/>
          <a:lstStyle/>
          <a:p>
            <a:pPr marL="0" indent="0">
              <a:buNone/>
            </a:pPr>
            <a:r>
              <a:rPr lang="en-US" sz="2800" b="1" dirty="0">
                <a:solidFill>
                  <a:srgbClr val="6E6350"/>
                </a:solidFill>
                <a:latin typeface="Times New Roman" panose="02020603050405020304" pitchFamily="18" charset="0"/>
                <a:ea typeface="Consolas" pitchFamily="34" charset="-122"/>
                <a:cs typeface="Times New Roman" panose="02020603050405020304" pitchFamily="18" charset="0"/>
              </a:rPr>
              <a:t>A1</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1481328" y="658368"/>
            <a:ext cx="10140696" cy="502920"/>
          </a:xfrm>
          <a:prstGeom prst="rect">
            <a:avLst/>
          </a:prstGeom>
          <a:noFill/>
          <a:ln/>
        </p:spPr>
        <p:txBody>
          <a:bodyPr wrap="square" lIns="0" tIns="0" rIns="0" bIns="0" rtlCol="0" anchor="t"/>
          <a:lstStyle/>
          <a:p>
            <a:pPr marL="0" indent="0">
              <a:buNone/>
            </a:pPr>
            <a:r>
              <a:rPr lang="en-US" b="1" dirty="0">
                <a:solidFill>
                  <a:srgbClr val="14161A"/>
                </a:solidFill>
                <a:latin typeface="Times New Roman" panose="02020603050405020304" pitchFamily="18" charset="0"/>
                <a:ea typeface="Georgia" pitchFamily="34" charset="-122"/>
                <a:cs typeface="Times New Roman" panose="02020603050405020304" pitchFamily="18" charset="0"/>
              </a:rPr>
              <a:t>Image Denoising by Sparse 3-D Transform-Domain Collaborative Filtering</a:t>
            </a:r>
            <a:endParaRPr lang="en-US" dirty="0">
              <a:latin typeface="Times New Roman" panose="02020603050405020304" pitchFamily="18" charset="0"/>
              <a:cs typeface="Times New Roman" panose="02020603050405020304" pitchFamily="18" charset="0"/>
            </a:endParaRPr>
          </a:p>
        </p:txBody>
      </p:sp>
      <p:sp>
        <p:nvSpPr>
          <p:cNvPr id="6" name="Text 4"/>
          <p:cNvSpPr/>
          <p:nvPr/>
        </p:nvSpPr>
        <p:spPr>
          <a:xfrm>
            <a:off x="1481328" y="1170432"/>
            <a:ext cx="10140696" cy="237744"/>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BM3D · Dabov, Foi, Katkovnik &amp; Egiazarian</a:t>
            </a:r>
            <a:endParaRPr lang="en-US" sz="1050" dirty="0">
              <a:latin typeface="Times New Roman" panose="02020603050405020304" pitchFamily="18" charset="0"/>
              <a:cs typeface="Times New Roman" panose="02020603050405020304" pitchFamily="18" charset="0"/>
            </a:endParaRPr>
          </a:p>
        </p:txBody>
      </p:sp>
      <p:sp>
        <p:nvSpPr>
          <p:cNvPr id="7" name="Shape 5"/>
          <p:cNvSpPr/>
          <p:nvPr/>
        </p:nvSpPr>
        <p:spPr>
          <a:xfrm>
            <a:off x="566928" y="1481328"/>
            <a:ext cx="11055096" cy="0"/>
          </a:xfrm>
          <a:prstGeom prst="line">
            <a:avLst/>
          </a:prstGeom>
          <a:noFill/>
          <a:ln w="9525">
            <a:solidFill>
              <a:srgbClr val="E4E1D8"/>
            </a:solidFill>
            <a:prstDash val="solid"/>
          </a:ln>
        </p:spPr>
        <p:txBody>
          <a:bodyPr/>
          <a:lstStyle/>
          <a:p>
            <a:endParaRPr lang="en-GB" sz="2800">
              <a:latin typeface="Times New Roman" panose="02020603050405020304" pitchFamily="18" charset="0"/>
              <a:cs typeface="Times New Roman" panose="02020603050405020304" pitchFamily="18" charset="0"/>
            </a:endParaRPr>
          </a:p>
        </p:txBody>
      </p:sp>
      <p:sp>
        <p:nvSpPr>
          <p:cNvPr id="8" name="Text 6"/>
          <p:cNvSpPr/>
          <p:nvPr/>
        </p:nvSpPr>
        <p:spPr>
          <a:xfrm>
            <a:off x="566928" y="169124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INSTITUTION</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566928" y="1874120"/>
            <a:ext cx="5486400" cy="566928"/>
          </a:xfrm>
          <a:prstGeom prst="rect">
            <a:avLst/>
          </a:prstGeom>
          <a:noFill/>
          <a:ln/>
        </p:spPr>
        <p:txBody>
          <a:bodyPr wrap="square" lIns="0" tIns="0" rIns="0" bIns="0" rtlCol="0" anchor="t"/>
          <a:lstStyle/>
          <a:p>
            <a:pPr marL="0" indent="0">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Institute of Signal Processing, Tampere University of Technology, Finland</a:t>
            </a:r>
            <a:endParaRPr lang="en-US" sz="1100" dirty="0">
              <a:latin typeface="Times New Roman" panose="02020603050405020304" pitchFamily="18" charset="0"/>
              <a:cs typeface="Times New Roman" panose="02020603050405020304" pitchFamily="18" charset="0"/>
            </a:endParaRPr>
          </a:p>
        </p:txBody>
      </p:sp>
      <p:sp>
        <p:nvSpPr>
          <p:cNvPr id="10" name="Text 8"/>
          <p:cNvSpPr/>
          <p:nvPr/>
        </p:nvSpPr>
        <p:spPr>
          <a:xfrm>
            <a:off x="566928" y="251420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2697080"/>
            <a:ext cx="5486400" cy="566928"/>
          </a:xfrm>
          <a:prstGeom prst="rect">
            <a:avLst/>
          </a:prstGeom>
          <a:noFill/>
          <a:ln/>
        </p:spPr>
        <p:txBody>
          <a:bodyPr wrap="square" lIns="0" tIns="0" rIns="0" bIns="0" rtlCol="0" anchor="t"/>
          <a:lstStyle/>
          <a:p>
            <a:pPr marL="0" indent="0">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IEEE Trans. Image Processing, 16(8), pp. 2080–2095, Aug 2007</a:t>
            </a:r>
            <a:endParaRPr lang="en-US" sz="1100" dirty="0">
              <a:latin typeface="Times New Roman" panose="02020603050405020304" pitchFamily="18" charset="0"/>
              <a:cs typeface="Times New Roman" panose="02020603050405020304" pitchFamily="18" charset="0"/>
            </a:endParaRPr>
          </a:p>
        </p:txBody>
      </p:sp>
      <p:sp>
        <p:nvSpPr>
          <p:cNvPr id="12" name="Text 10"/>
          <p:cNvSpPr/>
          <p:nvPr/>
        </p:nvSpPr>
        <p:spPr>
          <a:xfrm>
            <a:off x="566928" y="333716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CITATION COUNT</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566928" y="3520040"/>
            <a:ext cx="5486400" cy="566928"/>
          </a:xfrm>
          <a:prstGeom prst="rect">
            <a:avLst/>
          </a:prstGeom>
          <a:noFill/>
          <a:ln/>
        </p:spPr>
        <p:txBody>
          <a:bodyPr wrap="square" lIns="0" tIns="0" rIns="0" bIns="0" rtlCol="0" anchor="t"/>
          <a:lstStyle/>
          <a:p>
            <a:pPr marL="0" indent="0" algn="just">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11,976 — Google Scholar, checked 9 Aug 2026</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566928" y="416012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SUB-PROBLEM</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566928" y="434300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Exploit non-local self-similarity to sparsify content enough that transform-domain shrinkage separates signal from noise.</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566928" y="498308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DATASETS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566928" y="516596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Standard grayscale test images; a colour extension (C-BM3D). No training set — nothing is trained.</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482703" y="169124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MODEL / ARCHITECTURE</a:t>
            </a:r>
            <a:endParaRPr lang="en-US" sz="1000" dirty="0">
              <a:latin typeface="Times New Roman" panose="02020603050405020304" pitchFamily="18" charset="0"/>
              <a:cs typeface="Times New Roman" panose="02020603050405020304" pitchFamily="18" charset="0"/>
            </a:endParaRPr>
          </a:p>
        </p:txBody>
      </p:sp>
      <p:sp>
        <p:nvSpPr>
          <p:cNvPr id="19" name="Text 17"/>
          <p:cNvSpPr/>
          <p:nvPr/>
        </p:nvSpPr>
        <p:spPr>
          <a:xfrm>
            <a:off x="6482703" y="1874120"/>
            <a:ext cx="5486400" cy="123444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Not a network. A four-stage algorithm: grouping by block matching → collaborative filtering via 3-D transform and shrinkage → inverse transform → aggregation of overlapping estimates by weighted averaging. Run twice; the second pass replaces hard thresholding with a collaborative Wiener filter using the first pass as an oracle.</a:t>
            </a:r>
            <a:endParaRPr lang="en-US" sz="1100" dirty="0">
              <a:latin typeface="Times New Roman" panose="02020603050405020304" pitchFamily="18" charset="0"/>
              <a:cs typeface="Times New Roman" panose="02020603050405020304" pitchFamily="18" charset="0"/>
            </a:endParaRPr>
          </a:p>
        </p:txBody>
      </p:sp>
      <p:sp>
        <p:nvSpPr>
          <p:cNvPr id="20" name="Text 18"/>
          <p:cNvSpPr/>
          <p:nvPr/>
        </p:nvSpPr>
        <p:spPr>
          <a:xfrm>
            <a:off x="6482703" y="2982931"/>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VALUE THEN VS. NOW</a:t>
            </a:r>
            <a:endParaRPr lang="en-US" sz="1000" dirty="0">
              <a:latin typeface="Times New Roman" panose="02020603050405020304" pitchFamily="18" charset="0"/>
              <a:cs typeface="Times New Roman" panose="02020603050405020304" pitchFamily="18" charset="0"/>
            </a:endParaRPr>
          </a:p>
        </p:txBody>
      </p:sp>
      <p:sp>
        <p:nvSpPr>
          <p:cNvPr id="21" name="Text 19"/>
          <p:cNvSpPr/>
          <p:nvPr/>
        </p:nvSpPr>
        <p:spPr>
          <a:xfrm>
            <a:off x="6482703" y="3165811"/>
            <a:ext cx="5486400" cy="6858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Defined state of the art in 2007. Today it is the reference baseline — SCUNet still compares against BM3D-class methods sixteen years later.</a:t>
            </a:r>
            <a:endParaRPr lang="en-US" sz="1100" dirty="0">
              <a:latin typeface="Times New Roman" panose="02020603050405020304" pitchFamily="18" charset="0"/>
              <a:cs typeface="Times New Roman" panose="02020603050405020304" pitchFamily="18" charset="0"/>
            </a:endParaRPr>
          </a:p>
        </p:txBody>
      </p:sp>
      <p:sp>
        <p:nvSpPr>
          <p:cNvPr id="22" name="Text 20"/>
          <p:cNvSpPr/>
          <p:nvPr/>
        </p:nvSpPr>
        <p:spPr>
          <a:xfrm>
            <a:off x="6482703" y="4123544"/>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RELATION TO THE OTHER PAPERS</a:t>
            </a:r>
            <a:endParaRPr lang="en-US" sz="1000" dirty="0">
              <a:latin typeface="Times New Roman" panose="02020603050405020304" pitchFamily="18" charset="0"/>
              <a:cs typeface="Times New Roman" panose="02020603050405020304" pitchFamily="18" charset="0"/>
            </a:endParaRPr>
          </a:p>
        </p:txBody>
      </p:sp>
      <p:sp>
        <p:nvSpPr>
          <p:cNvPr id="23" name="Text 21"/>
          <p:cNvSpPr/>
          <p:nvPr/>
        </p:nvSpPr>
        <p:spPr>
          <a:xfrm>
            <a:off x="6482703" y="4306424"/>
            <a:ext cx="5486400" cy="105156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It is the thing to beat. WNNM's abstract claims to outperform state-of-the-art algorithms such as BM3D by name. The entire learned-prior line exists because BM3D's hand-designed prior, however good, could not improve by being shown data.</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15</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§4 · PAPER-BY-PAPER — THE RIGOR CHECK   ·   A2 · 2014</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58368"/>
            <a:ext cx="868680" cy="457200"/>
          </a:xfrm>
          <a:prstGeom prst="rect">
            <a:avLst/>
          </a:prstGeom>
          <a:noFill/>
          <a:ln/>
        </p:spPr>
        <p:txBody>
          <a:bodyPr wrap="square" lIns="0" tIns="0" rIns="0" bIns="0" rtlCol="0" anchor="ctr"/>
          <a:lstStyle/>
          <a:p>
            <a:pPr marL="0" indent="0">
              <a:buNone/>
            </a:pPr>
            <a:r>
              <a:rPr lang="en-US" sz="2800" b="1" dirty="0">
                <a:solidFill>
                  <a:srgbClr val="6E6350"/>
                </a:solidFill>
                <a:latin typeface="Times New Roman" panose="02020603050405020304" pitchFamily="18" charset="0"/>
                <a:ea typeface="Consolas" pitchFamily="34" charset="-122"/>
                <a:cs typeface="Times New Roman" panose="02020603050405020304" pitchFamily="18" charset="0"/>
              </a:rPr>
              <a:t>A2</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1481328" y="658368"/>
            <a:ext cx="10140696" cy="502920"/>
          </a:xfrm>
          <a:prstGeom prst="rect">
            <a:avLst/>
          </a:prstGeom>
          <a:noFill/>
          <a:ln/>
        </p:spPr>
        <p:txBody>
          <a:bodyPr wrap="square" lIns="0" tIns="0" rIns="0" bIns="0" rtlCol="0" anchor="t"/>
          <a:lstStyle/>
          <a:p>
            <a:pPr marL="0" indent="0">
              <a:buNone/>
            </a:pPr>
            <a:r>
              <a:rPr lang="en-US" b="1" dirty="0">
                <a:solidFill>
                  <a:srgbClr val="14161A"/>
                </a:solidFill>
                <a:latin typeface="Times New Roman" panose="02020603050405020304" pitchFamily="18" charset="0"/>
                <a:ea typeface="Georgia" pitchFamily="34" charset="-122"/>
                <a:cs typeface="Times New Roman" panose="02020603050405020304" pitchFamily="18" charset="0"/>
              </a:rPr>
              <a:t>Weighted Nuclear Norm Minimization with Application to Image Denoising</a:t>
            </a:r>
            <a:endParaRPr lang="en-US" dirty="0">
              <a:latin typeface="Times New Roman" panose="02020603050405020304" pitchFamily="18" charset="0"/>
              <a:cs typeface="Times New Roman" panose="02020603050405020304" pitchFamily="18" charset="0"/>
            </a:endParaRPr>
          </a:p>
        </p:txBody>
      </p:sp>
      <p:sp>
        <p:nvSpPr>
          <p:cNvPr id="6" name="Text 4"/>
          <p:cNvSpPr/>
          <p:nvPr/>
        </p:nvSpPr>
        <p:spPr>
          <a:xfrm>
            <a:off x="1481328" y="1170432"/>
            <a:ext cx="10140696" cy="237744"/>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WNNM · Gu, Zhang, Zuo &amp; Feng</a:t>
            </a:r>
            <a:endParaRPr lang="en-US" sz="1050" dirty="0">
              <a:latin typeface="Times New Roman" panose="02020603050405020304" pitchFamily="18" charset="0"/>
              <a:cs typeface="Times New Roman" panose="02020603050405020304" pitchFamily="18" charset="0"/>
            </a:endParaRPr>
          </a:p>
        </p:txBody>
      </p:sp>
      <p:sp>
        <p:nvSpPr>
          <p:cNvPr id="7" name="Shape 5"/>
          <p:cNvSpPr/>
          <p:nvPr/>
        </p:nvSpPr>
        <p:spPr>
          <a:xfrm>
            <a:off x="566928" y="1481328"/>
            <a:ext cx="11055096" cy="0"/>
          </a:xfrm>
          <a:prstGeom prst="line">
            <a:avLst/>
          </a:prstGeom>
          <a:no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 name="Text 6"/>
          <p:cNvSpPr/>
          <p:nvPr/>
        </p:nvSpPr>
        <p:spPr>
          <a:xfrm>
            <a:off x="566928" y="169124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INSTITUTIONS</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566928" y="1874120"/>
            <a:ext cx="5486400" cy="566928"/>
          </a:xfrm>
          <a:prstGeom prst="rect">
            <a:avLst/>
          </a:prstGeom>
          <a:noFill/>
          <a:ln/>
        </p:spPr>
        <p:txBody>
          <a:bodyPr wrap="square" lIns="0" tIns="0" rIns="0" bIns="0" rtlCol="0" anchor="t"/>
          <a:lstStyle/>
          <a:p>
            <a:pPr marL="0" indent="0">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Hong Kong Polytechnic University · Harbin Institute of Technology · Xidian University</a:t>
            </a:r>
            <a:endParaRPr lang="en-US" sz="1100" dirty="0">
              <a:latin typeface="Times New Roman" panose="02020603050405020304" pitchFamily="18" charset="0"/>
              <a:cs typeface="Times New Roman" panose="02020603050405020304" pitchFamily="18" charset="0"/>
            </a:endParaRPr>
          </a:p>
        </p:txBody>
      </p:sp>
      <p:sp>
        <p:nvSpPr>
          <p:cNvPr id="10" name="Text 8"/>
          <p:cNvSpPr/>
          <p:nvPr/>
        </p:nvSpPr>
        <p:spPr>
          <a:xfrm>
            <a:off x="566928" y="251420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2697080"/>
            <a:ext cx="5486400" cy="566928"/>
          </a:xfrm>
          <a:prstGeom prst="rect">
            <a:avLst/>
          </a:prstGeom>
          <a:noFill/>
          <a:ln/>
        </p:spPr>
        <p:txBody>
          <a:bodyPr wrap="square" lIns="0" tIns="0" rIns="0" bIns="0" rtlCol="0" anchor="t"/>
          <a:lstStyle/>
          <a:p>
            <a:pPr marL="0" indent="0">
              <a:buNone/>
            </a:pPr>
            <a:r>
              <a:rPr lang="en-US" sz="1100" dirty="0">
                <a:latin typeface="Times New Roman" panose="02020603050405020304" pitchFamily="18" charset="0"/>
                <a:ea typeface="Calibri" pitchFamily="34" charset="-122"/>
                <a:cs typeface="Times New Roman" panose="02020603050405020304" pitchFamily="18" charset="0"/>
              </a:rPr>
              <a:t>CVPR 2014, pp. 2862–2869 · DOI 10.1109/CVPR.2014.366</a:t>
            </a:r>
            <a:endParaRPr lang="en-US" sz="1100" dirty="0">
              <a:latin typeface="Times New Roman" panose="02020603050405020304" pitchFamily="18" charset="0"/>
              <a:cs typeface="Times New Roman" panose="02020603050405020304" pitchFamily="18" charset="0"/>
            </a:endParaRPr>
          </a:p>
        </p:txBody>
      </p:sp>
      <p:sp>
        <p:nvSpPr>
          <p:cNvPr id="12" name="Text 10"/>
          <p:cNvSpPr/>
          <p:nvPr/>
        </p:nvSpPr>
        <p:spPr>
          <a:xfrm>
            <a:off x="566928" y="333716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CITATION COUNT</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566928" y="3520040"/>
            <a:ext cx="5486400" cy="566928"/>
          </a:xfrm>
          <a:prstGeom prst="rect">
            <a:avLst/>
          </a:prstGeom>
          <a:noFill/>
          <a:ln/>
        </p:spPr>
        <p:txBody>
          <a:bodyPr wrap="square" lIns="0" tIns="0" rIns="0" bIns="0" rtlCol="0" anchor="t"/>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2,960 — Google Scholar, checked 9 Aug 2026</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566928" y="416012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SUB-PROBLEM</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566928" y="434300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Standard nuclear norm minimisation weights every singular value equally to preserve convexity — restricting flexibility in denoising, where singular values carry distinct physical meaning.</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566928" y="498308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DATASETS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566928" y="5165960"/>
            <a:ext cx="5486400" cy="566928"/>
          </a:xfrm>
          <a:prstGeom prst="rect">
            <a:avLst/>
          </a:prstGeom>
          <a:noFill/>
          <a:ln/>
        </p:spPr>
        <p:txBody>
          <a:bodyPr wrap="square" lIns="0" tIns="0" rIns="0" bIns="0" rtlCol="0" anchor="t"/>
          <a:lstStyle/>
          <a:p>
            <a:pPr marL="0" indent="0">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Twenty widely used test images.</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442948" y="169124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MODEL / ARCHITECTURE</a:t>
            </a:r>
            <a:endParaRPr lang="en-US" sz="1000" dirty="0">
              <a:latin typeface="Times New Roman" panose="02020603050405020304" pitchFamily="18" charset="0"/>
              <a:cs typeface="Times New Roman" panose="02020603050405020304" pitchFamily="18" charset="0"/>
            </a:endParaRPr>
          </a:p>
        </p:txBody>
      </p:sp>
      <p:sp>
        <p:nvSpPr>
          <p:cNvPr id="19" name="Text 17"/>
          <p:cNvSpPr/>
          <p:nvPr/>
        </p:nvSpPr>
        <p:spPr>
          <a:xfrm>
            <a:off x="6442948" y="1874120"/>
            <a:ext cx="5486400" cy="11430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An optimisation method, not a network. Weighted nuclear norm minimisation over matrices of non-local similar patches, with solutions analysed under different weighting conditions.</a:t>
            </a:r>
          </a:p>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‖X‖(w,*) = Σ w(i) · σ(i)(X)</a:t>
            </a:r>
            <a:endParaRPr lang="en-US" sz="1100" dirty="0">
              <a:latin typeface="Times New Roman" panose="02020603050405020304" pitchFamily="18" charset="0"/>
              <a:cs typeface="Times New Roman" panose="02020603050405020304" pitchFamily="18" charset="0"/>
            </a:endParaRPr>
          </a:p>
        </p:txBody>
      </p:sp>
      <p:sp>
        <p:nvSpPr>
          <p:cNvPr id="20" name="Text 18"/>
          <p:cNvSpPr/>
          <p:nvPr/>
        </p:nvSpPr>
        <p:spPr>
          <a:xfrm>
            <a:off x="6442948" y="2931247"/>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VALUE THEN VS. NOW</a:t>
            </a:r>
            <a:endParaRPr lang="en-US" sz="1000" dirty="0">
              <a:latin typeface="Times New Roman" panose="02020603050405020304" pitchFamily="18" charset="0"/>
              <a:cs typeface="Times New Roman" panose="02020603050405020304" pitchFamily="18" charset="0"/>
            </a:endParaRPr>
          </a:p>
        </p:txBody>
      </p:sp>
      <p:sp>
        <p:nvSpPr>
          <p:cNvPr id="21" name="Text 19"/>
          <p:cNvSpPr/>
          <p:nvPr/>
        </p:nvSpPr>
        <p:spPr>
          <a:xfrm>
            <a:off x="6442948" y="3114127"/>
            <a:ext cx="5486400" cy="6858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The strongest classical result in the roster and still a standard classical baseline — but a stepping stone, not a live method.</a:t>
            </a:r>
            <a:endParaRPr lang="en-US" sz="1100" dirty="0">
              <a:latin typeface="Times New Roman" panose="02020603050405020304" pitchFamily="18" charset="0"/>
              <a:cs typeface="Times New Roman" panose="02020603050405020304" pitchFamily="18" charset="0"/>
            </a:endParaRPr>
          </a:p>
        </p:txBody>
      </p:sp>
      <p:sp>
        <p:nvSpPr>
          <p:cNvPr id="22" name="Text 20"/>
          <p:cNvSpPr/>
          <p:nvPr/>
        </p:nvSpPr>
        <p:spPr>
          <a:xfrm>
            <a:off x="6442948" y="4032104"/>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RELATION TO THE OTHER PAPERS</a:t>
            </a:r>
            <a:endParaRPr lang="en-US" sz="1000" dirty="0">
              <a:latin typeface="Times New Roman" panose="02020603050405020304" pitchFamily="18" charset="0"/>
              <a:cs typeface="Times New Roman" panose="02020603050405020304" pitchFamily="18" charset="0"/>
            </a:endParaRPr>
          </a:p>
        </p:txBody>
      </p:sp>
      <p:sp>
        <p:nvSpPr>
          <p:cNvPr id="23" name="Text 21"/>
          <p:cNvSpPr/>
          <p:nvPr/>
        </p:nvSpPr>
        <p:spPr>
          <a:xfrm>
            <a:off x="6442948" y="4214984"/>
            <a:ext cx="5486400" cy="11430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Shares BM3D's non-local self-similarity prior but reaches it via low-rank matrix approximation instead of transform-domain sparsity. That contrast shows the classical era's real content was the prior, not the machinery. Its cost motivates TNRD's efficiency argument.</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16</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§4 · PAPER-BY-PAPER — THE RIGOR CHECK   ·   A3 · 2017</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58368"/>
            <a:ext cx="868680" cy="457200"/>
          </a:xfrm>
          <a:prstGeom prst="rect">
            <a:avLst/>
          </a:prstGeom>
          <a:noFill/>
          <a:ln/>
        </p:spPr>
        <p:txBody>
          <a:bodyPr wrap="square" lIns="0" tIns="0" rIns="0" bIns="0" rtlCol="0" anchor="ctr"/>
          <a:lstStyle/>
          <a:p>
            <a:pPr marL="0" indent="0">
              <a:buNone/>
            </a:pPr>
            <a:r>
              <a:rPr lang="en-US" sz="2800" b="1" dirty="0">
                <a:solidFill>
                  <a:srgbClr val="1E5F7E"/>
                </a:solidFill>
                <a:latin typeface="Times New Roman" panose="02020603050405020304" pitchFamily="18" charset="0"/>
                <a:ea typeface="Consolas" pitchFamily="34" charset="-122"/>
                <a:cs typeface="Times New Roman" panose="02020603050405020304" pitchFamily="18" charset="0"/>
              </a:rPr>
              <a:t>A3</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1481328" y="658368"/>
            <a:ext cx="10140696" cy="502920"/>
          </a:xfrm>
          <a:prstGeom prst="rect">
            <a:avLst/>
          </a:prstGeom>
          <a:noFill/>
          <a:ln/>
        </p:spPr>
        <p:txBody>
          <a:bodyPr wrap="square" lIns="0" tIns="0" rIns="0" bIns="0" rtlCol="0" anchor="t"/>
          <a:lstStyle/>
          <a:p>
            <a:pPr marL="0" indent="0">
              <a:buNone/>
            </a:pPr>
            <a:r>
              <a:rPr lang="en-US" b="1" dirty="0">
                <a:solidFill>
                  <a:srgbClr val="14161A"/>
                </a:solidFill>
                <a:latin typeface="Times New Roman" panose="02020603050405020304" pitchFamily="18" charset="0"/>
                <a:ea typeface="Georgia" pitchFamily="34" charset="-122"/>
                <a:cs typeface="Times New Roman" panose="02020603050405020304" pitchFamily="18" charset="0"/>
              </a:rPr>
              <a:t>Trainable Nonlinear Reaction Diffusion</a:t>
            </a:r>
            <a:endParaRPr lang="en-US" dirty="0">
              <a:latin typeface="Times New Roman" panose="02020603050405020304" pitchFamily="18" charset="0"/>
              <a:cs typeface="Times New Roman" panose="02020603050405020304" pitchFamily="18" charset="0"/>
            </a:endParaRPr>
          </a:p>
        </p:txBody>
      </p:sp>
      <p:sp>
        <p:nvSpPr>
          <p:cNvPr id="6" name="Text 4"/>
          <p:cNvSpPr/>
          <p:nvPr/>
        </p:nvSpPr>
        <p:spPr>
          <a:xfrm>
            <a:off x="1481328" y="1170432"/>
            <a:ext cx="10140696" cy="237744"/>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TNRD · Chen &amp; Pock — the bridge paper</a:t>
            </a:r>
            <a:endParaRPr lang="en-US" sz="1050" dirty="0">
              <a:latin typeface="Times New Roman" panose="02020603050405020304" pitchFamily="18" charset="0"/>
              <a:cs typeface="Times New Roman" panose="02020603050405020304" pitchFamily="18" charset="0"/>
            </a:endParaRPr>
          </a:p>
        </p:txBody>
      </p:sp>
      <p:sp>
        <p:nvSpPr>
          <p:cNvPr id="7" name="Shape 5"/>
          <p:cNvSpPr/>
          <p:nvPr/>
        </p:nvSpPr>
        <p:spPr>
          <a:xfrm>
            <a:off x="566928" y="1481328"/>
            <a:ext cx="11055096" cy="0"/>
          </a:xfrm>
          <a:prstGeom prst="line">
            <a:avLst/>
          </a:prstGeom>
          <a:no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 name="Text 6"/>
          <p:cNvSpPr/>
          <p:nvPr/>
        </p:nvSpPr>
        <p:spPr>
          <a:xfrm>
            <a:off x="566928" y="169124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INSTITUTION</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566928" y="1874120"/>
            <a:ext cx="5486400" cy="566928"/>
          </a:xfrm>
          <a:prstGeom prst="rect">
            <a:avLst/>
          </a:prstGeom>
          <a:noFill/>
          <a:ln/>
        </p:spPr>
        <p:txBody>
          <a:bodyPr wrap="square" lIns="0" tIns="0" rIns="0" bIns="0" rtlCol="0" anchor="t"/>
          <a:lstStyle/>
          <a:p>
            <a:pPr marL="0" indent="0">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Institute for Computer Graphics and Vision, Graz University of Technology, Austria</a:t>
            </a:r>
            <a:endParaRPr lang="en-US" sz="1100" dirty="0">
              <a:latin typeface="Times New Roman" panose="02020603050405020304" pitchFamily="18" charset="0"/>
              <a:cs typeface="Times New Roman" panose="02020603050405020304" pitchFamily="18" charset="0"/>
            </a:endParaRPr>
          </a:p>
        </p:txBody>
      </p:sp>
      <p:sp>
        <p:nvSpPr>
          <p:cNvPr id="10" name="Text 8"/>
          <p:cNvSpPr/>
          <p:nvPr/>
        </p:nvSpPr>
        <p:spPr>
          <a:xfrm>
            <a:off x="566928" y="251420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2697080"/>
            <a:ext cx="5486400" cy="566928"/>
          </a:xfrm>
          <a:prstGeom prst="rect">
            <a:avLst/>
          </a:prstGeom>
          <a:noFill/>
          <a:ln/>
        </p:spPr>
        <p:txBody>
          <a:bodyPr wrap="square" lIns="0" tIns="0" rIns="0" bIns="0" rtlCol="0" anchor="t"/>
          <a:lstStyle/>
          <a:p>
            <a:pPr marL="0" indent="0">
              <a:buNone/>
            </a:pPr>
            <a:r>
              <a:rPr lang="en-US" sz="1100" dirty="0">
                <a:latin typeface="Times New Roman" panose="02020603050405020304" pitchFamily="18" charset="0"/>
                <a:ea typeface="Calibri" pitchFamily="34" charset="-122"/>
                <a:cs typeface="Times New Roman" panose="02020603050405020304" pitchFamily="18" charset="0"/>
              </a:rPr>
              <a:t>IEEE TPAMI, 39(6), pp. 1256–1272, 2017</a:t>
            </a:r>
            <a:endParaRPr lang="en-US" sz="1100" dirty="0">
              <a:latin typeface="Times New Roman" panose="02020603050405020304" pitchFamily="18" charset="0"/>
              <a:cs typeface="Times New Roman" panose="02020603050405020304" pitchFamily="18" charset="0"/>
            </a:endParaRPr>
          </a:p>
          <a:p>
            <a:pPr marL="0" indent="0">
              <a:buNone/>
            </a:pPr>
            <a:r>
              <a:rPr lang="en-US" sz="1100" dirty="0">
                <a:latin typeface="Times New Roman" panose="02020603050405020304" pitchFamily="18" charset="0"/>
                <a:ea typeface="Calibri" pitchFamily="34" charset="-122"/>
                <a:cs typeface="Times New Roman" panose="02020603050405020304" pitchFamily="18" charset="0"/>
              </a:rPr>
              <a:t>Note: the PDF header reads 2016 (acceptance); the issue is 2017. Both are correct.</a:t>
            </a:r>
            <a:endParaRPr lang="en-US" sz="1100" dirty="0">
              <a:latin typeface="Times New Roman" panose="02020603050405020304" pitchFamily="18" charset="0"/>
              <a:cs typeface="Times New Roman" panose="02020603050405020304" pitchFamily="18" charset="0"/>
            </a:endParaRPr>
          </a:p>
        </p:txBody>
      </p:sp>
      <p:sp>
        <p:nvSpPr>
          <p:cNvPr id="12" name="Text 10"/>
          <p:cNvSpPr/>
          <p:nvPr/>
        </p:nvSpPr>
        <p:spPr>
          <a:xfrm>
            <a:off x="566928" y="333716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CITATION COUNT</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566928" y="3520040"/>
            <a:ext cx="5486400" cy="566928"/>
          </a:xfrm>
          <a:prstGeom prst="rect">
            <a:avLst/>
          </a:prstGeom>
          <a:noFill/>
          <a:ln/>
        </p:spPr>
        <p:txBody>
          <a:bodyPr wrap="square" lIns="0" tIns="0" rIns="0" bIns="0" rtlCol="0" anchor="t"/>
          <a:lstStyle/>
          <a:p>
            <a:pPr marL="0" indent="0">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1,626 — Google Scholar, checked 9 Aug 2026</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566928" y="416012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SUB-PROBLEM</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566928" y="434300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Restoration quality had been pursued with little regard for computational efficiency, despite efficiency being critical for real applications.</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566928" y="498308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DATASETS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566928" y="5165960"/>
            <a:ext cx="5486400" cy="566928"/>
          </a:xfrm>
          <a:prstGeom prst="rect">
            <a:avLst/>
          </a:prstGeom>
          <a:noFill/>
          <a:ln/>
        </p:spPr>
        <p:txBody>
          <a:bodyPr wrap="square" lIns="0" tIns="0" rIns="0" bIns="0" rtlCol="0" anchor="t"/>
          <a:lstStyle/>
          <a:p>
            <a:pPr marL="0" indent="0">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400 training images at 180×180 for denoising; Set5 and Set14 for super-resolution.</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307768" y="1691240"/>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MODEL / ARCHITECTURE</a:t>
            </a:r>
            <a:endParaRPr lang="en-US" sz="1000" dirty="0">
              <a:latin typeface="Times New Roman" panose="02020603050405020304" pitchFamily="18" charset="0"/>
              <a:cs typeface="Times New Roman" panose="02020603050405020304" pitchFamily="18" charset="0"/>
            </a:endParaRPr>
          </a:p>
        </p:txBody>
      </p:sp>
      <p:sp>
        <p:nvSpPr>
          <p:cNvPr id="19" name="Text 17"/>
          <p:cNvSpPr/>
          <p:nvPr/>
        </p:nvSpPr>
        <p:spPr>
          <a:xfrm>
            <a:off x="6307768" y="1874120"/>
            <a:ext cx="5486400" cy="1234440"/>
          </a:xfrm>
          <a:prstGeom prst="rect">
            <a:avLst/>
          </a:prstGeom>
          <a:noFill/>
          <a:ln/>
        </p:spPr>
        <p:txBody>
          <a:bodyPr wrap="square" lIns="0" tIns="0" rIns="0" bIns="0" rtlCol="0" anchor="t"/>
          <a:lstStyle/>
          <a:p>
            <a:pPr marL="0" indent="0">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A dynamic nonlinear reaction–diffusion model with time-dependent parameters. Critically, all parameters — the linear filters and the influence functions — are learned simultaneously from training data by a loss-based approach. Few diffusion steps; well suited to GPU parallelism.</a:t>
            </a:r>
            <a:endParaRPr lang="en-US" sz="1100" dirty="0">
              <a:latin typeface="Times New Roman" panose="02020603050405020304" pitchFamily="18" charset="0"/>
              <a:cs typeface="Times New Roman" panose="02020603050405020304" pitchFamily="18" charset="0"/>
            </a:endParaRPr>
          </a:p>
        </p:txBody>
      </p:sp>
      <p:sp>
        <p:nvSpPr>
          <p:cNvPr id="20" name="Text 18"/>
          <p:cNvSpPr/>
          <p:nvPr/>
        </p:nvSpPr>
        <p:spPr>
          <a:xfrm>
            <a:off x="6307768" y="2935225"/>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VALUE THEN VS. NOW</a:t>
            </a:r>
            <a:endParaRPr lang="en-US" sz="1000" dirty="0">
              <a:latin typeface="Times New Roman" panose="02020603050405020304" pitchFamily="18" charset="0"/>
              <a:cs typeface="Times New Roman" panose="02020603050405020304" pitchFamily="18" charset="0"/>
            </a:endParaRPr>
          </a:p>
        </p:txBody>
      </p:sp>
      <p:sp>
        <p:nvSpPr>
          <p:cNvPr id="21" name="Text 19"/>
          <p:cNvSpPr/>
          <p:nvPr/>
        </p:nvSpPr>
        <p:spPr>
          <a:xfrm>
            <a:off x="6307768" y="3118105"/>
            <a:ext cx="5486400" cy="685800"/>
          </a:xfrm>
          <a:prstGeom prst="rect">
            <a:avLst/>
          </a:prstGeom>
          <a:noFill/>
          <a:ln/>
        </p:spPr>
        <p:txBody>
          <a:bodyPr wrap="square" lIns="0" tIns="0" rIns="0" bIns="0" rtlCol="0" anchor="t"/>
          <a:lstStyle/>
          <a:p>
            <a:pPr marL="0" indent="0">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Historically pivotal, practically superseded. Its importance is conceptual: it proved a shallow trainable feed-forward model could rival an iterative optimiser.</a:t>
            </a:r>
            <a:endParaRPr lang="en-US" sz="1100" dirty="0">
              <a:latin typeface="Times New Roman" panose="02020603050405020304" pitchFamily="18" charset="0"/>
              <a:cs typeface="Times New Roman" panose="02020603050405020304" pitchFamily="18" charset="0"/>
            </a:endParaRPr>
          </a:p>
        </p:txBody>
      </p:sp>
      <p:sp>
        <p:nvSpPr>
          <p:cNvPr id="22" name="Text 20"/>
          <p:cNvSpPr/>
          <p:nvPr/>
        </p:nvSpPr>
        <p:spPr>
          <a:xfrm>
            <a:off x="6307768" y="4123544"/>
            <a:ext cx="5486400" cy="182880"/>
          </a:xfrm>
          <a:prstGeom prst="rect">
            <a:avLst/>
          </a:prstGeom>
          <a:noFill/>
          <a:ln/>
        </p:spPr>
        <p:txBody>
          <a:bodyPr wrap="square" lIns="0" tIns="0" rIns="0" bIns="0" rtlCol="0" anchor="ctr"/>
          <a:lstStyle/>
          <a:p>
            <a:pPr marL="0" indent="0">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RELATION TO THE OTHER PAPERS</a:t>
            </a:r>
            <a:endParaRPr lang="en-US" sz="1000" dirty="0">
              <a:latin typeface="Times New Roman" panose="02020603050405020304" pitchFamily="18" charset="0"/>
              <a:cs typeface="Times New Roman" panose="02020603050405020304" pitchFamily="18" charset="0"/>
            </a:endParaRPr>
          </a:p>
        </p:txBody>
      </p:sp>
      <p:sp>
        <p:nvSpPr>
          <p:cNvPr id="23" name="Text 21"/>
          <p:cNvSpPr/>
          <p:nvPr/>
        </p:nvSpPr>
        <p:spPr>
          <a:xfrm>
            <a:off x="6307768" y="4306424"/>
            <a:ext cx="5486400" cy="1051560"/>
          </a:xfrm>
          <a:prstGeom prst="rect">
            <a:avLst/>
          </a:prstGeom>
          <a:noFill/>
          <a:ln/>
        </p:spPr>
        <p:txBody>
          <a:bodyPr wrap="square" lIns="0" tIns="0" rIns="0" bIns="0" rtlCol="0" anchor="t"/>
          <a:lstStyle/>
          <a:p>
            <a:pPr marL="0" indent="0">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This is the hinge. The first paper in our list where the prior is learned while the computational structure stays hand-designed. DnCNN then discards the diffusion scaffolding and keeps only the learning. Without TNRD, DnCNN is unmotivated.</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17</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§4 · PAPER-BY-PAPER — THE RIGOR CHECK   ·   A4 · ANCHOR PAPER</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58368"/>
            <a:ext cx="868680" cy="457200"/>
          </a:xfrm>
          <a:prstGeom prst="rect">
            <a:avLst/>
          </a:prstGeom>
          <a:noFill/>
          <a:ln/>
        </p:spPr>
        <p:txBody>
          <a:bodyPr wrap="square" lIns="0" tIns="0" rIns="0" bIns="0" rtlCol="0" anchor="ctr"/>
          <a:lstStyle/>
          <a:p>
            <a:pPr marL="0" indent="0">
              <a:buNone/>
            </a:pPr>
            <a:r>
              <a:rPr lang="en-US" sz="2800" b="1" dirty="0">
                <a:solidFill>
                  <a:srgbClr val="1E5F7E"/>
                </a:solidFill>
                <a:latin typeface="Times New Roman" panose="02020603050405020304" pitchFamily="18" charset="0"/>
                <a:ea typeface="Consolas" pitchFamily="34" charset="-122"/>
                <a:cs typeface="Times New Roman" panose="02020603050405020304" pitchFamily="18" charset="0"/>
              </a:rPr>
              <a:t>A4</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1481328" y="658368"/>
            <a:ext cx="10140696" cy="502920"/>
          </a:xfrm>
          <a:prstGeom prst="rect">
            <a:avLst/>
          </a:prstGeom>
          <a:noFill/>
          <a:ln/>
        </p:spPr>
        <p:txBody>
          <a:bodyPr wrap="square" lIns="0" tIns="0" rIns="0" bIns="0" rtlCol="0" anchor="t"/>
          <a:lstStyle/>
          <a:p>
            <a:pPr marL="0" indent="0">
              <a:buNone/>
            </a:pPr>
            <a:r>
              <a:rPr lang="en-US" b="1" dirty="0">
                <a:solidFill>
                  <a:srgbClr val="14161A"/>
                </a:solidFill>
                <a:latin typeface="Times New Roman" panose="02020603050405020304" pitchFamily="18" charset="0"/>
                <a:ea typeface="Georgia" pitchFamily="34" charset="-122"/>
                <a:cs typeface="Times New Roman" panose="02020603050405020304" pitchFamily="18" charset="0"/>
              </a:rPr>
              <a:t>Beyond a Gaussian Denoiser: Residual Learning of Deep CNN for Image Denoising</a:t>
            </a:r>
            <a:endParaRPr lang="en-US" dirty="0">
              <a:latin typeface="Times New Roman" panose="02020603050405020304" pitchFamily="18" charset="0"/>
              <a:cs typeface="Times New Roman" panose="02020603050405020304" pitchFamily="18" charset="0"/>
            </a:endParaRPr>
          </a:p>
        </p:txBody>
      </p:sp>
      <p:sp>
        <p:nvSpPr>
          <p:cNvPr id="6" name="Text 4"/>
          <p:cNvSpPr/>
          <p:nvPr/>
        </p:nvSpPr>
        <p:spPr>
          <a:xfrm>
            <a:off x="1481328" y="1170432"/>
            <a:ext cx="10140696" cy="237744"/>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DnCNN · Zhang, Zuo, Chen, Meng &amp; Zhang</a:t>
            </a:r>
            <a:endParaRPr lang="en-US" sz="1050" dirty="0">
              <a:latin typeface="Times New Roman" panose="02020603050405020304" pitchFamily="18" charset="0"/>
              <a:cs typeface="Times New Roman" panose="02020603050405020304" pitchFamily="18" charset="0"/>
            </a:endParaRPr>
          </a:p>
        </p:txBody>
      </p:sp>
      <p:sp>
        <p:nvSpPr>
          <p:cNvPr id="7" name="Shape 5"/>
          <p:cNvSpPr/>
          <p:nvPr/>
        </p:nvSpPr>
        <p:spPr>
          <a:xfrm>
            <a:off x="566928" y="1481328"/>
            <a:ext cx="11055096" cy="0"/>
          </a:xfrm>
          <a:prstGeom prst="line">
            <a:avLst/>
          </a:prstGeom>
          <a:no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 name="Text 6"/>
          <p:cNvSpPr/>
          <p:nvPr/>
        </p:nvSpPr>
        <p:spPr>
          <a:xfrm>
            <a:off x="566928"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INSTITUTIONS</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566928" y="187412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Harbin Institute of Technology · Hong Kong PolyU · Graz University of Technology · Xi'an Jiaotong University</a:t>
            </a:r>
            <a:endParaRPr lang="en-US" sz="1100" dirty="0">
              <a:latin typeface="Times New Roman" panose="02020603050405020304" pitchFamily="18" charset="0"/>
              <a:cs typeface="Times New Roman" panose="02020603050405020304" pitchFamily="18" charset="0"/>
            </a:endParaRPr>
          </a:p>
        </p:txBody>
      </p:sp>
      <p:sp>
        <p:nvSpPr>
          <p:cNvPr id="10" name="Text 8"/>
          <p:cNvSpPr/>
          <p:nvPr/>
        </p:nvSpPr>
        <p:spPr>
          <a:xfrm>
            <a:off x="566928" y="251420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269708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IEEE Trans. Image Processing, 26(7), pp. 3142–3155, 2017 · DOI 10.1109/TIP.2017.2662206</a:t>
            </a:r>
            <a:endParaRPr lang="en-US" sz="1100" dirty="0">
              <a:latin typeface="Times New Roman" panose="02020603050405020304" pitchFamily="18" charset="0"/>
              <a:cs typeface="Times New Roman" panose="02020603050405020304" pitchFamily="18" charset="0"/>
            </a:endParaRPr>
          </a:p>
        </p:txBody>
      </p:sp>
      <p:sp>
        <p:nvSpPr>
          <p:cNvPr id="12" name="Text 10"/>
          <p:cNvSpPr/>
          <p:nvPr/>
        </p:nvSpPr>
        <p:spPr>
          <a:xfrm>
            <a:off x="566928" y="333716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CITATION COUNT</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566928" y="3520040"/>
            <a:ext cx="5486400" cy="566928"/>
          </a:xfrm>
          <a:prstGeom prst="rect">
            <a:avLst/>
          </a:prstGeom>
          <a:noFill/>
          <a:ln/>
        </p:spPr>
        <p:txBody>
          <a:bodyPr wrap="square" lIns="0" tIns="0" rIns="0" bIns="0" rtlCol="0" anchor="t"/>
          <a:lstStyle/>
          <a:p>
            <a:pPr marL="0" indent="0" algn="just">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11,674 — Google Scholar, checked 9 Aug 2026</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566928" y="416012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SUB-PROBLEM</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566928" y="434300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Existing discriminative denoisers trained a separate model per noise level. DnCNN targets blind Gaussian denoising with one model.</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566928" y="498308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DATASETS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566928" y="516596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BSD68 and Set12 for denoising; Set5, Set14, Urban100 for super-resolution; Classic5 and LIVE1 for JPEG deblocking.</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403185"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MODEL / ARCHITECTURE</a:t>
            </a:r>
            <a:endParaRPr lang="en-US" sz="1000" dirty="0">
              <a:latin typeface="Times New Roman" panose="02020603050405020304" pitchFamily="18" charset="0"/>
              <a:cs typeface="Times New Roman" panose="02020603050405020304" pitchFamily="18" charset="0"/>
            </a:endParaRPr>
          </a:p>
        </p:txBody>
      </p:sp>
      <p:sp>
        <p:nvSpPr>
          <p:cNvPr id="19" name="Text 17"/>
          <p:cNvSpPr/>
          <p:nvPr/>
        </p:nvSpPr>
        <p:spPr>
          <a:xfrm>
            <a:off x="6403185" y="1874120"/>
            <a:ext cx="5486400" cy="105156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Deep feed-forward CNN combining residual learning with batch normalisation, predicting the noise rather than the image. Depth 17, receptive field 35×35.        x̂  =  y  −  R(y)</a:t>
            </a:r>
            <a:endParaRPr lang="en-US" sz="1100" dirty="0">
              <a:latin typeface="Times New Roman" panose="02020603050405020304" pitchFamily="18" charset="0"/>
              <a:cs typeface="Times New Roman" panose="02020603050405020304" pitchFamily="18" charset="0"/>
            </a:endParaRPr>
          </a:p>
        </p:txBody>
      </p:sp>
      <p:sp>
        <p:nvSpPr>
          <p:cNvPr id="20" name="Text 18"/>
          <p:cNvSpPr/>
          <p:nvPr/>
        </p:nvSpPr>
        <p:spPr>
          <a:xfrm>
            <a:off x="6403185" y="2823904"/>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VALUE THEN VS. NOW</a:t>
            </a:r>
            <a:endParaRPr lang="en-US" sz="1000" dirty="0">
              <a:latin typeface="Times New Roman" panose="02020603050405020304" pitchFamily="18" charset="0"/>
              <a:cs typeface="Times New Roman" panose="02020603050405020304" pitchFamily="18" charset="0"/>
            </a:endParaRPr>
          </a:p>
        </p:txBody>
      </p:sp>
      <p:sp>
        <p:nvSpPr>
          <p:cNvPr id="21" name="Text 19"/>
          <p:cNvSpPr/>
          <p:nvPr/>
        </p:nvSpPr>
        <p:spPr>
          <a:xfrm>
            <a:off x="6403185" y="3006784"/>
            <a:ext cx="5486400" cy="96012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Established residual learning + BN as the default denoising recipe and remains a universal baseline — every modern paper here still reports against it. As a deployed method it has been superseded, and we present it that way.</a:t>
            </a:r>
            <a:endParaRPr lang="en-US" sz="1100" dirty="0">
              <a:latin typeface="Times New Roman" panose="02020603050405020304" pitchFamily="18" charset="0"/>
              <a:cs typeface="Times New Roman" panose="02020603050405020304" pitchFamily="18" charset="0"/>
            </a:endParaRPr>
          </a:p>
        </p:txBody>
      </p:sp>
      <p:sp>
        <p:nvSpPr>
          <p:cNvPr id="22" name="Text 20"/>
          <p:cNvSpPr/>
          <p:nvPr/>
        </p:nvSpPr>
        <p:spPr>
          <a:xfrm>
            <a:off x="6403185" y="4214984"/>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RELATION TO THE OTHER PAPERS</a:t>
            </a:r>
            <a:endParaRPr lang="en-US" sz="1000" dirty="0">
              <a:latin typeface="Times New Roman" panose="02020603050405020304" pitchFamily="18" charset="0"/>
              <a:cs typeface="Times New Roman" panose="02020603050405020304" pitchFamily="18" charset="0"/>
            </a:endParaRPr>
          </a:p>
        </p:txBody>
      </p:sp>
      <p:sp>
        <p:nvSpPr>
          <p:cNvPr id="23" name="Text 21"/>
          <p:cNvSpPr/>
          <p:nvPr/>
        </p:nvSpPr>
        <p:spPr>
          <a:xfrm>
            <a:off x="6403185" y="4397864"/>
            <a:ext cx="5486400" cy="11430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The hinge of the whole review. It resolves TNRD's residual hand-design; it is the supervised method whose data requirement N2N → N2V → ZS-N2N dismantle; and it is the convolutional method whose receptive-field limits Restormer and MambaIR are written against.</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18</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§4 · PAPER-BY-PAPER — THE RIGOR CHECK   ·   A5 · 2018</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58368"/>
            <a:ext cx="868680" cy="457200"/>
          </a:xfrm>
          <a:prstGeom prst="rect">
            <a:avLst/>
          </a:prstGeom>
          <a:noFill/>
          <a:ln/>
        </p:spPr>
        <p:txBody>
          <a:bodyPr wrap="square" lIns="0" tIns="0" rIns="0" bIns="0" rtlCol="0" anchor="ctr"/>
          <a:lstStyle/>
          <a:p>
            <a:pPr marL="0" indent="0">
              <a:buNone/>
            </a:pPr>
            <a:r>
              <a:rPr lang="en-US" sz="2800" b="1" dirty="0">
                <a:solidFill>
                  <a:srgbClr val="6D3F86"/>
                </a:solidFill>
                <a:latin typeface="Times New Roman" panose="02020603050405020304" pitchFamily="18" charset="0"/>
                <a:ea typeface="Consolas" pitchFamily="34" charset="-122"/>
                <a:cs typeface="Times New Roman" panose="02020603050405020304" pitchFamily="18" charset="0"/>
              </a:rPr>
              <a:t>A5</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1481328" y="658368"/>
            <a:ext cx="10140696" cy="502920"/>
          </a:xfrm>
          <a:prstGeom prst="rect">
            <a:avLst/>
          </a:prstGeom>
          <a:noFill/>
          <a:ln/>
        </p:spPr>
        <p:txBody>
          <a:bodyPr wrap="square" lIns="0" tIns="0" rIns="0" bIns="0" rtlCol="0" anchor="t"/>
          <a:lstStyle/>
          <a:p>
            <a:pPr marL="0" indent="0">
              <a:buNone/>
            </a:pPr>
            <a:r>
              <a:rPr lang="en-US" b="1" dirty="0">
                <a:solidFill>
                  <a:srgbClr val="14161A"/>
                </a:solidFill>
                <a:latin typeface="Times New Roman" panose="02020603050405020304" pitchFamily="18" charset="0"/>
                <a:ea typeface="Georgia" pitchFamily="34" charset="-122"/>
                <a:cs typeface="Times New Roman" panose="02020603050405020304" pitchFamily="18" charset="0"/>
              </a:rPr>
              <a:t>Noise2Noise: Learning Image Restoration without Clean Data</a:t>
            </a:r>
            <a:endParaRPr lang="en-US" dirty="0">
              <a:latin typeface="Times New Roman" panose="02020603050405020304" pitchFamily="18" charset="0"/>
              <a:cs typeface="Times New Roman" panose="02020603050405020304" pitchFamily="18" charset="0"/>
            </a:endParaRPr>
          </a:p>
        </p:txBody>
      </p:sp>
      <p:sp>
        <p:nvSpPr>
          <p:cNvPr id="6" name="Text 4"/>
          <p:cNvSpPr/>
          <p:nvPr/>
        </p:nvSpPr>
        <p:spPr>
          <a:xfrm>
            <a:off x="1481328" y="1170432"/>
            <a:ext cx="10140696" cy="237744"/>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N2N · Lehtinen, Munkberg, Hasselgren, Laine, Karras, Aittala &amp; Aila</a:t>
            </a:r>
            <a:endParaRPr lang="en-US" sz="1050" dirty="0">
              <a:latin typeface="Times New Roman" panose="02020603050405020304" pitchFamily="18" charset="0"/>
              <a:cs typeface="Times New Roman" panose="02020603050405020304" pitchFamily="18" charset="0"/>
            </a:endParaRPr>
          </a:p>
        </p:txBody>
      </p:sp>
      <p:sp>
        <p:nvSpPr>
          <p:cNvPr id="7" name="Shape 5"/>
          <p:cNvSpPr/>
          <p:nvPr/>
        </p:nvSpPr>
        <p:spPr>
          <a:xfrm>
            <a:off x="566928" y="1481328"/>
            <a:ext cx="11055096" cy="0"/>
          </a:xfrm>
          <a:prstGeom prst="line">
            <a:avLst/>
          </a:prstGeom>
          <a:no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 name="Text 6"/>
          <p:cNvSpPr/>
          <p:nvPr/>
        </p:nvSpPr>
        <p:spPr>
          <a:xfrm>
            <a:off x="566928"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INSTITUTIONS</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566928" y="187412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NVIDIA · Aalto University · MIT CSAIL</a:t>
            </a:r>
            <a:endParaRPr lang="en-US" sz="1100" dirty="0">
              <a:latin typeface="Times New Roman" panose="02020603050405020304" pitchFamily="18" charset="0"/>
              <a:cs typeface="Times New Roman" panose="02020603050405020304" pitchFamily="18" charset="0"/>
            </a:endParaRPr>
          </a:p>
        </p:txBody>
      </p:sp>
      <p:sp>
        <p:nvSpPr>
          <p:cNvPr id="10" name="Text 8"/>
          <p:cNvSpPr/>
          <p:nvPr/>
        </p:nvSpPr>
        <p:spPr>
          <a:xfrm>
            <a:off x="566928" y="251420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269708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ICML 2018 — Proceedings of the 35th International Conference on Machine Learning, Stockholm, PMLR 80</a:t>
            </a:r>
            <a:endParaRPr lang="en-US" sz="1100" dirty="0">
              <a:latin typeface="Times New Roman" panose="02020603050405020304" pitchFamily="18" charset="0"/>
              <a:cs typeface="Times New Roman" panose="02020603050405020304" pitchFamily="18" charset="0"/>
            </a:endParaRPr>
          </a:p>
        </p:txBody>
      </p:sp>
      <p:sp>
        <p:nvSpPr>
          <p:cNvPr id="12" name="Text 10"/>
          <p:cNvSpPr/>
          <p:nvPr/>
        </p:nvSpPr>
        <p:spPr>
          <a:xfrm>
            <a:off x="566928" y="333716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CITATION COUNT</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566928" y="3520040"/>
            <a:ext cx="5486400" cy="566928"/>
          </a:xfrm>
          <a:prstGeom prst="rect">
            <a:avLst/>
          </a:prstGeom>
          <a:noFill/>
          <a:ln/>
        </p:spPr>
        <p:txBody>
          <a:bodyPr wrap="square" lIns="0" tIns="0" rIns="0" bIns="0" rtlCol="0" anchor="t"/>
          <a:lstStyle/>
          <a:p>
            <a:pPr marL="0" indent="0" algn="just">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3,064 — Google Scholar, checked 9 Aug 2026</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566928" y="416012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SUB-PROBLEM</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566928" y="434300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Clean training targets are difficult or tedious to obtain — the paper's own example: a noise-free photograph requires a long exposure.</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566928" y="498308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DATASETS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566928" y="516596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Kodak and Set14 among image benchmarks, with ImageNet-derived training data; also Monte Carlo renderings and undersampled MRI scans.</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419090"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MODEL / ARCHITECTURE</a:t>
            </a:r>
            <a:endParaRPr lang="en-US" sz="1000" dirty="0">
              <a:latin typeface="Times New Roman" panose="02020603050405020304" pitchFamily="18" charset="0"/>
              <a:cs typeface="Times New Roman" panose="02020603050405020304" pitchFamily="18" charset="0"/>
            </a:endParaRPr>
          </a:p>
        </p:txBody>
      </p:sp>
      <p:sp>
        <p:nvSpPr>
          <p:cNvPr id="19" name="Text 17"/>
          <p:cNvSpPr/>
          <p:nvPr/>
        </p:nvSpPr>
        <p:spPr>
          <a:xfrm>
            <a:off x="6419090" y="1874120"/>
            <a:ext cx="5486400" cy="11430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A training paradigm, not an architecture. The empirical risk minimised is unchanged from supervised learning —   arg min(θ) Σ L( f(θ)(x̂ᵢ), yᵢ )   — the insight is that the target yᵢ may itself be a noisy observation.</a:t>
            </a:r>
            <a:endParaRPr lang="en-US" sz="1100" dirty="0">
              <a:latin typeface="Times New Roman" panose="02020603050405020304" pitchFamily="18" charset="0"/>
              <a:cs typeface="Times New Roman" panose="02020603050405020304" pitchFamily="18" charset="0"/>
            </a:endParaRPr>
          </a:p>
        </p:txBody>
      </p:sp>
      <p:sp>
        <p:nvSpPr>
          <p:cNvPr id="20" name="Text 18"/>
          <p:cNvSpPr/>
          <p:nvPr/>
        </p:nvSpPr>
        <p:spPr>
          <a:xfrm>
            <a:off x="6419090" y="2819927"/>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VALUE THEN VS. NOW</a:t>
            </a:r>
            <a:endParaRPr lang="en-US" sz="1000" dirty="0">
              <a:latin typeface="Times New Roman" panose="02020603050405020304" pitchFamily="18" charset="0"/>
              <a:cs typeface="Times New Roman" panose="02020603050405020304" pitchFamily="18" charset="0"/>
            </a:endParaRPr>
          </a:p>
        </p:txBody>
      </p:sp>
      <p:sp>
        <p:nvSpPr>
          <p:cNvPr id="21" name="Text 19"/>
          <p:cNvSpPr/>
          <p:nvPr/>
        </p:nvSpPr>
        <p:spPr>
          <a:xfrm>
            <a:off x="6419090" y="3002807"/>
            <a:ext cx="5486400" cy="6858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Conceptually foundational and still actively built upon — ZS-N2N, in this same roster, states it is motivated by Noise2Noise.</a:t>
            </a:r>
            <a:endParaRPr lang="en-US" sz="1100" dirty="0">
              <a:latin typeface="Times New Roman" panose="02020603050405020304" pitchFamily="18" charset="0"/>
              <a:cs typeface="Times New Roman" panose="02020603050405020304" pitchFamily="18" charset="0"/>
            </a:endParaRPr>
          </a:p>
        </p:txBody>
      </p:sp>
      <p:sp>
        <p:nvSpPr>
          <p:cNvPr id="22" name="Text 20"/>
          <p:cNvSpPr/>
          <p:nvPr/>
        </p:nvSpPr>
        <p:spPr>
          <a:xfrm>
            <a:off x="6419090" y="4032104"/>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RELATION TO THE OTHER PAPERS</a:t>
            </a:r>
            <a:endParaRPr lang="en-US" sz="1000" dirty="0">
              <a:latin typeface="Times New Roman" panose="02020603050405020304" pitchFamily="18" charset="0"/>
              <a:cs typeface="Times New Roman" panose="02020603050405020304" pitchFamily="18" charset="0"/>
            </a:endParaRPr>
          </a:p>
        </p:txBody>
      </p:sp>
      <p:sp>
        <p:nvSpPr>
          <p:cNvPr id="23" name="Text 21"/>
          <p:cNvSpPr/>
          <p:nvPr/>
        </p:nvSpPr>
        <p:spPr>
          <a:xfrm>
            <a:off x="6419090" y="4214984"/>
            <a:ext cx="5486400" cy="105156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The first break from DnCNN's supervision. Strictly weaker in data requirements than DnCNN, strictly stronger than Noise2Void. It still needs pairs of independent noisy observations of the same scene — the requirement N2V removes.</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19</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§4 · PAPER-BY-PAPER — THE RIGOR CHECK   ·   A6 · 2019</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58368"/>
            <a:ext cx="868680" cy="457200"/>
          </a:xfrm>
          <a:prstGeom prst="rect">
            <a:avLst/>
          </a:prstGeom>
          <a:noFill/>
          <a:ln/>
        </p:spPr>
        <p:txBody>
          <a:bodyPr wrap="square" lIns="0" tIns="0" rIns="0" bIns="0" rtlCol="0" anchor="ctr"/>
          <a:lstStyle/>
          <a:p>
            <a:pPr marL="0" indent="0">
              <a:buNone/>
            </a:pPr>
            <a:r>
              <a:rPr lang="en-US" sz="2800" b="1" dirty="0">
                <a:solidFill>
                  <a:srgbClr val="6D3F86"/>
                </a:solidFill>
                <a:latin typeface="Times New Roman" panose="02020603050405020304" pitchFamily="18" charset="0"/>
                <a:ea typeface="Consolas" pitchFamily="34" charset="-122"/>
                <a:cs typeface="Times New Roman" panose="02020603050405020304" pitchFamily="18" charset="0"/>
              </a:rPr>
              <a:t>A6</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1481328" y="658368"/>
            <a:ext cx="10140696" cy="502920"/>
          </a:xfrm>
          <a:prstGeom prst="rect">
            <a:avLst/>
          </a:prstGeom>
          <a:noFill/>
          <a:ln/>
        </p:spPr>
        <p:txBody>
          <a:bodyPr wrap="square" lIns="0" tIns="0" rIns="0" bIns="0" rtlCol="0" anchor="t"/>
          <a:lstStyle/>
          <a:p>
            <a:pPr marL="0" indent="0">
              <a:buNone/>
            </a:pPr>
            <a:r>
              <a:rPr lang="en-US" b="1" dirty="0">
                <a:solidFill>
                  <a:srgbClr val="14161A"/>
                </a:solidFill>
                <a:latin typeface="Times New Roman" panose="02020603050405020304" pitchFamily="18" charset="0"/>
                <a:ea typeface="Georgia" pitchFamily="34" charset="-122"/>
                <a:cs typeface="Times New Roman" panose="02020603050405020304" pitchFamily="18" charset="0"/>
              </a:rPr>
              <a:t>Noise2Void — Learning Denoising from Single Noisy Images</a:t>
            </a:r>
            <a:endParaRPr lang="en-US" dirty="0">
              <a:latin typeface="Times New Roman" panose="02020603050405020304" pitchFamily="18" charset="0"/>
              <a:cs typeface="Times New Roman" panose="02020603050405020304" pitchFamily="18" charset="0"/>
            </a:endParaRPr>
          </a:p>
        </p:txBody>
      </p:sp>
      <p:sp>
        <p:nvSpPr>
          <p:cNvPr id="6" name="Text 4"/>
          <p:cNvSpPr/>
          <p:nvPr/>
        </p:nvSpPr>
        <p:spPr>
          <a:xfrm>
            <a:off x="1481328" y="1170432"/>
            <a:ext cx="10140696" cy="237744"/>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N2V · Krull, Buchholz &amp; Jug</a:t>
            </a:r>
            <a:endParaRPr lang="en-US" sz="1050" dirty="0">
              <a:latin typeface="Times New Roman" panose="02020603050405020304" pitchFamily="18" charset="0"/>
              <a:cs typeface="Times New Roman" panose="02020603050405020304" pitchFamily="18" charset="0"/>
            </a:endParaRPr>
          </a:p>
        </p:txBody>
      </p:sp>
      <p:sp>
        <p:nvSpPr>
          <p:cNvPr id="7" name="Shape 5"/>
          <p:cNvSpPr/>
          <p:nvPr/>
        </p:nvSpPr>
        <p:spPr>
          <a:xfrm>
            <a:off x="566928" y="1544936"/>
            <a:ext cx="11055096" cy="0"/>
          </a:xfrm>
          <a:prstGeom prst="line">
            <a:avLst/>
          </a:prstGeom>
          <a:noFill/>
          <a:ln w="9525">
            <a:solidFill>
              <a:srgbClr val="E4E1D8"/>
            </a:solidFill>
            <a:prstDash val="solid"/>
          </a:ln>
        </p:spPr>
        <p:txBody>
          <a:bodyPr/>
          <a:lstStyle/>
          <a:p>
            <a:pPr algn="just"/>
            <a:endParaRPr lang="en-GB" sz="2800">
              <a:latin typeface="Times New Roman" panose="02020603050405020304" pitchFamily="18" charset="0"/>
              <a:cs typeface="Times New Roman" panose="02020603050405020304" pitchFamily="18" charset="0"/>
            </a:endParaRPr>
          </a:p>
        </p:txBody>
      </p:sp>
      <p:sp>
        <p:nvSpPr>
          <p:cNvPr id="8" name="Text 6"/>
          <p:cNvSpPr/>
          <p:nvPr/>
        </p:nvSpPr>
        <p:spPr>
          <a:xfrm>
            <a:off x="566928"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INSTITUTION</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566928" y="187412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MPI-CBG / PKS (CSBD), Dresden, Germany</a:t>
            </a:r>
            <a:endParaRPr lang="en-US" sz="1100" dirty="0">
              <a:latin typeface="Times New Roman" panose="02020603050405020304" pitchFamily="18" charset="0"/>
              <a:cs typeface="Times New Roman" panose="02020603050405020304" pitchFamily="18" charset="0"/>
            </a:endParaRPr>
          </a:p>
        </p:txBody>
      </p:sp>
      <p:sp>
        <p:nvSpPr>
          <p:cNvPr id="10" name="Text 8"/>
          <p:cNvSpPr/>
          <p:nvPr/>
        </p:nvSpPr>
        <p:spPr>
          <a:xfrm>
            <a:off x="566928" y="251420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2697080"/>
            <a:ext cx="5486400" cy="566928"/>
          </a:xfrm>
          <a:prstGeom prst="rect">
            <a:avLst/>
          </a:prstGeom>
          <a:noFill/>
          <a:ln/>
        </p:spPr>
        <p:txBody>
          <a:bodyPr wrap="square" lIns="0" tIns="0" rIns="0" bIns="0" rtlCol="0" anchor="t"/>
          <a:lstStyle/>
          <a:p>
            <a:pPr marL="0" indent="0" algn="just">
              <a:buNone/>
            </a:pPr>
            <a:r>
              <a:rPr lang="en-US" sz="1100" dirty="0">
                <a:latin typeface="Times New Roman" panose="02020603050405020304" pitchFamily="18" charset="0"/>
                <a:ea typeface="Calibri" pitchFamily="34" charset="-122"/>
                <a:cs typeface="Times New Roman" panose="02020603050405020304" pitchFamily="18" charset="0"/>
              </a:rPr>
              <a:t>CVPR 2019</a:t>
            </a:r>
            <a:endParaRPr lang="en-US" sz="1100" dirty="0">
              <a:latin typeface="Times New Roman" panose="02020603050405020304" pitchFamily="18" charset="0"/>
              <a:cs typeface="Times New Roman" panose="02020603050405020304" pitchFamily="18" charset="0"/>
            </a:endParaRPr>
          </a:p>
        </p:txBody>
      </p:sp>
      <p:sp>
        <p:nvSpPr>
          <p:cNvPr id="12" name="Text 10"/>
          <p:cNvSpPr/>
          <p:nvPr/>
        </p:nvSpPr>
        <p:spPr>
          <a:xfrm>
            <a:off x="566928" y="333716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CITATION COUNT</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566928" y="3520040"/>
            <a:ext cx="5486400" cy="566928"/>
          </a:xfrm>
          <a:prstGeom prst="rect">
            <a:avLst/>
          </a:prstGeom>
          <a:noFill/>
          <a:ln/>
        </p:spPr>
        <p:txBody>
          <a:bodyPr wrap="square" lIns="0" tIns="0" rIns="0" bIns="0" rtlCol="0" anchor="t"/>
          <a:lstStyle/>
          <a:p>
            <a:pPr marL="0" indent="0" algn="just">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2,075 — Google Scholar, checked 9 Aug 2026</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566928" y="416012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SUB-PROBLEM</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566928" y="434300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Even noisy pairs are usually unavailable. In biomedical imaging, acquiring training targets — clean or noisy — is frequently not possible.</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566928" y="498308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DATASETS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566928" y="516596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BSD68 among the evaluation sets, plus biomedical imagery.</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339578"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MODEL / ARCHITECTURE</a:t>
            </a:r>
            <a:endParaRPr lang="en-US" sz="1000" dirty="0">
              <a:latin typeface="Times New Roman" panose="02020603050405020304" pitchFamily="18" charset="0"/>
              <a:cs typeface="Times New Roman" panose="02020603050405020304" pitchFamily="18" charset="0"/>
            </a:endParaRPr>
          </a:p>
        </p:txBody>
      </p:sp>
      <p:sp>
        <p:nvSpPr>
          <p:cNvPr id="19" name="Text 17"/>
          <p:cNvSpPr/>
          <p:nvPr/>
        </p:nvSpPr>
        <p:spPr>
          <a:xfrm>
            <a:off x="6339578" y="1874120"/>
            <a:ext cx="5486400" cy="11430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A training scheme built on a blind-spot network: the receptive field is constructed to exclude the centre pixel, so the network cannot solve the task by copying its input and must instead predict each pixel from its context.</a:t>
            </a:r>
            <a:endParaRPr lang="en-US" sz="1100" dirty="0">
              <a:latin typeface="Times New Roman" panose="02020603050405020304" pitchFamily="18" charset="0"/>
              <a:cs typeface="Times New Roman" panose="02020603050405020304" pitchFamily="18" charset="0"/>
            </a:endParaRPr>
          </a:p>
        </p:txBody>
      </p:sp>
      <p:sp>
        <p:nvSpPr>
          <p:cNvPr id="20" name="Text 18"/>
          <p:cNvSpPr/>
          <p:nvPr/>
        </p:nvSpPr>
        <p:spPr>
          <a:xfrm>
            <a:off x="6339578" y="2931246"/>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VALUE THEN VS. NOW</a:t>
            </a:r>
            <a:endParaRPr lang="en-US" sz="1000" dirty="0">
              <a:latin typeface="Times New Roman" panose="02020603050405020304" pitchFamily="18" charset="0"/>
              <a:cs typeface="Times New Roman" panose="02020603050405020304" pitchFamily="18" charset="0"/>
            </a:endParaRPr>
          </a:p>
        </p:txBody>
      </p:sp>
      <p:sp>
        <p:nvSpPr>
          <p:cNvPr id="21" name="Text 19"/>
          <p:cNvSpPr/>
          <p:nvPr/>
        </p:nvSpPr>
        <p:spPr>
          <a:xfrm>
            <a:off x="6339578" y="3114126"/>
            <a:ext cx="5486400" cy="96012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Still in active use in microscopy and biomedical imaging — precisely the domain it was designed for. The paper is candid about the trade: performance drops in moderation, because N2V has strictly less information available.</a:t>
            </a:r>
            <a:endParaRPr lang="en-US" sz="1100" dirty="0">
              <a:latin typeface="Times New Roman" panose="02020603050405020304" pitchFamily="18" charset="0"/>
              <a:cs typeface="Times New Roman" panose="02020603050405020304" pitchFamily="18" charset="0"/>
            </a:endParaRPr>
          </a:p>
        </p:txBody>
      </p:sp>
      <p:sp>
        <p:nvSpPr>
          <p:cNvPr id="22" name="Text 20"/>
          <p:cNvSpPr/>
          <p:nvPr/>
        </p:nvSpPr>
        <p:spPr>
          <a:xfrm>
            <a:off x="6339578" y="4306424"/>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RELATION TO THE OTHER PAPERS</a:t>
            </a:r>
            <a:endParaRPr lang="en-US" sz="1000" dirty="0">
              <a:latin typeface="Times New Roman" panose="02020603050405020304" pitchFamily="18" charset="0"/>
              <a:cs typeface="Times New Roman" panose="02020603050405020304" pitchFamily="18" charset="0"/>
            </a:endParaRPr>
          </a:p>
        </p:txBody>
      </p:sp>
      <p:sp>
        <p:nvSpPr>
          <p:cNvPr id="23" name="Text 21"/>
          <p:cNvSpPr/>
          <p:nvPr/>
        </p:nvSpPr>
        <p:spPr>
          <a:xfrm>
            <a:off x="6339578" y="4489304"/>
            <a:ext cx="5486400" cy="105156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Removes the one requirement N2N retained. Its own abstract positions it as taking the N2N idea one step further — which means the N2N → N2V → ZS-N2N chain is evidenced by the papers themselves, not imposed by us.</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20</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§4 · PAPER-BY-PAPER — THE RIGOR CHECK   ·   A7 · 2022</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58368"/>
            <a:ext cx="868680" cy="457200"/>
          </a:xfrm>
          <a:prstGeom prst="rect">
            <a:avLst/>
          </a:prstGeom>
          <a:noFill/>
          <a:ln/>
        </p:spPr>
        <p:txBody>
          <a:bodyPr wrap="square" lIns="0" tIns="0" rIns="0" bIns="0" rtlCol="0" anchor="ctr"/>
          <a:lstStyle/>
          <a:p>
            <a:pPr marL="0" indent="0">
              <a:buNone/>
            </a:pPr>
            <a:r>
              <a:rPr lang="en-US" sz="2800" b="1" dirty="0">
                <a:solidFill>
                  <a:srgbClr val="6D3F86"/>
                </a:solidFill>
                <a:latin typeface="Times New Roman" panose="02020603050405020304" pitchFamily="18" charset="0"/>
                <a:ea typeface="Consolas" pitchFamily="34" charset="-122"/>
                <a:cs typeface="Times New Roman" panose="02020603050405020304" pitchFamily="18" charset="0"/>
              </a:rPr>
              <a:t>A7</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1481328" y="658368"/>
            <a:ext cx="10140696" cy="502920"/>
          </a:xfrm>
          <a:prstGeom prst="rect">
            <a:avLst/>
          </a:prstGeom>
          <a:noFill/>
          <a:ln/>
        </p:spPr>
        <p:txBody>
          <a:bodyPr wrap="square" lIns="0" tIns="0" rIns="0" bIns="0" rtlCol="0" anchor="t"/>
          <a:lstStyle/>
          <a:p>
            <a:pPr marL="0" indent="0">
              <a:buNone/>
            </a:pPr>
            <a:r>
              <a:rPr lang="en-US" b="1" dirty="0">
                <a:solidFill>
                  <a:srgbClr val="14161A"/>
                </a:solidFill>
                <a:latin typeface="Times New Roman" panose="02020603050405020304" pitchFamily="18" charset="0"/>
                <a:ea typeface="Georgia" pitchFamily="34" charset="-122"/>
                <a:cs typeface="Times New Roman" panose="02020603050405020304" pitchFamily="18" charset="0"/>
              </a:rPr>
              <a:t>Restormer: Efficient Transformer for High-Resolution Image Restoration</a:t>
            </a:r>
            <a:endParaRPr lang="en-US" dirty="0">
              <a:latin typeface="Times New Roman" panose="02020603050405020304" pitchFamily="18" charset="0"/>
              <a:cs typeface="Times New Roman" panose="02020603050405020304" pitchFamily="18" charset="0"/>
            </a:endParaRPr>
          </a:p>
        </p:txBody>
      </p:sp>
      <p:sp>
        <p:nvSpPr>
          <p:cNvPr id="6" name="Text 4"/>
          <p:cNvSpPr/>
          <p:nvPr/>
        </p:nvSpPr>
        <p:spPr>
          <a:xfrm>
            <a:off x="1481328" y="1170432"/>
            <a:ext cx="10140696" cy="237744"/>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Zamir, Arora, S. Khan, Hayat, F. S. Khan &amp; Yang</a:t>
            </a:r>
            <a:endParaRPr lang="en-US" sz="1050" dirty="0">
              <a:latin typeface="Times New Roman" panose="02020603050405020304" pitchFamily="18" charset="0"/>
              <a:cs typeface="Times New Roman" panose="02020603050405020304" pitchFamily="18" charset="0"/>
            </a:endParaRPr>
          </a:p>
        </p:txBody>
      </p:sp>
      <p:sp>
        <p:nvSpPr>
          <p:cNvPr id="7" name="Shape 5"/>
          <p:cNvSpPr/>
          <p:nvPr/>
        </p:nvSpPr>
        <p:spPr>
          <a:xfrm>
            <a:off x="566928" y="1481328"/>
            <a:ext cx="11055096" cy="0"/>
          </a:xfrm>
          <a:prstGeom prst="line">
            <a:avLst/>
          </a:prstGeom>
          <a:no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 name="Text 6"/>
          <p:cNvSpPr/>
          <p:nvPr/>
        </p:nvSpPr>
        <p:spPr>
          <a:xfrm>
            <a:off x="566928"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INSTITUTIONS</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566928" y="187412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Inception Institute of AI · Mohamed bin Zayed Univ. of AI · Monash · UC Merced · Yonsei · Google Research</a:t>
            </a:r>
            <a:endParaRPr lang="en-US" sz="1100" dirty="0">
              <a:latin typeface="Times New Roman" panose="02020603050405020304" pitchFamily="18" charset="0"/>
              <a:cs typeface="Times New Roman" panose="02020603050405020304" pitchFamily="18" charset="0"/>
            </a:endParaRPr>
          </a:p>
        </p:txBody>
      </p:sp>
      <p:sp>
        <p:nvSpPr>
          <p:cNvPr id="10" name="Text 8"/>
          <p:cNvSpPr/>
          <p:nvPr/>
        </p:nvSpPr>
        <p:spPr>
          <a:xfrm>
            <a:off x="566928" y="251420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2697080"/>
            <a:ext cx="5486400" cy="566928"/>
          </a:xfrm>
          <a:prstGeom prst="rect">
            <a:avLst/>
          </a:prstGeom>
          <a:noFill/>
          <a:ln/>
        </p:spPr>
        <p:txBody>
          <a:bodyPr wrap="square" lIns="0" tIns="0" rIns="0" bIns="0" rtlCol="0" anchor="t"/>
          <a:lstStyle/>
          <a:p>
            <a:pPr marL="0" indent="0" algn="just">
              <a:buNone/>
            </a:pPr>
            <a:r>
              <a:rPr lang="en-US" sz="1100" dirty="0">
                <a:latin typeface="Times New Roman" panose="02020603050405020304" pitchFamily="18" charset="0"/>
                <a:ea typeface="Calibri" pitchFamily="34" charset="-122"/>
                <a:cs typeface="Times New Roman" panose="02020603050405020304" pitchFamily="18" charset="0"/>
              </a:rPr>
              <a:t>CVPR 2022, pp. 5728–5739</a:t>
            </a:r>
            <a:endParaRPr lang="en-US" sz="1100" dirty="0">
              <a:latin typeface="Times New Roman" panose="02020603050405020304" pitchFamily="18" charset="0"/>
              <a:cs typeface="Times New Roman" panose="02020603050405020304" pitchFamily="18" charset="0"/>
            </a:endParaRPr>
          </a:p>
        </p:txBody>
      </p:sp>
      <p:sp>
        <p:nvSpPr>
          <p:cNvPr id="12" name="Text 10"/>
          <p:cNvSpPr/>
          <p:nvPr/>
        </p:nvSpPr>
        <p:spPr>
          <a:xfrm>
            <a:off x="566928" y="333716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CITATION COUNT</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566928" y="3520040"/>
            <a:ext cx="5486400" cy="566928"/>
          </a:xfrm>
          <a:prstGeom prst="rect">
            <a:avLst/>
          </a:prstGeom>
          <a:noFill/>
          <a:ln/>
        </p:spPr>
        <p:txBody>
          <a:bodyPr wrap="square" lIns="0" tIns="0" rIns="0" bIns="0" rtlCol="0" anchor="t"/>
          <a:lstStyle/>
          <a:p>
            <a:pPr marL="0" indent="0" algn="just">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6,181 — Google Scholar, checked 9 Aug 2026</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566928" y="416012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SUB-PROBLEM</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566928" y="434300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Transformer complexity grows quadratically with spatial resolution, making it infeasible for most high-resolution restoration tasks.</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566928" y="498308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DATASETS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566928" y="516596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SIDD and DND (real denoising) · Urban100, Kodak, Set12, McMaster, BSD68 (Gaussian) · GoPro, HIDE (deblurring) · Rain100 (deraining). Notably: trained only on SIDD and tested directly on DND.</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331623"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MODEL / ARCHITECTURE</a:t>
            </a:r>
            <a:endParaRPr lang="en-US" sz="1000" dirty="0">
              <a:latin typeface="Times New Roman" panose="02020603050405020304" pitchFamily="18" charset="0"/>
              <a:cs typeface="Times New Roman" panose="02020603050405020304" pitchFamily="18" charset="0"/>
            </a:endParaRPr>
          </a:p>
        </p:txBody>
      </p:sp>
      <p:sp>
        <p:nvSpPr>
          <p:cNvPr id="19" name="Text 17"/>
          <p:cNvSpPr/>
          <p:nvPr/>
        </p:nvSpPr>
        <p:spPr>
          <a:xfrm>
            <a:off x="6331623" y="1874120"/>
            <a:ext cx="5486400" cy="150876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Encoder–decoder Transformer from two redesigned blocks: MDTA (multi-Dconv head transposed attention), aggregating local and non-local pixel interactions efficiently enough for high-resolution input; and GDFN (gated-Dconv feed-forward network), whose gating performs controlled feature transformation so only useful information propagates. It does not split the image into local windows, preserving distant context.</a:t>
            </a:r>
            <a:endParaRPr lang="en-US" sz="1100" dirty="0">
              <a:latin typeface="Times New Roman" panose="02020603050405020304" pitchFamily="18" charset="0"/>
              <a:cs typeface="Times New Roman" panose="02020603050405020304" pitchFamily="18" charset="0"/>
            </a:endParaRPr>
          </a:p>
        </p:txBody>
      </p:sp>
      <p:sp>
        <p:nvSpPr>
          <p:cNvPr id="20" name="Text 18"/>
          <p:cNvSpPr/>
          <p:nvPr/>
        </p:nvSpPr>
        <p:spPr>
          <a:xfrm>
            <a:off x="6331623" y="3233398"/>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VALUE THEN VS. NOW</a:t>
            </a:r>
            <a:endParaRPr lang="en-US" sz="1000" dirty="0">
              <a:latin typeface="Times New Roman" panose="02020603050405020304" pitchFamily="18" charset="0"/>
              <a:cs typeface="Times New Roman" panose="02020603050405020304" pitchFamily="18" charset="0"/>
            </a:endParaRPr>
          </a:p>
        </p:txBody>
      </p:sp>
      <p:sp>
        <p:nvSpPr>
          <p:cNvPr id="21" name="Text 19"/>
          <p:cNvSpPr/>
          <p:nvPr/>
        </p:nvSpPr>
        <p:spPr>
          <a:xfrm>
            <a:off x="6331623" y="3416278"/>
            <a:ext cx="5486400" cy="54864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Current and heavily used. The canonical Transformer endpoint of the arc the guidelines require.</a:t>
            </a:r>
            <a:endParaRPr lang="en-US" sz="1100" dirty="0">
              <a:latin typeface="Times New Roman" panose="02020603050405020304" pitchFamily="18" charset="0"/>
              <a:cs typeface="Times New Roman" panose="02020603050405020304" pitchFamily="18" charset="0"/>
            </a:endParaRPr>
          </a:p>
        </p:txBody>
      </p:sp>
      <p:sp>
        <p:nvSpPr>
          <p:cNvPr id="22" name="Text 20"/>
          <p:cNvSpPr/>
          <p:nvPr/>
        </p:nvSpPr>
        <p:spPr>
          <a:xfrm>
            <a:off x="6331623" y="4260704"/>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RELATION TO THE OTHER PAPERS</a:t>
            </a:r>
            <a:endParaRPr lang="en-US" sz="1000" dirty="0">
              <a:latin typeface="Times New Roman" panose="02020603050405020304" pitchFamily="18" charset="0"/>
              <a:cs typeface="Times New Roman" panose="02020603050405020304" pitchFamily="18" charset="0"/>
            </a:endParaRPr>
          </a:p>
        </p:txBody>
      </p:sp>
      <p:sp>
        <p:nvSpPr>
          <p:cNvPr id="23" name="Text 21"/>
          <p:cNvSpPr/>
          <p:nvPr/>
        </p:nvSpPr>
        <p:spPr>
          <a:xfrm>
            <a:off x="6331623" y="4443584"/>
            <a:ext cx="5486400" cy="9144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Answers DnCNN's receptive-field limitation directly and by name. NAFNet is its direct methodological rival; SCUNet borrows the transformer half of its hybrid from this line.</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21</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§4 · PAPER-BY-PAPER — THE RIGOR CHECK   ·   A8 · 2022</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58368"/>
            <a:ext cx="868680" cy="457200"/>
          </a:xfrm>
          <a:prstGeom prst="rect">
            <a:avLst/>
          </a:prstGeom>
          <a:noFill/>
          <a:ln/>
        </p:spPr>
        <p:txBody>
          <a:bodyPr wrap="square" lIns="0" tIns="0" rIns="0" bIns="0" rtlCol="0" anchor="ctr"/>
          <a:lstStyle/>
          <a:p>
            <a:pPr marL="0" indent="0">
              <a:buNone/>
            </a:pPr>
            <a:r>
              <a:rPr lang="en-US" sz="2800" b="1" dirty="0">
                <a:solidFill>
                  <a:srgbClr val="6D3F86"/>
                </a:solidFill>
                <a:latin typeface="Times New Roman" panose="02020603050405020304" pitchFamily="18" charset="0"/>
                <a:ea typeface="Consolas" pitchFamily="34" charset="-122"/>
                <a:cs typeface="Times New Roman" panose="02020603050405020304" pitchFamily="18" charset="0"/>
              </a:rPr>
              <a:t>A8</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1481328" y="658368"/>
            <a:ext cx="10140696" cy="502920"/>
          </a:xfrm>
          <a:prstGeom prst="rect">
            <a:avLst/>
          </a:prstGeom>
          <a:noFill/>
          <a:ln/>
        </p:spPr>
        <p:txBody>
          <a:bodyPr wrap="square" lIns="0" tIns="0" rIns="0" bIns="0" rtlCol="0" anchor="t"/>
          <a:lstStyle/>
          <a:p>
            <a:pPr marL="0" indent="0">
              <a:buNone/>
            </a:pPr>
            <a:r>
              <a:rPr lang="en-US" b="1" dirty="0">
                <a:solidFill>
                  <a:srgbClr val="14161A"/>
                </a:solidFill>
                <a:latin typeface="Times New Roman" panose="02020603050405020304" pitchFamily="18" charset="0"/>
                <a:ea typeface="Georgia" pitchFamily="34" charset="-122"/>
                <a:cs typeface="Times New Roman" panose="02020603050405020304" pitchFamily="18" charset="0"/>
              </a:rPr>
              <a:t>Simple Baselines for Image Restoration</a:t>
            </a:r>
            <a:endParaRPr lang="en-US" dirty="0">
              <a:latin typeface="Times New Roman" panose="02020603050405020304" pitchFamily="18" charset="0"/>
              <a:cs typeface="Times New Roman" panose="02020603050405020304" pitchFamily="18" charset="0"/>
            </a:endParaRPr>
          </a:p>
        </p:txBody>
      </p:sp>
      <p:sp>
        <p:nvSpPr>
          <p:cNvPr id="6" name="Text 4"/>
          <p:cNvSpPr/>
          <p:nvPr/>
        </p:nvSpPr>
        <p:spPr>
          <a:xfrm>
            <a:off x="1481328" y="1170432"/>
            <a:ext cx="10140696" cy="237744"/>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NAFNet · Chen, Chu, Zhang &amp; Sun — the dissenting voice</a:t>
            </a:r>
            <a:endParaRPr lang="en-US" sz="1050" dirty="0">
              <a:latin typeface="Times New Roman" panose="02020603050405020304" pitchFamily="18" charset="0"/>
              <a:cs typeface="Times New Roman" panose="02020603050405020304" pitchFamily="18" charset="0"/>
            </a:endParaRPr>
          </a:p>
        </p:txBody>
      </p:sp>
      <p:sp>
        <p:nvSpPr>
          <p:cNvPr id="7" name="Shape 5"/>
          <p:cNvSpPr/>
          <p:nvPr/>
        </p:nvSpPr>
        <p:spPr>
          <a:xfrm>
            <a:off x="566928" y="1481328"/>
            <a:ext cx="11055096" cy="0"/>
          </a:xfrm>
          <a:prstGeom prst="line">
            <a:avLst/>
          </a:prstGeom>
          <a:no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 name="Text 6"/>
          <p:cNvSpPr/>
          <p:nvPr/>
        </p:nvSpPr>
        <p:spPr>
          <a:xfrm>
            <a:off x="566928"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INSTITUTION</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566928" y="187412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MEGVII Technology, Beijing, China</a:t>
            </a:r>
            <a:endParaRPr lang="en-US" sz="1100" dirty="0">
              <a:latin typeface="Times New Roman" panose="02020603050405020304" pitchFamily="18" charset="0"/>
              <a:cs typeface="Times New Roman" panose="02020603050405020304" pitchFamily="18" charset="0"/>
            </a:endParaRPr>
          </a:p>
        </p:txBody>
      </p:sp>
      <p:sp>
        <p:nvSpPr>
          <p:cNvPr id="10" name="Text 8"/>
          <p:cNvSpPr/>
          <p:nvPr/>
        </p:nvSpPr>
        <p:spPr>
          <a:xfrm>
            <a:off x="566928" y="251420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2697080"/>
            <a:ext cx="5486400" cy="566928"/>
          </a:xfrm>
          <a:prstGeom prst="rect">
            <a:avLst/>
          </a:prstGeom>
          <a:noFill/>
          <a:ln/>
        </p:spPr>
        <p:txBody>
          <a:bodyPr wrap="square" lIns="0" tIns="0" rIns="0" bIns="0" rtlCol="0" anchor="t"/>
          <a:lstStyle/>
          <a:p>
            <a:pPr marL="0" indent="0" algn="just">
              <a:buNone/>
            </a:pPr>
            <a:r>
              <a:rPr lang="en-US" sz="1100" dirty="0">
                <a:latin typeface="Times New Roman" panose="02020603050405020304" pitchFamily="18" charset="0"/>
                <a:ea typeface="Calibri" pitchFamily="34" charset="-122"/>
                <a:cs typeface="Times New Roman" panose="02020603050405020304" pitchFamily="18" charset="0"/>
              </a:rPr>
              <a:t>ECCV 2022, LNCS 13667, pp. 17–33, Springer</a:t>
            </a:r>
            <a:endParaRPr lang="en-US" sz="1100" dirty="0">
              <a:latin typeface="Times New Roman" panose="02020603050405020304" pitchFamily="18" charset="0"/>
              <a:cs typeface="Times New Roman" panose="02020603050405020304" pitchFamily="18" charset="0"/>
            </a:endParaRPr>
          </a:p>
        </p:txBody>
      </p:sp>
      <p:sp>
        <p:nvSpPr>
          <p:cNvPr id="12" name="Text 10"/>
          <p:cNvSpPr/>
          <p:nvPr/>
        </p:nvSpPr>
        <p:spPr>
          <a:xfrm>
            <a:off x="566928" y="333716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CITATION COUNT</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566928" y="3520040"/>
            <a:ext cx="5486400" cy="566928"/>
          </a:xfrm>
          <a:prstGeom prst="rect">
            <a:avLst/>
          </a:prstGeom>
          <a:noFill/>
          <a:ln/>
        </p:spPr>
        <p:txBody>
          <a:bodyPr wrap="square" lIns="0" tIns="0" rIns="0" bIns="0" rtlCol="0" anchor="t"/>
          <a:lstStyle/>
          <a:p>
            <a:pPr marL="0" indent="0" algn="just">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2,318 — Google Scholar, checked 9 Aug 2026</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566928" y="416012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SUB-PROBLEM</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566928" y="434300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Rising system complexity in SOTA methods hinders convenient analysis and comparison. The paper decomposes it into inter-block and intra-block complexity and attacks both.</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566928" y="498308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DATASETS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566928" y="516596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SIDD (denoising) and GoPro (deblurring), used throughout the ablations.</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387287"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MODEL / ARCHITECTURE</a:t>
            </a:r>
            <a:endParaRPr lang="en-US" sz="1000" dirty="0">
              <a:latin typeface="Times New Roman" panose="02020603050405020304" pitchFamily="18" charset="0"/>
              <a:cs typeface="Times New Roman" panose="02020603050405020304" pitchFamily="18" charset="0"/>
            </a:endParaRPr>
          </a:p>
        </p:txBody>
      </p:sp>
      <p:sp>
        <p:nvSpPr>
          <p:cNvPr id="19" name="Text 17"/>
          <p:cNvSpPr/>
          <p:nvPr/>
        </p:nvSpPr>
        <p:spPr>
          <a:xfrm>
            <a:off x="6387287" y="1874120"/>
            <a:ext cx="5486400" cy="132588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A Nonlinear Activation Free Network derived by progressively simplifying a plain UNet baseline. Its central claim: nonlinear activations — Sigmoid, ReLU, GELU, Softmax — are not necessary and can be replaced by multiplication (SimpleGate) or removed, alongside a simplified channel attention.</a:t>
            </a:r>
            <a:endParaRPr lang="en-US" sz="1100" dirty="0">
              <a:latin typeface="Times New Roman" panose="02020603050405020304" pitchFamily="18" charset="0"/>
              <a:cs typeface="Times New Roman" panose="02020603050405020304" pitchFamily="18" charset="0"/>
            </a:endParaRPr>
          </a:p>
        </p:txBody>
      </p:sp>
      <p:sp>
        <p:nvSpPr>
          <p:cNvPr id="20" name="Text 18"/>
          <p:cNvSpPr/>
          <p:nvPr/>
        </p:nvSpPr>
        <p:spPr>
          <a:xfrm>
            <a:off x="6387287" y="3082322"/>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REPORTED RESULTS</a:t>
            </a:r>
            <a:endParaRPr lang="en-US" sz="1000" dirty="0">
              <a:latin typeface="Times New Roman" panose="02020603050405020304" pitchFamily="18" charset="0"/>
              <a:cs typeface="Times New Roman" panose="02020603050405020304" pitchFamily="18" charset="0"/>
            </a:endParaRPr>
          </a:p>
        </p:txBody>
      </p:sp>
      <p:sp>
        <p:nvSpPr>
          <p:cNvPr id="21" name="Text 19"/>
          <p:cNvSpPr/>
          <p:nvPr/>
        </p:nvSpPr>
        <p:spPr>
          <a:xfrm>
            <a:off x="6387287" y="3265202"/>
            <a:ext cx="5486400" cy="96012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40.30 dB PSNR on SIDD for denoising, exceeding previous SOTA by 0.28 dB with less than half the computational cost. 33.69 dB on GoPro for deblurring, exceeding previous SOTA by 0.38 dB with only 8.4% of its cost.</a:t>
            </a:r>
            <a:endParaRPr lang="en-US" sz="1100" dirty="0">
              <a:latin typeface="Times New Roman" panose="02020603050405020304" pitchFamily="18" charset="0"/>
              <a:cs typeface="Times New Roman" panose="02020603050405020304" pitchFamily="18" charset="0"/>
            </a:endParaRPr>
          </a:p>
        </p:txBody>
      </p:sp>
      <p:sp>
        <p:nvSpPr>
          <p:cNvPr id="22" name="Text 20"/>
          <p:cNvSpPr/>
          <p:nvPr/>
        </p:nvSpPr>
        <p:spPr>
          <a:xfrm>
            <a:off x="6387287" y="4489304"/>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RELATION TO THE OTHER PAPERS</a:t>
            </a:r>
            <a:endParaRPr lang="en-US" sz="1000" dirty="0">
              <a:latin typeface="Times New Roman" panose="02020603050405020304" pitchFamily="18" charset="0"/>
              <a:cs typeface="Times New Roman" panose="02020603050405020304" pitchFamily="18" charset="0"/>
            </a:endParaRPr>
          </a:p>
        </p:txBody>
      </p:sp>
      <p:sp>
        <p:nvSpPr>
          <p:cNvPr id="23" name="Text 21"/>
          <p:cNvSpPr/>
          <p:nvPr/>
        </p:nvSpPr>
        <p:spPr>
          <a:xfrm>
            <a:off x="6387287" y="4672184"/>
            <a:ext cx="5486400" cy="105156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The roster's counter-argument. Where Restormer argues for more expressive blocks, NAFNet argues much of that complexity is unnecessary — and backs it with numbers. Including both stops our narrative becoming a naive newer-is-better story.</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just">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22</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lgn="just">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§4 · PAPER-BY-PAPER — THE RIGOR CHECK   ·   A9 · 2023</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58368"/>
            <a:ext cx="868680" cy="457200"/>
          </a:xfrm>
          <a:prstGeom prst="rect">
            <a:avLst/>
          </a:prstGeom>
          <a:noFill/>
          <a:ln/>
        </p:spPr>
        <p:txBody>
          <a:bodyPr wrap="square" lIns="0" tIns="0" rIns="0" bIns="0" rtlCol="0" anchor="ctr"/>
          <a:lstStyle/>
          <a:p>
            <a:pPr marL="0" indent="0" algn="just">
              <a:buNone/>
            </a:pPr>
            <a:r>
              <a:rPr lang="en-US" sz="2800" b="1" dirty="0">
                <a:solidFill>
                  <a:srgbClr val="6D3F86"/>
                </a:solidFill>
                <a:latin typeface="Times New Roman" panose="02020603050405020304" pitchFamily="18" charset="0"/>
                <a:ea typeface="Consolas" pitchFamily="34" charset="-122"/>
                <a:cs typeface="Times New Roman" panose="02020603050405020304" pitchFamily="18" charset="0"/>
              </a:rPr>
              <a:t>A9</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1481328" y="658368"/>
            <a:ext cx="10140696" cy="502920"/>
          </a:xfrm>
          <a:prstGeom prst="rect">
            <a:avLst/>
          </a:prstGeom>
          <a:noFill/>
          <a:ln/>
        </p:spPr>
        <p:txBody>
          <a:bodyPr wrap="square" lIns="0" tIns="0" rIns="0" bIns="0" rtlCol="0" anchor="t"/>
          <a:lstStyle/>
          <a:p>
            <a:pPr marL="0" indent="0" algn="just">
              <a:buNone/>
            </a:pPr>
            <a:r>
              <a:rPr lang="en-US" b="1" dirty="0">
                <a:solidFill>
                  <a:srgbClr val="14161A"/>
                </a:solidFill>
                <a:latin typeface="Times New Roman" panose="02020603050405020304" pitchFamily="18" charset="0"/>
                <a:ea typeface="Georgia" pitchFamily="34" charset="-122"/>
                <a:cs typeface="Times New Roman" panose="02020603050405020304" pitchFamily="18" charset="0"/>
              </a:rPr>
              <a:t>Zero-Shot Noise2Noise: Efficient Image Denoising without any Data</a:t>
            </a:r>
            <a:endParaRPr lang="en-US" dirty="0">
              <a:latin typeface="Times New Roman" panose="02020603050405020304" pitchFamily="18" charset="0"/>
              <a:cs typeface="Times New Roman" panose="02020603050405020304" pitchFamily="18" charset="0"/>
            </a:endParaRPr>
          </a:p>
        </p:txBody>
      </p:sp>
      <p:sp>
        <p:nvSpPr>
          <p:cNvPr id="6" name="Text 4"/>
          <p:cNvSpPr/>
          <p:nvPr/>
        </p:nvSpPr>
        <p:spPr>
          <a:xfrm>
            <a:off x="1481328" y="1170432"/>
            <a:ext cx="10140696" cy="237744"/>
          </a:xfrm>
          <a:prstGeom prst="rect">
            <a:avLst/>
          </a:prstGeom>
          <a:noFill/>
          <a:ln/>
        </p:spPr>
        <p:txBody>
          <a:bodyPr wrap="square" lIns="0" tIns="0" rIns="0" bIns="0" rtlCol="0" anchor="ctr"/>
          <a:lstStyle/>
          <a:p>
            <a:pPr marL="0" indent="0" algn="just">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ZS-N2N · Mansour &amp; Heckel</a:t>
            </a:r>
            <a:endParaRPr lang="en-US" sz="1050" dirty="0">
              <a:latin typeface="Times New Roman" panose="02020603050405020304" pitchFamily="18" charset="0"/>
              <a:cs typeface="Times New Roman" panose="02020603050405020304" pitchFamily="18" charset="0"/>
            </a:endParaRPr>
          </a:p>
        </p:txBody>
      </p:sp>
      <p:sp>
        <p:nvSpPr>
          <p:cNvPr id="7" name="Shape 5"/>
          <p:cNvSpPr/>
          <p:nvPr/>
        </p:nvSpPr>
        <p:spPr>
          <a:xfrm>
            <a:off x="566928" y="1481328"/>
            <a:ext cx="11055096" cy="0"/>
          </a:xfrm>
          <a:prstGeom prst="line">
            <a:avLst/>
          </a:prstGeom>
          <a:noFill/>
          <a:ln w="9525">
            <a:solidFill>
              <a:srgbClr val="E4E1D8"/>
            </a:solidFill>
            <a:prstDash val="solid"/>
          </a:ln>
        </p:spPr>
        <p:txBody>
          <a:bodyPr/>
          <a:lstStyle/>
          <a:p>
            <a:pPr algn="just"/>
            <a:endParaRPr lang="en-GB" sz="2000">
              <a:latin typeface="Times New Roman" panose="02020603050405020304" pitchFamily="18" charset="0"/>
              <a:cs typeface="Times New Roman" panose="02020603050405020304" pitchFamily="18" charset="0"/>
            </a:endParaRPr>
          </a:p>
        </p:txBody>
      </p:sp>
      <p:sp>
        <p:nvSpPr>
          <p:cNvPr id="8" name="Text 6"/>
          <p:cNvSpPr/>
          <p:nvPr/>
        </p:nvSpPr>
        <p:spPr>
          <a:xfrm>
            <a:off x="566928"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INSTITUTIONS</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566928" y="187412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School of Computation, Information and Technology, Technical University of Munich · Munich Center for Machine Learning · Rice University</a:t>
            </a:r>
            <a:endParaRPr lang="en-US" sz="1100" dirty="0">
              <a:latin typeface="Times New Roman" panose="02020603050405020304" pitchFamily="18" charset="0"/>
              <a:cs typeface="Times New Roman" panose="02020603050405020304" pitchFamily="18" charset="0"/>
            </a:endParaRPr>
          </a:p>
        </p:txBody>
      </p:sp>
      <p:sp>
        <p:nvSpPr>
          <p:cNvPr id="10" name="Text 8"/>
          <p:cNvSpPr/>
          <p:nvPr/>
        </p:nvSpPr>
        <p:spPr>
          <a:xfrm>
            <a:off x="566928" y="251420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2697080"/>
            <a:ext cx="5486400" cy="566928"/>
          </a:xfrm>
          <a:prstGeom prst="rect">
            <a:avLst/>
          </a:prstGeom>
          <a:noFill/>
          <a:ln/>
        </p:spPr>
        <p:txBody>
          <a:bodyPr wrap="square" lIns="0" tIns="0" rIns="0" bIns="0" rtlCol="0" anchor="t"/>
          <a:lstStyle/>
          <a:p>
            <a:pPr marL="0" indent="0" algn="just">
              <a:buNone/>
            </a:pPr>
            <a:r>
              <a:rPr lang="en-US" sz="1100" dirty="0">
                <a:latin typeface="Times New Roman" panose="02020603050405020304" pitchFamily="18" charset="0"/>
                <a:ea typeface="Calibri" pitchFamily="34" charset="-122"/>
                <a:cs typeface="Times New Roman" panose="02020603050405020304" pitchFamily="18" charset="0"/>
              </a:rPr>
              <a:t>CVPR 2023, pp. 14018–14027 · DOI 10.1109/CVPR52729.2023.01347</a:t>
            </a:r>
            <a:endParaRPr lang="en-US" sz="1100" dirty="0">
              <a:latin typeface="Times New Roman" panose="02020603050405020304" pitchFamily="18" charset="0"/>
              <a:cs typeface="Times New Roman" panose="02020603050405020304" pitchFamily="18" charset="0"/>
            </a:endParaRPr>
          </a:p>
        </p:txBody>
      </p:sp>
      <p:sp>
        <p:nvSpPr>
          <p:cNvPr id="12" name="Text 10"/>
          <p:cNvSpPr/>
          <p:nvPr/>
        </p:nvSpPr>
        <p:spPr>
          <a:xfrm>
            <a:off x="566928" y="333716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CITATION COUNT</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566928" y="3520040"/>
            <a:ext cx="5486400" cy="566928"/>
          </a:xfrm>
          <a:prstGeom prst="rect">
            <a:avLst/>
          </a:prstGeom>
          <a:noFill/>
          <a:ln/>
        </p:spPr>
        <p:txBody>
          <a:bodyPr wrap="square" lIns="0" tIns="0" rIns="0" bIns="0" rtlCol="0" anchor="t"/>
          <a:lstStyle/>
          <a:p>
            <a:pPr marL="0" indent="0" algn="just">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266 — Google Scholar, checked 9 Aug 2026. Lower count reflects recency, not weakness.</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566928" y="416012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SUB-PROBLEM</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566928" y="434300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Existing dataset-free methods are either computationally expensive, require a noise model, or give inadequate image quality.</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566928" y="498308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DATASETS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566928" y="516596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Artificial noise, real-world camera noise and microscope noise — Kodak, SIDD, PolyU, McMaster among the benchmarks.</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371381"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MODEL / ARCHITECTURE</a:t>
            </a:r>
            <a:endParaRPr lang="en-US" sz="1000" dirty="0">
              <a:latin typeface="Times New Roman" panose="02020603050405020304" pitchFamily="18" charset="0"/>
              <a:cs typeface="Times New Roman" panose="02020603050405020304" pitchFamily="18" charset="0"/>
            </a:endParaRPr>
          </a:p>
        </p:txBody>
      </p:sp>
      <p:sp>
        <p:nvSpPr>
          <p:cNvPr id="19" name="Text 17"/>
          <p:cNvSpPr/>
          <p:nvPr/>
        </p:nvSpPr>
        <p:spPr>
          <a:xfrm>
            <a:off x="6371381" y="1874120"/>
            <a:ext cx="5486400" cy="9144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A simple 2-layer network trained per image. No training data, no knowledge of the noise distribution. Its only assumption is pixel-wise independence of the noise.</a:t>
            </a:r>
            <a:endParaRPr lang="en-US" sz="1100" dirty="0">
              <a:latin typeface="Times New Roman" panose="02020603050405020304" pitchFamily="18" charset="0"/>
              <a:cs typeface="Times New Roman" panose="02020603050405020304" pitchFamily="18" charset="0"/>
            </a:endParaRPr>
          </a:p>
        </p:txBody>
      </p:sp>
      <p:sp>
        <p:nvSpPr>
          <p:cNvPr id="20" name="Text 18"/>
          <p:cNvSpPr/>
          <p:nvPr/>
        </p:nvSpPr>
        <p:spPr>
          <a:xfrm>
            <a:off x="6371381" y="2782159"/>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VALUE THEN VS. NOW</a:t>
            </a:r>
            <a:endParaRPr lang="en-US" sz="1000" dirty="0">
              <a:latin typeface="Times New Roman" panose="02020603050405020304" pitchFamily="18" charset="0"/>
              <a:cs typeface="Times New Roman" panose="02020603050405020304" pitchFamily="18" charset="0"/>
            </a:endParaRPr>
          </a:p>
        </p:txBody>
      </p:sp>
      <p:sp>
        <p:nvSpPr>
          <p:cNvPr id="21" name="Text 19"/>
          <p:cNvSpPr/>
          <p:nvPr/>
        </p:nvSpPr>
        <p:spPr>
          <a:xfrm>
            <a:off x="6371381" y="2965039"/>
            <a:ext cx="5486400" cy="82296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Current, and the most immediately reproducible source in the roster — the paper points to a Colab notebook containing its implementation and hyperparameters.</a:t>
            </a:r>
            <a:endParaRPr lang="en-US" sz="1100" dirty="0">
              <a:latin typeface="Times New Roman" panose="02020603050405020304" pitchFamily="18" charset="0"/>
              <a:cs typeface="Times New Roman" panose="02020603050405020304" pitchFamily="18" charset="0"/>
            </a:endParaRPr>
          </a:p>
        </p:txBody>
      </p:sp>
      <p:sp>
        <p:nvSpPr>
          <p:cNvPr id="22" name="Text 20"/>
          <p:cNvSpPr/>
          <p:nvPr/>
        </p:nvSpPr>
        <p:spPr>
          <a:xfrm>
            <a:off x="6371381" y="3940664"/>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RELATION TO THE OTHER PAPERS</a:t>
            </a:r>
            <a:endParaRPr lang="en-US" sz="1000" dirty="0">
              <a:latin typeface="Times New Roman" panose="02020603050405020304" pitchFamily="18" charset="0"/>
              <a:cs typeface="Times New Roman" panose="02020603050405020304" pitchFamily="18" charset="0"/>
            </a:endParaRPr>
          </a:p>
        </p:txBody>
      </p:sp>
      <p:sp>
        <p:nvSpPr>
          <p:cNvPr id="23" name="Text 21"/>
          <p:cNvSpPr/>
          <p:nvPr/>
        </p:nvSpPr>
        <p:spPr>
          <a:xfrm>
            <a:off x="6371381" y="4123544"/>
            <a:ext cx="5486400" cy="123444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The terminus of the data branch: DnCNN needs clean pairs → N2N needs noisy pairs → N2V needs a noisy dataset → ZS-N2N needs nothing but the image in front of it. The paper names Noise2Noise as its motivation, closing the loop inside our own source list.</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Consolas" pitchFamily="34" charset="0"/>
                <a:ea typeface="Consolas" pitchFamily="34" charset="-122"/>
                <a:cs typeface="Consolas" pitchFamily="34" charset="-120"/>
              </a:rPr>
              <a:t>23</a:t>
            </a:r>
            <a:endParaRPr lang="en-US" sz="1000" dirty="0"/>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Consolas" pitchFamily="34" charset="0"/>
                <a:ea typeface="Consolas" pitchFamily="34" charset="-122"/>
                <a:cs typeface="Consolas" pitchFamily="34" charset="-120"/>
              </a:rPr>
              <a:t>§4 · PAPER-BY-PAPER — THE RIGOR CHECK   ·   A10 · 2023</a:t>
            </a:r>
            <a:endParaRPr lang="en-US" sz="1000" dirty="0"/>
          </a:p>
        </p:txBody>
      </p:sp>
      <p:sp>
        <p:nvSpPr>
          <p:cNvPr id="4" name="Text 2"/>
          <p:cNvSpPr/>
          <p:nvPr/>
        </p:nvSpPr>
        <p:spPr>
          <a:xfrm>
            <a:off x="566928" y="658368"/>
            <a:ext cx="868680" cy="457200"/>
          </a:xfrm>
          <a:prstGeom prst="rect">
            <a:avLst/>
          </a:prstGeom>
          <a:noFill/>
          <a:ln/>
        </p:spPr>
        <p:txBody>
          <a:bodyPr wrap="square" lIns="0" tIns="0" rIns="0" bIns="0" rtlCol="0" anchor="ctr"/>
          <a:lstStyle/>
          <a:p>
            <a:pPr marL="0" indent="0">
              <a:buNone/>
            </a:pPr>
            <a:r>
              <a:rPr lang="en-US" sz="2800" b="1" dirty="0">
                <a:solidFill>
                  <a:srgbClr val="6D3F86"/>
                </a:solidFill>
                <a:latin typeface="Consolas" pitchFamily="34" charset="0"/>
                <a:ea typeface="Consolas" pitchFamily="34" charset="-122"/>
                <a:cs typeface="Consolas" pitchFamily="34" charset="-120"/>
              </a:rPr>
              <a:t>A10</a:t>
            </a:r>
            <a:endParaRPr lang="en-US" sz="2800" dirty="0"/>
          </a:p>
        </p:txBody>
      </p:sp>
      <p:sp>
        <p:nvSpPr>
          <p:cNvPr id="5" name="Text 3"/>
          <p:cNvSpPr/>
          <p:nvPr/>
        </p:nvSpPr>
        <p:spPr>
          <a:xfrm>
            <a:off x="1481328" y="658368"/>
            <a:ext cx="10140696" cy="502920"/>
          </a:xfrm>
          <a:prstGeom prst="rect">
            <a:avLst/>
          </a:prstGeom>
          <a:noFill/>
          <a:ln/>
        </p:spPr>
        <p:txBody>
          <a:bodyPr wrap="square" lIns="0" tIns="0" rIns="0" bIns="0" rtlCol="0" anchor="t"/>
          <a:lstStyle/>
          <a:p>
            <a:pPr marL="0" indent="0">
              <a:buNone/>
            </a:pPr>
            <a:r>
              <a:rPr lang="en-US" b="1" dirty="0">
                <a:solidFill>
                  <a:srgbClr val="14161A"/>
                </a:solidFill>
                <a:latin typeface="Georgia" pitchFamily="34" charset="0"/>
                <a:ea typeface="Georgia" pitchFamily="34" charset="-122"/>
                <a:cs typeface="Georgia" pitchFamily="34" charset="-120"/>
              </a:rPr>
              <a:t>Practical Blind Image Denoising via Swin-Conv-UNet and Data Synthesis</a:t>
            </a:r>
            <a:endParaRPr lang="en-US" dirty="0"/>
          </a:p>
        </p:txBody>
      </p:sp>
      <p:sp>
        <p:nvSpPr>
          <p:cNvPr id="6" name="Text 4"/>
          <p:cNvSpPr/>
          <p:nvPr/>
        </p:nvSpPr>
        <p:spPr>
          <a:xfrm>
            <a:off x="1481328" y="1170432"/>
            <a:ext cx="10140696" cy="237744"/>
          </a:xfrm>
          <a:prstGeom prst="rect">
            <a:avLst/>
          </a:prstGeom>
          <a:noFill/>
          <a:ln/>
        </p:spPr>
        <p:txBody>
          <a:bodyPr wrap="square" lIns="0" tIns="0" rIns="0" bIns="0" rtlCol="0" anchor="ctr"/>
          <a:lstStyle/>
          <a:p>
            <a:pPr marL="0" indent="0">
              <a:buNone/>
            </a:pPr>
            <a:r>
              <a:rPr lang="en-US" sz="1050" dirty="0">
                <a:solidFill>
                  <a:srgbClr val="828A94"/>
                </a:solidFill>
                <a:latin typeface="Calibri" pitchFamily="34" charset="0"/>
                <a:ea typeface="Calibri" pitchFamily="34" charset="-122"/>
                <a:cs typeface="Calibri" pitchFamily="34" charset="-120"/>
              </a:rPr>
              <a:t>SCUNet · Zhang, Li, Liang, Cao, Zhang, Tang, Fan, Timofte &amp; Van Gool</a:t>
            </a:r>
            <a:endParaRPr lang="en-US" sz="1050" dirty="0"/>
          </a:p>
        </p:txBody>
      </p:sp>
      <p:sp>
        <p:nvSpPr>
          <p:cNvPr id="7" name="Shape 5"/>
          <p:cNvSpPr/>
          <p:nvPr/>
        </p:nvSpPr>
        <p:spPr>
          <a:xfrm>
            <a:off x="566928" y="1481328"/>
            <a:ext cx="11055096" cy="0"/>
          </a:xfrm>
          <a:prstGeom prst="line">
            <a:avLst/>
          </a:prstGeom>
          <a:noFill/>
          <a:ln w="9525">
            <a:solidFill>
              <a:srgbClr val="E4E1D8"/>
            </a:solidFill>
            <a:prstDash val="solid"/>
          </a:ln>
        </p:spPr>
        <p:txBody>
          <a:bodyPr/>
          <a:lstStyle/>
          <a:p>
            <a:endParaRPr lang="en-GB" sz="2000"/>
          </a:p>
        </p:txBody>
      </p:sp>
      <p:sp>
        <p:nvSpPr>
          <p:cNvPr id="8" name="Text 6"/>
          <p:cNvSpPr/>
          <p:nvPr/>
        </p:nvSpPr>
        <p:spPr>
          <a:xfrm>
            <a:off x="566928"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INSTITUTIONS</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566928" y="187412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Computer Vision Lab, ETH Zürich · University of Würzburg · KU Leuven</a:t>
            </a:r>
            <a:endParaRPr lang="en-US" sz="1100" dirty="0">
              <a:latin typeface="Times New Roman" panose="02020603050405020304" pitchFamily="18" charset="0"/>
              <a:cs typeface="Times New Roman" panose="02020603050405020304" pitchFamily="18" charset="0"/>
            </a:endParaRPr>
          </a:p>
        </p:txBody>
      </p:sp>
      <p:sp>
        <p:nvSpPr>
          <p:cNvPr id="10" name="Text 8"/>
          <p:cNvSpPr/>
          <p:nvPr/>
        </p:nvSpPr>
        <p:spPr>
          <a:xfrm>
            <a:off x="566928" y="251420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269708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Machine Intelligence Research, 20(6), pp. 822–836, 2023 · DOI 10.1007/s11633-023-1466-0</a:t>
            </a:r>
            <a:endParaRPr lang="en-US" sz="1100" dirty="0">
              <a:latin typeface="Times New Roman" panose="02020603050405020304" pitchFamily="18" charset="0"/>
              <a:cs typeface="Times New Roman" panose="02020603050405020304" pitchFamily="18" charset="0"/>
            </a:endParaRPr>
          </a:p>
        </p:txBody>
      </p:sp>
      <p:sp>
        <p:nvSpPr>
          <p:cNvPr id="12" name="Text 10"/>
          <p:cNvSpPr/>
          <p:nvPr/>
        </p:nvSpPr>
        <p:spPr>
          <a:xfrm>
            <a:off x="566928" y="333716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CITATION COUNT</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566928" y="3520040"/>
            <a:ext cx="5486400" cy="566928"/>
          </a:xfrm>
          <a:prstGeom prst="rect">
            <a:avLst/>
          </a:prstGeom>
          <a:noFill/>
          <a:ln/>
        </p:spPr>
        <p:txBody>
          <a:bodyPr wrap="square" lIns="0" tIns="0" rIns="0" bIns="0" rtlCol="0" anchor="t"/>
          <a:lstStyle/>
          <a:p>
            <a:pPr marL="0" indent="0" algn="just">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391 — Google Scholar, checked 9 Aug 2026</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566928" y="416012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SUB-PROBLEM</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566928" y="434300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Existing methods rely on simple noise assumptions; a general-purpose blind denoiser for real images remains unsolved.</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566928" y="498308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DATASETS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566928" y="516596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Urban100, Set12, Kodak, DND, CBSD68, BSD68, McMaster, SIDD, Waterloo, DIV2K.</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180548"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MODEL / ARCHITECTURE</a:t>
            </a:r>
            <a:endParaRPr lang="en-US" sz="1000" dirty="0">
              <a:latin typeface="Times New Roman" panose="02020603050405020304" pitchFamily="18" charset="0"/>
              <a:cs typeface="Times New Roman" panose="02020603050405020304" pitchFamily="18" charset="0"/>
            </a:endParaRPr>
          </a:p>
        </p:txBody>
      </p:sp>
      <p:sp>
        <p:nvSpPr>
          <p:cNvPr id="19" name="Text 17"/>
          <p:cNvSpPr/>
          <p:nvPr/>
        </p:nvSpPr>
        <p:spPr>
          <a:xfrm>
            <a:off x="6180548" y="1874120"/>
            <a:ext cx="5486400" cy="96012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A swin-conv block combining the local modelling of a residual convolutional layer with the non-local modelling of a swin transformer block, plugged into an image-to-image translation UNet.</a:t>
            </a:r>
            <a:endParaRPr lang="en-US" sz="1100" dirty="0">
              <a:latin typeface="Times New Roman" panose="02020603050405020304" pitchFamily="18" charset="0"/>
              <a:cs typeface="Times New Roman" panose="02020603050405020304" pitchFamily="18" charset="0"/>
            </a:endParaRPr>
          </a:p>
        </p:txBody>
      </p:sp>
      <p:sp>
        <p:nvSpPr>
          <p:cNvPr id="20" name="Text 18"/>
          <p:cNvSpPr/>
          <p:nvPr/>
        </p:nvSpPr>
        <p:spPr>
          <a:xfrm>
            <a:off x="6180548" y="2907392"/>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SECOND CONTRIBUTION — THE DATA</a:t>
            </a:r>
            <a:endParaRPr lang="en-US" sz="1000" dirty="0">
              <a:latin typeface="Times New Roman" panose="02020603050405020304" pitchFamily="18" charset="0"/>
              <a:cs typeface="Times New Roman" panose="02020603050405020304" pitchFamily="18" charset="0"/>
            </a:endParaRPr>
          </a:p>
        </p:txBody>
      </p:sp>
      <p:sp>
        <p:nvSpPr>
          <p:cNvPr id="21" name="Text 19"/>
          <p:cNvSpPr/>
          <p:nvPr/>
        </p:nvSpPr>
        <p:spPr>
          <a:xfrm>
            <a:off x="6180548" y="3090272"/>
            <a:ext cx="5486400" cy="132588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A practical degradation model spanning Gaussian, Poisson, speckle, JPEG compression and processed camera sensor noise, plus resizing, with a random shuffle strategy and a double degradation strategy. Its finding: the architecture reaches SOTA and the degradation model significantly improves practicability.</a:t>
            </a:r>
            <a:endParaRPr lang="en-US" sz="1100" dirty="0">
              <a:latin typeface="Times New Roman" panose="02020603050405020304" pitchFamily="18" charset="0"/>
              <a:cs typeface="Times New Roman" panose="02020603050405020304" pitchFamily="18" charset="0"/>
            </a:endParaRPr>
          </a:p>
        </p:txBody>
      </p:sp>
      <p:sp>
        <p:nvSpPr>
          <p:cNvPr id="22" name="Text 20"/>
          <p:cNvSpPr/>
          <p:nvPr/>
        </p:nvSpPr>
        <p:spPr>
          <a:xfrm>
            <a:off x="6180548" y="4489304"/>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RELATION TO THE OTHER PAPERS</a:t>
            </a:r>
            <a:endParaRPr lang="en-US" sz="1000" dirty="0">
              <a:latin typeface="Times New Roman" panose="02020603050405020304" pitchFamily="18" charset="0"/>
              <a:cs typeface="Times New Roman" panose="02020603050405020304" pitchFamily="18" charset="0"/>
            </a:endParaRPr>
          </a:p>
        </p:txBody>
      </p:sp>
      <p:sp>
        <p:nvSpPr>
          <p:cNvPr id="23" name="Text 21"/>
          <p:cNvSpPr/>
          <p:nvPr/>
        </p:nvSpPr>
        <p:spPr>
          <a:xfrm>
            <a:off x="6180548" y="4672184"/>
            <a:ext cx="5486400" cy="11430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The synthesis paper. It fuses the convolutional line (DnCNN) with the transformer line (Restormer/SwinIR-style blocks), and it is the only source that treats the noise model itself — the assumption in DnCNN's opening equation — as the thing to fix.</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24</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§4 · PAPER-BY-PAPER — THE RIGOR CHECK   ·   A11 · 2024</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58368"/>
            <a:ext cx="868680" cy="457200"/>
          </a:xfrm>
          <a:prstGeom prst="rect">
            <a:avLst/>
          </a:prstGeom>
          <a:noFill/>
          <a:ln/>
        </p:spPr>
        <p:txBody>
          <a:bodyPr wrap="square" lIns="0" tIns="0" rIns="0" bIns="0" rtlCol="0" anchor="ctr"/>
          <a:lstStyle/>
          <a:p>
            <a:pPr marL="0" indent="0">
              <a:buNone/>
            </a:pPr>
            <a:r>
              <a:rPr lang="en-US" sz="2800" b="1" dirty="0">
                <a:solidFill>
                  <a:srgbClr val="6D3F86"/>
                </a:solidFill>
                <a:latin typeface="Times New Roman" panose="02020603050405020304" pitchFamily="18" charset="0"/>
                <a:ea typeface="Consolas" pitchFamily="34" charset="-122"/>
                <a:cs typeface="Times New Roman" panose="02020603050405020304" pitchFamily="18" charset="0"/>
              </a:rPr>
              <a:t>A11</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1481328" y="658368"/>
            <a:ext cx="10140696" cy="502920"/>
          </a:xfrm>
          <a:prstGeom prst="rect">
            <a:avLst/>
          </a:prstGeom>
          <a:noFill/>
          <a:ln/>
        </p:spPr>
        <p:txBody>
          <a:bodyPr wrap="square" lIns="0" tIns="0" rIns="0" bIns="0" rtlCol="0" anchor="t"/>
          <a:lstStyle/>
          <a:p>
            <a:pPr marL="0" indent="0">
              <a:buNone/>
            </a:pPr>
            <a:r>
              <a:rPr lang="en-US" b="1" dirty="0">
                <a:solidFill>
                  <a:srgbClr val="14161A"/>
                </a:solidFill>
                <a:latin typeface="Times New Roman" panose="02020603050405020304" pitchFamily="18" charset="0"/>
                <a:ea typeface="Georgia" pitchFamily="34" charset="-122"/>
                <a:cs typeface="Times New Roman" panose="02020603050405020304" pitchFamily="18" charset="0"/>
              </a:rPr>
              <a:t>MambaIR: A Simple Baseline for Image Restoration with State-Space Model</a:t>
            </a:r>
            <a:endParaRPr lang="en-US" dirty="0">
              <a:latin typeface="Times New Roman" panose="02020603050405020304" pitchFamily="18" charset="0"/>
              <a:cs typeface="Times New Roman" panose="02020603050405020304" pitchFamily="18" charset="0"/>
            </a:endParaRPr>
          </a:p>
        </p:txBody>
      </p:sp>
      <p:sp>
        <p:nvSpPr>
          <p:cNvPr id="6" name="Text 4"/>
          <p:cNvSpPr/>
          <p:nvPr/>
        </p:nvSpPr>
        <p:spPr>
          <a:xfrm>
            <a:off x="1481328" y="1170432"/>
            <a:ext cx="10140696" cy="237744"/>
          </a:xfrm>
          <a:prstGeom prst="rect">
            <a:avLst/>
          </a:prstGeom>
          <a:noFill/>
          <a:ln/>
        </p:spPr>
        <p:txBody>
          <a:bodyPr wrap="square" lIns="0" tIns="0" rIns="0" bIns="0" rtlCol="0" anchor="ctr"/>
          <a:lstStyle/>
          <a:p>
            <a:pPr marL="0" indent="0">
              <a:buNone/>
            </a:pPr>
            <a:r>
              <a:rPr lang="en-US" sz="1050" dirty="0">
                <a:solidFill>
                  <a:srgbClr val="828A94"/>
                </a:solidFill>
                <a:latin typeface="Times New Roman" panose="02020603050405020304" pitchFamily="18" charset="0"/>
                <a:ea typeface="Calibri" pitchFamily="34" charset="-122"/>
                <a:cs typeface="Times New Roman" panose="02020603050405020304" pitchFamily="18" charset="0"/>
              </a:rPr>
              <a:t>Guo, Li, Dai, Ouyang, Ren &amp; Xia — the current frontier</a:t>
            </a:r>
            <a:endParaRPr lang="en-US" sz="1050" dirty="0">
              <a:latin typeface="Times New Roman" panose="02020603050405020304" pitchFamily="18" charset="0"/>
              <a:cs typeface="Times New Roman" panose="02020603050405020304" pitchFamily="18" charset="0"/>
            </a:endParaRPr>
          </a:p>
        </p:txBody>
      </p:sp>
      <p:sp>
        <p:nvSpPr>
          <p:cNvPr id="7" name="Shape 5"/>
          <p:cNvSpPr/>
          <p:nvPr/>
        </p:nvSpPr>
        <p:spPr>
          <a:xfrm>
            <a:off x="566928" y="1481328"/>
            <a:ext cx="11055096" cy="0"/>
          </a:xfrm>
          <a:prstGeom prst="line">
            <a:avLst/>
          </a:prstGeom>
          <a:noFill/>
          <a:ln w="9525">
            <a:solidFill>
              <a:srgbClr val="E4E1D8"/>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8" name="Text 6"/>
          <p:cNvSpPr/>
          <p:nvPr/>
        </p:nvSpPr>
        <p:spPr>
          <a:xfrm>
            <a:off x="566928"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INSTITUTIONS</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566928" y="187412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Tsinghua Shenzhen International Graduate School · Shenzhen University · ByteDance Inc. · Aitist.ai · Peng Cheng Laboratory</a:t>
            </a:r>
            <a:endParaRPr lang="en-US" sz="1100" dirty="0">
              <a:latin typeface="Times New Roman" panose="02020603050405020304" pitchFamily="18" charset="0"/>
              <a:cs typeface="Times New Roman" panose="02020603050405020304" pitchFamily="18" charset="0"/>
            </a:endParaRPr>
          </a:p>
        </p:txBody>
      </p:sp>
      <p:sp>
        <p:nvSpPr>
          <p:cNvPr id="10" name="Text 8"/>
          <p:cNvSpPr/>
          <p:nvPr/>
        </p:nvSpPr>
        <p:spPr>
          <a:xfrm>
            <a:off x="566928" y="251420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VENUE &amp; YEAR</a:t>
            </a:r>
            <a:endParaRPr lang="en-US" sz="10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2697080"/>
            <a:ext cx="5486400" cy="566928"/>
          </a:xfrm>
          <a:prstGeom prst="rect">
            <a:avLst/>
          </a:prstGeom>
          <a:noFill/>
          <a:ln/>
        </p:spPr>
        <p:txBody>
          <a:bodyPr wrap="square" lIns="0" tIns="0" rIns="0" bIns="0" rtlCol="0" anchor="t"/>
          <a:lstStyle/>
          <a:p>
            <a:pPr marL="0" indent="0" algn="just">
              <a:buNone/>
            </a:pPr>
            <a:r>
              <a:rPr lang="en-US" sz="1100" dirty="0">
                <a:latin typeface="Times New Roman" panose="02020603050405020304" pitchFamily="18" charset="0"/>
                <a:ea typeface="Calibri" pitchFamily="34" charset="-122"/>
                <a:cs typeface="Times New Roman" panose="02020603050405020304" pitchFamily="18" charset="0"/>
              </a:rPr>
              <a:t>ECCV 2024, pp. 222–241</a:t>
            </a:r>
            <a:endParaRPr lang="en-US" sz="1100" dirty="0">
              <a:latin typeface="Times New Roman" panose="02020603050405020304" pitchFamily="18" charset="0"/>
              <a:cs typeface="Times New Roman" panose="02020603050405020304" pitchFamily="18" charset="0"/>
            </a:endParaRPr>
          </a:p>
          <a:p>
            <a:pPr marL="0" indent="0" algn="just">
              <a:buNone/>
            </a:pPr>
            <a:r>
              <a:rPr lang="en-US" sz="1100" dirty="0">
                <a:latin typeface="Times New Roman" panose="02020603050405020304" pitchFamily="18" charset="0"/>
                <a:ea typeface="Calibri" pitchFamily="34" charset="-122"/>
                <a:cs typeface="Times New Roman" panose="02020603050405020304" pitchFamily="18" charset="0"/>
              </a:rPr>
              <a:t>PDF is arXiv:2402.15648v3, 15 Oct 2024.</a:t>
            </a:r>
            <a:endParaRPr lang="en-US" sz="1100" dirty="0">
              <a:latin typeface="Times New Roman" panose="02020603050405020304" pitchFamily="18" charset="0"/>
              <a:cs typeface="Times New Roman" panose="02020603050405020304" pitchFamily="18" charset="0"/>
            </a:endParaRPr>
          </a:p>
        </p:txBody>
      </p:sp>
      <p:sp>
        <p:nvSpPr>
          <p:cNvPr id="12" name="Text 10"/>
          <p:cNvSpPr/>
          <p:nvPr/>
        </p:nvSpPr>
        <p:spPr>
          <a:xfrm>
            <a:off x="566928" y="333716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CITATION COUNT</a:t>
            </a:r>
            <a:endParaRPr lang="en-US" sz="1000" dirty="0">
              <a:latin typeface="Times New Roman" panose="02020603050405020304" pitchFamily="18" charset="0"/>
              <a:cs typeface="Times New Roman" panose="02020603050405020304" pitchFamily="18" charset="0"/>
            </a:endParaRPr>
          </a:p>
        </p:txBody>
      </p:sp>
      <p:sp>
        <p:nvSpPr>
          <p:cNvPr id="13" name="Text 11"/>
          <p:cNvSpPr/>
          <p:nvPr/>
        </p:nvSpPr>
        <p:spPr>
          <a:xfrm>
            <a:off x="566928" y="3520040"/>
            <a:ext cx="5486400" cy="566928"/>
          </a:xfrm>
          <a:prstGeom prst="rect">
            <a:avLst/>
          </a:prstGeom>
          <a:noFill/>
          <a:ln/>
        </p:spPr>
        <p:txBody>
          <a:bodyPr wrap="square" lIns="0" tIns="0" rIns="0" bIns="0" rtlCol="0" anchor="t"/>
          <a:lstStyle/>
          <a:p>
            <a:pPr marL="0" indent="0" algn="just">
              <a:buNone/>
            </a:pPr>
            <a:r>
              <a:rPr lang="en-US" sz="1100" dirty="0">
                <a:solidFill>
                  <a:srgbClr val="14161A"/>
                </a:solidFill>
                <a:latin typeface="Times New Roman" panose="02020603050405020304" pitchFamily="18" charset="0"/>
                <a:ea typeface="Calibri" pitchFamily="34" charset="-122"/>
                <a:cs typeface="Times New Roman" panose="02020603050405020304" pitchFamily="18" charset="0"/>
              </a:rPr>
              <a:t>1,208 — Google Scholar, checked 9 Aug 2026</a:t>
            </a:r>
            <a:endParaRPr lang="en-US" sz="1100" dirty="0">
              <a:latin typeface="Times New Roman" panose="02020603050405020304" pitchFamily="18" charset="0"/>
              <a:cs typeface="Times New Roman" panose="02020603050405020304" pitchFamily="18" charset="0"/>
            </a:endParaRPr>
          </a:p>
        </p:txBody>
      </p:sp>
      <p:sp>
        <p:nvSpPr>
          <p:cNvPr id="14" name="Text 12"/>
          <p:cNvSpPr/>
          <p:nvPr/>
        </p:nvSpPr>
        <p:spPr>
          <a:xfrm>
            <a:off x="566928" y="416012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SUB-PROBLEM</a:t>
            </a:r>
            <a:endParaRPr lang="en-US" sz="1000" dirty="0">
              <a:latin typeface="Times New Roman" panose="02020603050405020304" pitchFamily="18" charset="0"/>
              <a:cs typeface="Times New Roman" panose="02020603050405020304" pitchFamily="18" charset="0"/>
            </a:endParaRPr>
          </a:p>
        </p:txBody>
      </p:sp>
      <p:sp>
        <p:nvSpPr>
          <p:cNvPr id="15" name="Text 13"/>
          <p:cNvSpPr/>
          <p:nvPr/>
        </p:nvSpPr>
        <p:spPr>
          <a:xfrm>
            <a:off x="566928" y="434300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The dilemma between global receptive fields and efficient computation — plus two failures of standard Mamba in low-level vision: local pixel forgetting and channel redundancy.</a:t>
            </a:r>
            <a:endParaRPr lang="en-US" sz="1100" dirty="0">
              <a:latin typeface="Times New Roman" panose="02020603050405020304" pitchFamily="18" charset="0"/>
              <a:cs typeface="Times New Roman" panose="02020603050405020304" pitchFamily="18" charset="0"/>
            </a:endParaRPr>
          </a:p>
        </p:txBody>
      </p:sp>
      <p:sp>
        <p:nvSpPr>
          <p:cNvPr id="16" name="Text 14"/>
          <p:cNvSpPr/>
          <p:nvPr/>
        </p:nvSpPr>
        <p:spPr>
          <a:xfrm>
            <a:off x="566928" y="498308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DATASETS</a:t>
            </a:r>
            <a:endParaRPr lang="en-US" sz="1000" dirty="0">
              <a:latin typeface="Times New Roman" panose="02020603050405020304" pitchFamily="18" charset="0"/>
              <a:cs typeface="Times New Roman" panose="02020603050405020304" pitchFamily="18" charset="0"/>
            </a:endParaRPr>
          </a:p>
        </p:txBody>
      </p:sp>
      <p:sp>
        <p:nvSpPr>
          <p:cNvPr id="17" name="Text 15"/>
          <p:cNvSpPr/>
          <p:nvPr/>
        </p:nvSpPr>
        <p:spPr>
          <a:xfrm>
            <a:off x="566928" y="5165960"/>
            <a:ext cx="5486400" cy="566928"/>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Urban100, Manga109, Set5, Set14, DIV2K, Flickr2K (super-resolution); SIDD for training, SIDD test + DND for real denoising.</a:t>
            </a:r>
            <a:endParaRPr lang="en-US" sz="1100" dirty="0">
              <a:latin typeface="Times New Roman" panose="02020603050405020304" pitchFamily="18" charset="0"/>
              <a:cs typeface="Times New Roman" panose="02020603050405020304" pitchFamily="18" charset="0"/>
            </a:endParaRPr>
          </a:p>
        </p:txBody>
      </p:sp>
      <p:sp>
        <p:nvSpPr>
          <p:cNvPr id="18" name="Text 16"/>
          <p:cNvSpPr/>
          <p:nvPr/>
        </p:nvSpPr>
        <p:spPr>
          <a:xfrm>
            <a:off x="6434991" y="1691240"/>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MODEL / ARCHITECTURE</a:t>
            </a:r>
            <a:endParaRPr lang="en-US" sz="1000" dirty="0">
              <a:latin typeface="Times New Roman" panose="02020603050405020304" pitchFamily="18" charset="0"/>
              <a:cs typeface="Times New Roman" panose="02020603050405020304" pitchFamily="18" charset="0"/>
            </a:endParaRPr>
          </a:p>
        </p:txBody>
      </p:sp>
      <p:sp>
        <p:nvSpPr>
          <p:cNvPr id="19" name="Text 17"/>
          <p:cNvSpPr/>
          <p:nvPr/>
        </p:nvSpPr>
        <p:spPr>
          <a:xfrm>
            <a:off x="6434991" y="1874120"/>
            <a:ext cx="5486400" cy="105156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A Residual State Space Block (RSSB) adding local enhancement and channel attention to the vanilla Mamba selective state space model — giving long-range dependency modelling at linear complexity rather than quadratic.</a:t>
            </a:r>
            <a:endParaRPr lang="en-US" sz="1100" dirty="0">
              <a:latin typeface="Times New Roman" panose="02020603050405020304" pitchFamily="18" charset="0"/>
              <a:cs typeface="Times New Roman" panose="02020603050405020304" pitchFamily="18" charset="0"/>
            </a:endParaRPr>
          </a:p>
        </p:txBody>
      </p:sp>
      <p:sp>
        <p:nvSpPr>
          <p:cNvPr id="20" name="Text 18"/>
          <p:cNvSpPr/>
          <p:nvPr/>
        </p:nvSpPr>
        <p:spPr>
          <a:xfrm>
            <a:off x="6434991" y="2847762"/>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REPORTED RESULT</a:t>
            </a:r>
            <a:endParaRPr lang="en-US" sz="1000" dirty="0">
              <a:latin typeface="Times New Roman" panose="02020603050405020304" pitchFamily="18" charset="0"/>
              <a:cs typeface="Times New Roman" panose="02020603050405020304" pitchFamily="18" charset="0"/>
            </a:endParaRPr>
          </a:p>
        </p:txBody>
      </p:sp>
      <p:sp>
        <p:nvSpPr>
          <p:cNvPr id="21" name="Text 19"/>
          <p:cNvSpPr/>
          <p:nvPr/>
        </p:nvSpPr>
        <p:spPr>
          <a:xfrm>
            <a:off x="6434991" y="3030642"/>
            <a:ext cx="5486400" cy="6858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Outperforms SwinIR by up to 0.45 dB on image super-resolution at similar computational cost, but with a global receptive field.</a:t>
            </a:r>
            <a:endParaRPr lang="en-US" sz="1100" dirty="0">
              <a:latin typeface="Times New Roman" panose="02020603050405020304" pitchFamily="18" charset="0"/>
              <a:cs typeface="Times New Roman" panose="02020603050405020304" pitchFamily="18" charset="0"/>
            </a:endParaRPr>
          </a:p>
        </p:txBody>
      </p:sp>
      <p:sp>
        <p:nvSpPr>
          <p:cNvPr id="22" name="Text 20"/>
          <p:cNvSpPr/>
          <p:nvPr/>
        </p:nvSpPr>
        <p:spPr>
          <a:xfrm>
            <a:off x="6434991" y="3940664"/>
            <a:ext cx="5486400" cy="182880"/>
          </a:xfrm>
          <a:prstGeom prst="rect">
            <a:avLst/>
          </a:prstGeom>
          <a:noFill/>
          <a:ln/>
        </p:spPr>
        <p:txBody>
          <a:bodyPr wrap="square" lIns="0" tIns="0" rIns="0" bIns="0" rtlCol="0" anchor="ctr"/>
          <a:lstStyle/>
          <a:p>
            <a:pPr marL="0" indent="0" algn="just">
              <a:buNone/>
            </a:pPr>
            <a:r>
              <a:rPr lang="en-US" sz="1000" kern="0" spc="120" dirty="0">
                <a:solidFill>
                  <a:srgbClr val="828A94"/>
                </a:solidFill>
                <a:latin typeface="Times New Roman" panose="02020603050405020304" pitchFamily="18" charset="0"/>
                <a:ea typeface="Consolas" pitchFamily="34" charset="-122"/>
                <a:cs typeface="Times New Roman" panose="02020603050405020304" pitchFamily="18" charset="0"/>
              </a:rPr>
              <a:t>RELATION TO THE OTHER PAPERS</a:t>
            </a:r>
            <a:endParaRPr lang="en-US" sz="1000" dirty="0">
              <a:latin typeface="Times New Roman" panose="02020603050405020304" pitchFamily="18" charset="0"/>
              <a:cs typeface="Times New Roman" panose="02020603050405020304" pitchFamily="18" charset="0"/>
            </a:endParaRPr>
          </a:p>
        </p:txBody>
      </p:sp>
      <p:sp>
        <p:nvSpPr>
          <p:cNvPr id="23" name="Text 21"/>
          <p:cNvSpPr/>
          <p:nvPr/>
        </p:nvSpPr>
        <p:spPr>
          <a:xfrm>
            <a:off x="6434991" y="4123544"/>
            <a:ext cx="5486400" cy="1143000"/>
          </a:xfrm>
          <a:prstGeom prst="rect">
            <a:avLst/>
          </a:prstGeom>
          <a:noFill/>
          <a:ln/>
        </p:spPr>
        <p:txBody>
          <a:bodyPr wrap="square" lIns="0" tIns="0" rIns="0" bIns="0" rtlCol="0" anchor="t"/>
          <a:lstStyle/>
          <a:p>
            <a:pPr marL="0" indent="0" algn="just">
              <a:buNone/>
            </a:pPr>
            <a:r>
              <a:rPr lang="en-US" sz="1100" dirty="0">
                <a:solidFill>
                  <a:srgbClr val="4A5058"/>
                </a:solidFill>
                <a:latin typeface="Times New Roman" panose="02020603050405020304" pitchFamily="18" charset="0"/>
                <a:ea typeface="Calibri" pitchFamily="34" charset="-122"/>
                <a:cs typeface="Times New Roman" panose="02020603050405020304" pitchFamily="18" charset="0"/>
              </a:rPr>
              <a:t>Resolves the same dilemma Restormer attacked, but by replacing attention altogether rather than making it cheaper. Together with NAFNet it shows the field has three live answers to bottleneck 3 — cheaper attention, simplified convolution, linear-complexity state spaces.</a:t>
            </a:r>
            <a:endParaRPr lang="en-US" sz="11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25</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§4C · EVOLUTIONARY CONTEXT — CONNECTING THE DOTS</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21792"/>
            <a:ext cx="11055096" cy="777240"/>
          </a:xfrm>
          <a:prstGeom prst="rect">
            <a:avLst/>
          </a:prstGeom>
          <a:noFill/>
          <a:ln/>
        </p:spPr>
        <p:txBody>
          <a:bodyPr wrap="square" lIns="0" tIns="0" rIns="0" bIns="0" rtlCol="0" anchor="t"/>
          <a:lstStyle/>
          <a:p>
            <a:pPr marL="0" indent="0">
              <a:buNone/>
            </a:pPr>
            <a:r>
              <a:rPr lang="en-US" sz="2800" b="1" dirty="0">
                <a:solidFill>
                  <a:srgbClr val="14161A"/>
                </a:solidFill>
                <a:latin typeface="Times New Roman" panose="02020603050405020304" pitchFamily="18" charset="0"/>
                <a:ea typeface="Georgia" pitchFamily="34" charset="-122"/>
                <a:cs typeface="Times New Roman" panose="02020603050405020304" pitchFamily="18" charset="0"/>
              </a:rPr>
              <a:t>How the eleven papers depend on each other</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566928" y="1371600"/>
            <a:ext cx="11055096" cy="274320"/>
          </a:xfrm>
          <a:prstGeom prst="rect">
            <a:avLst/>
          </a:prstGeom>
          <a:noFill/>
          <a:ln/>
        </p:spPr>
        <p:txBody>
          <a:bodyPr wrap="square" lIns="0" tIns="0" rIns="0" bIns="0" rtlCol="0" anchor="ctr"/>
          <a:lstStyle/>
          <a:p>
            <a:pPr marL="0" indent="0">
              <a:buNone/>
            </a:pPr>
            <a:r>
              <a:rPr lang="en-US" sz="1100" i="1" dirty="0">
                <a:solidFill>
                  <a:srgbClr val="828A94"/>
                </a:solidFill>
                <a:latin typeface="Times New Roman" panose="02020603050405020304" pitchFamily="18" charset="0"/>
                <a:ea typeface="Calibri" pitchFamily="34" charset="-122"/>
                <a:cs typeface="Times New Roman" panose="02020603050405020304" pitchFamily="18" charset="0"/>
              </a:rPr>
              <a:t>Every arrow below is stated by one of the papers, not inferred by us.</a:t>
            </a:r>
            <a:endParaRPr lang="en-US" sz="1100" dirty="0">
              <a:latin typeface="Times New Roman" panose="02020603050405020304" pitchFamily="18" charset="0"/>
              <a:cs typeface="Times New Roman" panose="02020603050405020304" pitchFamily="18" charset="0"/>
            </a:endParaRPr>
          </a:p>
        </p:txBody>
      </p:sp>
      <p:sp>
        <p:nvSpPr>
          <p:cNvPr id="6" name="Shape 4"/>
          <p:cNvSpPr/>
          <p:nvPr/>
        </p:nvSpPr>
        <p:spPr>
          <a:xfrm>
            <a:off x="566928" y="1783080"/>
            <a:ext cx="1417320" cy="566928"/>
          </a:xfrm>
          <a:prstGeom prst="roundRect">
            <a:avLst>
              <a:gd name="adj" fmla="val 8065"/>
            </a:avLst>
          </a:prstGeom>
          <a:solidFill>
            <a:srgbClr val="6E6350">
              <a:alpha val="11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7" name="Text 5"/>
          <p:cNvSpPr/>
          <p:nvPr/>
        </p:nvSpPr>
        <p:spPr>
          <a:xfrm>
            <a:off x="566928" y="1874520"/>
            <a:ext cx="1417320" cy="237744"/>
          </a:xfrm>
          <a:prstGeom prst="rect">
            <a:avLst/>
          </a:prstGeom>
          <a:noFill/>
          <a:ln/>
        </p:spPr>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BM3D</a:t>
            </a:r>
            <a:endParaRPr lang="en-US" sz="1200" dirty="0">
              <a:latin typeface="Times New Roman" panose="02020603050405020304" pitchFamily="18" charset="0"/>
              <a:cs typeface="Times New Roman" panose="02020603050405020304" pitchFamily="18" charset="0"/>
            </a:endParaRPr>
          </a:p>
        </p:txBody>
      </p:sp>
      <p:sp>
        <p:nvSpPr>
          <p:cNvPr id="8" name="Text 6"/>
          <p:cNvSpPr/>
          <p:nvPr/>
        </p:nvSpPr>
        <p:spPr>
          <a:xfrm>
            <a:off x="566928" y="2093976"/>
            <a:ext cx="1417320" cy="201168"/>
          </a:xfrm>
          <a:prstGeom prst="rect">
            <a:avLst/>
          </a:prstGeom>
          <a:noFill/>
          <a:ln/>
        </p:spPr>
        <p:txBody>
          <a:bodyPr wrap="square" lIns="0" tIns="0" rIns="0" bIns="0" rtlCol="0" anchor="ctr"/>
          <a:lstStyle/>
          <a:p>
            <a:pPr marL="0" indent="0" algn="ctr">
              <a:buNone/>
            </a:pPr>
            <a:r>
              <a:rPr lang="en-US" sz="800" dirty="0">
                <a:solidFill>
                  <a:srgbClr val="6E6350"/>
                </a:solidFill>
                <a:latin typeface="Times New Roman" panose="02020603050405020304" pitchFamily="18" charset="0"/>
                <a:ea typeface="Consolas" pitchFamily="34" charset="-122"/>
                <a:cs typeface="Times New Roman" panose="02020603050405020304" pitchFamily="18" charset="0"/>
              </a:rPr>
              <a:t>non-local prior</a:t>
            </a:r>
            <a:endParaRPr lang="en-US" sz="800" dirty="0">
              <a:latin typeface="Times New Roman" panose="02020603050405020304" pitchFamily="18" charset="0"/>
              <a:cs typeface="Times New Roman" panose="02020603050405020304" pitchFamily="18" charset="0"/>
            </a:endParaRPr>
          </a:p>
        </p:txBody>
      </p:sp>
      <p:sp>
        <p:nvSpPr>
          <p:cNvPr id="9" name="Shape 7"/>
          <p:cNvSpPr/>
          <p:nvPr/>
        </p:nvSpPr>
        <p:spPr>
          <a:xfrm>
            <a:off x="566928" y="2697480"/>
            <a:ext cx="1417320" cy="566928"/>
          </a:xfrm>
          <a:prstGeom prst="roundRect">
            <a:avLst>
              <a:gd name="adj" fmla="val 8065"/>
            </a:avLst>
          </a:prstGeom>
          <a:solidFill>
            <a:srgbClr val="6E6350">
              <a:alpha val="11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0" name="Text 8"/>
          <p:cNvSpPr/>
          <p:nvPr/>
        </p:nvSpPr>
        <p:spPr>
          <a:xfrm>
            <a:off x="566928" y="2788920"/>
            <a:ext cx="1417320" cy="237744"/>
          </a:xfrm>
          <a:prstGeom prst="rect">
            <a:avLst/>
          </a:prstGeom>
          <a:noFill/>
          <a:ln/>
        </p:spPr>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WNNM</a:t>
            </a:r>
            <a:endParaRPr lang="en-US" sz="1200" dirty="0">
              <a:latin typeface="Times New Roman" panose="02020603050405020304" pitchFamily="18" charset="0"/>
              <a:cs typeface="Times New Roman" panose="02020603050405020304" pitchFamily="18" charset="0"/>
            </a:endParaRPr>
          </a:p>
        </p:txBody>
      </p:sp>
      <p:sp>
        <p:nvSpPr>
          <p:cNvPr id="11" name="Text 9"/>
          <p:cNvSpPr/>
          <p:nvPr/>
        </p:nvSpPr>
        <p:spPr>
          <a:xfrm>
            <a:off x="566928" y="3008376"/>
            <a:ext cx="1417320" cy="201168"/>
          </a:xfrm>
          <a:prstGeom prst="rect">
            <a:avLst/>
          </a:prstGeom>
          <a:noFill/>
          <a:ln/>
        </p:spPr>
        <p:txBody>
          <a:bodyPr wrap="square" lIns="0" tIns="0" rIns="0" bIns="0" rtlCol="0" anchor="ctr"/>
          <a:lstStyle/>
          <a:p>
            <a:pPr marL="0" indent="0" algn="ctr">
              <a:buNone/>
            </a:pPr>
            <a:r>
              <a:rPr lang="en-US" sz="800" dirty="0">
                <a:solidFill>
                  <a:srgbClr val="6E6350"/>
                </a:solidFill>
                <a:latin typeface="Times New Roman" panose="02020603050405020304" pitchFamily="18" charset="0"/>
                <a:ea typeface="Consolas" pitchFamily="34" charset="-122"/>
                <a:cs typeface="Times New Roman" panose="02020603050405020304" pitchFamily="18" charset="0"/>
              </a:rPr>
              <a:t>low-rank prior</a:t>
            </a:r>
            <a:endParaRPr lang="en-US" sz="800" dirty="0">
              <a:latin typeface="Times New Roman" panose="02020603050405020304" pitchFamily="18" charset="0"/>
              <a:cs typeface="Times New Roman" panose="02020603050405020304" pitchFamily="18" charset="0"/>
            </a:endParaRPr>
          </a:p>
        </p:txBody>
      </p:sp>
      <p:sp>
        <p:nvSpPr>
          <p:cNvPr id="12" name="Shape 10"/>
          <p:cNvSpPr/>
          <p:nvPr/>
        </p:nvSpPr>
        <p:spPr>
          <a:xfrm>
            <a:off x="2514600" y="2240280"/>
            <a:ext cx="1417320" cy="566928"/>
          </a:xfrm>
          <a:prstGeom prst="roundRect">
            <a:avLst>
              <a:gd name="adj" fmla="val 8065"/>
            </a:avLst>
          </a:prstGeom>
          <a:solidFill>
            <a:srgbClr val="1E5F7E">
              <a:alpha val="11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3" name="Text 11"/>
          <p:cNvSpPr/>
          <p:nvPr/>
        </p:nvSpPr>
        <p:spPr>
          <a:xfrm>
            <a:off x="2514600" y="2331720"/>
            <a:ext cx="1417320" cy="237744"/>
          </a:xfrm>
          <a:prstGeom prst="rect">
            <a:avLst/>
          </a:prstGeom>
          <a:noFill/>
          <a:ln/>
        </p:spPr>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TNRD</a:t>
            </a:r>
            <a:endParaRPr lang="en-US" sz="1200" dirty="0">
              <a:latin typeface="Times New Roman" panose="02020603050405020304" pitchFamily="18" charset="0"/>
              <a:cs typeface="Times New Roman" panose="02020603050405020304" pitchFamily="18" charset="0"/>
            </a:endParaRPr>
          </a:p>
        </p:txBody>
      </p:sp>
      <p:sp>
        <p:nvSpPr>
          <p:cNvPr id="14" name="Text 12"/>
          <p:cNvSpPr/>
          <p:nvPr/>
        </p:nvSpPr>
        <p:spPr>
          <a:xfrm>
            <a:off x="2514600" y="2551176"/>
            <a:ext cx="1417320" cy="201168"/>
          </a:xfrm>
          <a:prstGeom prst="rect">
            <a:avLst/>
          </a:prstGeom>
          <a:noFill/>
          <a:ln/>
        </p:spPr>
        <p:txBody>
          <a:bodyPr wrap="square" lIns="0" tIns="0" rIns="0" bIns="0" rtlCol="0" anchor="ctr"/>
          <a:lstStyle/>
          <a:p>
            <a:pPr marL="0" indent="0" algn="ctr">
              <a:buNone/>
            </a:pPr>
            <a:r>
              <a:rPr lang="en-US" sz="800" dirty="0">
                <a:solidFill>
                  <a:srgbClr val="1E5F7E"/>
                </a:solidFill>
                <a:latin typeface="Times New Roman" panose="02020603050405020304" pitchFamily="18" charset="0"/>
                <a:ea typeface="Consolas" pitchFamily="34" charset="-122"/>
                <a:cs typeface="Times New Roman" panose="02020603050405020304" pitchFamily="18" charset="0"/>
              </a:rPr>
              <a:t>learned prior</a:t>
            </a:r>
            <a:endParaRPr lang="en-US" sz="800" dirty="0">
              <a:latin typeface="Times New Roman" panose="02020603050405020304" pitchFamily="18" charset="0"/>
              <a:cs typeface="Times New Roman" panose="02020603050405020304" pitchFamily="18" charset="0"/>
            </a:endParaRPr>
          </a:p>
        </p:txBody>
      </p:sp>
      <p:sp>
        <p:nvSpPr>
          <p:cNvPr id="15" name="Shape 13"/>
          <p:cNvSpPr/>
          <p:nvPr/>
        </p:nvSpPr>
        <p:spPr>
          <a:xfrm>
            <a:off x="4462272" y="2240280"/>
            <a:ext cx="1600200" cy="566928"/>
          </a:xfrm>
          <a:prstGeom prst="roundRect">
            <a:avLst>
              <a:gd name="adj" fmla="val 8065"/>
            </a:avLst>
          </a:prstGeom>
          <a:solidFill>
            <a:srgbClr val="1E5F7E">
              <a:alpha val="16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16" name="Text 14"/>
          <p:cNvSpPr/>
          <p:nvPr/>
        </p:nvSpPr>
        <p:spPr>
          <a:xfrm>
            <a:off x="4462272" y="2331720"/>
            <a:ext cx="1600200" cy="237744"/>
          </a:xfrm>
          <a:prstGeom prst="rect">
            <a:avLst/>
          </a:prstGeom>
          <a:noFill/>
          <a:ln/>
        </p:spPr>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DnCNN</a:t>
            </a:r>
            <a:endParaRPr lang="en-US" sz="1200" dirty="0">
              <a:latin typeface="Times New Roman" panose="02020603050405020304" pitchFamily="18" charset="0"/>
              <a:cs typeface="Times New Roman" panose="02020603050405020304" pitchFamily="18" charset="0"/>
            </a:endParaRPr>
          </a:p>
        </p:txBody>
      </p:sp>
      <p:sp>
        <p:nvSpPr>
          <p:cNvPr id="17" name="Text 15"/>
          <p:cNvSpPr/>
          <p:nvPr/>
        </p:nvSpPr>
        <p:spPr>
          <a:xfrm>
            <a:off x="4462272" y="2551176"/>
            <a:ext cx="1600200" cy="201168"/>
          </a:xfrm>
          <a:prstGeom prst="rect">
            <a:avLst/>
          </a:prstGeom>
          <a:noFill/>
          <a:ln/>
        </p:spPr>
        <p:txBody>
          <a:bodyPr wrap="square" lIns="0" tIns="0" rIns="0" bIns="0" rtlCol="0" anchor="ctr"/>
          <a:lstStyle/>
          <a:p>
            <a:pPr marL="0" indent="0" algn="ctr">
              <a:buNone/>
            </a:pPr>
            <a:r>
              <a:rPr lang="en-US" sz="800" dirty="0">
                <a:solidFill>
                  <a:srgbClr val="1E5F7E"/>
                </a:solidFill>
                <a:latin typeface="Times New Roman" panose="02020603050405020304" pitchFamily="18" charset="0"/>
                <a:ea typeface="Consolas" pitchFamily="34" charset="-122"/>
                <a:cs typeface="Times New Roman" panose="02020603050405020304" pitchFamily="18" charset="0"/>
              </a:rPr>
              <a:t>anchor paper</a:t>
            </a:r>
            <a:endParaRPr lang="en-US" sz="800" dirty="0">
              <a:latin typeface="Times New Roman" panose="02020603050405020304" pitchFamily="18" charset="0"/>
              <a:cs typeface="Times New Roman" panose="02020603050405020304" pitchFamily="18" charset="0"/>
            </a:endParaRPr>
          </a:p>
        </p:txBody>
      </p:sp>
      <p:sp>
        <p:nvSpPr>
          <p:cNvPr id="18" name="Shape 16"/>
          <p:cNvSpPr/>
          <p:nvPr/>
        </p:nvSpPr>
        <p:spPr>
          <a:xfrm>
            <a:off x="1984248" y="2066544"/>
            <a:ext cx="530352" cy="329184"/>
          </a:xfrm>
          <a:prstGeom prst="line">
            <a:avLst/>
          </a:prstGeom>
          <a:noFill/>
          <a:ln w="12700">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19" name="Shape 17"/>
          <p:cNvSpPr/>
          <p:nvPr/>
        </p:nvSpPr>
        <p:spPr>
          <a:xfrm flipV="1">
            <a:off x="1984248" y="2651760"/>
            <a:ext cx="530352" cy="329184"/>
          </a:xfrm>
          <a:prstGeom prst="line">
            <a:avLst/>
          </a:prstGeom>
          <a:noFill/>
          <a:ln w="12700">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20" name="Shape 18"/>
          <p:cNvSpPr/>
          <p:nvPr/>
        </p:nvSpPr>
        <p:spPr>
          <a:xfrm>
            <a:off x="3931920" y="2523744"/>
            <a:ext cx="530352" cy="0"/>
          </a:xfrm>
          <a:prstGeom prst="line">
            <a:avLst/>
          </a:prstGeom>
          <a:noFill/>
          <a:ln w="12700">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21" name="Text 19"/>
          <p:cNvSpPr/>
          <p:nvPr/>
        </p:nvSpPr>
        <p:spPr>
          <a:xfrm>
            <a:off x="1874520" y="3200400"/>
            <a:ext cx="1828800" cy="201168"/>
          </a:xfrm>
          <a:prstGeom prst="rect">
            <a:avLst/>
          </a:prstGeom>
          <a:noFill/>
          <a:ln/>
        </p:spPr>
        <p:txBody>
          <a:bodyPr wrap="square" lIns="0" tIns="0" rIns="0" bIns="0" rtlCol="0" anchor="ctr"/>
          <a:lstStyle/>
          <a:p>
            <a:pPr marL="0" indent="0" algn="ctr">
              <a:buNone/>
            </a:pPr>
            <a:r>
              <a:rPr lang="en-US" sz="900" dirty="0">
                <a:solidFill>
                  <a:srgbClr val="A2442B"/>
                </a:solidFill>
                <a:latin typeface="Times New Roman" panose="02020603050405020304" pitchFamily="18" charset="0"/>
                <a:ea typeface="Calibri" pitchFamily="34" charset="-122"/>
                <a:cs typeface="Times New Roman" panose="02020603050405020304" pitchFamily="18" charset="0"/>
              </a:rPr>
              <a:t>too slow, hand-tuned</a:t>
            </a:r>
            <a:endParaRPr lang="en-US" sz="900" dirty="0">
              <a:latin typeface="Times New Roman" panose="02020603050405020304" pitchFamily="18" charset="0"/>
              <a:cs typeface="Times New Roman" panose="02020603050405020304" pitchFamily="18" charset="0"/>
            </a:endParaRPr>
          </a:p>
        </p:txBody>
      </p:sp>
      <p:sp>
        <p:nvSpPr>
          <p:cNvPr id="22" name="Text 20"/>
          <p:cNvSpPr/>
          <p:nvPr/>
        </p:nvSpPr>
        <p:spPr>
          <a:xfrm>
            <a:off x="3703320" y="1965960"/>
            <a:ext cx="1828800" cy="201168"/>
          </a:xfrm>
          <a:prstGeom prst="rect">
            <a:avLst/>
          </a:prstGeom>
          <a:noFill/>
          <a:ln/>
        </p:spPr>
        <p:txBody>
          <a:bodyPr wrap="square" lIns="0" tIns="0" rIns="0" bIns="0" rtlCol="0" anchor="ctr"/>
          <a:lstStyle/>
          <a:p>
            <a:pPr marL="0" indent="0" algn="ctr">
              <a:buNone/>
            </a:pPr>
            <a:r>
              <a:rPr lang="en-US" sz="900" dirty="0">
                <a:solidFill>
                  <a:srgbClr val="A2442B"/>
                </a:solidFill>
                <a:latin typeface="Times New Roman" panose="02020603050405020304" pitchFamily="18" charset="0"/>
                <a:ea typeface="Calibri" pitchFamily="34" charset="-122"/>
                <a:cs typeface="Times New Roman" panose="02020603050405020304" pitchFamily="18" charset="0"/>
              </a:rPr>
              <a:t>drop the scaffolding</a:t>
            </a:r>
            <a:endParaRPr lang="en-US" sz="900" dirty="0">
              <a:latin typeface="Times New Roman" panose="02020603050405020304" pitchFamily="18" charset="0"/>
              <a:cs typeface="Times New Roman" panose="02020603050405020304" pitchFamily="18" charset="0"/>
            </a:endParaRPr>
          </a:p>
        </p:txBody>
      </p:sp>
      <p:sp>
        <p:nvSpPr>
          <p:cNvPr id="23" name="Shape 21"/>
          <p:cNvSpPr/>
          <p:nvPr/>
        </p:nvSpPr>
        <p:spPr>
          <a:xfrm>
            <a:off x="6766560" y="1234440"/>
            <a:ext cx="1481328" cy="566928"/>
          </a:xfrm>
          <a:prstGeom prst="roundRect">
            <a:avLst>
              <a:gd name="adj" fmla="val 8065"/>
            </a:avLst>
          </a:prstGeom>
          <a:solidFill>
            <a:srgbClr val="6D3F86">
              <a:alpha val="11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24" name="Text 22"/>
          <p:cNvSpPr/>
          <p:nvPr/>
        </p:nvSpPr>
        <p:spPr>
          <a:xfrm>
            <a:off x="6766560" y="1325880"/>
            <a:ext cx="1481328" cy="237744"/>
          </a:xfrm>
          <a:prstGeom prst="rect">
            <a:avLst/>
          </a:prstGeom>
          <a:noFill/>
          <a:ln/>
        </p:spPr>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Restormer</a:t>
            </a:r>
            <a:endParaRPr lang="en-US" sz="1200" dirty="0">
              <a:latin typeface="Times New Roman" panose="02020603050405020304" pitchFamily="18" charset="0"/>
              <a:cs typeface="Times New Roman" panose="02020603050405020304" pitchFamily="18" charset="0"/>
            </a:endParaRPr>
          </a:p>
        </p:txBody>
      </p:sp>
      <p:sp>
        <p:nvSpPr>
          <p:cNvPr id="25" name="Text 23"/>
          <p:cNvSpPr/>
          <p:nvPr/>
        </p:nvSpPr>
        <p:spPr>
          <a:xfrm>
            <a:off x="6766560" y="1545336"/>
            <a:ext cx="1481328" cy="201168"/>
          </a:xfrm>
          <a:prstGeom prst="rect">
            <a:avLst/>
          </a:prstGeom>
          <a:noFill/>
          <a:ln/>
        </p:spPr>
        <p:txBody>
          <a:bodyPr wrap="square" lIns="0" tIns="0" rIns="0" bIns="0" rtlCol="0" anchor="ctr"/>
          <a:lstStyle/>
          <a:p>
            <a:pPr marL="0" indent="0" algn="ctr">
              <a:buNone/>
            </a:pPr>
            <a:r>
              <a:rPr lang="en-US" sz="800" dirty="0">
                <a:solidFill>
                  <a:srgbClr val="6D3F86"/>
                </a:solidFill>
                <a:latin typeface="Times New Roman" panose="02020603050405020304" pitchFamily="18" charset="0"/>
                <a:ea typeface="Consolas" pitchFamily="34" charset="-122"/>
                <a:cs typeface="Times New Roman" panose="02020603050405020304" pitchFamily="18" charset="0"/>
              </a:rPr>
              <a:t>cheaper attention</a:t>
            </a:r>
            <a:endParaRPr lang="en-US" sz="800" dirty="0">
              <a:latin typeface="Times New Roman" panose="02020603050405020304" pitchFamily="18" charset="0"/>
              <a:cs typeface="Times New Roman" panose="02020603050405020304" pitchFamily="18" charset="0"/>
            </a:endParaRPr>
          </a:p>
        </p:txBody>
      </p:sp>
      <p:sp>
        <p:nvSpPr>
          <p:cNvPr id="26" name="Shape 24"/>
          <p:cNvSpPr/>
          <p:nvPr/>
        </p:nvSpPr>
        <p:spPr>
          <a:xfrm>
            <a:off x="8503920" y="1234440"/>
            <a:ext cx="1481328" cy="566928"/>
          </a:xfrm>
          <a:prstGeom prst="roundRect">
            <a:avLst>
              <a:gd name="adj" fmla="val 8065"/>
            </a:avLst>
          </a:prstGeom>
          <a:solidFill>
            <a:srgbClr val="6D3F86">
              <a:alpha val="11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27" name="Text 25"/>
          <p:cNvSpPr/>
          <p:nvPr/>
        </p:nvSpPr>
        <p:spPr>
          <a:xfrm>
            <a:off x="8503920" y="1325880"/>
            <a:ext cx="1481328" cy="237744"/>
          </a:xfrm>
          <a:prstGeom prst="rect">
            <a:avLst/>
          </a:prstGeom>
          <a:noFill/>
          <a:ln/>
        </p:spPr>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NAFNet</a:t>
            </a:r>
            <a:endParaRPr lang="en-US" sz="1200" dirty="0">
              <a:latin typeface="Times New Roman" panose="02020603050405020304" pitchFamily="18" charset="0"/>
              <a:cs typeface="Times New Roman" panose="02020603050405020304" pitchFamily="18" charset="0"/>
            </a:endParaRPr>
          </a:p>
        </p:txBody>
      </p:sp>
      <p:sp>
        <p:nvSpPr>
          <p:cNvPr id="28" name="Text 26"/>
          <p:cNvSpPr/>
          <p:nvPr/>
        </p:nvSpPr>
        <p:spPr>
          <a:xfrm>
            <a:off x="8503920" y="1545336"/>
            <a:ext cx="1481328" cy="201168"/>
          </a:xfrm>
          <a:prstGeom prst="rect">
            <a:avLst/>
          </a:prstGeom>
          <a:noFill/>
          <a:ln/>
        </p:spPr>
        <p:txBody>
          <a:bodyPr wrap="square" lIns="0" tIns="0" rIns="0" bIns="0" rtlCol="0" anchor="ctr"/>
          <a:lstStyle/>
          <a:p>
            <a:pPr marL="0" indent="0" algn="ctr">
              <a:buNone/>
            </a:pPr>
            <a:r>
              <a:rPr lang="en-US" sz="800" dirty="0">
                <a:solidFill>
                  <a:srgbClr val="6D3F86"/>
                </a:solidFill>
                <a:latin typeface="Times New Roman" panose="02020603050405020304" pitchFamily="18" charset="0"/>
                <a:ea typeface="Consolas" pitchFamily="34" charset="-122"/>
                <a:cs typeface="Times New Roman" panose="02020603050405020304" pitchFamily="18" charset="0"/>
              </a:rPr>
              <a:t>less complexity</a:t>
            </a:r>
            <a:endParaRPr lang="en-US" sz="800" dirty="0">
              <a:latin typeface="Times New Roman" panose="02020603050405020304" pitchFamily="18" charset="0"/>
              <a:cs typeface="Times New Roman" panose="02020603050405020304" pitchFamily="18" charset="0"/>
            </a:endParaRPr>
          </a:p>
        </p:txBody>
      </p:sp>
      <p:sp>
        <p:nvSpPr>
          <p:cNvPr id="29" name="Shape 27"/>
          <p:cNvSpPr/>
          <p:nvPr/>
        </p:nvSpPr>
        <p:spPr>
          <a:xfrm>
            <a:off x="10241280" y="1234440"/>
            <a:ext cx="1481328" cy="566928"/>
          </a:xfrm>
          <a:prstGeom prst="roundRect">
            <a:avLst>
              <a:gd name="adj" fmla="val 8065"/>
            </a:avLst>
          </a:prstGeom>
          <a:solidFill>
            <a:srgbClr val="6D3F86">
              <a:alpha val="11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30" name="Text 28"/>
          <p:cNvSpPr/>
          <p:nvPr/>
        </p:nvSpPr>
        <p:spPr>
          <a:xfrm>
            <a:off x="10241280" y="1325880"/>
            <a:ext cx="1481328" cy="237744"/>
          </a:xfrm>
          <a:prstGeom prst="rect">
            <a:avLst/>
          </a:prstGeom>
          <a:noFill/>
          <a:ln/>
        </p:spPr>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MambaIR</a:t>
            </a:r>
            <a:endParaRPr lang="en-US" sz="1200" dirty="0">
              <a:latin typeface="Times New Roman" panose="02020603050405020304" pitchFamily="18" charset="0"/>
              <a:cs typeface="Times New Roman" panose="02020603050405020304" pitchFamily="18" charset="0"/>
            </a:endParaRPr>
          </a:p>
        </p:txBody>
      </p:sp>
      <p:sp>
        <p:nvSpPr>
          <p:cNvPr id="31" name="Text 29"/>
          <p:cNvSpPr/>
          <p:nvPr/>
        </p:nvSpPr>
        <p:spPr>
          <a:xfrm>
            <a:off x="10241280" y="1545336"/>
            <a:ext cx="1481328" cy="201168"/>
          </a:xfrm>
          <a:prstGeom prst="rect">
            <a:avLst/>
          </a:prstGeom>
          <a:noFill/>
          <a:ln/>
        </p:spPr>
        <p:txBody>
          <a:bodyPr wrap="square" lIns="0" tIns="0" rIns="0" bIns="0" rtlCol="0" anchor="ctr"/>
          <a:lstStyle/>
          <a:p>
            <a:pPr marL="0" indent="0" algn="ctr">
              <a:buNone/>
            </a:pPr>
            <a:r>
              <a:rPr lang="en-US" sz="800" dirty="0">
                <a:solidFill>
                  <a:srgbClr val="6D3F86"/>
                </a:solidFill>
                <a:latin typeface="Times New Roman" panose="02020603050405020304" pitchFamily="18" charset="0"/>
                <a:ea typeface="Consolas" pitchFamily="34" charset="-122"/>
                <a:cs typeface="Times New Roman" panose="02020603050405020304" pitchFamily="18" charset="0"/>
              </a:rPr>
              <a:t>linear complexity</a:t>
            </a:r>
            <a:endParaRPr lang="en-US" sz="800" dirty="0">
              <a:latin typeface="Times New Roman" panose="02020603050405020304" pitchFamily="18" charset="0"/>
              <a:cs typeface="Times New Roman" panose="02020603050405020304" pitchFamily="18" charset="0"/>
            </a:endParaRPr>
          </a:p>
        </p:txBody>
      </p:sp>
      <p:sp>
        <p:nvSpPr>
          <p:cNvPr id="32" name="Shape 30"/>
          <p:cNvSpPr/>
          <p:nvPr/>
        </p:nvSpPr>
        <p:spPr>
          <a:xfrm flipV="1">
            <a:off x="6062472" y="1554480"/>
            <a:ext cx="704088" cy="822960"/>
          </a:xfrm>
          <a:prstGeom prst="line">
            <a:avLst/>
          </a:prstGeom>
          <a:noFill/>
          <a:ln w="12700">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33" name="Shape 31"/>
          <p:cNvSpPr/>
          <p:nvPr/>
        </p:nvSpPr>
        <p:spPr>
          <a:xfrm>
            <a:off x="8247888" y="1517904"/>
            <a:ext cx="256032" cy="0"/>
          </a:xfrm>
          <a:prstGeom prst="line">
            <a:avLst/>
          </a:prstGeom>
          <a:noFill/>
          <a:ln w="12700">
            <a:solidFill>
              <a:srgbClr val="C9C4B8"/>
            </a:solidFill>
            <a:prstDash val="dash"/>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34" name="Shape 32"/>
          <p:cNvSpPr/>
          <p:nvPr/>
        </p:nvSpPr>
        <p:spPr>
          <a:xfrm>
            <a:off x="9985248" y="1517904"/>
            <a:ext cx="256032" cy="0"/>
          </a:xfrm>
          <a:prstGeom prst="line">
            <a:avLst/>
          </a:prstGeom>
          <a:noFill/>
          <a:ln w="12700">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35" name="Text 33"/>
          <p:cNvSpPr/>
          <p:nvPr/>
        </p:nvSpPr>
        <p:spPr>
          <a:xfrm>
            <a:off x="5943600" y="1005840"/>
            <a:ext cx="1828800" cy="201168"/>
          </a:xfrm>
          <a:prstGeom prst="rect">
            <a:avLst/>
          </a:prstGeom>
          <a:noFill/>
          <a:ln/>
        </p:spPr>
        <p:txBody>
          <a:bodyPr wrap="square" lIns="0" tIns="0" rIns="0" bIns="0" rtlCol="0" anchor="ctr"/>
          <a:lstStyle/>
          <a:p>
            <a:pPr marL="0" indent="0" algn="ctr">
              <a:buNone/>
            </a:pPr>
            <a:r>
              <a:rPr lang="en-US" sz="900" dirty="0">
                <a:solidFill>
                  <a:srgbClr val="A2442B"/>
                </a:solidFill>
                <a:latin typeface="Times New Roman" panose="02020603050405020304" pitchFamily="18" charset="0"/>
                <a:ea typeface="Calibri" pitchFamily="34" charset="-122"/>
                <a:cs typeface="Times New Roman" panose="02020603050405020304" pitchFamily="18" charset="0"/>
              </a:rPr>
              <a:t>receptive field too small</a:t>
            </a:r>
            <a:endParaRPr lang="en-US" sz="900" dirty="0">
              <a:latin typeface="Times New Roman" panose="02020603050405020304" pitchFamily="18" charset="0"/>
              <a:cs typeface="Times New Roman" panose="02020603050405020304" pitchFamily="18" charset="0"/>
            </a:endParaRPr>
          </a:p>
        </p:txBody>
      </p:sp>
      <p:sp>
        <p:nvSpPr>
          <p:cNvPr id="36" name="Text 34"/>
          <p:cNvSpPr/>
          <p:nvPr/>
        </p:nvSpPr>
        <p:spPr>
          <a:xfrm>
            <a:off x="7925462" y="1874520"/>
            <a:ext cx="914400" cy="182880"/>
          </a:xfrm>
          <a:prstGeom prst="rect">
            <a:avLst/>
          </a:prstGeom>
          <a:noFill/>
          <a:ln/>
        </p:spPr>
        <p:txBody>
          <a:bodyPr wrap="square" lIns="0" tIns="0" rIns="0" bIns="0" rtlCol="0" anchor="ctr"/>
          <a:lstStyle/>
          <a:p>
            <a:pPr marL="0" indent="0" algn="ctr">
              <a:buNone/>
            </a:pPr>
            <a:r>
              <a:rPr lang="en-US" sz="900" dirty="0">
                <a:solidFill>
                  <a:srgbClr val="A2442B"/>
                </a:solidFill>
                <a:latin typeface="Times New Roman" panose="02020603050405020304" pitchFamily="18" charset="0"/>
                <a:ea typeface="Calibri" pitchFamily="34" charset="-122"/>
                <a:cs typeface="Times New Roman" panose="02020603050405020304" pitchFamily="18" charset="0"/>
              </a:rPr>
              <a:t>disputes</a:t>
            </a:r>
            <a:endParaRPr lang="en-US" sz="900" dirty="0">
              <a:latin typeface="Times New Roman" panose="02020603050405020304" pitchFamily="18" charset="0"/>
              <a:cs typeface="Times New Roman" panose="02020603050405020304" pitchFamily="18" charset="0"/>
            </a:endParaRPr>
          </a:p>
        </p:txBody>
      </p:sp>
      <p:sp>
        <p:nvSpPr>
          <p:cNvPr id="37" name="Shape 35"/>
          <p:cNvSpPr/>
          <p:nvPr/>
        </p:nvSpPr>
        <p:spPr>
          <a:xfrm>
            <a:off x="6766560" y="3291840"/>
            <a:ext cx="1572768" cy="566928"/>
          </a:xfrm>
          <a:prstGeom prst="roundRect">
            <a:avLst>
              <a:gd name="adj" fmla="val 8065"/>
            </a:avLst>
          </a:prstGeom>
          <a:solidFill>
            <a:srgbClr val="6D3F86">
              <a:alpha val="11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38" name="Text 36"/>
          <p:cNvSpPr/>
          <p:nvPr/>
        </p:nvSpPr>
        <p:spPr>
          <a:xfrm>
            <a:off x="6766560" y="3383280"/>
            <a:ext cx="1572768" cy="237744"/>
          </a:xfrm>
          <a:prstGeom prst="rect">
            <a:avLst/>
          </a:prstGeom>
          <a:noFill/>
          <a:ln/>
        </p:spPr>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Noise2Noise</a:t>
            </a:r>
            <a:endParaRPr lang="en-US" sz="1200" dirty="0">
              <a:latin typeface="Times New Roman" panose="02020603050405020304" pitchFamily="18" charset="0"/>
              <a:cs typeface="Times New Roman" panose="02020603050405020304" pitchFamily="18" charset="0"/>
            </a:endParaRPr>
          </a:p>
        </p:txBody>
      </p:sp>
      <p:sp>
        <p:nvSpPr>
          <p:cNvPr id="39" name="Text 37"/>
          <p:cNvSpPr/>
          <p:nvPr/>
        </p:nvSpPr>
        <p:spPr>
          <a:xfrm>
            <a:off x="6766560" y="3602736"/>
            <a:ext cx="1572768" cy="201168"/>
          </a:xfrm>
          <a:prstGeom prst="rect">
            <a:avLst/>
          </a:prstGeom>
          <a:noFill/>
          <a:ln/>
        </p:spPr>
        <p:txBody>
          <a:bodyPr wrap="square" lIns="0" tIns="0" rIns="0" bIns="0" rtlCol="0" anchor="ctr"/>
          <a:lstStyle/>
          <a:p>
            <a:pPr marL="0" indent="0" algn="ctr">
              <a:buNone/>
            </a:pPr>
            <a:r>
              <a:rPr lang="en-US" sz="800" dirty="0">
                <a:solidFill>
                  <a:srgbClr val="6D3F86"/>
                </a:solidFill>
                <a:latin typeface="Times New Roman" panose="02020603050405020304" pitchFamily="18" charset="0"/>
                <a:ea typeface="Consolas" pitchFamily="34" charset="-122"/>
                <a:cs typeface="Times New Roman" panose="02020603050405020304" pitchFamily="18" charset="0"/>
              </a:rPr>
              <a:t>no clean targets</a:t>
            </a:r>
            <a:endParaRPr lang="en-US" sz="800" dirty="0">
              <a:latin typeface="Times New Roman" panose="02020603050405020304" pitchFamily="18" charset="0"/>
              <a:cs typeface="Times New Roman" panose="02020603050405020304" pitchFamily="18" charset="0"/>
            </a:endParaRPr>
          </a:p>
        </p:txBody>
      </p:sp>
      <p:sp>
        <p:nvSpPr>
          <p:cNvPr id="40" name="Shape 38"/>
          <p:cNvSpPr/>
          <p:nvPr/>
        </p:nvSpPr>
        <p:spPr>
          <a:xfrm>
            <a:off x="8595360" y="3291840"/>
            <a:ext cx="1572768" cy="566928"/>
          </a:xfrm>
          <a:prstGeom prst="roundRect">
            <a:avLst>
              <a:gd name="adj" fmla="val 8065"/>
            </a:avLst>
          </a:prstGeom>
          <a:solidFill>
            <a:srgbClr val="6D3F86">
              <a:alpha val="11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41" name="Text 39"/>
          <p:cNvSpPr/>
          <p:nvPr/>
        </p:nvSpPr>
        <p:spPr>
          <a:xfrm>
            <a:off x="8595360" y="3383280"/>
            <a:ext cx="1572768" cy="237744"/>
          </a:xfrm>
          <a:prstGeom prst="rect">
            <a:avLst/>
          </a:prstGeom>
          <a:noFill/>
          <a:ln/>
        </p:spPr>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Noise2Void</a:t>
            </a:r>
            <a:endParaRPr lang="en-US" sz="1200" dirty="0">
              <a:latin typeface="Times New Roman" panose="02020603050405020304" pitchFamily="18" charset="0"/>
              <a:cs typeface="Times New Roman" panose="02020603050405020304" pitchFamily="18" charset="0"/>
            </a:endParaRPr>
          </a:p>
        </p:txBody>
      </p:sp>
      <p:sp>
        <p:nvSpPr>
          <p:cNvPr id="42" name="Text 40"/>
          <p:cNvSpPr/>
          <p:nvPr/>
        </p:nvSpPr>
        <p:spPr>
          <a:xfrm>
            <a:off x="8595360" y="3602736"/>
            <a:ext cx="1572768" cy="201168"/>
          </a:xfrm>
          <a:prstGeom prst="rect">
            <a:avLst/>
          </a:prstGeom>
          <a:noFill/>
          <a:ln/>
        </p:spPr>
        <p:txBody>
          <a:bodyPr wrap="square" lIns="0" tIns="0" rIns="0" bIns="0" rtlCol="0" anchor="ctr"/>
          <a:lstStyle/>
          <a:p>
            <a:pPr marL="0" indent="0" algn="ctr">
              <a:buNone/>
            </a:pPr>
            <a:r>
              <a:rPr lang="en-US" sz="800" dirty="0">
                <a:solidFill>
                  <a:srgbClr val="6D3F86"/>
                </a:solidFill>
                <a:latin typeface="Times New Roman" panose="02020603050405020304" pitchFamily="18" charset="0"/>
                <a:ea typeface="Consolas" pitchFamily="34" charset="-122"/>
                <a:cs typeface="Times New Roman" panose="02020603050405020304" pitchFamily="18" charset="0"/>
              </a:rPr>
              <a:t>no pairs</a:t>
            </a:r>
            <a:endParaRPr lang="en-US" sz="800" dirty="0">
              <a:latin typeface="Times New Roman" panose="02020603050405020304" pitchFamily="18" charset="0"/>
              <a:cs typeface="Times New Roman" panose="02020603050405020304" pitchFamily="18" charset="0"/>
            </a:endParaRPr>
          </a:p>
        </p:txBody>
      </p:sp>
      <p:sp>
        <p:nvSpPr>
          <p:cNvPr id="43" name="Shape 41"/>
          <p:cNvSpPr/>
          <p:nvPr/>
        </p:nvSpPr>
        <p:spPr>
          <a:xfrm>
            <a:off x="10424160" y="3291840"/>
            <a:ext cx="1481328" cy="566928"/>
          </a:xfrm>
          <a:prstGeom prst="roundRect">
            <a:avLst>
              <a:gd name="adj" fmla="val 8065"/>
            </a:avLst>
          </a:prstGeom>
          <a:solidFill>
            <a:srgbClr val="6D3F86">
              <a:alpha val="11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44" name="Text 42"/>
          <p:cNvSpPr/>
          <p:nvPr/>
        </p:nvSpPr>
        <p:spPr>
          <a:xfrm>
            <a:off x="10424160" y="3383280"/>
            <a:ext cx="1481328" cy="237744"/>
          </a:xfrm>
          <a:prstGeom prst="rect">
            <a:avLst/>
          </a:prstGeom>
          <a:noFill/>
          <a:ln/>
        </p:spPr>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ZS-N2N</a:t>
            </a:r>
            <a:endParaRPr lang="en-US" sz="1200" dirty="0">
              <a:latin typeface="Times New Roman" panose="02020603050405020304" pitchFamily="18" charset="0"/>
              <a:cs typeface="Times New Roman" panose="02020603050405020304" pitchFamily="18" charset="0"/>
            </a:endParaRPr>
          </a:p>
        </p:txBody>
      </p:sp>
      <p:sp>
        <p:nvSpPr>
          <p:cNvPr id="45" name="Text 43"/>
          <p:cNvSpPr/>
          <p:nvPr/>
        </p:nvSpPr>
        <p:spPr>
          <a:xfrm>
            <a:off x="10424160" y="3602736"/>
            <a:ext cx="1481328" cy="201168"/>
          </a:xfrm>
          <a:prstGeom prst="rect">
            <a:avLst/>
          </a:prstGeom>
          <a:noFill/>
          <a:ln/>
        </p:spPr>
        <p:txBody>
          <a:bodyPr wrap="square" lIns="0" tIns="0" rIns="0" bIns="0" rtlCol="0" anchor="ctr"/>
          <a:lstStyle/>
          <a:p>
            <a:pPr marL="0" indent="0" algn="ctr">
              <a:buNone/>
            </a:pPr>
            <a:r>
              <a:rPr lang="en-US" sz="800" dirty="0">
                <a:solidFill>
                  <a:srgbClr val="6D3F86"/>
                </a:solidFill>
                <a:latin typeface="Times New Roman" panose="02020603050405020304" pitchFamily="18" charset="0"/>
                <a:ea typeface="Consolas" pitchFamily="34" charset="-122"/>
                <a:cs typeface="Times New Roman" panose="02020603050405020304" pitchFamily="18" charset="0"/>
              </a:rPr>
              <a:t>no data at all</a:t>
            </a:r>
            <a:endParaRPr lang="en-US" sz="800" dirty="0">
              <a:latin typeface="Times New Roman" panose="02020603050405020304" pitchFamily="18" charset="0"/>
              <a:cs typeface="Times New Roman" panose="02020603050405020304" pitchFamily="18" charset="0"/>
            </a:endParaRPr>
          </a:p>
        </p:txBody>
      </p:sp>
      <p:sp>
        <p:nvSpPr>
          <p:cNvPr id="46" name="Shape 44"/>
          <p:cNvSpPr/>
          <p:nvPr/>
        </p:nvSpPr>
        <p:spPr>
          <a:xfrm>
            <a:off x="6062472" y="2697480"/>
            <a:ext cx="704088" cy="822960"/>
          </a:xfrm>
          <a:prstGeom prst="line">
            <a:avLst/>
          </a:prstGeom>
          <a:noFill/>
          <a:ln w="12700">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47" name="Shape 45"/>
          <p:cNvSpPr/>
          <p:nvPr/>
        </p:nvSpPr>
        <p:spPr>
          <a:xfrm>
            <a:off x="8339328" y="3575304"/>
            <a:ext cx="256032" cy="0"/>
          </a:xfrm>
          <a:prstGeom prst="line">
            <a:avLst/>
          </a:prstGeom>
          <a:noFill/>
          <a:ln w="12700">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48" name="Shape 46"/>
          <p:cNvSpPr/>
          <p:nvPr/>
        </p:nvSpPr>
        <p:spPr>
          <a:xfrm>
            <a:off x="10168128" y="3575304"/>
            <a:ext cx="256032" cy="0"/>
          </a:xfrm>
          <a:prstGeom prst="line">
            <a:avLst/>
          </a:prstGeom>
          <a:noFill/>
          <a:ln w="12700">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49" name="Text 47"/>
          <p:cNvSpPr/>
          <p:nvPr/>
        </p:nvSpPr>
        <p:spPr>
          <a:xfrm>
            <a:off x="5852160" y="3063240"/>
            <a:ext cx="1828800" cy="201168"/>
          </a:xfrm>
          <a:prstGeom prst="rect">
            <a:avLst/>
          </a:prstGeom>
          <a:noFill/>
          <a:ln/>
        </p:spPr>
        <p:txBody>
          <a:bodyPr wrap="square" lIns="0" tIns="0" rIns="0" bIns="0" rtlCol="0" anchor="ctr"/>
          <a:lstStyle/>
          <a:p>
            <a:pPr marL="0" indent="0" algn="ctr">
              <a:buNone/>
            </a:pPr>
            <a:r>
              <a:rPr lang="en-US" sz="900" dirty="0">
                <a:solidFill>
                  <a:srgbClr val="A2442B"/>
                </a:solidFill>
                <a:latin typeface="Times New Roman" panose="02020603050405020304" pitchFamily="18" charset="0"/>
                <a:ea typeface="Calibri" pitchFamily="34" charset="-122"/>
                <a:cs typeface="Times New Roman" panose="02020603050405020304" pitchFamily="18" charset="0"/>
              </a:rPr>
              <a:t>clean data is expensive</a:t>
            </a:r>
            <a:endParaRPr lang="en-US" sz="900" dirty="0">
              <a:latin typeface="Times New Roman" panose="02020603050405020304" pitchFamily="18" charset="0"/>
              <a:cs typeface="Times New Roman" panose="02020603050405020304" pitchFamily="18" charset="0"/>
            </a:endParaRPr>
          </a:p>
        </p:txBody>
      </p:sp>
      <p:sp>
        <p:nvSpPr>
          <p:cNvPr id="50" name="Shape 48"/>
          <p:cNvSpPr/>
          <p:nvPr/>
        </p:nvSpPr>
        <p:spPr>
          <a:xfrm>
            <a:off x="5257799" y="4754879"/>
            <a:ext cx="2377440" cy="658368"/>
          </a:xfrm>
          <a:prstGeom prst="roundRect">
            <a:avLst>
              <a:gd name="adj" fmla="val 6944"/>
            </a:avLst>
          </a:prstGeom>
          <a:solidFill>
            <a:srgbClr val="6D3F86">
              <a:alpha val="16000"/>
            </a:srgbClr>
          </a:solidFill>
          <a:ln w="12700">
            <a:solidFill>
              <a:srgbClr val="333333"/>
            </a:solidFill>
            <a:prstDash val="solid"/>
          </a:ln>
        </p:spPr>
        <p:txBody>
          <a:bodyPr/>
          <a:lstStyle/>
          <a:p>
            <a:endParaRPr lang="en-GB" sz="2000">
              <a:latin typeface="Times New Roman" panose="02020603050405020304" pitchFamily="18" charset="0"/>
              <a:cs typeface="Times New Roman" panose="02020603050405020304" pitchFamily="18" charset="0"/>
            </a:endParaRPr>
          </a:p>
        </p:txBody>
      </p:sp>
      <p:sp>
        <p:nvSpPr>
          <p:cNvPr id="51" name="Text 49"/>
          <p:cNvSpPr/>
          <p:nvPr/>
        </p:nvSpPr>
        <p:spPr>
          <a:xfrm>
            <a:off x="5234939" y="4814315"/>
            <a:ext cx="2377440" cy="237744"/>
          </a:xfrm>
          <a:prstGeom prst="rect">
            <a:avLst/>
          </a:prstGeom>
          <a:noFill/>
          <a:ln/>
        </p:spPr>
        <p:txBody>
          <a:bodyPr wrap="square" lIns="0" tIns="0" rIns="0" bIns="0" rtlCol="0" anchor="ctr"/>
          <a:lstStyle/>
          <a:p>
            <a:pPr marL="0" indent="0" algn="ctr">
              <a:buNone/>
            </a:pPr>
            <a:r>
              <a:rPr lang="en-US" sz="1200" b="1" dirty="0">
                <a:solidFill>
                  <a:srgbClr val="14161A"/>
                </a:solidFill>
                <a:latin typeface="Times New Roman" panose="02020603050405020304" pitchFamily="18" charset="0"/>
                <a:ea typeface="Calibri" pitchFamily="34" charset="-122"/>
                <a:cs typeface="Times New Roman" panose="02020603050405020304" pitchFamily="18" charset="0"/>
              </a:rPr>
              <a:t>SCUNet</a:t>
            </a:r>
            <a:endParaRPr lang="en-US" sz="1200" dirty="0">
              <a:latin typeface="Times New Roman" panose="02020603050405020304" pitchFamily="18" charset="0"/>
              <a:cs typeface="Times New Roman" panose="02020603050405020304" pitchFamily="18" charset="0"/>
            </a:endParaRPr>
          </a:p>
        </p:txBody>
      </p:sp>
      <p:sp>
        <p:nvSpPr>
          <p:cNvPr id="52" name="Text 50"/>
          <p:cNvSpPr/>
          <p:nvPr/>
        </p:nvSpPr>
        <p:spPr>
          <a:xfrm>
            <a:off x="5257799" y="5056631"/>
            <a:ext cx="2377440" cy="201168"/>
          </a:xfrm>
          <a:prstGeom prst="rect">
            <a:avLst/>
          </a:prstGeom>
          <a:noFill/>
          <a:ln/>
        </p:spPr>
        <p:txBody>
          <a:bodyPr wrap="square" lIns="0" tIns="0" rIns="0" bIns="0" rtlCol="0" anchor="ctr"/>
          <a:lstStyle/>
          <a:p>
            <a:pPr marL="0" indent="0" algn="ctr">
              <a:buNone/>
            </a:pPr>
            <a:r>
              <a:rPr lang="en-US" sz="800" dirty="0">
                <a:solidFill>
                  <a:srgbClr val="6D3F86"/>
                </a:solidFill>
                <a:latin typeface="Times New Roman" panose="02020603050405020304" pitchFamily="18" charset="0"/>
                <a:ea typeface="Consolas" pitchFamily="34" charset="-122"/>
                <a:cs typeface="Times New Roman" panose="02020603050405020304" pitchFamily="18" charset="0"/>
              </a:rPr>
              <a:t>conv + swin, and fix the noise model</a:t>
            </a:r>
            <a:endParaRPr lang="en-US" sz="800" dirty="0">
              <a:latin typeface="Times New Roman" panose="02020603050405020304" pitchFamily="18" charset="0"/>
              <a:cs typeface="Times New Roman" panose="02020603050405020304" pitchFamily="18" charset="0"/>
            </a:endParaRPr>
          </a:p>
        </p:txBody>
      </p:sp>
      <p:sp>
        <p:nvSpPr>
          <p:cNvPr id="53" name="Shape 51"/>
          <p:cNvSpPr/>
          <p:nvPr/>
        </p:nvSpPr>
        <p:spPr>
          <a:xfrm>
            <a:off x="5257800" y="2834640"/>
            <a:ext cx="1124712" cy="1915667"/>
          </a:xfrm>
          <a:prstGeom prst="line">
            <a:avLst/>
          </a:prstGeom>
          <a:noFill/>
          <a:ln w="12700">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54" name="Shape 52"/>
          <p:cNvSpPr/>
          <p:nvPr/>
        </p:nvSpPr>
        <p:spPr>
          <a:xfrm flipH="1">
            <a:off x="6440557" y="3886200"/>
            <a:ext cx="1057523" cy="868679"/>
          </a:xfrm>
          <a:prstGeom prst="line">
            <a:avLst/>
          </a:prstGeom>
          <a:noFill/>
          <a:ln w="12700">
            <a:solidFill>
              <a:srgbClr val="C9C4B8"/>
            </a:solidFill>
            <a:prstDash val="solid"/>
            <a:tailEnd type="triangle"/>
          </a:ln>
        </p:spPr>
        <p:txBody>
          <a:bodyPr/>
          <a:lstStyle/>
          <a:p>
            <a:endParaRPr lang="en-GB" sz="2000">
              <a:latin typeface="Times New Roman" panose="02020603050405020304" pitchFamily="18" charset="0"/>
              <a:cs typeface="Times New Roman" panose="02020603050405020304" pitchFamily="18" charset="0"/>
            </a:endParaRPr>
          </a:p>
        </p:txBody>
      </p:sp>
      <p:sp>
        <p:nvSpPr>
          <p:cNvPr id="55" name="Text 53"/>
          <p:cNvSpPr/>
          <p:nvPr/>
        </p:nvSpPr>
        <p:spPr>
          <a:xfrm>
            <a:off x="566928" y="5806440"/>
            <a:ext cx="11055096" cy="457200"/>
          </a:xfrm>
          <a:prstGeom prst="rect">
            <a:avLst/>
          </a:prstGeom>
          <a:noFill/>
          <a:ln/>
        </p:spPr>
        <p:txBody>
          <a:bodyPr wrap="square" lIns="0" tIns="0" rIns="0" bIns="0" rtlCol="0" anchor="ctr"/>
          <a:lstStyle/>
          <a:p>
            <a:pPr marL="0" indent="0">
              <a:buNone/>
            </a:pPr>
            <a:r>
              <a:rPr lang="en-US" sz="1050" dirty="0">
                <a:solidFill>
                  <a:srgbClr val="4A5058"/>
                </a:solidFill>
                <a:latin typeface="Times New Roman" panose="02020603050405020304" pitchFamily="18" charset="0"/>
                <a:ea typeface="Calibri" pitchFamily="34" charset="-122"/>
                <a:cs typeface="Times New Roman" panose="02020603050405020304" pitchFamily="18" charset="0"/>
              </a:rPr>
              <a:t>Solid arrows mean "builds on"; the dashed arrow between Restormer and NAFNet means "disputes" — a disagreement, not a dependency. SCUNet fuses both lines and closes the arc DnCNN opened, by attacking the noise assumption itself.</a:t>
            </a:r>
            <a:endParaRPr lang="en-US" sz="105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just">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26</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1793019"/>
            <a:ext cx="11055096" cy="274320"/>
          </a:xfrm>
          <a:prstGeom prst="rect">
            <a:avLst/>
          </a:prstGeom>
          <a:noFill/>
          <a:ln/>
        </p:spPr>
        <p:txBody>
          <a:bodyPr wrap="square" lIns="0" tIns="0" rIns="0" bIns="0" rtlCol="0" anchor="ctr"/>
          <a:lstStyle/>
          <a:p>
            <a:pPr marL="0" indent="0" algn="just">
              <a:buNone/>
            </a:pPr>
            <a:r>
              <a:rPr lang="en-US" sz="1200" kern="0" spc="300" dirty="0">
                <a:solidFill>
                  <a:srgbClr val="828A94"/>
                </a:solidFill>
                <a:latin typeface="Times New Roman" panose="02020603050405020304" pitchFamily="18" charset="0"/>
                <a:ea typeface="Consolas" pitchFamily="34" charset="-122"/>
                <a:cs typeface="Times New Roman" panose="02020603050405020304" pitchFamily="18" charset="0"/>
              </a:rPr>
              <a:t>THE ASK</a:t>
            </a:r>
            <a:endParaRPr lang="en-US" sz="1200" dirty="0">
              <a:latin typeface="Times New Roman" panose="02020603050405020304" pitchFamily="18" charset="0"/>
              <a:cs typeface="Times New Roman" panose="02020603050405020304" pitchFamily="18" charset="0"/>
            </a:endParaRPr>
          </a:p>
        </p:txBody>
      </p:sp>
      <p:sp>
        <p:nvSpPr>
          <p:cNvPr id="4" name="Text 2"/>
          <p:cNvSpPr/>
          <p:nvPr/>
        </p:nvSpPr>
        <p:spPr>
          <a:xfrm>
            <a:off x="566928" y="1783080"/>
            <a:ext cx="8686800" cy="1371600"/>
          </a:xfrm>
          <a:prstGeom prst="rect">
            <a:avLst/>
          </a:prstGeom>
          <a:noFill/>
          <a:ln/>
        </p:spPr>
        <p:txBody>
          <a:bodyPr wrap="square" lIns="0" tIns="0" rIns="0" bIns="0" rtlCol="0" anchor="ctr"/>
          <a:lstStyle/>
          <a:p>
            <a:pPr marL="0" indent="0" algn="just">
              <a:buNone/>
            </a:pPr>
            <a:r>
              <a:rPr lang="en-US" sz="3600" b="1" dirty="0">
                <a:solidFill>
                  <a:srgbClr val="14161A"/>
                </a:solidFill>
                <a:latin typeface="Times New Roman" panose="02020603050405020304" pitchFamily="18" charset="0"/>
                <a:ea typeface="Georgia" pitchFamily="34" charset="-122"/>
                <a:cs typeface="Times New Roman" panose="02020603050405020304" pitchFamily="18" charset="0"/>
              </a:rPr>
              <a:t>The research direction we are proposing</a:t>
            </a:r>
            <a:endParaRPr lang="en-US" sz="3600" dirty="0">
              <a:latin typeface="Times New Roman" panose="02020603050405020304" pitchFamily="18" charset="0"/>
              <a:cs typeface="Times New Roman" panose="02020603050405020304" pitchFamily="18" charset="0"/>
            </a:endParaRPr>
          </a:p>
        </p:txBody>
      </p:sp>
      <p:sp>
        <p:nvSpPr>
          <p:cNvPr id="5" name="Text 3"/>
          <p:cNvSpPr/>
          <p:nvPr/>
        </p:nvSpPr>
        <p:spPr>
          <a:xfrm>
            <a:off x="566928" y="2878367"/>
            <a:ext cx="10058400" cy="914400"/>
          </a:xfrm>
          <a:prstGeom prst="rect">
            <a:avLst/>
          </a:prstGeom>
          <a:noFill/>
          <a:ln/>
        </p:spPr>
        <p:txBody>
          <a:bodyPr wrap="square" lIns="0" tIns="0" rIns="0" bIns="0" rtlCol="0" anchor="ctr"/>
          <a:lstStyle/>
          <a:p>
            <a:pPr marL="0" indent="0" algn="just">
              <a:buNone/>
            </a:pPr>
            <a:r>
              <a:rPr lang="en-US" sz="1600" dirty="0">
                <a:solidFill>
                  <a:srgbClr val="4A5058"/>
                </a:solidFill>
                <a:latin typeface="Times New Roman" panose="02020603050405020304" pitchFamily="18" charset="0"/>
                <a:ea typeface="Calibri" pitchFamily="34" charset="-122"/>
                <a:cs typeface="Times New Roman" panose="02020603050405020304" pitchFamily="18" charset="0"/>
              </a:rPr>
              <a:t>Image denoising is the cleanest available case study in how computer vision replaced </a:t>
            </a:r>
            <a:r>
              <a:rPr lang="en-US" sz="1600" b="1" dirty="0">
                <a:solidFill>
                  <a:srgbClr val="14161A"/>
                </a:solidFill>
                <a:latin typeface="Times New Roman" panose="02020603050405020304" pitchFamily="18" charset="0"/>
                <a:ea typeface="Calibri" pitchFamily="34" charset="-122"/>
                <a:cs typeface="Times New Roman" panose="02020603050405020304" pitchFamily="18" charset="0"/>
              </a:rPr>
              <a:t>hand-designed priors</a:t>
            </a:r>
            <a:r>
              <a:rPr lang="en-US" sz="1600" dirty="0">
                <a:solidFill>
                  <a:srgbClr val="4A5058"/>
                </a:solidFill>
                <a:latin typeface="Times New Roman" panose="02020603050405020304" pitchFamily="18" charset="0"/>
                <a:ea typeface="Calibri" pitchFamily="34" charset="-122"/>
                <a:cs typeface="Times New Roman" panose="02020603050405020304" pitchFamily="18" charset="0"/>
              </a:rPr>
              <a:t> with </a:t>
            </a:r>
            <a:r>
              <a:rPr lang="en-US" sz="1600" b="1" dirty="0">
                <a:solidFill>
                  <a:srgbClr val="14161A"/>
                </a:solidFill>
                <a:latin typeface="Times New Roman" panose="02020603050405020304" pitchFamily="18" charset="0"/>
                <a:ea typeface="Calibri" pitchFamily="34" charset="-122"/>
                <a:cs typeface="Times New Roman" panose="02020603050405020304" pitchFamily="18" charset="0"/>
              </a:rPr>
              <a:t>learned</a:t>
            </a:r>
            <a:r>
              <a:rPr lang="en-US" sz="1600" dirty="0">
                <a:solidFill>
                  <a:srgbClr val="4A5058"/>
                </a:solidFill>
                <a:latin typeface="Times New Roman" panose="02020603050405020304" pitchFamily="18" charset="0"/>
                <a:ea typeface="Calibri" pitchFamily="34" charset="-122"/>
                <a:cs typeface="Times New Roman" panose="02020603050405020304" pitchFamily="18" charset="0"/>
              </a:rPr>
              <a:t> ones. Its history divides into four eras separated by three identifiable bottlenecks — manual prior design, the clean-data requirement, and the receptive-field limits of convolution.</a:t>
            </a:r>
            <a:endParaRPr lang="en-US" sz="1600" dirty="0">
              <a:latin typeface="Times New Roman" panose="02020603050405020304" pitchFamily="18" charset="0"/>
              <a:cs typeface="Times New Roman" panose="02020603050405020304" pitchFamily="18" charset="0"/>
            </a:endParaRPr>
          </a:p>
        </p:txBody>
      </p:sp>
      <p:sp>
        <p:nvSpPr>
          <p:cNvPr id="6" name="Text 4"/>
          <p:cNvSpPr/>
          <p:nvPr/>
        </p:nvSpPr>
        <p:spPr>
          <a:xfrm>
            <a:off x="566928" y="3929927"/>
            <a:ext cx="10058400" cy="914400"/>
          </a:xfrm>
          <a:prstGeom prst="rect">
            <a:avLst/>
          </a:prstGeom>
          <a:noFill/>
          <a:ln/>
        </p:spPr>
        <p:txBody>
          <a:bodyPr wrap="square" lIns="0" tIns="0" rIns="0" bIns="0" rtlCol="0" anchor="ctr"/>
          <a:lstStyle/>
          <a:p>
            <a:pPr marL="0" indent="0" algn="just">
              <a:buNone/>
            </a:pPr>
            <a:r>
              <a:rPr lang="en-US" sz="1600" dirty="0">
                <a:solidFill>
                  <a:srgbClr val="4A5058"/>
                </a:solidFill>
                <a:latin typeface="Times New Roman" panose="02020603050405020304" pitchFamily="18" charset="0"/>
                <a:ea typeface="Calibri" pitchFamily="34" charset="-122"/>
                <a:cs typeface="Times New Roman" panose="02020603050405020304" pitchFamily="18" charset="0"/>
              </a:rPr>
              <a:t>Each bottleneck was named by the paper that broke it, so the arc is evidenced from primary sources rather than imposed in hindsight. And because the field currently holds </a:t>
            </a:r>
            <a:r>
              <a:rPr lang="en-US" sz="1600" b="1" dirty="0">
                <a:solidFill>
                  <a:srgbClr val="14161A"/>
                </a:solidFill>
                <a:latin typeface="Times New Roman" panose="02020603050405020304" pitchFamily="18" charset="0"/>
                <a:ea typeface="Calibri" pitchFamily="34" charset="-122"/>
                <a:cs typeface="Times New Roman" panose="02020603050405020304" pitchFamily="18" charset="0"/>
              </a:rPr>
              <a:t>three competing answers</a:t>
            </a:r>
            <a:r>
              <a:rPr lang="en-US" sz="1600" dirty="0">
                <a:solidFill>
                  <a:srgbClr val="4A5058"/>
                </a:solidFill>
                <a:latin typeface="Times New Roman" panose="02020603050405020304" pitchFamily="18" charset="0"/>
                <a:ea typeface="Calibri" pitchFamily="34" charset="-122"/>
                <a:cs typeface="Times New Roman" panose="02020603050405020304" pitchFamily="18" charset="0"/>
              </a:rPr>
              <a:t> to the third bottleneck, the story ends in a genuine open question — not a winner.</a:t>
            </a:r>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11292840" y="6327648"/>
            <a:ext cx="457200" cy="274320"/>
          </a:xfrm>
          <a:prstGeom prst="rect">
            <a:avLst/>
          </a:prstGeom>
          <a:noFill/>
          <a:ln/>
        </p:spPr>
        <p:txBody>
          <a:bodyPr wrap="square" lIns="0" tIns="0" rIns="0" bIns="0" rtlCol="0" anchor="ctr"/>
          <a:lstStyle/>
          <a:p>
            <a:pPr marL="0" indent="0" algn="r">
              <a:buNone/>
            </a:pPr>
            <a:r>
              <a:rPr lang="en-US" sz="1000" dirty="0">
                <a:solidFill>
                  <a:srgbClr val="828A94"/>
                </a:solidFill>
                <a:latin typeface="Times New Roman" panose="02020603050405020304" pitchFamily="18" charset="0"/>
                <a:ea typeface="Consolas" pitchFamily="34" charset="-122"/>
                <a:cs typeface="Times New Roman" panose="02020603050405020304" pitchFamily="18" charset="0"/>
              </a:rPr>
              <a:t>27</a:t>
            </a:r>
            <a:endParaRPr lang="en-US" sz="1000" dirty="0">
              <a:latin typeface="Times New Roman" panose="02020603050405020304" pitchFamily="18" charset="0"/>
              <a:cs typeface="Times New Roman" panose="02020603050405020304" pitchFamily="18" charset="0"/>
            </a:endParaRPr>
          </a:p>
        </p:txBody>
      </p:sp>
      <p:sp>
        <p:nvSpPr>
          <p:cNvPr id="3" name="Text 1"/>
          <p:cNvSpPr/>
          <p:nvPr/>
        </p:nvSpPr>
        <p:spPr>
          <a:xfrm>
            <a:off x="566928" y="347472"/>
            <a:ext cx="11055096" cy="237744"/>
          </a:xfrm>
          <a:prstGeom prst="rect">
            <a:avLst/>
          </a:prstGeom>
          <a:noFill/>
          <a:ln/>
        </p:spPr>
        <p:txBody>
          <a:bodyPr wrap="square" lIns="0" tIns="0" rIns="0" bIns="0" rtlCol="0" anchor="ctr"/>
          <a:lstStyle/>
          <a:p>
            <a:pPr marL="0" indent="0">
              <a:buNone/>
            </a:pPr>
            <a:r>
              <a:rPr lang="en-US" sz="1000" kern="0" spc="160" dirty="0">
                <a:solidFill>
                  <a:srgbClr val="828A94"/>
                </a:solidFill>
                <a:latin typeface="Times New Roman" panose="02020603050405020304" pitchFamily="18" charset="0"/>
                <a:ea typeface="Consolas" pitchFamily="34" charset="-122"/>
                <a:cs typeface="Times New Roman" panose="02020603050405020304" pitchFamily="18" charset="0"/>
              </a:rPr>
              <a:t>MASTER REFERENCE LIST · 14 SOURCES</a:t>
            </a:r>
            <a:endParaRPr lang="en-US" sz="1000" dirty="0">
              <a:latin typeface="Times New Roman" panose="02020603050405020304" pitchFamily="18" charset="0"/>
              <a:cs typeface="Times New Roman" panose="02020603050405020304" pitchFamily="18" charset="0"/>
            </a:endParaRPr>
          </a:p>
        </p:txBody>
      </p:sp>
      <p:sp>
        <p:nvSpPr>
          <p:cNvPr id="4" name="Text 2"/>
          <p:cNvSpPr/>
          <p:nvPr/>
        </p:nvSpPr>
        <p:spPr>
          <a:xfrm>
            <a:off x="566928" y="621792"/>
            <a:ext cx="11055096" cy="777240"/>
          </a:xfrm>
          <a:prstGeom prst="rect">
            <a:avLst/>
          </a:prstGeom>
          <a:noFill/>
          <a:ln/>
        </p:spPr>
        <p:txBody>
          <a:bodyPr wrap="square" lIns="0" tIns="0" rIns="0" bIns="0" rtlCol="0" anchor="t"/>
          <a:lstStyle/>
          <a:p>
            <a:pPr marL="0" indent="0">
              <a:buNone/>
            </a:pPr>
            <a:r>
              <a:rPr lang="en-US" sz="2800" b="1" dirty="0">
                <a:solidFill>
                  <a:srgbClr val="14161A"/>
                </a:solidFill>
                <a:latin typeface="Times New Roman" panose="02020603050405020304" pitchFamily="18" charset="0"/>
                <a:ea typeface="Georgia" pitchFamily="34" charset="-122"/>
                <a:cs typeface="Times New Roman" panose="02020603050405020304" pitchFamily="18" charset="0"/>
              </a:rPr>
              <a:t>References</a:t>
            </a:r>
            <a:endParaRPr lang="en-US" sz="2800" dirty="0">
              <a:latin typeface="Times New Roman" panose="02020603050405020304" pitchFamily="18" charset="0"/>
              <a:cs typeface="Times New Roman" panose="02020603050405020304" pitchFamily="18" charset="0"/>
            </a:endParaRPr>
          </a:p>
        </p:txBody>
      </p:sp>
      <p:sp>
        <p:nvSpPr>
          <p:cNvPr id="5" name="Text 3"/>
          <p:cNvSpPr/>
          <p:nvPr/>
        </p:nvSpPr>
        <p:spPr>
          <a:xfrm>
            <a:off x="566928" y="1371600"/>
            <a:ext cx="5486400" cy="219456"/>
          </a:xfrm>
          <a:prstGeom prst="rect">
            <a:avLst/>
          </a:prstGeom>
          <a:noFill/>
          <a:ln/>
        </p:spPr>
        <p:txBody>
          <a:bodyPr wrap="square" lIns="0" tIns="0" rIns="0" bIns="0" rtlCol="0" anchor="ctr"/>
          <a:lstStyle/>
          <a:p>
            <a:pPr marL="0" indent="0">
              <a:buNone/>
            </a:pPr>
            <a:r>
              <a:rPr lang="en-US" sz="900" kern="0" spc="160" dirty="0">
                <a:solidFill>
                  <a:srgbClr val="828A94"/>
                </a:solidFill>
                <a:latin typeface="Times New Roman" panose="02020603050405020304" pitchFamily="18" charset="0"/>
                <a:ea typeface="Consolas" pitchFamily="34" charset="-122"/>
                <a:cs typeface="Times New Roman" panose="02020603050405020304" pitchFamily="18" charset="0"/>
              </a:rPr>
              <a:t>CATEGORY A — 11</a:t>
            </a:r>
            <a:endParaRPr lang="en-US" sz="900" dirty="0">
              <a:latin typeface="Times New Roman" panose="02020603050405020304" pitchFamily="18" charset="0"/>
              <a:cs typeface="Times New Roman" panose="02020603050405020304" pitchFamily="18" charset="0"/>
            </a:endParaRPr>
          </a:p>
        </p:txBody>
      </p:sp>
      <p:sp>
        <p:nvSpPr>
          <p:cNvPr id="6" name="Text 4"/>
          <p:cNvSpPr/>
          <p:nvPr/>
        </p:nvSpPr>
        <p:spPr>
          <a:xfrm>
            <a:off x="566928" y="1645920"/>
            <a:ext cx="5577840" cy="4023360"/>
          </a:xfrm>
          <a:prstGeom prst="rect">
            <a:avLst/>
          </a:prstGeom>
          <a:noFill/>
          <a:ln/>
        </p:spPr>
        <p:txBody>
          <a:bodyPr wrap="square" lIns="0" tIns="0" rIns="0" bIns="0" rtlCol="0" anchor="ctr"/>
          <a:lstStyle/>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[A1] K. Dabov, A. Foi, V. Katkovnik, K. Egiazarian. Image Denoising by Sparse 3-D Transform-Domain Collaborative Filtering. IEEE Trans. Image Processing, 16(8):2080–2095, 2007.</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[A2] S. Gu, L. Zhang, W. Zuo, X. Feng. Weighted Nuclear Norm Minimization with Application to Image Denoising. CVPR, pp. 2862–2869, 2014.</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[A3] Y. Chen, T. Pock. Trainable Nonlinear Reaction Diffusion. IEEE TPAMI, 39(6):1256–1272, 2017.</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[A4] K. Zhang, W. Zuo, Y. Chen, D. Meng, L. Zhang. Beyond a Gaussian Denoiser. IEEE Trans. Image Processing, 26(7):3142–3155, 2017.</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[A5] J. Lehtinen et al. Noise2Noise: Learning Image Restoration without Clean Data. ICML, PMLR 80, 2018.</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[A6] A. Krull, T.-O. Buchholz, F. Jug. Noise2Void — Learning Denoising from Single Noisy Images. CVPR, 2019.</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[A7] S. W. Zamir et al. Restormer: Efficient Transformer for High-Resolution Image Restoration. CVPR, pp. 5728–5739, 2022.</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[A8] L. Chen, X. Chu, X. Zhang, J. Sun. Simple Baselines for Image Restoration. ECCV, LNCS 13667, pp. 17–33, 2022.</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[A9] Y. Mansour, R. Heckel. Zero-Shot Noise2Noise. CVPR, pp. 14018–14027, 2023.</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[A10] K. Zhang et al. Practical Blind Image Denoising via Swin-Conv-UNet and Data Synthesis. Machine Intelligence Research, 20(6):822–836, 2023.</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[A11] H. Guo et al. MambaIR: A Simple Baseline for Image Restoration with State-Space Model. ECCV, pp. 222–241, 2024.</a:t>
            </a:r>
            <a:endParaRPr lang="en-US" sz="1000" dirty="0">
              <a:latin typeface="Times New Roman" panose="02020603050405020304" pitchFamily="18" charset="0"/>
              <a:cs typeface="Times New Roman" panose="02020603050405020304" pitchFamily="18" charset="0"/>
            </a:endParaRPr>
          </a:p>
        </p:txBody>
      </p:sp>
      <p:sp>
        <p:nvSpPr>
          <p:cNvPr id="7" name="Text 5"/>
          <p:cNvSpPr/>
          <p:nvPr/>
        </p:nvSpPr>
        <p:spPr>
          <a:xfrm>
            <a:off x="6474748" y="1371600"/>
            <a:ext cx="5486400" cy="219456"/>
          </a:xfrm>
          <a:prstGeom prst="rect">
            <a:avLst/>
          </a:prstGeom>
          <a:noFill/>
          <a:ln/>
        </p:spPr>
        <p:txBody>
          <a:bodyPr wrap="square" lIns="0" tIns="0" rIns="0" bIns="0" rtlCol="0" anchor="ctr"/>
          <a:lstStyle/>
          <a:p>
            <a:pPr marL="0" indent="0" algn="just">
              <a:buNone/>
            </a:pPr>
            <a:r>
              <a:rPr lang="en-US" sz="900" kern="0" spc="160" dirty="0">
                <a:solidFill>
                  <a:srgbClr val="828A94"/>
                </a:solidFill>
                <a:latin typeface="Times New Roman" panose="02020603050405020304" pitchFamily="18" charset="0"/>
                <a:ea typeface="Consolas" pitchFamily="34" charset="-122"/>
                <a:cs typeface="Times New Roman" panose="02020603050405020304" pitchFamily="18" charset="0"/>
              </a:rPr>
              <a:t>CATEGORY B — 3</a:t>
            </a:r>
            <a:endParaRPr lang="en-US" sz="900" dirty="0">
              <a:latin typeface="Times New Roman" panose="02020603050405020304" pitchFamily="18" charset="0"/>
              <a:cs typeface="Times New Roman" panose="02020603050405020304" pitchFamily="18" charset="0"/>
            </a:endParaRPr>
          </a:p>
        </p:txBody>
      </p:sp>
      <p:sp>
        <p:nvSpPr>
          <p:cNvPr id="8" name="Text 6"/>
          <p:cNvSpPr/>
          <p:nvPr/>
        </p:nvSpPr>
        <p:spPr>
          <a:xfrm>
            <a:off x="6466797" y="1661822"/>
            <a:ext cx="5577840" cy="1097280"/>
          </a:xfrm>
          <a:prstGeom prst="rect">
            <a:avLst/>
          </a:prstGeom>
          <a:noFill/>
          <a:ln/>
        </p:spPr>
        <p:txBody>
          <a:bodyPr wrap="square" lIns="0" tIns="0" rIns="0" bIns="0" rtlCol="0" anchor="ctr"/>
          <a:lstStyle/>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[B1] Stanford University. CS231n: Convolutional Neural Networks for Visual Recognition. Lecture series.</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[B2] Google Research. Night Sight: Seeing in the Dark on Pixel Phones. Google Research Blog.</a:t>
            </a:r>
            <a:endParaRPr lang="en-US" sz="1000" dirty="0">
              <a:latin typeface="Times New Roman" panose="02020603050405020304" pitchFamily="18" charset="0"/>
              <a:cs typeface="Times New Roman" panose="02020603050405020304" pitchFamily="18" charset="0"/>
            </a:endParaRPr>
          </a:p>
          <a:p>
            <a:pPr marL="0" indent="0" algn="just">
              <a:lnSpc>
                <a:spcPts val="1300"/>
              </a:lnSpc>
              <a:buNone/>
            </a:pP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[B3] R. C. Gonzalez, R. E. Woods. Digital Image Processing — Image Restoration chapter.</a:t>
            </a:r>
            <a:endParaRPr lang="en-US" sz="1000" dirty="0">
              <a:latin typeface="Times New Roman" panose="02020603050405020304" pitchFamily="18" charset="0"/>
              <a:cs typeface="Times New Roman" panose="02020603050405020304" pitchFamily="18" charset="0"/>
            </a:endParaRPr>
          </a:p>
        </p:txBody>
      </p:sp>
      <p:sp>
        <p:nvSpPr>
          <p:cNvPr id="9" name="Text 7"/>
          <p:cNvSpPr/>
          <p:nvPr/>
        </p:nvSpPr>
        <p:spPr>
          <a:xfrm>
            <a:off x="6474748" y="2971800"/>
            <a:ext cx="5486400" cy="1188720"/>
          </a:xfrm>
          <a:prstGeom prst="rect">
            <a:avLst/>
          </a:prstGeom>
          <a:noFill/>
          <a:ln/>
        </p:spPr>
        <p:txBody>
          <a:bodyPr wrap="square" lIns="0" tIns="0" rIns="0" bIns="0" rtlCol="0" anchor="ctr"/>
          <a:lstStyle/>
          <a:p>
            <a:pPr marL="0" indent="0" algn="just">
              <a:buNone/>
            </a:pPr>
            <a:r>
              <a:rPr lang="en-US" sz="1000" b="1" dirty="0">
                <a:solidFill>
                  <a:srgbClr val="14161A"/>
                </a:solidFill>
                <a:latin typeface="Times New Roman" panose="02020603050405020304" pitchFamily="18" charset="0"/>
                <a:ea typeface="Calibri" pitchFamily="34" charset="-122"/>
                <a:cs typeface="Times New Roman" panose="02020603050405020304" pitchFamily="18" charset="0"/>
              </a:rPr>
              <a:t>Note:  </a:t>
            </a:r>
            <a:r>
              <a:rPr lang="en-US" sz="1000" dirty="0">
                <a:solidFill>
                  <a:srgbClr val="4A5058"/>
                </a:solidFill>
                <a:latin typeface="Times New Roman" panose="02020603050405020304" pitchFamily="18" charset="0"/>
                <a:ea typeface="Calibri" pitchFamily="34" charset="-122"/>
                <a:cs typeface="Times New Roman" panose="02020603050405020304" pitchFamily="18" charset="0"/>
              </a:rPr>
              <a:t>Venues for A1, A3, A5 and A10 are printed in the source PDFs themselves. Venues for A2, A4, A6, A7, A8, A9 and A11 were verified against publisher, CVF Open Access or institutional proceedings records, because those PDFs are preprint versions that do not carry their venue.</a:t>
            </a:r>
            <a:endParaRPr lang="en-US" sz="1000" dirty="0">
              <a:latin typeface="Times New Roman" panose="02020603050405020304" pitchFamily="18" charset="0"/>
              <a:cs typeface="Times New Roman" panose="02020603050405020304" pitchFamily="18" charset="0"/>
            </a:endParaRPr>
          </a:p>
        </p:txBody>
      </p:sp>
      <p:sp>
        <p:nvSpPr>
          <p:cNvPr id="10" name="Text 8"/>
          <p:cNvSpPr/>
          <p:nvPr/>
        </p:nvSpPr>
        <p:spPr>
          <a:xfrm>
            <a:off x="6474748" y="4663440"/>
            <a:ext cx="5486400" cy="548640"/>
          </a:xfrm>
          <a:prstGeom prst="rect">
            <a:avLst/>
          </a:prstGeom>
          <a:noFill/>
          <a:ln/>
        </p:spPr>
        <p:txBody>
          <a:bodyPr wrap="square" lIns="0" tIns="0" rIns="0" bIns="0" rtlCol="0" anchor="ctr"/>
          <a:lstStyle/>
          <a:p>
            <a:pPr marL="0" indent="0" algn="just">
              <a:buNone/>
            </a:pPr>
            <a:r>
              <a:rPr lang="en-US" sz="1000" dirty="0">
                <a:solidFill>
                  <a:srgbClr val="828A94"/>
                </a:solidFill>
                <a:latin typeface="Times New Roman" panose="02020603050405020304" pitchFamily="18" charset="0"/>
                <a:ea typeface="Calibri" pitchFamily="34" charset="-122"/>
                <a:cs typeface="Times New Roman" panose="02020603050405020304" pitchFamily="18" charset="0"/>
              </a:rPr>
              <a:t>Stage 1 · Literature Review Pitch · 11 August 2026</a:t>
            </a:r>
            <a:endParaRPr lang="en-US" sz="1000" dirty="0">
              <a:latin typeface="Times New Roman" panose="02020603050405020304" pitchFamily="18" charset="0"/>
              <a:cs typeface="Times New Roman" panose="02020603050405020304" pitchFamily="18" charset="0"/>
            </a:endParaRPr>
          </a:p>
          <a:p>
            <a:pPr marL="0" indent="0" algn="just">
              <a:buNone/>
            </a:pPr>
            <a:r>
              <a:rPr lang="en-US" sz="1000" dirty="0">
                <a:solidFill>
                  <a:srgbClr val="828A94"/>
                </a:solidFill>
                <a:latin typeface="Times New Roman" panose="02020603050405020304" pitchFamily="18" charset="0"/>
                <a:ea typeface="Calibri" pitchFamily="34" charset="-122"/>
                <a:cs typeface="Times New Roman" panose="02020603050405020304" pitchFamily="18" charset="0"/>
              </a:rPr>
              <a:t>Supervisor: Prof. Zohreh Azimifar</a:t>
            </a:r>
            <a:endParaRPr lang="en-US" sz="1000"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Editorial</Template>
  <TotalTime>35</TotalTime>
  <Words>6141</Words>
  <Application>Microsoft Office PowerPoint</Application>
  <PresentationFormat>Widescreen</PresentationFormat>
  <Paragraphs>658</Paragraphs>
  <Slides>27</Slides>
  <Notes>27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Arial</vt:lpstr>
      <vt:lpstr>Calibri</vt:lpstr>
      <vt:lpstr>Consolas</vt:lpstr>
      <vt:lpstr>Georgia</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Image Denoising — From Foundations to State-of-the-Art</dc:title>
  <dc:subject>PptxGenJS Presentation</dc:subject>
  <dc:creator>Stage 1 Literature Review</dc:creator>
  <cp:lastModifiedBy>Ali Ahmadi</cp:lastModifiedBy>
  <cp:revision>33</cp:revision>
  <dcterms:created xsi:type="dcterms:W3CDTF">2026-08-09T04:59:11Z</dcterms:created>
  <dcterms:modified xsi:type="dcterms:W3CDTF">2026-08-11T11:27:37Z</dcterms:modified>
</cp:coreProperties>
</file>