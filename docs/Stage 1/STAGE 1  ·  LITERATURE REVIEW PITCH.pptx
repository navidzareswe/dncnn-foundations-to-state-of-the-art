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147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7"/>
        </a:solidFill>
        <a:effectLst/>
      </p:bgPr>
    </p:bg>
    <p:spTree>
      <p:nvGrpSpPr>
        <p:cNvPr id="1" name=""/>
        <p:cNvGrpSpPr/>
        <p:nvPr/>
      </p:nvGrpSpPr>
      <p:grpSpPr>
        <a:xfrm>
          <a:off x="0" y="0"/>
          <a:ext cx="0" cy="0"/>
          <a:chOff x="0" y="0"/>
          <a:chExt cx="0" cy="0"/>
        </a:xfrm>
      </p:grpSpPr>
      <p:sp>
        <p:nvSpPr>
          <p:cNvPr id="2" name="Shape 0"/>
          <p:cNvSpPr/>
          <p:nvPr/>
        </p:nvSpPr>
        <p:spPr>
          <a:xfrm>
            <a:off x="10488168" y="1234440"/>
            <a:ext cx="54864" cy="54864"/>
          </a:xfrm>
          <a:prstGeom prst="ellipse">
            <a:avLst/>
          </a:prstGeom>
          <a:solidFill>
            <a:srgbClr val="5FD4D6"/>
          </a:solidFill>
          <a:ln/>
        </p:spPr>
        <p:txBody>
          <a:bodyPr/>
          <a:lstStyle/>
          <a:p>
            <a:endParaRPr lang="en-GB"/>
          </a:p>
        </p:txBody>
      </p:sp>
      <p:sp>
        <p:nvSpPr>
          <p:cNvPr id="3" name="Shape 1"/>
          <p:cNvSpPr/>
          <p:nvPr/>
        </p:nvSpPr>
        <p:spPr>
          <a:xfrm>
            <a:off x="10808208" y="1234440"/>
            <a:ext cx="54864" cy="54864"/>
          </a:xfrm>
          <a:prstGeom prst="ellipse">
            <a:avLst/>
          </a:prstGeom>
          <a:solidFill>
            <a:srgbClr val="5FD4D6"/>
          </a:solidFill>
          <a:ln/>
        </p:spPr>
        <p:txBody>
          <a:bodyPr/>
          <a:lstStyle/>
          <a:p>
            <a:endParaRPr lang="en-GB"/>
          </a:p>
        </p:txBody>
      </p:sp>
      <p:sp>
        <p:nvSpPr>
          <p:cNvPr id="4" name="Shape 2"/>
          <p:cNvSpPr/>
          <p:nvPr/>
        </p:nvSpPr>
        <p:spPr>
          <a:xfrm>
            <a:off x="11128248" y="1234440"/>
            <a:ext cx="54864" cy="54864"/>
          </a:xfrm>
          <a:prstGeom prst="ellipse">
            <a:avLst/>
          </a:prstGeom>
          <a:solidFill>
            <a:srgbClr val="5FD4D6"/>
          </a:solidFill>
          <a:ln/>
        </p:spPr>
        <p:txBody>
          <a:bodyPr/>
          <a:lstStyle/>
          <a:p>
            <a:endParaRPr lang="en-GB"/>
          </a:p>
        </p:txBody>
      </p:sp>
      <p:sp>
        <p:nvSpPr>
          <p:cNvPr id="5" name="Shape 3"/>
          <p:cNvSpPr/>
          <p:nvPr/>
        </p:nvSpPr>
        <p:spPr>
          <a:xfrm>
            <a:off x="10488168" y="1554480"/>
            <a:ext cx="54864" cy="54864"/>
          </a:xfrm>
          <a:prstGeom prst="ellipse">
            <a:avLst/>
          </a:prstGeom>
          <a:solidFill>
            <a:srgbClr val="5FD4D6"/>
          </a:solidFill>
          <a:ln/>
        </p:spPr>
        <p:txBody>
          <a:bodyPr/>
          <a:lstStyle/>
          <a:p>
            <a:endParaRPr lang="en-GB"/>
          </a:p>
        </p:txBody>
      </p:sp>
      <p:sp>
        <p:nvSpPr>
          <p:cNvPr id="6" name="Shape 4"/>
          <p:cNvSpPr/>
          <p:nvPr/>
        </p:nvSpPr>
        <p:spPr>
          <a:xfrm>
            <a:off x="10808208" y="1554480"/>
            <a:ext cx="54864" cy="54864"/>
          </a:xfrm>
          <a:prstGeom prst="ellipse">
            <a:avLst/>
          </a:prstGeom>
          <a:solidFill>
            <a:srgbClr val="5FD4D6"/>
          </a:solidFill>
          <a:ln/>
        </p:spPr>
        <p:txBody>
          <a:bodyPr/>
          <a:lstStyle/>
          <a:p>
            <a:endParaRPr lang="en-GB"/>
          </a:p>
        </p:txBody>
      </p:sp>
      <p:sp>
        <p:nvSpPr>
          <p:cNvPr id="7" name="Shape 5"/>
          <p:cNvSpPr/>
          <p:nvPr/>
        </p:nvSpPr>
        <p:spPr>
          <a:xfrm>
            <a:off x="11128248" y="1554480"/>
            <a:ext cx="54864" cy="54864"/>
          </a:xfrm>
          <a:prstGeom prst="ellipse">
            <a:avLst/>
          </a:prstGeom>
          <a:solidFill>
            <a:srgbClr val="5FD4D6"/>
          </a:solidFill>
          <a:ln/>
        </p:spPr>
        <p:txBody>
          <a:bodyPr/>
          <a:lstStyle/>
          <a:p>
            <a:endParaRPr lang="en-GB"/>
          </a:p>
        </p:txBody>
      </p:sp>
      <p:sp>
        <p:nvSpPr>
          <p:cNvPr id="8" name="Text 6"/>
          <p:cNvSpPr/>
          <p:nvPr/>
        </p:nvSpPr>
        <p:spPr>
          <a:xfrm>
            <a:off x="822960" y="1234440"/>
            <a:ext cx="9144000" cy="365760"/>
          </a:xfrm>
          <a:prstGeom prst="rect">
            <a:avLst/>
          </a:prstGeom>
          <a:noFill/>
          <a:ln/>
        </p:spPr>
        <p:txBody>
          <a:bodyPr wrap="square" lIns="0" tIns="0" rIns="0" bIns="0" rtlCol="0" anchor="ctr"/>
          <a:lstStyle/>
          <a:p>
            <a:pPr marL="0" indent="0">
              <a:buNone/>
            </a:pPr>
            <a:r>
              <a:rPr lang="en-US" sz="1300" b="1" kern="0" spc="300" dirty="0">
                <a:solidFill>
                  <a:srgbClr val="5FD4D6"/>
                </a:solidFill>
                <a:latin typeface="Calibri" pitchFamily="34" charset="0"/>
                <a:ea typeface="Calibri" pitchFamily="34" charset="-122"/>
                <a:cs typeface="Calibri" pitchFamily="34" charset="-120"/>
              </a:rPr>
              <a:t>STAGE 1  ·  LITERATURE REVIEW PITCH</a:t>
            </a:r>
            <a:endParaRPr lang="en-US" sz="1300" dirty="0"/>
          </a:p>
        </p:txBody>
      </p:sp>
      <p:sp>
        <p:nvSpPr>
          <p:cNvPr id="9" name="Text 7"/>
          <p:cNvSpPr/>
          <p:nvPr/>
        </p:nvSpPr>
        <p:spPr>
          <a:xfrm>
            <a:off x="822960" y="1600200"/>
            <a:ext cx="10332720" cy="1920240"/>
          </a:xfrm>
          <a:prstGeom prst="rect">
            <a:avLst/>
          </a:prstGeom>
          <a:noFill/>
          <a:ln/>
        </p:spPr>
        <p:txBody>
          <a:bodyPr wrap="square" lIns="0" tIns="0" rIns="0" bIns="0" rtlCol="0" anchor="ctr"/>
          <a:lstStyle/>
          <a:p>
            <a:pPr marL="0" indent="0">
              <a:lnSpc>
                <a:spcPct val="105000"/>
              </a:lnSpc>
              <a:buNone/>
            </a:pPr>
            <a:r>
              <a:rPr lang="en-US" sz="4400" b="1" dirty="0">
                <a:solidFill>
                  <a:srgbClr val="F3F6FA"/>
                </a:solidFill>
                <a:latin typeface="Cambria" pitchFamily="34" charset="0"/>
                <a:ea typeface="Cambria" pitchFamily="34" charset="-122"/>
                <a:cs typeface="Cambria" pitchFamily="34" charset="-120"/>
              </a:rPr>
              <a:t>Image Denoising:
</a:t>
            </a:r>
            <a:r>
              <a:rPr lang="en-US" sz="2600" b="1" i="1" dirty="0">
                <a:solidFill>
                  <a:srgbClr val="8C97AC"/>
                </a:solidFill>
                <a:latin typeface="Cambria" pitchFamily="34" charset="0"/>
                <a:ea typeface="Cambria" pitchFamily="34" charset="-122"/>
                <a:cs typeface="Cambria" pitchFamily="34" charset="-120"/>
              </a:rPr>
              <a:t>From Foundations to State-of-the-Art</a:t>
            </a:r>
            <a:endParaRPr lang="en-US" sz="4400" dirty="0"/>
          </a:p>
        </p:txBody>
      </p:sp>
      <p:sp>
        <p:nvSpPr>
          <p:cNvPr id="10" name="Text 8"/>
          <p:cNvSpPr/>
          <p:nvPr/>
        </p:nvSpPr>
        <p:spPr>
          <a:xfrm>
            <a:off x="822960" y="3611880"/>
            <a:ext cx="7863840" cy="822960"/>
          </a:xfrm>
          <a:prstGeom prst="rect">
            <a:avLst/>
          </a:prstGeom>
          <a:noFill/>
          <a:ln/>
        </p:spPr>
        <p:txBody>
          <a:bodyPr wrap="square" lIns="0" tIns="0" rIns="0" bIns="0" rtlCol="0" anchor="ctr"/>
          <a:lstStyle/>
          <a:p>
            <a:pPr marL="0" indent="0">
              <a:lnSpc>
                <a:spcPct val="130000"/>
              </a:lnSpc>
              <a:buNone/>
            </a:pPr>
            <a:r>
              <a:rPr lang="en-US" sz="1400" dirty="0">
                <a:solidFill>
                  <a:srgbClr val="8C97AC"/>
                </a:solidFill>
                <a:latin typeface="Calibri" pitchFamily="34" charset="0"/>
                <a:ea typeface="Calibri" pitchFamily="34" charset="-122"/>
                <a:cs typeface="Calibri" pitchFamily="34" charset="-120"/>
              </a:rPr>
              <a:t>Tracing how the image prior moved out of human hands — from transform-domain filtering, through convolutional networks, to attention and state-space models.</a:t>
            </a:r>
            <a:endParaRPr lang="en-US" sz="1400" dirty="0"/>
          </a:p>
        </p:txBody>
      </p:sp>
      <p:sp>
        <p:nvSpPr>
          <p:cNvPr id="11" name="Shape 9"/>
          <p:cNvSpPr/>
          <p:nvPr/>
        </p:nvSpPr>
        <p:spPr>
          <a:xfrm>
            <a:off x="822960" y="4617720"/>
            <a:ext cx="0" cy="960120"/>
          </a:xfrm>
          <a:prstGeom prst="line">
            <a:avLst/>
          </a:prstGeom>
          <a:noFill/>
          <a:ln w="12700">
            <a:solidFill>
              <a:srgbClr val="263148"/>
            </a:solidFill>
            <a:prstDash val="solid"/>
          </a:ln>
        </p:spPr>
        <p:txBody>
          <a:bodyPr/>
          <a:lstStyle/>
          <a:p>
            <a:endParaRPr lang="en-GB"/>
          </a:p>
        </p:txBody>
      </p:sp>
      <p:sp>
        <p:nvSpPr>
          <p:cNvPr id="12" name="Text 10"/>
          <p:cNvSpPr/>
          <p:nvPr/>
        </p:nvSpPr>
        <p:spPr>
          <a:xfrm>
            <a:off x="987552" y="4617720"/>
            <a:ext cx="2926080" cy="274320"/>
          </a:xfrm>
          <a:prstGeom prst="rect">
            <a:avLst/>
          </a:prstGeom>
          <a:noFill/>
          <a:ln/>
        </p:spPr>
        <p:txBody>
          <a:bodyPr wrap="square" lIns="0" tIns="0" rIns="0" bIns="0" rtlCol="0" anchor="ctr"/>
          <a:lstStyle/>
          <a:p>
            <a:pPr marL="0" indent="0">
              <a:buNone/>
            </a:pPr>
            <a:r>
              <a:rPr lang="en-US" sz="1000" b="1" kern="0" spc="150" dirty="0">
                <a:solidFill>
                  <a:srgbClr val="E7B75F"/>
                </a:solidFill>
                <a:latin typeface="Calibri" pitchFamily="34" charset="0"/>
                <a:ea typeface="Calibri" pitchFamily="34" charset="-122"/>
                <a:cs typeface="Calibri" pitchFamily="34" charset="-120"/>
              </a:rPr>
              <a:t>ANCHOR PAPER</a:t>
            </a:r>
            <a:endParaRPr lang="en-US" sz="1000" dirty="0"/>
          </a:p>
        </p:txBody>
      </p:sp>
      <p:sp>
        <p:nvSpPr>
          <p:cNvPr id="13" name="Text 11"/>
          <p:cNvSpPr/>
          <p:nvPr/>
        </p:nvSpPr>
        <p:spPr>
          <a:xfrm>
            <a:off x="987552" y="4919472"/>
            <a:ext cx="2926080" cy="640080"/>
          </a:xfrm>
          <a:prstGeom prst="rect">
            <a:avLst/>
          </a:prstGeom>
          <a:noFill/>
          <a:ln/>
        </p:spPr>
        <p:txBody>
          <a:bodyPr wrap="square" lIns="0" tIns="0" rIns="0" bIns="0" rtlCol="0" anchor="ctr"/>
          <a:lstStyle/>
          <a:p>
            <a:pPr marL="0" indent="0">
              <a:lnSpc>
                <a:spcPct val="125000"/>
              </a:lnSpc>
              <a:buNone/>
            </a:pPr>
            <a:r>
              <a:rPr lang="en-US" sz="1150" dirty="0">
                <a:solidFill>
                  <a:srgbClr val="F3F6FA"/>
                </a:solidFill>
                <a:latin typeface="Calibri" pitchFamily="34" charset="0"/>
                <a:ea typeface="Calibri" pitchFamily="34" charset="-122"/>
                <a:cs typeface="Calibri" pitchFamily="34" charset="-120"/>
              </a:rPr>
              <a:t>DnCNN · Zhang et al.</a:t>
            </a:r>
            <a:endParaRPr lang="en-US" sz="1150" dirty="0"/>
          </a:p>
          <a:p>
            <a:pPr marL="0" indent="0">
              <a:lnSpc>
                <a:spcPct val="125000"/>
              </a:lnSpc>
              <a:buNone/>
            </a:pPr>
            <a:r>
              <a:rPr lang="en-US" sz="1150" dirty="0">
                <a:solidFill>
                  <a:srgbClr val="F3F6FA"/>
                </a:solidFill>
                <a:latin typeface="Calibri" pitchFamily="34" charset="0"/>
                <a:ea typeface="Calibri" pitchFamily="34" charset="-122"/>
                <a:cs typeface="Calibri" pitchFamily="34" charset="-120"/>
              </a:rPr>
              <a:t>IEEE TIP 26(7), 2017</a:t>
            </a:r>
            <a:endParaRPr lang="en-US" sz="1150" dirty="0"/>
          </a:p>
        </p:txBody>
      </p:sp>
      <p:sp>
        <p:nvSpPr>
          <p:cNvPr id="14" name="Shape 12"/>
          <p:cNvSpPr/>
          <p:nvPr/>
        </p:nvSpPr>
        <p:spPr>
          <a:xfrm>
            <a:off x="4069080" y="4617720"/>
            <a:ext cx="0" cy="960120"/>
          </a:xfrm>
          <a:prstGeom prst="line">
            <a:avLst/>
          </a:prstGeom>
          <a:noFill/>
          <a:ln w="12700">
            <a:solidFill>
              <a:srgbClr val="263148"/>
            </a:solidFill>
            <a:prstDash val="solid"/>
          </a:ln>
        </p:spPr>
        <p:txBody>
          <a:bodyPr/>
          <a:lstStyle/>
          <a:p>
            <a:endParaRPr lang="en-GB"/>
          </a:p>
        </p:txBody>
      </p:sp>
      <p:sp>
        <p:nvSpPr>
          <p:cNvPr id="15" name="Text 13"/>
          <p:cNvSpPr/>
          <p:nvPr/>
        </p:nvSpPr>
        <p:spPr>
          <a:xfrm>
            <a:off x="4233672" y="4617720"/>
            <a:ext cx="2926080" cy="274320"/>
          </a:xfrm>
          <a:prstGeom prst="rect">
            <a:avLst/>
          </a:prstGeom>
          <a:noFill/>
          <a:ln/>
        </p:spPr>
        <p:txBody>
          <a:bodyPr wrap="square" lIns="0" tIns="0" rIns="0" bIns="0" rtlCol="0" anchor="ctr"/>
          <a:lstStyle/>
          <a:p>
            <a:pPr marL="0" indent="0">
              <a:buNone/>
            </a:pPr>
            <a:r>
              <a:rPr lang="en-US" sz="1000" b="1" kern="0" spc="150" dirty="0">
                <a:solidFill>
                  <a:srgbClr val="E7B75F"/>
                </a:solidFill>
                <a:latin typeface="Calibri" pitchFamily="34" charset="0"/>
                <a:ea typeface="Calibri" pitchFamily="34" charset="-122"/>
                <a:cs typeface="Calibri" pitchFamily="34" charset="-120"/>
              </a:rPr>
              <a:t>SOURCES</a:t>
            </a:r>
            <a:endParaRPr lang="en-US" sz="1000" dirty="0"/>
          </a:p>
        </p:txBody>
      </p:sp>
      <p:sp>
        <p:nvSpPr>
          <p:cNvPr id="16" name="Text 14"/>
          <p:cNvSpPr/>
          <p:nvPr/>
        </p:nvSpPr>
        <p:spPr>
          <a:xfrm>
            <a:off x="4233672" y="4919472"/>
            <a:ext cx="2926080" cy="640080"/>
          </a:xfrm>
          <a:prstGeom prst="rect">
            <a:avLst/>
          </a:prstGeom>
          <a:noFill/>
          <a:ln/>
        </p:spPr>
        <p:txBody>
          <a:bodyPr wrap="square" lIns="0" tIns="0" rIns="0" bIns="0" rtlCol="0" anchor="ctr"/>
          <a:lstStyle/>
          <a:p>
            <a:pPr marL="0" indent="0">
              <a:lnSpc>
                <a:spcPct val="125000"/>
              </a:lnSpc>
              <a:buNone/>
            </a:pPr>
            <a:r>
              <a:rPr lang="en-US" sz="1150" dirty="0">
                <a:solidFill>
                  <a:srgbClr val="F3F6FA"/>
                </a:solidFill>
                <a:latin typeface="Calibri" pitchFamily="34" charset="0"/>
                <a:ea typeface="Calibri" pitchFamily="34" charset="-122"/>
                <a:cs typeface="Calibri" pitchFamily="34" charset="-120"/>
              </a:rPr>
              <a:t>14 total · 11 Category A</a:t>
            </a:r>
            <a:endParaRPr lang="en-US" sz="1150" dirty="0"/>
          </a:p>
          <a:p>
            <a:pPr marL="0" indent="0">
              <a:lnSpc>
                <a:spcPct val="125000"/>
              </a:lnSpc>
              <a:buNone/>
            </a:pPr>
            <a:r>
              <a:rPr lang="en-US" sz="1150" dirty="0">
                <a:solidFill>
                  <a:srgbClr val="F3F6FA"/>
                </a:solidFill>
                <a:latin typeface="Calibri" pitchFamily="34" charset="0"/>
                <a:ea typeface="Calibri" pitchFamily="34" charset="-122"/>
                <a:cs typeface="Calibri" pitchFamily="34" charset="-120"/>
              </a:rPr>
              <a:t>78.6% / 21.4%</a:t>
            </a:r>
            <a:endParaRPr lang="en-US" sz="1150" dirty="0"/>
          </a:p>
        </p:txBody>
      </p:sp>
      <p:sp>
        <p:nvSpPr>
          <p:cNvPr id="17" name="Shape 15"/>
          <p:cNvSpPr/>
          <p:nvPr/>
        </p:nvSpPr>
        <p:spPr>
          <a:xfrm>
            <a:off x="7315200" y="4617720"/>
            <a:ext cx="0" cy="960120"/>
          </a:xfrm>
          <a:prstGeom prst="line">
            <a:avLst/>
          </a:prstGeom>
          <a:noFill/>
          <a:ln w="12700">
            <a:solidFill>
              <a:srgbClr val="263148"/>
            </a:solidFill>
            <a:prstDash val="solid"/>
          </a:ln>
        </p:spPr>
        <p:txBody>
          <a:bodyPr/>
          <a:lstStyle/>
          <a:p>
            <a:endParaRPr lang="en-GB"/>
          </a:p>
        </p:txBody>
      </p:sp>
      <p:sp>
        <p:nvSpPr>
          <p:cNvPr id="18" name="Text 16"/>
          <p:cNvSpPr/>
          <p:nvPr/>
        </p:nvSpPr>
        <p:spPr>
          <a:xfrm>
            <a:off x="7479792" y="4617720"/>
            <a:ext cx="2926080" cy="274320"/>
          </a:xfrm>
          <a:prstGeom prst="rect">
            <a:avLst/>
          </a:prstGeom>
          <a:noFill/>
          <a:ln/>
        </p:spPr>
        <p:txBody>
          <a:bodyPr wrap="square" lIns="0" tIns="0" rIns="0" bIns="0" rtlCol="0" anchor="ctr"/>
          <a:lstStyle/>
          <a:p>
            <a:pPr marL="0" indent="0">
              <a:buNone/>
            </a:pPr>
            <a:r>
              <a:rPr lang="en-US" sz="1000" b="1" kern="0" spc="150" dirty="0">
                <a:solidFill>
                  <a:srgbClr val="E7B75F"/>
                </a:solidFill>
                <a:latin typeface="Calibri" pitchFamily="34" charset="0"/>
                <a:ea typeface="Calibri" pitchFamily="34" charset="-122"/>
                <a:cs typeface="Calibri" pitchFamily="34" charset="-120"/>
              </a:rPr>
              <a:t>SPAN</a:t>
            </a:r>
            <a:endParaRPr lang="en-US" sz="1000" dirty="0"/>
          </a:p>
        </p:txBody>
      </p:sp>
      <p:sp>
        <p:nvSpPr>
          <p:cNvPr id="19" name="Text 17"/>
          <p:cNvSpPr/>
          <p:nvPr/>
        </p:nvSpPr>
        <p:spPr>
          <a:xfrm>
            <a:off x="7479792" y="4919472"/>
            <a:ext cx="2926080" cy="640080"/>
          </a:xfrm>
          <a:prstGeom prst="rect">
            <a:avLst/>
          </a:prstGeom>
          <a:noFill/>
          <a:ln/>
        </p:spPr>
        <p:txBody>
          <a:bodyPr wrap="square" lIns="0" tIns="0" rIns="0" bIns="0" rtlCol="0" anchor="ctr"/>
          <a:lstStyle/>
          <a:p>
            <a:pPr marL="0" indent="0">
              <a:lnSpc>
                <a:spcPct val="125000"/>
              </a:lnSpc>
              <a:buNone/>
            </a:pPr>
            <a:r>
              <a:rPr lang="en-US" sz="1150" dirty="0">
                <a:solidFill>
                  <a:srgbClr val="F3F6FA"/>
                </a:solidFill>
                <a:latin typeface="Calibri" pitchFamily="34" charset="0"/>
                <a:ea typeface="Calibri" pitchFamily="34" charset="-122"/>
                <a:cs typeface="Calibri" pitchFamily="34" charset="-120"/>
              </a:rPr>
              <a:t>2007 → 2024</a:t>
            </a:r>
            <a:endParaRPr lang="en-US" sz="1150" dirty="0"/>
          </a:p>
          <a:p>
            <a:pPr marL="0" indent="0">
              <a:lnSpc>
                <a:spcPct val="125000"/>
              </a:lnSpc>
              <a:buNone/>
            </a:pPr>
            <a:r>
              <a:rPr lang="en-US" sz="1150" dirty="0">
                <a:solidFill>
                  <a:srgbClr val="F3F6FA"/>
                </a:solidFill>
                <a:latin typeface="Calibri" pitchFamily="34" charset="0"/>
                <a:ea typeface="Calibri" pitchFamily="34" charset="-122"/>
                <a:cs typeface="Calibri" pitchFamily="34" charset="-120"/>
              </a:rPr>
              <a:t>Four eras · three bottlenecks</a:t>
            </a:r>
            <a:endParaRPr lang="en-US" sz="1150" dirty="0"/>
          </a:p>
        </p:txBody>
      </p:sp>
      <p:sp>
        <p:nvSpPr>
          <p:cNvPr id="20" name="Shape 18"/>
          <p:cNvSpPr/>
          <p:nvPr/>
        </p:nvSpPr>
        <p:spPr>
          <a:xfrm>
            <a:off x="822960" y="6263640"/>
            <a:ext cx="10515600" cy="0"/>
          </a:xfrm>
          <a:prstGeom prst="line">
            <a:avLst/>
          </a:prstGeom>
          <a:noFill/>
          <a:ln w="12700">
            <a:solidFill>
              <a:srgbClr val="263148"/>
            </a:solidFill>
            <a:prstDash val="solid"/>
          </a:ln>
        </p:spPr>
        <p:txBody>
          <a:bodyPr/>
          <a:lstStyle/>
          <a:p>
            <a:endParaRPr lang="en-GB"/>
          </a:p>
        </p:txBody>
      </p:sp>
      <p:sp>
        <p:nvSpPr>
          <p:cNvPr id="21" name="Text 19"/>
          <p:cNvSpPr/>
          <p:nvPr/>
        </p:nvSpPr>
        <p:spPr>
          <a:xfrm>
            <a:off x="822960" y="6382512"/>
            <a:ext cx="4572000" cy="320040"/>
          </a:xfrm>
          <a:prstGeom prst="rect">
            <a:avLst/>
          </a:prstGeom>
          <a:noFill/>
          <a:ln/>
        </p:spPr>
        <p:txBody>
          <a:bodyPr wrap="square" lIns="0" tIns="0" rIns="0" bIns="0" rtlCol="0" anchor="ctr"/>
          <a:lstStyle/>
          <a:p>
            <a:pPr marL="0" indent="0">
              <a:buNone/>
            </a:pPr>
            <a:r>
              <a:rPr lang="en-US" sz="1100" dirty="0">
                <a:solidFill>
                  <a:srgbClr val="8C97AC"/>
                </a:solidFill>
                <a:latin typeface="Calibri" pitchFamily="34" charset="0"/>
                <a:ea typeface="Calibri" pitchFamily="34" charset="-122"/>
                <a:cs typeface="Calibri" pitchFamily="34" charset="-120"/>
              </a:rPr>
              <a:t>Defence · 11 August 2026</a:t>
            </a:r>
            <a:endParaRPr lang="en-US" sz="1100" dirty="0"/>
          </a:p>
        </p:txBody>
      </p:sp>
      <p:sp>
        <p:nvSpPr>
          <p:cNvPr id="22" name="Text 20"/>
          <p:cNvSpPr/>
          <p:nvPr/>
        </p:nvSpPr>
        <p:spPr>
          <a:xfrm>
            <a:off x="6796735" y="6382512"/>
            <a:ext cx="4572000" cy="320040"/>
          </a:xfrm>
          <a:prstGeom prst="rect">
            <a:avLst/>
          </a:prstGeom>
          <a:noFill/>
          <a:ln/>
        </p:spPr>
        <p:txBody>
          <a:bodyPr wrap="square" lIns="0" tIns="0" rIns="0" bIns="0" rtlCol="0" anchor="ctr"/>
          <a:lstStyle/>
          <a:p>
            <a:pPr marL="0" indent="0" algn="r">
              <a:buNone/>
            </a:pPr>
            <a:r>
              <a:rPr lang="en-US" sz="1100" dirty="0">
                <a:solidFill>
                  <a:srgbClr val="8C97AC"/>
                </a:solidFill>
                <a:latin typeface="Calibri" pitchFamily="34" charset="0"/>
                <a:ea typeface="Calibri" pitchFamily="34" charset="-122"/>
                <a:cs typeface="Calibri" pitchFamily="34" charset="-120"/>
              </a:rPr>
              <a:t>Supervisor: Prof. Z. Azimifar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822960" y="502920"/>
            <a:ext cx="36576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822960" y="822960"/>
            <a:ext cx="9144000" cy="640080"/>
          </a:xfrm>
          <a:prstGeom prst="rect">
            <a:avLst/>
          </a:prstGeom>
          <a:noFill/>
          <a:ln/>
        </p:spPr>
        <p:txBody>
          <a:bodyPr wrap="square" lIns="0" tIns="0" rIns="0" bIns="0" rtlCol="0" anchor="ctr"/>
          <a:lstStyle/>
          <a:p>
            <a:pPr marL="0" indent="0">
              <a:buNone/>
            </a:pPr>
            <a:r>
              <a:rPr lang="en-US" sz="3200" b="1" dirty="0">
                <a:solidFill>
                  <a:srgbClr val="F3F6FA"/>
                </a:solidFill>
                <a:latin typeface="Cambria" pitchFamily="34" charset="0"/>
                <a:ea typeface="Cambria" pitchFamily="34" charset="-122"/>
                <a:cs typeface="Cambria" pitchFamily="34" charset="-120"/>
              </a:rPr>
              <a:t>What this deck covers</a:t>
            </a:r>
            <a:endParaRPr lang="en-US" sz="3200" dirty="0"/>
          </a:p>
        </p:txBody>
      </p:sp>
      <p:sp>
        <p:nvSpPr>
          <p:cNvPr id="4" name="Text 2"/>
          <p:cNvSpPr/>
          <p:nvPr/>
        </p:nvSpPr>
        <p:spPr>
          <a:xfrm>
            <a:off x="822960" y="1417320"/>
            <a:ext cx="8229600" cy="365760"/>
          </a:xfrm>
          <a:prstGeom prst="rect">
            <a:avLst/>
          </a:prstGeom>
          <a:noFill/>
          <a:ln/>
        </p:spPr>
        <p:txBody>
          <a:bodyPr wrap="square" lIns="0" tIns="0" rIns="0" bIns="0" rtlCol="0" anchor="ctr"/>
          <a:lstStyle/>
          <a:p>
            <a:pPr marL="0" indent="0">
              <a:buNone/>
            </a:pPr>
            <a:r>
              <a:rPr lang="en-US" sz="1300" dirty="0">
                <a:solidFill>
                  <a:srgbClr val="8C97AC"/>
                </a:solidFill>
                <a:latin typeface="Calibri" pitchFamily="34" charset="0"/>
                <a:ea typeface="Calibri" pitchFamily="34" charset="-122"/>
                <a:cs typeface="Calibri" pitchFamily="34" charset="-120"/>
              </a:rPr>
              <a:t>Structured to the five sections required by the Stage 1 guidelines, in order.</a:t>
            </a:r>
            <a:endParaRPr lang="en-US" sz="1300" dirty="0"/>
          </a:p>
        </p:txBody>
      </p:sp>
      <p:sp>
        <p:nvSpPr>
          <p:cNvPr id="5" name="Shape 3"/>
          <p:cNvSpPr/>
          <p:nvPr/>
        </p:nvSpPr>
        <p:spPr>
          <a:xfrm>
            <a:off x="822960" y="2057400"/>
            <a:ext cx="5074920" cy="1965960"/>
          </a:xfrm>
          <a:prstGeom prst="roundRect">
            <a:avLst>
              <a:gd name="adj" fmla="val 3721"/>
            </a:avLst>
          </a:prstGeom>
          <a:solidFill>
            <a:srgbClr val="141B29"/>
          </a:solidFill>
          <a:ln/>
        </p:spPr>
        <p:txBody>
          <a:bodyPr/>
          <a:lstStyle/>
          <a:p>
            <a:endParaRPr lang="en-GB"/>
          </a:p>
        </p:txBody>
      </p:sp>
      <p:sp>
        <p:nvSpPr>
          <p:cNvPr id="6" name="Shape 4"/>
          <p:cNvSpPr/>
          <p:nvPr/>
        </p:nvSpPr>
        <p:spPr>
          <a:xfrm>
            <a:off x="1097280" y="2331720"/>
            <a:ext cx="502920" cy="502920"/>
          </a:xfrm>
          <a:prstGeom prst="ellipse">
            <a:avLst/>
          </a:prstGeom>
          <a:solidFill>
            <a:srgbClr val="5FD4D6"/>
          </a:solidFill>
          <a:ln/>
        </p:spPr>
        <p:txBody>
          <a:bodyPr/>
          <a:lstStyle/>
          <a:p>
            <a:endParaRPr lang="en-GB"/>
          </a:p>
        </p:txBody>
      </p:sp>
      <p:sp>
        <p:nvSpPr>
          <p:cNvPr id="7" name="Text 5"/>
          <p:cNvSpPr/>
          <p:nvPr/>
        </p:nvSpPr>
        <p:spPr>
          <a:xfrm>
            <a:off x="1097280" y="2331720"/>
            <a:ext cx="502920" cy="502920"/>
          </a:xfrm>
          <a:prstGeom prst="rect">
            <a:avLst/>
          </a:prstGeom>
          <a:noFill/>
          <a:ln/>
        </p:spPr>
        <p:txBody>
          <a:bodyPr wrap="square" lIns="0" tIns="0" rIns="0" bIns="0" rtlCol="0" anchor="ctr"/>
          <a:lstStyle/>
          <a:p>
            <a:pPr marL="0" indent="0" algn="ctr">
              <a:buNone/>
            </a:pPr>
            <a:r>
              <a:rPr lang="en-US" sz="1600" b="1" dirty="0">
                <a:solidFill>
                  <a:srgbClr val="0B0F17"/>
                </a:solidFill>
                <a:latin typeface="Calibri" pitchFamily="34" charset="0"/>
                <a:ea typeface="Calibri" pitchFamily="34" charset="-122"/>
                <a:cs typeface="Calibri" pitchFamily="34" charset="-120"/>
              </a:rPr>
              <a:t>I</a:t>
            </a:r>
            <a:endParaRPr lang="en-US" sz="1600" dirty="0"/>
          </a:p>
        </p:txBody>
      </p:sp>
      <p:sp>
        <p:nvSpPr>
          <p:cNvPr id="8" name="Text 6"/>
          <p:cNvSpPr/>
          <p:nvPr/>
        </p:nvSpPr>
        <p:spPr>
          <a:xfrm>
            <a:off x="1783080" y="2350008"/>
            <a:ext cx="3886200" cy="457200"/>
          </a:xfrm>
          <a:prstGeom prst="rect">
            <a:avLst/>
          </a:prstGeom>
          <a:noFill/>
          <a:ln/>
        </p:spPr>
        <p:txBody>
          <a:bodyPr wrap="square" lIns="0" tIns="0" rIns="0" bIns="0" rtlCol="0" anchor="ctr"/>
          <a:lstStyle/>
          <a:p>
            <a:pPr marL="0" indent="0">
              <a:buNone/>
            </a:pPr>
            <a:r>
              <a:rPr lang="en-US" sz="1300" b="1" kern="0" spc="100" dirty="0">
                <a:solidFill>
                  <a:srgbClr val="E7B75F"/>
                </a:solidFill>
                <a:latin typeface="Calibri" pitchFamily="34" charset="0"/>
                <a:ea typeface="Calibri" pitchFamily="34" charset="-122"/>
                <a:cs typeface="Calibri" pitchFamily="34" charset="-120"/>
              </a:rPr>
              <a:t>PART I — THE PROBLEM</a:t>
            </a:r>
            <a:endParaRPr lang="en-US" sz="1300" dirty="0"/>
          </a:p>
        </p:txBody>
      </p:sp>
      <p:sp>
        <p:nvSpPr>
          <p:cNvPr id="9" name="Text 7"/>
          <p:cNvSpPr/>
          <p:nvPr/>
        </p:nvSpPr>
        <p:spPr>
          <a:xfrm>
            <a:off x="1143000" y="2926080"/>
            <a:ext cx="4434840" cy="960120"/>
          </a:xfrm>
          <a:prstGeom prst="rect">
            <a:avLst/>
          </a:prstGeom>
          <a:noFill/>
          <a:ln/>
        </p:spPr>
        <p:txBody>
          <a:bodyPr wrap="square" lIns="0" tIns="0" rIns="0" bIns="0" rtlCol="0" anchor="ctr"/>
          <a:lstStyle/>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04  Topic definition &amp; the core problem</a:t>
            </a:r>
            <a:endParaRPr lang="en-US" sz="1200" dirty="0"/>
          </a:p>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05  Why denoising is mathematically hard</a:t>
            </a:r>
            <a:endParaRPr lang="en-US" sz="1200" dirty="0"/>
          </a:p>
        </p:txBody>
      </p:sp>
      <p:sp>
        <p:nvSpPr>
          <p:cNvPr id="10" name="Shape 8"/>
          <p:cNvSpPr/>
          <p:nvPr/>
        </p:nvSpPr>
        <p:spPr>
          <a:xfrm>
            <a:off x="6400800" y="2057400"/>
            <a:ext cx="5074920" cy="1965960"/>
          </a:xfrm>
          <a:prstGeom prst="roundRect">
            <a:avLst>
              <a:gd name="adj" fmla="val 3721"/>
            </a:avLst>
          </a:prstGeom>
          <a:solidFill>
            <a:srgbClr val="141B29"/>
          </a:solidFill>
          <a:ln/>
        </p:spPr>
        <p:txBody>
          <a:bodyPr/>
          <a:lstStyle/>
          <a:p>
            <a:endParaRPr lang="en-GB"/>
          </a:p>
        </p:txBody>
      </p:sp>
      <p:sp>
        <p:nvSpPr>
          <p:cNvPr id="11" name="Shape 9"/>
          <p:cNvSpPr/>
          <p:nvPr/>
        </p:nvSpPr>
        <p:spPr>
          <a:xfrm>
            <a:off x="6675120" y="2331720"/>
            <a:ext cx="502920" cy="502920"/>
          </a:xfrm>
          <a:prstGeom prst="ellipse">
            <a:avLst/>
          </a:prstGeom>
          <a:solidFill>
            <a:srgbClr val="5FD4D6"/>
          </a:solidFill>
          <a:ln/>
        </p:spPr>
        <p:txBody>
          <a:bodyPr/>
          <a:lstStyle/>
          <a:p>
            <a:endParaRPr lang="en-GB"/>
          </a:p>
        </p:txBody>
      </p:sp>
      <p:sp>
        <p:nvSpPr>
          <p:cNvPr id="12" name="Text 10"/>
          <p:cNvSpPr/>
          <p:nvPr/>
        </p:nvSpPr>
        <p:spPr>
          <a:xfrm>
            <a:off x="6675120" y="2331720"/>
            <a:ext cx="502920" cy="502920"/>
          </a:xfrm>
          <a:prstGeom prst="rect">
            <a:avLst/>
          </a:prstGeom>
          <a:noFill/>
          <a:ln/>
        </p:spPr>
        <p:txBody>
          <a:bodyPr wrap="square" lIns="0" tIns="0" rIns="0" bIns="0" rtlCol="0" anchor="ctr"/>
          <a:lstStyle/>
          <a:p>
            <a:pPr marL="0" indent="0" algn="ctr">
              <a:buNone/>
            </a:pPr>
            <a:r>
              <a:rPr lang="en-US" sz="1600" b="1" dirty="0">
                <a:solidFill>
                  <a:srgbClr val="0B0F17"/>
                </a:solidFill>
                <a:latin typeface="Calibri" pitchFamily="34" charset="0"/>
                <a:ea typeface="Calibri" pitchFamily="34" charset="-122"/>
                <a:cs typeface="Calibri" pitchFamily="34" charset="-120"/>
              </a:rPr>
              <a:t>II</a:t>
            </a:r>
            <a:endParaRPr lang="en-US" sz="1600" dirty="0"/>
          </a:p>
        </p:txBody>
      </p:sp>
      <p:sp>
        <p:nvSpPr>
          <p:cNvPr id="13" name="Text 11"/>
          <p:cNvSpPr/>
          <p:nvPr/>
        </p:nvSpPr>
        <p:spPr>
          <a:xfrm>
            <a:off x="7360920" y="2350008"/>
            <a:ext cx="3886200" cy="457200"/>
          </a:xfrm>
          <a:prstGeom prst="rect">
            <a:avLst/>
          </a:prstGeom>
          <a:noFill/>
          <a:ln/>
        </p:spPr>
        <p:txBody>
          <a:bodyPr wrap="square" lIns="0" tIns="0" rIns="0" bIns="0" rtlCol="0" anchor="ctr"/>
          <a:lstStyle/>
          <a:p>
            <a:pPr marL="0" indent="0">
              <a:buNone/>
            </a:pPr>
            <a:r>
              <a:rPr lang="en-US" sz="1300" b="1" kern="0" spc="100" dirty="0">
                <a:solidFill>
                  <a:srgbClr val="E7B75F"/>
                </a:solidFill>
                <a:latin typeface="Calibri" pitchFamily="34" charset="0"/>
                <a:ea typeface="Calibri" pitchFamily="34" charset="-122"/>
                <a:cs typeface="Calibri" pitchFamily="34" charset="-120"/>
              </a:rPr>
              <a:t>PART II — THE EVOLUTION</a:t>
            </a:r>
            <a:endParaRPr lang="en-US" sz="1300" dirty="0"/>
          </a:p>
        </p:txBody>
      </p:sp>
      <p:sp>
        <p:nvSpPr>
          <p:cNvPr id="14" name="Text 12"/>
          <p:cNvSpPr/>
          <p:nvPr/>
        </p:nvSpPr>
        <p:spPr>
          <a:xfrm>
            <a:off x="6720840" y="2926080"/>
            <a:ext cx="4434840" cy="960120"/>
          </a:xfrm>
          <a:prstGeom prst="rect">
            <a:avLst/>
          </a:prstGeom>
          <a:noFill/>
          <a:ln/>
        </p:spPr>
        <p:txBody>
          <a:bodyPr wrap="square" lIns="0" tIns="0" rIns="0" bIns="0" rtlCol="0" anchor="ctr"/>
          <a:lstStyle/>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07  The visual evolutionary timeline</a:t>
            </a:r>
            <a:endParaRPr lang="en-US" sz="1200" dirty="0"/>
          </a:p>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08  The three bottlenecks</a:t>
            </a:r>
            <a:endParaRPr lang="en-US" sz="1200" dirty="0"/>
          </a:p>
        </p:txBody>
      </p:sp>
      <p:sp>
        <p:nvSpPr>
          <p:cNvPr id="15" name="Shape 13"/>
          <p:cNvSpPr/>
          <p:nvPr/>
        </p:nvSpPr>
        <p:spPr>
          <a:xfrm>
            <a:off x="822960" y="4343400"/>
            <a:ext cx="5074920" cy="1965960"/>
          </a:xfrm>
          <a:prstGeom prst="roundRect">
            <a:avLst>
              <a:gd name="adj" fmla="val 3721"/>
            </a:avLst>
          </a:prstGeom>
          <a:solidFill>
            <a:srgbClr val="141B29"/>
          </a:solidFill>
          <a:ln/>
        </p:spPr>
        <p:txBody>
          <a:bodyPr/>
          <a:lstStyle/>
          <a:p>
            <a:endParaRPr lang="en-GB"/>
          </a:p>
        </p:txBody>
      </p:sp>
      <p:sp>
        <p:nvSpPr>
          <p:cNvPr id="16" name="Shape 14"/>
          <p:cNvSpPr/>
          <p:nvPr/>
        </p:nvSpPr>
        <p:spPr>
          <a:xfrm>
            <a:off x="1097280" y="4617720"/>
            <a:ext cx="502920" cy="502920"/>
          </a:xfrm>
          <a:prstGeom prst="ellipse">
            <a:avLst/>
          </a:prstGeom>
          <a:solidFill>
            <a:srgbClr val="5FD4D6"/>
          </a:solidFill>
          <a:ln/>
        </p:spPr>
        <p:txBody>
          <a:bodyPr/>
          <a:lstStyle/>
          <a:p>
            <a:endParaRPr lang="en-GB"/>
          </a:p>
        </p:txBody>
      </p:sp>
      <p:sp>
        <p:nvSpPr>
          <p:cNvPr id="17" name="Text 15"/>
          <p:cNvSpPr/>
          <p:nvPr/>
        </p:nvSpPr>
        <p:spPr>
          <a:xfrm>
            <a:off x="1097280" y="4617720"/>
            <a:ext cx="502920" cy="502920"/>
          </a:xfrm>
          <a:prstGeom prst="rect">
            <a:avLst/>
          </a:prstGeom>
          <a:noFill/>
          <a:ln/>
        </p:spPr>
        <p:txBody>
          <a:bodyPr wrap="square" lIns="0" tIns="0" rIns="0" bIns="0" rtlCol="0" anchor="ctr"/>
          <a:lstStyle/>
          <a:p>
            <a:pPr marL="0" indent="0" algn="ctr">
              <a:buNone/>
            </a:pPr>
            <a:r>
              <a:rPr lang="en-US" sz="1600" b="1" dirty="0">
                <a:solidFill>
                  <a:srgbClr val="0B0F17"/>
                </a:solidFill>
                <a:latin typeface="Calibri" pitchFamily="34" charset="0"/>
                <a:ea typeface="Calibri" pitchFamily="34" charset="-122"/>
                <a:cs typeface="Calibri" pitchFamily="34" charset="-120"/>
              </a:rPr>
              <a:t>III</a:t>
            </a:r>
            <a:endParaRPr lang="en-US" sz="1600" dirty="0"/>
          </a:p>
        </p:txBody>
      </p:sp>
      <p:sp>
        <p:nvSpPr>
          <p:cNvPr id="18" name="Text 16"/>
          <p:cNvSpPr/>
          <p:nvPr/>
        </p:nvSpPr>
        <p:spPr>
          <a:xfrm>
            <a:off x="1783080" y="4636008"/>
            <a:ext cx="3886200" cy="457200"/>
          </a:xfrm>
          <a:prstGeom prst="rect">
            <a:avLst/>
          </a:prstGeom>
          <a:noFill/>
          <a:ln/>
        </p:spPr>
        <p:txBody>
          <a:bodyPr wrap="square" lIns="0" tIns="0" rIns="0" bIns="0" rtlCol="0" anchor="ctr"/>
          <a:lstStyle/>
          <a:p>
            <a:pPr marL="0" indent="0">
              <a:buNone/>
            </a:pPr>
            <a:r>
              <a:rPr lang="en-US" sz="1300" b="1" kern="0" spc="100" dirty="0">
                <a:solidFill>
                  <a:srgbClr val="E7B75F"/>
                </a:solidFill>
                <a:latin typeface="Calibri" pitchFamily="34" charset="0"/>
                <a:ea typeface="Calibri" pitchFamily="34" charset="-122"/>
                <a:cs typeface="Calibri" pitchFamily="34" charset="-120"/>
              </a:rPr>
              <a:t>PART III — THE SOURCES</a:t>
            </a:r>
            <a:endParaRPr lang="en-US" sz="1300" dirty="0"/>
          </a:p>
        </p:txBody>
      </p:sp>
      <p:sp>
        <p:nvSpPr>
          <p:cNvPr id="19" name="Text 17"/>
          <p:cNvSpPr/>
          <p:nvPr/>
        </p:nvSpPr>
        <p:spPr>
          <a:xfrm>
            <a:off x="1143000" y="5212080"/>
            <a:ext cx="4434840" cy="960120"/>
          </a:xfrm>
          <a:prstGeom prst="rect">
            <a:avLst/>
          </a:prstGeom>
          <a:noFill/>
          <a:ln/>
        </p:spPr>
        <p:txBody>
          <a:bodyPr wrap="square" lIns="0" tIns="0" rIns="0" bIns="0" rtlCol="0" anchor="ctr"/>
          <a:lstStyle/>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10  Master list — Category A</a:t>
            </a:r>
            <a:endParaRPr lang="en-US" sz="1200" dirty="0"/>
          </a:p>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11  Category B &amp; the 70/30 arithmetic</a:t>
            </a:r>
            <a:endParaRPr lang="en-US" sz="1200" dirty="0"/>
          </a:p>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12  Category B justification</a:t>
            </a:r>
            <a:endParaRPr lang="en-US" sz="1200" dirty="0"/>
          </a:p>
        </p:txBody>
      </p:sp>
      <p:sp>
        <p:nvSpPr>
          <p:cNvPr id="20" name="Shape 18"/>
          <p:cNvSpPr/>
          <p:nvPr/>
        </p:nvSpPr>
        <p:spPr>
          <a:xfrm>
            <a:off x="6400800" y="4343400"/>
            <a:ext cx="5074920" cy="1965960"/>
          </a:xfrm>
          <a:prstGeom prst="roundRect">
            <a:avLst>
              <a:gd name="adj" fmla="val 3721"/>
            </a:avLst>
          </a:prstGeom>
          <a:solidFill>
            <a:srgbClr val="141B29"/>
          </a:solidFill>
          <a:ln/>
        </p:spPr>
        <p:txBody>
          <a:bodyPr/>
          <a:lstStyle/>
          <a:p>
            <a:endParaRPr lang="en-GB"/>
          </a:p>
        </p:txBody>
      </p:sp>
      <p:sp>
        <p:nvSpPr>
          <p:cNvPr id="21" name="Shape 19"/>
          <p:cNvSpPr/>
          <p:nvPr/>
        </p:nvSpPr>
        <p:spPr>
          <a:xfrm>
            <a:off x="6675120" y="4617720"/>
            <a:ext cx="502920" cy="502920"/>
          </a:xfrm>
          <a:prstGeom prst="ellipse">
            <a:avLst/>
          </a:prstGeom>
          <a:solidFill>
            <a:srgbClr val="5FD4D6"/>
          </a:solidFill>
          <a:ln/>
        </p:spPr>
        <p:txBody>
          <a:bodyPr/>
          <a:lstStyle/>
          <a:p>
            <a:endParaRPr lang="en-GB"/>
          </a:p>
        </p:txBody>
      </p:sp>
      <p:sp>
        <p:nvSpPr>
          <p:cNvPr id="22" name="Text 20"/>
          <p:cNvSpPr/>
          <p:nvPr/>
        </p:nvSpPr>
        <p:spPr>
          <a:xfrm>
            <a:off x="6675120" y="4617720"/>
            <a:ext cx="502920" cy="502920"/>
          </a:xfrm>
          <a:prstGeom prst="rect">
            <a:avLst/>
          </a:prstGeom>
          <a:noFill/>
          <a:ln/>
        </p:spPr>
        <p:txBody>
          <a:bodyPr wrap="square" lIns="0" tIns="0" rIns="0" bIns="0" rtlCol="0" anchor="ctr"/>
          <a:lstStyle/>
          <a:p>
            <a:pPr marL="0" indent="0" algn="ctr">
              <a:buNone/>
            </a:pPr>
            <a:r>
              <a:rPr lang="en-US" sz="1600" b="1" dirty="0">
                <a:solidFill>
                  <a:srgbClr val="0B0F17"/>
                </a:solidFill>
                <a:latin typeface="Calibri" pitchFamily="34" charset="0"/>
                <a:ea typeface="Calibri" pitchFamily="34" charset="-122"/>
                <a:cs typeface="Calibri" pitchFamily="34" charset="-120"/>
              </a:rPr>
              <a:t>IV</a:t>
            </a:r>
            <a:endParaRPr lang="en-US" sz="1600" dirty="0"/>
          </a:p>
        </p:txBody>
      </p:sp>
      <p:sp>
        <p:nvSpPr>
          <p:cNvPr id="23" name="Text 21"/>
          <p:cNvSpPr/>
          <p:nvPr/>
        </p:nvSpPr>
        <p:spPr>
          <a:xfrm>
            <a:off x="7360920" y="4636008"/>
            <a:ext cx="3886200" cy="457200"/>
          </a:xfrm>
          <a:prstGeom prst="rect">
            <a:avLst/>
          </a:prstGeom>
          <a:noFill/>
          <a:ln/>
        </p:spPr>
        <p:txBody>
          <a:bodyPr wrap="square" lIns="0" tIns="0" rIns="0" bIns="0" rtlCol="0" anchor="ctr"/>
          <a:lstStyle/>
          <a:p>
            <a:pPr marL="0" indent="0">
              <a:buNone/>
            </a:pPr>
            <a:r>
              <a:rPr lang="en-US" sz="1300" b="1" kern="0" spc="100" dirty="0">
                <a:solidFill>
                  <a:srgbClr val="E7B75F"/>
                </a:solidFill>
                <a:latin typeface="Calibri" pitchFamily="34" charset="0"/>
                <a:ea typeface="Calibri" pitchFamily="34" charset="-122"/>
                <a:cs typeface="Calibri" pitchFamily="34" charset="-120"/>
              </a:rPr>
              <a:t>PART IV — PAPER BY PAPER</a:t>
            </a:r>
            <a:endParaRPr lang="en-US" sz="1300" dirty="0"/>
          </a:p>
        </p:txBody>
      </p:sp>
      <p:sp>
        <p:nvSpPr>
          <p:cNvPr id="24" name="Text 22"/>
          <p:cNvSpPr/>
          <p:nvPr/>
        </p:nvSpPr>
        <p:spPr>
          <a:xfrm>
            <a:off x="6720840" y="5212080"/>
            <a:ext cx="4434840" cy="960120"/>
          </a:xfrm>
          <a:prstGeom prst="rect">
            <a:avLst/>
          </a:prstGeom>
          <a:noFill/>
          <a:ln/>
        </p:spPr>
        <p:txBody>
          <a:bodyPr wrap="square" lIns="0" tIns="0" rIns="0" bIns="0" rtlCol="0" anchor="ctr"/>
          <a:lstStyle/>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14–24  A1–A11, one slide each</a:t>
            </a:r>
            <a:endParaRPr lang="en-US" sz="1200" dirty="0"/>
          </a:p>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25  How the papers connect</a:t>
            </a:r>
            <a:endParaRPr lang="en-US" sz="1200" dirty="0"/>
          </a:p>
          <a:p>
            <a:pPr marL="0" indent="0">
              <a:lnSpc>
                <a:spcPct val="135000"/>
              </a:lnSpc>
              <a:buNone/>
            </a:pPr>
            <a:r>
              <a:rPr lang="en-US" sz="1200" dirty="0">
                <a:solidFill>
                  <a:srgbClr val="F3F6FA"/>
                </a:solidFill>
                <a:latin typeface="Calibri" pitchFamily="34" charset="0"/>
                <a:ea typeface="Calibri" pitchFamily="34" charset="-122"/>
                <a:cs typeface="Calibri" pitchFamily="34" charset="-120"/>
              </a:rPr>
              <a:t>26  The direction we propose</a:t>
            </a:r>
            <a:endParaRPr lang="en-US" sz="1200" dirty="0"/>
          </a:p>
        </p:txBody>
      </p:sp>
      <p:sp>
        <p:nvSpPr>
          <p:cNvPr id="25" name="Text 23"/>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marL="0" indent="0">
              <a:buNone/>
            </a:pPr>
            <a:r>
              <a:rPr lang="en-US" sz="1400" b="1" kern="0" spc="300" dirty="0">
                <a:solidFill>
                  <a:srgbClr val="5FD4D6"/>
                </a:solidFill>
                <a:latin typeface="Calibri" pitchFamily="34" charset="0"/>
                <a:ea typeface="Calibri" pitchFamily="34" charset="-122"/>
                <a:cs typeface="Calibri" pitchFamily="34" charset="-120"/>
              </a:rPr>
              <a:t>PART I</a:t>
            </a:r>
            <a:endParaRPr lang="en-US" sz="1400" dirty="0"/>
          </a:p>
        </p:txBody>
      </p:sp>
      <p:sp>
        <p:nvSpPr>
          <p:cNvPr id="3" name="Text 1"/>
          <p:cNvSpPr/>
          <p:nvPr/>
        </p:nvSpPr>
        <p:spPr>
          <a:xfrm>
            <a:off x="822960" y="2880360"/>
            <a:ext cx="10332720" cy="1188720"/>
          </a:xfrm>
          <a:prstGeom prst="rect">
            <a:avLst/>
          </a:prstGeom>
          <a:noFill/>
          <a:ln/>
        </p:spPr>
        <p:txBody>
          <a:bodyPr wrap="square" lIns="0" tIns="0" rIns="0" bIns="0" rtlCol="0" anchor="ctr"/>
          <a:lstStyle/>
          <a:p>
            <a:pPr marL="0" indent="0">
              <a:buNone/>
            </a:pPr>
            <a:r>
              <a:rPr lang="en-US" sz="4000" b="1" dirty="0">
                <a:solidFill>
                  <a:srgbClr val="F3F6FA"/>
                </a:solidFill>
                <a:latin typeface="Cambria" pitchFamily="34" charset="0"/>
                <a:ea typeface="Cambria" pitchFamily="34" charset="-122"/>
                <a:cs typeface="Cambria" pitchFamily="34" charset="-120"/>
              </a:rPr>
              <a:t>The problem</a:t>
            </a:r>
            <a:endParaRPr lang="en-US" sz="4000" dirty="0"/>
          </a:p>
        </p:txBody>
      </p:sp>
      <p:sp>
        <p:nvSpPr>
          <p:cNvPr id="4" name="Text 2"/>
          <p:cNvSpPr/>
          <p:nvPr/>
        </p:nvSpPr>
        <p:spPr>
          <a:xfrm>
            <a:off x="822960" y="3977640"/>
            <a:ext cx="8686800" cy="731520"/>
          </a:xfrm>
          <a:prstGeom prst="rect">
            <a:avLst/>
          </a:prstGeom>
          <a:noFill/>
          <a:ln/>
        </p:spPr>
        <p:txBody>
          <a:bodyPr wrap="square" lIns="0" tIns="0" rIns="0" bIns="0" rtlCol="0" anchor="ctr"/>
          <a:lstStyle/>
          <a:p>
            <a:pPr marL="0" indent="0">
              <a:lnSpc>
                <a:spcPct val="130000"/>
              </a:lnSpc>
              <a:buNone/>
            </a:pPr>
            <a:r>
              <a:rPr lang="en-US" sz="1400" dirty="0">
                <a:solidFill>
                  <a:srgbClr val="8C97AC"/>
                </a:solidFill>
                <a:latin typeface="Calibri" pitchFamily="34" charset="0"/>
                <a:ea typeface="Calibri" pitchFamily="34" charset="-122"/>
                <a:cs typeface="Calibri" pitchFamily="34" charset="-120"/>
              </a:rPr>
              <a:t>One equation with two unknowns per pixel. Every method in this review answers a single question — where does the prior come from?</a:t>
            </a:r>
            <a:endParaRPr lang="en-US" sz="1400" dirty="0"/>
          </a:p>
        </p:txBody>
      </p:sp>
      <p:sp>
        <p:nvSpPr>
          <p:cNvPr id="5" name="Text 3"/>
          <p:cNvSpPr/>
          <p:nvPr/>
        </p:nvSpPr>
        <p:spPr>
          <a:xfrm>
            <a:off x="8899855" y="1280160"/>
            <a:ext cx="2743200" cy="3657600"/>
          </a:xfrm>
          <a:prstGeom prst="rect">
            <a:avLst/>
          </a:prstGeom>
          <a:noFill/>
          <a:ln/>
        </p:spPr>
        <p:txBody>
          <a:bodyPr wrap="square" lIns="0" tIns="0" rIns="0" bIns="0" rtlCol="0" anchor="ctr"/>
          <a:lstStyle/>
          <a:p>
            <a:pPr marL="0" indent="0" algn="r">
              <a:buNone/>
            </a:pPr>
            <a:r>
              <a:rPr lang="en-US" sz="20000" b="1" dirty="0">
                <a:solidFill>
                  <a:srgbClr val="1B2436"/>
                </a:solidFill>
                <a:latin typeface="Cambria" pitchFamily="34" charset="0"/>
                <a:ea typeface="Cambria" pitchFamily="34" charset="-122"/>
                <a:cs typeface="Cambria" pitchFamily="34" charset="-120"/>
              </a:rPr>
              <a:t>I</a:t>
            </a:r>
            <a:endParaRPr lang="en-US" sz="20000" dirty="0"/>
          </a:p>
        </p:txBody>
      </p:sp>
      <p:sp>
        <p:nvSpPr>
          <p:cNvPr id="6" name="Text 4"/>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§1 · TOPIC DEFINITION &amp; THE CORE PROBLEM</a:t>
            </a:r>
            <a:endParaRPr lang="en-US" sz="1100" dirty="0"/>
          </a:p>
        </p:txBody>
      </p:sp>
      <p:sp>
        <p:nvSpPr>
          <p:cNvPr id="3" name="Text 1"/>
          <p:cNvSpPr/>
          <p:nvPr/>
        </p:nvSpPr>
        <p:spPr>
          <a:xfrm>
            <a:off x="640080" y="777240"/>
            <a:ext cx="10881360" cy="640080"/>
          </a:xfrm>
          <a:prstGeom prst="rect">
            <a:avLst/>
          </a:prstGeom>
          <a:noFill/>
          <a:ln/>
        </p:spPr>
        <p:txBody>
          <a:bodyPr wrap="square" lIns="0" tIns="0" rIns="0" bIns="0" rtlCol="0" anchor="ctr"/>
          <a:lstStyle/>
          <a:p>
            <a:pPr marL="0" indent="0">
              <a:buNone/>
            </a:pPr>
            <a:r>
              <a:rPr lang="en-US" sz="2600" b="1" dirty="0">
                <a:solidFill>
                  <a:srgbClr val="F3F6FA"/>
                </a:solidFill>
                <a:latin typeface="Cambria" pitchFamily="34" charset="0"/>
                <a:ea typeface="Cambria" pitchFamily="34" charset="-122"/>
                <a:cs typeface="Cambria" pitchFamily="34" charset="-120"/>
              </a:rPr>
              <a:t>Recovering a clean image from a corrupted observation</a:t>
            </a:r>
            <a:endParaRPr lang="en-US" sz="2600" dirty="0"/>
          </a:p>
        </p:txBody>
      </p:sp>
      <p:sp>
        <p:nvSpPr>
          <p:cNvPr id="4" name="Text 2"/>
          <p:cNvSpPr/>
          <p:nvPr/>
        </p:nvSpPr>
        <p:spPr>
          <a:xfrm>
            <a:off x="640080" y="1600200"/>
            <a:ext cx="5120640" cy="274320"/>
          </a:xfrm>
          <a:prstGeom prst="rect">
            <a:avLst/>
          </a:prstGeom>
          <a:noFill/>
          <a:ln/>
        </p:spPr>
        <p:txBody>
          <a:bodyPr wrap="square" lIns="0" tIns="0" rIns="0" bIns="0" rtlCol="0" anchor="ctr"/>
          <a:lstStyle/>
          <a:p>
            <a:pPr marL="0" indent="0" algn="just">
              <a:buNone/>
            </a:pPr>
            <a:r>
              <a:rPr lang="en-US" sz="1100" b="1" kern="0" spc="150" dirty="0">
                <a:solidFill>
                  <a:srgbClr val="E7B75F"/>
                </a:solidFill>
                <a:latin typeface="Calibri" pitchFamily="34" charset="0"/>
                <a:ea typeface="Calibri" pitchFamily="34" charset="-122"/>
                <a:cs typeface="Calibri" pitchFamily="34" charset="-120"/>
              </a:rPr>
              <a:t>THE TOPIC</a:t>
            </a:r>
            <a:endParaRPr lang="en-US" sz="1100" dirty="0"/>
          </a:p>
        </p:txBody>
      </p:sp>
      <p:sp>
        <p:nvSpPr>
          <p:cNvPr id="5" name="Text 3"/>
          <p:cNvSpPr/>
          <p:nvPr/>
        </p:nvSpPr>
        <p:spPr>
          <a:xfrm>
            <a:off x="640080" y="1920240"/>
            <a:ext cx="5120640" cy="1554480"/>
          </a:xfrm>
          <a:prstGeom prst="rect">
            <a:avLst/>
          </a:prstGeom>
          <a:noFill/>
          <a:ln/>
        </p:spPr>
        <p:txBody>
          <a:bodyPr wrap="square" lIns="0" tIns="0" rIns="0" bIns="0" rtlCol="0" anchor="ctr"/>
          <a:lstStyle/>
          <a:p>
            <a:pPr marL="0" indent="0" algn="just">
              <a:lnSpc>
                <a:spcPct val="130000"/>
              </a:lnSpc>
              <a:buNone/>
            </a:pPr>
            <a:r>
              <a:rPr lang="en-US" sz="1250" dirty="0">
                <a:solidFill>
                  <a:srgbClr val="F3F6FA"/>
                </a:solidFill>
                <a:latin typeface="Calibri" pitchFamily="34" charset="0"/>
                <a:ea typeface="Calibri" pitchFamily="34" charset="-122"/>
                <a:cs typeface="Calibri" pitchFamily="34" charset="-120"/>
              </a:rPr>
              <a:t>Image denoising. Selected because the literature treats it as foundational, not merely representative. SCUNet calls it perhaps the most fundamental image restoration problem: a testbed for evaluating image priors and optimisation algorithms, pluggable into larger restoration pipelines, and underpinning downstream work broadly.</a:t>
            </a:r>
            <a:endParaRPr lang="en-US" sz="1250" dirty="0"/>
          </a:p>
        </p:txBody>
      </p:sp>
      <p:sp>
        <p:nvSpPr>
          <p:cNvPr id="6" name="Text 4"/>
          <p:cNvSpPr/>
          <p:nvPr/>
        </p:nvSpPr>
        <p:spPr>
          <a:xfrm>
            <a:off x="640080" y="3611880"/>
            <a:ext cx="5120640" cy="274320"/>
          </a:xfrm>
          <a:prstGeom prst="rect">
            <a:avLst/>
          </a:prstGeom>
          <a:noFill/>
          <a:ln/>
        </p:spPr>
        <p:txBody>
          <a:bodyPr wrap="square" lIns="0" tIns="0" rIns="0" bIns="0" rtlCol="0" anchor="ctr"/>
          <a:lstStyle/>
          <a:p>
            <a:pPr marL="0" indent="0" algn="just">
              <a:buNone/>
            </a:pPr>
            <a:r>
              <a:rPr lang="en-US" sz="1100" b="1" kern="0" spc="150" dirty="0">
                <a:solidFill>
                  <a:srgbClr val="E7B75F"/>
                </a:solidFill>
                <a:latin typeface="Calibri" pitchFamily="34" charset="0"/>
                <a:ea typeface="Calibri" pitchFamily="34" charset="-122"/>
                <a:cs typeface="Calibri" pitchFamily="34" charset="-120"/>
              </a:rPr>
              <a:t>WHY IT STILL MATTERS</a:t>
            </a:r>
            <a:endParaRPr lang="en-US" sz="1100" dirty="0"/>
          </a:p>
        </p:txBody>
      </p:sp>
      <p:sp>
        <p:nvSpPr>
          <p:cNvPr id="7" name="Text 5"/>
          <p:cNvSpPr/>
          <p:nvPr/>
        </p:nvSpPr>
        <p:spPr>
          <a:xfrm>
            <a:off x="640080" y="3931920"/>
            <a:ext cx="5120640" cy="1920240"/>
          </a:xfrm>
          <a:prstGeom prst="rect">
            <a:avLst/>
          </a:prstGeom>
          <a:noFill/>
          <a:ln/>
        </p:spPr>
        <p:txBody>
          <a:bodyPr wrap="square" lIns="0" tIns="0" rIns="0" bIns="0" rtlCol="0" anchor="ctr"/>
          <a:lstStyle/>
          <a:p>
            <a:pPr marL="0" indent="0" algn="just">
              <a:lnSpc>
                <a:spcPct val="130000"/>
              </a:lnSpc>
              <a:buNone/>
            </a:pPr>
            <a:r>
              <a:rPr lang="en-US" sz="1200" b="1" dirty="0">
                <a:solidFill>
                  <a:srgbClr val="F3F6FA"/>
                </a:solidFill>
                <a:latin typeface="Calibri" pitchFamily="34" charset="0"/>
                <a:ea typeface="Calibri" pitchFamily="34" charset="-122"/>
                <a:cs typeface="Calibri" pitchFamily="34" charset="-120"/>
              </a:rPr>
              <a:t>Medical necessity.  </a:t>
            </a:r>
            <a:r>
              <a:rPr lang="en-US" sz="1200" dirty="0">
                <a:solidFill>
                  <a:srgbClr val="8C97AC"/>
                </a:solidFill>
                <a:latin typeface="Calibri" pitchFamily="34" charset="0"/>
                <a:ea typeface="Calibri" pitchFamily="34" charset="-122"/>
                <a:cs typeface="Calibri" pitchFamily="34" charset="-120"/>
              </a:rPr>
              <a:t>ZS-N2N motivates its work by noting that reconstructing fine detail is especially important for medical images, where fine details are necessary for accurate diagnosis.
</a:t>
            </a:r>
            <a:r>
              <a:rPr lang="en-US" sz="1200" b="1" dirty="0">
                <a:solidFill>
                  <a:srgbClr val="F3F6FA"/>
                </a:solidFill>
                <a:latin typeface="Calibri" pitchFamily="34" charset="0"/>
                <a:ea typeface="Calibri" pitchFamily="34" charset="-122"/>
                <a:cs typeface="Calibri" pitchFamily="34" charset="-120"/>
              </a:rPr>
              <a:t>Still unsolved.  </a:t>
            </a:r>
            <a:r>
              <a:rPr lang="en-US" sz="1200" dirty="0">
                <a:solidFill>
                  <a:srgbClr val="8C97AC"/>
                </a:solidFill>
                <a:latin typeface="Calibri" pitchFamily="34" charset="0"/>
                <a:ea typeface="Calibri" pitchFamily="34" charset="-122"/>
                <a:cs typeface="Calibri" pitchFamily="34" charset="-120"/>
              </a:rPr>
              <a:t>SCUNet, published 2023, states that existing methods mostly rely on simple noise assumptions and that a general-purpose blind denoising method for real images remains unsolved.</a:t>
            </a:r>
            <a:endParaRPr lang="en-US" sz="1200" dirty="0"/>
          </a:p>
        </p:txBody>
      </p:sp>
      <p:sp>
        <p:nvSpPr>
          <p:cNvPr id="8" name="Shape 6"/>
          <p:cNvSpPr/>
          <p:nvPr/>
        </p:nvSpPr>
        <p:spPr>
          <a:xfrm>
            <a:off x="6263640" y="1600200"/>
            <a:ext cx="5257800" cy="2834640"/>
          </a:xfrm>
          <a:prstGeom prst="roundRect">
            <a:avLst>
              <a:gd name="adj" fmla="val 2581"/>
            </a:avLst>
          </a:prstGeom>
          <a:solidFill>
            <a:srgbClr val="141B29"/>
          </a:solidFill>
          <a:ln/>
        </p:spPr>
        <p:txBody>
          <a:bodyPr/>
          <a:lstStyle/>
          <a:p>
            <a:endParaRPr lang="en-GB"/>
          </a:p>
        </p:txBody>
      </p:sp>
      <p:sp>
        <p:nvSpPr>
          <p:cNvPr id="9" name="Text 7"/>
          <p:cNvSpPr/>
          <p:nvPr/>
        </p:nvSpPr>
        <p:spPr>
          <a:xfrm>
            <a:off x="6629400" y="1874520"/>
            <a:ext cx="4526280" cy="365760"/>
          </a:xfrm>
          <a:prstGeom prst="rect">
            <a:avLst/>
          </a:prstGeom>
          <a:noFill/>
          <a:ln/>
        </p:spPr>
        <p:txBody>
          <a:bodyPr wrap="square" lIns="0" tIns="0" rIns="0" bIns="0" rtlCol="0" anchor="ctr"/>
          <a:lstStyle/>
          <a:p>
            <a:pPr marL="0" indent="0">
              <a:buNone/>
            </a:pPr>
            <a:r>
              <a:rPr lang="en-US" sz="1100" b="1" kern="0" spc="100" dirty="0">
                <a:solidFill>
                  <a:srgbClr val="5FD4D6"/>
                </a:solidFill>
                <a:latin typeface="Calibri" pitchFamily="34" charset="0"/>
                <a:ea typeface="Calibri" pitchFamily="34" charset="-122"/>
                <a:cs typeface="Calibri" pitchFamily="34" charset="-120"/>
              </a:rPr>
              <a:t>THE DEGRADATION MODEL — FROM THE ANCHOR PAPER</a:t>
            </a:r>
            <a:endParaRPr lang="en-US" sz="1100" dirty="0"/>
          </a:p>
        </p:txBody>
      </p:sp>
      <p:sp>
        <p:nvSpPr>
          <p:cNvPr id="10" name="Text 8"/>
          <p:cNvSpPr/>
          <p:nvPr/>
        </p:nvSpPr>
        <p:spPr>
          <a:xfrm>
            <a:off x="6629400" y="2331720"/>
            <a:ext cx="4526280" cy="822960"/>
          </a:xfrm>
          <a:prstGeom prst="rect">
            <a:avLst/>
          </a:prstGeom>
          <a:noFill/>
          <a:ln/>
        </p:spPr>
        <p:txBody>
          <a:bodyPr wrap="square" lIns="0" tIns="0" rIns="0" bIns="0" rtlCol="0" anchor="ctr"/>
          <a:lstStyle/>
          <a:p>
            <a:pPr marL="0" indent="0">
              <a:buNone/>
            </a:pPr>
            <a:r>
              <a:rPr lang="en-US" sz="4200" b="1" dirty="0">
                <a:solidFill>
                  <a:srgbClr val="F3F6FA"/>
                </a:solidFill>
                <a:latin typeface="Cambria" pitchFamily="34" charset="0"/>
                <a:ea typeface="Cambria" pitchFamily="34" charset="-122"/>
                <a:cs typeface="Cambria" pitchFamily="34" charset="-120"/>
              </a:rPr>
              <a:t>y = x + v</a:t>
            </a:r>
            <a:endParaRPr lang="en-US" sz="4200" dirty="0"/>
          </a:p>
        </p:txBody>
      </p:sp>
      <p:sp>
        <p:nvSpPr>
          <p:cNvPr id="11" name="Text 9"/>
          <p:cNvSpPr/>
          <p:nvPr/>
        </p:nvSpPr>
        <p:spPr>
          <a:xfrm>
            <a:off x="6629400" y="3200400"/>
            <a:ext cx="4526280" cy="914400"/>
          </a:xfrm>
          <a:prstGeom prst="rect">
            <a:avLst/>
          </a:prstGeom>
          <a:noFill/>
          <a:ln/>
        </p:spPr>
        <p:txBody>
          <a:bodyPr wrap="square" lIns="0" tIns="0" rIns="0" bIns="0" rtlCol="0" anchor="ctr"/>
          <a:lstStyle/>
          <a:p>
            <a:pPr marL="0" indent="0">
              <a:lnSpc>
                <a:spcPct val="135000"/>
              </a:lnSpc>
              <a:buNone/>
            </a:pPr>
            <a:r>
              <a:rPr lang="en-US" sz="1250" dirty="0">
                <a:solidFill>
                  <a:srgbClr val="F3F6FA"/>
                </a:solidFill>
                <a:latin typeface="Calibri" pitchFamily="34" charset="0"/>
                <a:ea typeface="Calibri" pitchFamily="34" charset="-122"/>
                <a:cs typeface="Calibri" pitchFamily="34" charset="-120"/>
              </a:rPr>
              <a:t>Recover clean image x from noisy observation y. The common assumption is that v is additive white Gaussian noise with standard deviation σ.</a:t>
            </a:r>
            <a:endParaRPr lang="en-US" sz="1250" dirty="0"/>
          </a:p>
        </p:txBody>
      </p:sp>
      <p:sp>
        <p:nvSpPr>
          <p:cNvPr id="12" name="Text 10"/>
          <p:cNvSpPr/>
          <p:nvPr/>
        </p:nvSpPr>
        <p:spPr>
          <a:xfrm>
            <a:off x="6629400" y="3977640"/>
            <a:ext cx="4526280" cy="320040"/>
          </a:xfrm>
          <a:prstGeom prst="rect">
            <a:avLst/>
          </a:prstGeom>
          <a:noFill/>
          <a:ln/>
        </p:spPr>
        <p:txBody>
          <a:bodyPr wrap="square" lIns="0" tIns="0" rIns="0" bIns="0" rtlCol="0" anchor="ctr"/>
          <a:lstStyle/>
          <a:p>
            <a:pPr marL="0" indent="0">
              <a:buNone/>
            </a:pPr>
            <a:r>
              <a:rPr lang="en-US" sz="1100" i="1" dirty="0">
                <a:solidFill>
                  <a:srgbClr val="8C97AC"/>
                </a:solidFill>
                <a:latin typeface="Calibri" pitchFamily="34" charset="0"/>
                <a:ea typeface="Calibri" pitchFamily="34" charset="-122"/>
                <a:cs typeface="Calibri" pitchFamily="34" charset="-120"/>
              </a:rPr>
              <a:t>— DnCNN, §I</a:t>
            </a:r>
            <a:endParaRPr lang="en-US" sz="1100" dirty="0"/>
          </a:p>
        </p:txBody>
      </p:sp>
      <p:sp>
        <p:nvSpPr>
          <p:cNvPr id="13" name="Shape 11"/>
          <p:cNvSpPr/>
          <p:nvPr/>
        </p:nvSpPr>
        <p:spPr>
          <a:xfrm>
            <a:off x="6263640" y="4663440"/>
            <a:ext cx="5257800" cy="777240"/>
          </a:xfrm>
          <a:prstGeom prst="roundRect">
            <a:avLst>
              <a:gd name="adj" fmla="val 9412"/>
            </a:avLst>
          </a:prstGeom>
          <a:solidFill>
            <a:srgbClr val="1B2436"/>
          </a:solidFill>
          <a:ln/>
        </p:spPr>
        <p:txBody>
          <a:bodyPr/>
          <a:lstStyle/>
          <a:p>
            <a:endParaRPr lang="en-GB"/>
          </a:p>
        </p:txBody>
      </p:sp>
      <p:sp>
        <p:nvSpPr>
          <p:cNvPr id="14" name="Text 12"/>
          <p:cNvSpPr/>
          <p:nvPr/>
        </p:nvSpPr>
        <p:spPr>
          <a:xfrm>
            <a:off x="6583680" y="4663440"/>
            <a:ext cx="4617720" cy="777240"/>
          </a:xfrm>
          <a:prstGeom prst="rect">
            <a:avLst/>
          </a:prstGeom>
          <a:noFill/>
          <a:ln/>
        </p:spPr>
        <p:txBody>
          <a:bodyPr wrap="square" lIns="0" tIns="0" rIns="0" bIns="0" rtlCol="0" anchor="ctr"/>
          <a:lstStyle/>
          <a:p>
            <a:pPr marL="0" indent="0">
              <a:lnSpc>
                <a:spcPct val="125000"/>
              </a:lnSpc>
              <a:buNone/>
            </a:pPr>
            <a:r>
              <a:rPr lang="en-US" sz="1250" i="1" dirty="0">
                <a:solidFill>
                  <a:srgbClr val="E7B75F"/>
                </a:solidFill>
                <a:latin typeface="Calibri" pitchFamily="34" charset="0"/>
                <a:ea typeface="Calibri" pitchFamily="34" charset="-122"/>
                <a:cs typeface="Calibri" pitchFamily="34" charset="-120"/>
              </a:rPr>
              <a:t>This is the sentence that keeps the project from being a history lesson: the problem is open, not closed.</a:t>
            </a:r>
            <a:endParaRPr lang="en-US" sz="1250" dirty="0"/>
          </a:p>
        </p:txBody>
      </p:sp>
      <p:sp>
        <p:nvSpPr>
          <p:cNvPr id="15" name="Text 13"/>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lgn="just">
              <a:buNone/>
            </a:pPr>
            <a:r>
              <a:rPr lang="en-US" sz="1100" b="1" kern="0" spc="200" dirty="0">
                <a:solidFill>
                  <a:srgbClr val="5FD4D6"/>
                </a:solidFill>
                <a:latin typeface="Calibri" pitchFamily="34" charset="0"/>
                <a:ea typeface="Calibri" pitchFamily="34" charset="-122"/>
                <a:cs typeface="Calibri" pitchFamily="34" charset="-120"/>
              </a:rPr>
              <a:t>§1 · THE INHERENT MATHEMATICAL &amp; VISUAL CHALLENGES</a:t>
            </a:r>
            <a:endParaRPr lang="en-US" sz="1100" dirty="0"/>
          </a:p>
        </p:txBody>
      </p:sp>
      <p:sp>
        <p:nvSpPr>
          <p:cNvPr id="3" name="Text 1"/>
          <p:cNvSpPr/>
          <p:nvPr/>
        </p:nvSpPr>
        <p:spPr>
          <a:xfrm>
            <a:off x="640080" y="777240"/>
            <a:ext cx="10881360" cy="640080"/>
          </a:xfrm>
          <a:prstGeom prst="rect">
            <a:avLst/>
          </a:prstGeom>
          <a:noFill/>
          <a:ln/>
        </p:spPr>
        <p:txBody>
          <a:bodyPr wrap="square" lIns="0" tIns="0" rIns="0" bIns="0" rtlCol="0" anchor="ctr"/>
          <a:lstStyle/>
          <a:p>
            <a:pPr marL="0" indent="0" algn="just">
              <a:buNone/>
            </a:pPr>
            <a:r>
              <a:rPr lang="en-US" sz="2600" b="1" dirty="0">
                <a:solidFill>
                  <a:srgbClr val="F3F6FA"/>
                </a:solidFill>
                <a:latin typeface="Cambria" pitchFamily="34" charset="0"/>
                <a:ea typeface="Cambria" pitchFamily="34" charset="-122"/>
                <a:cs typeface="Cambria" pitchFamily="34" charset="-120"/>
              </a:rPr>
              <a:t>Three difficulties, each stated by a paper in our list</a:t>
            </a:r>
            <a:endParaRPr lang="en-US" sz="2600" dirty="0"/>
          </a:p>
        </p:txBody>
      </p:sp>
      <p:sp>
        <p:nvSpPr>
          <p:cNvPr id="4" name="Shape 2"/>
          <p:cNvSpPr/>
          <p:nvPr/>
        </p:nvSpPr>
        <p:spPr>
          <a:xfrm>
            <a:off x="640080" y="1600200"/>
            <a:ext cx="3429000" cy="3246120"/>
          </a:xfrm>
          <a:prstGeom prst="roundRect">
            <a:avLst>
              <a:gd name="adj" fmla="val 2254"/>
            </a:avLst>
          </a:prstGeom>
          <a:solidFill>
            <a:srgbClr val="141B29"/>
          </a:solidFill>
          <a:ln/>
        </p:spPr>
        <p:txBody>
          <a:bodyPr/>
          <a:lstStyle/>
          <a:p>
            <a:pPr algn="just"/>
            <a:endParaRPr lang="en-GB"/>
          </a:p>
        </p:txBody>
      </p:sp>
      <p:sp>
        <p:nvSpPr>
          <p:cNvPr id="5" name="Shape 3"/>
          <p:cNvSpPr/>
          <p:nvPr/>
        </p:nvSpPr>
        <p:spPr>
          <a:xfrm>
            <a:off x="960120" y="1920240"/>
            <a:ext cx="457200" cy="457200"/>
          </a:xfrm>
          <a:prstGeom prst="ellipse">
            <a:avLst/>
          </a:prstGeom>
          <a:solidFill>
            <a:srgbClr val="E7B75F"/>
          </a:solidFill>
          <a:ln/>
        </p:spPr>
        <p:txBody>
          <a:bodyPr/>
          <a:lstStyle/>
          <a:p>
            <a:pPr algn="just"/>
            <a:endParaRPr lang="en-GB"/>
          </a:p>
        </p:txBody>
      </p:sp>
      <p:sp>
        <p:nvSpPr>
          <p:cNvPr id="6" name="Text 4"/>
          <p:cNvSpPr/>
          <p:nvPr/>
        </p:nvSpPr>
        <p:spPr>
          <a:xfrm>
            <a:off x="960120" y="1920240"/>
            <a:ext cx="457200" cy="457200"/>
          </a:xfrm>
          <a:prstGeom prst="rect">
            <a:avLst/>
          </a:prstGeom>
          <a:noFill/>
          <a:ln/>
        </p:spPr>
        <p:txBody>
          <a:bodyPr wrap="square" lIns="0" tIns="0" rIns="0" bIns="0" rtlCol="0" anchor="ctr"/>
          <a:lstStyle/>
          <a:p>
            <a:pPr marL="0" indent="0" algn="ctr">
              <a:buNone/>
            </a:pPr>
            <a:r>
              <a:rPr lang="en-US" sz="1600" b="1" dirty="0">
                <a:solidFill>
                  <a:srgbClr val="0B0F17"/>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60120" y="2560320"/>
            <a:ext cx="2788920" cy="685800"/>
          </a:xfrm>
          <a:prstGeom prst="rect">
            <a:avLst/>
          </a:prstGeom>
          <a:noFill/>
          <a:ln/>
        </p:spPr>
        <p:txBody>
          <a:bodyPr wrap="square" lIns="0" tIns="0" rIns="0" bIns="0" rtlCol="0" anchor="ctr"/>
          <a:lstStyle/>
          <a:p>
            <a:pPr marL="0" indent="0" algn="just">
              <a:lnSpc>
                <a:spcPct val="110000"/>
              </a:lnSpc>
              <a:buNone/>
            </a:pPr>
            <a:r>
              <a:rPr lang="en-US" sz="1650" b="1" dirty="0">
                <a:solidFill>
                  <a:srgbClr val="F3F6FA"/>
                </a:solidFill>
                <a:latin typeface="Cambria" pitchFamily="34" charset="0"/>
                <a:ea typeface="Cambria" pitchFamily="34" charset="-122"/>
                <a:cs typeface="Cambria" pitchFamily="34" charset="-120"/>
              </a:rPr>
              <a:t>The problem is ill-posed</a:t>
            </a:r>
            <a:endParaRPr lang="en-US" sz="1650" dirty="0"/>
          </a:p>
        </p:txBody>
      </p:sp>
      <p:sp>
        <p:nvSpPr>
          <p:cNvPr id="8" name="Text 6"/>
          <p:cNvSpPr/>
          <p:nvPr/>
        </p:nvSpPr>
        <p:spPr>
          <a:xfrm>
            <a:off x="960120" y="3291840"/>
            <a:ext cx="2788920" cy="1325880"/>
          </a:xfrm>
          <a:prstGeom prst="rect">
            <a:avLst/>
          </a:prstGeom>
          <a:noFill/>
          <a:ln/>
        </p:spPr>
        <p:txBody>
          <a:bodyPr wrap="square" lIns="0" tIns="0" rIns="0" bIns="0" rtlCol="0" anchor="ctr"/>
          <a:lstStyle/>
          <a:p>
            <a:pPr marL="0" indent="0" algn="just">
              <a:lnSpc>
                <a:spcPct val="130000"/>
              </a:lnSpc>
              <a:buNone/>
            </a:pPr>
            <a:r>
              <a:rPr lang="en-US" sz="1150" dirty="0">
                <a:solidFill>
                  <a:srgbClr val="8C97AC"/>
                </a:solidFill>
                <a:latin typeface="Calibri" pitchFamily="34" charset="0"/>
                <a:ea typeface="Calibri" pitchFamily="34" charset="-122"/>
                <a:cs typeface="Calibri" pitchFamily="34" charset="-120"/>
              </a:rPr>
              <a:t>One observation, two unknowns per pixel. Infinitely many (x, v) pairs explain any y. Restormer states it generally: because of its ill-posed nature it is a highly challenging problem that usually requires strong image priors for effective restoration.</a:t>
            </a:r>
            <a:endParaRPr lang="en-US" sz="1150" dirty="0"/>
          </a:p>
        </p:txBody>
      </p:sp>
      <p:sp>
        <p:nvSpPr>
          <p:cNvPr id="9" name="Shape 7"/>
          <p:cNvSpPr/>
          <p:nvPr/>
        </p:nvSpPr>
        <p:spPr>
          <a:xfrm>
            <a:off x="4389120" y="1600200"/>
            <a:ext cx="3429000" cy="3246120"/>
          </a:xfrm>
          <a:prstGeom prst="roundRect">
            <a:avLst>
              <a:gd name="adj" fmla="val 2254"/>
            </a:avLst>
          </a:prstGeom>
          <a:solidFill>
            <a:srgbClr val="141B29"/>
          </a:solidFill>
          <a:ln/>
        </p:spPr>
        <p:txBody>
          <a:bodyPr/>
          <a:lstStyle/>
          <a:p>
            <a:pPr algn="just"/>
            <a:endParaRPr lang="en-GB"/>
          </a:p>
        </p:txBody>
      </p:sp>
      <p:sp>
        <p:nvSpPr>
          <p:cNvPr id="10" name="Shape 8"/>
          <p:cNvSpPr/>
          <p:nvPr/>
        </p:nvSpPr>
        <p:spPr>
          <a:xfrm>
            <a:off x="4709160" y="1920240"/>
            <a:ext cx="457200" cy="457200"/>
          </a:xfrm>
          <a:prstGeom prst="ellipse">
            <a:avLst/>
          </a:prstGeom>
          <a:solidFill>
            <a:srgbClr val="E7B75F"/>
          </a:solidFill>
          <a:ln/>
        </p:spPr>
        <p:txBody>
          <a:bodyPr/>
          <a:lstStyle/>
          <a:p>
            <a:pPr algn="just"/>
            <a:endParaRPr lang="en-GB"/>
          </a:p>
        </p:txBody>
      </p:sp>
      <p:sp>
        <p:nvSpPr>
          <p:cNvPr id="11" name="Text 9"/>
          <p:cNvSpPr/>
          <p:nvPr/>
        </p:nvSpPr>
        <p:spPr>
          <a:xfrm>
            <a:off x="4709160" y="1920240"/>
            <a:ext cx="457200" cy="457200"/>
          </a:xfrm>
          <a:prstGeom prst="rect">
            <a:avLst/>
          </a:prstGeom>
          <a:noFill/>
          <a:ln/>
        </p:spPr>
        <p:txBody>
          <a:bodyPr wrap="square" lIns="0" tIns="0" rIns="0" bIns="0" rtlCol="0" anchor="ctr"/>
          <a:lstStyle/>
          <a:p>
            <a:pPr marL="0" indent="0" algn="ctr">
              <a:buNone/>
            </a:pPr>
            <a:r>
              <a:rPr lang="en-US" sz="1600" b="1" dirty="0">
                <a:solidFill>
                  <a:srgbClr val="0B0F17"/>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709160" y="2560320"/>
            <a:ext cx="2788920" cy="685800"/>
          </a:xfrm>
          <a:prstGeom prst="rect">
            <a:avLst/>
          </a:prstGeom>
          <a:noFill/>
          <a:ln/>
        </p:spPr>
        <p:txBody>
          <a:bodyPr wrap="square" lIns="0" tIns="0" rIns="0" bIns="0" rtlCol="0" anchor="ctr"/>
          <a:lstStyle/>
          <a:p>
            <a:pPr marL="0" indent="0" algn="just">
              <a:lnSpc>
                <a:spcPct val="110000"/>
              </a:lnSpc>
              <a:buNone/>
            </a:pPr>
            <a:r>
              <a:rPr lang="en-US" sz="1650" b="1" dirty="0">
                <a:solidFill>
                  <a:srgbClr val="F3F6FA"/>
                </a:solidFill>
                <a:latin typeface="Cambria" pitchFamily="34" charset="0"/>
                <a:ea typeface="Cambria" pitchFamily="34" charset="-122"/>
                <a:cs typeface="Cambria" pitchFamily="34" charset="-120"/>
              </a:rPr>
              <a:t>A prior must be supplied</a:t>
            </a:r>
            <a:endParaRPr lang="en-US" sz="1650" dirty="0"/>
          </a:p>
        </p:txBody>
      </p:sp>
      <p:sp>
        <p:nvSpPr>
          <p:cNvPr id="13" name="Text 11"/>
          <p:cNvSpPr/>
          <p:nvPr/>
        </p:nvSpPr>
        <p:spPr>
          <a:xfrm>
            <a:off x="4709160" y="3291840"/>
            <a:ext cx="2788920" cy="1325880"/>
          </a:xfrm>
          <a:prstGeom prst="rect">
            <a:avLst/>
          </a:prstGeom>
          <a:noFill/>
          <a:ln/>
        </p:spPr>
        <p:txBody>
          <a:bodyPr wrap="square" lIns="0" tIns="0" rIns="0" bIns="0" rtlCol="0" anchor="ctr"/>
          <a:lstStyle/>
          <a:p>
            <a:pPr marL="0" indent="0" algn="just">
              <a:lnSpc>
                <a:spcPct val="130000"/>
              </a:lnSpc>
              <a:buNone/>
            </a:pPr>
            <a:r>
              <a:rPr lang="en-US" sz="1150" dirty="0">
                <a:solidFill>
                  <a:srgbClr val="8C97AC"/>
                </a:solidFill>
                <a:latin typeface="Calibri" pitchFamily="34" charset="0"/>
                <a:ea typeface="Calibri" pitchFamily="34" charset="-122"/>
                <a:cs typeface="Calibri" pitchFamily="34" charset="-120"/>
              </a:rPr>
              <a:t>DnCNN frames this from a Bayesian viewpoint: when the likelihood is known, image prior modelling plays the central role — non-local self-similarity, sparse, gradient and Markov random field models. The classical shape is a hand-designed regulariser, re-solved per image at test time.</a:t>
            </a:r>
            <a:endParaRPr lang="en-US" sz="1150" dirty="0"/>
          </a:p>
        </p:txBody>
      </p:sp>
      <p:sp>
        <p:nvSpPr>
          <p:cNvPr id="14" name="Shape 12"/>
          <p:cNvSpPr/>
          <p:nvPr/>
        </p:nvSpPr>
        <p:spPr>
          <a:xfrm>
            <a:off x="8138160" y="1600200"/>
            <a:ext cx="3429000" cy="3246120"/>
          </a:xfrm>
          <a:prstGeom prst="roundRect">
            <a:avLst>
              <a:gd name="adj" fmla="val 2254"/>
            </a:avLst>
          </a:prstGeom>
          <a:solidFill>
            <a:srgbClr val="141B29"/>
          </a:solidFill>
          <a:ln/>
        </p:spPr>
        <p:txBody>
          <a:bodyPr/>
          <a:lstStyle/>
          <a:p>
            <a:pPr algn="just"/>
            <a:endParaRPr lang="en-GB"/>
          </a:p>
        </p:txBody>
      </p:sp>
      <p:sp>
        <p:nvSpPr>
          <p:cNvPr id="15" name="Shape 13"/>
          <p:cNvSpPr/>
          <p:nvPr/>
        </p:nvSpPr>
        <p:spPr>
          <a:xfrm>
            <a:off x="8458200" y="1920240"/>
            <a:ext cx="457200" cy="457200"/>
          </a:xfrm>
          <a:prstGeom prst="ellipse">
            <a:avLst/>
          </a:prstGeom>
          <a:solidFill>
            <a:srgbClr val="E7B75F"/>
          </a:solidFill>
          <a:ln/>
        </p:spPr>
        <p:txBody>
          <a:bodyPr/>
          <a:lstStyle/>
          <a:p>
            <a:pPr algn="just"/>
            <a:endParaRPr lang="en-GB"/>
          </a:p>
        </p:txBody>
      </p:sp>
      <p:sp>
        <p:nvSpPr>
          <p:cNvPr id="16" name="Text 14"/>
          <p:cNvSpPr/>
          <p:nvPr/>
        </p:nvSpPr>
        <p:spPr>
          <a:xfrm>
            <a:off x="8458200" y="1920240"/>
            <a:ext cx="457200" cy="457200"/>
          </a:xfrm>
          <a:prstGeom prst="rect">
            <a:avLst/>
          </a:prstGeom>
          <a:noFill/>
          <a:ln/>
        </p:spPr>
        <p:txBody>
          <a:bodyPr wrap="square" lIns="0" tIns="0" rIns="0" bIns="0" rtlCol="0" anchor="ctr"/>
          <a:lstStyle/>
          <a:p>
            <a:pPr marL="0" indent="0" algn="ctr">
              <a:buNone/>
            </a:pPr>
            <a:r>
              <a:rPr lang="en-US" sz="1600" b="1" dirty="0">
                <a:solidFill>
                  <a:srgbClr val="0B0F17"/>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458200" y="2560320"/>
            <a:ext cx="2788920" cy="685800"/>
          </a:xfrm>
          <a:prstGeom prst="rect">
            <a:avLst/>
          </a:prstGeom>
          <a:noFill/>
          <a:ln/>
        </p:spPr>
        <p:txBody>
          <a:bodyPr wrap="square" lIns="0" tIns="0" rIns="0" bIns="0" rtlCol="0" anchor="ctr"/>
          <a:lstStyle/>
          <a:p>
            <a:pPr marL="0" indent="0" algn="just">
              <a:lnSpc>
                <a:spcPct val="110000"/>
              </a:lnSpc>
              <a:buNone/>
            </a:pPr>
            <a:r>
              <a:rPr lang="en-US" sz="1650" b="1" dirty="0">
                <a:solidFill>
                  <a:srgbClr val="F3F6FA"/>
                </a:solidFill>
                <a:latin typeface="Cambria" pitchFamily="34" charset="0"/>
                <a:ea typeface="Cambria" pitchFamily="34" charset="-122"/>
                <a:cs typeface="Cambria" pitchFamily="34" charset="-120"/>
              </a:rPr>
              <a:t>Smoothing destroys detail</a:t>
            </a:r>
            <a:endParaRPr lang="en-US" sz="1650" dirty="0"/>
          </a:p>
        </p:txBody>
      </p:sp>
      <p:sp>
        <p:nvSpPr>
          <p:cNvPr id="18" name="Text 16"/>
          <p:cNvSpPr/>
          <p:nvPr/>
        </p:nvSpPr>
        <p:spPr>
          <a:xfrm>
            <a:off x="8458200" y="3291840"/>
            <a:ext cx="2788920" cy="1325880"/>
          </a:xfrm>
          <a:prstGeom prst="rect">
            <a:avLst/>
          </a:prstGeom>
          <a:noFill/>
          <a:ln/>
        </p:spPr>
        <p:txBody>
          <a:bodyPr wrap="square" lIns="0" tIns="0" rIns="0" bIns="0" rtlCol="0" anchor="ctr"/>
          <a:lstStyle/>
          <a:p>
            <a:pPr marL="0" indent="0" algn="just">
              <a:lnSpc>
                <a:spcPct val="130000"/>
              </a:lnSpc>
              <a:buNone/>
            </a:pPr>
            <a:r>
              <a:rPr lang="en-US" sz="1150" dirty="0">
                <a:solidFill>
                  <a:srgbClr val="8C97AC"/>
                </a:solidFill>
                <a:latin typeface="Calibri" pitchFamily="34" charset="0"/>
                <a:ea typeface="Calibri" pitchFamily="34" charset="-122"/>
                <a:cs typeface="Calibri" pitchFamily="34" charset="-120"/>
              </a:rPr>
              <a:t>Noise removal and detail preservation pull in opposite directions. BM3D names the tension in its own claim: collaborative filtering reveals even the finest details shared by grouped blocks while at the same time preserving the essential unique features of each individual block.</a:t>
            </a:r>
            <a:endParaRPr lang="en-US" sz="1150" dirty="0"/>
          </a:p>
        </p:txBody>
      </p:sp>
      <p:sp>
        <p:nvSpPr>
          <p:cNvPr id="19" name="Shape 17"/>
          <p:cNvSpPr/>
          <p:nvPr/>
        </p:nvSpPr>
        <p:spPr>
          <a:xfrm>
            <a:off x="640080" y="5074920"/>
            <a:ext cx="10881360" cy="1051560"/>
          </a:xfrm>
          <a:prstGeom prst="roundRect">
            <a:avLst>
              <a:gd name="adj" fmla="val 6957"/>
            </a:avLst>
          </a:prstGeom>
          <a:solidFill>
            <a:srgbClr val="1B2436"/>
          </a:solidFill>
          <a:ln/>
        </p:spPr>
        <p:txBody>
          <a:bodyPr/>
          <a:lstStyle/>
          <a:p>
            <a:pPr algn="just"/>
            <a:endParaRPr lang="en-GB"/>
          </a:p>
        </p:txBody>
      </p:sp>
      <p:sp>
        <p:nvSpPr>
          <p:cNvPr id="20" name="Text 18"/>
          <p:cNvSpPr/>
          <p:nvPr/>
        </p:nvSpPr>
        <p:spPr>
          <a:xfrm>
            <a:off x="960120" y="5212080"/>
            <a:ext cx="10241280" cy="274320"/>
          </a:xfrm>
          <a:prstGeom prst="rect">
            <a:avLst/>
          </a:prstGeom>
          <a:noFill/>
          <a:ln/>
        </p:spPr>
        <p:txBody>
          <a:bodyPr wrap="square" lIns="0" tIns="0" rIns="0" bIns="0" rtlCol="0" anchor="ctr"/>
          <a:lstStyle/>
          <a:p>
            <a:pPr marL="0" indent="0" algn="just">
              <a:buNone/>
            </a:pPr>
            <a:r>
              <a:rPr lang="en-US" sz="1050" b="1" kern="0" spc="150" dirty="0">
                <a:solidFill>
                  <a:srgbClr val="5FD4D6"/>
                </a:solidFill>
                <a:latin typeface="Calibri" pitchFamily="34" charset="0"/>
                <a:ea typeface="Calibri" pitchFamily="34" charset="-122"/>
                <a:cs typeface="Calibri" pitchFamily="34" charset="-120"/>
              </a:rPr>
              <a:t>THE QUESTION THAT ORGANISES EVERYTHING THAT FOLLOWS</a:t>
            </a:r>
            <a:endParaRPr lang="en-US" sz="1050" dirty="0"/>
          </a:p>
        </p:txBody>
      </p:sp>
      <p:sp>
        <p:nvSpPr>
          <p:cNvPr id="21" name="Text 19"/>
          <p:cNvSpPr/>
          <p:nvPr/>
        </p:nvSpPr>
        <p:spPr>
          <a:xfrm>
            <a:off x="960120" y="5486400"/>
            <a:ext cx="10241280" cy="548640"/>
          </a:xfrm>
          <a:prstGeom prst="rect">
            <a:avLst/>
          </a:prstGeom>
          <a:noFill/>
          <a:ln/>
        </p:spPr>
        <p:txBody>
          <a:bodyPr wrap="square" lIns="0" tIns="0" rIns="0" bIns="0" rtlCol="0" anchor="ctr"/>
          <a:lstStyle/>
          <a:p>
            <a:pPr marL="0" indent="0" algn="just">
              <a:lnSpc>
                <a:spcPct val="120000"/>
              </a:lnSpc>
              <a:buNone/>
            </a:pPr>
            <a:r>
              <a:rPr lang="en-US" sz="1500" i="1" dirty="0">
                <a:solidFill>
                  <a:srgbClr val="F3F6FA"/>
                </a:solidFill>
                <a:latin typeface="Cambria" pitchFamily="34" charset="0"/>
                <a:ea typeface="Cambria" pitchFamily="34" charset="-122"/>
                <a:cs typeface="Cambria" pitchFamily="34" charset="-120"/>
              </a:rPr>
              <a:t>If a prior is unavoidable, then the history of denoising is the history of where the prior comes from — and who or what writes it.</a:t>
            </a:r>
            <a:endParaRPr lang="en-US" sz="150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marL="0" indent="0">
              <a:buNone/>
            </a:pPr>
            <a:r>
              <a:rPr lang="en-US" sz="1400" b="1" kern="0" spc="300" dirty="0">
                <a:solidFill>
                  <a:srgbClr val="5FD4D6"/>
                </a:solidFill>
                <a:latin typeface="Calibri" pitchFamily="34" charset="0"/>
                <a:ea typeface="Calibri" pitchFamily="34" charset="-122"/>
                <a:cs typeface="Calibri" pitchFamily="34" charset="-120"/>
              </a:rPr>
              <a:t>PART II</a:t>
            </a:r>
            <a:endParaRPr lang="en-US" sz="1400" dirty="0"/>
          </a:p>
        </p:txBody>
      </p:sp>
      <p:sp>
        <p:nvSpPr>
          <p:cNvPr id="3" name="Text 1"/>
          <p:cNvSpPr/>
          <p:nvPr/>
        </p:nvSpPr>
        <p:spPr>
          <a:xfrm>
            <a:off x="822960" y="2880360"/>
            <a:ext cx="10332720" cy="1188720"/>
          </a:xfrm>
          <a:prstGeom prst="rect">
            <a:avLst/>
          </a:prstGeom>
          <a:noFill/>
          <a:ln/>
        </p:spPr>
        <p:txBody>
          <a:bodyPr wrap="square" lIns="0" tIns="0" rIns="0" bIns="0" rtlCol="0" anchor="ctr"/>
          <a:lstStyle/>
          <a:p>
            <a:pPr marL="0" indent="0">
              <a:buNone/>
            </a:pPr>
            <a:r>
              <a:rPr lang="en-US" sz="4000" b="1" dirty="0">
                <a:solidFill>
                  <a:srgbClr val="F3F6FA"/>
                </a:solidFill>
                <a:latin typeface="Cambria" pitchFamily="34" charset="0"/>
                <a:ea typeface="Cambria" pitchFamily="34" charset="-122"/>
                <a:cs typeface="Cambria" pitchFamily="34" charset="-120"/>
              </a:rPr>
              <a:t>The evolution</a:t>
            </a:r>
            <a:endParaRPr lang="en-US" sz="4000" dirty="0"/>
          </a:p>
        </p:txBody>
      </p:sp>
      <p:sp>
        <p:nvSpPr>
          <p:cNvPr id="4" name="Text 2"/>
          <p:cNvSpPr/>
          <p:nvPr/>
        </p:nvSpPr>
        <p:spPr>
          <a:xfrm>
            <a:off x="822960" y="3977640"/>
            <a:ext cx="8686800" cy="731520"/>
          </a:xfrm>
          <a:prstGeom prst="rect">
            <a:avLst/>
          </a:prstGeom>
          <a:noFill/>
          <a:ln/>
        </p:spPr>
        <p:txBody>
          <a:bodyPr wrap="square" lIns="0" tIns="0" rIns="0" bIns="0" rtlCol="0" anchor="ctr"/>
          <a:lstStyle/>
          <a:p>
            <a:pPr marL="0" indent="0">
              <a:lnSpc>
                <a:spcPct val="130000"/>
              </a:lnSpc>
              <a:buNone/>
            </a:pPr>
            <a:r>
              <a:rPr lang="en-US" sz="1400" dirty="0">
                <a:solidFill>
                  <a:srgbClr val="8C97AC"/>
                </a:solidFill>
                <a:latin typeface="Calibri" pitchFamily="34" charset="0"/>
                <a:ea typeface="Calibri" pitchFamily="34" charset="-122"/>
                <a:cs typeface="Calibri" pitchFamily="34" charset="-120"/>
              </a:rPr>
              <a:t>Four eras, separated by three bottlenecks. Each bottleneck is stated by the paper that broke it — so the arc is evidenced from primary sources, not imposed in hindsight.</a:t>
            </a:r>
            <a:endParaRPr lang="en-US" sz="1400" dirty="0"/>
          </a:p>
        </p:txBody>
      </p:sp>
      <p:sp>
        <p:nvSpPr>
          <p:cNvPr id="5" name="Text 3"/>
          <p:cNvSpPr/>
          <p:nvPr/>
        </p:nvSpPr>
        <p:spPr>
          <a:xfrm>
            <a:off x="8899855" y="1280160"/>
            <a:ext cx="2743200" cy="3657600"/>
          </a:xfrm>
          <a:prstGeom prst="rect">
            <a:avLst/>
          </a:prstGeom>
          <a:noFill/>
          <a:ln/>
        </p:spPr>
        <p:txBody>
          <a:bodyPr wrap="square" lIns="0" tIns="0" rIns="0" bIns="0" rtlCol="0" anchor="ctr"/>
          <a:lstStyle/>
          <a:p>
            <a:pPr marL="0" indent="0" algn="r">
              <a:buNone/>
            </a:pPr>
            <a:r>
              <a:rPr lang="en-US" sz="20000" b="1" dirty="0">
                <a:solidFill>
                  <a:srgbClr val="1B2436"/>
                </a:solidFill>
                <a:latin typeface="Cambria" pitchFamily="34" charset="0"/>
                <a:ea typeface="Cambria" pitchFamily="34" charset="-122"/>
                <a:cs typeface="Cambria" pitchFamily="34" charset="-120"/>
              </a:rPr>
              <a:t>II</a:t>
            </a:r>
            <a:endParaRPr lang="en-US" sz="20000" dirty="0"/>
          </a:p>
        </p:txBody>
      </p:sp>
      <p:sp>
        <p:nvSpPr>
          <p:cNvPr id="6" name="Text 4"/>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§2 · THE VISUAL EVOLUTIONARY TIMELINE</a:t>
            </a:r>
            <a:endParaRPr lang="en-US" sz="1100" dirty="0"/>
          </a:p>
        </p:txBody>
      </p:sp>
      <p:sp>
        <p:nvSpPr>
          <p:cNvPr id="3" name="Text 1"/>
          <p:cNvSpPr/>
          <p:nvPr/>
        </p:nvSpPr>
        <p:spPr>
          <a:xfrm>
            <a:off x="640080" y="685800"/>
            <a:ext cx="10881360" cy="548640"/>
          </a:xfrm>
          <a:prstGeom prst="rect">
            <a:avLst/>
          </a:prstGeom>
          <a:noFill/>
          <a:ln/>
        </p:spPr>
        <p:txBody>
          <a:bodyPr wrap="square" lIns="0" tIns="0" rIns="0" bIns="0" rtlCol="0" anchor="ctr"/>
          <a:lstStyle/>
          <a:p>
            <a:pPr marL="0" indent="0">
              <a:buNone/>
            </a:pPr>
            <a:r>
              <a:rPr lang="en-US" sz="2400" b="1" dirty="0">
                <a:solidFill>
                  <a:srgbClr val="F3F6FA"/>
                </a:solidFill>
                <a:latin typeface="Cambria" pitchFamily="34" charset="0"/>
                <a:ea typeface="Cambria" pitchFamily="34" charset="-122"/>
                <a:cs typeface="Cambria" pitchFamily="34" charset="-120"/>
              </a:rPr>
              <a:t>Classical DIP → Early deep learning → Modern SOTA</a:t>
            </a:r>
            <a:endParaRPr lang="en-US" sz="2400" dirty="0"/>
          </a:p>
        </p:txBody>
      </p:sp>
      <p:sp>
        <p:nvSpPr>
          <p:cNvPr id="55" name="Text 53"/>
          <p:cNvSpPr/>
          <p:nvPr/>
        </p:nvSpPr>
        <p:spPr>
          <a:xfrm>
            <a:off x="640080" y="5989320"/>
            <a:ext cx="10881360" cy="457200"/>
          </a:xfrm>
          <a:prstGeom prst="rect">
            <a:avLst/>
          </a:prstGeom>
          <a:noFill/>
          <a:ln/>
        </p:spPr>
        <p:txBody>
          <a:bodyPr wrap="square" lIns="0" tIns="0" rIns="0" bIns="0" rtlCol="0" anchor="ctr"/>
          <a:lstStyle/>
          <a:p>
            <a:pPr marL="0" indent="0">
              <a:buNone/>
            </a:pPr>
            <a:r>
              <a:rPr lang="en-US" sz="1200" i="1" dirty="0">
                <a:solidFill>
                  <a:srgbClr val="8C97AC"/>
                </a:solidFill>
                <a:latin typeface="Calibri" pitchFamily="34" charset="0"/>
                <a:ea typeface="Calibri" pitchFamily="34" charset="-122"/>
                <a:cs typeface="Calibri" pitchFamily="34" charset="-120"/>
              </a:rPr>
              <a:t>Horizontal position is chronological. The fork in 2018 is the point where the field split into two independent attacks on DnCNN's limitations.</a:t>
            </a:r>
            <a:endParaRPr lang="en-US" sz="1200" dirty="0"/>
          </a:p>
        </p:txBody>
      </p:sp>
      <p:sp>
        <p:nvSpPr>
          <p:cNvPr id="56" name="Text 54"/>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07</a:t>
            </a:r>
            <a:endParaRPr lang="en-US" sz="1000" dirty="0"/>
          </a:p>
        </p:txBody>
      </p:sp>
      <p:sp>
        <p:nvSpPr>
          <p:cNvPr id="59" name="Shape 3">
            <a:extLst>
              <a:ext uri="{FF2B5EF4-FFF2-40B4-BE49-F238E27FC236}">
                <a16:creationId xmlns:a16="http://schemas.microsoft.com/office/drawing/2014/main" id="{2A9794F2-E132-AED5-B679-4DC024ACC991}"/>
              </a:ext>
            </a:extLst>
          </p:cNvPr>
          <p:cNvSpPr/>
          <p:nvPr/>
        </p:nvSpPr>
        <p:spPr>
          <a:xfrm>
            <a:off x="502920" y="3099816"/>
            <a:ext cx="3154680" cy="292608"/>
          </a:xfrm>
          <a:prstGeom prst="roundRect">
            <a:avLst>
              <a:gd name="adj" fmla="val 15625"/>
            </a:avLst>
          </a:prstGeom>
          <a:solidFill>
            <a:srgbClr val="6E6350">
              <a:alpha val="12000"/>
            </a:srgbClr>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61" name="Shape 4">
            <a:extLst>
              <a:ext uri="{FF2B5EF4-FFF2-40B4-BE49-F238E27FC236}">
                <a16:creationId xmlns:a16="http://schemas.microsoft.com/office/drawing/2014/main" id="{7E0069A6-93F8-3806-0444-AA15388A0C74}"/>
              </a:ext>
            </a:extLst>
          </p:cNvPr>
          <p:cNvSpPr/>
          <p:nvPr/>
        </p:nvSpPr>
        <p:spPr>
          <a:xfrm>
            <a:off x="4069080" y="3099816"/>
            <a:ext cx="1965960" cy="292608"/>
          </a:xfrm>
          <a:prstGeom prst="roundRect">
            <a:avLst>
              <a:gd name="adj" fmla="val 15625"/>
            </a:avLst>
          </a:prstGeom>
          <a:solidFill>
            <a:srgbClr val="1E5F7E">
              <a:alpha val="12000"/>
            </a:srgbClr>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63" name="Shape 5">
            <a:extLst>
              <a:ext uri="{FF2B5EF4-FFF2-40B4-BE49-F238E27FC236}">
                <a16:creationId xmlns:a16="http://schemas.microsoft.com/office/drawing/2014/main" id="{D2A1FB67-2EFD-37A9-6EC4-5FCCF3B94ED1}"/>
              </a:ext>
            </a:extLst>
          </p:cNvPr>
          <p:cNvSpPr/>
          <p:nvPr/>
        </p:nvSpPr>
        <p:spPr>
          <a:xfrm>
            <a:off x="6858000" y="2185416"/>
            <a:ext cx="4800600" cy="292608"/>
          </a:xfrm>
          <a:prstGeom prst="roundRect">
            <a:avLst>
              <a:gd name="adj" fmla="val 15625"/>
            </a:avLst>
          </a:prstGeom>
          <a:solidFill>
            <a:srgbClr val="6D3F86">
              <a:alpha val="12000"/>
            </a:srgbClr>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65" name="Shape 6">
            <a:extLst>
              <a:ext uri="{FF2B5EF4-FFF2-40B4-BE49-F238E27FC236}">
                <a16:creationId xmlns:a16="http://schemas.microsoft.com/office/drawing/2014/main" id="{8B1C0BA1-1D00-3F66-C7A7-ECF68B412F81}"/>
              </a:ext>
            </a:extLst>
          </p:cNvPr>
          <p:cNvSpPr/>
          <p:nvPr/>
        </p:nvSpPr>
        <p:spPr>
          <a:xfrm>
            <a:off x="6858000" y="4745736"/>
            <a:ext cx="4800600" cy="292608"/>
          </a:xfrm>
          <a:prstGeom prst="roundRect">
            <a:avLst>
              <a:gd name="adj" fmla="val 15625"/>
            </a:avLst>
          </a:prstGeom>
          <a:solidFill>
            <a:srgbClr val="6D3F86">
              <a:alpha val="12000"/>
            </a:srgbClr>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67" name="Text 7">
            <a:extLst>
              <a:ext uri="{FF2B5EF4-FFF2-40B4-BE49-F238E27FC236}">
                <a16:creationId xmlns:a16="http://schemas.microsoft.com/office/drawing/2014/main" id="{647E2E10-B1CD-692D-B3DF-1578993E5714}"/>
              </a:ext>
            </a:extLst>
          </p:cNvPr>
          <p:cNvSpPr/>
          <p:nvPr/>
        </p:nvSpPr>
        <p:spPr>
          <a:xfrm>
            <a:off x="548640" y="2221992"/>
            <a:ext cx="3108960" cy="219456"/>
          </a:xfrm>
          <a:prstGeom prst="rect">
            <a:avLst/>
          </a:prstGeom>
          <a:noFill/>
          <a:ln/>
        </p:spPr>
        <p:txBody>
          <a:bodyPr wrap="square" lIns="0" tIns="0" rIns="0" bIns="0" rtlCol="0" anchor="ctr"/>
          <a:lstStyle/>
          <a:p>
            <a:pPr marL="0" indent="0" algn="ctr">
              <a:buNone/>
            </a:pPr>
            <a:r>
              <a:rPr lang="en-US" sz="900" kern="0" spc="120" dirty="0">
                <a:solidFill>
                  <a:srgbClr val="6E6350"/>
                </a:solidFill>
                <a:latin typeface="Times New Roman" panose="02020603050405020304" pitchFamily="18" charset="0"/>
                <a:ea typeface="Consolas" pitchFamily="34" charset="-122"/>
                <a:cs typeface="Times New Roman" panose="02020603050405020304" pitchFamily="18" charset="0"/>
              </a:rPr>
              <a:t>ERA I — CLASSICAL DIP</a:t>
            </a:r>
            <a:endParaRPr lang="en-US" sz="900" dirty="0">
              <a:latin typeface="Times New Roman" panose="02020603050405020304" pitchFamily="18" charset="0"/>
              <a:cs typeface="Times New Roman" panose="02020603050405020304" pitchFamily="18" charset="0"/>
            </a:endParaRPr>
          </a:p>
        </p:txBody>
      </p:sp>
      <p:sp>
        <p:nvSpPr>
          <p:cNvPr id="69" name="Text 8">
            <a:extLst>
              <a:ext uri="{FF2B5EF4-FFF2-40B4-BE49-F238E27FC236}">
                <a16:creationId xmlns:a16="http://schemas.microsoft.com/office/drawing/2014/main" id="{CAAA62A7-BF54-4A01-6099-74FF59B4E738}"/>
              </a:ext>
            </a:extLst>
          </p:cNvPr>
          <p:cNvSpPr/>
          <p:nvPr/>
        </p:nvSpPr>
        <p:spPr>
          <a:xfrm>
            <a:off x="3794760" y="2221992"/>
            <a:ext cx="3108960" cy="219456"/>
          </a:xfrm>
          <a:prstGeom prst="rect">
            <a:avLst/>
          </a:prstGeom>
          <a:noFill/>
          <a:ln/>
        </p:spPr>
        <p:txBody>
          <a:bodyPr wrap="square" lIns="0" tIns="0" rIns="0" bIns="0" rtlCol="0" anchor="ctr"/>
          <a:lstStyle/>
          <a:p>
            <a:pPr marL="0" indent="0">
              <a:buNone/>
            </a:pPr>
            <a:r>
              <a:rPr lang="en-US" sz="900" kern="0" spc="120" dirty="0">
                <a:solidFill>
                  <a:srgbClr val="1E5F7E"/>
                </a:solidFill>
                <a:latin typeface="Times New Roman" panose="02020603050405020304" pitchFamily="18" charset="0"/>
                <a:ea typeface="Consolas" pitchFamily="34" charset="-122"/>
                <a:cs typeface="Times New Roman" panose="02020603050405020304" pitchFamily="18" charset="0"/>
              </a:rPr>
              <a:t>ERA II — LEARNED, HAND-STRUCTURED</a:t>
            </a:r>
            <a:endParaRPr lang="en-US" sz="900" dirty="0">
              <a:latin typeface="Times New Roman" panose="02020603050405020304" pitchFamily="18" charset="0"/>
              <a:cs typeface="Times New Roman" panose="02020603050405020304" pitchFamily="18" charset="0"/>
            </a:endParaRPr>
          </a:p>
        </p:txBody>
      </p:sp>
      <p:sp>
        <p:nvSpPr>
          <p:cNvPr id="71" name="Text 9">
            <a:extLst>
              <a:ext uri="{FF2B5EF4-FFF2-40B4-BE49-F238E27FC236}">
                <a16:creationId xmlns:a16="http://schemas.microsoft.com/office/drawing/2014/main" id="{DCD21A12-5866-D622-C800-CBD85BE7B24F}"/>
              </a:ext>
            </a:extLst>
          </p:cNvPr>
          <p:cNvSpPr/>
          <p:nvPr/>
        </p:nvSpPr>
        <p:spPr>
          <a:xfrm>
            <a:off x="6903720" y="1307592"/>
            <a:ext cx="4754880" cy="219456"/>
          </a:xfrm>
          <a:prstGeom prst="rect">
            <a:avLst/>
          </a:prstGeom>
          <a:noFill/>
          <a:ln/>
        </p:spPr>
        <p:txBody>
          <a:bodyPr wrap="square" lIns="0" tIns="0" rIns="0" bIns="0" rtlCol="0" anchor="ctr"/>
          <a:lstStyle/>
          <a:p>
            <a:pPr marL="0" indent="0" algn="ctr">
              <a:buNone/>
            </a:pPr>
            <a:r>
              <a:rPr lang="en-US" sz="900" kern="0" spc="120" dirty="0">
                <a:solidFill>
                  <a:srgbClr val="6D3F86"/>
                </a:solidFill>
                <a:latin typeface="Times New Roman" panose="02020603050405020304" pitchFamily="18" charset="0"/>
                <a:ea typeface="Consolas" pitchFamily="34" charset="-122"/>
                <a:cs typeface="Times New Roman" panose="02020603050405020304" pitchFamily="18" charset="0"/>
              </a:rPr>
              <a:t>ERA IV-B — ARCHITECTURE BRANCH</a:t>
            </a:r>
            <a:endParaRPr lang="en-US" sz="900" dirty="0">
              <a:latin typeface="Times New Roman" panose="02020603050405020304" pitchFamily="18" charset="0"/>
              <a:cs typeface="Times New Roman" panose="02020603050405020304" pitchFamily="18" charset="0"/>
            </a:endParaRPr>
          </a:p>
        </p:txBody>
      </p:sp>
      <p:sp>
        <p:nvSpPr>
          <p:cNvPr id="73" name="Text 10">
            <a:extLst>
              <a:ext uri="{FF2B5EF4-FFF2-40B4-BE49-F238E27FC236}">
                <a16:creationId xmlns:a16="http://schemas.microsoft.com/office/drawing/2014/main" id="{F4B8764D-5FFB-493C-00C4-534DC68EE009}"/>
              </a:ext>
            </a:extLst>
          </p:cNvPr>
          <p:cNvSpPr/>
          <p:nvPr/>
        </p:nvSpPr>
        <p:spPr>
          <a:xfrm>
            <a:off x="6903720" y="4389120"/>
            <a:ext cx="4754880" cy="219456"/>
          </a:xfrm>
          <a:prstGeom prst="rect">
            <a:avLst/>
          </a:prstGeom>
          <a:noFill/>
          <a:ln/>
        </p:spPr>
        <p:txBody>
          <a:bodyPr wrap="square" lIns="0" tIns="0" rIns="0" bIns="0" rtlCol="0" anchor="ctr"/>
          <a:lstStyle/>
          <a:p>
            <a:pPr marL="0" indent="0" algn="ctr">
              <a:buNone/>
            </a:pPr>
            <a:r>
              <a:rPr lang="en-US" sz="900" kern="0" spc="120" dirty="0">
                <a:solidFill>
                  <a:srgbClr val="6D3F86"/>
                </a:solidFill>
                <a:latin typeface="Times New Roman" panose="02020603050405020304" pitchFamily="18" charset="0"/>
                <a:ea typeface="Consolas" pitchFamily="34" charset="-122"/>
                <a:cs typeface="Times New Roman" panose="02020603050405020304" pitchFamily="18" charset="0"/>
              </a:rPr>
              <a:t>ERA IV-A — DATA BRANCH</a:t>
            </a:r>
            <a:endParaRPr lang="en-US" sz="900" dirty="0">
              <a:latin typeface="Times New Roman" panose="02020603050405020304" pitchFamily="18" charset="0"/>
              <a:cs typeface="Times New Roman" panose="02020603050405020304" pitchFamily="18" charset="0"/>
            </a:endParaRPr>
          </a:p>
        </p:txBody>
      </p:sp>
      <p:sp>
        <p:nvSpPr>
          <p:cNvPr id="75" name="Shape 11">
            <a:extLst>
              <a:ext uri="{FF2B5EF4-FFF2-40B4-BE49-F238E27FC236}">
                <a16:creationId xmlns:a16="http://schemas.microsoft.com/office/drawing/2014/main" id="{F2E7728A-6346-CF44-3023-9DD1D15CF037}"/>
              </a:ext>
            </a:extLst>
          </p:cNvPr>
          <p:cNvSpPr/>
          <p:nvPr/>
        </p:nvSpPr>
        <p:spPr>
          <a:xfrm>
            <a:off x="502920" y="3246120"/>
            <a:ext cx="5577840" cy="0"/>
          </a:xfrm>
          <a:prstGeom prst="line">
            <a:avLst/>
          </a:prstGeom>
          <a:noFill/>
          <a:ln w="15875">
            <a:solidFill>
              <a:srgbClr val="C9C4B8"/>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77" name="Shape 12">
            <a:extLst>
              <a:ext uri="{FF2B5EF4-FFF2-40B4-BE49-F238E27FC236}">
                <a16:creationId xmlns:a16="http://schemas.microsoft.com/office/drawing/2014/main" id="{355D0DA2-4E10-B50A-BC98-AB158ADDBEA7}"/>
              </a:ext>
            </a:extLst>
          </p:cNvPr>
          <p:cNvSpPr/>
          <p:nvPr/>
        </p:nvSpPr>
        <p:spPr>
          <a:xfrm flipV="1">
            <a:off x="6080760" y="2331720"/>
            <a:ext cx="777240" cy="914400"/>
          </a:xfrm>
          <a:prstGeom prst="line">
            <a:avLst/>
          </a:prstGeom>
          <a:noFill/>
          <a:ln w="15875">
            <a:solidFill>
              <a:srgbClr val="C9C4B8"/>
            </a:solidFill>
            <a:prstDash val="solid"/>
            <a:tailEnd type="triangle"/>
          </a:ln>
        </p:spPr>
        <p:txBody>
          <a:bodyPr/>
          <a:lstStyle/>
          <a:p>
            <a:endParaRPr lang="en-GB" sz="2000">
              <a:latin typeface="Times New Roman" panose="02020603050405020304" pitchFamily="18" charset="0"/>
              <a:cs typeface="Times New Roman" panose="02020603050405020304" pitchFamily="18" charset="0"/>
            </a:endParaRPr>
          </a:p>
        </p:txBody>
      </p:sp>
      <p:sp>
        <p:nvSpPr>
          <p:cNvPr id="79" name="Shape 13">
            <a:extLst>
              <a:ext uri="{FF2B5EF4-FFF2-40B4-BE49-F238E27FC236}">
                <a16:creationId xmlns:a16="http://schemas.microsoft.com/office/drawing/2014/main" id="{AC670E83-C7D5-233C-D9B5-50A822315CFB}"/>
              </a:ext>
            </a:extLst>
          </p:cNvPr>
          <p:cNvSpPr/>
          <p:nvPr/>
        </p:nvSpPr>
        <p:spPr>
          <a:xfrm>
            <a:off x="6080760" y="3246120"/>
            <a:ext cx="777240" cy="1645920"/>
          </a:xfrm>
          <a:prstGeom prst="line">
            <a:avLst/>
          </a:prstGeom>
          <a:noFill/>
          <a:ln w="15875">
            <a:solidFill>
              <a:srgbClr val="C9C4B8"/>
            </a:solidFill>
            <a:prstDash val="solid"/>
            <a:tailEnd type="triangle"/>
          </a:ln>
        </p:spPr>
        <p:txBody>
          <a:bodyPr/>
          <a:lstStyle/>
          <a:p>
            <a:endParaRPr lang="en-GB" sz="2000">
              <a:latin typeface="Times New Roman" panose="02020603050405020304" pitchFamily="18" charset="0"/>
              <a:cs typeface="Times New Roman" panose="02020603050405020304" pitchFamily="18" charset="0"/>
            </a:endParaRPr>
          </a:p>
        </p:txBody>
      </p:sp>
      <p:sp>
        <p:nvSpPr>
          <p:cNvPr id="81" name="Shape 14">
            <a:extLst>
              <a:ext uri="{FF2B5EF4-FFF2-40B4-BE49-F238E27FC236}">
                <a16:creationId xmlns:a16="http://schemas.microsoft.com/office/drawing/2014/main" id="{46078008-20D6-E762-D4F0-2B20F1EB092E}"/>
              </a:ext>
            </a:extLst>
          </p:cNvPr>
          <p:cNvSpPr/>
          <p:nvPr/>
        </p:nvSpPr>
        <p:spPr>
          <a:xfrm>
            <a:off x="6858000" y="2331720"/>
            <a:ext cx="4800600" cy="0"/>
          </a:xfrm>
          <a:prstGeom prst="line">
            <a:avLst/>
          </a:prstGeom>
          <a:noFill/>
          <a:ln w="15875">
            <a:solidFill>
              <a:srgbClr val="C9C4B8"/>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83" name="Shape 15">
            <a:extLst>
              <a:ext uri="{FF2B5EF4-FFF2-40B4-BE49-F238E27FC236}">
                <a16:creationId xmlns:a16="http://schemas.microsoft.com/office/drawing/2014/main" id="{7FF31D35-1E20-691C-98C9-4C7A1FA205D4}"/>
              </a:ext>
            </a:extLst>
          </p:cNvPr>
          <p:cNvSpPr/>
          <p:nvPr/>
        </p:nvSpPr>
        <p:spPr>
          <a:xfrm>
            <a:off x="6858000" y="4892040"/>
            <a:ext cx="4800600" cy="0"/>
          </a:xfrm>
          <a:prstGeom prst="line">
            <a:avLst/>
          </a:prstGeom>
          <a:noFill/>
          <a:ln w="15875">
            <a:solidFill>
              <a:srgbClr val="C9C4B8"/>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85" name="Shape 16">
            <a:extLst>
              <a:ext uri="{FF2B5EF4-FFF2-40B4-BE49-F238E27FC236}">
                <a16:creationId xmlns:a16="http://schemas.microsoft.com/office/drawing/2014/main" id="{D2A52A9B-E6D5-67FB-093E-B70C024A7D0D}"/>
              </a:ext>
            </a:extLst>
          </p:cNvPr>
          <p:cNvSpPr/>
          <p:nvPr/>
        </p:nvSpPr>
        <p:spPr>
          <a:xfrm>
            <a:off x="3776472" y="3163824"/>
            <a:ext cx="164592" cy="164592"/>
          </a:xfrm>
          <a:prstGeom prst="ellipse">
            <a:avLst/>
          </a:prstGeom>
          <a:solidFill>
            <a:srgbClr val="FFFFFF"/>
          </a:solidFill>
          <a:ln w="15875">
            <a:solidFill>
              <a:srgbClr val="A2442B"/>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87" name="Text 17">
            <a:extLst>
              <a:ext uri="{FF2B5EF4-FFF2-40B4-BE49-F238E27FC236}">
                <a16:creationId xmlns:a16="http://schemas.microsoft.com/office/drawing/2014/main" id="{2533D4CD-8FED-C768-B85D-848495B61FB7}"/>
              </a:ext>
            </a:extLst>
          </p:cNvPr>
          <p:cNvSpPr/>
          <p:nvPr/>
        </p:nvSpPr>
        <p:spPr>
          <a:xfrm>
            <a:off x="2944368" y="3499044"/>
            <a:ext cx="1828800" cy="182880"/>
          </a:xfrm>
          <a:prstGeom prst="rect">
            <a:avLst/>
          </a:prstGeom>
          <a:noFill/>
          <a:ln/>
        </p:spPr>
        <p:txBody>
          <a:bodyPr wrap="square" lIns="0" tIns="0" rIns="0" bIns="0" rtlCol="0" anchor="ctr"/>
          <a:lstStyle/>
          <a:p>
            <a:pPr marL="0" indent="0" algn="ctr">
              <a:buNone/>
            </a:pPr>
            <a:r>
              <a:rPr lang="en-US" sz="800" kern="0" spc="80" dirty="0">
                <a:solidFill>
                  <a:srgbClr val="A2442B"/>
                </a:solidFill>
                <a:latin typeface="Times New Roman" panose="02020603050405020304" pitchFamily="18" charset="0"/>
                <a:ea typeface="Consolas" pitchFamily="34" charset="-122"/>
                <a:cs typeface="Times New Roman" panose="02020603050405020304" pitchFamily="18" charset="0"/>
              </a:rPr>
              <a:t>BOTTLENECK 1</a:t>
            </a:r>
            <a:endParaRPr lang="en-US" sz="800" dirty="0">
              <a:latin typeface="Times New Roman" panose="02020603050405020304" pitchFamily="18" charset="0"/>
              <a:cs typeface="Times New Roman" panose="02020603050405020304" pitchFamily="18" charset="0"/>
            </a:endParaRPr>
          </a:p>
        </p:txBody>
      </p:sp>
      <p:sp>
        <p:nvSpPr>
          <p:cNvPr id="89" name="Text 18">
            <a:extLst>
              <a:ext uri="{FF2B5EF4-FFF2-40B4-BE49-F238E27FC236}">
                <a16:creationId xmlns:a16="http://schemas.microsoft.com/office/drawing/2014/main" id="{4CDCD921-30BD-6ADF-3B08-02DD5E283C84}"/>
              </a:ext>
            </a:extLst>
          </p:cNvPr>
          <p:cNvSpPr/>
          <p:nvPr/>
        </p:nvSpPr>
        <p:spPr>
          <a:xfrm>
            <a:off x="2944368" y="3648456"/>
            <a:ext cx="1828800" cy="457200"/>
          </a:xfrm>
          <a:prstGeom prst="rect">
            <a:avLst/>
          </a:prstGeom>
          <a:noFill/>
          <a:ln/>
        </p:spPr>
        <p:txBody>
          <a:bodyPr wrap="square" lIns="0" tIns="0" rIns="0" bIns="0" rtlCol="0" anchor="ctr"/>
          <a:lstStyle/>
          <a:p>
            <a:pPr marL="0" indent="0" algn="ctr">
              <a:buNone/>
            </a:pPr>
            <a:r>
              <a:rPr lang="en-US" sz="900" dirty="0">
                <a:solidFill>
                  <a:srgbClr val="4A5058"/>
                </a:solidFill>
                <a:latin typeface="Times New Roman" panose="02020603050405020304" pitchFamily="18" charset="0"/>
                <a:ea typeface="Calibri" pitchFamily="34" charset="-122"/>
                <a:cs typeface="Times New Roman" panose="02020603050405020304" pitchFamily="18" charset="0"/>
              </a:rPr>
              <a:t>priors written by hand;</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dirty="0">
                <a:solidFill>
                  <a:srgbClr val="4A5058"/>
                </a:solidFill>
                <a:latin typeface="Times New Roman" panose="02020603050405020304" pitchFamily="18" charset="0"/>
                <a:ea typeface="Calibri" pitchFamily="34" charset="-122"/>
                <a:cs typeface="Times New Roman" panose="02020603050405020304" pitchFamily="18" charset="0"/>
              </a:rPr>
              <a:t>re-optimised per image</a:t>
            </a:r>
            <a:endParaRPr lang="en-US" sz="900" dirty="0">
              <a:latin typeface="Times New Roman" panose="02020603050405020304" pitchFamily="18" charset="0"/>
              <a:cs typeface="Times New Roman" panose="02020603050405020304" pitchFamily="18" charset="0"/>
            </a:endParaRPr>
          </a:p>
        </p:txBody>
      </p:sp>
      <p:sp>
        <p:nvSpPr>
          <p:cNvPr id="91" name="Shape 19">
            <a:extLst>
              <a:ext uri="{FF2B5EF4-FFF2-40B4-BE49-F238E27FC236}">
                <a16:creationId xmlns:a16="http://schemas.microsoft.com/office/drawing/2014/main" id="{ED0E1905-39B5-FDF7-99C2-6B86435A5E34}"/>
              </a:ext>
            </a:extLst>
          </p:cNvPr>
          <p:cNvSpPr/>
          <p:nvPr/>
        </p:nvSpPr>
        <p:spPr>
          <a:xfrm>
            <a:off x="6007608" y="3163824"/>
            <a:ext cx="164592" cy="164592"/>
          </a:xfrm>
          <a:prstGeom prst="ellipse">
            <a:avLst/>
          </a:prstGeom>
          <a:solidFill>
            <a:srgbClr val="FFFFFF"/>
          </a:solidFill>
          <a:ln w="15875">
            <a:solidFill>
              <a:srgbClr val="A2442B"/>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93" name="Shape 20">
            <a:extLst>
              <a:ext uri="{FF2B5EF4-FFF2-40B4-BE49-F238E27FC236}">
                <a16:creationId xmlns:a16="http://schemas.microsoft.com/office/drawing/2014/main" id="{A09E749F-706A-19DD-3DE0-13B53DE84EE4}"/>
              </a:ext>
            </a:extLst>
          </p:cNvPr>
          <p:cNvSpPr/>
          <p:nvPr/>
        </p:nvSpPr>
        <p:spPr>
          <a:xfrm>
            <a:off x="6172200" y="3291840"/>
            <a:ext cx="960120" cy="292608"/>
          </a:xfrm>
          <a:prstGeom prst="line">
            <a:avLst/>
          </a:prstGeom>
          <a:noFill/>
          <a:ln w="7620">
            <a:solidFill>
              <a:srgbClr val="A2442B"/>
            </a:solidFill>
            <a:prstDash val="dash"/>
          </a:ln>
        </p:spPr>
        <p:txBody>
          <a:bodyPr/>
          <a:lstStyle/>
          <a:p>
            <a:endParaRPr lang="en-GB" sz="2000">
              <a:latin typeface="Times New Roman" panose="02020603050405020304" pitchFamily="18" charset="0"/>
              <a:cs typeface="Times New Roman" panose="02020603050405020304" pitchFamily="18" charset="0"/>
            </a:endParaRPr>
          </a:p>
        </p:txBody>
      </p:sp>
      <p:sp>
        <p:nvSpPr>
          <p:cNvPr id="95" name="Text 21">
            <a:extLst>
              <a:ext uri="{FF2B5EF4-FFF2-40B4-BE49-F238E27FC236}">
                <a16:creationId xmlns:a16="http://schemas.microsoft.com/office/drawing/2014/main" id="{04FEAA3B-7B5F-FF89-A949-235C9340A73E}"/>
              </a:ext>
            </a:extLst>
          </p:cNvPr>
          <p:cNvSpPr/>
          <p:nvPr/>
        </p:nvSpPr>
        <p:spPr>
          <a:xfrm>
            <a:off x="7150608" y="3560078"/>
            <a:ext cx="2743200" cy="182880"/>
          </a:xfrm>
          <a:prstGeom prst="rect">
            <a:avLst/>
          </a:prstGeom>
          <a:noFill/>
          <a:ln/>
        </p:spPr>
        <p:txBody>
          <a:bodyPr wrap="square" lIns="0" tIns="0" rIns="0" bIns="0" rtlCol="0" anchor="ctr"/>
          <a:lstStyle/>
          <a:p>
            <a:pPr marL="0" indent="0">
              <a:buNone/>
            </a:pPr>
            <a:r>
              <a:rPr lang="en-US" sz="800" kern="0" spc="80" dirty="0">
                <a:solidFill>
                  <a:srgbClr val="A2442B"/>
                </a:solidFill>
                <a:latin typeface="Times New Roman" panose="02020603050405020304" pitchFamily="18" charset="0"/>
                <a:ea typeface="Consolas" pitchFamily="34" charset="-122"/>
                <a:cs typeface="Times New Roman" panose="02020603050405020304" pitchFamily="18" charset="0"/>
              </a:rPr>
              <a:t>BOTTLENECKS 2 &amp; 3</a:t>
            </a:r>
            <a:endParaRPr lang="en-US" sz="800" dirty="0">
              <a:latin typeface="Times New Roman" panose="02020603050405020304" pitchFamily="18" charset="0"/>
              <a:cs typeface="Times New Roman" panose="02020603050405020304" pitchFamily="18" charset="0"/>
            </a:endParaRPr>
          </a:p>
        </p:txBody>
      </p:sp>
      <p:sp>
        <p:nvSpPr>
          <p:cNvPr id="97" name="Text 22">
            <a:extLst>
              <a:ext uri="{FF2B5EF4-FFF2-40B4-BE49-F238E27FC236}">
                <a16:creationId xmlns:a16="http://schemas.microsoft.com/office/drawing/2014/main" id="{CDA66650-6652-6646-7889-C037DAD6B9A8}"/>
              </a:ext>
            </a:extLst>
          </p:cNvPr>
          <p:cNvSpPr/>
          <p:nvPr/>
        </p:nvSpPr>
        <p:spPr>
          <a:xfrm>
            <a:off x="7150608" y="3648456"/>
            <a:ext cx="3291840" cy="457200"/>
          </a:xfrm>
          <a:prstGeom prst="rect">
            <a:avLst/>
          </a:prstGeom>
          <a:noFill/>
          <a:ln/>
        </p:spPr>
        <p:txBody>
          <a:bodyPr wrap="square" lIns="0" tIns="0" rIns="0" bIns="0" rtlCol="0" anchor="ctr"/>
          <a:lstStyle/>
          <a:p>
            <a:pPr marL="0" indent="0">
              <a:buNone/>
            </a:pPr>
            <a:r>
              <a:rPr lang="en-US" sz="900" dirty="0">
                <a:solidFill>
                  <a:srgbClr val="4A5058"/>
                </a:solidFill>
                <a:latin typeface="Times New Roman" panose="02020603050405020304" pitchFamily="18" charset="0"/>
                <a:ea typeface="Calibri" pitchFamily="34" charset="-122"/>
                <a:cs typeface="Times New Roman" panose="02020603050405020304" pitchFamily="18" charset="0"/>
              </a:rPr>
              <a:t>clean-pair data requirement → down branch</a:t>
            </a:r>
            <a:endParaRPr lang="en-US" sz="900" dirty="0">
              <a:latin typeface="Times New Roman" panose="02020603050405020304" pitchFamily="18" charset="0"/>
              <a:cs typeface="Times New Roman" panose="02020603050405020304" pitchFamily="18" charset="0"/>
            </a:endParaRPr>
          </a:p>
          <a:p>
            <a:pPr marL="0" indent="0">
              <a:buNone/>
            </a:pPr>
            <a:r>
              <a:rPr lang="en-US" sz="900" dirty="0">
                <a:solidFill>
                  <a:srgbClr val="4A5058"/>
                </a:solidFill>
                <a:latin typeface="Times New Roman" panose="02020603050405020304" pitchFamily="18" charset="0"/>
                <a:ea typeface="Calibri" pitchFamily="34" charset="-122"/>
                <a:cs typeface="Times New Roman" panose="02020603050405020304" pitchFamily="18" charset="0"/>
              </a:rPr>
              <a:t>limited receptive field → up branch</a:t>
            </a:r>
            <a:endParaRPr lang="en-US" sz="900" dirty="0">
              <a:latin typeface="Times New Roman" panose="02020603050405020304" pitchFamily="18" charset="0"/>
              <a:cs typeface="Times New Roman" panose="02020603050405020304" pitchFamily="18" charset="0"/>
            </a:endParaRPr>
          </a:p>
        </p:txBody>
      </p:sp>
      <p:sp>
        <p:nvSpPr>
          <p:cNvPr id="99" name="Shape 23">
            <a:extLst>
              <a:ext uri="{FF2B5EF4-FFF2-40B4-BE49-F238E27FC236}">
                <a16:creationId xmlns:a16="http://schemas.microsoft.com/office/drawing/2014/main" id="{5D46C6B0-9D20-CBBD-9276-12795182BA29}"/>
              </a:ext>
            </a:extLst>
          </p:cNvPr>
          <p:cNvSpPr/>
          <p:nvPr/>
        </p:nvSpPr>
        <p:spPr>
          <a:xfrm>
            <a:off x="800100" y="3177540"/>
            <a:ext cx="137160" cy="137160"/>
          </a:xfrm>
          <a:prstGeom prst="ellipse">
            <a:avLst/>
          </a:prstGeom>
          <a:solidFill>
            <a:srgbClr val="6E6350"/>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01" name="Shape 26">
            <a:extLst>
              <a:ext uri="{FF2B5EF4-FFF2-40B4-BE49-F238E27FC236}">
                <a16:creationId xmlns:a16="http://schemas.microsoft.com/office/drawing/2014/main" id="{23AF13C6-AA30-3F63-9321-E8E9C47A5519}"/>
              </a:ext>
            </a:extLst>
          </p:cNvPr>
          <p:cNvSpPr/>
          <p:nvPr/>
        </p:nvSpPr>
        <p:spPr>
          <a:xfrm>
            <a:off x="868680" y="3008376"/>
            <a:ext cx="0" cy="169164"/>
          </a:xfrm>
          <a:prstGeom prst="line">
            <a:avLst/>
          </a:prstGeom>
          <a:noFill/>
          <a:ln w="9525">
            <a:solidFill>
              <a:srgbClr val="6E6350"/>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03" name="Shape 27">
            <a:extLst>
              <a:ext uri="{FF2B5EF4-FFF2-40B4-BE49-F238E27FC236}">
                <a16:creationId xmlns:a16="http://schemas.microsoft.com/office/drawing/2014/main" id="{C6AB4069-AFA0-1FC7-2173-9A2CBF307C38}"/>
              </a:ext>
            </a:extLst>
          </p:cNvPr>
          <p:cNvSpPr/>
          <p:nvPr/>
        </p:nvSpPr>
        <p:spPr>
          <a:xfrm>
            <a:off x="2811780" y="3177540"/>
            <a:ext cx="137160" cy="137160"/>
          </a:xfrm>
          <a:prstGeom prst="ellipse">
            <a:avLst/>
          </a:prstGeom>
          <a:solidFill>
            <a:srgbClr val="6E6350"/>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05" name="Text 28">
            <a:extLst>
              <a:ext uri="{FF2B5EF4-FFF2-40B4-BE49-F238E27FC236}">
                <a16:creationId xmlns:a16="http://schemas.microsoft.com/office/drawing/2014/main" id="{108769F3-485B-320F-5258-2CCC050FF7DF}"/>
              </a:ext>
            </a:extLst>
          </p:cNvPr>
          <p:cNvSpPr/>
          <p:nvPr/>
        </p:nvSpPr>
        <p:spPr>
          <a:xfrm>
            <a:off x="2011680" y="2587752"/>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WNNM</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07" name="Text 29">
            <a:extLst>
              <a:ext uri="{FF2B5EF4-FFF2-40B4-BE49-F238E27FC236}">
                <a16:creationId xmlns:a16="http://schemas.microsoft.com/office/drawing/2014/main" id="{50818204-DB74-90B9-5DE5-300D0D560EAD}"/>
              </a:ext>
            </a:extLst>
          </p:cNvPr>
          <p:cNvSpPr/>
          <p:nvPr/>
        </p:nvSpPr>
        <p:spPr>
          <a:xfrm>
            <a:off x="2011680" y="2788920"/>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2014 · CVPR</a:t>
            </a:r>
            <a:endParaRPr lang="en-US" sz="800" dirty="0">
              <a:latin typeface="Times New Roman" panose="02020603050405020304" pitchFamily="18" charset="0"/>
              <a:cs typeface="Times New Roman" panose="02020603050405020304" pitchFamily="18" charset="0"/>
            </a:endParaRPr>
          </a:p>
        </p:txBody>
      </p:sp>
      <p:sp>
        <p:nvSpPr>
          <p:cNvPr id="109" name="Shape 30">
            <a:extLst>
              <a:ext uri="{FF2B5EF4-FFF2-40B4-BE49-F238E27FC236}">
                <a16:creationId xmlns:a16="http://schemas.microsoft.com/office/drawing/2014/main" id="{9EFC923B-04FB-B14F-2001-EBF8E1AA371C}"/>
              </a:ext>
            </a:extLst>
          </p:cNvPr>
          <p:cNvSpPr/>
          <p:nvPr/>
        </p:nvSpPr>
        <p:spPr>
          <a:xfrm>
            <a:off x="2880360" y="3008376"/>
            <a:ext cx="0" cy="169164"/>
          </a:xfrm>
          <a:prstGeom prst="line">
            <a:avLst/>
          </a:prstGeom>
          <a:noFill/>
          <a:ln w="9525">
            <a:solidFill>
              <a:srgbClr val="6E6350"/>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11" name="Shape 31">
            <a:extLst>
              <a:ext uri="{FF2B5EF4-FFF2-40B4-BE49-F238E27FC236}">
                <a16:creationId xmlns:a16="http://schemas.microsoft.com/office/drawing/2014/main" id="{10D6DB8F-434B-9F21-9003-F85DD1E7B105}"/>
              </a:ext>
            </a:extLst>
          </p:cNvPr>
          <p:cNvSpPr/>
          <p:nvPr/>
        </p:nvSpPr>
        <p:spPr>
          <a:xfrm>
            <a:off x="4457700" y="3177540"/>
            <a:ext cx="137160" cy="137160"/>
          </a:xfrm>
          <a:prstGeom prst="ellipse">
            <a:avLst/>
          </a:prstGeom>
          <a:solidFill>
            <a:srgbClr val="1E5F7E"/>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13" name="Text 32">
            <a:extLst>
              <a:ext uri="{FF2B5EF4-FFF2-40B4-BE49-F238E27FC236}">
                <a16:creationId xmlns:a16="http://schemas.microsoft.com/office/drawing/2014/main" id="{5E50FBF8-B6A1-92ED-9E25-30C4ABFB593D}"/>
              </a:ext>
            </a:extLst>
          </p:cNvPr>
          <p:cNvSpPr/>
          <p:nvPr/>
        </p:nvSpPr>
        <p:spPr>
          <a:xfrm>
            <a:off x="3657600" y="2587752"/>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TNRD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15" name="Text 33">
            <a:extLst>
              <a:ext uri="{FF2B5EF4-FFF2-40B4-BE49-F238E27FC236}">
                <a16:creationId xmlns:a16="http://schemas.microsoft.com/office/drawing/2014/main" id="{9A26F5DC-AC6A-F14E-CC90-8E3094C5311B}"/>
              </a:ext>
            </a:extLst>
          </p:cNvPr>
          <p:cNvSpPr/>
          <p:nvPr/>
        </p:nvSpPr>
        <p:spPr>
          <a:xfrm>
            <a:off x="3657600" y="2788920"/>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2017 · TPAMI</a:t>
            </a:r>
            <a:endParaRPr lang="en-US" sz="800" dirty="0">
              <a:latin typeface="Times New Roman" panose="02020603050405020304" pitchFamily="18" charset="0"/>
              <a:cs typeface="Times New Roman" panose="02020603050405020304" pitchFamily="18" charset="0"/>
            </a:endParaRPr>
          </a:p>
        </p:txBody>
      </p:sp>
      <p:sp>
        <p:nvSpPr>
          <p:cNvPr id="117" name="Shape 34">
            <a:extLst>
              <a:ext uri="{FF2B5EF4-FFF2-40B4-BE49-F238E27FC236}">
                <a16:creationId xmlns:a16="http://schemas.microsoft.com/office/drawing/2014/main" id="{3F2B3ADC-1F9F-5852-C8C9-26F8E437C484}"/>
              </a:ext>
            </a:extLst>
          </p:cNvPr>
          <p:cNvSpPr/>
          <p:nvPr/>
        </p:nvSpPr>
        <p:spPr>
          <a:xfrm>
            <a:off x="4526280" y="3008376"/>
            <a:ext cx="0" cy="169164"/>
          </a:xfrm>
          <a:prstGeom prst="line">
            <a:avLst/>
          </a:prstGeom>
          <a:noFill/>
          <a:ln w="9525">
            <a:solidFill>
              <a:srgbClr val="1E5F7E"/>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19" name="Shape 35">
            <a:extLst>
              <a:ext uri="{FF2B5EF4-FFF2-40B4-BE49-F238E27FC236}">
                <a16:creationId xmlns:a16="http://schemas.microsoft.com/office/drawing/2014/main" id="{318C08B8-B978-D1DE-9B8E-7D76DE1D26CA}"/>
              </a:ext>
            </a:extLst>
          </p:cNvPr>
          <p:cNvSpPr/>
          <p:nvPr/>
        </p:nvSpPr>
        <p:spPr>
          <a:xfrm>
            <a:off x="5532120" y="3154680"/>
            <a:ext cx="182880" cy="182880"/>
          </a:xfrm>
          <a:prstGeom prst="ellipse">
            <a:avLst/>
          </a:prstGeom>
          <a:solidFill>
            <a:srgbClr val="1E5F7E"/>
          </a:solidFill>
          <a:ln w="19050">
            <a:solidFill>
              <a:srgbClr val="FFFFFF"/>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21" name="Text 36">
            <a:extLst>
              <a:ext uri="{FF2B5EF4-FFF2-40B4-BE49-F238E27FC236}">
                <a16:creationId xmlns:a16="http://schemas.microsoft.com/office/drawing/2014/main" id="{6206F506-16E8-5739-8331-8C0A5E3CE1E8}"/>
              </a:ext>
            </a:extLst>
          </p:cNvPr>
          <p:cNvSpPr/>
          <p:nvPr/>
        </p:nvSpPr>
        <p:spPr>
          <a:xfrm>
            <a:off x="4754880" y="2587752"/>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DnCNN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23" name="Text 37">
            <a:extLst>
              <a:ext uri="{FF2B5EF4-FFF2-40B4-BE49-F238E27FC236}">
                <a16:creationId xmlns:a16="http://schemas.microsoft.com/office/drawing/2014/main" id="{B8BFF35A-1E6F-02F5-7A4B-11F34BB40703}"/>
              </a:ext>
            </a:extLst>
          </p:cNvPr>
          <p:cNvSpPr/>
          <p:nvPr/>
        </p:nvSpPr>
        <p:spPr>
          <a:xfrm>
            <a:off x="4754880" y="2788920"/>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2017 · ANCHOR</a:t>
            </a:r>
            <a:endParaRPr lang="en-US" sz="800" dirty="0">
              <a:latin typeface="Times New Roman" panose="02020603050405020304" pitchFamily="18" charset="0"/>
              <a:cs typeface="Times New Roman" panose="02020603050405020304" pitchFamily="18" charset="0"/>
            </a:endParaRPr>
          </a:p>
        </p:txBody>
      </p:sp>
      <p:sp>
        <p:nvSpPr>
          <p:cNvPr id="125" name="Shape 38">
            <a:extLst>
              <a:ext uri="{FF2B5EF4-FFF2-40B4-BE49-F238E27FC236}">
                <a16:creationId xmlns:a16="http://schemas.microsoft.com/office/drawing/2014/main" id="{1253E60F-693B-7E88-3E65-97314DB53449}"/>
              </a:ext>
            </a:extLst>
          </p:cNvPr>
          <p:cNvSpPr/>
          <p:nvPr/>
        </p:nvSpPr>
        <p:spPr>
          <a:xfrm>
            <a:off x="5623560" y="3008376"/>
            <a:ext cx="0" cy="146304"/>
          </a:xfrm>
          <a:prstGeom prst="line">
            <a:avLst/>
          </a:prstGeom>
          <a:noFill/>
          <a:ln w="9525">
            <a:solidFill>
              <a:srgbClr val="1E5F7E"/>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27" name="Shape 39">
            <a:extLst>
              <a:ext uri="{FF2B5EF4-FFF2-40B4-BE49-F238E27FC236}">
                <a16:creationId xmlns:a16="http://schemas.microsoft.com/office/drawing/2014/main" id="{D1B76852-7ADD-3E8A-3034-60990136E33C}"/>
              </a:ext>
            </a:extLst>
          </p:cNvPr>
          <p:cNvSpPr/>
          <p:nvPr/>
        </p:nvSpPr>
        <p:spPr>
          <a:xfrm>
            <a:off x="7383780" y="2263140"/>
            <a:ext cx="137160" cy="137160"/>
          </a:xfrm>
          <a:prstGeom prst="ellipse">
            <a:avLst/>
          </a:prstGeom>
          <a:solidFill>
            <a:srgbClr val="6D3F86"/>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29" name="Text 40">
            <a:extLst>
              <a:ext uri="{FF2B5EF4-FFF2-40B4-BE49-F238E27FC236}">
                <a16:creationId xmlns:a16="http://schemas.microsoft.com/office/drawing/2014/main" id="{9C75B4D0-2236-42B1-2532-734DC85450ED}"/>
              </a:ext>
            </a:extLst>
          </p:cNvPr>
          <p:cNvSpPr/>
          <p:nvPr/>
        </p:nvSpPr>
        <p:spPr>
          <a:xfrm>
            <a:off x="6583680" y="1673352"/>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Restormer</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31" name="Text 41">
            <a:extLst>
              <a:ext uri="{FF2B5EF4-FFF2-40B4-BE49-F238E27FC236}">
                <a16:creationId xmlns:a16="http://schemas.microsoft.com/office/drawing/2014/main" id="{995C1E92-3EB9-F7FD-7023-423A9680CBB2}"/>
              </a:ext>
            </a:extLst>
          </p:cNvPr>
          <p:cNvSpPr/>
          <p:nvPr/>
        </p:nvSpPr>
        <p:spPr>
          <a:xfrm>
            <a:off x="6583680" y="1874520"/>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2022 · CVPR</a:t>
            </a:r>
            <a:endParaRPr lang="en-US" sz="800" dirty="0">
              <a:latin typeface="Times New Roman" panose="02020603050405020304" pitchFamily="18" charset="0"/>
              <a:cs typeface="Times New Roman" panose="02020603050405020304" pitchFamily="18" charset="0"/>
            </a:endParaRPr>
          </a:p>
        </p:txBody>
      </p:sp>
      <p:sp>
        <p:nvSpPr>
          <p:cNvPr id="133" name="Shape 42">
            <a:extLst>
              <a:ext uri="{FF2B5EF4-FFF2-40B4-BE49-F238E27FC236}">
                <a16:creationId xmlns:a16="http://schemas.microsoft.com/office/drawing/2014/main" id="{F044222E-690E-2CF3-6EBE-77C55DE9926B}"/>
              </a:ext>
            </a:extLst>
          </p:cNvPr>
          <p:cNvSpPr/>
          <p:nvPr/>
        </p:nvSpPr>
        <p:spPr>
          <a:xfrm>
            <a:off x="7452360" y="2093976"/>
            <a:ext cx="0" cy="169164"/>
          </a:xfrm>
          <a:prstGeom prst="line">
            <a:avLst/>
          </a:prstGeom>
          <a:noFill/>
          <a:ln w="9525">
            <a:solidFill>
              <a:srgbClr val="6D3F86"/>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35" name="Shape 43">
            <a:extLst>
              <a:ext uri="{FF2B5EF4-FFF2-40B4-BE49-F238E27FC236}">
                <a16:creationId xmlns:a16="http://schemas.microsoft.com/office/drawing/2014/main" id="{4C1C020F-6780-EF01-E0B7-212569DD43D0}"/>
              </a:ext>
            </a:extLst>
          </p:cNvPr>
          <p:cNvSpPr/>
          <p:nvPr/>
        </p:nvSpPr>
        <p:spPr>
          <a:xfrm>
            <a:off x="8846820" y="2263140"/>
            <a:ext cx="137160" cy="137160"/>
          </a:xfrm>
          <a:prstGeom prst="ellipse">
            <a:avLst/>
          </a:prstGeom>
          <a:solidFill>
            <a:srgbClr val="6D3F86"/>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37" name="Text 44">
            <a:extLst>
              <a:ext uri="{FF2B5EF4-FFF2-40B4-BE49-F238E27FC236}">
                <a16:creationId xmlns:a16="http://schemas.microsoft.com/office/drawing/2014/main" id="{ECE679C2-83D8-9384-A475-F4221A825F0A}"/>
              </a:ext>
            </a:extLst>
          </p:cNvPr>
          <p:cNvSpPr/>
          <p:nvPr/>
        </p:nvSpPr>
        <p:spPr>
          <a:xfrm>
            <a:off x="8046720" y="1673352"/>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NAFNet</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39" name="Text 45">
            <a:extLst>
              <a:ext uri="{FF2B5EF4-FFF2-40B4-BE49-F238E27FC236}">
                <a16:creationId xmlns:a16="http://schemas.microsoft.com/office/drawing/2014/main" id="{06FB9F39-2ADA-F412-E0DC-64FE3B93356B}"/>
              </a:ext>
            </a:extLst>
          </p:cNvPr>
          <p:cNvSpPr/>
          <p:nvPr/>
        </p:nvSpPr>
        <p:spPr>
          <a:xfrm>
            <a:off x="8046720" y="1874520"/>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2022 · ECCV</a:t>
            </a:r>
            <a:endParaRPr lang="en-US" sz="800" dirty="0">
              <a:latin typeface="Times New Roman" panose="02020603050405020304" pitchFamily="18" charset="0"/>
              <a:cs typeface="Times New Roman" panose="02020603050405020304" pitchFamily="18" charset="0"/>
            </a:endParaRPr>
          </a:p>
        </p:txBody>
      </p:sp>
      <p:sp>
        <p:nvSpPr>
          <p:cNvPr id="141" name="Shape 46">
            <a:extLst>
              <a:ext uri="{FF2B5EF4-FFF2-40B4-BE49-F238E27FC236}">
                <a16:creationId xmlns:a16="http://schemas.microsoft.com/office/drawing/2014/main" id="{00F274B3-DC45-0016-F77D-863BFA3FF3AC}"/>
              </a:ext>
            </a:extLst>
          </p:cNvPr>
          <p:cNvSpPr/>
          <p:nvPr/>
        </p:nvSpPr>
        <p:spPr>
          <a:xfrm>
            <a:off x="8915400" y="2093976"/>
            <a:ext cx="0" cy="169164"/>
          </a:xfrm>
          <a:prstGeom prst="line">
            <a:avLst/>
          </a:prstGeom>
          <a:noFill/>
          <a:ln w="9525">
            <a:solidFill>
              <a:srgbClr val="6D3F86"/>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43" name="Shape 47">
            <a:extLst>
              <a:ext uri="{FF2B5EF4-FFF2-40B4-BE49-F238E27FC236}">
                <a16:creationId xmlns:a16="http://schemas.microsoft.com/office/drawing/2014/main" id="{2FFEAD5F-1AD3-BD62-3424-E40C38C5A9FF}"/>
              </a:ext>
            </a:extLst>
          </p:cNvPr>
          <p:cNvSpPr/>
          <p:nvPr/>
        </p:nvSpPr>
        <p:spPr>
          <a:xfrm>
            <a:off x="10081260" y="2263140"/>
            <a:ext cx="137160" cy="137160"/>
          </a:xfrm>
          <a:prstGeom prst="ellipse">
            <a:avLst/>
          </a:prstGeom>
          <a:solidFill>
            <a:srgbClr val="6D3F86"/>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45" name="Text 48">
            <a:extLst>
              <a:ext uri="{FF2B5EF4-FFF2-40B4-BE49-F238E27FC236}">
                <a16:creationId xmlns:a16="http://schemas.microsoft.com/office/drawing/2014/main" id="{94C5F342-1471-7C48-D994-B5297CD1C493}"/>
              </a:ext>
            </a:extLst>
          </p:cNvPr>
          <p:cNvSpPr/>
          <p:nvPr/>
        </p:nvSpPr>
        <p:spPr>
          <a:xfrm>
            <a:off x="9281160" y="2642616"/>
            <a:ext cx="1737360" cy="219456"/>
          </a:xfrm>
          <a:prstGeom prst="rect">
            <a:avLst/>
          </a:prstGeom>
          <a:noFill/>
          <a:ln/>
        </p:spPr>
        <p:txBody>
          <a:bodyPr wrap="square" lIns="0" tIns="0" rIns="0" bIns="0" rtlCol="0" anchor="ctr"/>
          <a:lstStyle/>
          <a:p>
            <a:pPr marL="0" indent="0" algn="ctr">
              <a:buNone/>
            </a:pPr>
            <a:r>
              <a:rPr lang="en-US" sz="1100" b="1" dirty="0">
                <a:solidFill>
                  <a:srgbClr val="14161A"/>
                </a:solidFill>
                <a:latin typeface="Times New Roman" panose="02020603050405020304" pitchFamily="18" charset="0"/>
                <a:ea typeface="Calibri" pitchFamily="34" charset="-122"/>
                <a:cs typeface="Times New Roman" panose="02020603050405020304" pitchFamily="18" charset="0"/>
              </a:rPr>
              <a:t>SCUNet</a:t>
            </a:r>
            <a:endParaRPr lang="en-US" sz="1100" dirty="0">
              <a:latin typeface="Times New Roman" panose="02020603050405020304" pitchFamily="18" charset="0"/>
              <a:cs typeface="Times New Roman" panose="02020603050405020304" pitchFamily="18" charset="0"/>
            </a:endParaRPr>
          </a:p>
        </p:txBody>
      </p:sp>
      <p:sp>
        <p:nvSpPr>
          <p:cNvPr id="147" name="Text 49">
            <a:extLst>
              <a:ext uri="{FF2B5EF4-FFF2-40B4-BE49-F238E27FC236}">
                <a16:creationId xmlns:a16="http://schemas.microsoft.com/office/drawing/2014/main" id="{E688ED6C-2ED0-A74D-A6BD-53FC2E278BD6}"/>
              </a:ext>
            </a:extLst>
          </p:cNvPr>
          <p:cNvSpPr/>
          <p:nvPr/>
        </p:nvSpPr>
        <p:spPr>
          <a:xfrm>
            <a:off x="9281160" y="2843784"/>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2023 · MIR</a:t>
            </a:r>
            <a:endParaRPr lang="en-US" sz="800" dirty="0">
              <a:latin typeface="Times New Roman" panose="02020603050405020304" pitchFamily="18" charset="0"/>
              <a:cs typeface="Times New Roman" panose="02020603050405020304" pitchFamily="18" charset="0"/>
            </a:endParaRPr>
          </a:p>
        </p:txBody>
      </p:sp>
      <p:sp>
        <p:nvSpPr>
          <p:cNvPr id="149" name="Shape 50">
            <a:extLst>
              <a:ext uri="{FF2B5EF4-FFF2-40B4-BE49-F238E27FC236}">
                <a16:creationId xmlns:a16="http://schemas.microsoft.com/office/drawing/2014/main" id="{8A808F49-1966-58A8-718B-6D5B11C98A7D}"/>
              </a:ext>
            </a:extLst>
          </p:cNvPr>
          <p:cNvSpPr/>
          <p:nvPr/>
        </p:nvSpPr>
        <p:spPr>
          <a:xfrm>
            <a:off x="10149840" y="2404872"/>
            <a:ext cx="0" cy="237744"/>
          </a:xfrm>
          <a:prstGeom prst="line">
            <a:avLst/>
          </a:prstGeom>
          <a:noFill/>
          <a:ln w="9525">
            <a:solidFill>
              <a:srgbClr val="6D3F86"/>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51" name="Shape 51">
            <a:extLst>
              <a:ext uri="{FF2B5EF4-FFF2-40B4-BE49-F238E27FC236}">
                <a16:creationId xmlns:a16="http://schemas.microsoft.com/office/drawing/2014/main" id="{EBEE61F9-7C1B-D129-EDDE-6BC0FC7CCCF6}"/>
              </a:ext>
            </a:extLst>
          </p:cNvPr>
          <p:cNvSpPr/>
          <p:nvPr/>
        </p:nvSpPr>
        <p:spPr>
          <a:xfrm>
            <a:off x="11224260" y="2263140"/>
            <a:ext cx="137160" cy="137160"/>
          </a:xfrm>
          <a:prstGeom prst="ellipse">
            <a:avLst/>
          </a:prstGeom>
          <a:solidFill>
            <a:srgbClr val="6D3F86"/>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53" name="Shape 54">
            <a:extLst>
              <a:ext uri="{FF2B5EF4-FFF2-40B4-BE49-F238E27FC236}">
                <a16:creationId xmlns:a16="http://schemas.microsoft.com/office/drawing/2014/main" id="{0FFCC52E-D475-C454-622A-6EE39C463A73}"/>
              </a:ext>
            </a:extLst>
          </p:cNvPr>
          <p:cNvSpPr/>
          <p:nvPr/>
        </p:nvSpPr>
        <p:spPr>
          <a:xfrm>
            <a:off x="11292840" y="2093976"/>
            <a:ext cx="0" cy="169164"/>
          </a:xfrm>
          <a:prstGeom prst="line">
            <a:avLst/>
          </a:prstGeom>
          <a:noFill/>
          <a:ln w="9525">
            <a:solidFill>
              <a:srgbClr val="6D3F86"/>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55" name="Shape 55">
            <a:extLst>
              <a:ext uri="{FF2B5EF4-FFF2-40B4-BE49-F238E27FC236}">
                <a16:creationId xmlns:a16="http://schemas.microsoft.com/office/drawing/2014/main" id="{885331AF-4223-EC94-BC54-07603A358BFE}"/>
              </a:ext>
            </a:extLst>
          </p:cNvPr>
          <p:cNvSpPr/>
          <p:nvPr/>
        </p:nvSpPr>
        <p:spPr>
          <a:xfrm>
            <a:off x="7566660" y="4823460"/>
            <a:ext cx="137160" cy="137160"/>
          </a:xfrm>
          <a:prstGeom prst="ellipse">
            <a:avLst/>
          </a:prstGeom>
          <a:solidFill>
            <a:srgbClr val="6D3F86"/>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57" name="Text 56">
            <a:extLst>
              <a:ext uri="{FF2B5EF4-FFF2-40B4-BE49-F238E27FC236}">
                <a16:creationId xmlns:a16="http://schemas.microsoft.com/office/drawing/2014/main" id="{4958C2CF-CFD0-C54D-4B20-73DBDCE01876}"/>
              </a:ext>
            </a:extLst>
          </p:cNvPr>
          <p:cNvSpPr/>
          <p:nvPr/>
        </p:nvSpPr>
        <p:spPr>
          <a:xfrm>
            <a:off x="6766560" y="5202936"/>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Noise2Noise</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59" name="Text 57">
            <a:extLst>
              <a:ext uri="{FF2B5EF4-FFF2-40B4-BE49-F238E27FC236}">
                <a16:creationId xmlns:a16="http://schemas.microsoft.com/office/drawing/2014/main" id="{E79EE78C-45D3-8AF2-A5A6-C00C73A42F43}"/>
              </a:ext>
            </a:extLst>
          </p:cNvPr>
          <p:cNvSpPr/>
          <p:nvPr/>
        </p:nvSpPr>
        <p:spPr>
          <a:xfrm>
            <a:off x="6766560" y="5404104"/>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2018 · ICML</a:t>
            </a:r>
            <a:endParaRPr lang="en-US" sz="800" dirty="0">
              <a:latin typeface="Times New Roman" panose="02020603050405020304" pitchFamily="18" charset="0"/>
              <a:cs typeface="Times New Roman" panose="02020603050405020304" pitchFamily="18" charset="0"/>
            </a:endParaRPr>
          </a:p>
        </p:txBody>
      </p:sp>
      <p:sp>
        <p:nvSpPr>
          <p:cNvPr id="161" name="Shape 58">
            <a:extLst>
              <a:ext uri="{FF2B5EF4-FFF2-40B4-BE49-F238E27FC236}">
                <a16:creationId xmlns:a16="http://schemas.microsoft.com/office/drawing/2014/main" id="{B93DB1BF-1726-09A1-0255-1EE23C2C1463}"/>
              </a:ext>
            </a:extLst>
          </p:cNvPr>
          <p:cNvSpPr/>
          <p:nvPr/>
        </p:nvSpPr>
        <p:spPr>
          <a:xfrm>
            <a:off x="7635240" y="4965192"/>
            <a:ext cx="0" cy="237744"/>
          </a:xfrm>
          <a:prstGeom prst="line">
            <a:avLst/>
          </a:prstGeom>
          <a:noFill/>
          <a:ln w="9525">
            <a:solidFill>
              <a:srgbClr val="6D3F86"/>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63" name="Shape 59">
            <a:extLst>
              <a:ext uri="{FF2B5EF4-FFF2-40B4-BE49-F238E27FC236}">
                <a16:creationId xmlns:a16="http://schemas.microsoft.com/office/drawing/2014/main" id="{F511E8B3-0C10-FD91-56A5-D60D730EAE26}"/>
              </a:ext>
            </a:extLst>
          </p:cNvPr>
          <p:cNvSpPr/>
          <p:nvPr/>
        </p:nvSpPr>
        <p:spPr>
          <a:xfrm>
            <a:off x="9212580" y="4823460"/>
            <a:ext cx="137160" cy="137160"/>
          </a:xfrm>
          <a:prstGeom prst="ellipse">
            <a:avLst/>
          </a:prstGeom>
          <a:solidFill>
            <a:srgbClr val="6D3F86"/>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65" name="Text 60">
            <a:extLst>
              <a:ext uri="{FF2B5EF4-FFF2-40B4-BE49-F238E27FC236}">
                <a16:creationId xmlns:a16="http://schemas.microsoft.com/office/drawing/2014/main" id="{5ABDA4EE-A781-AFA0-E683-27EBB5AD09F6}"/>
              </a:ext>
            </a:extLst>
          </p:cNvPr>
          <p:cNvSpPr/>
          <p:nvPr/>
        </p:nvSpPr>
        <p:spPr>
          <a:xfrm>
            <a:off x="8412480" y="5202936"/>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Noise2Void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67" name="Text 61">
            <a:extLst>
              <a:ext uri="{FF2B5EF4-FFF2-40B4-BE49-F238E27FC236}">
                <a16:creationId xmlns:a16="http://schemas.microsoft.com/office/drawing/2014/main" id="{E320C528-0EF9-CB14-E764-77E0890FF9F2}"/>
              </a:ext>
            </a:extLst>
          </p:cNvPr>
          <p:cNvSpPr/>
          <p:nvPr/>
        </p:nvSpPr>
        <p:spPr>
          <a:xfrm>
            <a:off x="8412480" y="5404104"/>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2019 · CVPR</a:t>
            </a:r>
            <a:endParaRPr lang="en-US" sz="800" dirty="0">
              <a:latin typeface="Times New Roman" panose="02020603050405020304" pitchFamily="18" charset="0"/>
              <a:cs typeface="Times New Roman" panose="02020603050405020304" pitchFamily="18" charset="0"/>
            </a:endParaRPr>
          </a:p>
        </p:txBody>
      </p:sp>
      <p:sp>
        <p:nvSpPr>
          <p:cNvPr id="169" name="Shape 62">
            <a:extLst>
              <a:ext uri="{FF2B5EF4-FFF2-40B4-BE49-F238E27FC236}">
                <a16:creationId xmlns:a16="http://schemas.microsoft.com/office/drawing/2014/main" id="{9C8C5041-8435-7FF0-321B-4ECF3A87CA66}"/>
              </a:ext>
            </a:extLst>
          </p:cNvPr>
          <p:cNvSpPr/>
          <p:nvPr/>
        </p:nvSpPr>
        <p:spPr>
          <a:xfrm>
            <a:off x="9281160" y="4965192"/>
            <a:ext cx="0" cy="237744"/>
          </a:xfrm>
          <a:prstGeom prst="line">
            <a:avLst/>
          </a:prstGeom>
          <a:noFill/>
          <a:ln w="9525">
            <a:solidFill>
              <a:srgbClr val="6D3F86"/>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71" name="Shape 63">
            <a:extLst>
              <a:ext uri="{FF2B5EF4-FFF2-40B4-BE49-F238E27FC236}">
                <a16:creationId xmlns:a16="http://schemas.microsoft.com/office/drawing/2014/main" id="{B623CFE8-F708-10FF-5AB2-70472556D1E0}"/>
              </a:ext>
            </a:extLst>
          </p:cNvPr>
          <p:cNvSpPr/>
          <p:nvPr/>
        </p:nvSpPr>
        <p:spPr>
          <a:xfrm>
            <a:off x="10995660" y="4823460"/>
            <a:ext cx="137160" cy="137160"/>
          </a:xfrm>
          <a:prstGeom prst="ellipse">
            <a:avLst/>
          </a:prstGeom>
          <a:solidFill>
            <a:srgbClr val="6D3F86"/>
          </a:solidFill>
          <a:ln w="12700">
            <a:solidFill>
              <a:srgbClr val="333333"/>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73" name="Text 64">
            <a:extLst>
              <a:ext uri="{FF2B5EF4-FFF2-40B4-BE49-F238E27FC236}">
                <a16:creationId xmlns:a16="http://schemas.microsoft.com/office/drawing/2014/main" id="{1DEC4E35-694E-8052-4C59-6D4D0679FBF8}"/>
              </a:ext>
            </a:extLst>
          </p:cNvPr>
          <p:cNvSpPr/>
          <p:nvPr/>
        </p:nvSpPr>
        <p:spPr>
          <a:xfrm>
            <a:off x="10195560" y="5202936"/>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ZS-N2N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75" name="Text 65">
            <a:extLst>
              <a:ext uri="{FF2B5EF4-FFF2-40B4-BE49-F238E27FC236}">
                <a16:creationId xmlns:a16="http://schemas.microsoft.com/office/drawing/2014/main" id="{B1D2C963-E4F2-C32F-EFD7-1876A6CDEC39}"/>
              </a:ext>
            </a:extLst>
          </p:cNvPr>
          <p:cNvSpPr/>
          <p:nvPr/>
        </p:nvSpPr>
        <p:spPr>
          <a:xfrm>
            <a:off x="10195560" y="5404104"/>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2023 · CVPR</a:t>
            </a:r>
            <a:endParaRPr lang="en-US" sz="800" dirty="0">
              <a:latin typeface="Times New Roman" panose="02020603050405020304" pitchFamily="18" charset="0"/>
              <a:cs typeface="Times New Roman" panose="02020603050405020304" pitchFamily="18" charset="0"/>
            </a:endParaRPr>
          </a:p>
        </p:txBody>
      </p:sp>
      <p:sp>
        <p:nvSpPr>
          <p:cNvPr id="177" name="Shape 66">
            <a:extLst>
              <a:ext uri="{FF2B5EF4-FFF2-40B4-BE49-F238E27FC236}">
                <a16:creationId xmlns:a16="http://schemas.microsoft.com/office/drawing/2014/main" id="{2483A712-4185-633A-1D50-AFAB9A9418C0}"/>
              </a:ext>
            </a:extLst>
          </p:cNvPr>
          <p:cNvSpPr/>
          <p:nvPr/>
        </p:nvSpPr>
        <p:spPr>
          <a:xfrm>
            <a:off x="11064240" y="4965192"/>
            <a:ext cx="0" cy="237744"/>
          </a:xfrm>
          <a:prstGeom prst="line">
            <a:avLst/>
          </a:prstGeom>
          <a:noFill/>
          <a:ln w="9525">
            <a:solidFill>
              <a:srgbClr val="6D3F86"/>
            </a:solidFill>
            <a:prstDash val="solid"/>
          </a:ln>
        </p:spPr>
        <p:txBody>
          <a:bodyPr/>
          <a:lstStyle/>
          <a:p>
            <a:endParaRPr lang="en-GB" sz="2000">
              <a:latin typeface="Times New Roman" panose="02020603050405020304" pitchFamily="18" charset="0"/>
              <a:cs typeface="Times New Roman" panose="02020603050405020304" pitchFamily="18" charset="0"/>
            </a:endParaRPr>
          </a:p>
        </p:txBody>
      </p:sp>
      <p:sp>
        <p:nvSpPr>
          <p:cNvPr id="179" name="Text 53">
            <a:extLst>
              <a:ext uri="{FF2B5EF4-FFF2-40B4-BE49-F238E27FC236}">
                <a16:creationId xmlns:a16="http://schemas.microsoft.com/office/drawing/2014/main" id="{967AD0BC-B3CA-3FD6-11D4-9FC02124882A}"/>
              </a:ext>
            </a:extLst>
          </p:cNvPr>
          <p:cNvSpPr/>
          <p:nvPr/>
        </p:nvSpPr>
        <p:spPr>
          <a:xfrm>
            <a:off x="10424160" y="1874520"/>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2024 · ECCV</a:t>
            </a:r>
            <a:endParaRPr lang="en-US" sz="800" dirty="0">
              <a:latin typeface="Times New Roman" panose="02020603050405020304" pitchFamily="18" charset="0"/>
              <a:cs typeface="Times New Roman" panose="02020603050405020304" pitchFamily="18" charset="0"/>
            </a:endParaRPr>
          </a:p>
        </p:txBody>
      </p:sp>
      <p:sp>
        <p:nvSpPr>
          <p:cNvPr id="181" name="Text 52">
            <a:extLst>
              <a:ext uri="{FF2B5EF4-FFF2-40B4-BE49-F238E27FC236}">
                <a16:creationId xmlns:a16="http://schemas.microsoft.com/office/drawing/2014/main" id="{F162BE18-FBF0-FAE4-C801-89BE40968E39}"/>
              </a:ext>
            </a:extLst>
          </p:cNvPr>
          <p:cNvSpPr/>
          <p:nvPr/>
        </p:nvSpPr>
        <p:spPr>
          <a:xfrm>
            <a:off x="10424160" y="1673352"/>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MambaIR</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83" name="Text 24">
            <a:extLst>
              <a:ext uri="{FF2B5EF4-FFF2-40B4-BE49-F238E27FC236}">
                <a16:creationId xmlns:a16="http://schemas.microsoft.com/office/drawing/2014/main" id="{F6EF2651-5393-07C9-761F-2BB0BE69CAEE}"/>
              </a:ext>
            </a:extLst>
          </p:cNvPr>
          <p:cNvSpPr/>
          <p:nvPr/>
        </p:nvSpPr>
        <p:spPr>
          <a:xfrm>
            <a:off x="0" y="2587752"/>
            <a:ext cx="1737360" cy="219456"/>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BM3D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85" name="Text 25">
            <a:extLst>
              <a:ext uri="{FF2B5EF4-FFF2-40B4-BE49-F238E27FC236}">
                <a16:creationId xmlns:a16="http://schemas.microsoft.com/office/drawing/2014/main" id="{16062F8F-60CC-0BCD-411C-4B8DB1DCEE8C}"/>
              </a:ext>
            </a:extLst>
          </p:cNvPr>
          <p:cNvSpPr/>
          <p:nvPr/>
        </p:nvSpPr>
        <p:spPr>
          <a:xfrm>
            <a:off x="0" y="2788920"/>
            <a:ext cx="1737360" cy="201168"/>
          </a:xfrm>
          <a:prstGeom prst="rect">
            <a:avLst/>
          </a:prstGeom>
          <a:noFill/>
          <a:ln/>
        </p:spPr>
        <p:txBody>
          <a:bodyPr wrap="square" lIns="0" tIns="0" rIns="0" bIns="0" rtlCol="0" anchor="ctr"/>
          <a:lstStyle/>
          <a:p>
            <a:pPr marL="0" indent="0" algn="ctr">
              <a:buNone/>
            </a:pPr>
            <a:r>
              <a:rPr lang="en-US" sz="800" dirty="0">
                <a:solidFill>
                  <a:srgbClr val="828A94"/>
                </a:solidFill>
                <a:latin typeface="Times New Roman" panose="02020603050405020304" pitchFamily="18" charset="0"/>
                <a:ea typeface="Consolas" pitchFamily="34" charset="-122"/>
                <a:cs typeface="Times New Roman" panose="02020603050405020304" pitchFamily="18" charset="0"/>
              </a:rPr>
              <a:t>2007 · IEEE TIP</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292608"/>
          </a:xfrm>
          <a:prstGeom prst="rect">
            <a:avLst/>
          </a:prstGeom>
          <a:noFill/>
          <a:ln/>
        </p:spPr>
        <p:txBody>
          <a:bodyPr wrap="square" lIns="0" tIns="0" rIns="0" bIns="0" rtlCol="0" anchor="ctr"/>
          <a:lstStyle/>
          <a:p>
            <a:pPr marL="0" indent="0" algn="just">
              <a:buNone/>
            </a:pPr>
            <a:r>
              <a:rPr lang="en-US" sz="1100" b="1" kern="0" spc="200" dirty="0">
                <a:solidFill>
                  <a:srgbClr val="5FD4D6"/>
                </a:solidFill>
                <a:latin typeface="Calibri" pitchFamily="34" charset="0"/>
                <a:ea typeface="Calibri" pitchFamily="34" charset="-122"/>
                <a:cs typeface="Calibri" pitchFamily="34" charset="-120"/>
              </a:rPr>
              <a:t>§2 · WHY THE FIELD MOVED — BOTTLENECKS, IN THE WORDS OF THE PAPERS</a:t>
            </a:r>
            <a:endParaRPr lang="en-US" sz="1100" dirty="0"/>
          </a:p>
        </p:txBody>
      </p:sp>
      <p:sp>
        <p:nvSpPr>
          <p:cNvPr id="3" name="Text 1"/>
          <p:cNvSpPr/>
          <p:nvPr/>
        </p:nvSpPr>
        <p:spPr>
          <a:xfrm>
            <a:off x="640080" y="731520"/>
            <a:ext cx="10881360" cy="594360"/>
          </a:xfrm>
          <a:prstGeom prst="rect">
            <a:avLst/>
          </a:prstGeom>
          <a:noFill/>
          <a:ln/>
        </p:spPr>
        <p:txBody>
          <a:bodyPr wrap="square" lIns="0" tIns="0" rIns="0" bIns="0" rtlCol="0" anchor="ctr"/>
          <a:lstStyle/>
          <a:p>
            <a:pPr marL="0" indent="0" algn="just">
              <a:buNone/>
            </a:pPr>
            <a:r>
              <a:rPr lang="en-US" sz="2500" b="1" dirty="0">
                <a:solidFill>
                  <a:srgbClr val="F3F6FA"/>
                </a:solidFill>
                <a:latin typeface="Cambria" pitchFamily="34" charset="0"/>
                <a:ea typeface="Cambria" pitchFamily="34" charset="-122"/>
                <a:cs typeface="Cambria" pitchFamily="34" charset="-120"/>
              </a:rPr>
              <a:t>Three limitations that each forced an era change</a:t>
            </a:r>
            <a:endParaRPr lang="en-US" sz="2500" dirty="0"/>
          </a:p>
        </p:txBody>
      </p:sp>
      <p:sp>
        <p:nvSpPr>
          <p:cNvPr id="4" name="Shape 2"/>
          <p:cNvSpPr/>
          <p:nvPr/>
        </p:nvSpPr>
        <p:spPr>
          <a:xfrm>
            <a:off x="640080" y="1554480"/>
            <a:ext cx="3429000" cy="3520440"/>
          </a:xfrm>
          <a:prstGeom prst="roundRect">
            <a:avLst>
              <a:gd name="adj" fmla="val 2133"/>
            </a:avLst>
          </a:prstGeom>
          <a:solidFill>
            <a:srgbClr val="141B29"/>
          </a:solidFill>
          <a:ln/>
        </p:spPr>
        <p:txBody>
          <a:bodyPr/>
          <a:lstStyle/>
          <a:p>
            <a:pPr algn="just"/>
            <a:endParaRPr lang="en-GB"/>
          </a:p>
        </p:txBody>
      </p:sp>
      <p:sp>
        <p:nvSpPr>
          <p:cNvPr id="5" name="Text 3"/>
          <p:cNvSpPr/>
          <p:nvPr/>
        </p:nvSpPr>
        <p:spPr>
          <a:xfrm>
            <a:off x="932688" y="1783080"/>
            <a:ext cx="2880360" cy="274320"/>
          </a:xfrm>
          <a:prstGeom prst="rect">
            <a:avLst/>
          </a:prstGeom>
          <a:noFill/>
          <a:ln/>
        </p:spPr>
        <p:txBody>
          <a:bodyPr wrap="square" lIns="0" tIns="0" rIns="0" bIns="0" rtlCol="0" anchor="ctr"/>
          <a:lstStyle/>
          <a:p>
            <a:pPr marL="0" indent="0" algn="just">
              <a:buNone/>
            </a:pPr>
            <a:r>
              <a:rPr lang="en-US" sz="1050" b="1" kern="0" spc="150" dirty="0">
                <a:solidFill>
                  <a:srgbClr val="5FD4D6"/>
                </a:solidFill>
                <a:latin typeface="Calibri" pitchFamily="34" charset="0"/>
                <a:ea typeface="Calibri" pitchFamily="34" charset="-122"/>
                <a:cs typeface="Calibri" pitchFamily="34" charset="-120"/>
              </a:rPr>
              <a:t>BOTTLENECK 1</a:t>
            </a:r>
            <a:endParaRPr lang="en-US" sz="1050" dirty="0"/>
          </a:p>
        </p:txBody>
      </p:sp>
      <p:sp>
        <p:nvSpPr>
          <p:cNvPr id="6" name="Text 4"/>
          <p:cNvSpPr/>
          <p:nvPr/>
        </p:nvSpPr>
        <p:spPr>
          <a:xfrm>
            <a:off x="932688" y="2084832"/>
            <a:ext cx="2880360" cy="594360"/>
          </a:xfrm>
          <a:prstGeom prst="rect">
            <a:avLst/>
          </a:prstGeom>
          <a:noFill/>
          <a:ln/>
        </p:spPr>
        <p:txBody>
          <a:bodyPr wrap="square" lIns="0" tIns="0" rIns="0" bIns="0" rtlCol="0" anchor="ctr"/>
          <a:lstStyle/>
          <a:p>
            <a:pPr marL="0" indent="0" algn="just">
              <a:lnSpc>
                <a:spcPct val="110000"/>
              </a:lnSpc>
              <a:buNone/>
            </a:pPr>
            <a:r>
              <a:rPr lang="en-US" sz="1450" b="1" dirty="0">
                <a:solidFill>
                  <a:srgbClr val="F3F6FA"/>
                </a:solidFill>
                <a:latin typeface="Cambria" pitchFamily="34" charset="0"/>
                <a:ea typeface="Cambria" pitchFamily="34" charset="-122"/>
                <a:cs typeface="Cambria" pitchFamily="34" charset="-120"/>
              </a:rPr>
              <a:t>Hand-designed priors, per-image cost</a:t>
            </a:r>
            <a:endParaRPr lang="en-US" sz="1450" dirty="0"/>
          </a:p>
        </p:txBody>
      </p:sp>
      <p:sp>
        <p:nvSpPr>
          <p:cNvPr id="7" name="Text 5"/>
          <p:cNvSpPr/>
          <p:nvPr/>
        </p:nvSpPr>
        <p:spPr>
          <a:xfrm>
            <a:off x="932688" y="2670048"/>
            <a:ext cx="2880360" cy="274320"/>
          </a:xfrm>
          <a:prstGeom prst="rect">
            <a:avLst/>
          </a:prstGeom>
          <a:noFill/>
          <a:ln/>
        </p:spPr>
        <p:txBody>
          <a:bodyPr wrap="square" lIns="0" tIns="0" rIns="0" bIns="0" rtlCol="0" anchor="ctr"/>
          <a:lstStyle/>
          <a:p>
            <a:pPr marL="0" indent="0" algn="just">
              <a:buNone/>
            </a:pPr>
            <a:r>
              <a:rPr lang="en-US" sz="1050" i="1" dirty="0">
                <a:solidFill>
                  <a:srgbClr val="E7B75F"/>
                </a:solidFill>
                <a:latin typeface="Calibri" pitchFamily="34" charset="0"/>
                <a:ea typeface="Calibri" pitchFamily="34" charset="-122"/>
                <a:cs typeface="Calibri" pitchFamily="34" charset="-120"/>
              </a:rPr>
              <a:t>Ended: Classical DIP</a:t>
            </a:r>
            <a:endParaRPr lang="en-US" sz="1050" dirty="0"/>
          </a:p>
        </p:txBody>
      </p:sp>
      <p:sp>
        <p:nvSpPr>
          <p:cNvPr id="8" name="Text 6"/>
          <p:cNvSpPr/>
          <p:nvPr/>
        </p:nvSpPr>
        <p:spPr>
          <a:xfrm>
            <a:off x="932688" y="3017520"/>
            <a:ext cx="2843784" cy="1600200"/>
          </a:xfrm>
          <a:prstGeom prst="rect">
            <a:avLst/>
          </a:prstGeom>
          <a:noFill/>
          <a:ln/>
        </p:spPr>
        <p:txBody>
          <a:bodyPr wrap="square" lIns="0" tIns="0" rIns="0" bIns="0" rtlCol="0" anchor="ctr"/>
          <a:lstStyle/>
          <a:p>
            <a:pPr marL="0" indent="0" algn="just">
              <a:lnSpc>
                <a:spcPct val="125000"/>
              </a:lnSpc>
              <a:buNone/>
            </a:pPr>
            <a:r>
              <a:rPr lang="en-US" sz="1050" dirty="0">
                <a:solidFill>
                  <a:srgbClr val="8C97AC"/>
                </a:solidFill>
                <a:latin typeface="Calibri" pitchFamily="34" charset="0"/>
                <a:ea typeface="Calibri" pitchFamily="34" charset="-122"/>
                <a:cs typeface="Calibri" pitchFamily="34" charset="-120"/>
              </a:rPr>
              <a:t>TNRD observes that most state-of-the-art techniques of the period concentrated on utmost restoration quality with little consideration of computational efficiency. Compounding this: the prior's parameters and thresholds are chosen by the designer — the method cannot improve by being shown data.</a:t>
            </a:r>
            <a:endParaRPr lang="en-US" sz="1050" dirty="0"/>
          </a:p>
        </p:txBody>
      </p:sp>
      <p:sp>
        <p:nvSpPr>
          <p:cNvPr id="9" name="Text 7"/>
          <p:cNvSpPr/>
          <p:nvPr/>
        </p:nvSpPr>
        <p:spPr>
          <a:xfrm>
            <a:off x="932688" y="4617720"/>
            <a:ext cx="2880360" cy="365760"/>
          </a:xfrm>
          <a:prstGeom prst="rect">
            <a:avLst/>
          </a:prstGeom>
          <a:noFill/>
          <a:ln/>
        </p:spPr>
        <p:txBody>
          <a:bodyPr wrap="square" lIns="0" tIns="0" rIns="0" bIns="0" rtlCol="0" anchor="ctr"/>
          <a:lstStyle/>
          <a:p>
            <a:pPr marL="0" indent="0" algn="just">
              <a:buNone/>
            </a:pPr>
            <a:r>
              <a:rPr lang="en-US" sz="1050" b="1" dirty="0">
                <a:solidFill>
                  <a:srgbClr val="F3F6FA"/>
                </a:solidFill>
                <a:latin typeface="Calibri" pitchFamily="34" charset="0"/>
                <a:ea typeface="Calibri" pitchFamily="34" charset="-122"/>
                <a:cs typeface="Calibri" pitchFamily="34" charset="-120"/>
              </a:rPr>
              <a:t>Resolved by TNRD, then DnCNN.</a:t>
            </a:r>
            <a:endParaRPr lang="en-US" sz="1050" dirty="0"/>
          </a:p>
        </p:txBody>
      </p:sp>
      <p:sp>
        <p:nvSpPr>
          <p:cNvPr id="10" name="Shape 8"/>
          <p:cNvSpPr/>
          <p:nvPr/>
        </p:nvSpPr>
        <p:spPr>
          <a:xfrm>
            <a:off x="4389120" y="1554480"/>
            <a:ext cx="3429000" cy="3520440"/>
          </a:xfrm>
          <a:prstGeom prst="roundRect">
            <a:avLst>
              <a:gd name="adj" fmla="val 2133"/>
            </a:avLst>
          </a:prstGeom>
          <a:solidFill>
            <a:srgbClr val="141B29"/>
          </a:solidFill>
          <a:ln/>
        </p:spPr>
        <p:txBody>
          <a:bodyPr/>
          <a:lstStyle/>
          <a:p>
            <a:pPr algn="just"/>
            <a:endParaRPr lang="en-GB"/>
          </a:p>
        </p:txBody>
      </p:sp>
      <p:sp>
        <p:nvSpPr>
          <p:cNvPr id="11" name="Text 9"/>
          <p:cNvSpPr/>
          <p:nvPr/>
        </p:nvSpPr>
        <p:spPr>
          <a:xfrm>
            <a:off x="4681728" y="1783080"/>
            <a:ext cx="2880360" cy="274320"/>
          </a:xfrm>
          <a:prstGeom prst="rect">
            <a:avLst/>
          </a:prstGeom>
          <a:noFill/>
          <a:ln/>
        </p:spPr>
        <p:txBody>
          <a:bodyPr wrap="square" lIns="0" tIns="0" rIns="0" bIns="0" rtlCol="0" anchor="ctr"/>
          <a:lstStyle/>
          <a:p>
            <a:pPr marL="0" indent="0" algn="just">
              <a:buNone/>
            </a:pPr>
            <a:r>
              <a:rPr lang="en-US" sz="1050" b="1" kern="0" spc="150" dirty="0">
                <a:solidFill>
                  <a:srgbClr val="5FD4D6"/>
                </a:solidFill>
                <a:latin typeface="Calibri" pitchFamily="34" charset="0"/>
                <a:ea typeface="Calibri" pitchFamily="34" charset="-122"/>
                <a:cs typeface="Calibri" pitchFamily="34" charset="-120"/>
              </a:rPr>
              <a:t>BOTTLENECK 2</a:t>
            </a:r>
            <a:endParaRPr lang="en-US" sz="1050" dirty="0"/>
          </a:p>
        </p:txBody>
      </p:sp>
      <p:sp>
        <p:nvSpPr>
          <p:cNvPr id="12" name="Text 10"/>
          <p:cNvSpPr/>
          <p:nvPr/>
        </p:nvSpPr>
        <p:spPr>
          <a:xfrm>
            <a:off x="4681728" y="2084832"/>
            <a:ext cx="2880360" cy="594360"/>
          </a:xfrm>
          <a:prstGeom prst="rect">
            <a:avLst/>
          </a:prstGeom>
          <a:noFill/>
          <a:ln/>
        </p:spPr>
        <p:txBody>
          <a:bodyPr wrap="square" lIns="0" tIns="0" rIns="0" bIns="0" rtlCol="0" anchor="ctr"/>
          <a:lstStyle/>
          <a:p>
            <a:pPr marL="0" indent="0" algn="just">
              <a:lnSpc>
                <a:spcPct val="110000"/>
              </a:lnSpc>
              <a:buNone/>
            </a:pPr>
            <a:r>
              <a:rPr lang="en-US" sz="1450" b="1" dirty="0">
                <a:solidFill>
                  <a:srgbClr val="F3F6FA"/>
                </a:solidFill>
                <a:latin typeface="Cambria" pitchFamily="34" charset="0"/>
                <a:ea typeface="Cambria" pitchFamily="34" charset="-122"/>
                <a:cs typeface="Cambria" pitchFamily="34" charset="-120"/>
              </a:rPr>
              <a:t>The clean-data requirement</a:t>
            </a:r>
            <a:endParaRPr lang="en-US" sz="1450" dirty="0"/>
          </a:p>
        </p:txBody>
      </p:sp>
      <p:sp>
        <p:nvSpPr>
          <p:cNvPr id="13" name="Text 11"/>
          <p:cNvSpPr/>
          <p:nvPr/>
        </p:nvSpPr>
        <p:spPr>
          <a:xfrm>
            <a:off x="4681728" y="2670048"/>
            <a:ext cx="2880360" cy="274320"/>
          </a:xfrm>
          <a:prstGeom prst="rect">
            <a:avLst/>
          </a:prstGeom>
          <a:noFill/>
          <a:ln/>
        </p:spPr>
        <p:txBody>
          <a:bodyPr wrap="square" lIns="0" tIns="0" rIns="0" bIns="0" rtlCol="0" anchor="ctr"/>
          <a:lstStyle/>
          <a:p>
            <a:pPr marL="0" indent="0" algn="just">
              <a:buNone/>
            </a:pPr>
            <a:r>
              <a:rPr lang="en-US" sz="1050" i="1" dirty="0">
                <a:solidFill>
                  <a:srgbClr val="E7B75F"/>
                </a:solidFill>
                <a:latin typeface="Calibri" pitchFamily="34" charset="0"/>
                <a:ea typeface="Calibri" pitchFamily="34" charset="-122"/>
                <a:cs typeface="Calibri" pitchFamily="34" charset="-120"/>
              </a:rPr>
              <a:t>Ended: supervised-only deep learning</a:t>
            </a:r>
            <a:endParaRPr lang="en-US" sz="1050" dirty="0"/>
          </a:p>
        </p:txBody>
      </p:sp>
      <p:sp>
        <p:nvSpPr>
          <p:cNvPr id="14" name="Text 12"/>
          <p:cNvSpPr/>
          <p:nvPr/>
        </p:nvSpPr>
        <p:spPr>
          <a:xfrm>
            <a:off x="4681728" y="3017520"/>
            <a:ext cx="2843784" cy="1600200"/>
          </a:xfrm>
          <a:prstGeom prst="rect">
            <a:avLst/>
          </a:prstGeom>
          <a:noFill/>
          <a:ln/>
        </p:spPr>
        <p:txBody>
          <a:bodyPr wrap="square" lIns="0" tIns="0" rIns="0" bIns="0" rtlCol="0" anchor="ctr"/>
          <a:lstStyle/>
          <a:p>
            <a:pPr marL="0" indent="0" algn="just">
              <a:lnSpc>
                <a:spcPct val="125000"/>
              </a:lnSpc>
              <a:buNone/>
            </a:pPr>
            <a:r>
              <a:rPr lang="en-US" sz="1050" dirty="0">
                <a:solidFill>
                  <a:srgbClr val="8C97AC"/>
                </a:solidFill>
                <a:latin typeface="Calibri" pitchFamily="34" charset="0"/>
                <a:ea typeface="Calibri" pitchFamily="34" charset="-122"/>
                <a:cs typeface="Calibri" pitchFamily="34" charset="-120"/>
              </a:rPr>
              <a:t>Noise2Noise states the cost directly: obtaining clean training targets is often difficult or tedious — a noise-free photograph requires a long exposure. Noise2Void adds that in biomedical data, acquiring training targets, clean or noisy, is frequently not possible.</a:t>
            </a:r>
            <a:endParaRPr lang="en-US" sz="1050" dirty="0"/>
          </a:p>
        </p:txBody>
      </p:sp>
      <p:sp>
        <p:nvSpPr>
          <p:cNvPr id="15" name="Text 13"/>
          <p:cNvSpPr/>
          <p:nvPr/>
        </p:nvSpPr>
        <p:spPr>
          <a:xfrm>
            <a:off x="4681728" y="4617720"/>
            <a:ext cx="2880360" cy="365760"/>
          </a:xfrm>
          <a:prstGeom prst="rect">
            <a:avLst/>
          </a:prstGeom>
          <a:noFill/>
          <a:ln/>
        </p:spPr>
        <p:txBody>
          <a:bodyPr wrap="square" lIns="0" tIns="0" rIns="0" bIns="0" rtlCol="0" anchor="ctr"/>
          <a:lstStyle/>
          <a:p>
            <a:pPr marL="0" indent="0" algn="just">
              <a:buNone/>
            </a:pPr>
            <a:r>
              <a:rPr lang="en-US" sz="1050" b="1" dirty="0">
                <a:solidFill>
                  <a:srgbClr val="F3F6FA"/>
                </a:solidFill>
                <a:latin typeface="Calibri" pitchFamily="34" charset="0"/>
                <a:ea typeface="Calibri" pitchFamily="34" charset="-122"/>
                <a:cs typeface="Calibri" pitchFamily="34" charset="-120"/>
              </a:rPr>
              <a:t>Resolved by the data branch: N2N → N2V → ZS-N2N.</a:t>
            </a:r>
            <a:endParaRPr lang="en-US" sz="1050" dirty="0"/>
          </a:p>
        </p:txBody>
      </p:sp>
      <p:sp>
        <p:nvSpPr>
          <p:cNvPr id="16" name="Shape 14"/>
          <p:cNvSpPr/>
          <p:nvPr/>
        </p:nvSpPr>
        <p:spPr>
          <a:xfrm>
            <a:off x="8138160" y="1554480"/>
            <a:ext cx="3429000" cy="3520440"/>
          </a:xfrm>
          <a:prstGeom prst="roundRect">
            <a:avLst>
              <a:gd name="adj" fmla="val 2133"/>
            </a:avLst>
          </a:prstGeom>
          <a:solidFill>
            <a:srgbClr val="141B29"/>
          </a:solidFill>
          <a:ln/>
        </p:spPr>
        <p:txBody>
          <a:bodyPr/>
          <a:lstStyle/>
          <a:p>
            <a:pPr algn="just"/>
            <a:endParaRPr lang="en-GB"/>
          </a:p>
        </p:txBody>
      </p:sp>
      <p:sp>
        <p:nvSpPr>
          <p:cNvPr id="17" name="Text 15"/>
          <p:cNvSpPr/>
          <p:nvPr/>
        </p:nvSpPr>
        <p:spPr>
          <a:xfrm>
            <a:off x="8430768" y="1783080"/>
            <a:ext cx="2880360" cy="274320"/>
          </a:xfrm>
          <a:prstGeom prst="rect">
            <a:avLst/>
          </a:prstGeom>
          <a:noFill/>
          <a:ln/>
        </p:spPr>
        <p:txBody>
          <a:bodyPr wrap="square" lIns="0" tIns="0" rIns="0" bIns="0" rtlCol="0" anchor="ctr"/>
          <a:lstStyle/>
          <a:p>
            <a:pPr marL="0" indent="0" algn="just">
              <a:buNone/>
            </a:pPr>
            <a:r>
              <a:rPr lang="en-US" sz="1050" b="1" kern="0" spc="150" dirty="0">
                <a:solidFill>
                  <a:srgbClr val="5FD4D6"/>
                </a:solidFill>
                <a:latin typeface="Calibri" pitchFamily="34" charset="0"/>
                <a:ea typeface="Calibri" pitchFamily="34" charset="-122"/>
                <a:cs typeface="Calibri" pitchFamily="34" charset="-120"/>
              </a:rPr>
              <a:t>BOTTLENECK 3</a:t>
            </a:r>
            <a:endParaRPr lang="en-US" sz="1050" dirty="0"/>
          </a:p>
        </p:txBody>
      </p:sp>
      <p:sp>
        <p:nvSpPr>
          <p:cNvPr id="18" name="Text 16"/>
          <p:cNvSpPr/>
          <p:nvPr/>
        </p:nvSpPr>
        <p:spPr>
          <a:xfrm>
            <a:off x="8430768" y="2084832"/>
            <a:ext cx="2880360" cy="594360"/>
          </a:xfrm>
          <a:prstGeom prst="rect">
            <a:avLst/>
          </a:prstGeom>
          <a:noFill/>
          <a:ln/>
        </p:spPr>
        <p:txBody>
          <a:bodyPr wrap="square" lIns="0" tIns="0" rIns="0" bIns="0" rtlCol="0" anchor="ctr"/>
          <a:lstStyle/>
          <a:p>
            <a:pPr marL="0" indent="0" algn="just">
              <a:lnSpc>
                <a:spcPct val="110000"/>
              </a:lnSpc>
              <a:buNone/>
            </a:pPr>
            <a:r>
              <a:rPr lang="en-US" sz="1450" b="1" dirty="0">
                <a:solidFill>
                  <a:srgbClr val="F3F6FA"/>
                </a:solidFill>
                <a:latin typeface="Cambria" pitchFamily="34" charset="0"/>
                <a:ea typeface="Cambria" pitchFamily="34" charset="-122"/>
                <a:cs typeface="Cambria" pitchFamily="34" charset="-120"/>
              </a:rPr>
              <a:t>The limits of convolution</a:t>
            </a:r>
            <a:endParaRPr lang="en-US" sz="1450" dirty="0"/>
          </a:p>
        </p:txBody>
      </p:sp>
      <p:sp>
        <p:nvSpPr>
          <p:cNvPr id="19" name="Text 17"/>
          <p:cNvSpPr/>
          <p:nvPr/>
        </p:nvSpPr>
        <p:spPr>
          <a:xfrm>
            <a:off x="8430768" y="2670048"/>
            <a:ext cx="2880360" cy="274320"/>
          </a:xfrm>
          <a:prstGeom prst="rect">
            <a:avLst/>
          </a:prstGeom>
          <a:noFill/>
          <a:ln/>
        </p:spPr>
        <p:txBody>
          <a:bodyPr wrap="square" lIns="0" tIns="0" rIns="0" bIns="0" rtlCol="0" anchor="ctr"/>
          <a:lstStyle/>
          <a:p>
            <a:pPr marL="0" indent="0" algn="just">
              <a:buNone/>
            </a:pPr>
            <a:r>
              <a:rPr lang="en-US" sz="1050" i="1" dirty="0">
                <a:solidFill>
                  <a:srgbClr val="E7B75F"/>
                </a:solidFill>
                <a:latin typeface="Calibri" pitchFamily="34" charset="0"/>
                <a:ea typeface="Calibri" pitchFamily="34" charset="-122"/>
                <a:cs typeface="Calibri" pitchFamily="34" charset="-120"/>
              </a:rPr>
              <a:t>Ended: the CNN monopoly</a:t>
            </a:r>
            <a:endParaRPr lang="en-US" sz="1050" dirty="0"/>
          </a:p>
        </p:txBody>
      </p:sp>
      <p:sp>
        <p:nvSpPr>
          <p:cNvPr id="20" name="Text 18"/>
          <p:cNvSpPr/>
          <p:nvPr/>
        </p:nvSpPr>
        <p:spPr>
          <a:xfrm>
            <a:off x="8430768" y="3017520"/>
            <a:ext cx="2843784" cy="1600200"/>
          </a:xfrm>
          <a:prstGeom prst="rect">
            <a:avLst/>
          </a:prstGeom>
          <a:noFill/>
          <a:ln/>
        </p:spPr>
        <p:txBody>
          <a:bodyPr wrap="square" lIns="0" tIns="0" rIns="0" bIns="0" rtlCol="0" anchor="ctr"/>
          <a:lstStyle/>
          <a:p>
            <a:pPr marL="0" indent="0" algn="just">
              <a:lnSpc>
                <a:spcPct val="125000"/>
              </a:lnSpc>
              <a:buNone/>
            </a:pPr>
            <a:r>
              <a:rPr lang="en-US" sz="1050" dirty="0">
                <a:solidFill>
                  <a:srgbClr val="8C97AC"/>
                </a:solidFill>
                <a:latin typeface="Calibri" pitchFamily="34" charset="0"/>
                <a:ea typeface="Calibri" pitchFamily="34" charset="-122"/>
                <a:cs typeface="Calibri" pitchFamily="34" charset="-120"/>
              </a:rPr>
              <a:t>Restormer names both weaknesses: convolution gives local connectivity and translation equivariance — efficiency and generalisation — but also a limited receptive field and inability to adapt to input content. MambaIR restates it as a dilemma between global receptive fields and efficient computation.</a:t>
            </a:r>
            <a:endParaRPr lang="en-US" sz="1050" dirty="0"/>
          </a:p>
        </p:txBody>
      </p:sp>
      <p:sp>
        <p:nvSpPr>
          <p:cNvPr id="21" name="Text 19"/>
          <p:cNvSpPr/>
          <p:nvPr/>
        </p:nvSpPr>
        <p:spPr>
          <a:xfrm>
            <a:off x="8430768" y="4617720"/>
            <a:ext cx="2880360" cy="365760"/>
          </a:xfrm>
          <a:prstGeom prst="rect">
            <a:avLst/>
          </a:prstGeom>
          <a:noFill/>
          <a:ln/>
        </p:spPr>
        <p:txBody>
          <a:bodyPr wrap="square" lIns="0" tIns="0" rIns="0" bIns="0" rtlCol="0" anchor="ctr"/>
          <a:lstStyle/>
          <a:p>
            <a:pPr marL="0" indent="0" algn="just">
              <a:buNone/>
            </a:pPr>
            <a:r>
              <a:rPr lang="en-US" sz="1050" b="1" dirty="0">
                <a:solidFill>
                  <a:srgbClr val="F3F6FA"/>
                </a:solidFill>
                <a:latin typeface="Calibri" pitchFamily="34" charset="0"/>
                <a:ea typeface="Calibri" pitchFamily="34" charset="-122"/>
                <a:cs typeface="Calibri" pitchFamily="34" charset="-120"/>
              </a:rPr>
              <a:t>Three live answers: Restormer, NAFNet, MambaIR.</a:t>
            </a:r>
            <a:endParaRPr lang="en-US" sz="1050" dirty="0"/>
          </a:p>
        </p:txBody>
      </p:sp>
      <p:sp>
        <p:nvSpPr>
          <p:cNvPr id="22" name="Text 20"/>
          <p:cNvSpPr/>
          <p:nvPr/>
        </p:nvSpPr>
        <p:spPr>
          <a:xfrm>
            <a:off x="640080" y="5257800"/>
            <a:ext cx="10881360" cy="822960"/>
          </a:xfrm>
          <a:prstGeom prst="rect">
            <a:avLst/>
          </a:prstGeom>
          <a:noFill/>
          <a:ln/>
        </p:spPr>
        <p:txBody>
          <a:bodyPr wrap="square" lIns="0" tIns="0" rIns="0" bIns="0" rtlCol="0" anchor="ctr"/>
          <a:lstStyle/>
          <a:p>
            <a:pPr marL="0" indent="0" algn="just">
              <a:lnSpc>
                <a:spcPct val="130000"/>
              </a:lnSpc>
              <a:buNone/>
            </a:pPr>
            <a:r>
              <a:rPr lang="en-US" sz="1050" b="1" kern="0" spc="100" dirty="0">
                <a:solidFill>
                  <a:srgbClr val="5FD4D6"/>
                </a:solidFill>
                <a:latin typeface="Calibri" pitchFamily="34" charset="0"/>
                <a:ea typeface="Calibri" pitchFamily="34" charset="-122"/>
                <a:cs typeface="Calibri" pitchFamily="34" charset="-120"/>
              </a:rPr>
              <a:t>THE ARC IN ONE SENTENCE   </a:t>
            </a:r>
            <a:r>
              <a:rPr lang="en-US" sz="1200" i="1" dirty="0">
                <a:solidFill>
                  <a:srgbClr val="F3F6FA"/>
                </a:solidFill>
                <a:latin typeface="Calibri" pitchFamily="34" charset="0"/>
                <a:ea typeface="Calibri" pitchFamily="34" charset="-122"/>
                <a:cs typeface="Calibri" pitchFamily="34" charset="-120"/>
              </a:rPr>
              <a:t>The prior moves steadily out of human hands: written by a human (BM3D, WNNM) → structured by a human, fitted to data (TNRD) → learned from paired data (DnCNN) → learned without clean data (N2N), without pairs (N2V), without any data (ZS-N2N).</a:t>
            </a:r>
            <a:endParaRPr lang="en-US" sz="1050" dirty="0"/>
          </a:p>
        </p:txBody>
      </p:sp>
      <p:sp>
        <p:nvSpPr>
          <p:cNvPr id="23" name="Text 21"/>
          <p:cNvSpPr/>
          <p:nvPr/>
        </p:nvSpPr>
        <p:spPr>
          <a:xfrm>
            <a:off x="11368735" y="6355080"/>
            <a:ext cx="548640" cy="320040"/>
          </a:xfrm>
          <a:prstGeom prst="rect">
            <a:avLst/>
          </a:prstGeom>
          <a:noFill/>
          <a:ln/>
        </p:spPr>
        <p:txBody>
          <a:bodyPr wrap="square"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marL="0" indent="0">
              <a:buNone/>
            </a:pPr>
            <a:r>
              <a:rPr lang="en-US" sz="1400" b="1" kern="0" spc="300" dirty="0">
                <a:solidFill>
                  <a:srgbClr val="5FD4D6"/>
                </a:solidFill>
                <a:latin typeface="Calibri" pitchFamily="34" charset="0"/>
                <a:ea typeface="Calibri" pitchFamily="34" charset="-122"/>
                <a:cs typeface="Calibri" pitchFamily="34" charset="-120"/>
              </a:rPr>
              <a:t>PART III</a:t>
            </a:r>
            <a:endParaRPr lang="en-US" sz="1400" dirty="0"/>
          </a:p>
        </p:txBody>
      </p:sp>
      <p:sp>
        <p:nvSpPr>
          <p:cNvPr id="3" name="Text 1"/>
          <p:cNvSpPr/>
          <p:nvPr/>
        </p:nvSpPr>
        <p:spPr>
          <a:xfrm>
            <a:off x="822960" y="2880360"/>
            <a:ext cx="10332720" cy="1188720"/>
          </a:xfrm>
          <a:prstGeom prst="rect">
            <a:avLst/>
          </a:prstGeom>
          <a:noFill/>
          <a:ln/>
        </p:spPr>
        <p:txBody>
          <a:bodyPr wrap="square" lIns="0" tIns="0" rIns="0" bIns="0" rtlCol="0" anchor="ctr"/>
          <a:lstStyle/>
          <a:p>
            <a:pPr marL="0" indent="0">
              <a:buNone/>
            </a:pPr>
            <a:r>
              <a:rPr lang="en-US" sz="4000" b="1" dirty="0">
                <a:solidFill>
                  <a:srgbClr val="F3F6FA"/>
                </a:solidFill>
                <a:latin typeface="Cambria" pitchFamily="34" charset="0"/>
                <a:ea typeface="Cambria" pitchFamily="34" charset="-122"/>
                <a:cs typeface="Cambria" pitchFamily="34" charset="-120"/>
              </a:rPr>
              <a:t>The sources</a:t>
            </a:r>
            <a:endParaRPr lang="en-US" sz="4000" dirty="0"/>
          </a:p>
        </p:txBody>
      </p:sp>
      <p:sp>
        <p:nvSpPr>
          <p:cNvPr id="4" name="Text 2"/>
          <p:cNvSpPr/>
          <p:nvPr/>
        </p:nvSpPr>
        <p:spPr>
          <a:xfrm>
            <a:off x="822960" y="3977640"/>
            <a:ext cx="8686800" cy="731520"/>
          </a:xfrm>
          <a:prstGeom prst="rect">
            <a:avLst/>
          </a:prstGeom>
          <a:noFill/>
          <a:ln/>
        </p:spPr>
        <p:txBody>
          <a:bodyPr wrap="square" lIns="0" tIns="0" rIns="0" bIns="0" rtlCol="0" anchor="ctr"/>
          <a:lstStyle/>
          <a:p>
            <a:pPr marL="0" indent="0">
              <a:lnSpc>
                <a:spcPct val="130000"/>
              </a:lnSpc>
              <a:buNone/>
            </a:pPr>
            <a:r>
              <a:rPr lang="en-US" sz="1400" dirty="0">
                <a:solidFill>
                  <a:srgbClr val="8C97AC"/>
                </a:solidFill>
                <a:latin typeface="Calibri" pitchFamily="34" charset="0"/>
                <a:ea typeface="Calibri" pitchFamily="34" charset="-122"/>
                <a:cs typeface="Calibri" pitchFamily="34" charset="-120"/>
              </a:rPr>
              <a:t>14 distinct sources. 11 Category A at 78.6%, clearing the 70% floor with margin — and every Category A citation count verified against Google Scholar.</a:t>
            </a:r>
            <a:endParaRPr lang="en-US" sz="1400" dirty="0"/>
          </a:p>
        </p:txBody>
      </p:sp>
      <p:sp>
        <p:nvSpPr>
          <p:cNvPr id="5" name="Text 3"/>
          <p:cNvSpPr/>
          <p:nvPr/>
        </p:nvSpPr>
        <p:spPr>
          <a:xfrm>
            <a:off x="8899855" y="1280160"/>
            <a:ext cx="2743200" cy="3657600"/>
          </a:xfrm>
          <a:prstGeom prst="rect">
            <a:avLst/>
          </a:prstGeom>
          <a:noFill/>
          <a:ln/>
        </p:spPr>
        <p:txBody>
          <a:bodyPr wrap="square" lIns="0" tIns="0" rIns="0" bIns="0" rtlCol="0" anchor="ctr"/>
          <a:lstStyle/>
          <a:p>
            <a:pPr marL="0" indent="0" algn="r">
              <a:buNone/>
            </a:pPr>
            <a:r>
              <a:rPr lang="en-US" sz="20000" b="1" dirty="0">
                <a:solidFill>
                  <a:srgbClr val="1B2436"/>
                </a:solidFill>
                <a:latin typeface="Cambria" pitchFamily="34" charset="0"/>
                <a:ea typeface="Cambria" pitchFamily="34" charset="-122"/>
                <a:cs typeface="Cambria" pitchFamily="34" charset="-120"/>
              </a:rPr>
              <a:t>III</a:t>
            </a:r>
            <a:endParaRPr lang="en-US" sz="20000" dirty="0"/>
          </a:p>
        </p:txBody>
      </p:sp>
      <p:sp>
        <p:nvSpPr>
          <p:cNvPr id="6" name="Text 4"/>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§3 · MASTER SOURCE LIST — CATEGORY A (PEER-REVIEWED PAPERS)</a:t>
            </a:r>
            <a:endParaRPr lang="en-US" sz="1100" dirty="0"/>
          </a:p>
        </p:txBody>
      </p:sp>
      <p:sp>
        <p:nvSpPr>
          <p:cNvPr id="3" name="Text 1"/>
          <p:cNvSpPr/>
          <p:nvPr/>
        </p:nvSpPr>
        <p:spPr>
          <a:xfrm>
            <a:off x="548640" y="685800"/>
            <a:ext cx="10881360" cy="548640"/>
          </a:xfrm>
          <a:prstGeom prst="rect">
            <a:avLst/>
          </a:prstGeom>
          <a:noFill/>
          <a:ln/>
        </p:spPr>
        <p:txBody>
          <a:bodyPr wrap="square" lIns="0" tIns="0" rIns="0" bIns="0" rtlCol="0" anchor="ctr"/>
          <a:lstStyle/>
          <a:p>
            <a:pPr marL="0" indent="0">
              <a:buNone/>
            </a:pPr>
            <a:r>
              <a:rPr lang="en-US" sz="2400" b="1" dirty="0">
                <a:solidFill>
                  <a:srgbClr val="F3F6FA"/>
                </a:solidFill>
                <a:latin typeface="Cambria" pitchFamily="34" charset="0"/>
                <a:ea typeface="Cambria" pitchFamily="34" charset="-122"/>
                <a:cs typeface="Cambria" pitchFamily="34" charset="-120"/>
              </a:rPr>
              <a:t>Eleven papers, 2007 → 2024</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520440"/>
        </p:xfrm>
        <a:graphic>
          <a:graphicData uri="http://schemas.openxmlformats.org/drawingml/2006/table">
            <a:tbl>
              <a:tblPr/>
              <a:tblGrid>
                <a:gridCol w="5486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tblGrid>
              <a:tr h="293370">
                <a:tc>
                  <a:txBody>
                    <a:bodyPr/>
                    <a:lstStyle/>
                    <a:p>
                      <a:pPr marL="0" indent="0">
                        <a:buNone/>
                      </a:pPr>
                      <a:r>
                        <a:rPr lang="en-US" sz="950" b="1" dirty="0">
                          <a:solidFill>
                            <a:srgbClr val="0B0F17"/>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5FD4D6"/>
                    </a:solidFill>
                  </a:tcPr>
                </a:tc>
                <a:tc>
                  <a:txBody>
                    <a:bodyPr/>
                    <a:lstStyle/>
                    <a:p>
                      <a:pPr marL="0" indent="0">
                        <a:buNone/>
                      </a:pPr>
                      <a:r>
                        <a:rPr lang="en-US" sz="950" b="1" dirty="0">
                          <a:solidFill>
                            <a:srgbClr val="0B0F17"/>
                          </a:solidFill>
                          <a:latin typeface="Calibri" pitchFamily="34" charset="0"/>
                          <a:ea typeface="Calibri" pitchFamily="34" charset="-122"/>
                          <a:cs typeface="Calibri" pitchFamily="34" charset="-120"/>
                        </a:rPr>
                        <a:t>Short name</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5FD4D6"/>
                    </a:solidFill>
                  </a:tcPr>
                </a:tc>
                <a:tc>
                  <a:txBody>
                    <a:bodyPr/>
                    <a:lstStyle/>
                    <a:p>
                      <a:pPr marL="0" indent="0">
                        <a:buNone/>
                      </a:pPr>
                      <a:r>
                        <a:rPr lang="en-US" sz="950" b="1" dirty="0">
                          <a:solidFill>
                            <a:srgbClr val="0B0F17"/>
                          </a:solidFill>
                          <a:latin typeface="Calibri" pitchFamily="34" charset="0"/>
                          <a:ea typeface="Calibri" pitchFamily="34" charset="-122"/>
                          <a:cs typeface="Calibri" pitchFamily="34" charset="-120"/>
                        </a:rPr>
                        <a:t>Lead author</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5FD4D6"/>
                    </a:solidFill>
                  </a:tcPr>
                </a:tc>
                <a:tc>
                  <a:txBody>
                    <a:bodyPr/>
                    <a:lstStyle/>
                    <a:p>
                      <a:pPr marL="0" indent="0">
                        <a:buNone/>
                      </a:pPr>
                      <a:r>
                        <a:rPr lang="en-US" sz="950" b="1" dirty="0">
                          <a:solidFill>
                            <a:srgbClr val="0B0F17"/>
                          </a:solidFill>
                          <a:latin typeface="Calibri" pitchFamily="34" charset="0"/>
                          <a:ea typeface="Calibri" pitchFamily="34" charset="-122"/>
                          <a:cs typeface="Calibri" pitchFamily="34" charset="-120"/>
                        </a:rPr>
                        <a:t>Venue &amp; year</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5FD4D6"/>
                    </a:solidFill>
                  </a:tcPr>
                </a:tc>
                <a:tc>
                  <a:txBody>
                    <a:bodyPr/>
                    <a:lstStyle/>
                    <a:p>
                      <a:pPr marL="0" indent="0">
                        <a:buNone/>
                      </a:pPr>
                      <a:r>
                        <a:rPr lang="en-US" sz="950" b="1" dirty="0">
                          <a:solidFill>
                            <a:srgbClr val="0B0F17"/>
                          </a:solidFill>
                          <a:latin typeface="Calibri" pitchFamily="34" charset="0"/>
                          <a:ea typeface="Calibri" pitchFamily="34" charset="-122"/>
                          <a:cs typeface="Calibri" pitchFamily="34" charset="-120"/>
                        </a:rPr>
                        <a:t>Institution (lead)</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5FD4D6"/>
                    </a:solidFill>
                  </a:tcPr>
                </a:tc>
                <a:tc>
                  <a:txBody>
                    <a:bodyPr/>
                    <a:lstStyle/>
                    <a:p>
                      <a:pPr marL="0" indent="0">
                        <a:buNone/>
                      </a:pPr>
                      <a:r>
                        <a:rPr lang="en-US" sz="950" b="1" dirty="0">
                          <a:solidFill>
                            <a:srgbClr val="0B0F17"/>
                          </a:solidFill>
                          <a:latin typeface="Calibri" pitchFamily="34" charset="0"/>
                          <a:ea typeface="Calibri" pitchFamily="34" charset="-122"/>
                          <a:cs typeface="Calibri" pitchFamily="34" charset="-120"/>
                        </a:rPr>
                        <a:t>Cited by</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5FD4D6"/>
                    </a:solidFill>
                  </a:tcPr>
                </a:tc>
                <a:tc>
                  <a:txBody>
                    <a:bodyPr/>
                    <a:lstStyle/>
                    <a:p>
                      <a:pPr marL="0" indent="0">
                        <a:buNone/>
                      </a:pPr>
                      <a:r>
                        <a:rPr lang="en-US" sz="950" b="1" dirty="0">
                          <a:solidFill>
                            <a:srgbClr val="0B0F17"/>
                          </a:solidFill>
                          <a:latin typeface="Calibri" pitchFamily="34" charset="0"/>
                          <a:ea typeface="Calibri" pitchFamily="34" charset="-122"/>
                          <a:cs typeface="Calibri" pitchFamily="34" charset="-120"/>
                        </a:rPr>
                        <a:t>Era</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5FD4D6"/>
                    </a:solidFill>
                  </a:tcPr>
                </a:tc>
                <a:extLst>
                  <a:ext uri="{0D108BD9-81ED-4DB2-BD59-A6C34878D82A}">
                    <a16:rowId xmlns:a16="http://schemas.microsoft.com/office/drawing/2014/main" val="10000"/>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A1</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BM3D</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Dabov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IEEE TIP 16(8), 2007</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Tampere Univ. of Tech.</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11,976</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extLst>
                  <a:ext uri="{0D108BD9-81ED-4DB2-BD59-A6C34878D82A}">
                    <a16:rowId xmlns:a16="http://schemas.microsoft.com/office/drawing/2014/main" val="10001"/>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A2</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WNNM</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Gu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CVPR 2014, pp. 2862–2869</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Hong Kong PolyU</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2,960</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extLst>
                  <a:ext uri="{0D108BD9-81ED-4DB2-BD59-A6C34878D82A}">
                    <a16:rowId xmlns:a16="http://schemas.microsoft.com/office/drawing/2014/main" val="10002"/>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A3</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TNRD</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Chen &amp; Pock</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IEEE TPAMI 39(6), 2017</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Graz Univ. of Tech.</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1,626</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II</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extLst>
                  <a:ext uri="{0D108BD9-81ED-4DB2-BD59-A6C34878D82A}">
                    <a16:rowId xmlns:a16="http://schemas.microsoft.com/office/drawing/2014/main" val="10003"/>
                  </a:ext>
                </a:extLst>
              </a:tr>
              <a:tr h="293370">
                <a:tc>
                  <a:txBody>
                    <a:bodyPr/>
                    <a:lstStyle/>
                    <a:p>
                      <a:pPr marL="0" indent="0">
                        <a:buNone/>
                      </a:pPr>
                      <a:r>
                        <a:rPr lang="en-US" sz="950" b="1" dirty="0">
                          <a:solidFill>
                            <a:srgbClr val="E7B75F"/>
                          </a:solidFill>
                          <a:latin typeface="Calibri" pitchFamily="34" charset="0"/>
                          <a:ea typeface="Calibri" pitchFamily="34" charset="-122"/>
                          <a:cs typeface="Calibri" pitchFamily="34" charset="-120"/>
                        </a:rPr>
                        <a:t>A4</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b="1" dirty="0">
                          <a:solidFill>
                            <a:srgbClr val="E7B75F"/>
                          </a:solidFill>
                          <a:latin typeface="Calibri" pitchFamily="34" charset="0"/>
                          <a:ea typeface="Calibri" pitchFamily="34" charset="-122"/>
                          <a:cs typeface="Calibri" pitchFamily="34" charset="-120"/>
                        </a:rPr>
                        <a:t>DnCNN (anchor)</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b="1" dirty="0">
                          <a:solidFill>
                            <a:srgbClr val="E7B75F"/>
                          </a:solidFill>
                          <a:latin typeface="Calibri" pitchFamily="34" charset="0"/>
                          <a:ea typeface="Calibri" pitchFamily="34" charset="-122"/>
                          <a:cs typeface="Calibri" pitchFamily="34" charset="-120"/>
                        </a:rPr>
                        <a:t>Zhang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b="1" dirty="0">
                          <a:solidFill>
                            <a:srgbClr val="E7B75F"/>
                          </a:solidFill>
                          <a:latin typeface="Calibri" pitchFamily="34" charset="0"/>
                          <a:ea typeface="Calibri" pitchFamily="34" charset="-122"/>
                          <a:cs typeface="Calibri" pitchFamily="34" charset="-120"/>
                        </a:rPr>
                        <a:t>IEEE TIP 26(7), 2017</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b="1" dirty="0">
                          <a:solidFill>
                            <a:srgbClr val="E7B75F"/>
                          </a:solidFill>
                          <a:latin typeface="Calibri" pitchFamily="34" charset="0"/>
                          <a:ea typeface="Calibri" pitchFamily="34" charset="-122"/>
                          <a:cs typeface="Calibri" pitchFamily="34" charset="-120"/>
                        </a:rPr>
                        <a:t>Harbin Inst. of Tech.</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b="1" dirty="0">
                          <a:solidFill>
                            <a:srgbClr val="E7B75F"/>
                          </a:solidFill>
                          <a:latin typeface="Calibri" pitchFamily="34" charset="0"/>
                          <a:ea typeface="Calibri" pitchFamily="34" charset="-122"/>
                          <a:cs typeface="Calibri" pitchFamily="34" charset="-120"/>
                        </a:rPr>
                        <a:t>11,674</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b="1" dirty="0">
                          <a:solidFill>
                            <a:srgbClr val="E7B75F"/>
                          </a:solidFill>
                          <a:latin typeface="Calibri" pitchFamily="34" charset="0"/>
                          <a:ea typeface="Calibri" pitchFamily="34" charset="-122"/>
                          <a:cs typeface="Calibri" pitchFamily="34" charset="-120"/>
                        </a:rPr>
                        <a:t>III</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extLst>
                  <a:ext uri="{0D108BD9-81ED-4DB2-BD59-A6C34878D82A}">
                    <a16:rowId xmlns:a16="http://schemas.microsoft.com/office/drawing/2014/main" val="10004"/>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A5</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Noise2Noise</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Lehtinen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ICML 2018 (PMLR 80)</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NVIDIA · Aalto · MIT</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3,064</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IV-A</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extLst>
                  <a:ext uri="{0D108BD9-81ED-4DB2-BD59-A6C34878D82A}">
                    <a16:rowId xmlns:a16="http://schemas.microsoft.com/office/drawing/2014/main" val="10005"/>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A6</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Noise2Void</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Krull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CVPR 2019</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MPI-CBG/PKS Dresden</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2,075</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IV-A</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extLst>
                  <a:ext uri="{0D108BD9-81ED-4DB2-BD59-A6C34878D82A}">
                    <a16:rowId xmlns:a16="http://schemas.microsoft.com/office/drawing/2014/main" val="10006"/>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A7</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Restormer</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Zamir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CVPR 2022, pp. 5728–5739</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Inception Inst. of AI</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6,181</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IV-B</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extLst>
                  <a:ext uri="{0D108BD9-81ED-4DB2-BD59-A6C34878D82A}">
                    <a16:rowId xmlns:a16="http://schemas.microsoft.com/office/drawing/2014/main" val="10007"/>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A8</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NAFNet</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Chen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ECCV 2022, pp. 17–33</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MEGVII Technology</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2,318</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IV-B</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extLst>
                  <a:ext uri="{0D108BD9-81ED-4DB2-BD59-A6C34878D82A}">
                    <a16:rowId xmlns:a16="http://schemas.microsoft.com/office/drawing/2014/main" val="10008"/>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A9</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ZS-N2N</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Mansour &amp; Heckel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CVPR 2023, pp. 14018–14027</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TU Munich · Rice</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266</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IV-A</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extLst>
                  <a:ext uri="{0D108BD9-81ED-4DB2-BD59-A6C34878D82A}">
                    <a16:rowId xmlns:a16="http://schemas.microsoft.com/office/drawing/2014/main" val="10009"/>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A10</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SCUNet</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Zhang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Machine Intelligence Research 20(6), 2023</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ETH Zürich</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391</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IV-B</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B2436"/>
                    </a:solidFill>
                  </a:tcPr>
                </a:tc>
                <a:extLst>
                  <a:ext uri="{0D108BD9-81ED-4DB2-BD59-A6C34878D82A}">
                    <a16:rowId xmlns:a16="http://schemas.microsoft.com/office/drawing/2014/main" val="10010"/>
                  </a:ext>
                </a:extLst>
              </a:tr>
              <a:tr h="293370">
                <a:tc>
                  <a:txBody>
                    <a:bodyPr/>
                    <a:lstStyle/>
                    <a:p>
                      <a:pPr marL="0" indent="0">
                        <a:buNone/>
                      </a:pPr>
                      <a:r>
                        <a:rPr lang="en-US" sz="950" b="1" dirty="0">
                          <a:solidFill>
                            <a:srgbClr val="F3F6FA"/>
                          </a:solidFill>
                          <a:latin typeface="Calibri" pitchFamily="34" charset="0"/>
                          <a:ea typeface="Calibri" pitchFamily="34" charset="-122"/>
                          <a:cs typeface="Calibri" pitchFamily="34" charset="-120"/>
                        </a:rPr>
                        <a:t>A11</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MambaIR</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Guo et al.</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ECCV 2024, pp. 222–241</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Tsinghua SIGS</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1,208</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tc>
                  <a:txBody>
                    <a:bodyPr/>
                    <a:lstStyle/>
                    <a:p>
                      <a:pPr marL="0" indent="0">
                        <a:buNone/>
                      </a:pPr>
                      <a:r>
                        <a:rPr lang="en-US" sz="950" dirty="0">
                          <a:solidFill>
                            <a:srgbClr val="F3F6FA"/>
                          </a:solidFill>
                          <a:latin typeface="Calibri" pitchFamily="34" charset="0"/>
                          <a:ea typeface="Calibri" pitchFamily="34" charset="-122"/>
                          <a:cs typeface="Calibri" pitchFamily="34" charset="-120"/>
                        </a:rPr>
                        <a:t>IV-B</a:t>
                      </a:r>
                      <a:endParaRPr lang="en-US" sz="950" dirty="0">
                        <a:latin typeface="Calibri" charset="0"/>
                        <a:ea typeface="Calibri" charset="0"/>
                        <a:cs typeface="Calibri" charset="0"/>
                      </a:endParaRPr>
                    </a:p>
                  </a:txBody>
                  <a:tcPr anchor="ctr">
                    <a:lnL w="6350" cap="flat" cmpd="sng" algn="ctr">
                      <a:solidFill>
                        <a:srgbClr val="263148"/>
                      </a:solidFill>
                      <a:prstDash val="solid"/>
                      <a:round/>
                      <a:headEnd type="none" w="med" len="med"/>
                      <a:tailEnd type="none" w="med" len="med"/>
                    </a:lnL>
                    <a:lnR w="6350" cap="flat" cmpd="sng" algn="ctr">
                      <a:solidFill>
                        <a:srgbClr val="263148"/>
                      </a:solidFill>
                      <a:prstDash val="solid"/>
                      <a:round/>
                      <a:headEnd type="none" w="med" len="med"/>
                      <a:tailEnd type="none" w="med" len="med"/>
                    </a:lnR>
                    <a:lnT w="6350" cap="flat" cmpd="sng" algn="ctr">
                      <a:solidFill>
                        <a:srgbClr val="263148"/>
                      </a:solidFill>
                      <a:prstDash val="solid"/>
                      <a:round/>
                      <a:headEnd type="none" w="med" len="med"/>
                      <a:tailEnd type="none" w="med" len="med"/>
                    </a:lnT>
                    <a:lnB w="6350" cap="flat" cmpd="sng" algn="ctr">
                      <a:solidFill>
                        <a:srgbClr val="263148"/>
                      </a:solidFill>
                      <a:prstDash val="solid"/>
                      <a:round/>
                      <a:headEnd type="none" w="med" len="med"/>
                      <a:tailEnd type="none" w="med" len="med"/>
                    </a:lnB>
                    <a:solidFill>
                      <a:srgbClr val="141B29"/>
                    </a:solidFill>
                  </a:tcPr>
                </a:tc>
                <a:extLst>
                  <a:ext uri="{0D108BD9-81ED-4DB2-BD59-A6C34878D82A}">
                    <a16:rowId xmlns:a16="http://schemas.microsoft.com/office/drawing/2014/main" val="10011"/>
                  </a:ext>
                </a:extLst>
              </a:tr>
            </a:tbl>
          </a:graphicData>
        </a:graphic>
      </p:graphicFrame>
      <p:sp>
        <p:nvSpPr>
          <p:cNvPr id="5" name="Shape 2"/>
          <p:cNvSpPr/>
          <p:nvPr/>
        </p:nvSpPr>
        <p:spPr>
          <a:xfrm>
            <a:off x="548640" y="5166360"/>
            <a:ext cx="11064240" cy="1051560"/>
          </a:xfrm>
          <a:prstGeom prst="roundRect">
            <a:avLst>
              <a:gd name="adj" fmla="val 6957"/>
            </a:avLst>
          </a:prstGeom>
          <a:solidFill>
            <a:srgbClr val="1B2436"/>
          </a:solidFill>
          <a:ln/>
        </p:spPr>
        <p:txBody>
          <a:bodyPr/>
          <a:lstStyle/>
          <a:p>
            <a:endParaRPr lang="en-GB"/>
          </a:p>
        </p:txBody>
      </p:sp>
      <p:sp>
        <p:nvSpPr>
          <p:cNvPr id="6" name="Text 3"/>
          <p:cNvSpPr/>
          <p:nvPr/>
        </p:nvSpPr>
        <p:spPr>
          <a:xfrm>
            <a:off x="868680" y="5303520"/>
            <a:ext cx="10424160" cy="274320"/>
          </a:xfrm>
          <a:prstGeom prst="rect">
            <a:avLst/>
          </a:prstGeom>
          <a:noFill/>
          <a:ln/>
        </p:spPr>
        <p:txBody>
          <a:bodyPr wrap="square" lIns="0" tIns="0" rIns="0" bIns="0" rtlCol="0" anchor="ctr"/>
          <a:lstStyle/>
          <a:p>
            <a:pPr marL="0" indent="0">
              <a:buNone/>
            </a:pPr>
            <a:r>
              <a:rPr lang="en-US" sz="1050" b="1" kern="0" spc="100" dirty="0">
                <a:solidFill>
                  <a:srgbClr val="5FD4D6"/>
                </a:solidFill>
                <a:latin typeface="Calibri" pitchFamily="34" charset="0"/>
                <a:ea typeface="Calibri" pitchFamily="34" charset="-122"/>
                <a:cs typeface="Calibri" pitchFamily="34" charset="-120"/>
              </a:rPr>
              <a:t>RECENCY REQUIREMENT — SATISFIED BOTH WAYS</a:t>
            </a:r>
            <a:endParaRPr lang="en-US" sz="1050" dirty="0"/>
          </a:p>
        </p:txBody>
      </p:sp>
      <p:sp>
        <p:nvSpPr>
          <p:cNvPr id="7" name="Text 4"/>
          <p:cNvSpPr/>
          <p:nvPr/>
        </p:nvSpPr>
        <p:spPr>
          <a:xfrm>
            <a:off x="868680" y="5577840"/>
            <a:ext cx="10424160" cy="548640"/>
          </a:xfrm>
          <a:prstGeom prst="rect">
            <a:avLst/>
          </a:prstGeom>
          <a:noFill/>
          <a:ln/>
        </p:spPr>
        <p:txBody>
          <a:bodyPr wrap="square" lIns="0" tIns="0" rIns="0" bIns="0" rtlCol="0" anchor="ctr"/>
          <a:lstStyle/>
          <a:p>
            <a:pPr marL="0" indent="0">
              <a:lnSpc>
                <a:spcPct val="125000"/>
              </a:lnSpc>
              <a:buNone/>
            </a:pPr>
            <a:r>
              <a:rPr lang="en-US" sz="1100" dirty="0">
                <a:solidFill>
                  <a:srgbClr val="8C97AC"/>
                </a:solidFill>
                <a:latin typeface="Calibri" pitchFamily="34" charset="0"/>
                <a:ea typeface="Calibri" pitchFamily="34" charset="-122"/>
                <a:cs typeface="Calibri" pitchFamily="34" charset="-120"/>
              </a:rPr>
              <a:t>Six pre-2022 milestones (A1–A6) and five 2022-or-later SOTA papers (A7–A11). The guidelines require both halves; the roster carries both with margin. Citation counts are Google Scholar, checked 9 August 2026.</a:t>
            </a:r>
            <a:endParaRPr lang="en-US" sz="1100" dirty="0"/>
          </a:p>
        </p:txBody>
      </p:sp>
      <p:sp>
        <p:nvSpPr>
          <p:cNvPr id="8" name="Text 5"/>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§3 · CATEGORY B AND THE 70/30 ARITHMETIC</a:t>
            </a:r>
            <a:endParaRPr lang="en-US" sz="1100" dirty="0"/>
          </a:p>
        </p:txBody>
      </p:sp>
      <p:sp>
        <p:nvSpPr>
          <p:cNvPr id="3" name="Text 1"/>
          <p:cNvSpPr/>
          <p:nvPr/>
        </p:nvSpPr>
        <p:spPr>
          <a:xfrm>
            <a:off x="640080" y="777240"/>
            <a:ext cx="10881360" cy="594360"/>
          </a:xfrm>
          <a:prstGeom prst="rect">
            <a:avLst/>
          </a:prstGeom>
          <a:noFill/>
          <a:ln/>
        </p:spPr>
        <p:txBody>
          <a:bodyPr wrap="square" lIns="0" tIns="0" rIns="0" bIns="0" rtlCol="0" anchor="ctr"/>
          <a:lstStyle/>
          <a:p>
            <a:pPr marL="0" indent="0">
              <a:buNone/>
            </a:pPr>
            <a:r>
              <a:rPr lang="en-US" sz="2500" b="1" dirty="0">
                <a:solidFill>
                  <a:srgbClr val="F3F6FA"/>
                </a:solidFill>
                <a:latin typeface="Cambria" pitchFamily="34" charset="0"/>
                <a:ea typeface="Cambria" pitchFamily="34" charset="-122"/>
                <a:cs typeface="Cambria" pitchFamily="34" charset="-120"/>
              </a:rPr>
              <a:t>Three auxiliary sources — 21.4%, under the 30% ceiling</a:t>
            </a:r>
            <a:endParaRPr lang="en-US" sz="2500" dirty="0"/>
          </a:p>
        </p:txBody>
      </p:sp>
      <p:sp>
        <p:nvSpPr>
          <p:cNvPr id="4" name="Shape 2"/>
          <p:cNvSpPr/>
          <p:nvPr/>
        </p:nvSpPr>
        <p:spPr>
          <a:xfrm>
            <a:off x="640080" y="1600200"/>
            <a:ext cx="6309360" cy="685800"/>
          </a:xfrm>
          <a:prstGeom prst="roundRect">
            <a:avLst>
              <a:gd name="adj" fmla="val 8000"/>
            </a:avLst>
          </a:prstGeom>
          <a:solidFill>
            <a:srgbClr val="141B29"/>
          </a:solidFill>
          <a:ln/>
        </p:spPr>
        <p:txBody>
          <a:bodyPr/>
          <a:lstStyle/>
          <a:p>
            <a:endParaRPr lang="en-GB"/>
          </a:p>
        </p:txBody>
      </p:sp>
      <p:sp>
        <p:nvSpPr>
          <p:cNvPr id="5" name="Shape 3"/>
          <p:cNvSpPr/>
          <p:nvPr/>
        </p:nvSpPr>
        <p:spPr>
          <a:xfrm>
            <a:off x="841248" y="1737360"/>
            <a:ext cx="411480" cy="411480"/>
          </a:xfrm>
          <a:prstGeom prst="ellipse">
            <a:avLst/>
          </a:prstGeom>
          <a:solidFill>
            <a:srgbClr val="5FD4D6"/>
          </a:solidFill>
          <a:ln/>
        </p:spPr>
        <p:txBody>
          <a:bodyPr/>
          <a:lstStyle/>
          <a:p>
            <a:endParaRPr lang="en-GB"/>
          </a:p>
        </p:txBody>
      </p:sp>
      <p:sp>
        <p:nvSpPr>
          <p:cNvPr id="6" name="Text 4"/>
          <p:cNvSpPr/>
          <p:nvPr/>
        </p:nvSpPr>
        <p:spPr>
          <a:xfrm>
            <a:off x="841248" y="1737360"/>
            <a:ext cx="411480" cy="411480"/>
          </a:xfrm>
          <a:prstGeom prst="rect">
            <a:avLst/>
          </a:prstGeom>
          <a:noFill/>
          <a:ln/>
        </p:spPr>
        <p:txBody>
          <a:bodyPr wrap="square" lIns="0" tIns="0" rIns="0" bIns="0" rtlCol="0" anchor="ctr"/>
          <a:lstStyle/>
          <a:p>
            <a:pPr marL="0" indent="0" algn="ctr">
              <a:buNone/>
            </a:pPr>
            <a:r>
              <a:rPr lang="en-US" sz="1100" b="1" dirty="0">
                <a:solidFill>
                  <a:srgbClr val="0B0F17"/>
                </a:solidFill>
                <a:latin typeface="Calibri" pitchFamily="34" charset="0"/>
                <a:ea typeface="Calibri" pitchFamily="34" charset="-122"/>
                <a:cs typeface="Calibri" pitchFamily="34" charset="-120"/>
              </a:rPr>
              <a:t>B1</a:t>
            </a:r>
            <a:endParaRPr lang="en-US" sz="1100" dirty="0"/>
          </a:p>
        </p:txBody>
      </p:sp>
      <p:sp>
        <p:nvSpPr>
          <p:cNvPr id="7" name="Text 5"/>
          <p:cNvSpPr/>
          <p:nvPr/>
        </p:nvSpPr>
        <p:spPr>
          <a:xfrm>
            <a:off x="1417320" y="1645920"/>
            <a:ext cx="5394960" cy="365760"/>
          </a:xfrm>
          <a:prstGeom prst="rect">
            <a:avLst/>
          </a:prstGeom>
          <a:noFill/>
          <a:ln/>
        </p:spPr>
        <p:txBody>
          <a:bodyPr wrap="square" lIns="0" tIns="0" rIns="0" bIns="0" rtlCol="0" anchor="ctr"/>
          <a:lstStyle/>
          <a:p>
            <a:pPr marL="0" indent="0">
              <a:buNone/>
            </a:pPr>
            <a:r>
              <a:rPr lang="en-US" sz="1100" b="1" dirty="0">
                <a:solidFill>
                  <a:srgbClr val="F3F6FA"/>
                </a:solidFill>
                <a:latin typeface="Calibri" pitchFamily="34" charset="0"/>
                <a:ea typeface="Calibri" pitchFamily="34" charset="-122"/>
                <a:cs typeface="Calibri" pitchFamily="34" charset="-120"/>
              </a:rPr>
              <a:t>Stanford CS231n — Convolutional Neural Networks for Visual Recognition</a:t>
            </a:r>
            <a:endParaRPr lang="en-US" sz="1100" dirty="0"/>
          </a:p>
        </p:txBody>
      </p:sp>
      <p:sp>
        <p:nvSpPr>
          <p:cNvPr id="8" name="Text 6"/>
          <p:cNvSpPr/>
          <p:nvPr/>
        </p:nvSpPr>
        <p:spPr>
          <a:xfrm>
            <a:off x="1417320" y="1984248"/>
            <a:ext cx="5394960" cy="274320"/>
          </a:xfrm>
          <a:prstGeom prst="rect">
            <a:avLst/>
          </a:prstGeom>
          <a:noFill/>
          <a:ln/>
        </p:spPr>
        <p:txBody>
          <a:bodyPr wrap="square" lIns="0" tIns="0" rIns="0" bIns="0" rtlCol="0" anchor="ctr"/>
          <a:lstStyle/>
          <a:p>
            <a:pPr marL="0" indent="0">
              <a:buNone/>
            </a:pPr>
            <a:r>
              <a:rPr lang="en-US" sz="1000" i="1" dirty="0">
                <a:solidFill>
                  <a:srgbClr val="8C97AC"/>
                </a:solidFill>
                <a:latin typeface="Calibri" pitchFamily="34" charset="0"/>
                <a:ea typeface="Calibri" pitchFamily="34" charset="-122"/>
                <a:cs typeface="Calibri" pitchFamily="34" charset="-120"/>
              </a:rPr>
              <a:t>Recognised academic lecture series</a:t>
            </a:r>
            <a:endParaRPr lang="en-US" sz="1000" dirty="0"/>
          </a:p>
        </p:txBody>
      </p:sp>
      <p:sp>
        <p:nvSpPr>
          <p:cNvPr id="9" name="Shape 7"/>
          <p:cNvSpPr/>
          <p:nvPr/>
        </p:nvSpPr>
        <p:spPr>
          <a:xfrm>
            <a:off x="640080" y="2423160"/>
            <a:ext cx="6309360" cy="685800"/>
          </a:xfrm>
          <a:prstGeom prst="roundRect">
            <a:avLst>
              <a:gd name="adj" fmla="val 8000"/>
            </a:avLst>
          </a:prstGeom>
          <a:solidFill>
            <a:srgbClr val="141B29"/>
          </a:solidFill>
          <a:ln/>
        </p:spPr>
        <p:txBody>
          <a:bodyPr/>
          <a:lstStyle/>
          <a:p>
            <a:endParaRPr lang="en-GB"/>
          </a:p>
        </p:txBody>
      </p:sp>
      <p:sp>
        <p:nvSpPr>
          <p:cNvPr id="10" name="Shape 8"/>
          <p:cNvSpPr/>
          <p:nvPr/>
        </p:nvSpPr>
        <p:spPr>
          <a:xfrm>
            <a:off x="841248" y="2560320"/>
            <a:ext cx="411480" cy="411480"/>
          </a:xfrm>
          <a:prstGeom prst="ellipse">
            <a:avLst/>
          </a:prstGeom>
          <a:solidFill>
            <a:srgbClr val="5FD4D6"/>
          </a:solidFill>
          <a:ln/>
        </p:spPr>
        <p:txBody>
          <a:bodyPr/>
          <a:lstStyle/>
          <a:p>
            <a:endParaRPr lang="en-GB"/>
          </a:p>
        </p:txBody>
      </p:sp>
      <p:sp>
        <p:nvSpPr>
          <p:cNvPr id="11" name="Text 9"/>
          <p:cNvSpPr/>
          <p:nvPr/>
        </p:nvSpPr>
        <p:spPr>
          <a:xfrm>
            <a:off x="841248" y="2560320"/>
            <a:ext cx="411480" cy="411480"/>
          </a:xfrm>
          <a:prstGeom prst="rect">
            <a:avLst/>
          </a:prstGeom>
          <a:noFill/>
          <a:ln/>
        </p:spPr>
        <p:txBody>
          <a:bodyPr wrap="square" lIns="0" tIns="0" rIns="0" bIns="0" rtlCol="0" anchor="ctr"/>
          <a:lstStyle/>
          <a:p>
            <a:pPr marL="0" indent="0" algn="ctr">
              <a:buNone/>
            </a:pPr>
            <a:r>
              <a:rPr lang="en-US" sz="1100" b="1" dirty="0">
                <a:solidFill>
                  <a:srgbClr val="0B0F17"/>
                </a:solidFill>
                <a:latin typeface="Calibri" pitchFamily="34" charset="0"/>
                <a:ea typeface="Calibri" pitchFamily="34" charset="-122"/>
                <a:cs typeface="Calibri" pitchFamily="34" charset="-120"/>
              </a:rPr>
              <a:t>B2</a:t>
            </a:r>
            <a:endParaRPr lang="en-US" sz="1100" dirty="0"/>
          </a:p>
        </p:txBody>
      </p:sp>
      <p:sp>
        <p:nvSpPr>
          <p:cNvPr id="12" name="Text 10"/>
          <p:cNvSpPr/>
          <p:nvPr/>
        </p:nvSpPr>
        <p:spPr>
          <a:xfrm>
            <a:off x="1417320" y="2468880"/>
            <a:ext cx="5394960" cy="365760"/>
          </a:xfrm>
          <a:prstGeom prst="rect">
            <a:avLst/>
          </a:prstGeom>
          <a:noFill/>
          <a:ln/>
        </p:spPr>
        <p:txBody>
          <a:bodyPr wrap="square" lIns="0" tIns="0" rIns="0" bIns="0" rtlCol="0" anchor="ctr"/>
          <a:lstStyle/>
          <a:p>
            <a:pPr marL="0" indent="0">
              <a:buNone/>
            </a:pPr>
            <a:r>
              <a:rPr lang="en-US" sz="1100" b="1" dirty="0">
                <a:solidFill>
                  <a:srgbClr val="F3F6FA"/>
                </a:solidFill>
                <a:latin typeface="Calibri" pitchFamily="34" charset="0"/>
                <a:ea typeface="Calibri" pitchFamily="34" charset="-122"/>
                <a:cs typeface="Calibri" pitchFamily="34" charset="-120"/>
              </a:rPr>
              <a:t>Google Research Blog — Night Sight: Seeing in the Dark on Pixel Phones</a:t>
            </a:r>
            <a:endParaRPr lang="en-US" sz="1100" dirty="0"/>
          </a:p>
        </p:txBody>
      </p:sp>
      <p:sp>
        <p:nvSpPr>
          <p:cNvPr id="13" name="Text 11"/>
          <p:cNvSpPr/>
          <p:nvPr/>
        </p:nvSpPr>
        <p:spPr>
          <a:xfrm>
            <a:off x="1417320" y="2807208"/>
            <a:ext cx="5394960" cy="274320"/>
          </a:xfrm>
          <a:prstGeom prst="rect">
            <a:avLst/>
          </a:prstGeom>
          <a:noFill/>
          <a:ln/>
        </p:spPr>
        <p:txBody>
          <a:bodyPr wrap="square" lIns="0" tIns="0" rIns="0" bIns="0" rtlCol="0" anchor="ctr"/>
          <a:lstStyle/>
          <a:p>
            <a:pPr marL="0" indent="0">
              <a:buNone/>
            </a:pPr>
            <a:r>
              <a:rPr lang="en-US" sz="1000" i="1" dirty="0">
                <a:solidFill>
                  <a:srgbClr val="8C97AC"/>
                </a:solidFill>
                <a:latin typeface="Calibri" pitchFamily="34" charset="0"/>
                <a:ea typeface="Calibri" pitchFamily="34" charset="-122"/>
                <a:cs typeface="Calibri" pitchFamily="34" charset="-120"/>
              </a:rPr>
              <a:t>Industry-leader technical blog</a:t>
            </a:r>
            <a:endParaRPr lang="en-US" sz="1000" dirty="0"/>
          </a:p>
        </p:txBody>
      </p:sp>
      <p:sp>
        <p:nvSpPr>
          <p:cNvPr id="14" name="Shape 12"/>
          <p:cNvSpPr/>
          <p:nvPr/>
        </p:nvSpPr>
        <p:spPr>
          <a:xfrm>
            <a:off x="640080" y="3246120"/>
            <a:ext cx="6309360" cy="685800"/>
          </a:xfrm>
          <a:prstGeom prst="roundRect">
            <a:avLst>
              <a:gd name="adj" fmla="val 8000"/>
            </a:avLst>
          </a:prstGeom>
          <a:solidFill>
            <a:srgbClr val="141B29"/>
          </a:solidFill>
          <a:ln/>
        </p:spPr>
        <p:txBody>
          <a:bodyPr/>
          <a:lstStyle/>
          <a:p>
            <a:endParaRPr lang="en-GB"/>
          </a:p>
        </p:txBody>
      </p:sp>
      <p:sp>
        <p:nvSpPr>
          <p:cNvPr id="15" name="Shape 13"/>
          <p:cNvSpPr/>
          <p:nvPr/>
        </p:nvSpPr>
        <p:spPr>
          <a:xfrm>
            <a:off x="841248" y="3383280"/>
            <a:ext cx="411480" cy="411480"/>
          </a:xfrm>
          <a:prstGeom prst="ellipse">
            <a:avLst/>
          </a:prstGeom>
          <a:solidFill>
            <a:srgbClr val="5FD4D6"/>
          </a:solidFill>
          <a:ln/>
        </p:spPr>
        <p:txBody>
          <a:bodyPr/>
          <a:lstStyle/>
          <a:p>
            <a:endParaRPr lang="en-GB"/>
          </a:p>
        </p:txBody>
      </p:sp>
      <p:sp>
        <p:nvSpPr>
          <p:cNvPr id="16" name="Text 14"/>
          <p:cNvSpPr/>
          <p:nvPr/>
        </p:nvSpPr>
        <p:spPr>
          <a:xfrm>
            <a:off x="841248" y="3383280"/>
            <a:ext cx="411480" cy="411480"/>
          </a:xfrm>
          <a:prstGeom prst="rect">
            <a:avLst/>
          </a:prstGeom>
          <a:noFill/>
          <a:ln/>
        </p:spPr>
        <p:txBody>
          <a:bodyPr wrap="square" lIns="0" tIns="0" rIns="0" bIns="0" rtlCol="0" anchor="ctr"/>
          <a:lstStyle/>
          <a:p>
            <a:pPr marL="0" indent="0" algn="ctr">
              <a:buNone/>
            </a:pPr>
            <a:r>
              <a:rPr lang="en-US" sz="1100" b="1" dirty="0">
                <a:solidFill>
                  <a:srgbClr val="0B0F17"/>
                </a:solidFill>
                <a:latin typeface="Calibri" pitchFamily="34" charset="0"/>
                <a:ea typeface="Calibri" pitchFamily="34" charset="-122"/>
                <a:cs typeface="Calibri" pitchFamily="34" charset="-120"/>
              </a:rPr>
              <a:t>B3</a:t>
            </a:r>
            <a:endParaRPr lang="en-US" sz="1100" dirty="0"/>
          </a:p>
        </p:txBody>
      </p:sp>
      <p:sp>
        <p:nvSpPr>
          <p:cNvPr id="17" name="Text 15"/>
          <p:cNvSpPr/>
          <p:nvPr/>
        </p:nvSpPr>
        <p:spPr>
          <a:xfrm>
            <a:off x="1417320" y="3291840"/>
            <a:ext cx="5394960" cy="365760"/>
          </a:xfrm>
          <a:prstGeom prst="rect">
            <a:avLst/>
          </a:prstGeom>
          <a:noFill/>
          <a:ln/>
        </p:spPr>
        <p:txBody>
          <a:bodyPr wrap="square" lIns="0" tIns="0" rIns="0" bIns="0" rtlCol="0" anchor="ctr"/>
          <a:lstStyle/>
          <a:p>
            <a:pPr marL="0" indent="0">
              <a:buNone/>
            </a:pPr>
            <a:r>
              <a:rPr lang="en-US" sz="1100" b="1" dirty="0">
                <a:solidFill>
                  <a:srgbClr val="F3F6FA"/>
                </a:solidFill>
                <a:latin typeface="Calibri" pitchFamily="34" charset="0"/>
                <a:ea typeface="Calibri" pitchFamily="34" charset="-122"/>
                <a:cs typeface="Calibri" pitchFamily="34" charset="-120"/>
              </a:rPr>
              <a:t>Gonzalez &amp; Woods — Digital Image Processing, Image Restoration chapter</a:t>
            </a:r>
            <a:endParaRPr lang="en-US" sz="1100" dirty="0"/>
          </a:p>
        </p:txBody>
      </p:sp>
      <p:sp>
        <p:nvSpPr>
          <p:cNvPr id="18" name="Text 16"/>
          <p:cNvSpPr/>
          <p:nvPr/>
        </p:nvSpPr>
        <p:spPr>
          <a:xfrm>
            <a:off x="1417320" y="3630168"/>
            <a:ext cx="5394960" cy="274320"/>
          </a:xfrm>
          <a:prstGeom prst="rect">
            <a:avLst/>
          </a:prstGeom>
          <a:noFill/>
          <a:ln/>
        </p:spPr>
        <p:txBody>
          <a:bodyPr wrap="square" lIns="0" tIns="0" rIns="0" bIns="0" rtlCol="0" anchor="ctr"/>
          <a:lstStyle/>
          <a:p>
            <a:pPr marL="0" indent="0">
              <a:buNone/>
            </a:pPr>
            <a:r>
              <a:rPr lang="en-US" sz="1000" i="1" dirty="0">
                <a:solidFill>
                  <a:srgbClr val="8C97AC"/>
                </a:solidFill>
                <a:latin typeface="Calibri" pitchFamily="34" charset="0"/>
                <a:ea typeface="Calibri" pitchFamily="34" charset="-122"/>
                <a:cs typeface="Calibri" pitchFamily="34" charset="-120"/>
              </a:rPr>
              <a:t>Textbook chapter</a:t>
            </a:r>
            <a:endParaRPr lang="en-US" sz="1000" dirty="0"/>
          </a:p>
        </p:txBody>
      </p:sp>
      <p:sp>
        <p:nvSpPr>
          <p:cNvPr id="19" name="Text 17"/>
          <p:cNvSpPr/>
          <p:nvPr/>
        </p:nvSpPr>
        <p:spPr>
          <a:xfrm>
            <a:off x="640080" y="4160520"/>
            <a:ext cx="6309360" cy="274320"/>
          </a:xfrm>
          <a:prstGeom prst="rect">
            <a:avLst/>
          </a:prstGeom>
          <a:noFill/>
          <a:ln/>
        </p:spPr>
        <p:txBody>
          <a:bodyPr wrap="square" lIns="0" tIns="0" rIns="0" bIns="0" rtlCol="0" anchor="ctr"/>
          <a:lstStyle/>
          <a:p>
            <a:pPr marL="0" indent="0">
              <a:buNone/>
            </a:pPr>
            <a:r>
              <a:rPr lang="en-US" sz="1000" b="1" kern="0" spc="100" dirty="0">
                <a:solidFill>
                  <a:srgbClr val="E7B75F"/>
                </a:solidFill>
                <a:latin typeface="Calibri" pitchFamily="34" charset="0"/>
                <a:ea typeface="Calibri" pitchFamily="34" charset="-122"/>
                <a:cs typeface="Calibri" pitchFamily="34" charset="-120"/>
              </a:rPr>
              <a:t>ALL THREE TYPES NAMED VERBATIM IN THE GUIDELINES</a:t>
            </a:r>
            <a:endParaRPr lang="en-US" sz="1000" dirty="0"/>
          </a:p>
        </p:txBody>
      </p:sp>
      <p:sp>
        <p:nvSpPr>
          <p:cNvPr id="20" name="Text 18"/>
          <p:cNvSpPr/>
          <p:nvPr/>
        </p:nvSpPr>
        <p:spPr>
          <a:xfrm>
            <a:off x="640080" y="4453128"/>
            <a:ext cx="6309360" cy="685800"/>
          </a:xfrm>
          <a:prstGeom prst="rect">
            <a:avLst/>
          </a:prstGeom>
          <a:noFill/>
          <a:ln/>
        </p:spPr>
        <p:txBody>
          <a:bodyPr wrap="square" lIns="0" tIns="0" rIns="0" bIns="0" rtlCol="0" anchor="ctr"/>
          <a:lstStyle/>
          <a:p>
            <a:pPr marL="0" indent="0">
              <a:lnSpc>
                <a:spcPct val="125000"/>
              </a:lnSpc>
              <a:buNone/>
            </a:pPr>
            <a:r>
              <a:rPr lang="en-US" sz="1100" dirty="0">
                <a:solidFill>
                  <a:srgbClr val="8C97AC"/>
                </a:solidFill>
                <a:latin typeface="Calibri" pitchFamily="34" charset="0"/>
                <a:ea typeface="Calibri" pitchFamily="34" charset="-122"/>
                <a:cs typeface="Calibri" pitchFamily="34" charset="-120"/>
              </a:rPr>
              <a:t>The guidelines list textbook chapters, Stanford/MIT lectures, and Google/Meta technical blogs as acceptable. Each Category B entry maps to one of those three named types exactly.</a:t>
            </a:r>
            <a:endParaRPr lang="en-US" sz="1100" dirty="0"/>
          </a:p>
        </p:txBody>
      </p:sp>
      <p:sp>
        <p:nvSpPr>
          <p:cNvPr id="21" name="Shape 19"/>
          <p:cNvSpPr/>
          <p:nvPr/>
        </p:nvSpPr>
        <p:spPr>
          <a:xfrm>
            <a:off x="7269480" y="1600200"/>
            <a:ext cx="4251960" cy="1920240"/>
          </a:xfrm>
          <a:prstGeom prst="roundRect">
            <a:avLst>
              <a:gd name="adj" fmla="val 3810"/>
            </a:avLst>
          </a:prstGeom>
          <a:solidFill>
            <a:srgbClr val="141B29"/>
          </a:solidFill>
          <a:ln/>
        </p:spPr>
        <p:txBody>
          <a:bodyPr/>
          <a:lstStyle/>
          <a:p>
            <a:endParaRPr lang="en-GB"/>
          </a:p>
        </p:txBody>
      </p:sp>
      <p:sp>
        <p:nvSpPr>
          <p:cNvPr id="22" name="Text 20"/>
          <p:cNvSpPr/>
          <p:nvPr/>
        </p:nvSpPr>
        <p:spPr>
          <a:xfrm>
            <a:off x="7543800" y="1783080"/>
            <a:ext cx="3703320" cy="274320"/>
          </a:xfrm>
          <a:prstGeom prst="rect">
            <a:avLst/>
          </a:prstGeom>
          <a:noFill/>
          <a:ln/>
        </p:spPr>
        <p:txBody>
          <a:bodyPr wrap="square" lIns="0" tIns="0" rIns="0" bIns="0" rtlCol="0" anchor="ctr"/>
          <a:lstStyle/>
          <a:p>
            <a:pPr marL="0" indent="0">
              <a:buNone/>
            </a:pPr>
            <a:r>
              <a:rPr lang="en-US" sz="1050" b="1" kern="0" spc="100" dirty="0">
                <a:solidFill>
                  <a:srgbClr val="5FD4D6"/>
                </a:solidFill>
                <a:latin typeface="Calibri" pitchFamily="34" charset="0"/>
                <a:ea typeface="Calibri" pitchFamily="34" charset="-122"/>
                <a:cs typeface="Calibri" pitchFamily="34" charset="-120"/>
              </a:rPr>
              <a:t>THE QUOTA, CHECKED</a:t>
            </a:r>
            <a:endParaRPr lang="en-US" sz="1050" dirty="0"/>
          </a:p>
        </p:txBody>
      </p:sp>
      <p:sp>
        <p:nvSpPr>
          <p:cNvPr id="23" name="Text 21"/>
          <p:cNvSpPr/>
          <p:nvPr/>
        </p:nvSpPr>
        <p:spPr>
          <a:xfrm>
            <a:off x="7543800" y="2148840"/>
            <a:ext cx="1737360" cy="320040"/>
          </a:xfrm>
          <a:prstGeom prst="rect">
            <a:avLst/>
          </a:prstGeom>
          <a:noFill/>
          <a:ln/>
        </p:spPr>
        <p:txBody>
          <a:bodyPr wrap="square" lIns="0" tIns="0" rIns="0" bIns="0" rtlCol="0" anchor="ctr"/>
          <a:lstStyle/>
          <a:p>
            <a:pPr marL="0" indent="0">
              <a:buNone/>
            </a:pPr>
            <a:r>
              <a:rPr lang="en-US" sz="1100" dirty="0">
                <a:solidFill>
                  <a:srgbClr val="F3F6FA"/>
                </a:solidFill>
                <a:latin typeface="Calibri" pitchFamily="34" charset="0"/>
                <a:ea typeface="Calibri" pitchFamily="34" charset="-122"/>
                <a:cs typeface="Calibri" pitchFamily="34" charset="-120"/>
              </a:rPr>
              <a:t>A — peer-reviewed</a:t>
            </a:r>
            <a:endParaRPr lang="en-US" sz="1100" dirty="0"/>
          </a:p>
        </p:txBody>
      </p:sp>
      <p:sp>
        <p:nvSpPr>
          <p:cNvPr id="24" name="Text 22"/>
          <p:cNvSpPr/>
          <p:nvPr/>
        </p:nvSpPr>
        <p:spPr>
          <a:xfrm>
            <a:off x="9235440" y="2148840"/>
            <a:ext cx="548640" cy="320040"/>
          </a:xfrm>
          <a:prstGeom prst="rect">
            <a:avLst/>
          </a:prstGeom>
          <a:noFill/>
          <a:ln/>
        </p:spPr>
        <p:txBody>
          <a:bodyPr wrap="square" lIns="0" tIns="0" rIns="0" bIns="0" rtlCol="0" anchor="ctr"/>
          <a:lstStyle/>
          <a:p>
            <a:pPr marL="0" indent="0" algn="ctr">
              <a:buNone/>
            </a:pPr>
            <a:r>
              <a:rPr lang="en-US" sz="1100" b="1" dirty="0">
                <a:solidFill>
                  <a:srgbClr val="F3F6FA"/>
                </a:solidFill>
                <a:latin typeface="Calibri" pitchFamily="34" charset="0"/>
                <a:ea typeface="Calibri" pitchFamily="34" charset="-122"/>
                <a:cs typeface="Calibri" pitchFamily="34" charset="-120"/>
              </a:rPr>
              <a:t>11</a:t>
            </a:r>
            <a:endParaRPr lang="en-US" sz="1100" dirty="0"/>
          </a:p>
        </p:txBody>
      </p:sp>
      <p:sp>
        <p:nvSpPr>
          <p:cNvPr id="25" name="Text 23"/>
          <p:cNvSpPr/>
          <p:nvPr/>
        </p:nvSpPr>
        <p:spPr>
          <a:xfrm>
            <a:off x="9738360" y="2148840"/>
            <a:ext cx="777240" cy="320040"/>
          </a:xfrm>
          <a:prstGeom prst="rect">
            <a:avLst/>
          </a:prstGeom>
          <a:noFill/>
          <a:ln/>
        </p:spPr>
        <p:txBody>
          <a:bodyPr wrap="square" lIns="0" tIns="0" rIns="0" bIns="0" rtlCol="0" anchor="ctr"/>
          <a:lstStyle/>
          <a:p>
            <a:pPr marL="0" indent="0" algn="ctr">
              <a:buNone/>
            </a:pPr>
            <a:r>
              <a:rPr lang="en-US" sz="1100" dirty="0">
                <a:solidFill>
                  <a:srgbClr val="8C97AC"/>
                </a:solidFill>
                <a:latin typeface="Calibri" pitchFamily="34" charset="0"/>
                <a:ea typeface="Calibri" pitchFamily="34" charset="-122"/>
                <a:cs typeface="Calibri" pitchFamily="34" charset="-120"/>
              </a:rPr>
              <a:t>78.6%</a:t>
            </a:r>
            <a:endParaRPr lang="en-US" sz="1100" dirty="0"/>
          </a:p>
        </p:txBody>
      </p:sp>
      <p:sp>
        <p:nvSpPr>
          <p:cNvPr id="26" name="Text 24"/>
          <p:cNvSpPr/>
          <p:nvPr/>
        </p:nvSpPr>
        <p:spPr>
          <a:xfrm>
            <a:off x="10515600" y="2148840"/>
            <a:ext cx="731520" cy="320040"/>
          </a:xfrm>
          <a:prstGeom prst="rect">
            <a:avLst/>
          </a:prstGeom>
          <a:noFill/>
          <a:ln/>
        </p:spPr>
        <p:txBody>
          <a:bodyPr wrap="square" lIns="0" tIns="0" rIns="0" bIns="0" rtlCol="0" anchor="ctr"/>
          <a:lstStyle/>
          <a:p>
            <a:pPr marL="0" indent="0" algn="r">
              <a:buNone/>
            </a:pPr>
            <a:r>
              <a:rPr lang="en-US" sz="1050" b="1" dirty="0">
                <a:solidFill>
                  <a:srgbClr val="E7B75F"/>
                </a:solidFill>
                <a:latin typeface="Calibri" pitchFamily="34" charset="0"/>
                <a:ea typeface="Calibri" pitchFamily="34" charset="-122"/>
                <a:cs typeface="Calibri" pitchFamily="34" charset="-120"/>
              </a:rPr>
              <a:t>Pass</a:t>
            </a:r>
            <a:endParaRPr lang="en-US" sz="1050" dirty="0"/>
          </a:p>
        </p:txBody>
      </p:sp>
      <p:sp>
        <p:nvSpPr>
          <p:cNvPr id="27" name="Text 25"/>
          <p:cNvSpPr/>
          <p:nvPr/>
        </p:nvSpPr>
        <p:spPr>
          <a:xfrm>
            <a:off x="7543800" y="2560320"/>
            <a:ext cx="1737360" cy="320040"/>
          </a:xfrm>
          <a:prstGeom prst="rect">
            <a:avLst/>
          </a:prstGeom>
          <a:noFill/>
          <a:ln/>
        </p:spPr>
        <p:txBody>
          <a:bodyPr wrap="square" lIns="0" tIns="0" rIns="0" bIns="0" rtlCol="0" anchor="ctr"/>
          <a:lstStyle/>
          <a:p>
            <a:pPr marL="0" indent="0">
              <a:buNone/>
            </a:pPr>
            <a:r>
              <a:rPr lang="en-US" sz="1100" dirty="0">
                <a:solidFill>
                  <a:srgbClr val="F3F6FA"/>
                </a:solidFill>
                <a:latin typeface="Calibri" pitchFamily="34" charset="0"/>
                <a:ea typeface="Calibri" pitchFamily="34" charset="-122"/>
                <a:cs typeface="Calibri" pitchFamily="34" charset="-120"/>
              </a:rPr>
              <a:t>B — auxiliary</a:t>
            </a:r>
            <a:endParaRPr lang="en-US" sz="1100" dirty="0"/>
          </a:p>
        </p:txBody>
      </p:sp>
      <p:sp>
        <p:nvSpPr>
          <p:cNvPr id="28" name="Text 26"/>
          <p:cNvSpPr/>
          <p:nvPr/>
        </p:nvSpPr>
        <p:spPr>
          <a:xfrm>
            <a:off x="9235440" y="2560320"/>
            <a:ext cx="548640" cy="320040"/>
          </a:xfrm>
          <a:prstGeom prst="rect">
            <a:avLst/>
          </a:prstGeom>
          <a:noFill/>
          <a:ln/>
        </p:spPr>
        <p:txBody>
          <a:bodyPr wrap="square" lIns="0" tIns="0" rIns="0" bIns="0" rtlCol="0" anchor="ctr"/>
          <a:lstStyle/>
          <a:p>
            <a:pPr marL="0" indent="0" algn="ctr">
              <a:buNone/>
            </a:pPr>
            <a:r>
              <a:rPr lang="en-US" sz="1100" b="1" dirty="0">
                <a:solidFill>
                  <a:srgbClr val="F3F6FA"/>
                </a:solidFill>
                <a:latin typeface="Calibri" pitchFamily="34" charset="0"/>
                <a:ea typeface="Calibri" pitchFamily="34" charset="-122"/>
                <a:cs typeface="Calibri" pitchFamily="34" charset="-120"/>
              </a:rPr>
              <a:t>3</a:t>
            </a:r>
            <a:endParaRPr lang="en-US" sz="1100" dirty="0"/>
          </a:p>
        </p:txBody>
      </p:sp>
      <p:sp>
        <p:nvSpPr>
          <p:cNvPr id="29" name="Text 27"/>
          <p:cNvSpPr/>
          <p:nvPr/>
        </p:nvSpPr>
        <p:spPr>
          <a:xfrm>
            <a:off x="9738360" y="2560320"/>
            <a:ext cx="777240" cy="320040"/>
          </a:xfrm>
          <a:prstGeom prst="rect">
            <a:avLst/>
          </a:prstGeom>
          <a:noFill/>
          <a:ln/>
        </p:spPr>
        <p:txBody>
          <a:bodyPr wrap="square" lIns="0" tIns="0" rIns="0" bIns="0" rtlCol="0" anchor="ctr"/>
          <a:lstStyle/>
          <a:p>
            <a:pPr marL="0" indent="0" algn="ctr">
              <a:buNone/>
            </a:pPr>
            <a:r>
              <a:rPr lang="en-US" sz="1100" dirty="0">
                <a:solidFill>
                  <a:srgbClr val="8C97AC"/>
                </a:solidFill>
                <a:latin typeface="Calibri" pitchFamily="34" charset="0"/>
                <a:ea typeface="Calibri" pitchFamily="34" charset="-122"/>
                <a:cs typeface="Calibri" pitchFamily="34" charset="-120"/>
              </a:rPr>
              <a:t>21.4%</a:t>
            </a:r>
            <a:endParaRPr lang="en-US" sz="1100" dirty="0"/>
          </a:p>
        </p:txBody>
      </p:sp>
      <p:sp>
        <p:nvSpPr>
          <p:cNvPr id="30" name="Text 28"/>
          <p:cNvSpPr/>
          <p:nvPr/>
        </p:nvSpPr>
        <p:spPr>
          <a:xfrm>
            <a:off x="10515600" y="2560320"/>
            <a:ext cx="731520" cy="320040"/>
          </a:xfrm>
          <a:prstGeom prst="rect">
            <a:avLst/>
          </a:prstGeom>
          <a:noFill/>
          <a:ln/>
        </p:spPr>
        <p:txBody>
          <a:bodyPr wrap="square" lIns="0" tIns="0" rIns="0" bIns="0" rtlCol="0" anchor="ctr"/>
          <a:lstStyle/>
          <a:p>
            <a:pPr marL="0" indent="0" algn="r">
              <a:buNone/>
            </a:pPr>
            <a:r>
              <a:rPr lang="en-US" sz="1050" b="1" dirty="0">
                <a:solidFill>
                  <a:srgbClr val="E7B75F"/>
                </a:solidFill>
                <a:latin typeface="Calibri" pitchFamily="34" charset="0"/>
                <a:ea typeface="Calibri" pitchFamily="34" charset="-122"/>
                <a:cs typeface="Calibri" pitchFamily="34" charset="-120"/>
              </a:rPr>
              <a:t>Pass</a:t>
            </a:r>
            <a:endParaRPr lang="en-US" sz="1050" dirty="0"/>
          </a:p>
        </p:txBody>
      </p:sp>
      <p:sp>
        <p:nvSpPr>
          <p:cNvPr id="31" name="Text 29"/>
          <p:cNvSpPr/>
          <p:nvPr/>
        </p:nvSpPr>
        <p:spPr>
          <a:xfrm>
            <a:off x="7543800" y="2971800"/>
            <a:ext cx="1737360" cy="320040"/>
          </a:xfrm>
          <a:prstGeom prst="rect">
            <a:avLst/>
          </a:prstGeom>
          <a:noFill/>
          <a:ln/>
        </p:spPr>
        <p:txBody>
          <a:bodyPr wrap="square" lIns="0" tIns="0" rIns="0" bIns="0" rtlCol="0" anchor="ctr"/>
          <a:lstStyle/>
          <a:p>
            <a:pPr marL="0" indent="0">
              <a:buNone/>
            </a:pPr>
            <a:r>
              <a:rPr lang="en-US" sz="1100" dirty="0">
                <a:solidFill>
                  <a:srgbClr val="F3F6FA"/>
                </a:solidFill>
                <a:latin typeface="Calibri" pitchFamily="34" charset="0"/>
                <a:ea typeface="Calibri" pitchFamily="34" charset="-122"/>
                <a:cs typeface="Calibri" pitchFamily="34" charset="-120"/>
              </a:rPr>
              <a:t>Total</a:t>
            </a:r>
            <a:endParaRPr lang="en-US" sz="1100" dirty="0"/>
          </a:p>
        </p:txBody>
      </p:sp>
      <p:sp>
        <p:nvSpPr>
          <p:cNvPr id="32" name="Text 30"/>
          <p:cNvSpPr/>
          <p:nvPr/>
        </p:nvSpPr>
        <p:spPr>
          <a:xfrm>
            <a:off x="9235440" y="2971800"/>
            <a:ext cx="548640" cy="320040"/>
          </a:xfrm>
          <a:prstGeom prst="rect">
            <a:avLst/>
          </a:prstGeom>
          <a:noFill/>
          <a:ln/>
        </p:spPr>
        <p:txBody>
          <a:bodyPr wrap="square" lIns="0" tIns="0" rIns="0" bIns="0" rtlCol="0" anchor="ctr"/>
          <a:lstStyle/>
          <a:p>
            <a:pPr marL="0" indent="0" algn="ctr">
              <a:buNone/>
            </a:pPr>
            <a:r>
              <a:rPr lang="en-US" sz="1100" b="1" dirty="0">
                <a:solidFill>
                  <a:srgbClr val="F3F6FA"/>
                </a:solidFill>
                <a:latin typeface="Calibri" pitchFamily="34" charset="0"/>
                <a:ea typeface="Calibri" pitchFamily="34" charset="-122"/>
                <a:cs typeface="Calibri" pitchFamily="34" charset="-120"/>
              </a:rPr>
              <a:t>14</a:t>
            </a:r>
            <a:endParaRPr lang="en-US" sz="1100" dirty="0"/>
          </a:p>
        </p:txBody>
      </p:sp>
      <p:sp>
        <p:nvSpPr>
          <p:cNvPr id="33" name="Text 31"/>
          <p:cNvSpPr/>
          <p:nvPr/>
        </p:nvSpPr>
        <p:spPr>
          <a:xfrm>
            <a:off x="9738360" y="2971800"/>
            <a:ext cx="777240" cy="320040"/>
          </a:xfrm>
          <a:prstGeom prst="rect">
            <a:avLst/>
          </a:prstGeom>
          <a:noFill/>
          <a:ln/>
        </p:spPr>
        <p:txBody>
          <a:bodyPr wrap="square" lIns="0" tIns="0" rIns="0" bIns="0" rtlCol="0" anchor="ctr"/>
          <a:lstStyle/>
          <a:p>
            <a:pPr marL="0" indent="0" algn="ctr">
              <a:buNone/>
            </a:pPr>
            <a:r>
              <a:rPr lang="en-US" sz="1100" dirty="0">
                <a:solidFill>
                  <a:srgbClr val="8C97AC"/>
                </a:solidFill>
                <a:latin typeface="Calibri" pitchFamily="34" charset="0"/>
                <a:ea typeface="Calibri" pitchFamily="34" charset="-122"/>
                <a:cs typeface="Calibri" pitchFamily="34" charset="-120"/>
              </a:rPr>
              <a:t>100%</a:t>
            </a:r>
            <a:endParaRPr lang="en-US" sz="1100" dirty="0"/>
          </a:p>
        </p:txBody>
      </p:sp>
      <p:sp>
        <p:nvSpPr>
          <p:cNvPr id="34" name="Text 32"/>
          <p:cNvSpPr/>
          <p:nvPr/>
        </p:nvSpPr>
        <p:spPr>
          <a:xfrm>
            <a:off x="10515600" y="2971800"/>
            <a:ext cx="731520" cy="320040"/>
          </a:xfrm>
          <a:prstGeom prst="rect">
            <a:avLst/>
          </a:prstGeom>
          <a:noFill/>
          <a:ln/>
        </p:spPr>
        <p:txBody>
          <a:bodyPr wrap="square" lIns="0" tIns="0" rIns="0" bIns="0" rtlCol="0" anchor="ctr"/>
          <a:lstStyle/>
          <a:p>
            <a:pPr marL="0" indent="0" algn="r">
              <a:buNone/>
            </a:pPr>
            <a:r>
              <a:rPr lang="en-US" sz="1050" b="1" dirty="0">
                <a:solidFill>
                  <a:srgbClr val="E7B75F"/>
                </a:solidFill>
                <a:latin typeface="Calibri" pitchFamily="34" charset="0"/>
                <a:ea typeface="Calibri" pitchFamily="34" charset="-122"/>
                <a:cs typeface="Calibri" pitchFamily="34" charset="-120"/>
              </a:rPr>
              <a:t>Pass</a:t>
            </a:r>
            <a:endParaRPr lang="en-US" sz="1050" dirty="0"/>
          </a:p>
        </p:txBody>
      </p:sp>
      <p:sp>
        <p:nvSpPr>
          <p:cNvPr id="35" name="Shape 33"/>
          <p:cNvSpPr/>
          <p:nvPr/>
        </p:nvSpPr>
        <p:spPr>
          <a:xfrm>
            <a:off x="7269480" y="3703320"/>
            <a:ext cx="4251960" cy="1920240"/>
          </a:xfrm>
          <a:prstGeom prst="roundRect">
            <a:avLst>
              <a:gd name="adj" fmla="val 3810"/>
            </a:avLst>
          </a:prstGeom>
          <a:solidFill>
            <a:srgbClr val="1B2436"/>
          </a:solidFill>
          <a:ln/>
        </p:spPr>
        <p:txBody>
          <a:bodyPr/>
          <a:lstStyle/>
          <a:p>
            <a:endParaRPr lang="en-GB"/>
          </a:p>
        </p:txBody>
      </p:sp>
      <p:sp>
        <p:nvSpPr>
          <p:cNvPr id="36" name="Text 34"/>
          <p:cNvSpPr/>
          <p:nvPr/>
        </p:nvSpPr>
        <p:spPr>
          <a:xfrm>
            <a:off x="7543800" y="3886200"/>
            <a:ext cx="3703320" cy="274320"/>
          </a:xfrm>
          <a:prstGeom prst="rect">
            <a:avLst/>
          </a:prstGeom>
          <a:noFill/>
          <a:ln/>
        </p:spPr>
        <p:txBody>
          <a:bodyPr wrap="square" lIns="0" tIns="0" rIns="0" bIns="0" rtlCol="0" anchor="ctr"/>
          <a:lstStyle/>
          <a:p>
            <a:pPr marL="0" indent="0">
              <a:buNone/>
            </a:pPr>
            <a:r>
              <a:rPr lang="en-US" sz="1050" b="1" kern="0" spc="100" dirty="0">
                <a:solidFill>
                  <a:srgbClr val="E7B75F"/>
                </a:solidFill>
                <a:latin typeface="Calibri" pitchFamily="34" charset="0"/>
                <a:ea typeface="Calibri" pitchFamily="34" charset="-122"/>
                <a:cs typeface="Calibri" pitchFamily="34" charset="-120"/>
              </a:rPr>
              <a:t>WHY 14 AND NOT 10</a:t>
            </a:r>
            <a:endParaRPr lang="en-US" sz="1050" dirty="0"/>
          </a:p>
        </p:txBody>
      </p:sp>
      <p:sp>
        <p:nvSpPr>
          <p:cNvPr id="37" name="Text 35"/>
          <p:cNvSpPr/>
          <p:nvPr/>
        </p:nvSpPr>
        <p:spPr>
          <a:xfrm>
            <a:off x="7543800" y="4206240"/>
            <a:ext cx="3703320" cy="914400"/>
          </a:xfrm>
          <a:prstGeom prst="rect">
            <a:avLst/>
          </a:prstGeom>
          <a:noFill/>
          <a:ln/>
        </p:spPr>
        <p:txBody>
          <a:bodyPr wrap="square" lIns="0" tIns="0" rIns="0" bIns="0" rtlCol="0" anchor="ctr"/>
          <a:lstStyle/>
          <a:p>
            <a:pPr marL="0" indent="0">
              <a:lnSpc>
                <a:spcPct val="130000"/>
              </a:lnSpc>
              <a:buNone/>
            </a:pPr>
            <a:r>
              <a:rPr lang="en-US" sz="1100" dirty="0">
                <a:solidFill>
                  <a:srgbClr val="F3F6FA"/>
                </a:solidFill>
                <a:latin typeface="Calibri" pitchFamily="34" charset="0"/>
                <a:ea typeface="Calibri" pitchFamily="34" charset="-122"/>
                <a:cs typeface="Calibri" pitchFamily="34" charset="-120"/>
              </a:rPr>
              <a:t>At 10 sources the split would be 7/3, leaving no room to drop a paper if a venue is challenged. At 14 we can lose one Category A source and still sit at 10/3 — comfortably above the floor on both rules.</a:t>
            </a:r>
            <a:endParaRPr lang="en-US" sz="1100" dirty="0"/>
          </a:p>
        </p:txBody>
      </p:sp>
      <p:sp>
        <p:nvSpPr>
          <p:cNvPr id="38" name="Text 36"/>
          <p:cNvSpPr/>
          <p:nvPr/>
        </p:nvSpPr>
        <p:spPr>
          <a:xfrm>
            <a:off x="7543800" y="5166360"/>
            <a:ext cx="3703320" cy="365760"/>
          </a:xfrm>
          <a:prstGeom prst="rect">
            <a:avLst/>
          </a:prstGeom>
          <a:noFill/>
          <a:ln/>
        </p:spPr>
        <p:txBody>
          <a:bodyPr wrap="square" lIns="0" tIns="0" rIns="0" bIns="0" rtlCol="0" anchor="ctr"/>
          <a:lstStyle/>
          <a:p>
            <a:pPr marL="0" indent="0">
              <a:buNone/>
            </a:pPr>
            <a:r>
              <a:rPr lang="en-US" sz="1000" i="1" dirty="0">
                <a:solidFill>
                  <a:srgbClr val="8C97AC"/>
                </a:solidFill>
                <a:latin typeface="Calibri" pitchFamily="34" charset="0"/>
                <a:ea typeface="Calibri" pitchFamily="34" charset="-122"/>
                <a:cs typeface="Calibri" pitchFamily="34" charset="-120"/>
              </a:rPr>
              <a:t>Category A is always rounded up: 70% is a floor, not a target.</a:t>
            </a:r>
            <a:endParaRPr lang="en-US" sz="1000" dirty="0"/>
          </a:p>
        </p:txBody>
      </p:sp>
      <p:sp>
        <p:nvSpPr>
          <p:cNvPr id="39" name="Text 37"/>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§5 · CATEGORY B JUSTIFICATION — BRIDGING THEORY TO STAGE 2 ENGINEERING</a:t>
            </a:r>
            <a:endParaRPr lang="en-US" sz="1100" dirty="0"/>
          </a:p>
        </p:txBody>
      </p:sp>
      <p:sp>
        <p:nvSpPr>
          <p:cNvPr id="3" name="Text 1"/>
          <p:cNvSpPr/>
          <p:nvPr/>
        </p:nvSpPr>
        <p:spPr>
          <a:xfrm>
            <a:off x="548640" y="713232"/>
            <a:ext cx="10881360" cy="594360"/>
          </a:xfrm>
          <a:prstGeom prst="rect">
            <a:avLst/>
          </a:prstGeom>
          <a:noFill/>
          <a:ln/>
        </p:spPr>
        <p:txBody>
          <a:bodyPr wrap="square" lIns="0" tIns="0" rIns="0" bIns="0" rtlCol="0" anchor="ctr"/>
          <a:lstStyle/>
          <a:p>
            <a:pPr marL="0" indent="0">
              <a:buNone/>
            </a:pPr>
            <a:r>
              <a:rPr lang="en-US" sz="2400" b="1" dirty="0">
                <a:solidFill>
                  <a:srgbClr val="F3F6FA"/>
                </a:solidFill>
                <a:latin typeface="Cambria" pitchFamily="34" charset="0"/>
                <a:ea typeface="Cambria" pitchFamily="34" charset="-122"/>
                <a:cs typeface="Cambria" pitchFamily="34" charset="-120"/>
              </a:rPr>
              <a:t>What each auxiliary source is for</a:t>
            </a:r>
            <a:endParaRPr lang="en-US" sz="2400" dirty="0"/>
          </a:p>
        </p:txBody>
      </p:sp>
      <p:sp>
        <p:nvSpPr>
          <p:cNvPr id="4" name="Shape 2"/>
          <p:cNvSpPr/>
          <p:nvPr/>
        </p:nvSpPr>
        <p:spPr>
          <a:xfrm>
            <a:off x="548640" y="1508760"/>
            <a:ext cx="3566160" cy="4480560"/>
          </a:xfrm>
          <a:prstGeom prst="roundRect">
            <a:avLst>
              <a:gd name="adj" fmla="val 2051"/>
            </a:avLst>
          </a:prstGeom>
          <a:solidFill>
            <a:srgbClr val="141B29"/>
          </a:solidFill>
          <a:ln/>
        </p:spPr>
        <p:txBody>
          <a:bodyPr/>
          <a:lstStyle/>
          <a:p>
            <a:endParaRPr lang="en-GB"/>
          </a:p>
        </p:txBody>
      </p:sp>
      <p:sp>
        <p:nvSpPr>
          <p:cNvPr id="5" name="Shape 3"/>
          <p:cNvSpPr/>
          <p:nvPr/>
        </p:nvSpPr>
        <p:spPr>
          <a:xfrm>
            <a:off x="822960" y="1783080"/>
            <a:ext cx="457200" cy="457200"/>
          </a:xfrm>
          <a:prstGeom prst="ellipse">
            <a:avLst/>
          </a:prstGeom>
          <a:solidFill>
            <a:srgbClr val="E7B75F"/>
          </a:solidFill>
          <a:ln/>
        </p:spPr>
        <p:txBody>
          <a:bodyPr/>
          <a:lstStyle/>
          <a:p>
            <a:endParaRPr lang="en-GB"/>
          </a:p>
        </p:txBody>
      </p:sp>
      <p:sp>
        <p:nvSpPr>
          <p:cNvPr id="6" name="Text 4"/>
          <p:cNvSpPr/>
          <p:nvPr/>
        </p:nvSpPr>
        <p:spPr>
          <a:xfrm>
            <a:off x="822960" y="1783080"/>
            <a:ext cx="457200" cy="457200"/>
          </a:xfrm>
          <a:prstGeom prst="rect">
            <a:avLst/>
          </a:prstGeom>
          <a:noFill/>
          <a:ln/>
        </p:spPr>
        <p:txBody>
          <a:bodyPr wrap="square" lIns="0" tIns="0" rIns="0" bIns="0" rtlCol="0" anchor="ctr"/>
          <a:lstStyle/>
          <a:p>
            <a:pPr marL="0" indent="0" algn="ctr">
              <a:buNone/>
            </a:pPr>
            <a:r>
              <a:rPr lang="en-US" sz="1200" b="1" dirty="0">
                <a:solidFill>
                  <a:srgbClr val="0B0F17"/>
                </a:solidFill>
                <a:latin typeface="Calibri" pitchFamily="34" charset="0"/>
                <a:ea typeface="Calibri" pitchFamily="34" charset="-122"/>
                <a:cs typeface="Calibri" pitchFamily="34" charset="-120"/>
              </a:rPr>
              <a:t>B1</a:t>
            </a:r>
            <a:endParaRPr lang="en-US" sz="1200" dirty="0"/>
          </a:p>
        </p:txBody>
      </p:sp>
      <p:sp>
        <p:nvSpPr>
          <p:cNvPr id="7" name="Text 5"/>
          <p:cNvSpPr/>
          <p:nvPr/>
        </p:nvSpPr>
        <p:spPr>
          <a:xfrm>
            <a:off x="822960" y="2377440"/>
            <a:ext cx="3017520" cy="365760"/>
          </a:xfrm>
          <a:prstGeom prst="rect">
            <a:avLst/>
          </a:prstGeom>
          <a:noFill/>
          <a:ln/>
        </p:spPr>
        <p:txBody>
          <a:bodyPr wrap="square" lIns="0" tIns="0" rIns="0" bIns="0" rtlCol="0" anchor="ctr"/>
          <a:lstStyle/>
          <a:p>
            <a:pPr marL="0" indent="0">
              <a:buNone/>
            </a:pPr>
            <a:r>
              <a:rPr lang="en-US" sz="1500" b="1" dirty="0">
                <a:solidFill>
                  <a:srgbClr val="F3F6FA"/>
                </a:solidFill>
                <a:latin typeface="Cambria" pitchFamily="34" charset="0"/>
                <a:ea typeface="Cambria" pitchFamily="34" charset="-122"/>
                <a:cs typeface="Cambria" pitchFamily="34" charset="-120"/>
              </a:rPr>
              <a:t>Stanford CS231n</a:t>
            </a:r>
            <a:endParaRPr lang="en-US" sz="1500" dirty="0"/>
          </a:p>
        </p:txBody>
      </p:sp>
      <p:sp>
        <p:nvSpPr>
          <p:cNvPr id="8" name="Text 6"/>
          <p:cNvSpPr/>
          <p:nvPr/>
        </p:nvSpPr>
        <p:spPr>
          <a:xfrm>
            <a:off x="822960" y="2743200"/>
            <a:ext cx="3017520" cy="685800"/>
          </a:xfrm>
          <a:prstGeom prst="rect">
            <a:avLst/>
          </a:prstGeom>
          <a:noFill/>
          <a:ln/>
        </p:spPr>
        <p:txBody>
          <a:bodyPr wrap="square" lIns="0" tIns="0" rIns="0" bIns="0" rtlCol="0" anchor="ctr"/>
          <a:lstStyle/>
          <a:p>
            <a:pPr marL="0" indent="0">
              <a:lnSpc>
                <a:spcPct val="120000"/>
              </a:lnSpc>
              <a:buNone/>
            </a:pPr>
            <a:r>
              <a:rPr lang="en-US" sz="950" i="1" dirty="0">
                <a:solidFill>
                  <a:srgbClr val="8C97AC"/>
                </a:solidFill>
                <a:latin typeface="Calibri" pitchFamily="34" charset="0"/>
                <a:ea typeface="Calibri" pitchFamily="34" charset="-122"/>
                <a:cs typeface="Calibri" pitchFamily="34" charset="-120"/>
              </a:rPr>
              <a:t>Recognised academic lecture series — named verbatim in the guidelines.</a:t>
            </a:r>
            <a:endParaRPr lang="en-US" sz="950" dirty="0"/>
          </a:p>
        </p:txBody>
      </p:sp>
      <p:sp>
        <p:nvSpPr>
          <p:cNvPr id="9" name="Text 7"/>
          <p:cNvSpPr/>
          <p:nvPr/>
        </p:nvSpPr>
        <p:spPr>
          <a:xfrm>
            <a:off x="822960" y="3474720"/>
            <a:ext cx="301752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WHAT IT SUPPLIES</a:t>
            </a:r>
            <a:endParaRPr lang="en-US" sz="950" dirty="0"/>
          </a:p>
        </p:txBody>
      </p:sp>
      <p:sp>
        <p:nvSpPr>
          <p:cNvPr id="10" name="Text 8"/>
          <p:cNvSpPr/>
          <p:nvPr/>
        </p:nvSpPr>
        <p:spPr>
          <a:xfrm>
            <a:off x="822960" y="3721608"/>
            <a:ext cx="3017520" cy="960120"/>
          </a:xfrm>
          <a:prstGeom prst="rect">
            <a:avLst/>
          </a:prstGeom>
          <a:noFill/>
          <a:ln/>
        </p:spPr>
        <p:txBody>
          <a:bodyPr wrap="square" lIns="0" tIns="0" rIns="0" bIns="0" rtlCol="0" anchor="ctr"/>
          <a:lstStyle/>
          <a:p>
            <a:pPr marL="0" indent="0">
              <a:lnSpc>
                <a:spcPct val="125000"/>
              </a:lnSpc>
              <a:buNone/>
            </a:pPr>
            <a:r>
              <a:rPr lang="en-US" sz="1000" dirty="0">
                <a:solidFill>
                  <a:srgbClr val="F3F6FA"/>
                </a:solidFill>
                <a:latin typeface="Calibri" pitchFamily="34" charset="0"/>
                <a:ea typeface="Calibri" pitchFamily="34" charset="-122"/>
                <a:cs typeface="Calibri" pitchFamily="34" charset="-120"/>
              </a:rPr>
              <a:t>The mechanics our Category A papers assume rather than explain — convolution arithmetic, receptive-field growth, batch normalisation.</a:t>
            </a:r>
            <a:endParaRPr lang="en-US" sz="1000" dirty="0"/>
          </a:p>
        </p:txBody>
      </p:sp>
      <p:sp>
        <p:nvSpPr>
          <p:cNvPr id="11" name="Text 9"/>
          <p:cNvSpPr/>
          <p:nvPr/>
        </p:nvSpPr>
        <p:spPr>
          <a:xfrm>
            <a:off x="822960" y="4709160"/>
            <a:ext cx="301752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BRIDGE TO STAGE 2</a:t>
            </a:r>
            <a:endParaRPr lang="en-US" sz="950" dirty="0"/>
          </a:p>
        </p:txBody>
      </p:sp>
      <p:sp>
        <p:nvSpPr>
          <p:cNvPr id="12" name="Text 10"/>
          <p:cNvSpPr/>
          <p:nvPr/>
        </p:nvSpPr>
        <p:spPr>
          <a:xfrm>
            <a:off x="822960" y="4956048"/>
            <a:ext cx="3017520" cy="960120"/>
          </a:xfrm>
          <a:prstGeom prst="rect">
            <a:avLst/>
          </a:prstGeom>
          <a:noFill/>
          <a:ln/>
        </p:spPr>
        <p:txBody>
          <a:bodyPr wrap="square" lIns="0" tIns="0" rIns="0" bIns="0" rtlCol="0" anchor="ctr"/>
          <a:lstStyle/>
          <a:p>
            <a:pPr marL="0" indent="0">
              <a:lnSpc>
                <a:spcPct val="125000"/>
              </a:lnSpc>
              <a:buNone/>
            </a:pPr>
            <a:r>
              <a:rPr lang="en-US" sz="1000" dirty="0">
                <a:solidFill>
                  <a:srgbClr val="8C97AC"/>
                </a:solidFill>
                <a:latin typeface="Calibri" pitchFamily="34" charset="0"/>
                <a:ea typeface="Calibri" pitchFamily="34" charset="-122"/>
                <a:cs typeface="Calibri" pitchFamily="34" charset="-120"/>
              </a:rPr>
              <a:t>DnCNN reports a 35×35 receptive field at depth 17 without deriving it. CS231n supplies the derivation — legible when we read real repository code.</a:t>
            </a:r>
            <a:endParaRPr lang="en-US" sz="1000" dirty="0"/>
          </a:p>
        </p:txBody>
      </p:sp>
      <p:sp>
        <p:nvSpPr>
          <p:cNvPr id="13" name="Shape 11"/>
          <p:cNvSpPr/>
          <p:nvPr/>
        </p:nvSpPr>
        <p:spPr>
          <a:xfrm>
            <a:off x="4297680" y="1508760"/>
            <a:ext cx="3566160" cy="4480560"/>
          </a:xfrm>
          <a:prstGeom prst="roundRect">
            <a:avLst>
              <a:gd name="adj" fmla="val 2051"/>
            </a:avLst>
          </a:prstGeom>
          <a:solidFill>
            <a:srgbClr val="141B29"/>
          </a:solidFill>
          <a:ln/>
        </p:spPr>
        <p:txBody>
          <a:bodyPr/>
          <a:lstStyle/>
          <a:p>
            <a:endParaRPr lang="en-GB"/>
          </a:p>
        </p:txBody>
      </p:sp>
      <p:sp>
        <p:nvSpPr>
          <p:cNvPr id="14" name="Shape 12"/>
          <p:cNvSpPr/>
          <p:nvPr/>
        </p:nvSpPr>
        <p:spPr>
          <a:xfrm>
            <a:off x="4572000" y="1783080"/>
            <a:ext cx="457200" cy="457200"/>
          </a:xfrm>
          <a:prstGeom prst="ellipse">
            <a:avLst/>
          </a:prstGeom>
          <a:solidFill>
            <a:srgbClr val="E7B75F"/>
          </a:solidFill>
          <a:ln/>
        </p:spPr>
        <p:txBody>
          <a:bodyPr/>
          <a:lstStyle/>
          <a:p>
            <a:endParaRPr lang="en-GB"/>
          </a:p>
        </p:txBody>
      </p:sp>
      <p:sp>
        <p:nvSpPr>
          <p:cNvPr id="15" name="Text 13"/>
          <p:cNvSpPr/>
          <p:nvPr/>
        </p:nvSpPr>
        <p:spPr>
          <a:xfrm>
            <a:off x="4572000" y="1783080"/>
            <a:ext cx="457200" cy="457200"/>
          </a:xfrm>
          <a:prstGeom prst="rect">
            <a:avLst/>
          </a:prstGeom>
          <a:noFill/>
          <a:ln/>
        </p:spPr>
        <p:txBody>
          <a:bodyPr wrap="square" lIns="0" tIns="0" rIns="0" bIns="0" rtlCol="0" anchor="ctr"/>
          <a:lstStyle/>
          <a:p>
            <a:pPr marL="0" indent="0" algn="ctr">
              <a:buNone/>
            </a:pPr>
            <a:r>
              <a:rPr lang="en-US" sz="1200" b="1" dirty="0">
                <a:solidFill>
                  <a:srgbClr val="0B0F17"/>
                </a:solidFill>
                <a:latin typeface="Calibri" pitchFamily="34" charset="0"/>
                <a:ea typeface="Calibri" pitchFamily="34" charset="-122"/>
                <a:cs typeface="Calibri" pitchFamily="34" charset="-120"/>
              </a:rPr>
              <a:t>B2</a:t>
            </a:r>
            <a:endParaRPr lang="en-US" sz="1200" dirty="0"/>
          </a:p>
        </p:txBody>
      </p:sp>
      <p:sp>
        <p:nvSpPr>
          <p:cNvPr id="16" name="Text 14"/>
          <p:cNvSpPr/>
          <p:nvPr/>
        </p:nvSpPr>
        <p:spPr>
          <a:xfrm>
            <a:off x="4572000" y="2377440"/>
            <a:ext cx="3017520" cy="365760"/>
          </a:xfrm>
          <a:prstGeom prst="rect">
            <a:avLst/>
          </a:prstGeom>
          <a:noFill/>
          <a:ln/>
        </p:spPr>
        <p:txBody>
          <a:bodyPr wrap="square" lIns="0" tIns="0" rIns="0" bIns="0" rtlCol="0" anchor="ctr"/>
          <a:lstStyle/>
          <a:p>
            <a:pPr marL="0" indent="0">
              <a:buNone/>
            </a:pPr>
            <a:r>
              <a:rPr lang="en-US" sz="1500" b="1" dirty="0">
                <a:solidFill>
                  <a:srgbClr val="F3F6FA"/>
                </a:solidFill>
                <a:latin typeface="Cambria" pitchFamily="34" charset="0"/>
                <a:ea typeface="Cambria" pitchFamily="34" charset="-122"/>
                <a:cs typeface="Cambria" pitchFamily="34" charset="-120"/>
              </a:rPr>
              <a:t>Google Research — Night Sight</a:t>
            </a:r>
            <a:endParaRPr lang="en-US" sz="1500" dirty="0"/>
          </a:p>
        </p:txBody>
      </p:sp>
      <p:sp>
        <p:nvSpPr>
          <p:cNvPr id="17" name="Text 15"/>
          <p:cNvSpPr/>
          <p:nvPr/>
        </p:nvSpPr>
        <p:spPr>
          <a:xfrm>
            <a:off x="4572000" y="2743200"/>
            <a:ext cx="3017520" cy="685800"/>
          </a:xfrm>
          <a:prstGeom prst="rect">
            <a:avLst/>
          </a:prstGeom>
          <a:noFill/>
          <a:ln/>
        </p:spPr>
        <p:txBody>
          <a:bodyPr wrap="square" lIns="0" tIns="0" rIns="0" bIns="0" rtlCol="0" anchor="ctr"/>
          <a:lstStyle/>
          <a:p>
            <a:pPr marL="0" indent="0">
              <a:lnSpc>
                <a:spcPct val="120000"/>
              </a:lnSpc>
              <a:buNone/>
            </a:pPr>
            <a:r>
              <a:rPr lang="en-US" sz="950" i="1" dirty="0">
                <a:solidFill>
                  <a:srgbClr val="8C97AC"/>
                </a:solidFill>
                <a:latin typeface="Calibri" pitchFamily="34" charset="0"/>
                <a:ea typeface="Calibri" pitchFamily="34" charset="-122"/>
                <a:cs typeface="Calibri" pitchFamily="34" charset="-120"/>
              </a:rPr>
              <a:t>Industry-leader technical blog — Google Research named verbatim in the guidelines.</a:t>
            </a:r>
            <a:endParaRPr lang="en-US" sz="950" dirty="0"/>
          </a:p>
        </p:txBody>
      </p:sp>
      <p:sp>
        <p:nvSpPr>
          <p:cNvPr id="18" name="Text 16"/>
          <p:cNvSpPr/>
          <p:nvPr/>
        </p:nvSpPr>
        <p:spPr>
          <a:xfrm>
            <a:off x="4572000" y="3474720"/>
            <a:ext cx="301752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WHAT IT SUPPLIES</a:t>
            </a:r>
            <a:endParaRPr lang="en-US" sz="950" dirty="0"/>
          </a:p>
        </p:txBody>
      </p:sp>
      <p:sp>
        <p:nvSpPr>
          <p:cNvPr id="19" name="Text 17"/>
          <p:cNvSpPr/>
          <p:nvPr/>
        </p:nvSpPr>
        <p:spPr>
          <a:xfrm>
            <a:off x="4572000" y="3721608"/>
            <a:ext cx="3017520" cy="960120"/>
          </a:xfrm>
          <a:prstGeom prst="rect">
            <a:avLst/>
          </a:prstGeom>
          <a:noFill/>
          <a:ln/>
        </p:spPr>
        <p:txBody>
          <a:bodyPr wrap="square" lIns="0" tIns="0" rIns="0" bIns="0" rtlCol="0" anchor="ctr"/>
          <a:lstStyle/>
          <a:p>
            <a:pPr marL="0" indent="0">
              <a:lnSpc>
                <a:spcPct val="125000"/>
              </a:lnSpc>
              <a:buNone/>
            </a:pPr>
            <a:r>
              <a:rPr lang="en-US" sz="1000" dirty="0">
                <a:solidFill>
                  <a:srgbClr val="F3F6FA"/>
                </a:solidFill>
                <a:latin typeface="Calibri" pitchFamily="34" charset="0"/>
                <a:ea typeface="Calibri" pitchFamily="34" charset="-122"/>
                <a:cs typeface="Calibri" pitchFamily="34" charset="-120"/>
              </a:rPr>
              <a:t>The separation of photon shot noise from read noise, the SNR/exposure relationship, and the HDR+ burst capture / align / merge pipeline.</a:t>
            </a:r>
            <a:endParaRPr lang="en-US" sz="1000" dirty="0"/>
          </a:p>
        </p:txBody>
      </p:sp>
      <p:sp>
        <p:nvSpPr>
          <p:cNvPr id="20" name="Text 18"/>
          <p:cNvSpPr/>
          <p:nvPr/>
        </p:nvSpPr>
        <p:spPr>
          <a:xfrm>
            <a:off x="4572000" y="4709160"/>
            <a:ext cx="301752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BRIDGE TO STAGE 2</a:t>
            </a:r>
            <a:endParaRPr lang="en-US" sz="950" dirty="0"/>
          </a:p>
        </p:txBody>
      </p:sp>
      <p:sp>
        <p:nvSpPr>
          <p:cNvPr id="21" name="Text 19"/>
          <p:cNvSpPr/>
          <p:nvPr/>
        </p:nvSpPr>
        <p:spPr>
          <a:xfrm>
            <a:off x="4572000" y="4956048"/>
            <a:ext cx="3017520" cy="960120"/>
          </a:xfrm>
          <a:prstGeom prst="rect">
            <a:avLst/>
          </a:prstGeom>
          <a:noFill/>
          <a:ln/>
        </p:spPr>
        <p:txBody>
          <a:bodyPr wrap="square" lIns="0" tIns="0" rIns="0" bIns="0" rtlCol="0" anchor="ctr"/>
          <a:lstStyle/>
          <a:p>
            <a:pPr marL="0" indent="0">
              <a:lnSpc>
                <a:spcPct val="125000"/>
              </a:lnSpc>
              <a:buNone/>
            </a:pPr>
            <a:r>
              <a:rPr lang="en-US" sz="1000" dirty="0">
                <a:solidFill>
                  <a:srgbClr val="8C97AC"/>
                </a:solidFill>
                <a:latin typeface="Calibri" pitchFamily="34" charset="0"/>
                <a:ea typeface="Calibri" pitchFamily="34" charset="-122"/>
                <a:cs typeface="Calibri" pitchFamily="34" charset="-120"/>
              </a:rPr>
              <a:t>The only source describing denoising as a shipped consumer product. It anchors Stage 2's deployment-reality requirement.</a:t>
            </a:r>
            <a:endParaRPr lang="en-US" sz="1000" dirty="0"/>
          </a:p>
        </p:txBody>
      </p:sp>
      <p:sp>
        <p:nvSpPr>
          <p:cNvPr id="22" name="Shape 20"/>
          <p:cNvSpPr/>
          <p:nvPr/>
        </p:nvSpPr>
        <p:spPr>
          <a:xfrm>
            <a:off x="8046720" y="1508760"/>
            <a:ext cx="3566160" cy="4480560"/>
          </a:xfrm>
          <a:prstGeom prst="roundRect">
            <a:avLst>
              <a:gd name="adj" fmla="val 2051"/>
            </a:avLst>
          </a:prstGeom>
          <a:solidFill>
            <a:srgbClr val="141B29"/>
          </a:solidFill>
          <a:ln/>
        </p:spPr>
        <p:txBody>
          <a:bodyPr/>
          <a:lstStyle/>
          <a:p>
            <a:endParaRPr lang="en-GB"/>
          </a:p>
        </p:txBody>
      </p:sp>
      <p:sp>
        <p:nvSpPr>
          <p:cNvPr id="23" name="Shape 21"/>
          <p:cNvSpPr/>
          <p:nvPr/>
        </p:nvSpPr>
        <p:spPr>
          <a:xfrm>
            <a:off x="8321040" y="1783080"/>
            <a:ext cx="457200" cy="457200"/>
          </a:xfrm>
          <a:prstGeom prst="ellipse">
            <a:avLst/>
          </a:prstGeom>
          <a:solidFill>
            <a:srgbClr val="E7B75F"/>
          </a:solidFill>
          <a:ln/>
        </p:spPr>
        <p:txBody>
          <a:bodyPr/>
          <a:lstStyle/>
          <a:p>
            <a:endParaRPr lang="en-GB"/>
          </a:p>
        </p:txBody>
      </p:sp>
      <p:sp>
        <p:nvSpPr>
          <p:cNvPr id="24" name="Text 22"/>
          <p:cNvSpPr/>
          <p:nvPr/>
        </p:nvSpPr>
        <p:spPr>
          <a:xfrm>
            <a:off x="8321040" y="1783080"/>
            <a:ext cx="457200" cy="457200"/>
          </a:xfrm>
          <a:prstGeom prst="rect">
            <a:avLst/>
          </a:prstGeom>
          <a:noFill/>
          <a:ln/>
        </p:spPr>
        <p:txBody>
          <a:bodyPr wrap="square" lIns="0" tIns="0" rIns="0" bIns="0" rtlCol="0" anchor="ctr"/>
          <a:lstStyle/>
          <a:p>
            <a:pPr marL="0" indent="0" algn="ctr">
              <a:buNone/>
            </a:pPr>
            <a:r>
              <a:rPr lang="en-US" sz="1200" b="1" dirty="0">
                <a:solidFill>
                  <a:srgbClr val="0B0F17"/>
                </a:solidFill>
                <a:latin typeface="Calibri" pitchFamily="34" charset="0"/>
                <a:ea typeface="Calibri" pitchFamily="34" charset="-122"/>
                <a:cs typeface="Calibri" pitchFamily="34" charset="-120"/>
              </a:rPr>
              <a:t>B3</a:t>
            </a:r>
            <a:endParaRPr lang="en-US" sz="1200" dirty="0"/>
          </a:p>
        </p:txBody>
      </p:sp>
      <p:sp>
        <p:nvSpPr>
          <p:cNvPr id="25" name="Text 23"/>
          <p:cNvSpPr/>
          <p:nvPr/>
        </p:nvSpPr>
        <p:spPr>
          <a:xfrm>
            <a:off x="8321040" y="2377440"/>
            <a:ext cx="3017520" cy="365760"/>
          </a:xfrm>
          <a:prstGeom prst="rect">
            <a:avLst/>
          </a:prstGeom>
          <a:noFill/>
          <a:ln/>
        </p:spPr>
        <p:txBody>
          <a:bodyPr wrap="square" lIns="0" tIns="0" rIns="0" bIns="0" rtlCol="0" anchor="ctr"/>
          <a:lstStyle/>
          <a:p>
            <a:pPr marL="0" indent="0">
              <a:buNone/>
            </a:pPr>
            <a:r>
              <a:rPr lang="en-US" sz="1500" b="1" dirty="0">
                <a:solidFill>
                  <a:srgbClr val="F3F6FA"/>
                </a:solidFill>
                <a:latin typeface="Cambria" pitchFamily="34" charset="0"/>
                <a:ea typeface="Cambria" pitchFamily="34" charset="-122"/>
                <a:cs typeface="Cambria" pitchFamily="34" charset="-120"/>
              </a:rPr>
              <a:t>Gonzalez &amp; Woods</a:t>
            </a:r>
            <a:endParaRPr lang="en-US" sz="1500" dirty="0"/>
          </a:p>
        </p:txBody>
      </p:sp>
      <p:sp>
        <p:nvSpPr>
          <p:cNvPr id="26" name="Text 24"/>
          <p:cNvSpPr/>
          <p:nvPr/>
        </p:nvSpPr>
        <p:spPr>
          <a:xfrm>
            <a:off x="8321040" y="2743200"/>
            <a:ext cx="3017520" cy="685800"/>
          </a:xfrm>
          <a:prstGeom prst="rect">
            <a:avLst/>
          </a:prstGeom>
          <a:noFill/>
          <a:ln/>
        </p:spPr>
        <p:txBody>
          <a:bodyPr wrap="square" lIns="0" tIns="0" rIns="0" bIns="0" rtlCol="0" anchor="ctr"/>
          <a:lstStyle/>
          <a:p>
            <a:pPr marL="0" indent="0">
              <a:lnSpc>
                <a:spcPct val="120000"/>
              </a:lnSpc>
              <a:buNone/>
            </a:pPr>
            <a:r>
              <a:rPr lang="en-US" sz="950" i="1" dirty="0">
                <a:solidFill>
                  <a:srgbClr val="8C97AC"/>
                </a:solidFill>
                <a:latin typeface="Calibri" pitchFamily="34" charset="0"/>
                <a:ea typeface="Calibri" pitchFamily="34" charset="-122"/>
                <a:cs typeface="Calibri" pitchFamily="34" charset="-120"/>
              </a:rPr>
              <a:t>Textbook chapter on image restoration — an explicitly permitted type.</a:t>
            </a:r>
            <a:endParaRPr lang="en-US" sz="950" dirty="0"/>
          </a:p>
        </p:txBody>
      </p:sp>
      <p:sp>
        <p:nvSpPr>
          <p:cNvPr id="27" name="Text 25"/>
          <p:cNvSpPr/>
          <p:nvPr/>
        </p:nvSpPr>
        <p:spPr>
          <a:xfrm>
            <a:off x="8321040" y="3474720"/>
            <a:ext cx="301752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WHAT IT SUPPLIES</a:t>
            </a:r>
            <a:endParaRPr lang="en-US" sz="950" dirty="0"/>
          </a:p>
        </p:txBody>
      </p:sp>
      <p:sp>
        <p:nvSpPr>
          <p:cNvPr id="28" name="Text 26"/>
          <p:cNvSpPr/>
          <p:nvPr/>
        </p:nvSpPr>
        <p:spPr>
          <a:xfrm>
            <a:off x="8321040" y="3721608"/>
            <a:ext cx="3017520" cy="960120"/>
          </a:xfrm>
          <a:prstGeom prst="rect">
            <a:avLst/>
          </a:prstGeom>
          <a:noFill/>
          <a:ln/>
        </p:spPr>
        <p:txBody>
          <a:bodyPr wrap="square" lIns="0" tIns="0" rIns="0" bIns="0" rtlCol="0" anchor="ctr"/>
          <a:lstStyle/>
          <a:p>
            <a:pPr marL="0" indent="0">
              <a:lnSpc>
                <a:spcPct val="125000"/>
              </a:lnSpc>
              <a:buNone/>
            </a:pPr>
            <a:r>
              <a:rPr lang="en-US" sz="1000" dirty="0">
                <a:solidFill>
                  <a:srgbClr val="F3F6FA"/>
                </a:solidFill>
                <a:latin typeface="Calibri" pitchFamily="34" charset="0"/>
                <a:ea typeface="Calibri" pitchFamily="34" charset="-122"/>
                <a:cs typeface="Calibri" pitchFamily="34" charset="-120"/>
              </a:rPr>
              <a:t>The mathematics of noise models — Gaussian, Rayleigh, Poisson, salt-and-pepper — and of mean, order-statistic and adaptive filters.</a:t>
            </a:r>
            <a:endParaRPr lang="en-US" sz="1000" dirty="0"/>
          </a:p>
        </p:txBody>
      </p:sp>
      <p:sp>
        <p:nvSpPr>
          <p:cNvPr id="29" name="Text 27"/>
          <p:cNvSpPr/>
          <p:nvPr/>
        </p:nvSpPr>
        <p:spPr>
          <a:xfrm>
            <a:off x="8321040" y="4709160"/>
            <a:ext cx="301752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BRIDGE TO STAGE 2</a:t>
            </a:r>
            <a:endParaRPr lang="en-US" sz="950" dirty="0"/>
          </a:p>
        </p:txBody>
      </p:sp>
      <p:sp>
        <p:nvSpPr>
          <p:cNvPr id="30" name="Text 28"/>
          <p:cNvSpPr/>
          <p:nvPr/>
        </p:nvSpPr>
        <p:spPr>
          <a:xfrm>
            <a:off x="8321040" y="4956048"/>
            <a:ext cx="3017520" cy="960120"/>
          </a:xfrm>
          <a:prstGeom prst="rect">
            <a:avLst/>
          </a:prstGeom>
          <a:noFill/>
          <a:ln/>
        </p:spPr>
        <p:txBody>
          <a:bodyPr wrap="square" lIns="0" tIns="0" rIns="0" bIns="0" rtlCol="0" anchor="ctr"/>
          <a:lstStyle/>
          <a:p>
            <a:pPr marL="0" indent="0">
              <a:lnSpc>
                <a:spcPct val="125000"/>
              </a:lnSpc>
              <a:buNone/>
            </a:pPr>
            <a:r>
              <a:rPr lang="en-US" sz="1000" dirty="0">
                <a:solidFill>
                  <a:srgbClr val="8C97AC"/>
                </a:solidFill>
                <a:latin typeface="Calibri" pitchFamily="34" charset="0"/>
                <a:ea typeface="Calibri" pitchFamily="34" charset="-122"/>
                <a:cs typeface="Calibri" pitchFamily="34" charset="-120"/>
              </a:rPr>
              <a:t>The bottom rung of the timeline, below BM3D — the reference against which SCUNet's synthetic degradation pipeline can be read critically.</a:t>
            </a:r>
            <a:endParaRPr lang="en-US" sz="1000" dirty="0"/>
          </a:p>
        </p:txBody>
      </p:sp>
      <p:sp>
        <p:nvSpPr>
          <p:cNvPr id="31" name="Text 29"/>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822960" y="2468880"/>
            <a:ext cx="5486400" cy="457200"/>
          </a:xfrm>
          <a:prstGeom prst="rect">
            <a:avLst/>
          </a:prstGeom>
          <a:noFill/>
          <a:ln/>
        </p:spPr>
        <p:txBody>
          <a:bodyPr wrap="square" lIns="0" tIns="0" rIns="0" bIns="0" rtlCol="0" anchor="ctr"/>
          <a:lstStyle/>
          <a:p>
            <a:pPr marL="0" indent="0">
              <a:buNone/>
            </a:pPr>
            <a:r>
              <a:rPr lang="en-US" sz="1400" b="1" kern="0" spc="300" dirty="0">
                <a:solidFill>
                  <a:srgbClr val="5FD4D6"/>
                </a:solidFill>
                <a:latin typeface="Calibri" pitchFamily="34" charset="0"/>
                <a:ea typeface="Calibri" pitchFamily="34" charset="-122"/>
                <a:cs typeface="Calibri" pitchFamily="34" charset="-120"/>
              </a:rPr>
              <a:t>PART IV</a:t>
            </a:r>
            <a:endParaRPr lang="en-US" sz="1400" dirty="0"/>
          </a:p>
        </p:txBody>
      </p:sp>
      <p:sp>
        <p:nvSpPr>
          <p:cNvPr id="3" name="Text 1"/>
          <p:cNvSpPr/>
          <p:nvPr/>
        </p:nvSpPr>
        <p:spPr>
          <a:xfrm>
            <a:off x="822960" y="2880360"/>
            <a:ext cx="10332720" cy="1188720"/>
          </a:xfrm>
          <a:prstGeom prst="rect">
            <a:avLst/>
          </a:prstGeom>
          <a:noFill/>
          <a:ln/>
        </p:spPr>
        <p:txBody>
          <a:bodyPr wrap="square" lIns="0" tIns="0" rIns="0" bIns="0" rtlCol="0" anchor="ctr"/>
          <a:lstStyle/>
          <a:p>
            <a:pPr marL="0" indent="0">
              <a:buNone/>
            </a:pPr>
            <a:r>
              <a:rPr lang="en-US" sz="4000" b="1" dirty="0">
                <a:solidFill>
                  <a:srgbClr val="F3F6FA"/>
                </a:solidFill>
                <a:latin typeface="Cambria" pitchFamily="34" charset="0"/>
                <a:ea typeface="Cambria" pitchFamily="34" charset="-122"/>
                <a:cs typeface="Cambria" pitchFamily="34" charset="-120"/>
              </a:rPr>
              <a:t>Paper by paper</a:t>
            </a:r>
            <a:endParaRPr lang="en-US" sz="4000" dirty="0"/>
          </a:p>
        </p:txBody>
      </p:sp>
      <p:sp>
        <p:nvSpPr>
          <p:cNvPr id="4" name="Text 2"/>
          <p:cNvSpPr/>
          <p:nvPr/>
        </p:nvSpPr>
        <p:spPr>
          <a:xfrm>
            <a:off x="822960" y="3977640"/>
            <a:ext cx="8686800" cy="731520"/>
          </a:xfrm>
          <a:prstGeom prst="rect">
            <a:avLst/>
          </a:prstGeom>
          <a:noFill/>
          <a:ln/>
        </p:spPr>
        <p:txBody>
          <a:bodyPr wrap="square" lIns="0" tIns="0" rIns="0" bIns="0" rtlCol="0" anchor="ctr"/>
          <a:lstStyle/>
          <a:p>
            <a:pPr marL="0" indent="0">
              <a:lnSpc>
                <a:spcPct val="130000"/>
              </a:lnSpc>
              <a:buNone/>
            </a:pPr>
            <a:r>
              <a:rPr lang="en-US" sz="1400" dirty="0">
                <a:solidFill>
                  <a:srgbClr val="8C97AC"/>
                </a:solidFill>
                <a:latin typeface="Calibri" pitchFamily="34" charset="0"/>
                <a:ea typeface="Calibri" pitchFamily="34" charset="-122"/>
                <a:cs typeface="Calibri" pitchFamily="34" charset="-120"/>
              </a:rPr>
              <a:t>Metadata and credibility · technical specifications · evolutionary context. Eleven slides, one per Category A source, in the order the field produced them.</a:t>
            </a:r>
            <a:endParaRPr lang="en-US" sz="1400" dirty="0"/>
          </a:p>
        </p:txBody>
      </p:sp>
      <p:sp>
        <p:nvSpPr>
          <p:cNvPr id="5" name="Text 3"/>
          <p:cNvSpPr/>
          <p:nvPr/>
        </p:nvSpPr>
        <p:spPr>
          <a:xfrm>
            <a:off x="8899855" y="1280160"/>
            <a:ext cx="2743200" cy="3657600"/>
          </a:xfrm>
          <a:prstGeom prst="rect">
            <a:avLst/>
          </a:prstGeom>
          <a:noFill/>
          <a:ln/>
        </p:spPr>
        <p:txBody>
          <a:bodyPr wrap="square" lIns="0" tIns="0" rIns="0" bIns="0" rtlCol="0" anchor="ctr"/>
          <a:lstStyle/>
          <a:p>
            <a:pPr marL="0" indent="0" algn="r">
              <a:buNone/>
            </a:pPr>
            <a:r>
              <a:rPr lang="en-US" sz="20000" b="1" dirty="0">
                <a:solidFill>
                  <a:srgbClr val="1B2436"/>
                </a:solidFill>
                <a:latin typeface="Cambria" pitchFamily="34" charset="0"/>
                <a:ea typeface="Cambria" pitchFamily="34" charset="-122"/>
                <a:cs typeface="Cambria" pitchFamily="34" charset="-120"/>
              </a:rPr>
              <a:t>IV</a:t>
            </a:r>
            <a:endParaRPr lang="en-US" sz="20000" dirty="0"/>
          </a:p>
        </p:txBody>
      </p:sp>
      <p:sp>
        <p:nvSpPr>
          <p:cNvPr id="6" name="Text 4"/>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just">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A1</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lgn="just">
              <a:buNone/>
            </a:pPr>
            <a:r>
              <a:rPr lang="en-US" sz="2000" b="1" dirty="0">
                <a:solidFill>
                  <a:srgbClr val="E7B75F"/>
                </a:solidFill>
                <a:latin typeface="Cambria" pitchFamily="34" charset="0"/>
                <a:ea typeface="Cambria" pitchFamily="34" charset="-122"/>
                <a:cs typeface="Cambria" pitchFamily="34" charset="-120"/>
              </a:rPr>
              <a:t>A1  </a:t>
            </a:r>
            <a:r>
              <a:rPr lang="en-US" sz="2000" b="1" dirty="0">
                <a:solidFill>
                  <a:srgbClr val="F3F6FA"/>
                </a:solidFill>
                <a:latin typeface="Cambria" pitchFamily="34" charset="0"/>
                <a:ea typeface="Cambria" pitchFamily="34" charset="-122"/>
                <a:cs typeface="Cambria" pitchFamily="34" charset="-120"/>
              </a:rPr>
              <a:t>Image Denoising by Sparse 3-D Transform-Domain Collaborative Filtering</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lgn="just">
              <a:buNone/>
            </a:pPr>
            <a:r>
              <a:rPr lang="en-US" sz="1250" i="1" dirty="0">
                <a:solidFill>
                  <a:srgbClr val="8C97AC"/>
                </a:solidFill>
                <a:latin typeface="Calibri" pitchFamily="34" charset="0"/>
                <a:ea typeface="Calibri" pitchFamily="34" charset="-122"/>
                <a:cs typeface="Calibri" pitchFamily="34" charset="-120"/>
              </a:rPr>
              <a:t>BM3D · Dabov, Foi, Katkovnik &amp; Egiazarian</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pPr algn="just"/>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Institute of Signal Processing, Tampere University of Technology, Finland</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IEEE Trans. Image Processing, 16(8), pp. 2080–2095, Aug 2007</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gn="just">
              <a:lnSpc>
                <a:spcPct val="125000"/>
              </a:lnSpc>
              <a:buNone/>
            </a:pPr>
            <a:r>
              <a:rPr lang="en-US" sz="1050" b="1" dirty="0">
                <a:solidFill>
                  <a:srgbClr val="F3F6FA"/>
                </a:solidFill>
                <a:latin typeface="Calibri" pitchFamily="34" charset="0"/>
                <a:ea typeface="Calibri" pitchFamily="34" charset="-122"/>
                <a:cs typeface="Calibri" pitchFamily="34" charset="-120"/>
              </a:rPr>
              <a:t>11,976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Exploit non-local self-similarity to sparsify content enough that transform-domain shrinkage separates signal from noise.</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Standard grayscale test images; a colour extension (C-BM3D). No training set — nothing is trained.</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18872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Not a network. A four-stage algorithm: grouping by block matching → collaborative filtering via 3-D transform and shrinkage → inverse transform → aggregation of overlapping estimates by weighted averaging. Run twice; the second pass uses a collaborative Wiener filter with the first pass as an oracle.</a:t>
            </a:r>
            <a:endParaRPr lang="en-US" sz="1050" dirty="0"/>
          </a:p>
        </p:txBody>
      </p:sp>
      <p:sp>
        <p:nvSpPr>
          <p:cNvPr id="18" name="Text 16"/>
          <p:cNvSpPr/>
          <p:nvPr/>
        </p:nvSpPr>
        <p:spPr>
          <a:xfrm>
            <a:off x="4023360" y="4032504"/>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270248"/>
            <a:ext cx="7635240" cy="7772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Defined state of the art in 2007. Today it is the reference baseline — SCUNet still compares against BM3D-class methods sixteen years later.</a:t>
            </a:r>
            <a:endParaRPr lang="en-US" sz="1050" dirty="0"/>
          </a:p>
        </p:txBody>
      </p:sp>
      <p:sp>
        <p:nvSpPr>
          <p:cNvPr id="20" name="Text 18"/>
          <p:cNvSpPr/>
          <p:nvPr/>
        </p:nvSpPr>
        <p:spPr>
          <a:xfrm>
            <a:off x="4023360" y="5193792"/>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431536"/>
            <a:ext cx="7635240" cy="10515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It is the thing to beat. WNNM's abstract claims to outperform state-of-the-art algorithms such as BM3D by name. The entire learned-prior line exists because BM3D's hand-designed prior, however good, could not improve by being shown data.</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A2</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A2  </a:t>
            </a:r>
            <a:r>
              <a:rPr lang="en-US" sz="2000" b="1" dirty="0">
                <a:solidFill>
                  <a:srgbClr val="F3F6FA"/>
                </a:solidFill>
                <a:latin typeface="Cambria" pitchFamily="34" charset="0"/>
                <a:ea typeface="Cambria" pitchFamily="34" charset="-122"/>
                <a:cs typeface="Cambria" pitchFamily="34" charset="-120"/>
              </a:rPr>
              <a:t>Weighted Nuclear Norm Minimization with Application to Image Denoising</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WNNM · Gu, Zhang, Zuo &amp; Feng</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Hong Kong Polytechnic University · Harbin Institute of Technology · Xidian University</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CVPR 2014, pp. 2862–2869 · DOI 10.1109/CVPR.2014.366</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nSpc>
                <a:spcPct val="125000"/>
              </a:lnSpc>
              <a:buNone/>
            </a:pPr>
            <a:r>
              <a:rPr lang="en-US" sz="1050" b="1" dirty="0">
                <a:solidFill>
                  <a:srgbClr val="F3F6FA"/>
                </a:solidFill>
                <a:latin typeface="Calibri" pitchFamily="34" charset="0"/>
                <a:ea typeface="Calibri" pitchFamily="34" charset="-122"/>
                <a:cs typeface="Calibri" pitchFamily="34" charset="-120"/>
              </a:rPr>
              <a:t>2,960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Standard nuclear norm minimisation weights every singular value equally to preserve convexity — restricting flexibility where singular values carry distinct physical meaning.</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Twenty widely used test images.</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18872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An optimisation method, not a network. Weighted nuclear norm minimisation over matrices of non-local similar patches, analysed under different weighting conditions:</a:t>
            </a:r>
            <a:endParaRPr lang="en-US" sz="1050" dirty="0"/>
          </a:p>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‖X‖(w,*) = Σ w(i) · σ(i)(X)</a:t>
            </a:r>
            <a:endParaRPr lang="en-US" sz="1050" dirty="0"/>
          </a:p>
        </p:txBody>
      </p:sp>
      <p:sp>
        <p:nvSpPr>
          <p:cNvPr id="18" name="Text 16"/>
          <p:cNvSpPr/>
          <p:nvPr/>
        </p:nvSpPr>
        <p:spPr>
          <a:xfrm>
            <a:off x="4023360" y="4032504"/>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270248"/>
            <a:ext cx="7635240" cy="7772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The strongest classical result in the roster and still a standard classical baseline — but a stepping stone, not a live method.</a:t>
            </a:r>
            <a:endParaRPr lang="en-US" sz="1050" dirty="0"/>
          </a:p>
        </p:txBody>
      </p:sp>
      <p:sp>
        <p:nvSpPr>
          <p:cNvPr id="20" name="Text 18"/>
          <p:cNvSpPr/>
          <p:nvPr/>
        </p:nvSpPr>
        <p:spPr>
          <a:xfrm>
            <a:off x="4023360" y="5193792"/>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431536"/>
            <a:ext cx="7635240" cy="10515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Shares BM3D's non-local self-similarity prior but reaches it via low-rank matrix approximation instead of transform-domain sparsity — showing the classical era's real content was the prior, not the machinery. Its cost motivates TNRD's efficiency argument.</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A3</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A3  </a:t>
            </a:r>
            <a:r>
              <a:rPr lang="en-US" sz="2000" b="1" dirty="0">
                <a:solidFill>
                  <a:srgbClr val="F3F6FA"/>
                </a:solidFill>
                <a:latin typeface="Cambria" pitchFamily="34" charset="0"/>
                <a:ea typeface="Cambria" pitchFamily="34" charset="-122"/>
                <a:cs typeface="Cambria" pitchFamily="34" charset="-120"/>
              </a:rPr>
              <a:t>Trainable Nonlinear Reaction Diffusion</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TNRD · Chen &amp; Pock — the bridge paper</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Institute for Computer Graphics and Vision, Graz University of Technology, Austria</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IEEE TPAMI, 39(6), pp. 1256–1272, 2017 (PDF header reads 2016 acceptance; issue is 2017)</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nSpc>
                <a:spcPct val="125000"/>
              </a:lnSpc>
              <a:buNone/>
            </a:pPr>
            <a:r>
              <a:rPr lang="en-US" sz="1050" b="1" dirty="0">
                <a:solidFill>
                  <a:srgbClr val="F3F6FA"/>
                </a:solidFill>
                <a:latin typeface="Calibri" pitchFamily="34" charset="0"/>
                <a:ea typeface="Calibri" pitchFamily="34" charset="-122"/>
                <a:cs typeface="Calibri" pitchFamily="34" charset="-120"/>
              </a:rPr>
              <a:t>1,626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Restoration quality had been pursued with little regard for computational efficiency, despite efficiency being critical for real applications.</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400 training images at 180×180 for denoising; Set5 and Set14 for super-resolution.</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1887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A dynamic nonlinear reaction–diffusion model with time-dependent parameters. Critically, all parameters — linear filters and influence functions — are learned simultaneously from training data. Few diffusion steps; well suited to GPU parallelism.</a:t>
            </a:r>
            <a:endParaRPr lang="en-US" sz="1050" dirty="0"/>
          </a:p>
        </p:txBody>
      </p:sp>
      <p:sp>
        <p:nvSpPr>
          <p:cNvPr id="18" name="Text 16"/>
          <p:cNvSpPr/>
          <p:nvPr/>
        </p:nvSpPr>
        <p:spPr>
          <a:xfrm>
            <a:off x="4023360" y="4032504"/>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270248"/>
            <a:ext cx="7635240" cy="7772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Historically pivotal, practically superseded. Its importance is conceptual: it proved a shallow trainable feed-forward model could rival an iterative optimiser.</a:t>
            </a:r>
            <a:endParaRPr lang="en-US" sz="1050" dirty="0"/>
          </a:p>
        </p:txBody>
      </p:sp>
      <p:sp>
        <p:nvSpPr>
          <p:cNvPr id="20" name="Text 18"/>
          <p:cNvSpPr/>
          <p:nvPr/>
        </p:nvSpPr>
        <p:spPr>
          <a:xfrm>
            <a:off x="4023360" y="5193792"/>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431536"/>
            <a:ext cx="7635240" cy="10515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The hinge. The first paper in our list where the prior is learned while the computational structure stays hand-designed. DnCNN discards the diffusion scaffolding and keeps only the learning. Without TNRD, DnCNN is unmotivated.</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A4</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A4  </a:t>
            </a:r>
            <a:r>
              <a:rPr lang="en-US" sz="2000" b="1" dirty="0">
                <a:solidFill>
                  <a:srgbClr val="F3F6FA"/>
                </a:solidFill>
                <a:latin typeface="Cambria" pitchFamily="34" charset="0"/>
                <a:ea typeface="Cambria" pitchFamily="34" charset="-122"/>
                <a:cs typeface="Cambria" pitchFamily="34" charset="-120"/>
              </a:rPr>
              <a:t>Beyond a Gaussian Denoiser: Residual Learning of Deep CNN for Image Denoising</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DnCNN · Zhang, Zuo, Chen, Meng &amp; Zhang — ANCHOR PAPER</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Harbin Inst. of Tech. · Hong Kong PolyU · Graz Univ. of Tech. · Xi'an Jiaotong University</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IEEE Trans. Image Processing, 26(7), pp. 3142–3155, 2017 · DOI 10.1109/TIP.2017.2662206</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nSpc>
                <a:spcPct val="125000"/>
              </a:lnSpc>
              <a:buNone/>
            </a:pPr>
            <a:r>
              <a:rPr lang="en-US" sz="1050" b="1" dirty="0">
                <a:solidFill>
                  <a:srgbClr val="F3F6FA"/>
                </a:solidFill>
                <a:latin typeface="Calibri" pitchFamily="34" charset="0"/>
                <a:ea typeface="Calibri" pitchFamily="34" charset="-122"/>
                <a:cs typeface="Calibri" pitchFamily="34" charset="-120"/>
              </a:rPr>
              <a:t>11,674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Existing discriminative denoisers trained a separate model per noise level. DnCNN targets blind Gaussian denoising with one model.</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BSD68, Set12 (denoising); Set5, Set14, Urban100 (super-resolution); Classic5, LIVE1 (JPEG deblocking).</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1887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Deep feed-forward CNN combining residual learning with batch normalisation, predicting the noise rather than the image. Depth 17, receptive field 35×35.</a:t>
            </a:r>
            <a:endParaRPr lang="en-US" sz="1050" dirty="0"/>
          </a:p>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x̂ = y − R(y)</a:t>
            </a:r>
            <a:endParaRPr lang="en-US" sz="1050" dirty="0"/>
          </a:p>
        </p:txBody>
      </p:sp>
      <p:sp>
        <p:nvSpPr>
          <p:cNvPr id="18" name="Text 16"/>
          <p:cNvSpPr/>
          <p:nvPr/>
        </p:nvSpPr>
        <p:spPr>
          <a:xfrm>
            <a:off x="4023360" y="4032504"/>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270248"/>
            <a:ext cx="7635240" cy="7772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Established residual learning + BN as the default denoising recipe and remains a universal baseline — every modern paper here still reports against it. Superseded as a deployed method.</a:t>
            </a:r>
            <a:endParaRPr lang="en-US" sz="1050" dirty="0"/>
          </a:p>
        </p:txBody>
      </p:sp>
      <p:sp>
        <p:nvSpPr>
          <p:cNvPr id="20" name="Text 18"/>
          <p:cNvSpPr/>
          <p:nvPr/>
        </p:nvSpPr>
        <p:spPr>
          <a:xfrm>
            <a:off x="4023360" y="5193792"/>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431536"/>
            <a:ext cx="7635240" cy="10515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The hinge of the whole review. It resolves TNRD's residual hand-design; it is the supervised method whose data requirement N2N → N2V → ZS-N2N dismantle; and it is the convolutional method whose receptive-field limits Restormer and MambaIR are written against.</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A5</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A5  </a:t>
            </a:r>
            <a:r>
              <a:rPr lang="en-US" sz="2000" b="1" dirty="0">
                <a:solidFill>
                  <a:srgbClr val="F3F6FA"/>
                </a:solidFill>
                <a:latin typeface="Cambria" pitchFamily="34" charset="0"/>
                <a:ea typeface="Cambria" pitchFamily="34" charset="-122"/>
                <a:cs typeface="Cambria" pitchFamily="34" charset="-120"/>
              </a:rPr>
              <a:t>Noise2Noise: Learning Image Restoration without Clean Data</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N2N · Lehtinen, Munkberg, Hasselgren, Laine, Karras, Aittala &amp; Aila</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NVIDIA · Aalto University · MIT CSAIL</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ICML 2018 — Proceedings of the 35th Intl. Conf. on Machine Learning, PMLR 80</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nSpc>
                <a:spcPct val="125000"/>
              </a:lnSpc>
              <a:buNone/>
            </a:pPr>
            <a:r>
              <a:rPr lang="en-US" sz="1050" b="1" dirty="0">
                <a:solidFill>
                  <a:srgbClr val="F3F6FA"/>
                </a:solidFill>
                <a:latin typeface="Calibri" pitchFamily="34" charset="0"/>
                <a:ea typeface="Calibri" pitchFamily="34" charset="-122"/>
                <a:cs typeface="Calibri" pitchFamily="34" charset="-120"/>
              </a:rPr>
              <a:t>3,064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Clean training targets are difficult or tedious to obtain — the paper's own example: a noise-free photograph requires a long exposure.</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Kodak, Set14, ImageNet-derived training data; also Monte Carlo renderings and undersampled MRI scans.</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1887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A training paradigm, not an architecture. The empirical risk minimised is unchanged from supervised learning the insight is that the target yᵢ may itself be a noisy observation.</a:t>
            </a:r>
            <a:endParaRPr lang="en-US" sz="1050" dirty="0"/>
          </a:p>
        </p:txBody>
      </p:sp>
      <p:sp>
        <p:nvSpPr>
          <p:cNvPr id="18" name="Text 16"/>
          <p:cNvSpPr/>
          <p:nvPr/>
        </p:nvSpPr>
        <p:spPr>
          <a:xfrm>
            <a:off x="4023360" y="4032504"/>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270248"/>
            <a:ext cx="7635240" cy="7772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Conceptually foundational and still actively built upon — ZS-N2N, in this same roster, states it is motivated by Noise2Noise.</a:t>
            </a:r>
            <a:endParaRPr lang="en-US" sz="1050" dirty="0"/>
          </a:p>
        </p:txBody>
      </p:sp>
      <p:sp>
        <p:nvSpPr>
          <p:cNvPr id="20" name="Text 18"/>
          <p:cNvSpPr/>
          <p:nvPr/>
        </p:nvSpPr>
        <p:spPr>
          <a:xfrm>
            <a:off x="4023360" y="5193792"/>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431536"/>
            <a:ext cx="7635240" cy="10515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The first break from DnCNN's supervision. Strictly weaker in data requirements than DnCNN, strictly stronger than Noise2Void. Still needs pairs of independent noisy observations of the same scene — the requirement N2V removes.</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A6</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A6  </a:t>
            </a:r>
            <a:r>
              <a:rPr lang="en-US" sz="2000" b="1" dirty="0">
                <a:solidFill>
                  <a:srgbClr val="F3F6FA"/>
                </a:solidFill>
                <a:latin typeface="Cambria" pitchFamily="34" charset="0"/>
                <a:ea typeface="Cambria" pitchFamily="34" charset="-122"/>
                <a:cs typeface="Cambria" pitchFamily="34" charset="-120"/>
              </a:rPr>
              <a:t>Noise2Void — Learning Denoising from Single Noisy Images</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N2V · Krull, Buchholz &amp; Jug</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MPI-CBG / PKS (CSBD), Dresden, Germany</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CVPR 2019</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nSpc>
                <a:spcPct val="125000"/>
              </a:lnSpc>
              <a:buNone/>
            </a:pPr>
            <a:r>
              <a:rPr lang="en-US" sz="1050" b="1" dirty="0">
                <a:solidFill>
                  <a:srgbClr val="F3F6FA"/>
                </a:solidFill>
                <a:latin typeface="Calibri" pitchFamily="34" charset="0"/>
                <a:ea typeface="Calibri" pitchFamily="34" charset="-122"/>
                <a:cs typeface="Calibri" pitchFamily="34" charset="-120"/>
              </a:rPr>
              <a:t>2,075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Even noisy pairs are usually unavailable. In biomedical imaging, acquiring training targets — clean or noisy — is frequently not possible.</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BSD68 among the evaluation sets, plus biomedical imagery.</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0515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A training scheme built on a blind-spot network: the receptive field is constructed to exclude the centre pixel, so the network cannot solve the task by copying its input and must predict each pixel from its context.</a:t>
            </a:r>
            <a:endParaRPr lang="en-US" sz="1050" dirty="0"/>
          </a:p>
        </p:txBody>
      </p:sp>
      <p:sp>
        <p:nvSpPr>
          <p:cNvPr id="18" name="Text 16"/>
          <p:cNvSpPr/>
          <p:nvPr/>
        </p:nvSpPr>
        <p:spPr>
          <a:xfrm>
            <a:off x="4023360" y="3895344"/>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133088"/>
            <a:ext cx="7635240" cy="7772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Still in active use in microscopy and biomedical imaging — precisely the domain it was designed for. The paper is candid that performance drops moderately, given strictly less information available.</a:t>
            </a:r>
            <a:endParaRPr lang="en-US" sz="1050" dirty="0"/>
          </a:p>
        </p:txBody>
      </p:sp>
      <p:sp>
        <p:nvSpPr>
          <p:cNvPr id="20" name="Text 18"/>
          <p:cNvSpPr/>
          <p:nvPr/>
        </p:nvSpPr>
        <p:spPr>
          <a:xfrm>
            <a:off x="4023360" y="5056632"/>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294376"/>
            <a:ext cx="7635240" cy="10515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Removes the one requirement N2N retained. Its own abstract positions it as taking the N2N idea one step further — the N2N → N2V → ZS-N2N chain is evidenced by the papers themselves, not imposed by us.</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A7</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A7  </a:t>
            </a:r>
            <a:r>
              <a:rPr lang="en-US" sz="2000" b="1" dirty="0">
                <a:solidFill>
                  <a:srgbClr val="F3F6FA"/>
                </a:solidFill>
                <a:latin typeface="Cambria" pitchFamily="34" charset="0"/>
                <a:ea typeface="Cambria" pitchFamily="34" charset="-122"/>
                <a:cs typeface="Cambria" pitchFamily="34" charset="-120"/>
              </a:rPr>
              <a:t>Restormer: Efficient Transformer for High-Resolution Image Restoration</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Zamir, Arora, S. Khan, Hayat, F. S. Khan &amp; Yang</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Inception Inst. of AI · MBZUAI · Monash · UC Merced · Yonsei · Google Research</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CVPR 2022, pp. 5728–5739</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nSpc>
                <a:spcPct val="125000"/>
              </a:lnSpc>
              <a:buNone/>
            </a:pPr>
            <a:r>
              <a:rPr lang="en-US" sz="1050" b="1" dirty="0">
                <a:solidFill>
                  <a:srgbClr val="F3F6FA"/>
                </a:solidFill>
                <a:latin typeface="Calibri" pitchFamily="34" charset="0"/>
                <a:ea typeface="Calibri" pitchFamily="34" charset="-122"/>
                <a:cs typeface="Calibri" pitchFamily="34" charset="-120"/>
              </a:rPr>
              <a:t>6,181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Transformer complexity grows quadratically with spatial resolution, making it infeasible for most high-resolution restoration tasks.</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SIDD, DND (real denoising); Urban100, Kodak, Set12, McMaster, BSD68 (Gaussian); GoPro, HIDE (deblurring); Rain100 (deraining). Trained only on SIDD, tested directly on DND.</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3258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Encoder–decoder Transformer from two redesigned blocks: MDTA (multi-Dconv head transposed attention), aggregating local/non-local interactions efficiently; and GDFN (gated-Dconv feed-forward network), gating so only useful information propagates. No local windows — preserves distant context.</a:t>
            </a:r>
            <a:endParaRPr lang="en-US" sz="1050" dirty="0"/>
          </a:p>
        </p:txBody>
      </p:sp>
      <p:sp>
        <p:nvSpPr>
          <p:cNvPr id="18" name="Text 16"/>
          <p:cNvSpPr/>
          <p:nvPr/>
        </p:nvSpPr>
        <p:spPr>
          <a:xfrm>
            <a:off x="4023360" y="4169664"/>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407408"/>
            <a:ext cx="7635240" cy="7772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Current and heavily used. The canonical Transformer endpoint of the arc the guidelines require.</a:t>
            </a:r>
            <a:endParaRPr lang="en-US" sz="1050" dirty="0"/>
          </a:p>
        </p:txBody>
      </p:sp>
      <p:sp>
        <p:nvSpPr>
          <p:cNvPr id="20" name="Text 18"/>
          <p:cNvSpPr/>
          <p:nvPr/>
        </p:nvSpPr>
        <p:spPr>
          <a:xfrm>
            <a:off x="4023360" y="5330952"/>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568696"/>
            <a:ext cx="7635240" cy="10515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Answers DnCNN's receptive-field limitation directly and by name. NAFNet is its direct methodological rival; SCUNet borrows the transformer half of its hybrid from this line.</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A8</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A8  </a:t>
            </a:r>
            <a:r>
              <a:rPr lang="en-US" sz="2000" b="1" dirty="0">
                <a:solidFill>
                  <a:srgbClr val="F3F6FA"/>
                </a:solidFill>
                <a:latin typeface="Cambria" pitchFamily="34" charset="0"/>
                <a:ea typeface="Cambria" pitchFamily="34" charset="-122"/>
                <a:cs typeface="Cambria" pitchFamily="34" charset="-120"/>
              </a:rPr>
              <a:t>Simple Baselines for Image Restoration</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NAFNet · Chen, Chu, Zhang &amp; Sun — the dissenting voice</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MEGVII Technology, Beijing, China</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ECCV 2022, LNCS 13667, pp. 17–33, Springer</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nSpc>
                <a:spcPct val="125000"/>
              </a:lnSpc>
              <a:buNone/>
            </a:pPr>
            <a:r>
              <a:rPr lang="en-US" sz="1050" b="1" dirty="0">
                <a:solidFill>
                  <a:srgbClr val="F3F6FA"/>
                </a:solidFill>
                <a:latin typeface="Calibri" pitchFamily="34" charset="0"/>
                <a:ea typeface="Calibri" pitchFamily="34" charset="-122"/>
                <a:cs typeface="Calibri" pitchFamily="34" charset="-120"/>
              </a:rPr>
              <a:t>2,318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Rising system complexity in SOTA methods hinders convenient analysis and comparison — decomposed into inter-block and intra-block complexity, both attacked.</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SIDD (denoising) and GoPro (deblurring), used throughout the ablations.</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18872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A Nonlinear Activation Free Network derived by progressively simplifying a plain UNet baseline. Central claim: nonlinear activations (Sigmoid, ReLU, GELU, Softmax) are not necessary and can be replaced by multiplication (SimpleGate) or removed, alongside simplified channel attention.</a:t>
            </a:r>
            <a:endParaRPr lang="en-US" sz="1050" dirty="0"/>
          </a:p>
        </p:txBody>
      </p:sp>
      <p:sp>
        <p:nvSpPr>
          <p:cNvPr id="18" name="Text 16"/>
          <p:cNvSpPr/>
          <p:nvPr/>
        </p:nvSpPr>
        <p:spPr>
          <a:xfrm>
            <a:off x="4023360" y="4032504"/>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REPORTED RESULTS</a:t>
            </a:r>
            <a:endParaRPr lang="en-US" sz="950" dirty="0"/>
          </a:p>
        </p:txBody>
      </p:sp>
      <p:sp>
        <p:nvSpPr>
          <p:cNvPr id="19" name="Text 17"/>
          <p:cNvSpPr/>
          <p:nvPr/>
        </p:nvSpPr>
        <p:spPr>
          <a:xfrm>
            <a:off x="4023360" y="4270248"/>
            <a:ext cx="7635240" cy="77724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40.30 dB PSNR on SIDD, exceeding previous SOTA by 0.28 dB with less than half the compute. 33.69 dB on GoPro, exceeding previous SOTA by 0.38 dB with only 8.4% of its cost.</a:t>
            </a:r>
            <a:endParaRPr lang="en-US" sz="1050" dirty="0"/>
          </a:p>
        </p:txBody>
      </p:sp>
      <p:sp>
        <p:nvSpPr>
          <p:cNvPr id="20" name="Text 18"/>
          <p:cNvSpPr/>
          <p:nvPr/>
        </p:nvSpPr>
        <p:spPr>
          <a:xfrm>
            <a:off x="4023360" y="5193792"/>
            <a:ext cx="7635240" cy="228600"/>
          </a:xfrm>
          <a:prstGeom prst="rect">
            <a:avLst/>
          </a:prstGeom>
          <a:noFill/>
          <a:ln/>
        </p:spPr>
        <p:txBody>
          <a:bodyPr wrap="square" lIns="0" tIns="0" rIns="0" bIns="0" rtlCol="0" anchor="ctr"/>
          <a:lstStyle/>
          <a:p>
            <a:pPr marL="0" indent="0">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431536"/>
            <a:ext cx="7635240" cy="10515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The roster's counter-argument. Where Restormer argues for more expressive blocks, NAFNet argues much of that complexity is unnecessary — and backs it with numbers. Including both stops the narrative becoming a naive newer-is-better story.</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A9</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buNone/>
            </a:pPr>
            <a:r>
              <a:rPr lang="en-US" sz="2000" b="1" dirty="0">
                <a:solidFill>
                  <a:srgbClr val="E7B75F"/>
                </a:solidFill>
                <a:latin typeface="Cambria" pitchFamily="34" charset="0"/>
                <a:ea typeface="Cambria" pitchFamily="34" charset="-122"/>
                <a:cs typeface="Cambria" pitchFamily="34" charset="-120"/>
              </a:rPr>
              <a:t>A9  </a:t>
            </a:r>
            <a:r>
              <a:rPr lang="en-US" sz="2000" b="1" dirty="0">
                <a:solidFill>
                  <a:srgbClr val="F3F6FA"/>
                </a:solidFill>
                <a:latin typeface="Cambria" pitchFamily="34" charset="0"/>
                <a:ea typeface="Cambria" pitchFamily="34" charset="-122"/>
                <a:cs typeface="Cambria" pitchFamily="34" charset="-120"/>
              </a:rPr>
              <a:t>Zero-Shot Noise2Noise: Efficient Image Denoising without any Data</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buNone/>
            </a:pPr>
            <a:r>
              <a:rPr lang="en-US" sz="1250" i="1" dirty="0">
                <a:solidFill>
                  <a:srgbClr val="8C97AC"/>
                </a:solidFill>
                <a:latin typeface="Calibri" pitchFamily="34" charset="0"/>
                <a:ea typeface="Calibri" pitchFamily="34" charset="-122"/>
                <a:cs typeface="Calibri" pitchFamily="34" charset="-120"/>
              </a:rPr>
              <a:t>ZS-N2N · Mansour &amp; Heckel</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Technical University of Munich · MCML · Rice University</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nSpc>
                <a:spcPct val="125000"/>
              </a:lnSpc>
              <a:buNone/>
            </a:pPr>
            <a:r>
              <a:rPr lang="en-US" sz="1050" dirty="0">
                <a:solidFill>
                  <a:srgbClr val="F3F6FA"/>
                </a:solidFill>
                <a:latin typeface="Calibri" pitchFamily="34" charset="0"/>
                <a:ea typeface="Calibri" pitchFamily="34" charset="-122"/>
                <a:cs typeface="Calibri" pitchFamily="34" charset="-120"/>
              </a:rPr>
              <a:t>CVPR 2023, pp. 14018–14027 · DOI 10.1109/CVPR52729.2023.01347</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gn="just">
              <a:lnSpc>
                <a:spcPct val="125000"/>
              </a:lnSpc>
              <a:buNone/>
            </a:pPr>
            <a:r>
              <a:rPr lang="en-US" sz="1050" b="1" dirty="0">
                <a:solidFill>
                  <a:srgbClr val="F3F6FA"/>
                </a:solidFill>
                <a:latin typeface="Calibri" pitchFamily="34" charset="0"/>
                <a:ea typeface="Calibri" pitchFamily="34" charset="-122"/>
                <a:cs typeface="Calibri" pitchFamily="34" charset="-120"/>
              </a:rPr>
              <a:t>266 — Google Scholar, checked 9 Aug 2026. Lower count reflects recency, not weakness.</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Existing dataset-free methods are either computationally expensive, require a noise model, or give inadequate image quality.</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Artificial noise, real-world camera noise and microscope noise — Kodak, SIDD, PolyU, McMaster among the benchmarks.</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86868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A simple 2-layer network trained per image. No training data, no knowledge of the noise distribution. Its only assumption is pixel-wise independence of the noise.</a:t>
            </a:r>
            <a:endParaRPr lang="en-US" sz="1050" dirty="0"/>
          </a:p>
        </p:txBody>
      </p:sp>
      <p:sp>
        <p:nvSpPr>
          <p:cNvPr id="18" name="Text 16"/>
          <p:cNvSpPr/>
          <p:nvPr/>
        </p:nvSpPr>
        <p:spPr>
          <a:xfrm>
            <a:off x="4023360" y="3712464"/>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3950208"/>
            <a:ext cx="7635240" cy="7772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Current, and the most immediately reproducible source in the roster — the paper points to a Colab notebook with its implementation and hyperparameters.</a:t>
            </a:r>
            <a:endParaRPr lang="en-US" sz="1050" dirty="0"/>
          </a:p>
        </p:txBody>
      </p:sp>
      <p:sp>
        <p:nvSpPr>
          <p:cNvPr id="20" name="Text 18"/>
          <p:cNvSpPr/>
          <p:nvPr/>
        </p:nvSpPr>
        <p:spPr>
          <a:xfrm>
            <a:off x="4023360" y="4873752"/>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111496"/>
            <a:ext cx="7635240" cy="10515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The terminus of the data branch: DnCNN needs clean pairs → N2N needs noisy pairs → N2V needs a noisy dataset → ZS-N2N needs nothing but the image in front of it. The paper names Noise2Noise as its motivation, closing the loop inside our own list.</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just">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A10</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lgn="just">
              <a:buNone/>
            </a:pPr>
            <a:r>
              <a:rPr lang="en-US" sz="2000" b="1" dirty="0">
                <a:solidFill>
                  <a:srgbClr val="E7B75F"/>
                </a:solidFill>
                <a:latin typeface="Cambria" pitchFamily="34" charset="0"/>
                <a:ea typeface="Cambria" pitchFamily="34" charset="-122"/>
                <a:cs typeface="Cambria" pitchFamily="34" charset="-120"/>
              </a:rPr>
              <a:t>A10  </a:t>
            </a:r>
            <a:r>
              <a:rPr lang="en-US" sz="2000" b="1" dirty="0">
                <a:solidFill>
                  <a:srgbClr val="F3F6FA"/>
                </a:solidFill>
                <a:latin typeface="Cambria" pitchFamily="34" charset="0"/>
                <a:ea typeface="Cambria" pitchFamily="34" charset="-122"/>
                <a:cs typeface="Cambria" pitchFamily="34" charset="-120"/>
              </a:rPr>
              <a:t>Practical Blind Image Denoising via Swin-Conv-UNet and Data Synthesis</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lgn="just">
              <a:buNone/>
            </a:pPr>
            <a:r>
              <a:rPr lang="en-US" sz="1250" i="1" dirty="0">
                <a:solidFill>
                  <a:srgbClr val="8C97AC"/>
                </a:solidFill>
                <a:latin typeface="Calibri" pitchFamily="34" charset="0"/>
                <a:ea typeface="Calibri" pitchFamily="34" charset="-122"/>
                <a:cs typeface="Calibri" pitchFamily="34" charset="-120"/>
              </a:rPr>
              <a:t>SCUNet · Zhang, Li, Liang, Cao, Zhang, Tang, Fan, Timofte &amp; Van Gool</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pPr algn="just"/>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Computer Vision Lab, ETH Zürich · University of Würzburg · KU Leuven</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Machine Intelligence Research, 20(6), pp. 822–836, 2023 · DOI 10.1007/s11633-023-1466-0</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gn="just">
              <a:lnSpc>
                <a:spcPct val="125000"/>
              </a:lnSpc>
              <a:buNone/>
            </a:pPr>
            <a:r>
              <a:rPr lang="en-US" sz="1050" b="1" dirty="0">
                <a:solidFill>
                  <a:srgbClr val="F3F6FA"/>
                </a:solidFill>
                <a:latin typeface="Calibri" pitchFamily="34" charset="0"/>
                <a:ea typeface="Calibri" pitchFamily="34" charset="-122"/>
                <a:cs typeface="Calibri" pitchFamily="34" charset="-120"/>
              </a:rPr>
              <a:t>391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Existing methods rely on simple noise assumptions; a general-purpose blind denoiser for real images remains unsolved.</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Urban100, Set12, Kodak, DND, CBSD68, BSD68, McMaster, SIDD, Waterloo, DIV2K.</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41732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A swin-conv block combining the local modelling of a residual convolutional layer with the non-local modelling of a swin transformer block, plugged into an image-to-image translation UNet. Second contribution: a practical degradation model spanning Gaussian, Poisson, speckle, JPEG compression and processed camera sensor noise, with random-shuffle and double-degradation strategies.</a:t>
            </a:r>
            <a:endParaRPr lang="en-US" sz="1050" dirty="0"/>
          </a:p>
        </p:txBody>
      </p:sp>
      <p:sp>
        <p:nvSpPr>
          <p:cNvPr id="18" name="Text 16"/>
          <p:cNvSpPr/>
          <p:nvPr/>
        </p:nvSpPr>
        <p:spPr>
          <a:xfrm>
            <a:off x="4023360" y="4261104"/>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VALUE THEN VS. NOW</a:t>
            </a:r>
            <a:endParaRPr lang="en-US" sz="950" dirty="0"/>
          </a:p>
        </p:txBody>
      </p:sp>
      <p:sp>
        <p:nvSpPr>
          <p:cNvPr id="19" name="Text 17"/>
          <p:cNvSpPr/>
          <p:nvPr/>
        </p:nvSpPr>
        <p:spPr>
          <a:xfrm>
            <a:off x="4023360" y="4498848"/>
            <a:ext cx="7635240" cy="7772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The architecture reaches SOTA and the degradation model significantly improves practicability, per the paper's own findings.</a:t>
            </a:r>
            <a:endParaRPr lang="en-US" sz="1050" dirty="0"/>
          </a:p>
        </p:txBody>
      </p:sp>
      <p:sp>
        <p:nvSpPr>
          <p:cNvPr id="20" name="Text 18"/>
          <p:cNvSpPr/>
          <p:nvPr/>
        </p:nvSpPr>
        <p:spPr>
          <a:xfrm>
            <a:off x="4023360" y="5422392"/>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652720"/>
            <a:ext cx="7635240" cy="877824"/>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The synthesis paper. It fuses the convolutional line (DnCNN) with the transformer line (Restormer/SwinIR-style blocks), and is the only source that treats the noise model itself — the assumption in DnCNN's opening equation — as the thing to fix.</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02920" y="320040"/>
            <a:ext cx="10058400" cy="292608"/>
          </a:xfrm>
          <a:prstGeom prst="rect">
            <a:avLst/>
          </a:prstGeom>
          <a:noFill/>
          <a:ln/>
        </p:spPr>
        <p:txBody>
          <a:bodyPr wrap="square" lIns="0" tIns="0" rIns="0" bIns="0" rtlCol="0" anchor="ctr"/>
          <a:lstStyle/>
          <a:p>
            <a:pPr marL="0" indent="0" algn="just">
              <a:buNone/>
            </a:pPr>
            <a:r>
              <a:rPr lang="en-US" sz="1100" b="1" kern="0" spc="200" dirty="0">
                <a:solidFill>
                  <a:srgbClr val="5FD4D6"/>
                </a:solidFill>
                <a:latin typeface="Calibri" pitchFamily="34" charset="0"/>
                <a:ea typeface="Calibri" pitchFamily="34" charset="-122"/>
                <a:cs typeface="Calibri" pitchFamily="34" charset="-120"/>
              </a:rPr>
              <a:t>§4 · PAPER-BY-PAPER — THE RIGOR CHECK · A11</a:t>
            </a:r>
            <a:endParaRPr lang="en-US" sz="1100" dirty="0"/>
          </a:p>
        </p:txBody>
      </p:sp>
      <p:sp>
        <p:nvSpPr>
          <p:cNvPr id="3" name="Text 1"/>
          <p:cNvSpPr/>
          <p:nvPr/>
        </p:nvSpPr>
        <p:spPr>
          <a:xfrm>
            <a:off x="502920" y="621792"/>
            <a:ext cx="11155680" cy="502920"/>
          </a:xfrm>
          <a:prstGeom prst="rect">
            <a:avLst/>
          </a:prstGeom>
          <a:noFill/>
          <a:ln/>
        </p:spPr>
        <p:txBody>
          <a:bodyPr wrap="square" lIns="0" tIns="0" rIns="0" bIns="0" rtlCol="0" anchor="ctr"/>
          <a:lstStyle/>
          <a:p>
            <a:pPr marL="0" indent="0" algn="just">
              <a:buNone/>
            </a:pPr>
            <a:r>
              <a:rPr lang="en-US" sz="2000" b="1" dirty="0">
                <a:solidFill>
                  <a:srgbClr val="E7B75F"/>
                </a:solidFill>
                <a:latin typeface="Cambria" pitchFamily="34" charset="0"/>
                <a:ea typeface="Cambria" pitchFamily="34" charset="-122"/>
                <a:cs typeface="Cambria" pitchFamily="34" charset="-120"/>
              </a:rPr>
              <a:t>A11  </a:t>
            </a:r>
            <a:r>
              <a:rPr lang="en-US" sz="2000" b="1" dirty="0">
                <a:solidFill>
                  <a:srgbClr val="F3F6FA"/>
                </a:solidFill>
                <a:latin typeface="Cambria" pitchFamily="34" charset="0"/>
                <a:ea typeface="Cambria" pitchFamily="34" charset="-122"/>
                <a:cs typeface="Cambria" pitchFamily="34" charset="-120"/>
              </a:rPr>
              <a:t>MambaIR: A Simple Baseline for Image Restoration with State-Space Model</a:t>
            </a:r>
            <a:endParaRPr lang="en-US" sz="2000" dirty="0"/>
          </a:p>
        </p:txBody>
      </p:sp>
      <p:sp>
        <p:nvSpPr>
          <p:cNvPr id="4" name="Text 2"/>
          <p:cNvSpPr/>
          <p:nvPr/>
        </p:nvSpPr>
        <p:spPr>
          <a:xfrm>
            <a:off x="502920" y="1078992"/>
            <a:ext cx="11155680" cy="320040"/>
          </a:xfrm>
          <a:prstGeom prst="rect">
            <a:avLst/>
          </a:prstGeom>
          <a:noFill/>
          <a:ln/>
        </p:spPr>
        <p:txBody>
          <a:bodyPr wrap="square" lIns="0" tIns="0" rIns="0" bIns="0" rtlCol="0" anchor="ctr"/>
          <a:lstStyle/>
          <a:p>
            <a:pPr marL="0" indent="0" algn="just">
              <a:buNone/>
            </a:pPr>
            <a:r>
              <a:rPr lang="en-US" sz="1250" i="1" dirty="0">
                <a:solidFill>
                  <a:srgbClr val="8C97AC"/>
                </a:solidFill>
                <a:latin typeface="Calibri" pitchFamily="34" charset="0"/>
                <a:ea typeface="Calibri" pitchFamily="34" charset="-122"/>
                <a:cs typeface="Calibri" pitchFamily="34" charset="-120"/>
              </a:rPr>
              <a:t>Guo, Li, Dai, Ouyang, Ren &amp; Xia — the current frontier</a:t>
            </a:r>
            <a:endParaRPr lang="en-US" sz="1250" dirty="0"/>
          </a:p>
        </p:txBody>
      </p:sp>
      <p:sp>
        <p:nvSpPr>
          <p:cNvPr id="5" name="Shape 3"/>
          <p:cNvSpPr/>
          <p:nvPr/>
        </p:nvSpPr>
        <p:spPr>
          <a:xfrm>
            <a:off x="502920" y="1572768"/>
            <a:ext cx="3246120" cy="4434840"/>
          </a:xfrm>
          <a:prstGeom prst="roundRect">
            <a:avLst>
              <a:gd name="adj" fmla="val 2254"/>
            </a:avLst>
          </a:prstGeom>
          <a:solidFill>
            <a:srgbClr val="141B29"/>
          </a:solidFill>
          <a:ln/>
        </p:spPr>
        <p:txBody>
          <a:bodyPr/>
          <a:lstStyle/>
          <a:p>
            <a:pPr algn="just"/>
            <a:endParaRPr lang="en-GB"/>
          </a:p>
        </p:txBody>
      </p:sp>
      <p:sp>
        <p:nvSpPr>
          <p:cNvPr id="6" name="Text 4"/>
          <p:cNvSpPr/>
          <p:nvPr/>
        </p:nvSpPr>
        <p:spPr>
          <a:xfrm>
            <a:off x="777240" y="180136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INSTITUTION</a:t>
            </a:r>
            <a:endParaRPr lang="en-US" sz="950" dirty="0"/>
          </a:p>
        </p:txBody>
      </p:sp>
      <p:sp>
        <p:nvSpPr>
          <p:cNvPr id="7" name="Text 5"/>
          <p:cNvSpPr/>
          <p:nvPr/>
        </p:nvSpPr>
        <p:spPr>
          <a:xfrm>
            <a:off x="777240" y="2039112"/>
            <a:ext cx="2697480" cy="64008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Tsinghua SIGS · Shenzhen University · ByteDance Inc. · Aitist.ai · Peng Cheng Lab</a:t>
            </a:r>
            <a:endParaRPr lang="en-US" sz="1050" dirty="0"/>
          </a:p>
        </p:txBody>
      </p:sp>
      <p:sp>
        <p:nvSpPr>
          <p:cNvPr id="8" name="Text 6"/>
          <p:cNvSpPr/>
          <p:nvPr/>
        </p:nvSpPr>
        <p:spPr>
          <a:xfrm>
            <a:off x="777240" y="27614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VENUE &amp; YEAR</a:t>
            </a:r>
            <a:endParaRPr lang="en-US" sz="950" dirty="0"/>
          </a:p>
        </p:txBody>
      </p:sp>
      <p:sp>
        <p:nvSpPr>
          <p:cNvPr id="9" name="Text 7"/>
          <p:cNvSpPr/>
          <p:nvPr/>
        </p:nvSpPr>
        <p:spPr>
          <a:xfrm>
            <a:off x="777240" y="2999232"/>
            <a:ext cx="2697480" cy="3657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ECCV 2024, pp. 222–241 (arXiv:2402.15648v3, 15 Oct 2024)</a:t>
            </a:r>
            <a:endParaRPr lang="en-US" sz="1050" dirty="0"/>
          </a:p>
        </p:txBody>
      </p:sp>
      <p:sp>
        <p:nvSpPr>
          <p:cNvPr id="10" name="Text 8"/>
          <p:cNvSpPr/>
          <p:nvPr/>
        </p:nvSpPr>
        <p:spPr>
          <a:xfrm>
            <a:off x="777240" y="34472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CITATION COUNT</a:t>
            </a:r>
            <a:endParaRPr lang="en-US" sz="950" dirty="0"/>
          </a:p>
        </p:txBody>
      </p:sp>
      <p:sp>
        <p:nvSpPr>
          <p:cNvPr id="11" name="Text 9"/>
          <p:cNvSpPr/>
          <p:nvPr/>
        </p:nvSpPr>
        <p:spPr>
          <a:xfrm>
            <a:off x="777240" y="3685032"/>
            <a:ext cx="2697480" cy="365760"/>
          </a:xfrm>
          <a:prstGeom prst="rect">
            <a:avLst/>
          </a:prstGeom>
          <a:noFill/>
          <a:ln/>
        </p:spPr>
        <p:txBody>
          <a:bodyPr wrap="square" lIns="0" tIns="0" rIns="0" bIns="0" rtlCol="0" anchor="ctr"/>
          <a:lstStyle/>
          <a:p>
            <a:pPr marL="0" indent="0" algn="just">
              <a:lnSpc>
                <a:spcPct val="125000"/>
              </a:lnSpc>
              <a:buNone/>
            </a:pPr>
            <a:r>
              <a:rPr lang="en-US" sz="1050" b="1" dirty="0">
                <a:solidFill>
                  <a:srgbClr val="F3F6FA"/>
                </a:solidFill>
                <a:latin typeface="Calibri" pitchFamily="34" charset="0"/>
                <a:ea typeface="Calibri" pitchFamily="34" charset="-122"/>
                <a:cs typeface="Calibri" pitchFamily="34" charset="-120"/>
              </a:rPr>
              <a:t>1,208 — Google Scholar, checked 9 Aug 2026</a:t>
            </a:r>
            <a:endParaRPr lang="en-US" sz="1050" dirty="0"/>
          </a:p>
        </p:txBody>
      </p:sp>
      <p:sp>
        <p:nvSpPr>
          <p:cNvPr id="12" name="Text 10"/>
          <p:cNvSpPr/>
          <p:nvPr/>
        </p:nvSpPr>
        <p:spPr>
          <a:xfrm>
            <a:off x="777240" y="4133088"/>
            <a:ext cx="2697480" cy="228600"/>
          </a:xfrm>
          <a:prstGeom prst="rect">
            <a:avLst/>
          </a:prstGeom>
          <a:noFill/>
          <a:ln/>
        </p:spPr>
        <p:txBody>
          <a:bodyPr wrap="square" lIns="0" tIns="0" rIns="0" bIns="0" rtlCol="0" anchor="ctr"/>
          <a:lstStyle/>
          <a:p>
            <a:pPr marL="0" indent="0" algn="just">
              <a:buNone/>
            </a:pPr>
            <a:r>
              <a:rPr lang="en-US" sz="950" b="1" kern="0" spc="100" dirty="0">
                <a:solidFill>
                  <a:srgbClr val="5FD4D6"/>
                </a:solidFill>
                <a:latin typeface="Calibri" pitchFamily="34" charset="0"/>
                <a:ea typeface="Calibri" pitchFamily="34" charset="-122"/>
                <a:cs typeface="Calibri" pitchFamily="34" charset="-120"/>
              </a:rPr>
              <a:t>SUB-PROBLEM</a:t>
            </a:r>
            <a:endParaRPr lang="en-US" sz="950" dirty="0"/>
          </a:p>
        </p:txBody>
      </p:sp>
      <p:sp>
        <p:nvSpPr>
          <p:cNvPr id="13" name="Text 11"/>
          <p:cNvSpPr/>
          <p:nvPr/>
        </p:nvSpPr>
        <p:spPr>
          <a:xfrm>
            <a:off x="777240" y="4370832"/>
            <a:ext cx="2697480" cy="14630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The dilemma between global receptive fields and efficient computation — plus two Mamba failures in low-level vision: local pixel forgetting and channel redundancy.</a:t>
            </a:r>
            <a:endParaRPr lang="en-US" sz="1050" dirty="0"/>
          </a:p>
        </p:txBody>
      </p:sp>
      <p:sp>
        <p:nvSpPr>
          <p:cNvPr id="14" name="Text 12"/>
          <p:cNvSpPr/>
          <p:nvPr/>
        </p:nvSpPr>
        <p:spPr>
          <a:xfrm>
            <a:off x="4023360" y="1572768"/>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DATASET(S)</a:t>
            </a:r>
            <a:endParaRPr lang="en-US" sz="950" dirty="0"/>
          </a:p>
        </p:txBody>
      </p:sp>
      <p:sp>
        <p:nvSpPr>
          <p:cNvPr id="15" name="Text 13"/>
          <p:cNvSpPr/>
          <p:nvPr/>
        </p:nvSpPr>
        <p:spPr>
          <a:xfrm>
            <a:off x="4023360" y="1810512"/>
            <a:ext cx="7635240" cy="50292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Urban100, Manga109, Set5, Set14, DIV2K, Flickr2K (super-resolution); SIDD for training, SIDD test + DND for real denoising.</a:t>
            </a:r>
            <a:endParaRPr lang="en-US" sz="1050" dirty="0"/>
          </a:p>
        </p:txBody>
      </p:sp>
      <p:sp>
        <p:nvSpPr>
          <p:cNvPr id="16" name="Text 14"/>
          <p:cNvSpPr/>
          <p:nvPr/>
        </p:nvSpPr>
        <p:spPr>
          <a:xfrm>
            <a:off x="4023360" y="2459736"/>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MODEL / ARCHITECTURE</a:t>
            </a:r>
            <a:endParaRPr lang="en-US" sz="950" dirty="0"/>
          </a:p>
        </p:txBody>
      </p:sp>
      <p:sp>
        <p:nvSpPr>
          <p:cNvPr id="17" name="Text 15"/>
          <p:cNvSpPr/>
          <p:nvPr/>
        </p:nvSpPr>
        <p:spPr>
          <a:xfrm>
            <a:off x="4023360" y="2697480"/>
            <a:ext cx="7635240" cy="10515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A Residual State Space Block (RSSB) adding local enhancement and channel attention to the vanilla Mamba selective state space model — giving long-range dependency modelling at linear complexity rather than quadratic.</a:t>
            </a:r>
            <a:endParaRPr lang="en-US" sz="1050" dirty="0"/>
          </a:p>
        </p:txBody>
      </p:sp>
      <p:sp>
        <p:nvSpPr>
          <p:cNvPr id="18" name="Text 16"/>
          <p:cNvSpPr/>
          <p:nvPr/>
        </p:nvSpPr>
        <p:spPr>
          <a:xfrm>
            <a:off x="4023360" y="3895344"/>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REPORTED RESULT</a:t>
            </a:r>
            <a:endParaRPr lang="en-US" sz="950" dirty="0"/>
          </a:p>
        </p:txBody>
      </p:sp>
      <p:sp>
        <p:nvSpPr>
          <p:cNvPr id="19" name="Text 17"/>
          <p:cNvSpPr/>
          <p:nvPr/>
        </p:nvSpPr>
        <p:spPr>
          <a:xfrm>
            <a:off x="4023360" y="4133088"/>
            <a:ext cx="7635240" cy="77724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Outperforms SwinIR by up to 0.45 dB on image super-resolution at similar computational cost, but with a global receptive field.</a:t>
            </a:r>
            <a:endParaRPr lang="en-US" sz="1050" dirty="0"/>
          </a:p>
        </p:txBody>
      </p:sp>
      <p:sp>
        <p:nvSpPr>
          <p:cNvPr id="20" name="Text 18"/>
          <p:cNvSpPr/>
          <p:nvPr/>
        </p:nvSpPr>
        <p:spPr>
          <a:xfrm>
            <a:off x="4023360" y="5056632"/>
            <a:ext cx="7635240" cy="228600"/>
          </a:xfrm>
          <a:prstGeom prst="rect">
            <a:avLst/>
          </a:prstGeom>
          <a:noFill/>
          <a:ln/>
        </p:spPr>
        <p:txBody>
          <a:bodyPr wrap="square" lIns="0" tIns="0" rIns="0" bIns="0" rtlCol="0" anchor="ctr"/>
          <a:lstStyle/>
          <a:p>
            <a:pPr marL="0" indent="0" algn="just">
              <a:buNone/>
            </a:pPr>
            <a:r>
              <a:rPr lang="en-US" sz="950" b="1" kern="0" spc="100" dirty="0">
                <a:solidFill>
                  <a:srgbClr val="E7B75F"/>
                </a:solidFill>
                <a:latin typeface="Calibri" pitchFamily="34" charset="0"/>
                <a:ea typeface="Calibri" pitchFamily="34" charset="-122"/>
                <a:cs typeface="Calibri" pitchFamily="34" charset="-120"/>
              </a:rPr>
              <a:t>RELATION TO THE OTHER PAPERS</a:t>
            </a:r>
            <a:endParaRPr lang="en-US" sz="950" dirty="0"/>
          </a:p>
        </p:txBody>
      </p:sp>
      <p:sp>
        <p:nvSpPr>
          <p:cNvPr id="21" name="Text 19"/>
          <p:cNvSpPr/>
          <p:nvPr/>
        </p:nvSpPr>
        <p:spPr>
          <a:xfrm>
            <a:off x="4023360" y="5294376"/>
            <a:ext cx="7635240" cy="1051560"/>
          </a:xfrm>
          <a:prstGeom prst="rect">
            <a:avLst/>
          </a:prstGeom>
          <a:noFill/>
          <a:ln/>
        </p:spPr>
        <p:txBody>
          <a:bodyPr wrap="square" lIns="0" tIns="0" rIns="0" bIns="0" rtlCol="0" anchor="ctr"/>
          <a:lstStyle/>
          <a:p>
            <a:pPr marL="0" indent="0" algn="just">
              <a:lnSpc>
                <a:spcPct val="125000"/>
              </a:lnSpc>
              <a:buNone/>
            </a:pPr>
            <a:r>
              <a:rPr lang="en-US" sz="1050" dirty="0">
                <a:solidFill>
                  <a:srgbClr val="F3F6FA"/>
                </a:solidFill>
                <a:latin typeface="Calibri" pitchFamily="34" charset="0"/>
                <a:ea typeface="Calibri" pitchFamily="34" charset="-122"/>
                <a:cs typeface="Calibri" pitchFamily="34" charset="-120"/>
              </a:rPr>
              <a:t>Resolves the same dilemma Restormer attacked, but by replacing attention altogether rather than making it cheaper. Together with NAFNet, shows the field has three live answers to bottleneck 3.</a:t>
            </a:r>
            <a:endParaRPr lang="en-US" sz="1050" dirty="0"/>
          </a:p>
        </p:txBody>
      </p:sp>
      <p:sp>
        <p:nvSpPr>
          <p:cNvPr id="22" name="Text 20"/>
          <p:cNvSpPr/>
          <p:nvPr/>
        </p:nvSpPr>
        <p:spPr>
          <a:xfrm>
            <a:off x="11368735" y="6355080"/>
            <a:ext cx="548640" cy="320040"/>
          </a:xfrm>
          <a:prstGeom prst="rect">
            <a:avLst/>
          </a:prstGeom>
          <a:noFill/>
          <a:ln/>
        </p:spPr>
        <p:txBody>
          <a:bodyPr wrap="square"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lgn="l">
              <a:buNone/>
            </a:pPr>
            <a:r>
              <a:rPr lang="en-US" sz="1100" b="1" kern="0" spc="200" dirty="0">
                <a:solidFill>
                  <a:srgbClr val="5FD4D6"/>
                </a:solidFill>
                <a:latin typeface="Calibri" pitchFamily="34" charset="0"/>
                <a:ea typeface="Calibri" pitchFamily="34" charset="-122"/>
                <a:cs typeface="Calibri" pitchFamily="34" charset="-120"/>
              </a:rPr>
              <a:t>§4C · EVOLUTIONARY CONTEXT — CONNECTING THE DOTS</a:t>
            </a:r>
            <a:endParaRPr lang="en-US" sz="1100" dirty="0"/>
          </a:p>
        </p:txBody>
      </p:sp>
      <p:sp>
        <p:nvSpPr>
          <p:cNvPr id="3" name="Text 1"/>
          <p:cNvSpPr/>
          <p:nvPr/>
        </p:nvSpPr>
        <p:spPr>
          <a:xfrm>
            <a:off x="548640" y="685800"/>
            <a:ext cx="10881360" cy="548640"/>
          </a:xfrm>
          <a:prstGeom prst="rect">
            <a:avLst/>
          </a:prstGeom>
          <a:noFill/>
          <a:ln/>
        </p:spPr>
        <p:txBody>
          <a:bodyPr wrap="square" lIns="0" tIns="0" rIns="0" bIns="0" rtlCol="0" anchor="ctr"/>
          <a:lstStyle/>
          <a:p>
            <a:pPr marL="0" indent="0">
              <a:buNone/>
            </a:pPr>
            <a:r>
              <a:rPr lang="en-US" sz="2400" b="1" dirty="0">
                <a:solidFill>
                  <a:srgbClr val="F3F6FA"/>
                </a:solidFill>
                <a:latin typeface="Cambria" pitchFamily="34" charset="0"/>
                <a:ea typeface="Cambria" pitchFamily="34" charset="-122"/>
                <a:cs typeface="Cambria" pitchFamily="34" charset="-120"/>
              </a:rPr>
              <a:t>How the eleven papers depend on each other</a:t>
            </a:r>
            <a:endParaRPr lang="en-US" sz="2400" dirty="0"/>
          </a:p>
        </p:txBody>
      </p:sp>
      <p:sp>
        <p:nvSpPr>
          <p:cNvPr id="4" name="Text 2"/>
          <p:cNvSpPr/>
          <p:nvPr/>
        </p:nvSpPr>
        <p:spPr>
          <a:xfrm>
            <a:off x="548640" y="1417320"/>
            <a:ext cx="10881360" cy="320040"/>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buNone/>
            </a:pPr>
            <a:r>
              <a:rPr lang="en-US" sz="1150" i="1" dirty="0">
                <a:solidFill>
                  <a:srgbClr val="8C97AC"/>
                </a:solidFill>
                <a:latin typeface="Calibri" pitchFamily="34" charset="0"/>
                <a:ea typeface="Calibri" pitchFamily="34" charset="-122"/>
                <a:cs typeface="Calibri" pitchFamily="34" charset="-120"/>
              </a:rPr>
              <a:t>Every arrow below is stated by one of the papers, not inferred by us.</a:t>
            </a:r>
            <a:endParaRPr lang="en-US" sz="1150" dirty="0"/>
          </a:p>
        </p:txBody>
      </p:sp>
      <p:sp>
        <p:nvSpPr>
          <p:cNvPr id="49" name="Shape 47"/>
          <p:cNvSpPr/>
          <p:nvPr/>
        </p:nvSpPr>
        <p:spPr>
          <a:xfrm>
            <a:off x="548640" y="5806440"/>
            <a:ext cx="11109960" cy="777240"/>
          </a:xfrm>
          <a:prstGeom prst="roundRect">
            <a:avLst>
              <a:gd name="adj" fmla="val 9412"/>
            </a:avLst>
          </a:prstGeom>
          <a:solidFill>
            <a:srgbClr val="1B2436"/>
          </a:solidFill>
          <a:ln/>
        </p:spPr>
        <p:txBody>
          <a:bodyPr/>
          <a:lstStyle/>
          <a:p>
            <a:endParaRPr lang="en-GB"/>
          </a:p>
        </p:txBody>
      </p:sp>
      <p:sp>
        <p:nvSpPr>
          <p:cNvPr id="50" name="Text 48"/>
          <p:cNvSpPr/>
          <p:nvPr/>
        </p:nvSpPr>
        <p:spPr>
          <a:xfrm>
            <a:off x="822960" y="5806440"/>
            <a:ext cx="10561320" cy="777240"/>
          </a:xfrm>
          <a:prstGeom prst="rect">
            <a:avLst/>
          </a:prstGeom>
          <a:noFill/>
          <a:ln/>
        </p:spPr>
        <p:txBody>
          <a:bodyPr wrap="square" lIns="0" tIns="0" rIns="0" bIns="0" rtlCol="0" anchor="ctr"/>
          <a:lstStyle/>
          <a:p>
            <a:pPr marL="0" indent="0">
              <a:lnSpc>
                <a:spcPct val="120000"/>
              </a:lnSpc>
              <a:buNone/>
            </a:pPr>
            <a:r>
              <a:rPr lang="en-US" sz="1100" i="1" dirty="0">
                <a:solidFill>
                  <a:srgbClr val="F3F6FA"/>
                </a:solidFill>
                <a:latin typeface="Calibri" pitchFamily="34" charset="0"/>
                <a:ea typeface="Calibri" pitchFamily="34" charset="-122"/>
                <a:cs typeface="Calibri" pitchFamily="34" charset="-120"/>
              </a:rPr>
              <a:t>Solid arrows mean "builds on"; the dashed arrow means "disputes" — a disagreement, not a dependency. SCUNet fuses both lines and closes the arc DnCNN opened, by attacking the noise assumption itself.</a:t>
            </a:r>
            <a:endParaRPr lang="en-US" sz="1100" dirty="0"/>
          </a:p>
        </p:txBody>
      </p:sp>
      <p:sp>
        <p:nvSpPr>
          <p:cNvPr id="51" name="Text 49"/>
          <p:cNvSpPr/>
          <p:nvPr/>
        </p:nvSpPr>
        <p:spPr>
          <a:xfrm>
            <a:off x="11368735" y="6355080"/>
            <a:ext cx="548640" cy="320040"/>
          </a:xfrm>
          <a:prstGeom prst="rect">
            <a:avLst/>
          </a:prstGeom>
          <a:noFill/>
          <a:ln/>
        </p:spPr>
        <p:txBody>
          <a:bodyPr wrap="square" rtlCol="0" anchor="ctr"/>
          <a:lstStyle/>
          <a:p>
            <a:pPr marL="0" indent="0" algn="r">
              <a:buNone/>
            </a:pPr>
            <a:r>
              <a:rPr lang="en-US" sz="1000" dirty="0">
                <a:solidFill>
                  <a:srgbClr val="8C97AC"/>
                </a:solidFill>
                <a:latin typeface="Calibri" pitchFamily="34" charset="0"/>
                <a:ea typeface="Calibri" pitchFamily="34" charset="-122"/>
                <a:cs typeface="Calibri" pitchFamily="34" charset="-120"/>
              </a:rPr>
              <a:t>25</a:t>
            </a:r>
            <a:endParaRPr lang="en-US" sz="1000" dirty="0"/>
          </a:p>
        </p:txBody>
      </p:sp>
      <p:sp>
        <p:nvSpPr>
          <p:cNvPr id="55" name="Shape 4">
            <a:extLst>
              <a:ext uri="{FF2B5EF4-FFF2-40B4-BE49-F238E27FC236}">
                <a16:creationId xmlns:a16="http://schemas.microsoft.com/office/drawing/2014/main" id="{5E405092-A9ED-ACE3-C1F4-03AC2320B7AD}"/>
              </a:ext>
            </a:extLst>
          </p:cNvPr>
          <p:cNvSpPr/>
          <p:nvPr/>
        </p:nvSpPr>
        <p:spPr>
          <a:xfrm>
            <a:off x="566928" y="1993392"/>
            <a:ext cx="1417320"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57" name="Text 5">
            <a:extLst>
              <a:ext uri="{FF2B5EF4-FFF2-40B4-BE49-F238E27FC236}">
                <a16:creationId xmlns:a16="http://schemas.microsoft.com/office/drawing/2014/main" id="{147DC7DA-6036-C834-0631-1AD0378E3A6B}"/>
              </a:ext>
            </a:extLst>
          </p:cNvPr>
          <p:cNvSpPr/>
          <p:nvPr/>
        </p:nvSpPr>
        <p:spPr>
          <a:xfrm>
            <a:off x="566928" y="2084832"/>
            <a:ext cx="1417320"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BM3D</a:t>
            </a:r>
            <a:endParaRPr lang="en-US" sz="1200" dirty="0">
              <a:latin typeface="Times New Roman" panose="02020603050405020304" pitchFamily="18" charset="0"/>
              <a:cs typeface="Times New Roman" panose="02020603050405020304" pitchFamily="18" charset="0"/>
            </a:endParaRPr>
          </a:p>
        </p:txBody>
      </p:sp>
      <p:sp>
        <p:nvSpPr>
          <p:cNvPr id="59" name="Text 6">
            <a:extLst>
              <a:ext uri="{FF2B5EF4-FFF2-40B4-BE49-F238E27FC236}">
                <a16:creationId xmlns:a16="http://schemas.microsoft.com/office/drawing/2014/main" id="{90DE0876-BE60-554B-8638-B0FB0560CB1B}"/>
              </a:ext>
            </a:extLst>
          </p:cNvPr>
          <p:cNvSpPr/>
          <p:nvPr/>
        </p:nvSpPr>
        <p:spPr>
          <a:xfrm>
            <a:off x="566928" y="2304288"/>
            <a:ext cx="1417320"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non-local prior</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1" name="Shape 7">
            <a:extLst>
              <a:ext uri="{FF2B5EF4-FFF2-40B4-BE49-F238E27FC236}">
                <a16:creationId xmlns:a16="http://schemas.microsoft.com/office/drawing/2014/main" id="{BDA269D3-589A-5CB6-3ABA-CCE3F617555C}"/>
              </a:ext>
            </a:extLst>
          </p:cNvPr>
          <p:cNvSpPr/>
          <p:nvPr/>
        </p:nvSpPr>
        <p:spPr>
          <a:xfrm>
            <a:off x="566928" y="2907792"/>
            <a:ext cx="1417320"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63" name="Text 8">
            <a:extLst>
              <a:ext uri="{FF2B5EF4-FFF2-40B4-BE49-F238E27FC236}">
                <a16:creationId xmlns:a16="http://schemas.microsoft.com/office/drawing/2014/main" id="{7E780840-C65A-28FE-4047-61783A5B02CE}"/>
              </a:ext>
            </a:extLst>
          </p:cNvPr>
          <p:cNvSpPr/>
          <p:nvPr/>
        </p:nvSpPr>
        <p:spPr>
          <a:xfrm>
            <a:off x="566928" y="2999232"/>
            <a:ext cx="1417320"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WNNM</a:t>
            </a:r>
            <a:endParaRPr lang="en-US" sz="1200" dirty="0">
              <a:latin typeface="Times New Roman" panose="02020603050405020304" pitchFamily="18" charset="0"/>
              <a:cs typeface="Times New Roman" panose="02020603050405020304" pitchFamily="18" charset="0"/>
            </a:endParaRPr>
          </a:p>
        </p:txBody>
      </p:sp>
      <p:sp>
        <p:nvSpPr>
          <p:cNvPr id="65" name="Text 9">
            <a:extLst>
              <a:ext uri="{FF2B5EF4-FFF2-40B4-BE49-F238E27FC236}">
                <a16:creationId xmlns:a16="http://schemas.microsoft.com/office/drawing/2014/main" id="{4CC1D540-C102-938F-6A39-1A7AEA7C0C9D}"/>
              </a:ext>
            </a:extLst>
          </p:cNvPr>
          <p:cNvSpPr/>
          <p:nvPr/>
        </p:nvSpPr>
        <p:spPr>
          <a:xfrm>
            <a:off x="566928" y="3218688"/>
            <a:ext cx="1417320"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low-rank prior</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7" name="Shape 10">
            <a:extLst>
              <a:ext uri="{FF2B5EF4-FFF2-40B4-BE49-F238E27FC236}">
                <a16:creationId xmlns:a16="http://schemas.microsoft.com/office/drawing/2014/main" id="{77C6D821-C03B-53F5-0F17-ECB3C8AACADD}"/>
              </a:ext>
            </a:extLst>
          </p:cNvPr>
          <p:cNvSpPr/>
          <p:nvPr/>
        </p:nvSpPr>
        <p:spPr>
          <a:xfrm>
            <a:off x="2514600" y="2450592"/>
            <a:ext cx="1417320"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69" name="Text 11">
            <a:extLst>
              <a:ext uri="{FF2B5EF4-FFF2-40B4-BE49-F238E27FC236}">
                <a16:creationId xmlns:a16="http://schemas.microsoft.com/office/drawing/2014/main" id="{37D522C5-BE0E-0386-AC9C-1568E3096DEB}"/>
              </a:ext>
            </a:extLst>
          </p:cNvPr>
          <p:cNvSpPr/>
          <p:nvPr/>
        </p:nvSpPr>
        <p:spPr>
          <a:xfrm>
            <a:off x="2514600" y="2610871"/>
            <a:ext cx="1417320"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TNRD</a:t>
            </a:r>
            <a:endParaRPr lang="en-US" sz="1200" dirty="0">
              <a:latin typeface="Times New Roman" panose="02020603050405020304" pitchFamily="18" charset="0"/>
              <a:cs typeface="Times New Roman" panose="02020603050405020304" pitchFamily="18" charset="0"/>
            </a:endParaRPr>
          </a:p>
        </p:txBody>
      </p:sp>
      <p:sp>
        <p:nvSpPr>
          <p:cNvPr id="73" name="Shape 13">
            <a:extLst>
              <a:ext uri="{FF2B5EF4-FFF2-40B4-BE49-F238E27FC236}">
                <a16:creationId xmlns:a16="http://schemas.microsoft.com/office/drawing/2014/main" id="{E8FCCD97-DEEF-3AA7-495F-0F97CD7230ED}"/>
              </a:ext>
            </a:extLst>
          </p:cNvPr>
          <p:cNvSpPr/>
          <p:nvPr/>
        </p:nvSpPr>
        <p:spPr>
          <a:xfrm>
            <a:off x="4462272" y="2450592"/>
            <a:ext cx="1600200"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75" name="Text 14">
            <a:extLst>
              <a:ext uri="{FF2B5EF4-FFF2-40B4-BE49-F238E27FC236}">
                <a16:creationId xmlns:a16="http://schemas.microsoft.com/office/drawing/2014/main" id="{62437C7F-3199-7953-C903-F671C93A6A31}"/>
              </a:ext>
            </a:extLst>
          </p:cNvPr>
          <p:cNvSpPr/>
          <p:nvPr/>
        </p:nvSpPr>
        <p:spPr>
          <a:xfrm>
            <a:off x="4462272" y="2602414"/>
            <a:ext cx="1600200"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DnCNN</a:t>
            </a:r>
            <a:endParaRPr lang="en-US" sz="1200" dirty="0">
              <a:latin typeface="Times New Roman" panose="02020603050405020304" pitchFamily="18" charset="0"/>
              <a:cs typeface="Times New Roman" panose="02020603050405020304" pitchFamily="18" charset="0"/>
            </a:endParaRPr>
          </a:p>
        </p:txBody>
      </p:sp>
      <p:sp>
        <p:nvSpPr>
          <p:cNvPr id="79" name="Shape 16">
            <a:extLst>
              <a:ext uri="{FF2B5EF4-FFF2-40B4-BE49-F238E27FC236}">
                <a16:creationId xmlns:a16="http://schemas.microsoft.com/office/drawing/2014/main" id="{15394B8C-8194-F97F-896E-37AA9A461456}"/>
              </a:ext>
            </a:extLst>
          </p:cNvPr>
          <p:cNvSpPr/>
          <p:nvPr/>
        </p:nvSpPr>
        <p:spPr>
          <a:xfrm>
            <a:off x="1984248" y="2276856"/>
            <a:ext cx="530352" cy="329184"/>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81" name="Shape 17">
            <a:extLst>
              <a:ext uri="{FF2B5EF4-FFF2-40B4-BE49-F238E27FC236}">
                <a16:creationId xmlns:a16="http://schemas.microsoft.com/office/drawing/2014/main" id="{407BBE6F-5F9E-6D9C-EDD4-010A084C08F4}"/>
              </a:ext>
            </a:extLst>
          </p:cNvPr>
          <p:cNvSpPr/>
          <p:nvPr/>
        </p:nvSpPr>
        <p:spPr>
          <a:xfrm flipV="1">
            <a:off x="1984248" y="2862072"/>
            <a:ext cx="530352" cy="329184"/>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83" name="Shape 18">
            <a:extLst>
              <a:ext uri="{FF2B5EF4-FFF2-40B4-BE49-F238E27FC236}">
                <a16:creationId xmlns:a16="http://schemas.microsoft.com/office/drawing/2014/main" id="{3BB0E65E-0826-7349-32AA-E67A100004C3}"/>
              </a:ext>
            </a:extLst>
          </p:cNvPr>
          <p:cNvSpPr/>
          <p:nvPr/>
        </p:nvSpPr>
        <p:spPr>
          <a:xfrm>
            <a:off x="3931920" y="2734056"/>
            <a:ext cx="530352" cy="0"/>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85" name="Text 19">
            <a:extLst>
              <a:ext uri="{FF2B5EF4-FFF2-40B4-BE49-F238E27FC236}">
                <a16:creationId xmlns:a16="http://schemas.microsoft.com/office/drawing/2014/main" id="{29E5794C-CB97-A7BC-A187-BBDFE0E839FA}"/>
              </a:ext>
            </a:extLst>
          </p:cNvPr>
          <p:cNvSpPr/>
          <p:nvPr/>
        </p:nvSpPr>
        <p:spPr>
          <a:xfrm>
            <a:off x="2286000" y="3227832"/>
            <a:ext cx="1828800" cy="20116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900" dirty="0">
                <a:solidFill>
                  <a:srgbClr val="C00000"/>
                </a:solidFill>
                <a:latin typeface="Times New Roman" panose="02020603050405020304" pitchFamily="18" charset="0"/>
                <a:ea typeface="Calibri" pitchFamily="34" charset="-122"/>
                <a:cs typeface="Times New Roman" panose="02020603050405020304" pitchFamily="18" charset="0"/>
              </a:rPr>
              <a:t>too slow, hand-tuned</a:t>
            </a:r>
            <a:endParaRPr lang="en-US" sz="900" dirty="0">
              <a:solidFill>
                <a:srgbClr val="C00000"/>
              </a:solidFill>
              <a:latin typeface="Times New Roman" panose="02020603050405020304" pitchFamily="18" charset="0"/>
              <a:cs typeface="Times New Roman" panose="02020603050405020304" pitchFamily="18" charset="0"/>
            </a:endParaRPr>
          </a:p>
        </p:txBody>
      </p:sp>
      <p:sp>
        <p:nvSpPr>
          <p:cNvPr id="87" name="Text 20">
            <a:extLst>
              <a:ext uri="{FF2B5EF4-FFF2-40B4-BE49-F238E27FC236}">
                <a16:creationId xmlns:a16="http://schemas.microsoft.com/office/drawing/2014/main" id="{BD0BA218-B29E-B6DE-0864-AF1A91EC078D}"/>
              </a:ext>
            </a:extLst>
          </p:cNvPr>
          <p:cNvSpPr/>
          <p:nvPr/>
        </p:nvSpPr>
        <p:spPr>
          <a:xfrm>
            <a:off x="3703320" y="2176272"/>
            <a:ext cx="1828800" cy="20116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900" dirty="0">
                <a:solidFill>
                  <a:srgbClr val="C00000"/>
                </a:solidFill>
                <a:latin typeface="Times New Roman" panose="02020603050405020304" pitchFamily="18" charset="0"/>
                <a:ea typeface="Calibri" pitchFamily="34" charset="-122"/>
                <a:cs typeface="Times New Roman" panose="02020603050405020304" pitchFamily="18" charset="0"/>
              </a:rPr>
              <a:t>drop the scaffolding</a:t>
            </a:r>
            <a:endParaRPr lang="en-US" sz="900" dirty="0">
              <a:solidFill>
                <a:srgbClr val="C00000"/>
              </a:solidFill>
              <a:latin typeface="Times New Roman" panose="02020603050405020304" pitchFamily="18" charset="0"/>
              <a:cs typeface="Times New Roman" panose="02020603050405020304" pitchFamily="18" charset="0"/>
            </a:endParaRPr>
          </a:p>
        </p:txBody>
      </p:sp>
      <p:sp>
        <p:nvSpPr>
          <p:cNvPr id="89" name="Shape 21">
            <a:extLst>
              <a:ext uri="{FF2B5EF4-FFF2-40B4-BE49-F238E27FC236}">
                <a16:creationId xmlns:a16="http://schemas.microsoft.com/office/drawing/2014/main" id="{910DEDB4-D6FB-9351-EC3A-A5A633C1A458}"/>
              </a:ext>
            </a:extLst>
          </p:cNvPr>
          <p:cNvSpPr/>
          <p:nvPr/>
        </p:nvSpPr>
        <p:spPr>
          <a:xfrm>
            <a:off x="6766560" y="1444752"/>
            <a:ext cx="1481328"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91" name="Text 22">
            <a:extLst>
              <a:ext uri="{FF2B5EF4-FFF2-40B4-BE49-F238E27FC236}">
                <a16:creationId xmlns:a16="http://schemas.microsoft.com/office/drawing/2014/main" id="{F4048878-3F6C-FD5F-DC22-4C5833C0131F}"/>
              </a:ext>
            </a:extLst>
          </p:cNvPr>
          <p:cNvSpPr/>
          <p:nvPr/>
        </p:nvSpPr>
        <p:spPr>
          <a:xfrm>
            <a:off x="6766560" y="1536192"/>
            <a:ext cx="1481328"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Restormer</a:t>
            </a:r>
            <a:endParaRPr lang="en-US" sz="1200" dirty="0">
              <a:latin typeface="Times New Roman" panose="02020603050405020304" pitchFamily="18" charset="0"/>
              <a:cs typeface="Times New Roman" panose="02020603050405020304" pitchFamily="18" charset="0"/>
            </a:endParaRPr>
          </a:p>
        </p:txBody>
      </p:sp>
      <p:sp>
        <p:nvSpPr>
          <p:cNvPr id="93" name="Text 23">
            <a:extLst>
              <a:ext uri="{FF2B5EF4-FFF2-40B4-BE49-F238E27FC236}">
                <a16:creationId xmlns:a16="http://schemas.microsoft.com/office/drawing/2014/main" id="{ECD33DCA-D48F-3BEC-71F3-4B159EC3CEF9}"/>
              </a:ext>
            </a:extLst>
          </p:cNvPr>
          <p:cNvSpPr/>
          <p:nvPr/>
        </p:nvSpPr>
        <p:spPr>
          <a:xfrm>
            <a:off x="6766560" y="1755648"/>
            <a:ext cx="1481328"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cheaper attention</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95" name="Shape 24">
            <a:extLst>
              <a:ext uri="{FF2B5EF4-FFF2-40B4-BE49-F238E27FC236}">
                <a16:creationId xmlns:a16="http://schemas.microsoft.com/office/drawing/2014/main" id="{F208D165-54BF-E642-07E9-8DF1A506884E}"/>
              </a:ext>
            </a:extLst>
          </p:cNvPr>
          <p:cNvSpPr/>
          <p:nvPr/>
        </p:nvSpPr>
        <p:spPr>
          <a:xfrm>
            <a:off x="8503920" y="1444752"/>
            <a:ext cx="1481328"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97" name="Text 25">
            <a:extLst>
              <a:ext uri="{FF2B5EF4-FFF2-40B4-BE49-F238E27FC236}">
                <a16:creationId xmlns:a16="http://schemas.microsoft.com/office/drawing/2014/main" id="{47E5305E-22B4-E217-EECC-37FDF0D56967}"/>
              </a:ext>
            </a:extLst>
          </p:cNvPr>
          <p:cNvSpPr/>
          <p:nvPr/>
        </p:nvSpPr>
        <p:spPr>
          <a:xfrm>
            <a:off x="8503920" y="1536192"/>
            <a:ext cx="1481328"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NAFNet</a:t>
            </a:r>
            <a:endParaRPr lang="en-US" sz="1200" dirty="0">
              <a:latin typeface="Times New Roman" panose="02020603050405020304" pitchFamily="18" charset="0"/>
              <a:cs typeface="Times New Roman" panose="02020603050405020304" pitchFamily="18" charset="0"/>
            </a:endParaRPr>
          </a:p>
        </p:txBody>
      </p:sp>
      <p:sp>
        <p:nvSpPr>
          <p:cNvPr id="99" name="Text 26">
            <a:extLst>
              <a:ext uri="{FF2B5EF4-FFF2-40B4-BE49-F238E27FC236}">
                <a16:creationId xmlns:a16="http://schemas.microsoft.com/office/drawing/2014/main" id="{CA136AD9-1994-1744-7FB5-AAA30FADF34F}"/>
              </a:ext>
            </a:extLst>
          </p:cNvPr>
          <p:cNvSpPr/>
          <p:nvPr/>
        </p:nvSpPr>
        <p:spPr>
          <a:xfrm>
            <a:off x="8503920" y="1755648"/>
            <a:ext cx="1481328"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less complexity</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1" name="Shape 27">
            <a:extLst>
              <a:ext uri="{FF2B5EF4-FFF2-40B4-BE49-F238E27FC236}">
                <a16:creationId xmlns:a16="http://schemas.microsoft.com/office/drawing/2014/main" id="{145FFA55-62D8-6910-E27F-2C63E5D915F1}"/>
              </a:ext>
            </a:extLst>
          </p:cNvPr>
          <p:cNvSpPr/>
          <p:nvPr/>
        </p:nvSpPr>
        <p:spPr>
          <a:xfrm>
            <a:off x="10241280" y="1444752"/>
            <a:ext cx="1481328"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03" name="Text 28">
            <a:extLst>
              <a:ext uri="{FF2B5EF4-FFF2-40B4-BE49-F238E27FC236}">
                <a16:creationId xmlns:a16="http://schemas.microsoft.com/office/drawing/2014/main" id="{49C10E5A-A244-8596-31C5-2F8A680ECA96}"/>
              </a:ext>
            </a:extLst>
          </p:cNvPr>
          <p:cNvSpPr/>
          <p:nvPr/>
        </p:nvSpPr>
        <p:spPr>
          <a:xfrm>
            <a:off x="10241280" y="1536192"/>
            <a:ext cx="1481328"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MambaIR</a:t>
            </a:r>
            <a:endParaRPr lang="en-US" sz="1200" dirty="0">
              <a:latin typeface="Times New Roman" panose="02020603050405020304" pitchFamily="18" charset="0"/>
              <a:cs typeface="Times New Roman" panose="02020603050405020304" pitchFamily="18" charset="0"/>
            </a:endParaRPr>
          </a:p>
        </p:txBody>
      </p:sp>
      <p:sp>
        <p:nvSpPr>
          <p:cNvPr id="105" name="Text 29">
            <a:extLst>
              <a:ext uri="{FF2B5EF4-FFF2-40B4-BE49-F238E27FC236}">
                <a16:creationId xmlns:a16="http://schemas.microsoft.com/office/drawing/2014/main" id="{EC7C47C2-A206-F234-60F3-BAF9F0252EAD}"/>
              </a:ext>
            </a:extLst>
          </p:cNvPr>
          <p:cNvSpPr/>
          <p:nvPr/>
        </p:nvSpPr>
        <p:spPr>
          <a:xfrm>
            <a:off x="10241280" y="1755648"/>
            <a:ext cx="1481328"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linear complexity</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7" name="Shape 30">
            <a:extLst>
              <a:ext uri="{FF2B5EF4-FFF2-40B4-BE49-F238E27FC236}">
                <a16:creationId xmlns:a16="http://schemas.microsoft.com/office/drawing/2014/main" id="{1D82A27F-E0C4-E025-DE51-2CABBE092E53}"/>
              </a:ext>
            </a:extLst>
          </p:cNvPr>
          <p:cNvSpPr/>
          <p:nvPr/>
        </p:nvSpPr>
        <p:spPr>
          <a:xfrm flipV="1">
            <a:off x="6062472" y="1764792"/>
            <a:ext cx="704088" cy="822960"/>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09" name="Shape 31">
            <a:extLst>
              <a:ext uri="{FF2B5EF4-FFF2-40B4-BE49-F238E27FC236}">
                <a16:creationId xmlns:a16="http://schemas.microsoft.com/office/drawing/2014/main" id="{880679C2-8647-FD35-54D0-B4DB732A81C2}"/>
              </a:ext>
            </a:extLst>
          </p:cNvPr>
          <p:cNvSpPr/>
          <p:nvPr/>
        </p:nvSpPr>
        <p:spPr>
          <a:xfrm>
            <a:off x="8247888" y="1728216"/>
            <a:ext cx="256032" cy="0"/>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11" name="Shape 32">
            <a:extLst>
              <a:ext uri="{FF2B5EF4-FFF2-40B4-BE49-F238E27FC236}">
                <a16:creationId xmlns:a16="http://schemas.microsoft.com/office/drawing/2014/main" id="{E31E74DB-7EF5-377E-D163-CE8726B4C082}"/>
              </a:ext>
            </a:extLst>
          </p:cNvPr>
          <p:cNvSpPr/>
          <p:nvPr/>
        </p:nvSpPr>
        <p:spPr>
          <a:xfrm>
            <a:off x="9985248" y="1728216"/>
            <a:ext cx="256032" cy="0"/>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13" name="Text 33">
            <a:extLst>
              <a:ext uri="{FF2B5EF4-FFF2-40B4-BE49-F238E27FC236}">
                <a16:creationId xmlns:a16="http://schemas.microsoft.com/office/drawing/2014/main" id="{B55E418B-030A-7BA8-D4EB-FE1F31075827}"/>
              </a:ext>
            </a:extLst>
          </p:cNvPr>
          <p:cNvSpPr/>
          <p:nvPr/>
        </p:nvSpPr>
        <p:spPr>
          <a:xfrm>
            <a:off x="6553862" y="1193293"/>
            <a:ext cx="1828800" cy="20116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900" dirty="0">
                <a:solidFill>
                  <a:srgbClr val="C00000"/>
                </a:solidFill>
                <a:latin typeface="Times New Roman" panose="02020603050405020304" pitchFamily="18" charset="0"/>
                <a:ea typeface="Calibri" pitchFamily="34" charset="-122"/>
                <a:cs typeface="Times New Roman" panose="02020603050405020304" pitchFamily="18" charset="0"/>
              </a:rPr>
              <a:t>receptive field too small</a:t>
            </a:r>
            <a:endParaRPr lang="en-US" sz="900" dirty="0">
              <a:solidFill>
                <a:srgbClr val="C00000"/>
              </a:solidFill>
              <a:latin typeface="Times New Roman" panose="02020603050405020304" pitchFamily="18" charset="0"/>
              <a:cs typeface="Times New Roman" panose="02020603050405020304" pitchFamily="18" charset="0"/>
            </a:endParaRPr>
          </a:p>
        </p:txBody>
      </p:sp>
      <p:sp>
        <p:nvSpPr>
          <p:cNvPr id="115" name="Text 34">
            <a:extLst>
              <a:ext uri="{FF2B5EF4-FFF2-40B4-BE49-F238E27FC236}">
                <a16:creationId xmlns:a16="http://schemas.microsoft.com/office/drawing/2014/main" id="{94A441EE-2F17-7EFA-2A6F-6B802D9B072B}"/>
              </a:ext>
            </a:extLst>
          </p:cNvPr>
          <p:cNvSpPr/>
          <p:nvPr/>
        </p:nvSpPr>
        <p:spPr>
          <a:xfrm>
            <a:off x="7925462" y="2084832"/>
            <a:ext cx="914400" cy="18288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900" dirty="0">
                <a:solidFill>
                  <a:srgbClr val="C00000"/>
                </a:solidFill>
                <a:latin typeface="Times New Roman" panose="02020603050405020304" pitchFamily="18" charset="0"/>
                <a:ea typeface="Calibri" pitchFamily="34" charset="-122"/>
                <a:cs typeface="Times New Roman" panose="02020603050405020304" pitchFamily="18" charset="0"/>
              </a:rPr>
              <a:t>disputes</a:t>
            </a:r>
            <a:endParaRPr lang="en-US" sz="900" dirty="0">
              <a:solidFill>
                <a:srgbClr val="C00000"/>
              </a:solidFill>
              <a:latin typeface="Times New Roman" panose="02020603050405020304" pitchFamily="18" charset="0"/>
              <a:cs typeface="Times New Roman" panose="02020603050405020304" pitchFamily="18" charset="0"/>
            </a:endParaRPr>
          </a:p>
        </p:txBody>
      </p:sp>
      <p:sp>
        <p:nvSpPr>
          <p:cNvPr id="117" name="Shape 35">
            <a:extLst>
              <a:ext uri="{FF2B5EF4-FFF2-40B4-BE49-F238E27FC236}">
                <a16:creationId xmlns:a16="http://schemas.microsoft.com/office/drawing/2014/main" id="{801F8A86-F4D7-7833-4559-ECFEEAD98ACB}"/>
              </a:ext>
            </a:extLst>
          </p:cNvPr>
          <p:cNvSpPr/>
          <p:nvPr/>
        </p:nvSpPr>
        <p:spPr>
          <a:xfrm>
            <a:off x="6766560" y="3502152"/>
            <a:ext cx="1572768"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19" name="Text 36">
            <a:extLst>
              <a:ext uri="{FF2B5EF4-FFF2-40B4-BE49-F238E27FC236}">
                <a16:creationId xmlns:a16="http://schemas.microsoft.com/office/drawing/2014/main" id="{0B88F8B2-A571-2BCF-C224-5749636FDA1E}"/>
              </a:ext>
            </a:extLst>
          </p:cNvPr>
          <p:cNvSpPr/>
          <p:nvPr/>
        </p:nvSpPr>
        <p:spPr>
          <a:xfrm>
            <a:off x="6766560" y="3593592"/>
            <a:ext cx="1572768"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Noise2Noise</a:t>
            </a:r>
            <a:endParaRPr lang="en-US" sz="1200" dirty="0">
              <a:latin typeface="Times New Roman" panose="02020603050405020304" pitchFamily="18" charset="0"/>
              <a:cs typeface="Times New Roman" panose="02020603050405020304" pitchFamily="18" charset="0"/>
            </a:endParaRPr>
          </a:p>
        </p:txBody>
      </p:sp>
      <p:sp>
        <p:nvSpPr>
          <p:cNvPr id="121" name="Text 37">
            <a:extLst>
              <a:ext uri="{FF2B5EF4-FFF2-40B4-BE49-F238E27FC236}">
                <a16:creationId xmlns:a16="http://schemas.microsoft.com/office/drawing/2014/main" id="{34847F3A-35E9-02D9-789A-61B8A8C0FEE4}"/>
              </a:ext>
            </a:extLst>
          </p:cNvPr>
          <p:cNvSpPr/>
          <p:nvPr/>
        </p:nvSpPr>
        <p:spPr>
          <a:xfrm>
            <a:off x="6766560" y="3813048"/>
            <a:ext cx="1572768"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no clean targets</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23" name="Shape 38">
            <a:extLst>
              <a:ext uri="{FF2B5EF4-FFF2-40B4-BE49-F238E27FC236}">
                <a16:creationId xmlns:a16="http://schemas.microsoft.com/office/drawing/2014/main" id="{5CEAE9DB-1313-ED79-EDF7-5E8FD038DB63}"/>
              </a:ext>
            </a:extLst>
          </p:cNvPr>
          <p:cNvSpPr/>
          <p:nvPr/>
        </p:nvSpPr>
        <p:spPr>
          <a:xfrm>
            <a:off x="8595360" y="3502152"/>
            <a:ext cx="1572768"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25" name="Text 39">
            <a:extLst>
              <a:ext uri="{FF2B5EF4-FFF2-40B4-BE49-F238E27FC236}">
                <a16:creationId xmlns:a16="http://schemas.microsoft.com/office/drawing/2014/main" id="{40EA42BE-90D3-9F37-9B7E-C220F9F9CACF}"/>
              </a:ext>
            </a:extLst>
          </p:cNvPr>
          <p:cNvSpPr/>
          <p:nvPr/>
        </p:nvSpPr>
        <p:spPr>
          <a:xfrm>
            <a:off x="8595360" y="3593592"/>
            <a:ext cx="1572768"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Noise2Void</a:t>
            </a:r>
            <a:endParaRPr lang="en-US" sz="1200" dirty="0">
              <a:latin typeface="Times New Roman" panose="02020603050405020304" pitchFamily="18" charset="0"/>
              <a:cs typeface="Times New Roman" panose="02020603050405020304" pitchFamily="18" charset="0"/>
            </a:endParaRPr>
          </a:p>
        </p:txBody>
      </p:sp>
      <p:sp>
        <p:nvSpPr>
          <p:cNvPr id="127" name="Text 40">
            <a:extLst>
              <a:ext uri="{FF2B5EF4-FFF2-40B4-BE49-F238E27FC236}">
                <a16:creationId xmlns:a16="http://schemas.microsoft.com/office/drawing/2014/main" id="{636CF42E-35BE-08C8-BC65-795A06A21887}"/>
              </a:ext>
            </a:extLst>
          </p:cNvPr>
          <p:cNvSpPr/>
          <p:nvPr/>
        </p:nvSpPr>
        <p:spPr>
          <a:xfrm>
            <a:off x="8595360" y="3813048"/>
            <a:ext cx="1572768"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no pairs</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29" name="Shape 41">
            <a:extLst>
              <a:ext uri="{FF2B5EF4-FFF2-40B4-BE49-F238E27FC236}">
                <a16:creationId xmlns:a16="http://schemas.microsoft.com/office/drawing/2014/main" id="{E76EC4D2-105C-C2D8-6E7F-CD84CAF6E17E}"/>
              </a:ext>
            </a:extLst>
          </p:cNvPr>
          <p:cNvSpPr/>
          <p:nvPr/>
        </p:nvSpPr>
        <p:spPr>
          <a:xfrm>
            <a:off x="10424160" y="3502152"/>
            <a:ext cx="1481328" cy="566928"/>
          </a:xfrm>
          <a:prstGeom prst="roundRect">
            <a:avLst>
              <a:gd name="adj" fmla="val 8065"/>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31" name="Text 42">
            <a:extLst>
              <a:ext uri="{FF2B5EF4-FFF2-40B4-BE49-F238E27FC236}">
                <a16:creationId xmlns:a16="http://schemas.microsoft.com/office/drawing/2014/main" id="{9BB1AEC1-299B-CBFD-8C32-105A90BB1D9A}"/>
              </a:ext>
            </a:extLst>
          </p:cNvPr>
          <p:cNvSpPr/>
          <p:nvPr/>
        </p:nvSpPr>
        <p:spPr>
          <a:xfrm>
            <a:off x="10424160" y="3593592"/>
            <a:ext cx="1481328"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ZS-N2N</a:t>
            </a:r>
            <a:endParaRPr lang="en-US" sz="1200" dirty="0">
              <a:latin typeface="Times New Roman" panose="02020603050405020304" pitchFamily="18" charset="0"/>
              <a:cs typeface="Times New Roman" panose="02020603050405020304" pitchFamily="18" charset="0"/>
            </a:endParaRPr>
          </a:p>
        </p:txBody>
      </p:sp>
      <p:sp>
        <p:nvSpPr>
          <p:cNvPr id="133" name="Text 43">
            <a:extLst>
              <a:ext uri="{FF2B5EF4-FFF2-40B4-BE49-F238E27FC236}">
                <a16:creationId xmlns:a16="http://schemas.microsoft.com/office/drawing/2014/main" id="{9E40573E-478C-142D-184D-E7CD1A7B4126}"/>
              </a:ext>
            </a:extLst>
          </p:cNvPr>
          <p:cNvSpPr/>
          <p:nvPr/>
        </p:nvSpPr>
        <p:spPr>
          <a:xfrm>
            <a:off x="10424160" y="3813048"/>
            <a:ext cx="1481328"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no data at all</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35" name="Shape 44">
            <a:extLst>
              <a:ext uri="{FF2B5EF4-FFF2-40B4-BE49-F238E27FC236}">
                <a16:creationId xmlns:a16="http://schemas.microsoft.com/office/drawing/2014/main" id="{C39A6B4B-6B49-7B2B-F3C0-2DE70DAE58EC}"/>
              </a:ext>
            </a:extLst>
          </p:cNvPr>
          <p:cNvSpPr/>
          <p:nvPr/>
        </p:nvSpPr>
        <p:spPr>
          <a:xfrm>
            <a:off x="6062472" y="2907792"/>
            <a:ext cx="704088" cy="822960"/>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37" name="Shape 45">
            <a:extLst>
              <a:ext uri="{FF2B5EF4-FFF2-40B4-BE49-F238E27FC236}">
                <a16:creationId xmlns:a16="http://schemas.microsoft.com/office/drawing/2014/main" id="{BC295D5A-8167-AA5E-5B69-30AF2353E3F7}"/>
              </a:ext>
            </a:extLst>
          </p:cNvPr>
          <p:cNvSpPr/>
          <p:nvPr/>
        </p:nvSpPr>
        <p:spPr>
          <a:xfrm>
            <a:off x="8339328" y="3785616"/>
            <a:ext cx="256032" cy="0"/>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39" name="Shape 46">
            <a:extLst>
              <a:ext uri="{FF2B5EF4-FFF2-40B4-BE49-F238E27FC236}">
                <a16:creationId xmlns:a16="http://schemas.microsoft.com/office/drawing/2014/main" id="{CD7C47BD-715E-4A76-5070-A7E72055C4D2}"/>
              </a:ext>
            </a:extLst>
          </p:cNvPr>
          <p:cNvSpPr/>
          <p:nvPr/>
        </p:nvSpPr>
        <p:spPr>
          <a:xfrm>
            <a:off x="10168128" y="3785616"/>
            <a:ext cx="256032" cy="0"/>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41" name="Text 47">
            <a:extLst>
              <a:ext uri="{FF2B5EF4-FFF2-40B4-BE49-F238E27FC236}">
                <a16:creationId xmlns:a16="http://schemas.microsoft.com/office/drawing/2014/main" id="{F9682CDB-8D06-2673-4CA8-DCE000C6A125}"/>
              </a:ext>
            </a:extLst>
          </p:cNvPr>
          <p:cNvSpPr/>
          <p:nvPr/>
        </p:nvSpPr>
        <p:spPr>
          <a:xfrm>
            <a:off x="6054918" y="3090672"/>
            <a:ext cx="1828800" cy="20116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900" dirty="0">
                <a:solidFill>
                  <a:srgbClr val="C00000"/>
                </a:solidFill>
                <a:latin typeface="Times New Roman" panose="02020603050405020304" pitchFamily="18" charset="0"/>
                <a:ea typeface="Calibri" pitchFamily="34" charset="-122"/>
                <a:cs typeface="Times New Roman" panose="02020603050405020304" pitchFamily="18" charset="0"/>
              </a:rPr>
              <a:t>clean data is expensive</a:t>
            </a:r>
            <a:endParaRPr lang="en-US" sz="900" dirty="0">
              <a:solidFill>
                <a:srgbClr val="C00000"/>
              </a:solidFill>
              <a:latin typeface="Times New Roman" panose="02020603050405020304" pitchFamily="18" charset="0"/>
              <a:cs typeface="Times New Roman" panose="02020603050405020304" pitchFamily="18" charset="0"/>
            </a:endParaRPr>
          </a:p>
        </p:txBody>
      </p:sp>
      <p:sp>
        <p:nvSpPr>
          <p:cNvPr id="143" name="Shape 48">
            <a:extLst>
              <a:ext uri="{FF2B5EF4-FFF2-40B4-BE49-F238E27FC236}">
                <a16:creationId xmlns:a16="http://schemas.microsoft.com/office/drawing/2014/main" id="{F722CBB6-3EF2-088F-B23A-EF6780E5094B}"/>
              </a:ext>
            </a:extLst>
          </p:cNvPr>
          <p:cNvSpPr/>
          <p:nvPr/>
        </p:nvSpPr>
        <p:spPr>
          <a:xfrm>
            <a:off x="5257799" y="4965191"/>
            <a:ext cx="2377440" cy="658368"/>
          </a:xfrm>
          <a:prstGeom prst="roundRect">
            <a:avLst>
              <a:gd name="adj" fmla="val 6944"/>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45" name="Text 49">
            <a:extLst>
              <a:ext uri="{FF2B5EF4-FFF2-40B4-BE49-F238E27FC236}">
                <a16:creationId xmlns:a16="http://schemas.microsoft.com/office/drawing/2014/main" id="{FC1D29BF-35B7-7945-5621-33E3E9E5289B}"/>
              </a:ext>
            </a:extLst>
          </p:cNvPr>
          <p:cNvSpPr/>
          <p:nvPr/>
        </p:nvSpPr>
        <p:spPr>
          <a:xfrm>
            <a:off x="5252191" y="5059131"/>
            <a:ext cx="2377440" cy="237744"/>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200" b="1" dirty="0">
                <a:solidFill>
                  <a:srgbClr val="14161A"/>
                </a:solidFill>
                <a:latin typeface="Times New Roman" panose="02020603050405020304" pitchFamily="18" charset="0"/>
                <a:ea typeface="Calibri" pitchFamily="34" charset="-122"/>
                <a:cs typeface="Times New Roman" panose="02020603050405020304" pitchFamily="18" charset="0"/>
              </a:rPr>
              <a:t>SCUNet</a:t>
            </a:r>
            <a:endParaRPr lang="en-US" sz="1200" dirty="0">
              <a:latin typeface="Times New Roman" panose="02020603050405020304" pitchFamily="18" charset="0"/>
              <a:cs typeface="Times New Roman" panose="02020603050405020304" pitchFamily="18" charset="0"/>
            </a:endParaRPr>
          </a:p>
        </p:txBody>
      </p:sp>
      <p:sp>
        <p:nvSpPr>
          <p:cNvPr id="147" name="Text 50">
            <a:extLst>
              <a:ext uri="{FF2B5EF4-FFF2-40B4-BE49-F238E27FC236}">
                <a16:creationId xmlns:a16="http://schemas.microsoft.com/office/drawing/2014/main" id="{4C3EC354-9C9A-C190-93B1-F66825374BF7}"/>
              </a:ext>
            </a:extLst>
          </p:cNvPr>
          <p:cNvSpPr/>
          <p:nvPr/>
        </p:nvSpPr>
        <p:spPr>
          <a:xfrm>
            <a:off x="5257799" y="5327325"/>
            <a:ext cx="2377440" cy="201168"/>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800" dirty="0">
                <a:solidFill>
                  <a:schemeClr val="tx1">
                    <a:lumMod val="75000"/>
                    <a:lumOff val="25000"/>
                  </a:schemeClr>
                </a:solidFill>
                <a:latin typeface="Times New Roman" panose="02020603050405020304" pitchFamily="18" charset="0"/>
                <a:ea typeface="Consolas" pitchFamily="34" charset="-122"/>
                <a:cs typeface="Times New Roman" panose="02020603050405020304" pitchFamily="18" charset="0"/>
              </a:rPr>
              <a:t>conv + swin, and fix the noise model</a:t>
            </a:r>
            <a:endParaRPr lang="en-US" sz="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49" name="Shape 51">
            <a:extLst>
              <a:ext uri="{FF2B5EF4-FFF2-40B4-BE49-F238E27FC236}">
                <a16:creationId xmlns:a16="http://schemas.microsoft.com/office/drawing/2014/main" id="{42F5196B-B22C-B686-1F7C-1048373FDEFC}"/>
              </a:ext>
            </a:extLst>
          </p:cNvPr>
          <p:cNvSpPr/>
          <p:nvPr/>
        </p:nvSpPr>
        <p:spPr>
          <a:xfrm>
            <a:off x="5257800" y="3044952"/>
            <a:ext cx="1124712" cy="1915667"/>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
        <p:nvSpPr>
          <p:cNvPr id="151" name="Shape 52">
            <a:extLst>
              <a:ext uri="{FF2B5EF4-FFF2-40B4-BE49-F238E27FC236}">
                <a16:creationId xmlns:a16="http://schemas.microsoft.com/office/drawing/2014/main" id="{0AFBF7D1-F7A5-0B63-45EC-92C1C4E2F0FE}"/>
              </a:ext>
            </a:extLst>
          </p:cNvPr>
          <p:cNvSpPr/>
          <p:nvPr/>
        </p:nvSpPr>
        <p:spPr>
          <a:xfrm flipH="1">
            <a:off x="6440557" y="4096512"/>
            <a:ext cx="1057523" cy="868679"/>
          </a:xfrm>
          <a:prstGeom prst="line">
            <a:avLst/>
          </a:prstGeom>
          <a:ln>
            <a:tailEnd type="triangle"/>
          </a:ln>
        </p:spPr>
        <p:style>
          <a:lnRef idx="1">
            <a:schemeClr val="accent1"/>
          </a:lnRef>
          <a:fillRef idx="0">
            <a:schemeClr val="accent1"/>
          </a:fillRef>
          <a:effectRef idx="0">
            <a:schemeClr val="accent1"/>
          </a:effectRef>
          <a:fontRef idx="minor">
            <a:schemeClr val="tx1"/>
          </a:fontRef>
        </p:style>
        <p:txBody>
          <a:bodyPr/>
          <a:lstStyle/>
          <a:p>
            <a:endParaRPr lang="en-GB"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822960" y="1371600"/>
            <a:ext cx="5486400" cy="365760"/>
          </a:xfrm>
          <a:prstGeom prst="rect">
            <a:avLst/>
          </a:prstGeom>
          <a:noFill/>
          <a:ln/>
        </p:spPr>
        <p:txBody>
          <a:bodyPr wrap="square" lIns="0" tIns="0" rIns="0" bIns="0" rtlCol="0" anchor="ctr"/>
          <a:lstStyle/>
          <a:p>
            <a:pPr marL="0" indent="0" algn="just">
              <a:buNone/>
            </a:pPr>
            <a:r>
              <a:rPr lang="en-US" sz="1300" b="1" kern="0" spc="300" dirty="0">
                <a:solidFill>
                  <a:srgbClr val="5FD4D6"/>
                </a:solidFill>
                <a:latin typeface="Calibri" pitchFamily="34" charset="0"/>
                <a:ea typeface="Calibri" pitchFamily="34" charset="-122"/>
                <a:cs typeface="Calibri" pitchFamily="34" charset="-120"/>
              </a:rPr>
              <a:t>THE ASK</a:t>
            </a:r>
            <a:endParaRPr lang="en-US" sz="1300" dirty="0"/>
          </a:p>
        </p:txBody>
      </p:sp>
      <p:sp>
        <p:nvSpPr>
          <p:cNvPr id="3" name="Text 1"/>
          <p:cNvSpPr/>
          <p:nvPr/>
        </p:nvSpPr>
        <p:spPr>
          <a:xfrm>
            <a:off x="822960" y="1783080"/>
            <a:ext cx="10332720" cy="1005840"/>
          </a:xfrm>
          <a:prstGeom prst="rect">
            <a:avLst/>
          </a:prstGeom>
          <a:noFill/>
          <a:ln/>
        </p:spPr>
        <p:txBody>
          <a:bodyPr wrap="square" lIns="0" tIns="0" rIns="0" bIns="0" rtlCol="0" anchor="ctr"/>
          <a:lstStyle/>
          <a:p>
            <a:pPr marL="0" indent="0" algn="just">
              <a:buNone/>
            </a:pPr>
            <a:r>
              <a:rPr lang="en-US" sz="3400" b="1" dirty="0">
                <a:solidFill>
                  <a:srgbClr val="F3F6FA"/>
                </a:solidFill>
                <a:latin typeface="Cambria" pitchFamily="34" charset="0"/>
                <a:ea typeface="Cambria" pitchFamily="34" charset="-122"/>
                <a:cs typeface="Cambria" pitchFamily="34" charset="-120"/>
              </a:rPr>
              <a:t>The research direction we are proposing</a:t>
            </a:r>
            <a:endParaRPr lang="en-US" sz="3400" dirty="0"/>
          </a:p>
        </p:txBody>
      </p:sp>
      <p:sp>
        <p:nvSpPr>
          <p:cNvPr id="4" name="Text 2"/>
          <p:cNvSpPr/>
          <p:nvPr/>
        </p:nvSpPr>
        <p:spPr>
          <a:xfrm>
            <a:off x="822960" y="2971800"/>
            <a:ext cx="10332720" cy="1280160"/>
          </a:xfrm>
          <a:prstGeom prst="rect">
            <a:avLst/>
          </a:prstGeom>
          <a:noFill/>
          <a:ln/>
        </p:spPr>
        <p:txBody>
          <a:bodyPr wrap="square" lIns="0" tIns="0" rIns="0" bIns="0" rtlCol="0" anchor="ctr"/>
          <a:lstStyle/>
          <a:p>
            <a:pPr marL="0" indent="0" algn="just">
              <a:lnSpc>
                <a:spcPct val="135000"/>
              </a:lnSpc>
              <a:buNone/>
            </a:pPr>
            <a:r>
              <a:rPr lang="en-US" sz="1500" dirty="0">
                <a:solidFill>
                  <a:srgbClr val="F3F6FA"/>
                </a:solidFill>
                <a:latin typeface="Calibri" pitchFamily="34" charset="0"/>
                <a:ea typeface="Calibri" pitchFamily="34" charset="-122"/>
                <a:cs typeface="Calibri" pitchFamily="34" charset="-120"/>
              </a:rPr>
              <a:t>Image denoising is the cleanest available case study in how computer vision replaced hand-designed priors with learned ones. Its history divides into four eras separated by three identifiable bottlenecks — manual prior design, the clean-data requirement, and the receptive-field limits of convolution.</a:t>
            </a:r>
            <a:endParaRPr lang="en-US" sz="1500" dirty="0"/>
          </a:p>
        </p:txBody>
      </p:sp>
      <p:sp>
        <p:nvSpPr>
          <p:cNvPr id="5" name="Shape 3"/>
          <p:cNvSpPr/>
          <p:nvPr/>
        </p:nvSpPr>
        <p:spPr>
          <a:xfrm>
            <a:off x="822960" y="4343400"/>
            <a:ext cx="10332720" cy="0"/>
          </a:xfrm>
          <a:prstGeom prst="line">
            <a:avLst/>
          </a:prstGeom>
          <a:noFill/>
          <a:ln w="12700">
            <a:solidFill>
              <a:srgbClr val="263148"/>
            </a:solidFill>
            <a:prstDash val="solid"/>
          </a:ln>
        </p:spPr>
        <p:txBody>
          <a:bodyPr/>
          <a:lstStyle/>
          <a:p>
            <a:pPr algn="just"/>
            <a:endParaRPr lang="en-GB"/>
          </a:p>
        </p:txBody>
      </p:sp>
      <p:sp>
        <p:nvSpPr>
          <p:cNvPr id="6" name="Text 4"/>
          <p:cNvSpPr/>
          <p:nvPr/>
        </p:nvSpPr>
        <p:spPr>
          <a:xfrm>
            <a:off x="822960" y="4526280"/>
            <a:ext cx="10332720" cy="1280160"/>
          </a:xfrm>
          <a:prstGeom prst="rect">
            <a:avLst/>
          </a:prstGeom>
          <a:noFill/>
          <a:ln/>
        </p:spPr>
        <p:txBody>
          <a:bodyPr wrap="square" lIns="0" tIns="0" rIns="0" bIns="0" rtlCol="0" anchor="ctr"/>
          <a:lstStyle/>
          <a:p>
            <a:pPr marL="0" indent="0" algn="just">
              <a:lnSpc>
                <a:spcPct val="135000"/>
              </a:lnSpc>
              <a:buNone/>
            </a:pPr>
            <a:r>
              <a:rPr lang="en-US" sz="1500" i="1" dirty="0">
                <a:solidFill>
                  <a:srgbClr val="E7B75F"/>
                </a:solidFill>
                <a:latin typeface="Calibri" pitchFamily="34" charset="0"/>
                <a:ea typeface="Calibri" pitchFamily="34" charset="-122"/>
                <a:cs typeface="Calibri" pitchFamily="34" charset="-120"/>
              </a:rPr>
              <a:t>Each bottleneck was named by the paper that broke it, so the arc is evidenced from primary sources rather than imposed in hindsight. And because the field currently holds three competing answers to the third bottleneck, the story ends in a genuine open question — not a winner.</a:t>
            </a:r>
            <a:endParaRPr lang="en-US" sz="1500" dirty="0"/>
          </a:p>
        </p:txBody>
      </p:sp>
      <p:sp>
        <p:nvSpPr>
          <p:cNvPr id="7" name="Text 5"/>
          <p:cNvSpPr/>
          <p:nvPr/>
        </p:nvSpPr>
        <p:spPr>
          <a:xfrm>
            <a:off x="11368735" y="6355080"/>
            <a:ext cx="548640" cy="320040"/>
          </a:xfrm>
          <a:prstGeom prst="rect">
            <a:avLst/>
          </a:prstGeom>
          <a:noFill/>
          <a:ln/>
        </p:spPr>
        <p:txBody>
          <a:bodyPr wrap="square"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F17"/>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92608"/>
          </a:xfrm>
          <a:prstGeom prst="rect">
            <a:avLst/>
          </a:prstGeom>
          <a:noFill/>
          <a:ln/>
        </p:spPr>
        <p:txBody>
          <a:bodyPr wrap="square" lIns="0" tIns="0" rIns="0" bIns="0" rtlCol="0" anchor="ctr"/>
          <a:lstStyle/>
          <a:p>
            <a:pPr marL="0" indent="0" algn="just">
              <a:buNone/>
            </a:pPr>
            <a:r>
              <a:rPr lang="en-US" sz="1100" b="1" kern="0" spc="200" dirty="0">
                <a:solidFill>
                  <a:srgbClr val="5FD4D6"/>
                </a:solidFill>
                <a:latin typeface="Calibri" pitchFamily="34" charset="0"/>
                <a:ea typeface="Calibri" pitchFamily="34" charset="-122"/>
                <a:cs typeface="Calibri" pitchFamily="34" charset="-120"/>
              </a:rPr>
              <a:t>MASTER REFERENCE LIST · 14 SOURCES</a:t>
            </a:r>
            <a:endParaRPr lang="en-US" sz="1100" dirty="0"/>
          </a:p>
        </p:txBody>
      </p:sp>
      <p:sp>
        <p:nvSpPr>
          <p:cNvPr id="3" name="Text 1"/>
          <p:cNvSpPr/>
          <p:nvPr/>
        </p:nvSpPr>
        <p:spPr>
          <a:xfrm>
            <a:off x="548640" y="685800"/>
            <a:ext cx="10881360" cy="502920"/>
          </a:xfrm>
          <a:prstGeom prst="rect">
            <a:avLst/>
          </a:prstGeom>
          <a:noFill/>
          <a:ln/>
        </p:spPr>
        <p:txBody>
          <a:bodyPr wrap="square" lIns="0" tIns="0" rIns="0" bIns="0" rtlCol="0" anchor="ctr"/>
          <a:lstStyle/>
          <a:p>
            <a:pPr marL="0" indent="0" algn="just">
              <a:buNone/>
            </a:pPr>
            <a:r>
              <a:rPr lang="en-US" sz="2400" b="1" dirty="0">
                <a:solidFill>
                  <a:srgbClr val="F3F6FA"/>
                </a:solidFill>
                <a:latin typeface="Cambria" pitchFamily="34" charset="0"/>
                <a:ea typeface="Cambria" pitchFamily="34" charset="-122"/>
                <a:cs typeface="Cambria" pitchFamily="34" charset="-120"/>
              </a:rPr>
              <a:t>References</a:t>
            </a:r>
            <a:endParaRPr lang="en-US" sz="2400" dirty="0"/>
          </a:p>
        </p:txBody>
      </p:sp>
      <p:sp>
        <p:nvSpPr>
          <p:cNvPr id="4" name="Text 2"/>
          <p:cNvSpPr/>
          <p:nvPr/>
        </p:nvSpPr>
        <p:spPr>
          <a:xfrm>
            <a:off x="548640" y="1280160"/>
            <a:ext cx="6309360" cy="274320"/>
          </a:xfrm>
          <a:prstGeom prst="rect">
            <a:avLst/>
          </a:prstGeom>
          <a:noFill/>
          <a:ln/>
        </p:spPr>
        <p:txBody>
          <a:bodyPr wrap="square" lIns="0" tIns="0" rIns="0" bIns="0" rtlCol="0" anchor="ctr"/>
          <a:lstStyle/>
          <a:p>
            <a:pPr marL="0" indent="0" algn="just">
              <a:buNone/>
            </a:pPr>
            <a:r>
              <a:rPr lang="en-US" sz="1050" b="1" kern="0" spc="100" dirty="0">
                <a:solidFill>
                  <a:srgbClr val="5FD4D6"/>
                </a:solidFill>
                <a:latin typeface="Calibri" pitchFamily="34" charset="0"/>
                <a:ea typeface="Calibri" pitchFamily="34" charset="-122"/>
                <a:cs typeface="Calibri" pitchFamily="34" charset="-120"/>
              </a:rPr>
              <a:t>CATEGORY A — 11</a:t>
            </a:r>
            <a:endParaRPr lang="en-US" sz="1050" dirty="0"/>
          </a:p>
        </p:txBody>
      </p:sp>
      <p:sp>
        <p:nvSpPr>
          <p:cNvPr id="5" name="Text 3"/>
          <p:cNvSpPr/>
          <p:nvPr/>
        </p:nvSpPr>
        <p:spPr>
          <a:xfrm>
            <a:off x="548640" y="1600200"/>
            <a:ext cx="6492240" cy="4480560"/>
          </a:xfrm>
          <a:prstGeom prst="rect">
            <a:avLst/>
          </a:prstGeom>
          <a:noFill/>
          <a:ln/>
        </p:spPr>
        <p:txBody>
          <a:bodyPr wrap="square" lIns="0" tIns="0" rIns="0" bIns="0" rtlCol="0" anchor="ctr"/>
          <a:lstStyle/>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[A1] K. Dabov, A. Foi, V. Katkovnik, K. Egiazarian. Image Denoising by Sparse 3-D Transform-Domain Collaborative Filtering. IEEE TIP, 16(8):2080–2095, 2007.</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[A2] S. Gu, L. Zhang, W. Zuo, X. Feng. Weighted Nuclear Norm Minimization with Application to Image Denoising. CVPR, pp. 2862–2869, 2014.</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[A3] Y. Chen, T. Pock. Trainable Nonlinear Reaction Diffusion. IEEE TPAMI, 39(6):1256–1272, 2017.</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[A4] K. Zhang, W. Zuo, Y. Chen, D. Meng, L. Zhang. Beyond a Gaussian Denoiser. IEEE TIP, 26(7):3142–3155, 2017.</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[A5] J. Lehtinen et al. Noise2Noise: Learning Image Restoration without Clean Data. ICML, PMLR 80, 2018.</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[A6] A. Krull, T.-O. Buchholz, F. Jug. Noise2Void. CVPR, 2019.</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[A7] S. W. Zamir et al. Restormer: Efficient Transformer for High-Resolution Image Restoration. CVPR, pp. 5728–5739, 2022.</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[A8] L. Chen, X. Chu, X. Zhang, J. Sun. Simple Baselines for Image Restoration. ECCV, LNCS 13667, pp. 17–33, 2022.</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[A9] Y. Mansour, R. Heckel. Zero-Shot Noise2Noise. CVPR, pp. 14018–14027, 2023.</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[A10] K. Zhang et al. Practical Blind Image Denoising via Swin-Conv-UNet and Data Synthesis. MIR, 20(6):822–836, 2023.</a:t>
            </a:r>
            <a:endParaRPr lang="en-US" sz="870" dirty="0"/>
          </a:p>
          <a:p>
            <a:pPr marL="0" indent="0" algn="just">
              <a:lnSpc>
                <a:spcPct val="115000"/>
              </a:lnSpc>
              <a:buNone/>
            </a:pPr>
            <a:endParaRPr lang="en-US" sz="870" dirty="0"/>
          </a:p>
          <a:p>
            <a:pPr marL="0" indent="0" algn="just">
              <a:lnSpc>
                <a:spcPct val="115000"/>
              </a:lnSpc>
              <a:buNone/>
            </a:pPr>
            <a:r>
              <a:rPr lang="en-US" sz="870" dirty="0">
                <a:solidFill>
                  <a:srgbClr val="F3F6FA"/>
                </a:solidFill>
                <a:latin typeface="Calibri" pitchFamily="34" charset="0"/>
                <a:ea typeface="Calibri" pitchFamily="34" charset="-122"/>
                <a:cs typeface="Calibri" pitchFamily="34" charset="-120"/>
              </a:rPr>
              <a:t>[A11] H. Guo et al. MambaIR: A Simple Baseline for Image Restoration with State-Space Model. ECCV, pp. 222–241, 2024.</a:t>
            </a:r>
            <a:endParaRPr lang="en-US" sz="870" dirty="0"/>
          </a:p>
        </p:txBody>
      </p:sp>
      <p:sp>
        <p:nvSpPr>
          <p:cNvPr id="6" name="Text 4"/>
          <p:cNvSpPr/>
          <p:nvPr/>
        </p:nvSpPr>
        <p:spPr>
          <a:xfrm>
            <a:off x="7269480" y="1280160"/>
            <a:ext cx="4389120" cy="274320"/>
          </a:xfrm>
          <a:prstGeom prst="rect">
            <a:avLst/>
          </a:prstGeom>
          <a:noFill/>
          <a:ln/>
        </p:spPr>
        <p:txBody>
          <a:bodyPr wrap="square" lIns="0" tIns="0" rIns="0" bIns="0" rtlCol="0" anchor="ctr"/>
          <a:lstStyle/>
          <a:p>
            <a:pPr marL="0" indent="0" algn="just">
              <a:buNone/>
            </a:pPr>
            <a:r>
              <a:rPr lang="en-US" sz="1050" b="1" kern="0" spc="100" dirty="0">
                <a:solidFill>
                  <a:srgbClr val="5FD4D6"/>
                </a:solidFill>
                <a:latin typeface="Calibri" pitchFamily="34" charset="0"/>
                <a:ea typeface="Calibri" pitchFamily="34" charset="-122"/>
                <a:cs typeface="Calibri" pitchFamily="34" charset="-120"/>
              </a:rPr>
              <a:t>CATEGORY B — 3</a:t>
            </a:r>
            <a:endParaRPr lang="en-US" sz="1050" dirty="0"/>
          </a:p>
        </p:txBody>
      </p:sp>
      <p:sp>
        <p:nvSpPr>
          <p:cNvPr id="7" name="Text 5"/>
          <p:cNvSpPr/>
          <p:nvPr/>
        </p:nvSpPr>
        <p:spPr>
          <a:xfrm>
            <a:off x="7269480" y="1600200"/>
            <a:ext cx="4389120" cy="2103120"/>
          </a:xfrm>
          <a:prstGeom prst="rect">
            <a:avLst/>
          </a:prstGeom>
          <a:noFill/>
          <a:ln/>
        </p:spPr>
        <p:txBody>
          <a:bodyPr wrap="square" lIns="0" tIns="0" rIns="0" bIns="0" rtlCol="0" anchor="ctr"/>
          <a:lstStyle/>
          <a:p>
            <a:pPr marL="0" indent="0" algn="just">
              <a:lnSpc>
                <a:spcPct val="120000"/>
              </a:lnSpc>
              <a:buNone/>
            </a:pPr>
            <a:r>
              <a:rPr lang="en-US" sz="870" dirty="0">
                <a:solidFill>
                  <a:srgbClr val="F3F6FA"/>
                </a:solidFill>
                <a:latin typeface="Calibri" pitchFamily="34" charset="0"/>
                <a:ea typeface="Calibri" pitchFamily="34" charset="-122"/>
                <a:cs typeface="Calibri" pitchFamily="34" charset="-120"/>
              </a:rPr>
              <a:t>[B1] Stanford University. CS231n: Convolutional Neural Networks for Visual Recognition. Lecture series.</a:t>
            </a:r>
            <a:endParaRPr lang="en-US" sz="870" dirty="0"/>
          </a:p>
          <a:p>
            <a:pPr marL="0" indent="0" algn="just">
              <a:lnSpc>
                <a:spcPct val="120000"/>
              </a:lnSpc>
              <a:buNone/>
            </a:pPr>
            <a:endParaRPr lang="en-US" sz="870" dirty="0"/>
          </a:p>
          <a:p>
            <a:pPr marL="0" indent="0" algn="just">
              <a:lnSpc>
                <a:spcPct val="120000"/>
              </a:lnSpc>
              <a:buNone/>
            </a:pPr>
            <a:r>
              <a:rPr lang="en-US" sz="870" dirty="0">
                <a:solidFill>
                  <a:srgbClr val="F3F6FA"/>
                </a:solidFill>
                <a:latin typeface="Calibri" pitchFamily="34" charset="0"/>
                <a:ea typeface="Calibri" pitchFamily="34" charset="-122"/>
                <a:cs typeface="Calibri" pitchFamily="34" charset="-120"/>
              </a:rPr>
              <a:t>[B2] Google Research. Night Sight: Seeing in the Dark on Pixel Phones. Google Research Blog.</a:t>
            </a:r>
            <a:endParaRPr lang="en-US" sz="870" dirty="0"/>
          </a:p>
          <a:p>
            <a:pPr marL="0" indent="0" algn="just">
              <a:lnSpc>
                <a:spcPct val="120000"/>
              </a:lnSpc>
              <a:buNone/>
            </a:pPr>
            <a:endParaRPr lang="en-US" sz="870" dirty="0"/>
          </a:p>
          <a:p>
            <a:pPr marL="0" indent="0" algn="just">
              <a:lnSpc>
                <a:spcPct val="120000"/>
              </a:lnSpc>
              <a:buNone/>
            </a:pPr>
            <a:r>
              <a:rPr lang="en-US" sz="870" dirty="0">
                <a:solidFill>
                  <a:srgbClr val="F3F6FA"/>
                </a:solidFill>
                <a:latin typeface="Calibri" pitchFamily="34" charset="0"/>
                <a:ea typeface="Calibri" pitchFamily="34" charset="-122"/>
                <a:cs typeface="Calibri" pitchFamily="34" charset="-120"/>
              </a:rPr>
              <a:t>[B3] R. C. Gonzalez, R. E. Woods. Digital Image Processing — Image Restoration chapter.</a:t>
            </a:r>
            <a:endParaRPr lang="en-US" sz="870" dirty="0"/>
          </a:p>
        </p:txBody>
      </p:sp>
      <p:sp>
        <p:nvSpPr>
          <p:cNvPr id="8" name="Shape 6"/>
          <p:cNvSpPr/>
          <p:nvPr/>
        </p:nvSpPr>
        <p:spPr>
          <a:xfrm>
            <a:off x="7269480" y="3886200"/>
            <a:ext cx="4389120" cy="1737360"/>
          </a:xfrm>
          <a:prstGeom prst="roundRect">
            <a:avLst>
              <a:gd name="adj" fmla="val 4211"/>
            </a:avLst>
          </a:prstGeom>
          <a:solidFill>
            <a:srgbClr val="141B29"/>
          </a:solidFill>
          <a:ln/>
        </p:spPr>
        <p:txBody>
          <a:bodyPr/>
          <a:lstStyle/>
          <a:p>
            <a:pPr algn="just"/>
            <a:endParaRPr lang="en-GB"/>
          </a:p>
        </p:txBody>
      </p:sp>
      <p:sp>
        <p:nvSpPr>
          <p:cNvPr id="9" name="Text 7"/>
          <p:cNvSpPr/>
          <p:nvPr/>
        </p:nvSpPr>
        <p:spPr>
          <a:xfrm>
            <a:off x="7498080" y="4023360"/>
            <a:ext cx="3931920" cy="1463040"/>
          </a:xfrm>
          <a:prstGeom prst="rect">
            <a:avLst/>
          </a:prstGeom>
          <a:noFill/>
          <a:ln/>
        </p:spPr>
        <p:txBody>
          <a:bodyPr wrap="square" lIns="0" tIns="0" rIns="0" bIns="0" rtlCol="0" anchor="ctr"/>
          <a:lstStyle/>
          <a:p>
            <a:pPr marL="0" indent="0" algn="just">
              <a:lnSpc>
                <a:spcPct val="125000"/>
              </a:lnSpc>
              <a:buNone/>
            </a:pPr>
            <a:r>
              <a:rPr lang="en-US" sz="900" i="1" dirty="0">
                <a:solidFill>
                  <a:srgbClr val="8C97AC"/>
                </a:solidFill>
                <a:latin typeface="Calibri" pitchFamily="34" charset="0"/>
                <a:ea typeface="Calibri" pitchFamily="34" charset="-122"/>
                <a:cs typeface="Calibri" pitchFamily="34" charset="-120"/>
              </a:rPr>
              <a:t>Note: Venues for A1, A3, A5 and A10 are printed in the source PDFs themselves. Venues for A2, A4, A6, A7, A8, A9 and A11 were verified against publisher, CVF Open Access or institutional proceedings records, because those PDFs are preprint versions that do not carry their venue.</a:t>
            </a:r>
            <a:endParaRPr lang="en-US" sz="900" dirty="0"/>
          </a:p>
        </p:txBody>
      </p:sp>
      <p:sp>
        <p:nvSpPr>
          <p:cNvPr id="10" name="Shape 8"/>
          <p:cNvSpPr/>
          <p:nvPr/>
        </p:nvSpPr>
        <p:spPr>
          <a:xfrm>
            <a:off x="548640" y="6263640"/>
            <a:ext cx="11109960" cy="0"/>
          </a:xfrm>
          <a:prstGeom prst="line">
            <a:avLst/>
          </a:prstGeom>
          <a:noFill/>
          <a:ln w="12700">
            <a:solidFill>
              <a:srgbClr val="263148"/>
            </a:solidFill>
            <a:prstDash val="solid"/>
          </a:ln>
        </p:spPr>
        <p:txBody>
          <a:bodyPr/>
          <a:lstStyle/>
          <a:p>
            <a:pPr algn="just"/>
            <a:endParaRPr lang="en-GB"/>
          </a:p>
        </p:txBody>
      </p:sp>
      <p:sp>
        <p:nvSpPr>
          <p:cNvPr id="11" name="Text 9"/>
          <p:cNvSpPr/>
          <p:nvPr/>
        </p:nvSpPr>
        <p:spPr>
          <a:xfrm>
            <a:off x="548640" y="6355080"/>
            <a:ext cx="5486400" cy="320040"/>
          </a:xfrm>
          <a:prstGeom prst="rect">
            <a:avLst/>
          </a:prstGeom>
          <a:noFill/>
          <a:ln/>
        </p:spPr>
        <p:txBody>
          <a:bodyPr wrap="square" lIns="0" tIns="0" rIns="0" bIns="0"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Stage 1 · Literature Review Pitch · 11 August 2026</a:t>
            </a:r>
            <a:endParaRPr lang="en-US" sz="1000" dirty="0"/>
          </a:p>
        </p:txBody>
      </p:sp>
      <p:sp>
        <p:nvSpPr>
          <p:cNvPr id="12" name="Text 10"/>
          <p:cNvSpPr/>
          <p:nvPr/>
        </p:nvSpPr>
        <p:spPr>
          <a:xfrm>
            <a:off x="6796735" y="6355080"/>
            <a:ext cx="4846320" cy="320040"/>
          </a:xfrm>
          <a:prstGeom prst="rect">
            <a:avLst/>
          </a:prstGeom>
          <a:noFill/>
          <a:ln/>
        </p:spPr>
        <p:txBody>
          <a:bodyPr wrap="square" lIns="0" tIns="0" rIns="0" bIns="0"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Supervisor: Prof. Zohreh Azimifar</a:t>
            </a:r>
            <a:endParaRPr lang="en-US" sz="1000" dirty="0"/>
          </a:p>
        </p:txBody>
      </p:sp>
      <p:sp>
        <p:nvSpPr>
          <p:cNvPr id="13" name="Text 11"/>
          <p:cNvSpPr/>
          <p:nvPr/>
        </p:nvSpPr>
        <p:spPr>
          <a:xfrm>
            <a:off x="11368735" y="6355080"/>
            <a:ext cx="548640" cy="320040"/>
          </a:xfrm>
          <a:prstGeom prst="rect">
            <a:avLst/>
          </a:prstGeom>
          <a:noFill/>
          <a:ln/>
        </p:spPr>
        <p:txBody>
          <a:bodyPr wrap="square" rtlCol="0" anchor="ctr"/>
          <a:lstStyle/>
          <a:p>
            <a:pPr marL="0" indent="0" algn="just">
              <a:buNone/>
            </a:pPr>
            <a:r>
              <a:rPr lang="en-US" sz="1000" dirty="0">
                <a:solidFill>
                  <a:srgbClr val="8C97AC"/>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5197</Words>
  <Application>Microsoft Office PowerPoint</Application>
  <PresentationFormat>Widescreen</PresentationFormat>
  <Paragraphs>598</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Ali Ahmadi</cp:lastModifiedBy>
  <cp:revision>14</cp:revision>
  <dcterms:created xsi:type="dcterms:W3CDTF">2026-08-15T02:46:12Z</dcterms:created>
  <dcterms:modified xsi:type="dcterms:W3CDTF">2026-08-15T07:36:10Z</dcterms:modified>
</cp:coreProperties>
</file>